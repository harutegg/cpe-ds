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317" r:id="rId5"/>
    <p:sldId id="319" r:id="rId6"/>
    <p:sldId id="320" r:id="rId7"/>
    <p:sldId id="321" r:id="rId8"/>
    <p:sldId id="322" r:id="rId9"/>
    <p:sldId id="325" r:id="rId10"/>
    <p:sldId id="267" r:id="rId11"/>
    <p:sldId id="295" r:id="rId12"/>
    <p:sldId id="297" r:id="rId13"/>
    <p:sldId id="298" r:id="rId14"/>
    <p:sldId id="299" r:id="rId15"/>
    <p:sldId id="300" r:id="rId16"/>
    <p:sldId id="305" r:id="rId17"/>
    <p:sldId id="301" r:id="rId18"/>
    <p:sldId id="302" r:id="rId19"/>
    <p:sldId id="303" r:id="rId20"/>
    <p:sldId id="304" r:id="rId21"/>
    <p:sldId id="306" r:id="rId22"/>
    <p:sldId id="330" r:id="rId23"/>
    <p:sldId id="328" r:id="rId24"/>
    <p:sldId id="307" r:id="rId25"/>
    <p:sldId id="280" r:id="rId26"/>
  </p:sldIdLst>
  <p:sldSz cx="9144000" cy="6858000" type="screen4x3"/>
  <p:notesSz cx="6858000" cy="9144000"/>
  <p:embeddedFontLst>
    <p:embeddedFont>
      <p:font typeface="Helvetica Neue" panose="02020500000000000000" charset="-120"/>
      <p:regular r:id="rId28"/>
      <p:bold r:id="rId29"/>
      <p:italic r:id="rId30"/>
      <p:boldItalic r:id="rId31"/>
    </p:embeddedFont>
    <p:embeddedFont>
      <p:font typeface="Arial Black" panose="020B0A04020102020204" pitchFamily="34" charset="0"/>
      <p:regular r:id="rId32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標楷體" panose="03000509000000000000" pitchFamily="65" charset="-12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hC4ABIsCeU7GudoYW7p47+AXsF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47AC2D-8983-4577-AB67-68DEDED1E3C8}">
  <a:tblStyle styleId="{E647AC2D-8983-4577-AB67-68DEDED1E3C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5F5FF"/>
          </a:solidFill>
        </a:fill>
      </a:tcStyle>
    </a:wholeTbl>
    <a:band1H>
      <a:tcTxStyle/>
      <a:tcStyle>
        <a:tcBdr/>
        <a:fill>
          <a:solidFill>
            <a:srgbClr val="ECEC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CECFF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5F5FF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5F5FF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3B4607D-FC75-44BF-8313-1716819F0664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EFFF"/>
          </a:solidFill>
        </a:fill>
      </a:tcStyle>
    </a:wholeTbl>
    <a:band1H>
      <a:tcTxStyle/>
      <a:tcStyle>
        <a:tcBdr/>
        <a:fill>
          <a:solidFill>
            <a:srgbClr val="DDDD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DDD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19" autoAdjust="0"/>
    <p:restoredTop sz="94660"/>
  </p:normalViewPr>
  <p:slideViewPr>
    <p:cSldViewPr snapToGrid="0">
      <p:cViewPr varScale="1">
        <p:scale>
          <a:sx n="86" d="100"/>
          <a:sy n="86" d="100"/>
        </p:scale>
        <p:origin x="173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陳威碩" userId="33079563-cb9d-4e84-996d-d53f0e90acab" providerId="ADAL" clId="{C9A70504-3007-4585-B453-D6252713AF90}"/>
    <pc:docChg chg="custSel delSld modSld">
      <pc:chgData name="陳威碩" userId="33079563-cb9d-4e84-996d-d53f0e90acab" providerId="ADAL" clId="{C9A70504-3007-4585-B453-D6252713AF90}" dt="2025-09-29T05:14:24.357" v="127" actId="207"/>
      <pc:docMkLst>
        <pc:docMk/>
      </pc:docMkLst>
      <pc:sldChg chg="modSp mod">
        <pc:chgData name="陳威碩" userId="33079563-cb9d-4e84-996d-d53f0e90acab" providerId="ADAL" clId="{C9A70504-3007-4585-B453-D6252713AF90}" dt="2025-09-29T04:37:07.406" v="31" actId="2711"/>
        <pc:sldMkLst>
          <pc:docMk/>
          <pc:sldMk cId="0" sldId="256"/>
        </pc:sldMkLst>
        <pc:spChg chg="mod">
          <ac:chgData name="陳威碩" userId="33079563-cb9d-4e84-996d-d53f0e90acab" providerId="ADAL" clId="{C9A70504-3007-4585-B453-D6252713AF90}" dt="2025-09-29T04:37:07.406" v="31" actId="2711"/>
          <ac:spMkLst>
            <pc:docMk/>
            <pc:sldMk cId="0" sldId="256"/>
            <ac:spMk id="114" creationId="{00000000-0000-0000-0000-000000000000}"/>
          </ac:spMkLst>
        </pc:spChg>
      </pc:sldChg>
      <pc:sldChg chg="del">
        <pc:chgData name="陳威碩" userId="33079563-cb9d-4e84-996d-d53f0e90acab" providerId="ADAL" clId="{C9A70504-3007-4585-B453-D6252713AF90}" dt="2025-09-29T05:07:30.453" v="32" actId="2696"/>
        <pc:sldMkLst>
          <pc:docMk/>
          <pc:sldMk cId="0" sldId="279"/>
        </pc:sldMkLst>
      </pc:sldChg>
      <pc:sldChg chg="addSp modSp mod">
        <pc:chgData name="陳威碩" userId="33079563-cb9d-4e84-996d-d53f0e90acab" providerId="ADAL" clId="{C9A70504-3007-4585-B453-D6252713AF90}" dt="2025-09-29T05:14:24.357" v="127" actId="207"/>
        <pc:sldMkLst>
          <pc:docMk/>
          <pc:sldMk cId="0" sldId="280"/>
        </pc:sldMkLst>
        <pc:spChg chg="add mod">
          <ac:chgData name="陳威碩" userId="33079563-cb9d-4e84-996d-d53f0e90acab" providerId="ADAL" clId="{C9A70504-3007-4585-B453-D6252713AF90}" dt="2025-09-29T05:14:24.357" v="127" actId="207"/>
          <ac:spMkLst>
            <pc:docMk/>
            <pc:sldMk cId="0" sldId="280"/>
            <ac:spMk id="2" creationId="{0E658058-1CA2-4D92-9A78-4873FC179C73}"/>
          </ac:spMkLst>
        </pc:spChg>
      </pc:sldChg>
    </pc:docChg>
  </pc:docChgLst>
  <pc:docChgLst>
    <pc:chgData name="luke yang" userId="1c873a04f7e271fe" providerId="LiveId" clId="{D3221EE8-CABE-4EC5-894B-BBCCA343FDA0}"/>
    <pc:docChg chg="delSld modSld sldOrd">
      <pc:chgData name="luke yang" userId="1c873a04f7e271fe" providerId="LiveId" clId="{D3221EE8-CABE-4EC5-894B-BBCCA343FDA0}" dt="2024-03-06T13:13:09.330" v="46" actId="20577"/>
      <pc:docMkLst>
        <pc:docMk/>
      </pc:docMkLst>
      <pc:sldChg chg="modSp mod">
        <pc:chgData name="luke yang" userId="1c873a04f7e271fe" providerId="LiveId" clId="{D3221EE8-CABE-4EC5-894B-BBCCA343FDA0}" dt="2024-03-06T12:39:38.410" v="36" actId="20577"/>
        <pc:sldMkLst>
          <pc:docMk/>
          <pc:sldMk cId="0" sldId="257"/>
        </pc:sldMkLst>
        <pc:spChg chg="mod">
          <ac:chgData name="luke yang" userId="1c873a04f7e271fe" providerId="LiveId" clId="{D3221EE8-CABE-4EC5-894B-BBCCA343FDA0}" dt="2024-03-06T12:39:38.410" v="36" actId="20577"/>
          <ac:spMkLst>
            <pc:docMk/>
            <pc:sldMk cId="0" sldId="257"/>
            <ac:spMk id="121" creationId="{00000000-0000-0000-0000-000000000000}"/>
          </ac:spMkLst>
        </pc:spChg>
      </pc:sldChg>
      <pc:sldChg chg="modSp mod">
        <pc:chgData name="luke yang" userId="1c873a04f7e271fe" providerId="LiveId" clId="{D3221EE8-CABE-4EC5-894B-BBCCA343FDA0}" dt="2024-03-06T11:35:50.322" v="5" actId="20577"/>
        <pc:sldMkLst>
          <pc:docMk/>
          <pc:sldMk cId="0" sldId="258"/>
        </pc:sldMkLst>
        <pc:spChg chg="mod">
          <ac:chgData name="luke yang" userId="1c873a04f7e271fe" providerId="LiveId" clId="{D3221EE8-CABE-4EC5-894B-BBCCA343FDA0}" dt="2024-03-06T11:35:50.322" v="5" actId="20577"/>
          <ac:spMkLst>
            <pc:docMk/>
            <pc:sldMk cId="0" sldId="258"/>
            <ac:spMk id="128" creationId="{00000000-0000-0000-0000-000000000000}"/>
          </ac:spMkLst>
        </pc:spChg>
      </pc:sldChg>
      <pc:sldChg chg="del">
        <pc:chgData name="luke yang" userId="1c873a04f7e271fe" providerId="LiveId" clId="{D3221EE8-CABE-4EC5-894B-BBCCA343FDA0}" dt="2024-03-06T11:37:23.906" v="8" actId="47"/>
        <pc:sldMkLst>
          <pc:docMk/>
          <pc:sldMk cId="0" sldId="278"/>
        </pc:sldMkLst>
      </pc:sldChg>
      <pc:sldChg chg="modSp mod">
        <pc:chgData name="luke yang" userId="1c873a04f7e271fe" providerId="LiveId" clId="{D3221EE8-CABE-4EC5-894B-BBCCA343FDA0}" dt="2024-03-06T11:37:44.139" v="24" actId="20577"/>
        <pc:sldMkLst>
          <pc:docMk/>
          <pc:sldMk cId="0" sldId="280"/>
        </pc:sldMkLst>
        <pc:spChg chg="mod">
          <ac:chgData name="luke yang" userId="1c873a04f7e271fe" providerId="LiveId" clId="{D3221EE8-CABE-4EC5-894B-BBCCA343FDA0}" dt="2024-03-06T11:37:44.139" v="24" actId="20577"/>
          <ac:spMkLst>
            <pc:docMk/>
            <pc:sldMk cId="0" sldId="280"/>
            <ac:spMk id="535" creationId="{00000000-0000-0000-0000-000000000000}"/>
          </ac:spMkLst>
        </pc:spChg>
      </pc:sldChg>
      <pc:sldChg chg="modSp mod ord">
        <pc:chgData name="luke yang" userId="1c873a04f7e271fe" providerId="LiveId" clId="{D3221EE8-CABE-4EC5-894B-BBCCA343FDA0}" dt="2024-03-06T13:13:09.330" v="46" actId="20577"/>
        <pc:sldMkLst>
          <pc:docMk/>
          <pc:sldMk cId="0" sldId="317"/>
        </pc:sldMkLst>
        <pc:spChg chg="mod">
          <ac:chgData name="luke yang" userId="1c873a04f7e271fe" providerId="LiveId" clId="{D3221EE8-CABE-4EC5-894B-BBCCA343FDA0}" dt="2024-03-06T13:12:42.147" v="45"/>
          <ac:spMkLst>
            <pc:docMk/>
            <pc:sldMk cId="0" sldId="317"/>
            <ac:spMk id="1165" creationId="{00000000-0000-0000-0000-000000000000}"/>
          </ac:spMkLst>
        </pc:spChg>
        <pc:spChg chg="mod">
          <ac:chgData name="luke yang" userId="1c873a04f7e271fe" providerId="LiveId" clId="{D3221EE8-CABE-4EC5-894B-BBCCA343FDA0}" dt="2024-03-06T13:13:09.330" v="46" actId="20577"/>
          <ac:spMkLst>
            <pc:docMk/>
            <pc:sldMk cId="0" sldId="317"/>
            <ac:spMk id="1166" creationId="{00000000-0000-0000-0000-000000000000}"/>
          </ac:spMkLst>
        </pc:spChg>
      </pc:sldChg>
      <pc:sldChg chg="modSp mod ord">
        <pc:chgData name="luke yang" userId="1c873a04f7e271fe" providerId="LiveId" clId="{D3221EE8-CABE-4EC5-894B-BBCCA343FDA0}" dt="2024-03-06T13:12:37.846" v="44" actId="113"/>
        <pc:sldMkLst>
          <pc:docMk/>
          <pc:sldMk cId="0" sldId="319"/>
        </pc:sldMkLst>
        <pc:spChg chg="mod">
          <ac:chgData name="luke yang" userId="1c873a04f7e271fe" providerId="LiveId" clId="{D3221EE8-CABE-4EC5-894B-BBCCA343FDA0}" dt="2024-03-06T13:12:37.846" v="44" actId="113"/>
          <ac:spMkLst>
            <pc:docMk/>
            <pc:sldMk cId="0" sldId="319"/>
            <ac:spMk id="1178" creationId="{00000000-0000-0000-0000-000000000000}"/>
          </ac:spMkLst>
        </pc:spChg>
      </pc:sldChg>
      <pc:sldChg chg="modSp mod">
        <pc:chgData name="luke yang" userId="1c873a04f7e271fe" providerId="LiveId" clId="{D3221EE8-CABE-4EC5-894B-BBCCA343FDA0}" dt="2024-03-06T11:36:58.306" v="7" actId="207"/>
        <pc:sldMkLst>
          <pc:docMk/>
          <pc:sldMk cId="1843101098" sldId="328"/>
        </pc:sldMkLst>
        <pc:spChg chg="mod">
          <ac:chgData name="luke yang" userId="1c873a04f7e271fe" providerId="LiveId" clId="{D3221EE8-CABE-4EC5-894B-BBCCA343FDA0}" dt="2024-03-06T11:36:58.306" v="7" actId="207"/>
          <ac:spMkLst>
            <pc:docMk/>
            <pc:sldMk cId="1843101098" sldId="328"/>
            <ac:spMk id="128" creationId="{00000000-0000-0000-0000-000000000000}"/>
          </ac:spMkLst>
        </pc:spChg>
      </pc:sldChg>
    </pc:docChg>
  </pc:docChgLst>
  <pc:docChgLst>
    <pc:chgData name="林 子閎" userId="d496ebd3736cf63e" providerId="Windows Live" clId="Web-{653608A1-8D37-4B80-9705-EE0FBCC140BD}"/>
    <pc:docChg chg="delSld modSld">
      <pc:chgData name="林 子閎" userId="d496ebd3736cf63e" providerId="Windows Live" clId="Web-{653608A1-8D37-4B80-9705-EE0FBCC140BD}" dt="2024-07-01T05:25:09.203" v="4" actId="20577"/>
      <pc:docMkLst>
        <pc:docMk/>
      </pc:docMkLst>
      <pc:sldChg chg="modSp">
        <pc:chgData name="林 子閎" userId="d496ebd3736cf63e" providerId="Windows Live" clId="Web-{653608A1-8D37-4B80-9705-EE0FBCC140BD}" dt="2024-07-01T05:25:09.203" v="4" actId="20577"/>
        <pc:sldMkLst>
          <pc:docMk/>
          <pc:sldMk cId="0" sldId="256"/>
        </pc:sldMkLst>
        <pc:spChg chg="mod">
          <ac:chgData name="林 子閎" userId="d496ebd3736cf63e" providerId="Windows Live" clId="Web-{653608A1-8D37-4B80-9705-EE0FBCC140BD}" dt="2024-07-01T05:25:09.203" v="4" actId="20577"/>
          <ac:spMkLst>
            <pc:docMk/>
            <pc:sldMk cId="0" sldId="256"/>
            <ac:spMk id="113" creationId="{00000000-0000-0000-0000-000000000000}"/>
          </ac:spMkLst>
        </pc:spChg>
      </pc:sldChg>
      <pc:sldChg chg="del">
        <pc:chgData name="林 子閎" userId="d496ebd3736cf63e" providerId="Windows Live" clId="Web-{653608A1-8D37-4B80-9705-EE0FBCC140BD}" dt="2024-07-01T05:23:54.826" v="0"/>
        <pc:sldMkLst>
          <pc:docMk/>
          <pc:sldMk cId="2076415998" sldId="3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6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6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6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6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6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7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11" name="Google Shape;21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41675" y="508000"/>
            <a:ext cx="3390900" cy="2543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26:notes"/>
          <p:cNvSpPr txBox="1">
            <a:spLocks noGrp="1"/>
          </p:cNvSpPr>
          <p:nvPr>
            <p:ph type="body" idx="1"/>
          </p:nvPr>
        </p:nvSpPr>
        <p:spPr>
          <a:xfrm>
            <a:off x="987425" y="3221038"/>
            <a:ext cx="7899400" cy="305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b="0" i="0" dirty="0"/>
          </a:p>
        </p:txBody>
      </p:sp>
      <p:sp>
        <p:nvSpPr>
          <p:cNvPr id="368" name="Google Shape;368;p26:notes"/>
          <p:cNvSpPr txBox="1">
            <a:spLocks noGrp="1"/>
          </p:cNvSpPr>
          <p:nvPr>
            <p:ph type="sldNum" idx="12"/>
          </p:nvPr>
        </p:nvSpPr>
        <p:spPr>
          <a:xfrm>
            <a:off x="5592763" y="6442075"/>
            <a:ext cx="427990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41675" y="508000"/>
            <a:ext cx="3390900" cy="2543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27:notes"/>
          <p:cNvSpPr txBox="1">
            <a:spLocks noGrp="1"/>
          </p:cNvSpPr>
          <p:nvPr>
            <p:ph type="body" idx="1"/>
          </p:nvPr>
        </p:nvSpPr>
        <p:spPr>
          <a:xfrm>
            <a:off x="987425" y="3221038"/>
            <a:ext cx="7899400" cy="305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76" name="Google Shape;376;p27:notes"/>
          <p:cNvSpPr txBox="1">
            <a:spLocks noGrp="1"/>
          </p:cNvSpPr>
          <p:nvPr>
            <p:ph type="sldNum" idx="12"/>
          </p:nvPr>
        </p:nvSpPr>
        <p:spPr>
          <a:xfrm>
            <a:off x="5592763" y="6442075"/>
            <a:ext cx="427990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41675" y="508000"/>
            <a:ext cx="3390900" cy="2543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28:notes"/>
          <p:cNvSpPr txBox="1">
            <a:spLocks noGrp="1"/>
          </p:cNvSpPr>
          <p:nvPr>
            <p:ph type="body" idx="1"/>
          </p:nvPr>
        </p:nvSpPr>
        <p:spPr>
          <a:xfrm>
            <a:off x="987425" y="3221038"/>
            <a:ext cx="7899400" cy="305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8:notes"/>
          <p:cNvSpPr txBox="1">
            <a:spLocks noGrp="1"/>
          </p:cNvSpPr>
          <p:nvPr>
            <p:ph type="sldNum" idx="12"/>
          </p:nvPr>
        </p:nvSpPr>
        <p:spPr>
          <a:xfrm>
            <a:off x="5592763" y="6442075"/>
            <a:ext cx="427990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41675" y="508000"/>
            <a:ext cx="3390900" cy="2543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29:notes"/>
          <p:cNvSpPr txBox="1">
            <a:spLocks noGrp="1"/>
          </p:cNvSpPr>
          <p:nvPr>
            <p:ph type="body" idx="1"/>
          </p:nvPr>
        </p:nvSpPr>
        <p:spPr>
          <a:xfrm>
            <a:off x="987425" y="3221038"/>
            <a:ext cx="7899400" cy="305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97" name="Google Shape;397;p29:notes"/>
          <p:cNvSpPr txBox="1">
            <a:spLocks noGrp="1"/>
          </p:cNvSpPr>
          <p:nvPr>
            <p:ph type="sldNum" idx="12"/>
          </p:nvPr>
        </p:nvSpPr>
        <p:spPr>
          <a:xfrm>
            <a:off x="5592763" y="6442075"/>
            <a:ext cx="427990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41675" y="508000"/>
            <a:ext cx="3390900" cy="2543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34:notes"/>
          <p:cNvSpPr txBox="1">
            <a:spLocks noGrp="1"/>
          </p:cNvSpPr>
          <p:nvPr>
            <p:ph type="body" idx="1"/>
          </p:nvPr>
        </p:nvSpPr>
        <p:spPr>
          <a:xfrm>
            <a:off x="987425" y="3221038"/>
            <a:ext cx="7899400" cy="305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4:notes"/>
          <p:cNvSpPr txBox="1">
            <a:spLocks noGrp="1"/>
          </p:cNvSpPr>
          <p:nvPr>
            <p:ph type="sldNum" idx="12"/>
          </p:nvPr>
        </p:nvSpPr>
        <p:spPr>
          <a:xfrm>
            <a:off x="5592763" y="6442075"/>
            <a:ext cx="427990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41675" y="508000"/>
            <a:ext cx="3390900" cy="2543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30:notes"/>
          <p:cNvSpPr txBox="1">
            <a:spLocks noGrp="1"/>
          </p:cNvSpPr>
          <p:nvPr>
            <p:ph type="body" idx="1"/>
          </p:nvPr>
        </p:nvSpPr>
        <p:spPr>
          <a:xfrm>
            <a:off x="987425" y="3221038"/>
            <a:ext cx="7899400" cy="305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0:notes"/>
          <p:cNvSpPr txBox="1">
            <a:spLocks noGrp="1"/>
          </p:cNvSpPr>
          <p:nvPr>
            <p:ph type="sldNum" idx="12"/>
          </p:nvPr>
        </p:nvSpPr>
        <p:spPr>
          <a:xfrm>
            <a:off x="5592763" y="6442075"/>
            <a:ext cx="427990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41675" y="508000"/>
            <a:ext cx="3390900" cy="2543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31:notes"/>
          <p:cNvSpPr txBox="1">
            <a:spLocks noGrp="1"/>
          </p:cNvSpPr>
          <p:nvPr>
            <p:ph type="body" idx="1"/>
          </p:nvPr>
        </p:nvSpPr>
        <p:spPr>
          <a:xfrm>
            <a:off x="987425" y="3221038"/>
            <a:ext cx="7899400" cy="305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 是指map到的這段記憶體 所開出去的權限</a:t>
            </a:r>
            <a:endParaRPr/>
          </a:p>
        </p:txBody>
      </p:sp>
      <p:sp>
        <p:nvSpPr>
          <p:cNvPr id="418" name="Google Shape;418;p31:notes"/>
          <p:cNvSpPr txBox="1">
            <a:spLocks noGrp="1"/>
          </p:cNvSpPr>
          <p:nvPr>
            <p:ph type="sldNum" idx="12"/>
          </p:nvPr>
        </p:nvSpPr>
        <p:spPr>
          <a:xfrm>
            <a:off x="5592763" y="6442075"/>
            <a:ext cx="427990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41675" y="508000"/>
            <a:ext cx="3390900" cy="2543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32:notes"/>
          <p:cNvSpPr txBox="1">
            <a:spLocks noGrp="1"/>
          </p:cNvSpPr>
          <p:nvPr>
            <p:ph type="body" idx="1"/>
          </p:nvPr>
        </p:nvSpPr>
        <p:spPr>
          <a:xfrm>
            <a:off x="987425" y="3221038"/>
            <a:ext cx="7899400" cy="305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28" name="Google Shape;428;p32:notes"/>
          <p:cNvSpPr txBox="1">
            <a:spLocks noGrp="1"/>
          </p:cNvSpPr>
          <p:nvPr>
            <p:ph type="sldNum" idx="12"/>
          </p:nvPr>
        </p:nvSpPr>
        <p:spPr>
          <a:xfrm>
            <a:off x="5592763" y="6442075"/>
            <a:ext cx="427990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41675" y="508000"/>
            <a:ext cx="3390900" cy="2543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5" name="Google Shape;435;p33:notes"/>
          <p:cNvSpPr txBox="1">
            <a:spLocks noGrp="1"/>
          </p:cNvSpPr>
          <p:nvPr>
            <p:ph type="body" idx="1"/>
          </p:nvPr>
        </p:nvSpPr>
        <p:spPr>
          <a:xfrm>
            <a:off x="987425" y="3221038"/>
            <a:ext cx="7899400" cy="305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36" name="Google Shape;436;p33:notes"/>
          <p:cNvSpPr txBox="1">
            <a:spLocks noGrp="1"/>
          </p:cNvSpPr>
          <p:nvPr>
            <p:ph type="sldNum" idx="12"/>
          </p:nvPr>
        </p:nvSpPr>
        <p:spPr>
          <a:xfrm>
            <a:off x="5592763" y="6442075"/>
            <a:ext cx="427990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41675" y="508000"/>
            <a:ext cx="3390900" cy="2543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35:notes"/>
          <p:cNvSpPr txBox="1">
            <a:spLocks noGrp="1"/>
          </p:cNvSpPr>
          <p:nvPr>
            <p:ph type="body" idx="1"/>
          </p:nvPr>
        </p:nvSpPr>
        <p:spPr>
          <a:xfrm>
            <a:off x="987425" y="3221038"/>
            <a:ext cx="7899400" cy="305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5:notes"/>
          <p:cNvSpPr txBox="1">
            <a:spLocks noGrp="1"/>
          </p:cNvSpPr>
          <p:nvPr>
            <p:ph type="sldNum" idx="12"/>
          </p:nvPr>
        </p:nvSpPr>
        <p:spPr>
          <a:xfrm>
            <a:off x="5592763" y="6442075"/>
            <a:ext cx="427990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41675" y="508000"/>
            <a:ext cx="3390900" cy="2543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35:notes"/>
          <p:cNvSpPr txBox="1">
            <a:spLocks noGrp="1"/>
          </p:cNvSpPr>
          <p:nvPr>
            <p:ph type="body" idx="1"/>
          </p:nvPr>
        </p:nvSpPr>
        <p:spPr>
          <a:xfrm>
            <a:off x="987425" y="3221038"/>
            <a:ext cx="7899400" cy="305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5:notes"/>
          <p:cNvSpPr txBox="1">
            <a:spLocks noGrp="1"/>
          </p:cNvSpPr>
          <p:nvPr>
            <p:ph type="sldNum" idx="12"/>
          </p:nvPr>
        </p:nvSpPr>
        <p:spPr>
          <a:xfrm>
            <a:off x="5592763" y="6442075"/>
            <a:ext cx="427990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95345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0227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1" name="Google Shape;53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7" name="Google Shape;27;p41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" name="Google Shape;28;p41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" name="Google Shape;29;p41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30" name="Google Shape;30;p41"/>
              <p:cNvSpPr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1;p41"/>
              <p:cNvSpPr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2;p41"/>
              <p:cNvSpPr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3;p41"/>
              <p:cNvSpPr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4;p41"/>
              <p:cNvSpPr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5;p41"/>
              <p:cNvSpPr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6;p41"/>
              <p:cNvSpPr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7;p41"/>
              <p:cNvSpPr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8;p41"/>
              <p:cNvSpPr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9;p41"/>
              <p:cNvSpPr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40" name="Google Shape;40;p41"/>
          <p:cNvSpPr txBox="1">
            <a:spLocks noGrp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1"/>
          <p:cNvSpPr txBox="1">
            <a:spLocks noGrp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500"/>
              </a:spcBef>
              <a:spcAft>
                <a:spcPts val="0"/>
              </a:spcAft>
              <a:buSzPts val="1875"/>
              <a:buFont typeface="Noto Sans Symbols"/>
              <a:buNone/>
              <a:defRPr sz="2500"/>
            </a:lvl1pPr>
            <a:lvl2pPr lvl="1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2" name="Google Shape;42;p41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 dirty="0"/>
          </a:p>
        </p:txBody>
      </p:sp>
      <p:sp>
        <p:nvSpPr>
          <p:cNvPr id="48" name="Google Shape;48;p4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0" name="Google Shape;50;p4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4" name="Google Shape;54;p4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4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4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4038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SzPts val="1920"/>
              <a:buChar char="◻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body" idx="2"/>
          </p:nvPr>
        </p:nvSpPr>
        <p:spPr>
          <a:xfrm>
            <a:off x="4648200" y="1268413"/>
            <a:ext cx="4038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SzPts val="1920"/>
              <a:buChar char="◻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61" name="Google Shape;61;p4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4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4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SzPts val="1600"/>
              <a:buChar char="◻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◻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68" name="Google Shape;68;p4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4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SzPts val="1600"/>
              <a:buChar char="◻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◻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70" name="Google Shape;70;p4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4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4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4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SzPts val="2400"/>
              <a:buChar char="■"/>
              <a:defRPr sz="3200"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SzPts val="2240"/>
              <a:buChar char="◻"/>
              <a:defRPr sz="2800"/>
            </a:lvl2pPr>
            <a:lvl3pPr marL="1371600" lvl="2" indent="-32766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SzPts val="1400"/>
              <a:buChar char="◻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85" name="Google Shape;85;p4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4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4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4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3" name="Google Shape;93;p4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4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0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0"/>
          <p:cNvSpPr txBox="1">
            <a:spLocks noGrp="1"/>
          </p:cNvSpPr>
          <p:nvPr>
            <p:ph type="body" idx="1"/>
          </p:nvPr>
        </p:nvSpPr>
        <p:spPr>
          <a:xfrm rot="5400000">
            <a:off x="2272507" y="-546893"/>
            <a:ext cx="459898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9" name="Google Shape;99;p5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5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5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1"/>
          <p:cNvSpPr txBox="1">
            <a:spLocks noGrp="1"/>
          </p:cNvSpPr>
          <p:nvPr>
            <p:ph type="title"/>
          </p:nvPr>
        </p:nvSpPr>
        <p:spPr>
          <a:xfrm rot="5400000">
            <a:off x="4953000" y="2133600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51"/>
          <p:cNvSpPr txBox="1">
            <a:spLocks noGrp="1"/>
          </p:cNvSpPr>
          <p:nvPr>
            <p:ph type="body" idx="1"/>
          </p:nvPr>
        </p:nvSpPr>
        <p:spPr>
          <a:xfrm rot="5400000">
            <a:off x="762000" y="152400"/>
            <a:ext cx="54102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05" name="Google Shape;105;p5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5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" name="Google Shape;12;p40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3" name="Google Shape;13;p40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40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40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40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40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40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40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40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40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22;p40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40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4639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>
            <a:spLocks noGrp="1"/>
          </p:cNvSpPr>
          <p:nvPr>
            <p:ph type="ctrTitle"/>
          </p:nvPr>
        </p:nvSpPr>
        <p:spPr>
          <a:xfrm>
            <a:off x="2592279" y="1979720"/>
            <a:ext cx="6425953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Homework Assignment #1</a:t>
            </a:r>
            <a:br>
              <a:rPr lang="en-US" dirty="0"/>
            </a:br>
            <a:r>
              <a:rPr lang="en-US" dirty="0"/>
              <a:t>     Matrix Multiplication in Multi-Process</a:t>
            </a:r>
            <a:br>
              <a:rPr lang="en-US" sz="2400" dirty="0"/>
            </a:br>
            <a:endParaRPr sz="2400" dirty="0"/>
          </a:p>
        </p:txBody>
      </p:sp>
      <p:sp>
        <p:nvSpPr>
          <p:cNvPr id="114" name="Google Shape;114;p1"/>
          <p:cNvSpPr txBox="1">
            <a:spLocks noGrp="1"/>
          </p:cNvSpPr>
          <p:nvPr>
            <p:ph type="subTitle" idx="1"/>
          </p:nvPr>
        </p:nvSpPr>
        <p:spPr>
          <a:xfrm>
            <a:off x="2843808" y="4581128"/>
            <a:ext cx="47525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>
                <a:solidFill>
                  <a:srgbClr val="000000"/>
                </a:solidFill>
              </a:rPr>
              <a:t>Professor</a:t>
            </a:r>
            <a:r>
              <a:rPr lang="en-US" sz="2400" dirty="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：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/>
              <a:t>Hsung</a:t>
            </a:r>
            <a:r>
              <a:rPr lang="en-US" sz="2400" dirty="0"/>
              <a:t>-Pin Chang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dirty="0">
                <a:solidFill>
                  <a:srgbClr val="000000"/>
                </a:solidFill>
              </a:rPr>
              <a:t>TA </a:t>
            </a:r>
            <a:r>
              <a:rPr lang="en-US" sz="2400" dirty="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：</a:t>
            </a:r>
            <a:r>
              <a:rPr lang="en-US" altLang="zh-TW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FKai-SB"/>
              </a:rPr>
              <a:t>Wei-Shou Chen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Outline</a:t>
            </a:r>
            <a:endParaRPr/>
          </a:p>
        </p:txBody>
      </p:sp>
      <p:sp>
        <p:nvSpPr>
          <p:cNvPr id="121" name="Google Shape;121;p2"/>
          <p:cNvSpPr txBox="1">
            <a:spLocks noGrp="1"/>
          </p:cNvSpPr>
          <p:nvPr>
            <p:ph type="body" idx="1"/>
          </p:nvPr>
        </p:nvSpPr>
        <p:spPr>
          <a:xfrm>
            <a:off x="457200" y="1154697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b="1" dirty="0"/>
              <a:t>Background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 dirty="0"/>
              <a:t>Multi-process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 dirty="0"/>
              <a:t>Shared memory</a:t>
            </a:r>
            <a:endParaRPr lang="zh-TW" altLang="en-US" dirty="0"/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b="1" dirty="0"/>
              <a:t>Homework Assignment #1</a:t>
            </a:r>
            <a:endParaRPr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B929450-BF2E-2372-BD4C-2EAD7CF730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Outline</a:t>
            </a:r>
            <a:endParaRPr/>
          </a:p>
        </p:txBody>
      </p:sp>
      <p:sp>
        <p:nvSpPr>
          <p:cNvPr id="128" name="Google Shape;128;p3"/>
          <p:cNvSpPr txBox="1">
            <a:spLocks noGrp="1"/>
          </p:cNvSpPr>
          <p:nvPr>
            <p:ph type="body" idx="1"/>
          </p:nvPr>
        </p:nvSpPr>
        <p:spPr>
          <a:xfrm>
            <a:off x="457200" y="1154697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b="1" dirty="0">
                <a:solidFill>
                  <a:schemeClr val="tx1"/>
                </a:solidFill>
              </a:rPr>
              <a:t>Background</a:t>
            </a:r>
            <a:endParaRPr lang="en-US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 dirty="0">
                <a:solidFill>
                  <a:schemeClr val="tx1"/>
                </a:solidFill>
              </a:rPr>
              <a:t>Multi-process</a:t>
            </a: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 dirty="0">
                <a:solidFill>
                  <a:schemeClr val="tx1"/>
                </a:solidFill>
              </a:rPr>
              <a:t>Shared memory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b="1" dirty="0">
                <a:solidFill>
                  <a:srgbClr val="D8D8D8"/>
                </a:solidFill>
              </a:rPr>
              <a:t>Homework Assignment #1</a:t>
            </a:r>
            <a:endParaRPr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B1EA62E-FF7B-1434-A51A-70C2200CE3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62"/>
          <p:cNvSpPr txBox="1">
            <a:spLocks noGrp="1"/>
          </p:cNvSpPr>
          <p:nvPr>
            <p:ph type="title"/>
          </p:nvPr>
        </p:nvSpPr>
        <p:spPr>
          <a:xfrm>
            <a:off x="468313" y="89296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altLang="zh-TW" b="1" dirty="0"/>
              <a:t>Multi-process</a:t>
            </a:r>
            <a:endParaRPr b="1" dirty="0"/>
          </a:p>
        </p:txBody>
      </p:sp>
      <p:sp>
        <p:nvSpPr>
          <p:cNvPr id="1166" name="Google Shape;1166;p62"/>
          <p:cNvSpPr txBox="1">
            <a:spLocks noGrp="1"/>
          </p:cNvSpPr>
          <p:nvPr>
            <p:ph type="body" idx="1"/>
          </p:nvPr>
        </p:nvSpPr>
        <p:spPr>
          <a:xfrm>
            <a:off x="457200" y="1808560"/>
            <a:ext cx="8229600" cy="364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spcBef>
                <a:spcPts val="0"/>
              </a:spcBef>
              <a:buClr>
                <a:schemeClr val="dk1"/>
              </a:buClr>
              <a:buSzPts val="3200"/>
              <a:buFont typeface="Calibri"/>
              <a:buChar char="•"/>
            </a:pPr>
            <a:r>
              <a:rPr lang="en-US" dirty="0"/>
              <a:t>A process may create several new processes</a:t>
            </a:r>
            <a:endParaRPr dirty="0"/>
          </a:p>
          <a:p>
            <a:pPr marL="557213" lvl="1" indent="-214313">
              <a:spcBef>
                <a:spcPts val="420"/>
              </a:spcBef>
              <a:buClr>
                <a:schemeClr val="dk1"/>
              </a:buClr>
              <a:buSzPts val="2800"/>
              <a:buFont typeface="Calibri"/>
              <a:buChar char="–"/>
            </a:pPr>
            <a:r>
              <a:rPr lang="en-US" dirty="0"/>
              <a:t>The creating process is called </a:t>
            </a:r>
            <a:r>
              <a:rPr lang="en-US" b="1" dirty="0">
                <a:solidFill>
                  <a:srgbClr val="FF0000"/>
                </a:solidFill>
              </a:rPr>
              <a:t>parent</a:t>
            </a:r>
            <a:endParaRPr dirty="0"/>
          </a:p>
          <a:p>
            <a:pPr marL="557213" lvl="1" indent="-80963"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endParaRPr dirty="0"/>
          </a:p>
          <a:p>
            <a:pPr marL="557213" lvl="1" indent="-214313">
              <a:spcBef>
                <a:spcPts val="420"/>
              </a:spcBef>
              <a:buClr>
                <a:schemeClr val="dk1"/>
              </a:buClr>
              <a:buSzPts val="2800"/>
              <a:buFont typeface="Calibri"/>
              <a:buChar char="–"/>
            </a:pPr>
            <a:r>
              <a:rPr lang="en-US" dirty="0"/>
              <a:t>The new processes are called </a:t>
            </a:r>
            <a:r>
              <a:rPr lang="en-US" b="1" dirty="0">
                <a:solidFill>
                  <a:srgbClr val="FF0000"/>
                </a:solidFill>
              </a:rPr>
              <a:t>children</a:t>
            </a:r>
            <a:r>
              <a:rPr lang="en-US" dirty="0"/>
              <a:t> of that process</a:t>
            </a:r>
            <a:endParaRPr dirty="0"/>
          </a:p>
          <a:p>
            <a:pPr marL="557213" lvl="1" indent="-80963"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endParaRPr dirty="0"/>
          </a:p>
          <a:p>
            <a:pPr marL="257175" indent="-104775">
              <a:spcBef>
                <a:spcPts val="480"/>
              </a:spcBef>
              <a:buClr>
                <a:schemeClr val="dk1"/>
              </a:buClr>
              <a:buSzPts val="3200"/>
              <a:buNone/>
            </a:pPr>
            <a:endParaRPr dirty="0"/>
          </a:p>
          <a:p>
            <a:pPr marL="257175" indent="-104775">
              <a:spcBef>
                <a:spcPts val="480"/>
              </a:spcBef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596AA20-5AB7-35E8-627A-F6291F9C20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64"/>
          <p:cNvSpPr txBox="1">
            <a:spLocks noGrp="1"/>
          </p:cNvSpPr>
          <p:nvPr>
            <p:ph type="title"/>
          </p:nvPr>
        </p:nvSpPr>
        <p:spPr>
          <a:xfrm>
            <a:off x="468313" y="89296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b="1" dirty="0"/>
              <a:t>Multi-process</a:t>
            </a:r>
            <a:endParaRPr b="1" dirty="0"/>
          </a:p>
        </p:txBody>
      </p:sp>
      <p:sp>
        <p:nvSpPr>
          <p:cNvPr id="1179" name="Google Shape;1179;p64"/>
          <p:cNvSpPr txBox="1">
            <a:spLocks noGrp="1"/>
          </p:cNvSpPr>
          <p:nvPr>
            <p:ph type="body" idx="1"/>
          </p:nvPr>
        </p:nvSpPr>
        <p:spPr>
          <a:xfrm>
            <a:off x="457200" y="1808560"/>
            <a:ext cx="8229600" cy="364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100" b="1" dirty="0"/>
              <a:t>Execution</a:t>
            </a:r>
            <a:endParaRPr dirty="0"/>
          </a:p>
          <a:p>
            <a:pPr marL="557213" lvl="1" indent="-214313">
              <a:lnSpc>
                <a:spcPct val="90000"/>
              </a:lnSpc>
              <a:buClr>
                <a:schemeClr val="dk1"/>
              </a:buClr>
              <a:buSzPts val="2400"/>
              <a:buFont typeface="Calibri"/>
              <a:buChar char="–"/>
            </a:pPr>
            <a:r>
              <a:rPr lang="en-US" dirty="0"/>
              <a:t>Parent and children execute concurrently, or</a:t>
            </a:r>
            <a:endParaRPr dirty="0"/>
          </a:p>
          <a:p>
            <a:pPr marL="557213" lvl="1" indent="-214313">
              <a:lnSpc>
                <a:spcPct val="90000"/>
              </a:lnSpc>
              <a:buClr>
                <a:schemeClr val="dk1"/>
              </a:buClr>
              <a:buSzPts val="2400"/>
              <a:buFont typeface="Calibri"/>
              <a:buChar char="–"/>
            </a:pPr>
            <a:r>
              <a:rPr lang="en-US" dirty="0"/>
              <a:t>Parent waits until children terminate</a:t>
            </a:r>
            <a:endParaRPr dirty="0"/>
          </a:p>
          <a:p>
            <a:pPr marL="857250" lvl="2" indent="-171450">
              <a:lnSpc>
                <a:spcPct val="90000"/>
              </a:lnSpc>
              <a:spcBef>
                <a:spcPts val="300"/>
              </a:spcBef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1500" b="1" dirty="0"/>
              <a:t>wait() </a:t>
            </a:r>
            <a:r>
              <a:rPr lang="en-US" sz="1500" dirty="0"/>
              <a:t>system call in Linux</a:t>
            </a:r>
            <a:endParaRPr sz="2100" b="1" dirty="0"/>
          </a:p>
          <a:p>
            <a:pPr marL="257175" indent="-12382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endParaRPr sz="2100" b="1"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100" b="1" dirty="0"/>
              <a:t>Address space</a:t>
            </a:r>
            <a:endParaRPr dirty="0"/>
          </a:p>
          <a:p>
            <a:pPr marL="557213" lvl="1" indent="-214313">
              <a:lnSpc>
                <a:spcPct val="90000"/>
              </a:lnSpc>
              <a:buClr>
                <a:schemeClr val="dk1"/>
              </a:buClr>
              <a:buSzPts val="2400"/>
              <a:buFont typeface="Calibri"/>
              <a:buChar char="–"/>
            </a:pPr>
            <a:r>
              <a:rPr lang="en-US" dirty="0"/>
              <a:t>Child duplicate of parent (has the same program and data as the parent), or</a:t>
            </a:r>
            <a:endParaRPr dirty="0"/>
          </a:p>
          <a:p>
            <a:pPr marL="857250" lvl="2" indent="-171450">
              <a:lnSpc>
                <a:spcPct val="90000"/>
              </a:lnSpc>
              <a:spcBef>
                <a:spcPts val="300"/>
              </a:spcBef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1500" b="1" dirty="0"/>
              <a:t>fork()</a:t>
            </a:r>
            <a:r>
              <a:rPr lang="en-US" sz="1500" dirty="0"/>
              <a:t> system call creates a new process in Linux</a:t>
            </a:r>
            <a:endParaRPr sz="1500" dirty="0"/>
          </a:p>
          <a:p>
            <a:pPr marL="557213" lvl="1" indent="-100013">
              <a:lnSpc>
                <a:spcPct val="90000"/>
              </a:lnSpc>
              <a:buClr>
                <a:schemeClr val="dk1"/>
              </a:buClr>
              <a:buSzPts val="2400"/>
              <a:buNone/>
            </a:pPr>
            <a:endParaRPr dirty="0"/>
          </a:p>
          <a:p>
            <a:pPr marL="557213" lvl="1" indent="-214313">
              <a:lnSpc>
                <a:spcPct val="90000"/>
              </a:lnSpc>
              <a:buClr>
                <a:schemeClr val="dk1"/>
              </a:buClr>
              <a:buSzPts val="2400"/>
              <a:buFont typeface="Calibri"/>
              <a:buChar char="–"/>
            </a:pPr>
            <a:r>
              <a:rPr lang="en-US" dirty="0"/>
              <a:t>Child has a new program loaded into it</a:t>
            </a:r>
            <a:endParaRPr dirty="0"/>
          </a:p>
          <a:p>
            <a:pPr marL="857250" lvl="2" indent="-171450">
              <a:lnSpc>
                <a:spcPct val="90000"/>
              </a:lnSpc>
              <a:spcBef>
                <a:spcPts val="300"/>
              </a:spcBef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1500" b="1" dirty="0"/>
              <a:t>exec()</a:t>
            </a:r>
            <a:r>
              <a:rPr lang="en-US" sz="1500" dirty="0"/>
              <a:t> system call replaces the process</a:t>
            </a:r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’</a:t>
            </a:r>
            <a:r>
              <a:rPr lang="en-US" sz="1500" dirty="0"/>
              <a:t> memory space with a new program in Linux</a:t>
            </a:r>
            <a:endParaRPr sz="15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62225FC-218C-42B9-E1C5-65E184056D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65"/>
          <p:cNvSpPr txBox="1"/>
          <p:nvPr/>
        </p:nvSpPr>
        <p:spPr>
          <a:xfrm>
            <a:off x="3113486" y="5697141"/>
            <a:ext cx="291703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NCHU System &amp; Network Lab</a:t>
            </a:r>
            <a:endParaRPr sz="1050"/>
          </a:p>
        </p:txBody>
      </p:sp>
      <p:sp>
        <p:nvSpPr>
          <p:cNvPr id="1185" name="Google Shape;1185;p65"/>
          <p:cNvSpPr txBox="1">
            <a:spLocks noGrp="1"/>
          </p:cNvSpPr>
          <p:nvPr>
            <p:ph type="title"/>
          </p:nvPr>
        </p:nvSpPr>
        <p:spPr>
          <a:xfrm>
            <a:off x="468313" y="89296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b="1" dirty="0"/>
              <a:t>The 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fork()</a:t>
            </a:r>
            <a:r>
              <a:rPr lang="en-US" b="1" dirty="0"/>
              <a:t> System Call</a:t>
            </a:r>
            <a:endParaRPr b="1" dirty="0"/>
          </a:p>
        </p:txBody>
      </p:sp>
      <p:sp>
        <p:nvSpPr>
          <p:cNvPr id="1186" name="Google Shape;1186;p65"/>
          <p:cNvSpPr/>
          <p:nvPr/>
        </p:nvSpPr>
        <p:spPr>
          <a:xfrm>
            <a:off x="3869533" y="2402682"/>
            <a:ext cx="1241822" cy="2969419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2700">
              <a:solidFill>
                <a:schemeClr val="dk1"/>
              </a:solidFill>
            </a:endParaRPr>
          </a:p>
        </p:txBody>
      </p:sp>
      <p:sp>
        <p:nvSpPr>
          <p:cNvPr id="1187" name="Google Shape;1187;p65"/>
          <p:cNvSpPr txBox="1"/>
          <p:nvPr/>
        </p:nvSpPr>
        <p:spPr>
          <a:xfrm>
            <a:off x="3869532" y="2025254"/>
            <a:ext cx="1188244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800" b="1">
                <a:solidFill>
                  <a:schemeClr val="dk1"/>
                </a:solidFill>
              </a:rPr>
              <a:t>Memory</a:t>
            </a:r>
            <a:endParaRPr sz="1050"/>
          </a:p>
        </p:txBody>
      </p:sp>
      <p:sp>
        <p:nvSpPr>
          <p:cNvPr id="1188" name="Google Shape;1188;p65"/>
          <p:cNvSpPr txBox="1"/>
          <p:nvPr/>
        </p:nvSpPr>
        <p:spPr>
          <a:xfrm>
            <a:off x="1566747" y="4739221"/>
            <a:ext cx="11334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fork()</a:t>
            </a:r>
            <a:endParaRPr sz="1050" dirty="0"/>
          </a:p>
        </p:txBody>
      </p:sp>
      <p:grpSp>
        <p:nvGrpSpPr>
          <p:cNvPr id="1189" name="Google Shape;1189;p65"/>
          <p:cNvGrpSpPr/>
          <p:nvPr/>
        </p:nvGrpSpPr>
        <p:grpSpPr>
          <a:xfrm>
            <a:off x="3870722" y="2780111"/>
            <a:ext cx="1241822" cy="702469"/>
            <a:chOff x="2064" y="1616"/>
            <a:chExt cx="1043" cy="545"/>
          </a:xfrm>
        </p:grpSpPr>
        <p:sp>
          <p:nvSpPr>
            <p:cNvPr id="1190" name="Google Shape;1190;p65"/>
            <p:cNvSpPr/>
            <p:nvPr/>
          </p:nvSpPr>
          <p:spPr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2700">
                <a:solidFill>
                  <a:schemeClr val="dk1"/>
                </a:solidFill>
              </a:endParaRPr>
            </a:p>
          </p:txBody>
        </p:sp>
        <p:sp>
          <p:nvSpPr>
            <p:cNvPr id="1191" name="Google Shape;1191;p65"/>
            <p:cNvSpPr txBox="1"/>
            <p:nvPr/>
          </p:nvSpPr>
          <p:spPr>
            <a:xfrm>
              <a:off x="2064" y="1689"/>
              <a:ext cx="998" cy="3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algn="ctr"/>
              <a:r>
                <a:rPr lang="en-US" sz="1350" b="1">
                  <a:solidFill>
                    <a:schemeClr val="lt1"/>
                  </a:solidFill>
                </a:rPr>
                <a:t>Original image</a:t>
              </a:r>
              <a:endParaRPr sz="1050"/>
            </a:p>
          </p:txBody>
        </p:sp>
      </p:grpSp>
      <p:sp>
        <p:nvSpPr>
          <p:cNvPr id="1192" name="Google Shape;1192;p65"/>
          <p:cNvSpPr txBox="1"/>
          <p:nvPr/>
        </p:nvSpPr>
        <p:spPr>
          <a:xfrm>
            <a:off x="2358630" y="4346972"/>
            <a:ext cx="1188244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350" b="1">
                <a:solidFill>
                  <a:schemeClr val="lt1"/>
                </a:solidFill>
              </a:rPr>
              <a:t>New image</a:t>
            </a:r>
            <a:endParaRPr sz="105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5CF27A-2E5C-3921-2A39-2C91A207325B}"/>
              </a:ext>
            </a:extLst>
          </p:cNvPr>
          <p:cNvSpPr/>
          <p:nvPr/>
        </p:nvSpPr>
        <p:spPr>
          <a:xfrm>
            <a:off x="1551343" y="3235242"/>
            <a:ext cx="1188244" cy="1336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740F824-8F76-C969-0353-F122F495A487}"/>
              </a:ext>
            </a:extLst>
          </p:cNvPr>
          <p:cNvSpPr txBox="1"/>
          <p:nvPr/>
        </p:nvSpPr>
        <p:spPr>
          <a:xfrm>
            <a:off x="1520146" y="2821680"/>
            <a:ext cx="1322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Process A</a:t>
            </a:r>
            <a:endParaRPr lang="zh-TW" altLang="en-US" sz="1600" b="1" dirty="0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6BA9616B-066A-4EDF-CC31-60960D90108E}"/>
              </a:ext>
            </a:extLst>
          </p:cNvPr>
          <p:cNvCxnSpPr>
            <a:cxnSpLocks/>
            <a:stCxn id="2" idx="3"/>
            <a:endCxn id="1191" idx="1"/>
          </p:cNvCxnSpPr>
          <p:nvPr/>
        </p:nvCxnSpPr>
        <p:spPr>
          <a:xfrm flipV="1">
            <a:off x="2739587" y="3116523"/>
            <a:ext cx="1131135" cy="7869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1E0F53F5-8C30-030B-5525-100A467889E9}"/>
              </a:ext>
            </a:extLst>
          </p:cNvPr>
          <p:cNvSpPr/>
          <p:nvPr/>
        </p:nvSpPr>
        <p:spPr>
          <a:xfrm>
            <a:off x="6104088" y="3220706"/>
            <a:ext cx="1188244" cy="1336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4D758E1-7F6A-CD1F-70CE-E093B8266A13}"/>
              </a:ext>
            </a:extLst>
          </p:cNvPr>
          <p:cNvSpPr txBox="1"/>
          <p:nvPr/>
        </p:nvSpPr>
        <p:spPr>
          <a:xfrm>
            <a:off x="6084391" y="2821680"/>
            <a:ext cx="1322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Process B</a:t>
            </a:r>
            <a:endParaRPr lang="zh-TW" altLang="en-US" sz="1600" b="1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E85CC600-DE60-8D9D-5093-09BEACB9F937}"/>
              </a:ext>
            </a:extLst>
          </p:cNvPr>
          <p:cNvCxnSpPr>
            <a:cxnSpLocks/>
            <a:stCxn id="7" idx="1"/>
            <a:endCxn id="1191" idx="3"/>
          </p:cNvCxnSpPr>
          <p:nvPr/>
        </p:nvCxnSpPr>
        <p:spPr>
          <a:xfrm flipH="1" flipV="1">
            <a:off x="5058966" y="3116523"/>
            <a:ext cx="1045122" cy="772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9BA74E2-784C-31DE-9953-F5EE073FE56D}"/>
              </a:ext>
            </a:extLst>
          </p:cNvPr>
          <p:cNvSpPr txBox="1"/>
          <p:nvPr/>
        </p:nvSpPr>
        <p:spPr>
          <a:xfrm>
            <a:off x="1650549" y="2460869"/>
            <a:ext cx="965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(Parent)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6874AB0-C766-74E4-8132-68E6572AD1EE}"/>
              </a:ext>
            </a:extLst>
          </p:cNvPr>
          <p:cNvSpPr txBox="1"/>
          <p:nvPr/>
        </p:nvSpPr>
        <p:spPr>
          <a:xfrm>
            <a:off x="6185229" y="2494994"/>
            <a:ext cx="965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(Child)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85664250-C33A-F586-4241-2087099097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" grpId="0"/>
      <p:bldP spid="7" grpId="0" animBg="1"/>
      <p:bldP spid="8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66"/>
          <p:cNvSpPr txBox="1"/>
          <p:nvPr/>
        </p:nvSpPr>
        <p:spPr>
          <a:xfrm>
            <a:off x="3113486" y="5697141"/>
            <a:ext cx="291703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NCHU System &amp; Network Lab</a:t>
            </a:r>
            <a:endParaRPr sz="1050"/>
          </a:p>
        </p:txBody>
      </p:sp>
      <p:sp>
        <p:nvSpPr>
          <p:cNvPr id="1201" name="Google Shape;1201;p66"/>
          <p:cNvSpPr txBox="1">
            <a:spLocks noGrp="1"/>
          </p:cNvSpPr>
          <p:nvPr>
            <p:ph type="title"/>
          </p:nvPr>
        </p:nvSpPr>
        <p:spPr>
          <a:xfrm>
            <a:off x="468313" y="89296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b="1" dirty="0"/>
              <a:t>The 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exec()</a:t>
            </a:r>
            <a:r>
              <a:rPr lang="en-US" b="1" dirty="0"/>
              <a:t> System Call</a:t>
            </a:r>
            <a:endParaRPr b="1" dirty="0"/>
          </a:p>
        </p:txBody>
      </p:sp>
      <p:sp>
        <p:nvSpPr>
          <p:cNvPr id="1202" name="Google Shape;1202;p66"/>
          <p:cNvSpPr/>
          <p:nvPr/>
        </p:nvSpPr>
        <p:spPr>
          <a:xfrm>
            <a:off x="3869533" y="2402682"/>
            <a:ext cx="1241822" cy="2969419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2700">
              <a:solidFill>
                <a:schemeClr val="dk1"/>
              </a:solidFill>
            </a:endParaRPr>
          </a:p>
        </p:txBody>
      </p:sp>
      <p:sp>
        <p:nvSpPr>
          <p:cNvPr id="1203" name="Google Shape;1203;p66"/>
          <p:cNvSpPr txBox="1"/>
          <p:nvPr/>
        </p:nvSpPr>
        <p:spPr>
          <a:xfrm>
            <a:off x="3869532" y="2025254"/>
            <a:ext cx="1188244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800" b="1">
                <a:solidFill>
                  <a:schemeClr val="dk1"/>
                </a:solidFill>
              </a:rPr>
              <a:t>Memory</a:t>
            </a:r>
            <a:endParaRPr sz="1050"/>
          </a:p>
        </p:txBody>
      </p:sp>
      <p:grpSp>
        <p:nvGrpSpPr>
          <p:cNvPr id="1205" name="Google Shape;1205;p66"/>
          <p:cNvGrpSpPr/>
          <p:nvPr/>
        </p:nvGrpSpPr>
        <p:grpSpPr>
          <a:xfrm>
            <a:off x="3870722" y="2780111"/>
            <a:ext cx="1241822" cy="702469"/>
            <a:chOff x="2064" y="1616"/>
            <a:chExt cx="1043" cy="545"/>
          </a:xfrm>
        </p:grpSpPr>
        <p:sp>
          <p:nvSpPr>
            <p:cNvPr id="1206" name="Google Shape;1206;p66"/>
            <p:cNvSpPr/>
            <p:nvPr/>
          </p:nvSpPr>
          <p:spPr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2700">
                <a:solidFill>
                  <a:schemeClr val="dk1"/>
                </a:solidFill>
              </a:endParaRPr>
            </a:p>
          </p:txBody>
        </p:sp>
        <p:sp>
          <p:nvSpPr>
            <p:cNvPr id="1207" name="Google Shape;1207;p66"/>
            <p:cNvSpPr txBox="1"/>
            <p:nvPr/>
          </p:nvSpPr>
          <p:spPr>
            <a:xfrm>
              <a:off x="2064" y="1689"/>
              <a:ext cx="998" cy="3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algn="ctr"/>
              <a:r>
                <a:rPr lang="en-US" sz="1350" b="1">
                  <a:solidFill>
                    <a:schemeClr val="lt1"/>
                  </a:solidFill>
                </a:rPr>
                <a:t>Original image</a:t>
              </a:r>
              <a:endParaRPr sz="1050"/>
            </a:p>
          </p:txBody>
        </p:sp>
      </p:grpSp>
      <p:sp>
        <p:nvSpPr>
          <p:cNvPr id="1208" name="Google Shape;1208;p66"/>
          <p:cNvSpPr txBox="1"/>
          <p:nvPr/>
        </p:nvSpPr>
        <p:spPr>
          <a:xfrm>
            <a:off x="2358630" y="4346972"/>
            <a:ext cx="1188244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350" b="1">
                <a:solidFill>
                  <a:schemeClr val="lt1"/>
                </a:solidFill>
              </a:rPr>
              <a:t>New image</a:t>
            </a:r>
            <a:endParaRPr sz="1050"/>
          </a:p>
        </p:txBody>
      </p:sp>
      <p:sp>
        <p:nvSpPr>
          <p:cNvPr id="1212" name="Google Shape;1212;p66"/>
          <p:cNvSpPr txBox="1"/>
          <p:nvPr/>
        </p:nvSpPr>
        <p:spPr>
          <a:xfrm>
            <a:off x="6558091" y="4789004"/>
            <a:ext cx="11334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exec()</a:t>
            </a:r>
            <a:endParaRPr sz="1050" dirty="0"/>
          </a:p>
        </p:txBody>
      </p:sp>
      <p:grpSp>
        <p:nvGrpSpPr>
          <p:cNvPr id="1213" name="Google Shape;1213;p66"/>
          <p:cNvGrpSpPr/>
          <p:nvPr/>
        </p:nvGrpSpPr>
        <p:grpSpPr>
          <a:xfrm>
            <a:off x="3870722" y="4185047"/>
            <a:ext cx="1241822" cy="707231"/>
            <a:chOff x="930" y="3249"/>
            <a:chExt cx="1043" cy="594"/>
          </a:xfrm>
        </p:grpSpPr>
        <p:sp>
          <p:nvSpPr>
            <p:cNvPr id="1214" name="Google Shape;1214;p66"/>
            <p:cNvSpPr/>
            <p:nvPr/>
          </p:nvSpPr>
          <p:spPr>
            <a:xfrm>
              <a:off x="930" y="3249"/>
              <a:ext cx="1043" cy="589"/>
            </a:xfrm>
            <a:prstGeom prst="rect">
              <a:avLst/>
            </a:prstGeom>
            <a:solidFill>
              <a:srgbClr val="FF66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2700">
                <a:solidFill>
                  <a:schemeClr val="dk1"/>
                </a:solidFill>
              </a:endParaRPr>
            </a:p>
          </p:txBody>
        </p:sp>
        <p:sp>
          <p:nvSpPr>
            <p:cNvPr id="1215" name="Google Shape;1215;p66"/>
            <p:cNvSpPr txBox="1"/>
            <p:nvPr/>
          </p:nvSpPr>
          <p:spPr>
            <a:xfrm>
              <a:off x="975" y="3261"/>
              <a:ext cx="998" cy="5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algn="ctr"/>
              <a:r>
                <a:rPr lang="en-US" sz="1350" b="1">
                  <a:solidFill>
                    <a:schemeClr val="lt1"/>
                  </a:solidFill>
                </a:rPr>
                <a:t>Load another image</a:t>
              </a:r>
              <a:endParaRPr sz="1050"/>
            </a:p>
          </p:txBody>
        </p:sp>
      </p:grpSp>
      <p:sp>
        <p:nvSpPr>
          <p:cNvPr id="17" name="Google Shape;1188;p65">
            <a:extLst>
              <a:ext uri="{FF2B5EF4-FFF2-40B4-BE49-F238E27FC236}">
                <a16:creationId xmlns:a16="http://schemas.microsoft.com/office/drawing/2014/main" id="{6521C0AF-855A-66EC-BB98-9CAB7E0F8E13}"/>
              </a:ext>
            </a:extLst>
          </p:cNvPr>
          <p:cNvSpPr txBox="1"/>
          <p:nvPr/>
        </p:nvSpPr>
        <p:spPr>
          <a:xfrm>
            <a:off x="1738842" y="4791473"/>
            <a:ext cx="11334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fork()</a:t>
            </a:r>
            <a:endParaRPr sz="105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73FE59-1B70-7F4C-2F03-EF2FB8DB88D9}"/>
              </a:ext>
            </a:extLst>
          </p:cNvPr>
          <p:cNvSpPr/>
          <p:nvPr/>
        </p:nvSpPr>
        <p:spPr>
          <a:xfrm>
            <a:off x="1723438" y="3287494"/>
            <a:ext cx="1188244" cy="1336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A1C5D64-510D-35CD-BABA-2D6D1EC592C7}"/>
              </a:ext>
            </a:extLst>
          </p:cNvPr>
          <p:cNvSpPr txBox="1"/>
          <p:nvPr/>
        </p:nvSpPr>
        <p:spPr>
          <a:xfrm>
            <a:off x="1692241" y="2873932"/>
            <a:ext cx="1322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Process A</a:t>
            </a:r>
            <a:endParaRPr lang="zh-TW" altLang="en-US" sz="1600" b="1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D520C6D-94D3-3D95-F652-82D4FEEEFA1F}"/>
              </a:ext>
            </a:extLst>
          </p:cNvPr>
          <p:cNvSpPr txBox="1"/>
          <p:nvPr/>
        </p:nvSpPr>
        <p:spPr>
          <a:xfrm>
            <a:off x="1822644" y="2513121"/>
            <a:ext cx="965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(Parent)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65CF3C0-CF5E-5336-307B-9FDBE14B5323}"/>
              </a:ext>
            </a:extLst>
          </p:cNvPr>
          <p:cNvSpPr/>
          <p:nvPr/>
        </p:nvSpPr>
        <p:spPr>
          <a:xfrm>
            <a:off x="6476950" y="3337694"/>
            <a:ext cx="1188244" cy="1336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70F06DF-6174-3FDF-808C-A8049A2E18DE}"/>
              </a:ext>
            </a:extLst>
          </p:cNvPr>
          <p:cNvSpPr txBox="1"/>
          <p:nvPr/>
        </p:nvSpPr>
        <p:spPr>
          <a:xfrm>
            <a:off x="6457253" y="2938668"/>
            <a:ext cx="1322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Process B</a:t>
            </a:r>
            <a:endParaRPr lang="zh-TW" altLang="en-US" sz="1600" b="1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BEF600F-747A-8AB2-F3D7-B99F2E06E08E}"/>
              </a:ext>
            </a:extLst>
          </p:cNvPr>
          <p:cNvSpPr txBox="1"/>
          <p:nvPr/>
        </p:nvSpPr>
        <p:spPr>
          <a:xfrm>
            <a:off x="6558091" y="2611982"/>
            <a:ext cx="965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(Child)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381CDF66-AB87-EF4C-8139-EFE7448377E3}"/>
              </a:ext>
            </a:extLst>
          </p:cNvPr>
          <p:cNvCxnSpPr>
            <a:cxnSpLocks/>
            <a:stCxn id="18" idx="3"/>
            <a:endCxn id="1207" idx="1"/>
          </p:cNvCxnSpPr>
          <p:nvPr/>
        </p:nvCxnSpPr>
        <p:spPr>
          <a:xfrm flipV="1">
            <a:off x="2911682" y="3116523"/>
            <a:ext cx="959040" cy="8391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85D982F5-4339-1AA3-582F-E9BAFFDB9C33}"/>
              </a:ext>
            </a:extLst>
          </p:cNvPr>
          <p:cNvCxnSpPr>
            <a:cxnSpLocks/>
            <a:stCxn id="21" idx="1"/>
            <a:endCxn id="1206" idx="3"/>
          </p:cNvCxnSpPr>
          <p:nvPr/>
        </p:nvCxnSpPr>
        <p:spPr>
          <a:xfrm flipH="1" flipV="1">
            <a:off x="5112544" y="3131346"/>
            <a:ext cx="1364406" cy="8745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AB711E33-CF56-9F00-5158-4639B7577165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164933" y="4005918"/>
            <a:ext cx="1312017" cy="6033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投影片編號版面配置區 36">
            <a:extLst>
              <a:ext uri="{FF2B5EF4-FFF2-40B4-BE49-F238E27FC236}">
                <a16:creationId xmlns:a16="http://schemas.microsoft.com/office/drawing/2014/main" id="{666672F4-7361-7C8C-B67F-6333C4721F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2" grpId="0"/>
      <p:bldP spid="17" grpId="0"/>
      <p:bldP spid="20" grpId="0"/>
      <p:bldP spid="21" grpId="0" animBg="1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67"/>
          <p:cNvSpPr txBox="1">
            <a:spLocks noGrp="1"/>
          </p:cNvSpPr>
          <p:nvPr>
            <p:ph type="title"/>
          </p:nvPr>
        </p:nvSpPr>
        <p:spPr>
          <a:xfrm>
            <a:off x="468313" y="89296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b="1" dirty="0"/>
              <a:t>UNIX Process Creation</a:t>
            </a:r>
            <a:endParaRPr b="1" dirty="0"/>
          </a:p>
        </p:txBody>
      </p:sp>
      <p:sp>
        <p:nvSpPr>
          <p:cNvPr id="1221" name="Google Shape;1221;p67"/>
          <p:cNvSpPr txBox="1">
            <a:spLocks noGrp="1"/>
          </p:cNvSpPr>
          <p:nvPr>
            <p:ph type="body" idx="1"/>
          </p:nvPr>
        </p:nvSpPr>
        <p:spPr>
          <a:xfrm>
            <a:off x="457200" y="1808560"/>
            <a:ext cx="8229600" cy="364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100" dirty="0"/>
              <a:t>See the following slide!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100" dirty="0"/>
              <a:t>Each process has a unique </a:t>
            </a:r>
            <a:r>
              <a:rPr lang="en-US" sz="2100" b="1" dirty="0">
                <a:solidFill>
                  <a:srgbClr val="FF3300"/>
                </a:solidFill>
              </a:rPr>
              <a:t>process id</a:t>
            </a:r>
            <a:r>
              <a:rPr lang="en-US" sz="2100" dirty="0"/>
              <a:t> (</a:t>
            </a:r>
            <a:r>
              <a:rPr lang="en-US" sz="2100" b="1" dirty="0">
                <a:solidFill>
                  <a:srgbClr val="FF3300"/>
                </a:solidFill>
              </a:rPr>
              <a:t>PID</a:t>
            </a:r>
            <a:r>
              <a:rPr lang="en-US" sz="2100" dirty="0"/>
              <a:t>)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100" dirty="0"/>
              <a:t>A new process is created by the </a:t>
            </a:r>
            <a:r>
              <a:rPr lang="en-US" sz="2100" b="1" dirty="0"/>
              <a:t>fork()</a:t>
            </a:r>
            <a:r>
              <a:rPr lang="en-US" sz="2100" dirty="0"/>
              <a:t> system call</a:t>
            </a:r>
            <a:endParaRPr dirty="0"/>
          </a:p>
          <a:p>
            <a:pPr marL="557213" lvl="1" indent="-214313">
              <a:lnSpc>
                <a:spcPct val="90000"/>
              </a:lnSpc>
              <a:buClr>
                <a:schemeClr val="dk1"/>
              </a:buClr>
              <a:buSzPts val="2400"/>
              <a:buFont typeface="Calibri"/>
              <a:buChar char="–"/>
            </a:pPr>
            <a:r>
              <a:rPr lang="en-US" dirty="0"/>
              <a:t>The new (child) process duplicates the address space of the parent process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100" dirty="0"/>
              <a:t>Child and parent continue execution at the instruction after the </a:t>
            </a:r>
            <a:r>
              <a:rPr lang="en-US" sz="2100" b="1" dirty="0"/>
              <a:t>fork()</a:t>
            </a:r>
            <a:r>
              <a:rPr lang="en-US" sz="2100" dirty="0"/>
              <a:t> system call</a:t>
            </a:r>
            <a:endParaRPr dirty="0"/>
          </a:p>
          <a:p>
            <a:pPr marL="557213" lvl="1" indent="-214313">
              <a:lnSpc>
                <a:spcPct val="90000"/>
              </a:lnSpc>
              <a:buClr>
                <a:schemeClr val="dk1"/>
              </a:buClr>
              <a:buSzPts val="2400"/>
              <a:buFont typeface="Calibri"/>
              <a:buChar char="–"/>
            </a:pPr>
            <a:r>
              <a:rPr lang="en-US" dirty="0"/>
              <a:t>Child: return value of fork is 0</a:t>
            </a:r>
            <a:endParaRPr dirty="0"/>
          </a:p>
          <a:p>
            <a:pPr marL="557213" lvl="1" indent="-214313">
              <a:lnSpc>
                <a:spcPct val="90000"/>
              </a:lnSpc>
              <a:buClr>
                <a:schemeClr val="dk1"/>
              </a:buClr>
              <a:buSzPts val="2400"/>
              <a:buFont typeface="Calibri"/>
              <a:buChar char="–"/>
            </a:pPr>
            <a:r>
              <a:rPr lang="en-US" dirty="0"/>
              <a:t>Parent: return value of fork is PID of the child process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100" dirty="0"/>
              <a:t>The </a:t>
            </a:r>
            <a:r>
              <a:rPr lang="en-US" sz="2100" b="1" dirty="0" err="1"/>
              <a:t>execlp</a:t>
            </a:r>
            <a:r>
              <a:rPr lang="en-US" sz="2100" b="1" dirty="0"/>
              <a:t>()</a:t>
            </a:r>
            <a:r>
              <a:rPr lang="en-US" sz="2100" dirty="0"/>
              <a:t> system call is used to load a new binary file into memory – destroying the old code</a:t>
            </a:r>
            <a:endParaRPr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19BE68E-C0C0-1CCC-98FD-E2BBF6406D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70"/>
          <p:cNvSpPr txBox="1">
            <a:spLocks noGrp="1"/>
          </p:cNvSpPr>
          <p:nvPr>
            <p:ph type="title"/>
          </p:nvPr>
        </p:nvSpPr>
        <p:spPr>
          <a:xfrm>
            <a:off x="468313" y="89296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b="1" dirty="0"/>
              <a:t>Process Creation</a:t>
            </a:r>
            <a:endParaRPr b="1" dirty="0"/>
          </a:p>
        </p:txBody>
      </p:sp>
      <p:pic>
        <p:nvPicPr>
          <p:cNvPr id="1257" name="Google Shape;1257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230" y="2177245"/>
            <a:ext cx="8158578" cy="27543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DDFC1D6-E117-065E-B560-533CEAEDD6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What is shared memory?</a:t>
            </a:r>
            <a:endParaRPr b="1" dirty="0"/>
          </a:p>
        </p:txBody>
      </p:sp>
      <p:sp>
        <p:nvSpPr>
          <p:cNvPr id="215" name="Google Shape;215;p1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0ED708-005D-44B1-8B5B-6A119398B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1556544"/>
            <a:ext cx="405765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C773F5-EE8D-45A0-8E45-3CBDDF0E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Shared memory</a:t>
            </a:r>
            <a:endParaRPr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CA9B1C-D2B5-485E-84B7-6AAAC21B4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Communicating processes need to establish a region of shared memory</a:t>
            </a:r>
          </a:p>
          <a:p>
            <a:pPr marL="742950" lvl="1" indent="-285750" rtl="0" fontAlgn="base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Reside in the </a:t>
            </a:r>
            <a:r>
              <a:rPr lang="en-US" altLang="zh-TW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address space of the process </a:t>
            </a:r>
            <a:r>
              <a:rPr lang="en-US" altLang="zh-TW" sz="2400" b="1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creating</a:t>
            </a:r>
            <a:r>
              <a:rPr lang="en-US" altLang="zh-TW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the shared-memory region</a:t>
            </a:r>
            <a:endParaRPr lang="en-US" altLang="zh-TW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406400" rtl="0" fontAlgn="base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Other processes using this region must </a:t>
            </a:r>
            <a:r>
              <a:rPr lang="en-US" altLang="zh-TW" sz="2400" b="1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attach</a:t>
            </a:r>
            <a:r>
              <a:rPr lang="en-US" altLang="zh-TW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it to their address space</a:t>
            </a:r>
          </a:p>
          <a:p>
            <a:pPr rtl="0" fontAlgn="base">
              <a:spcBef>
                <a:spcPts val="64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sz="2400" b="0" dirty="0">
              <a:effectLst/>
            </a:endParaRPr>
          </a:p>
          <a:p>
            <a:pPr rtl="0" fontAlgn="base">
              <a:spcBef>
                <a:spcPts val="64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Shared memory </a:t>
            </a:r>
            <a:r>
              <a:rPr lang="en-US" altLang="zh-TW" sz="2400" b="1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remove</a:t>
            </a:r>
            <a:r>
              <a:rPr lang="en-US" altLang="zh-TW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the restriction that one process cannot access another process’s memory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386156-DE10-49C0-9F54-C76CB4976D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12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POSIX API</a:t>
            </a:r>
            <a:endParaRPr/>
          </a:p>
        </p:txBody>
      </p:sp>
      <p:graphicFrame>
        <p:nvGraphicFramePr>
          <p:cNvPr id="372" name="Google Shape;372;p26"/>
          <p:cNvGraphicFramePr/>
          <p:nvPr/>
        </p:nvGraphicFramePr>
        <p:xfrm>
          <a:off x="457200" y="1600200"/>
          <a:ext cx="8229600" cy="46481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1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shm_open</a:t>
                      </a:r>
                      <a:r>
                        <a:rPr lang="en-US" sz="2800" b="1" i="1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</a:t>
                      </a:r>
                      <a:endParaRPr sz="2800" b="1" i="1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Creates and opens a new shared memory object or opens an existing object.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1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ftruncate</a:t>
                      </a:r>
                      <a:r>
                        <a:rPr lang="en-US" sz="2800" b="1" i="1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</a:t>
                      </a:r>
                      <a:endParaRPr sz="2800" b="1" i="1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 the size of a file to the value specified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 length.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5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1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mmap</a:t>
                      </a:r>
                      <a:r>
                        <a:rPr lang="en-US" sz="2800" b="1" i="1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</a:t>
                      </a:r>
                      <a:endParaRPr sz="2800" b="1" i="1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Creates a new mapping in the calling process’s virtual address space.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5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1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munmap</a:t>
                      </a:r>
                      <a:r>
                        <a:rPr lang="en-US" sz="2800" b="1" i="1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</a:t>
                      </a:r>
                      <a:endParaRPr sz="2800" b="1" i="1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Removing a mapping from the calling process’s virtual address space.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5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1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shm_unlink</a:t>
                      </a:r>
                      <a:r>
                        <a:rPr lang="en-US" sz="2800" b="1" i="1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</a:t>
                      </a:r>
                      <a:endParaRPr sz="2800" b="1" i="1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Removes the shared memory object specified by name.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A00FE3B-3158-C99D-0363-4966BA827E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 txBox="1">
            <a:spLocks noGrp="1"/>
          </p:cNvSpPr>
          <p:nvPr>
            <p:ph type="body" idx="1"/>
          </p:nvPr>
        </p:nvSpPr>
        <p:spPr>
          <a:xfrm>
            <a:off x="457200" y="135330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b="1" i="1" dirty="0" err="1">
                <a:latin typeface="Calibri"/>
                <a:ea typeface="Calibri"/>
                <a:cs typeface="Calibri"/>
                <a:sym typeface="Calibri"/>
              </a:rPr>
              <a:t>shm_open</a:t>
            </a:r>
            <a:r>
              <a:rPr lang="en-US" sz="2800" b="1" i="1" dirty="0">
                <a:latin typeface="Calibri"/>
                <a:ea typeface="Calibri"/>
                <a:cs typeface="Calibri"/>
                <a:sym typeface="Calibri"/>
              </a:rPr>
              <a:t>()</a:t>
            </a:r>
            <a:endParaRPr sz="2800" b="1"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/>
              <a:t>Creating Shared Memory Objects</a:t>
            </a:r>
            <a:endParaRPr sz="4000"/>
          </a:p>
        </p:txBody>
      </p:sp>
      <p:sp>
        <p:nvSpPr>
          <p:cNvPr id="381" name="Google Shape;381;p27"/>
          <p:cNvSpPr/>
          <p:nvPr/>
        </p:nvSpPr>
        <p:spPr>
          <a:xfrm>
            <a:off x="900113" y="2006600"/>
            <a:ext cx="7286625" cy="39528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#include&lt;sys/mman.h&gt;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900113" y="2509838"/>
            <a:ext cx="7269162" cy="57626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shm_open(const char *name, int oflag, mode_t mode);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900113" y="3302000"/>
            <a:ext cx="7286625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shm_open( NAME, O_RDWR, 0666 );</a:t>
            </a: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900113" y="3659356"/>
            <a:ext cx="7272337" cy="297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■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Returns file descriptor on success, or –1 on error</a:t>
            </a:r>
            <a:endParaRPr sz="22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Identifies the shared memory object to be 	created or opened.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oflag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Mask of bits that modify the behavior of the call.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File Permission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2D478FB-1801-A6ED-95B8-98301EB65C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 values for the shm_open() </a:t>
            </a:r>
            <a:br>
              <a:rPr lang="en-US"/>
            </a:br>
            <a:r>
              <a:rPr lang="en-US" b="1"/>
              <a:t>oflag</a:t>
            </a:r>
            <a:r>
              <a:rPr lang="en-US"/>
              <a:t> argument</a:t>
            </a:r>
            <a:endParaRPr i="1"/>
          </a:p>
        </p:txBody>
      </p:sp>
      <p:graphicFrame>
        <p:nvGraphicFramePr>
          <p:cNvPr id="392" name="Google Shape;392;p28"/>
          <p:cNvGraphicFramePr/>
          <p:nvPr/>
        </p:nvGraphicFramePr>
        <p:xfrm>
          <a:off x="304800" y="2819400"/>
          <a:ext cx="8610600" cy="30515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Flag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50" marB="4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50" marB="457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O_CREAT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O_EXCL</a:t>
                      </a:r>
                      <a:endParaRPr sz="20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50" marB="45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 object if it doesn’t already exist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With O_CREAT, create object exclusively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50" marB="45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O_RDONLY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O_RDWR</a:t>
                      </a:r>
                      <a:endParaRPr sz="20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50" marB="45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Open for read-only access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Open for read-write access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50" marB="457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O_TRUNC</a:t>
                      </a:r>
                      <a:endParaRPr sz="20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50" marB="45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Truncate object to zero length</a:t>
                      </a:r>
                      <a:endParaRPr sz="20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50" marB="457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3" name="Google Shape;393;p28"/>
          <p:cNvSpPr txBox="1"/>
          <p:nvPr/>
        </p:nvSpPr>
        <p:spPr>
          <a:xfrm>
            <a:off x="650838" y="196915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Library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fcntl.h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CA21FD9-003B-475D-DA36-E8409D52EC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 values for the shm_open() </a:t>
            </a:r>
            <a:br>
              <a:rPr lang="en-US"/>
            </a:br>
            <a:r>
              <a:rPr lang="en-US" b="1"/>
              <a:t>mode</a:t>
            </a:r>
            <a:r>
              <a:rPr lang="en-US"/>
              <a:t> argument</a:t>
            </a:r>
            <a:endParaRPr/>
          </a:p>
        </p:txBody>
      </p:sp>
      <p:sp>
        <p:nvSpPr>
          <p:cNvPr id="400" name="Google Shape;400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Library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sys/stat.h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Constants for File Permission Bits</a:t>
            </a: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2" name="Google Shape;402;p29"/>
          <p:cNvGraphicFramePr/>
          <p:nvPr/>
        </p:nvGraphicFramePr>
        <p:xfrm>
          <a:off x="990600" y="2743200"/>
          <a:ext cx="7162775" cy="3211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6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Constant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25" marB="45725"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Octal value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Permission bit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S_IRUSR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S_IWUSR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S_IXUSR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25" marB="45725"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0400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0200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 sz="1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User-read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User-write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User-execute</a:t>
                      </a:r>
                      <a:endParaRPr dirty="0"/>
                    </a:p>
                  </a:txBody>
                  <a:tcPr marL="44875" marR="4487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S_IRGRP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S_IWGRP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S_IXGRP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25" marB="45725"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040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020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Group-read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Group-write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Group-execute</a:t>
                      </a:r>
                      <a:endParaRPr/>
                    </a:p>
                  </a:txBody>
                  <a:tcPr marL="44875" marR="44875" marT="45725" marB="45725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S_IROTH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S_IWOTH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S_IXOTH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25" marB="45725"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Other-read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Other-write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Other-execute</a:t>
                      </a:r>
                      <a:endParaRPr sz="1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875" marR="44875" marT="45725" marB="45725"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54A50AC-77EB-71DA-64D4-6E94F205E4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1" dirty="0" err="1">
                <a:latin typeface="Arial"/>
                <a:ea typeface="Arial"/>
                <a:cs typeface="Arial"/>
                <a:sym typeface="Arial"/>
              </a:rPr>
              <a:t>ftruncate</a:t>
            </a:r>
            <a:r>
              <a:rPr lang="en-US" sz="2800" b="1" i="1" dirty="0">
                <a:latin typeface="Arial"/>
                <a:ea typeface="Arial"/>
                <a:cs typeface="Arial"/>
                <a:sym typeface="Arial"/>
              </a:rPr>
              <a:t>()</a:t>
            </a:r>
            <a:endParaRPr sz="2800" b="1" i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/>
              <a:t>Creating Shared Memory Objects (cont.)</a:t>
            </a:r>
            <a:endParaRPr sz="3600"/>
          </a:p>
        </p:txBody>
      </p:sp>
      <p:sp>
        <p:nvSpPr>
          <p:cNvPr id="450" name="Google Shape;450;p34"/>
          <p:cNvSpPr/>
          <p:nvPr/>
        </p:nvSpPr>
        <p:spPr>
          <a:xfrm>
            <a:off x="900113" y="2253496"/>
            <a:ext cx="7286625" cy="39528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#include&lt;unistd.h&gt;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900113" y="2756734"/>
            <a:ext cx="7269162" cy="39528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ftruncate(int fildes, off_t length);</a:t>
            </a:r>
            <a:endParaRPr/>
          </a:p>
        </p:txBody>
      </p:sp>
      <p:sp>
        <p:nvSpPr>
          <p:cNvPr id="452" name="Google Shape;452;p34"/>
          <p:cNvSpPr/>
          <p:nvPr/>
        </p:nvSpPr>
        <p:spPr>
          <a:xfrm>
            <a:off x="900113" y="3276600"/>
            <a:ext cx="7286625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ftruncate( fd, 2048); </a:t>
            </a:r>
            <a:endParaRPr/>
          </a:p>
        </p:txBody>
      </p:sp>
      <p:sp>
        <p:nvSpPr>
          <p:cNvPr id="453" name="Google Shape;453;p34"/>
          <p:cNvSpPr/>
          <p:nvPr/>
        </p:nvSpPr>
        <p:spPr>
          <a:xfrm>
            <a:off x="900113" y="3773031"/>
            <a:ext cx="7272337" cy="178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■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0 on success, or –1 on error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fildes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: File descriptor.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: Size of the file.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4"/>
          <p:cNvSpPr txBox="1">
            <a:spLocks noGrp="1"/>
          </p:cNvSpPr>
          <p:nvPr>
            <p:ph type="sldNum" idx="12"/>
          </p:nvPr>
        </p:nvSpPr>
        <p:spPr>
          <a:xfrm>
            <a:off x="6553200" y="6148406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n-US" sz="2800" b="1" i="1" dirty="0" err="1">
                <a:latin typeface="Calibri"/>
                <a:ea typeface="Calibri"/>
                <a:cs typeface="Calibri"/>
                <a:sym typeface="Calibri"/>
              </a:rPr>
              <a:t>mmap</a:t>
            </a:r>
            <a:r>
              <a:rPr lang="en-US" sz="2800" b="1" i="1" dirty="0">
                <a:latin typeface="Calibri"/>
                <a:ea typeface="Calibri"/>
                <a:cs typeface="Calibri"/>
                <a:sym typeface="Calibri"/>
              </a:rPr>
              <a:t>()</a:t>
            </a:r>
            <a:endParaRPr sz="2800" b="1"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/>
              <a:t>Creating Shared Memory Objects (cont.)</a:t>
            </a:r>
            <a:endParaRPr sz="3600"/>
          </a:p>
        </p:txBody>
      </p:sp>
      <p:sp>
        <p:nvSpPr>
          <p:cNvPr id="411" name="Google Shape;411;p30"/>
          <p:cNvSpPr/>
          <p:nvPr/>
        </p:nvSpPr>
        <p:spPr>
          <a:xfrm>
            <a:off x="900113" y="2282923"/>
            <a:ext cx="7286625" cy="48809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#include&lt;sys/mman.h&gt;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900113" y="2985334"/>
            <a:ext cx="7269162" cy="74054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 *mmap(void *addr, size_t length, int prot, int flags,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 int fd, off_t offset);</a:t>
            </a:r>
            <a:endParaRPr/>
          </a:p>
        </p:txBody>
      </p:sp>
      <p:sp>
        <p:nvSpPr>
          <p:cNvPr id="413" name="Google Shape;413;p30"/>
          <p:cNvSpPr/>
          <p:nvPr/>
        </p:nvSpPr>
        <p:spPr>
          <a:xfrm>
            <a:off x="900113" y="3888700"/>
            <a:ext cx="7286625" cy="70788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mmap(NULL, 1024, PROT_WRITE, MAP_SHARED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shm_fd, 0);</a:t>
            </a:r>
            <a:endParaRPr/>
          </a:p>
        </p:txBody>
      </p:sp>
      <p:sp>
        <p:nvSpPr>
          <p:cNvPr id="414" name="Google Shape;414;p30"/>
          <p:cNvSpPr/>
          <p:nvPr/>
        </p:nvSpPr>
        <p:spPr>
          <a:xfrm>
            <a:off x="900113" y="4759404"/>
            <a:ext cx="727233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■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Returns starting address of mapping on success,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or </a:t>
            </a:r>
            <a:r>
              <a:rPr lang="en-US" sz="22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MAP_FAILED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error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A9D716C-2371-6A9F-2382-6939398EC0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"/>
          <p:cNvSpPr/>
          <p:nvPr/>
        </p:nvSpPr>
        <p:spPr>
          <a:xfrm>
            <a:off x="900113" y="2057400"/>
            <a:ext cx="7269162" cy="67226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 *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mmap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(void *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size_t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length, int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int flags,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 int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off_t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offset);</a:t>
            </a:r>
            <a:endParaRPr dirty="0"/>
          </a:p>
        </p:txBody>
      </p:sp>
      <p:sp>
        <p:nvSpPr>
          <p:cNvPr id="421" name="Google Shape;421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/>
              <a:t>Creating Shared Memory Objects (cont.)</a:t>
            </a:r>
            <a:endParaRPr sz="3600"/>
          </a:p>
        </p:txBody>
      </p:sp>
      <p:sp>
        <p:nvSpPr>
          <p:cNvPr id="423" name="Google Shape;423;p31"/>
          <p:cNvSpPr/>
          <p:nvPr/>
        </p:nvSpPr>
        <p:spPr>
          <a:xfrm>
            <a:off x="900113" y="2819400"/>
            <a:ext cx="7272337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: Indicates the virtual address at which the mapping is 	  to be located.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: Specifies the size of the mapping in bytes.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: A bit mask specifying the protection to be placed on 	  the mapping.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flags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: A bit mask of options controlling various aspects of 	  the mapping operation.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: A file descriptor identifying the file to be mapped.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offset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: Specifies the starting point of the mapping in the file.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b="1" i="1" dirty="0" err="1">
                <a:latin typeface="Calibri"/>
                <a:ea typeface="Calibri"/>
                <a:cs typeface="Calibri"/>
                <a:sym typeface="Calibri"/>
              </a:rPr>
              <a:t>mmap</a:t>
            </a:r>
            <a:r>
              <a:rPr lang="en-US" sz="2800" b="1" i="1" dirty="0">
                <a:latin typeface="Calibri"/>
                <a:ea typeface="Calibri"/>
                <a:cs typeface="Calibri"/>
                <a:sym typeface="Calibri"/>
              </a:rPr>
              <a:t>()  (cont.)</a:t>
            </a:r>
            <a:endParaRPr sz="2800" b="1"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B9B9E9A-B2DB-2374-587A-7C3750B4BF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1" name="Google Shape;431;p32"/>
          <p:cNvGraphicFramePr/>
          <p:nvPr/>
        </p:nvGraphicFramePr>
        <p:xfrm>
          <a:off x="481405" y="1828800"/>
          <a:ext cx="8229600" cy="41607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850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28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28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50" marB="457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PROT_READ</a:t>
                      </a:r>
                      <a:endParaRPr/>
                    </a:p>
                  </a:txBody>
                  <a:tcPr marL="28575" marR="28575" marT="28600" marB="286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contents of the region can be read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600" marB="28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PROT_WRITE</a:t>
                      </a:r>
                      <a:endParaRPr/>
                    </a:p>
                  </a:txBody>
                  <a:tcPr marL="28575" marR="28575" marT="28600" marB="28600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contents of the region can be modified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600" marB="28600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PROT_EXEC</a:t>
                      </a:r>
                      <a:endParaRPr/>
                    </a:p>
                  </a:txBody>
                  <a:tcPr marL="28575" marR="28575" marT="28600" marB="28600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contents of the region can be executed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600" marB="28600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PROT_NONE</a:t>
                      </a:r>
                      <a:endParaRPr/>
                    </a:p>
                  </a:txBody>
                  <a:tcPr marL="28575" marR="28575" marT="28600" marB="286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region can not be accessed</a:t>
                      </a:r>
                      <a:endParaRPr sz="2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600" marB="28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2" name="Google Shape;432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 protection values </a:t>
            </a:r>
            <a:br>
              <a:rPr lang="en-US"/>
            </a:br>
            <a:r>
              <a:rPr lang="en-US" b="1"/>
              <a:t>prot</a:t>
            </a:r>
            <a:r>
              <a:rPr lang="en-US"/>
              <a:t> argument</a:t>
            </a: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839350F-16BC-F83F-2FC1-166EDFFE8E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3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Bit-mask values for the </a:t>
            </a:r>
            <a:r>
              <a:rPr lang="en-US" dirty="0" err="1"/>
              <a:t>mmap</a:t>
            </a:r>
            <a:r>
              <a:rPr lang="en-US" dirty="0"/>
              <a:t>() </a:t>
            </a:r>
            <a:br>
              <a:rPr lang="en-US" dirty="0"/>
            </a:br>
            <a:r>
              <a:rPr lang="en-US" b="1" dirty="0"/>
              <a:t>flags</a:t>
            </a:r>
            <a:r>
              <a:rPr lang="en-US" dirty="0"/>
              <a:t> argument</a:t>
            </a:r>
            <a:endParaRPr dirty="0"/>
          </a:p>
        </p:txBody>
      </p:sp>
      <p:pic>
        <p:nvPicPr>
          <p:cNvPr id="440" name="Google Shape;44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2209800"/>
            <a:ext cx="8562975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3"/>
          <p:cNvSpPr/>
          <p:nvPr/>
        </p:nvSpPr>
        <p:spPr>
          <a:xfrm>
            <a:off x="376808" y="4082008"/>
            <a:ext cx="5760640" cy="28803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3"/>
          <p:cNvSpPr/>
          <p:nvPr/>
        </p:nvSpPr>
        <p:spPr>
          <a:xfrm>
            <a:off x="376808" y="4658072"/>
            <a:ext cx="7416824" cy="576064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ADD7133-EF60-C413-48AC-C41E99F4B8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b="1" i="1" dirty="0" err="1">
                <a:latin typeface="Calibri"/>
                <a:ea typeface="Calibri"/>
                <a:cs typeface="Calibri"/>
                <a:sym typeface="Calibri"/>
              </a:rPr>
              <a:t>munmap</a:t>
            </a:r>
            <a:r>
              <a:rPr lang="en-US" sz="2800" b="1" i="1" dirty="0">
                <a:latin typeface="Calibri"/>
                <a:ea typeface="Calibri"/>
                <a:cs typeface="Calibri"/>
                <a:sym typeface="Calibri"/>
              </a:rPr>
              <a:t>()</a:t>
            </a:r>
            <a:endParaRPr sz="2800" b="1"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/>
              <a:t>Removing Shared Memory Objects</a:t>
            </a:r>
            <a:endParaRPr sz="3600"/>
          </a:p>
        </p:txBody>
      </p:sp>
      <p:sp>
        <p:nvSpPr>
          <p:cNvPr id="463" name="Google Shape;463;p35"/>
          <p:cNvSpPr/>
          <p:nvPr/>
        </p:nvSpPr>
        <p:spPr>
          <a:xfrm>
            <a:off x="900113" y="2253496"/>
            <a:ext cx="7286625" cy="39528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#include&lt; sys/mman.h&gt;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900113" y="2756734"/>
            <a:ext cx="7269162" cy="39528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munmap(void *addr, size_t length);</a:t>
            </a:r>
            <a:endParaRPr/>
          </a:p>
        </p:txBody>
      </p:sp>
      <p:sp>
        <p:nvSpPr>
          <p:cNvPr id="465" name="Google Shape;465;p35"/>
          <p:cNvSpPr/>
          <p:nvPr/>
        </p:nvSpPr>
        <p:spPr>
          <a:xfrm>
            <a:off x="900113" y="3276600"/>
            <a:ext cx="7286625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munmap( address, 2048); </a:t>
            </a: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900113" y="3773031"/>
            <a:ext cx="7272337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■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0 on success, or –1 on error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: The starting address of the address range to be         	  unmapped.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: The size (in bytes) of the region to be unmapped.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08C2368-82E3-F71A-A6BD-936973314C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altLang="zh-TW" sz="2800" b="1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shm_unlink</a:t>
            </a:r>
            <a:r>
              <a:rPr lang="en-US" sz="2800" b="1" i="1" dirty="0">
                <a:latin typeface="Calibri"/>
                <a:ea typeface="Calibri"/>
                <a:cs typeface="Calibri"/>
                <a:sym typeface="Calibri"/>
              </a:rPr>
              <a:t>()</a:t>
            </a:r>
          </a:p>
        </p:txBody>
      </p:sp>
      <p:sp>
        <p:nvSpPr>
          <p:cNvPr id="461" name="Google Shape;461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/>
              <a:t>Removing Shared Memory Objects</a:t>
            </a:r>
            <a:endParaRPr sz="3600"/>
          </a:p>
        </p:txBody>
      </p:sp>
      <p:sp>
        <p:nvSpPr>
          <p:cNvPr id="463" name="Google Shape;463;p35"/>
          <p:cNvSpPr/>
          <p:nvPr/>
        </p:nvSpPr>
        <p:spPr>
          <a:xfrm>
            <a:off x="900113" y="2253496"/>
            <a:ext cx="7286625" cy="39528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#include&lt; sys/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mman.h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900113" y="2756734"/>
            <a:ext cx="7269162" cy="39528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shm_unlink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(const char *name);</a:t>
            </a:r>
            <a:endParaRPr dirty="0"/>
          </a:p>
        </p:txBody>
      </p:sp>
      <p:sp>
        <p:nvSpPr>
          <p:cNvPr id="465" name="Google Shape;465;p35"/>
          <p:cNvSpPr/>
          <p:nvPr/>
        </p:nvSpPr>
        <p:spPr>
          <a:xfrm>
            <a:off x="900113" y="3276600"/>
            <a:ext cx="7286625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</a:t>
            </a:r>
            <a:r>
              <a:rPr lang="en-US" altLang="zh-TW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shm_unlink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en-US" altLang="zh-TW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 </a:t>
            </a:r>
            <a:endParaRPr dirty="0"/>
          </a:p>
        </p:txBody>
      </p:sp>
      <p:sp>
        <p:nvSpPr>
          <p:cNvPr id="466" name="Google Shape;466;p35"/>
          <p:cNvSpPr/>
          <p:nvPr/>
        </p:nvSpPr>
        <p:spPr>
          <a:xfrm>
            <a:off x="900113" y="3773031"/>
            <a:ext cx="7272337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■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0 on success, or –1 on error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</a:rPr>
              <a:t>name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: </a:t>
            </a:r>
            <a:r>
              <a:rPr lang="en-US" altLang="zh-TW" sz="2000" dirty="0">
                <a:solidFill>
                  <a:schemeClr val="dk1"/>
                </a:solidFill>
              </a:rPr>
              <a:t>Specifies the name of the shared memory object to 	  be unlinked.</a:t>
            </a:r>
            <a:endParaRPr lang="zh-TW" altLang="en-US" sz="20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08C2368-82E3-F71A-A6BD-936973314C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30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Outline</a:t>
            </a:r>
            <a:endParaRPr/>
          </a:p>
        </p:txBody>
      </p:sp>
      <p:sp>
        <p:nvSpPr>
          <p:cNvPr id="128" name="Google Shape;128;p3"/>
          <p:cNvSpPr txBox="1">
            <a:spLocks noGrp="1"/>
          </p:cNvSpPr>
          <p:nvPr>
            <p:ph type="body" idx="1"/>
          </p:nvPr>
        </p:nvSpPr>
        <p:spPr>
          <a:xfrm>
            <a:off x="457200" y="1154697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Background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Multi-process</a:t>
            </a: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Shared memory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b="1" dirty="0">
                <a:solidFill>
                  <a:schemeClr val="tx1"/>
                </a:solidFill>
              </a:rPr>
              <a:t>Homework Assignment #1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0B3C6B2-0956-0C8B-85F8-44993BE3B5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01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F21795-69AF-4F10-98B6-7BC7FD563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Homework Assignment #1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10FC8D-C9CD-42DE-AE99-4A3C058CF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m=2, n=3, p=2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94972A-A74C-4256-B82E-7486CB9834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03BD95E-D83E-4DC6-8536-157865376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854" y="1577975"/>
            <a:ext cx="4400198" cy="222524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B03F1D4-7FBC-4866-9B7D-427D8C647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494" y="4660499"/>
            <a:ext cx="1457325" cy="126682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05689EA-A4E2-43BC-9278-E31005518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802" y="4636686"/>
            <a:ext cx="1485900" cy="1314450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39FA8D48-EA2C-4194-BAA1-C96C4CFD5267}"/>
              </a:ext>
            </a:extLst>
          </p:cNvPr>
          <p:cNvSpPr txBox="1"/>
          <p:nvPr/>
        </p:nvSpPr>
        <p:spPr>
          <a:xfrm>
            <a:off x="805047" y="5093856"/>
            <a:ext cx="109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A x B =</a:t>
            </a:r>
            <a:endParaRPr lang="zh-TW" altLang="en-US" sz="2000" b="1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56F9A17-FDA1-4C4E-8891-A8AD4BCAB662}"/>
              </a:ext>
            </a:extLst>
          </p:cNvPr>
          <p:cNvSpPr txBox="1"/>
          <p:nvPr/>
        </p:nvSpPr>
        <p:spPr>
          <a:xfrm>
            <a:off x="4829685" y="5093856"/>
            <a:ext cx="109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 =</a:t>
            </a:r>
            <a:endParaRPr lang="zh-TW" altLang="en-US" sz="2000" b="1" dirty="0"/>
          </a:p>
        </p:txBody>
      </p:sp>
      <p:sp>
        <p:nvSpPr>
          <p:cNvPr id="17" name="左中括弧 16">
            <a:extLst>
              <a:ext uri="{FF2B5EF4-FFF2-40B4-BE49-F238E27FC236}">
                <a16:creationId xmlns:a16="http://schemas.microsoft.com/office/drawing/2014/main" id="{52DD0B7D-7B2E-406B-823D-C91FC807C994}"/>
              </a:ext>
            </a:extLst>
          </p:cNvPr>
          <p:cNvSpPr/>
          <p:nvPr/>
        </p:nvSpPr>
        <p:spPr>
          <a:xfrm>
            <a:off x="5397946" y="4815812"/>
            <a:ext cx="62143" cy="896645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左中括弧 17">
            <a:extLst>
              <a:ext uri="{FF2B5EF4-FFF2-40B4-BE49-F238E27FC236}">
                <a16:creationId xmlns:a16="http://schemas.microsoft.com/office/drawing/2014/main" id="{D4D4922D-AC2F-4FD3-9A42-E37D3D624474}"/>
              </a:ext>
            </a:extLst>
          </p:cNvPr>
          <p:cNvSpPr/>
          <p:nvPr/>
        </p:nvSpPr>
        <p:spPr>
          <a:xfrm rot="10800000">
            <a:off x="6464747" y="4815811"/>
            <a:ext cx="62143" cy="896645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FD069D5-414A-46DB-BD5B-40F79FC16001}"/>
              </a:ext>
            </a:extLst>
          </p:cNvPr>
          <p:cNvSpPr txBox="1"/>
          <p:nvPr/>
        </p:nvSpPr>
        <p:spPr>
          <a:xfrm>
            <a:off x="5490096" y="4756302"/>
            <a:ext cx="10367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44"/>
            </a:pPr>
            <a:r>
              <a:rPr lang="en-US" altLang="zh-TW" sz="2000" b="1" dirty="0"/>
              <a:t>  56</a:t>
            </a:r>
            <a:r>
              <a:rPr lang="en-US" altLang="zh-TW" sz="2000" dirty="0"/>
              <a:t> </a:t>
            </a:r>
          </a:p>
          <a:p>
            <a:pPr marL="342900" indent="-342900">
              <a:buAutoNum type="arabicPlain" startAt="44"/>
            </a:pPr>
            <a:endParaRPr lang="en-US" altLang="zh-TW" sz="2000" dirty="0"/>
          </a:p>
          <a:p>
            <a:r>
              <a:rPr lang="en-US" altLang="zh-TW" sz="2000" b="1" dirty="0"/>
              <a:t>35   44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36D5213F-7673-43C3-9897-45A015125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362" y="1741086"/>
            <a:ext cx="200977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77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Homework Assignment #1 (cont.)</a:t>
            </a:r>
            <a:endParaRPr/>
          </a:p>
        </p:txBody>
      </p:sp>
      <p:sp>
        <p:nvSpPr>
          <p:cNvPr id="535" name="Google Shape;535;p25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800"/>
            </a:pPr>
            <a:r>
              <a:rPr lang="en-US" sz="2400" dirty="0"/>
              <a:t>Demands：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●"/>
            </a:pPr>
            <a:r>
              <a:rPr lang="en-US" sz="2400" dirty="0"/>
              <a:t>Each row of the matrix must calculate by one child process</a:t>
            </a:r>
            <a:endParaRPr lang="en-US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●"/>
            </a:pPr>
            <a:endParaRPr lang="en-US"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●"/>
            </a:pPr>
            <a:r>
              <a:rPr lang="en-US" sz="2400" dirty="0"/>
              <a:t>The rows and columns of the matrix must be determined by the user input</a:t>
            </a:r>
          </a:p>
          <a:p>
            <a:pPr marL="457200" lvl="1" indent="0" algn="l" rtl="0">
              <a:spcBef>
                <a:spcPts val="480"/>
              </a:spcBef>
              <a:spcAft>
                <a:spcPts val="0"/>
              </a:spcAft>
              <a:buSzPts val="1920"/>
              <a:buNone/>
            </a:pPr>
            <a:endParaRPr lang="en-US" sz="2400" dirty="0"/>
          </a:p>
          <a:p>
            <a:pPr marL="457200" lvl="1" indent="0" algn="l" rtl="0">
              <a:spcBef>
                <a:spcPts val="480"/>
              </a:spcBef>
              <a:spcAft>
                <a:spcPts val="0"/>
              </a:spcAft>
              <a:buSzPts val="1920"/>
              <a:buNone/>
            </a:pPr>
            <a:endParaRPr lang="en-US" sz="2400" dirty="0"/>
          </a:p>
          <a:p>
            <a:pPr marL="342900" indent="-342900">
              <a:spcBef>
                <a:spcPts val="0"/>
              </a:spcBef>
              <a:buSzPts val="1800"/>
            </a:pPr>
            <a:r>
              <a:rPr lang="en-US" altLang="zh-TW" sz="2400" dirty="0"/>
              <a:t>Submission format </a:t>
            </a:r>
            <a:r>
              <a:rPr lang="zh-TW" altLang="en-US" sz="2400" dirty="0">
                <a:sym typeface="Consolas"/>
              </a:rPr>
              <a:t>：</a:t>
            </a:r>
            <a:r>
              <a:rPr lang="en-US" altLang="zh-TW" sz="2400" dirty="0"/>
              <a:t> hw1_&lt;student number&gt;.zip</a:t>
            </a:r>
            <a:endParaRPr lang="en-US" altLang="zh-TW" sz="18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●"/>
            </a:pPr>
            <a:r>
              <a:rPr lang="en-US" altLang="zh-TW" sz="2400" dirty="0"/>
              <a:t>Hw1.c</a:t>
            </a: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●"/>
            </a:pPr>
            <a:r>
              <a:rPr lang="en-US" altLang="zh-TW" sz="2400" dirty="0"/>
              <a:t>execution result</a:t>
            </a:r>
          </a:p>
        </p:txBody>
      </p:sp>
      <p:sp>
        <p:nvSpPr>
          <p:cNvPr id="536" name="Google Shape;536;p2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25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E658058-1CA2-4D92-9A78-4873FC179C73}"/>
              </a:ext>
            </a:extLst>
          </p:cNvPr>
          <p:cNvSpPr txBox="1"/>
          <p:nvPr/>
        </p:nvSpPr>
        <p:spPr>
          <a:xfrm>
            <a:off x="4465468" y="5867400"/>
            <a:ext cx="36309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Score: 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Matrix Multiplication &amp; user input (60pt)</a:t>
            </a:r>
          </a:p>
          <a:p>
            <a:r>
              <a:rPr lang="en-US" altLang="zh-TW" dirty="0" err="1">
                <a:solidFill>
                  <a:srgbClr val="C00000"/>
                </a:solidFill>
              </a:rPr>
              <a:t>Multiprocess</a:t>
            </a:r>
            <a:r>
              <a:rPr lang="en-US" altLang="zh-TW" dirty="0">
                <a:solidFill>
                  <a:srgbClr val="C00000"/>
                </a:solidFill>
              </a:rPr>
              <a:t> (40pt)</a:t>
            </a:r>
            <a:endParaRPr lang="zh-TW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1266</Words>
  <Application>Microsoft Office PowerPoint</Application>
  <PresentationFormat>如螢幕大小 (4:3)</PresentationFormat>
  <Paragraphs>273</Paragraphs>
  <Slides>25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4" baseType="lpstr">
      <vt:lpstr>標楷體</vt:lpstr>
      <vt:lpstr>Arial Black</vt:lpstr>
      <vt:lpstr>Courier New</vt:lpstr>
      <vt:lpstr>Times New Roman</vt:lpstr>
      <vt:lpstr>Calibri</vt:lpstr>
      <vt:lpstr>Arial</vt:lpstr>
      <vt:lpstr>Helvetica Neue</vt:lpstr>
      <vt:lpstr>Noto Sans Symbols</vt:lpstr>
      <vt:lpstr>Pixel</vt:lpstr>
      <vt:lpstr>Homework Assignment #1      Matrix Multiplication in Multi-Process </vt:lpstr>
      <vt:lpstr>Outline</vt:lpstr>
      <vt:lpstr>Outline</vt:lpstr>
      <vt:lpstr>Multi-process</vt:lpstr>
      <vt:lpstr>Multi-process</vt:lpstr>
      <vt:lpstr>The fork() System Call</vt:lpstr>
      <vt:lpstr>The exec() System Call</vt:lpstr>
      <vt:lpstr>UNIX Process Creation</vt:lpstr>
      <vt:lpstr>Process Creation</vt:lpstr>
      <vt:lpstr>What is shared memory?</vt:lpstr>
      <vt:lpstr>Shared memory</vt:lpstr>
      <vt:lpstr>POSIX API</vt:lpstr>
      <vt:lpstr>Creating Shared Memory Objects</vt:lpstr>
      <vt:lpstr>Bit values for the shm_open()  oflag argument</vt:lpstr>
      <vt:lpstr>Bit values for the shm_open()  mode argument</vt:lpstr>
      <vt:lpstr>Creating Shared Memory Objects (cont.)</vt:lpstr>
      <vt:lpstr>Creating Shared Memory Objects (cont.)</vt:lpstr>
      <vt:lpstr>Creating Shared Memory Objects (cont.)</vt:lpstr>
      <vt:lpstr>Memory protection values  prot argument</vt:lpstr>
      <vt:lpstr>Bit-mask values for the mmap()  flags argument</vt:lpstr>
      <vt:lpstr>Removing Shared Memory Objects</vt:lpstr>
      <vt:lpstr>Removing Shared Memory Objects</vt:lpstr>
      <vt:lpstr>Outline</vt:lpstr>
      <vt:lpstr>Homework Assignment #1</vt:lpstr>
      <vt:lpstr>Homework Assignment #1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Assignment #1      PID manager</dc:title>
  <dc:creator>Hms</dc:creator>
  <cp:lastModifiedBy>陳威碩</cp:lastModifiedBy>
  <cp:revision>34</cp:revision>
  <dcterms:created xsi:type="dcterms:W3CDTF">2009-04-29T12:20:32Z</dcterms:created>
  <dcterms:modified xsi:type="dcterms:W3CDTF">2025-09-29T05:14:28Z</dcterms:modified>
</cp:coreProperties>
</file>