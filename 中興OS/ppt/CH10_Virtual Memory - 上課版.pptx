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749" r:id="rId2"/>
    <p:sldMasterId id="2147483762" r:id="rId3"/>
  </p:sldMasterIdLst>
  <p:notesMasterIdLst>
    <p:notesMasterId r:id="rId271"/>
  </p:notesMasterIdLst>
  <p:sldIdLst>
    <p:sldId id="737" r:id="rId4"/>
    <p:sldId id="856" r:id="rId5"/>
    <p:sldId id="569" r:id="rId6"/>
    <p:sldId id="781" r:id="rId7"/>
    <p:sldId id="738" r:id="rId8"/>
    <p:sldId id="571" r:id="rId9"/>
    <p:sldId id="572" r:id="rId10"/>
    <p:sldId id="801" r:id="rId11"/>
    <p:sldId id="573" r:id="rId12"/>
    <p:sldId id="739" r:id="rId13"/>
    <p:sldId id="857" r:id="rId14"/>
    <p:sldId id="576" r:id="rId15"/>
    <p:sldId id="886" r:id="rId16"/>
    <p:sldId id="577" r:id="rId17"/>
    <p:sldId id="802" r:id="rId18"/>
    <p:sldId id="803" r:id="rId19"/>
    <p:sldId id="896" r:id="rId20"/>
    <p:sldId id="897" r:id="rId21"/>
    <p:sldId id="898" r:id="rId22"/>
    <p:sldId id="740" r:id="rId23"/>
    <p:sldId id="804" r:id="rId24"/>
    <p:sldId id="787" r:id="rId25"/>
    <p:sldId id="579" r:id="rId26"/>
    <p:sldId id="741" r:id="rId27"/>
    <p:sldId id="582" r:id="rId28"/>
    <p:sldId id="751" r:id="rId29"/>
    <p:sldId id="888" r:id="rId30"/>
    <p:sldId id="891" r:id="rId31"/>
    <p:sldId id="583" r:id="rId32"/>
    <p:sldId id="812" r:id="rId33"/>
    <p:sldId id="811" r:id="rId34"/>
    <p:sldId id="899" r:id="rId35"/>
    <p:sldId id="806" r:id="rId36"/>
    <p:sldId id="783" r:id="rId37"/>
    <p:sldId id="808" r:id="rId38"/>
    <p:sldId id="809" r:id="rId39"/>
    <p:sldId id="807" r:id="rId40"/>
    <p:sldId id="585" r:id="rId41"/>
    <p:sldId id="784" r:id="rId42"/>
    <p:sldId id="892" r:id="rId43"/>
    <p:sldId id="828" r:id="rId44"/>
    <p:sldId id="829" r:id="rId45"/>
    <p:sldId id="586" r:id="rId46"/>
    <p:sldId id="785" r:id="rId47"/>
    <p:sldId id="813" r:id="rId48"/>
    <p:sldId id="814" r:id="rId49"/>
    <p:sldId id="587" r:id="rId50"/>
    <p:sldId id="588" r:id="rId51"/>
    <p:sldId id="902" r:id="rId52"/>
    <p:sldId id="815" r:id="rId53"/>
    <p:sldId id="816" r:id="rId54"/>
    <p:sldId id="589" r:id="rId55"/>
    <p:sldId id="590" r:id="rId56"/>
    <p:sldId id="591" r:id="rId57"/>
    <p:sldId id="592" r:id="rId58"/>
    <p:sldId id="593" r:id="rId59"/>
    <p:sldId id="894" r:id="rId60"/>
    <p:sldId id="895" r:id="rId61"/>
    <p:sldId id="594" r:id="rId62"/>
    <p:sldId id="595" r:id="rId63"/>
    <p:sldId id="818" r:id="rId64"/>
    <p:sldId id="596" r:id="rId65"/>
    <p:sldId id="597" r:id="rId66"/>
    <p:sldId id="893" r:id="rId67"/>
    <p:sldId id="821" r:id="rId68"/>
    <p:sldId id="762" r:id="rId69"/>
    <p:sldId id="763" r:id="rId70"/>
    <p:sldId id="764" r:id="rId71"/>
    <p:sldId id="822" r:id="rId72"/>
    <p:sldId id="598" r:id="rId73"/>
    <p:sldId id="599" r:id="rId74"/>
    <p:sldId id="786" r:id="rId75"/>
    <p:sldId id="823" r:id="rId76"/>
    <p:sldId id="600" r:id="rId77"/>
    <p:sldId id="765" r:id="rId78"/>
    <p:sldId id="766" r:id="rId79"/>
    <p:sldId id="767" r:id="rId80"/>
    <p:sldId id="768" r:id="rId81"/>
    <p:sldId id="769" r:id="rId82"/>
    <p:sldId id="774" r:id="rId83"/>
    <p:sldId id="773" r:id="rId84"/>
    <p:sldId id="601" r:id="rId85"/>
    <p:sldId id="602" r:id="rId86"/>
    <p:sldId id="775" r:id="rId87"/>
    <p:sldId id="744" r:id="rId88"/>
    <p:sldId id="825" r:id="rId89"/>
    <p:sldId id="826" r:id="rId90"/>
    <p:sldId id="613" r:id="rId91"/>
    <p:sldId id="614" r:id="rId92"/>
    <p:sldId id="615" r:id="rId93"/>
    <p:sldId id="827" r:id="rId94"/>
    <p:sldId id="616" r:id="rId95"/>
    <p:sldId id="745" r:id="rId96"/>
    <p:sldId id="755" r:id="rId97"/>
    <p:sldId id="756" r:id="rId98"/>
    <p:sldId id="619" r:id="rId99"/>
    <p:sldId id="618" r:id="rId100"/>
    <p:sldId id="621" r:id="rId101"/>
    <p:sldId id="788" r:id="rId102"/>
    <p:sldId id="789" r:id="rId103"/>
    <p:sldId id="757" r:id="rId104"/>
    <p:sldId id="623" r:id="rId105"/>
    <p:sldId id="870" r:id="rId106"/>
    <p:sldId id="830" r:id="rId107"/>
    <p:sldId id="624" r:id="rId108"/>
    <p:sldId id="831" r:id="rId109"/>
    <p:sldId id="753" r:id="rId110"/>
    <p:sldId id="754" r:id="rId111"/>
    <p:sldId id="627" r:id="rId112"/>
    <p:sldId id="628" r:id="rId113"/>
    <p:sldId id="833" r:id="rId114"/>
    <p:sldId id="629" r:id="rId115"/>
    <p:sldId id="832" r:id="rId116"/>
    <p:sldId id="630" r:id="rId117"/>
    <p:sldId id="631" r:id="rId118"/>
    <p:sldId id="840" r:id="rId119"/>
    <p:sldId id="841" r:id="rId120"/>
    <p:sldId id="632" r:id="rId121"/>
    <p:sldId id="900" r:id="rId122"/>
    <p:sldId id="633" r:id="rId123"/>
    <p:sldId id="634" r:id="rId124"/>
    <p:sldId id="635" r:id="rId125"/>
    <p:sldId id="834" r:id="rId126"/>
    <p:sldId id="636" r:id="rId127"/>
    <p:sldId id="637" r:id="rId128"/>
    <p:sldId id="835" r:id="rId129"/>
    <p:sldId id="638" r:id="rId130"/>
    <p:sldId id="639" r:id="rId131"/>
    <p:sldId id="836" r:id="rId132"/>
    <p:sldId id="837" r:id="rId133"/>
    <p:sldId id="640" r:id="rId134"/>
    <p:sldId id="642" r:id="rId135"/>
    <p:sldId id="643" r:id="rId136"/>
    <p:sldId id="838" r:id="rId137"/>
    <p:sldId id="644" r:id="rId138"/>
    <p:sldId id="796" r:id="rId139"/>
    <p:sldId id="797" r:id="rId140"/>
    <p:sldId id="839" r:id="rId141"/>
    <p:sldId id="648" r:id="rId142"/>
    <p:sldId id="649" r:id="rId143"/>
    <p:sldId id="844" r:id="rId144"/>
    <p:sldId id="871" r:id="rId145"/>
    <p:sldId id="846" r:id="rId146"/>
    <p:sldId id="847" r:id="rId147"/>
    <p:sldId id="651" r:id="rId148"/>
    <p:sldId id="652" r:id="rId149"/>
    <p:sldId id="848" r:id="rId150"/>
    <p:sldId id="653" r:id="rId151"/>
    <p:sldId id="654" r:id="rId152"/>
    <p:sldId id="655" r:id="rId153"/>
    <p:sldId id="656" r:id="rId154"/>
    <p:sldId id="903" r:id="rId155"/>
    <p:sldId id="657" r:id="rId156"/>
    <p:sldId id="849" r:id="rId157"/>
    <p:sldId id="658" r:id="rId158"/>
    <p:sldId id="659" r:id="rId159"/>
    <p:sldId id="904" r:id="rId160"/>
    <p:sldId id="660" r:id="rId161"/>
    <p:sldId id="661" r:id="rId162"/>
    <p:sldId id="905" r:id="rId163"/>
    <p:sldId id="850" r:id="rId164"/>
    <p:sldId id="752" r:id="rId165"/>
    <p:sldId id="663" r:id="rId166"/>
    <p:sldId id="852" r:id="rId167"/>
    <p:sldId id="851" r:id="rId168"/>
    <p:sldId id="665" r:id="rId169"/>
    <p:sldId id="666" r:id="rId170"/>
    <p:sldId id="853" r:id="rId171"/>
    <p:sldId id="667" r:id="rId172"/>
    <p:sldId id="761" r:id="rId173"/>
    <p:sldId id="668" r:id="rId174"/>
    <p:sldId id="855" r:id="rId175"/>
    <p:sldId id="854" r:id="rId176"/>
    <p:sldId id="670" r:id="rId177"/>
    <p:sldId id="671" r:id="rId178"/>
    <p:sldId id="672" r:id="rId179"/>
    <p:sldId id="861" r:id="rId180"/>
    <p:sldId id="858" r:id="rId181"/>
    <p:sldId id="859" r:id="rId182"/>
    <p:sldId id="860" r:id="rId183"/>
    <p:sldId id="676" r:id="rId184"/>
    <p:sldId id="677" r:id="rId185"/>
    <p:sldId id="759" r:id="rId186"/>
    <p:sldId id="862" r:id="rId187"/>
    <p:sldId id="679" r:id="rId188"/>
    <p:sldId id="680" r:id="rId189"/>
    <p:sldId id="682" r:id="rId190"/>
    <p:sldId id="863" r:id="rId191"/>
    <p:sldId id="683" r:id="rId192"/>
    <p:sldId id="760" r:id="rId193"/>
    <p:sldId id="684" r:id="rId194"/>
    <p:sldId id="686" r:id="rId195"/>
    <p:sldId id="687" r:id="rId196"/>
    <p:sldId id="688" r:id="rId197"/>
    <p:sldId id="864" r:id="rId198"/>
    <p:sldId id="689" r:id="rId199"/>
    <p:sldId id="690" r:id="rId200"/>
    <p:sldId id="692" r:id="rId201"/>
    <p:sldId id="693" r:id="rId202"/>
    <p:sldId id="800" r:id="rId203"/>
    <p:sldId id="694" r:id="rId204"/>
    <p:sldId id="799" r:id="rId205"/>
    <p:sldId id="865" r:id="rId206"/>
    <p:sldId id="695" r:id="rId207"/>
    <p:sldId id="696" r:id="rId208"/>
    <p:sldId id="779" r:id="rId209"/>
    <p:sldId id="780" r:id="rId210"/>
    <p:sldId id="697" r:id="rId211"/>
    <p:sldId id="866" r:id="rId212"/>
    <p:sldId id="698" r:id="rId213"/>
    <p:sldId id="699" r:id="rId214"/>
    <p:sldId id="700" r:id="rId215"/>
    <p:sldId id="701" r:id="rId216"/>
    <p:sldId id="867" r:id="rId217"/>
    <p:sldId id="868" r:id="rId218"/>
    <p:sldId id="702" r:id="rId219"/>
    <p:sldId id="703" r:id="rId220"/>
    <p:sldId id="750" r:id="rId221"/>
    <p:sldId id="705" r:id="rId222"/>
    <p:sldId id="706" r:id="rId223"/>
    <p:sldId id="707" r:id="rId224"/>
    <p:sldId id="872" r:id="rId225"/>
    <p:sldId id="873" r:id="rId226"/>
    <p:sldId id="874" r:id="rId227"/>
    <p:sldId id="875" r:id="rId228"/>
    <p:sldId id="708" r:id="rId229"/>
    <p:sldId id="877" r:id="rId230"/>
    <p:sldId id="878" r:id="rId231"/>
    <p:sldId id="709" r:id="rId232"/>
    <p:sldId id="879" r:id="rId233"/>
    <p:sldId id="906" r:id="rId234"/>
    <p:sldId id="710" r:id="rId235"/>
    <p:sldId id="711" r:id="rId236"/>
    <p:sldId id="712" r:id="rId237"/>
    <p:sldId id="713" r:id="rId238"/>
    <p:sldId id="714" r:id="rId239"/>
    <p:sldId id="715" r:id="rId240"/>
    <p:sldId id="716" r:id="rId241"/>
    <p:sldId id="717" r:id="rId242"/>
    <p:sldId id="718" r:id="rId243"/>
    <p:sldId id="790" r:id="rId244"/>
    <p:sldId id="719" r:id="rId245"/>
    <p:sldId id="720" r:id="rId246"/>
    <p:sldId id="791" r:id="rId247"/>
    <p:sldId id="721" r:id="rId248"/>
    <p:sldId id="798" r:id="rId249"/>
    <p:sldId id="881" r:id="rId250"/>
    <p:sldId id="722" r:id="rId251"/>
    <p:sldId id="792" r:id="rId252"/>
    <p:sldId id="723" r:id="rId253"/>
    <p:sldId id="907" r:id="rId254"/>
    <p:sldId id="882" r:id="rId255"/>
    <p:sldId id="725" r:id="rId256"/>
    <p:sldId id="793" r:id="rId257"/>
    <p:sldId id="746" r:id="rId258"/>
    <p:sldId id="728" r:id="rId259"/>
    <p:sldId id="726" r:id="rId260"/>
    <p:sldId id="794" r:id="rId261"/>
    <p:sldId id="729" r:id="rId262"/>
    <p:sldId id="730" r:id="rId263"/>
    <p:sldId id="795" r:id="rId264"/>
    <p:sldId id="731" r:id="rId265"/>
    <p:sldId id="732" r:id="rId266"/>
    <p:sldId id="883" r:id="rId267"/>
    <p:sldId id="733" r:id="rId268"/>
    <p:sldId id="734" r:id="rId269"/>
    <p:sldId id="884" r:id="rId270"/>
  </p:sldIdLst>
  <p:sldSz cx="12192000" cy="6858000"/>
  <p:notesSz cx="6645275" cy="97758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ECFF"/>
    <a:srgbClr val="8ED1D8"/>
    <a:srgbClr val="76E4F0"/>
    <a:srgbClr val="66CCFF"/>
    <a:srgbClr val="FF3300"/>
    <a:srgbClr val="996633"/>
    <a:srgbClr val="66FF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010" autoAdjust="0"/>
  </p:normalViewPr>
  <p:slideViewPr>
    <p:cSldViewPr>
      <p:cViewPr varScale="1">
        <p:scale>
          <a:sx n="74" d="100"/>
          <a:sy n="74" d="100"/>
        </p:scale>
        <p:origin x="21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63" Type="http://schemas.openxmlformats.org/officeDocument/2006/relationships/slide" Target="slides/slide60.xml"/><Relationship Id="rId159" Type="http://schemas.openxmlformats.org/officeDocument/2006/relationships/slide" Target="slides/slide156.xml"/><Relationship Id="rId170" Type="http://schemas.openxmlformats.org/officeDocument/2006/relationships/slide" Target="slides/slide167.xml"/><Relationship Id="rId226" Type="http://schemas.openxmlformats.org/officeDocument/2006/relationships/slide" Target="slides/slide223.xml"/><Relationship Id="rId268" Type="http://schemas.openxmlformats.org/officeDocument/2006/relationships/slide" Target="slides/slide265.xml"/><Relationship Id="rId32" Type="http://schemas.openxmlformats.org/officeDocument/2006/relationships/slide" Target="slides/slide29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slide" Target="slides/slide157.xml"/><Relationship Id="rId181" Type="http://schemas.openxmlformats.org/officeDocument/2006/relationships/slide" Target="slides/slide178.xml"/><Relationship Id="rId216" Type="http://schemas.openxmlformats.org/officeDocument/2006/relationships/slide" Target="slides/slide213.xml"/><Relationship Id="rId237" Type="http://schemas.openxmlformats.org/officeDocument/2006/relationships/slide" Target="slides/slide234.xml"/><Relationship Id="rId258" Type="http://schemas.openxmlformats.org/officeDocument/2006/relationships/slide" Target="slides/slide255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slide" Target="slides/slide168.xml"/><Relationship Id="rId192" Type="http://schemas.openxmlformats.org/officeDocument/2006/relationships/slide" Target="slides/slide189.xml"/><Relationship Id="rId206" Type="http://schemas.openxmlformats.org/officeDocument/2006/relationships/slide" Target="slides/slide203.xml"/><Relationship Id="rId227" Type="http://schemas.openxmlformats.org/officeDocument/2006/relationships/slide" Target="slides/slide224.xml"/><Relationship Id="rId248" Type="http://schemas.openxmlformats.org/officeDocument/2006/relationships/slide" Target="slides/slide245.xml"/><Relationship Id="rId269" Type="http://schemas.openxmlformats.org/officeDocument/2006/relationships/slide" Target="slides/slide266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slide" Target="slides/slide158.xml"/><Relationship Id="rId182" Type="http://schemas.openxmlformats.org/officeDocument/2006/relationships/slide" Target="slides/slide179.xml"/><Relationship Id="rId217" Type="http://schemas.openxmlformats.org/officeDocument/2006/relationships/slide" Target="slides/slide214.xml"/><Relationship Id="rId6" Type="http://schemas.openxmlformats.org/officeDocument/2006/relationships/slide" Target="slides/slide3.xml"/><Relationship Id="rId238" Type="http://schemas.openxmlformats.org/officeDocument/2006/relationships/slide" Target="slides/slide235.xml"/><Relationship Id="rId259" Type="http://schemas.openxmlformats.org/officeDocument/2006/relationships/slide" Target="slides/slide256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270" Type="http://schemas.openxmlformats.org/officeDocument/2006/relationships/slide" Target="slides/slide267.xml"/><Relationship Id="rId44" Type="http://schemas.openxmlformats.org/officeDocument/2006/relationships/slide" Target="slides/slide41.xml"/><Relationship Id="rId65" Type="http://schemas.openxmlformats.org/officeDocument/2006/relationships/slide" Target="slides/slide62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51" Type="http://schemas.openxmlformats.org/officeDocument/2006/relationships/slide" Target="slides/slide148.xml"/><Relationship Id="rId172" Type="http://schemas.openxmlformats.org/officeDocument/2006/relationships/slide" Target="slides/slide169.xml"/><Relationship Id="rId193" Type="http://schemas.openxmlformats.org/officeDocument/2006/relationships/slide" Target="slides/slide190.xml"/><Relationship Id="rId207" Type="http://schemas.openxmlformats.org/officeDocument/2006/relationships/slide" Target="slides/slide204.xml"/><Relationship Id="rId228" Type="http://schemas.openxmlformats.org/officeDocument/2006/relationships/slide" Target="slides/slide225.xml"/><Relationship Id="rId249" Type="http://schemas.openxmlformats.org/officeDocument/2006/relationships/slide" Target="slides/slide246.xml"/><Relationship Id="rId13" Type="http://schemas.openxmlformats.org/officeDocument/2006/relationships/slide" Target="slides/slide10.xml"/><Relationship Id="rId109" Type="http://schemas.openxmlformats.org/officeDocument/2006/relationships/slide" Target="slides/slide106.xml"/><Relationship Id="rId260" Type="http://schemas.openxmlformats.org/officeDocument/2006/relationships/slide" Target="slides/slide257.xml"/><Relationship Id="rId34" Type="http://schemas.openxmlformats.org/officeDocument/2006/relationships/slide" Target="slides/slide31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20" Type="http://schemas.openxmlformats.org/officeDocument/2006/relationships/slide" Target="slides/slide117.xml"/><Relationship Id="rId141" Type="http://schemas.openxmlformats.org/officeDocument/2006/relationships/slide" Target="slides/slide138.xml"/><Relationship Id="rId7" Type="http://schemas.openxmlformats.org/officeDocument/2006/relationships/slide" Target="slides/slide4.xml"/><Relationship Id="rId162" Type="http://schemas.openxmlformats.org/officeDocument/2006/relationships/slide" Target="slides/slide159.xml"/><Relationship Id="rId183" Type="http://schemas.openxmlformats.org/officeDocument/2006/relationships/slide" Target="slides/slide180.xml"/><Relationship Id="rId218" Type="http://schemas.openxmlformats.org/officeDocument/2006/relationships/slide" Target="slides/slide215.xml"/><Relationship Id="rId239" Type="http://schemas.openxmlformats.org/officeDocument/2006/relationships/slide" Target="slides/slide236.xml"/><Relationship Id="rId250" Type="http://schemas.openxmlformats.org/officeDocument/2006/relationships/slide" Target="slides/slide247.xml"/><Relationship Id="rId271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31" Type="http://schemas.openxmlformats.org/officeDocument/2006/relationships/slide" Target="slides/slide128.xml"/><Relationship Id="rId152" Type="http://schemas.openxmlformats.org/officeDocument/2006/relationships/slide" Target="slides/slide149.xml"/><Relationship Id="rId173" Type="http://schemas.openxmlformats.org/officeDocument/2006/relationships/slide" Target="slides/slide170.xml"/><Relationship Id="rId194" Type="http://schemas.openxmlformats.org/officeDocument/2006/relationships/slide" Target="slides/slide191.xml"/><Relationship Id="rId208" Type="http://schemas.openxmlformats.org/officeDocument/2006/relationships/slide" Target="slides/slide205.xml"/><Relationship Id="rId229" Type="http://schemas.openxmlformats.org/officeDocument/2006/relationships/slide" Target="slides/slide226.xml"/><Relationship Id="rId240" Type="http://schemas.openxmlformats.org/officeDocument/2006/relationships/slide" Target="slides/slide237.xml"/><Relationship Id="rId261" Type="http://schemas.openxmlformats.org/officeDocument/2006/relationships/slide" Target="slides/slide258.xml"/><Relationship Id="rId14" Type="http://schemas.openxmlformats.org/officeDocument/2006/relationships/slide" Target="slides/slide11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8" Type="http://schemas.openxmlformats.org/officeDocument/2006/relationships/slide" Target="slides/slide5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slide" Target="slides/slide160.xml"/><Relationship Id="rId184" Type="http://schemas.openxmlformats.org/officeDocument/2006/relationships/slide" Target="slides/slide181.xml"/><Relationship Id="rId219" Type="http://schemas.openxmlformats.org/officeDocument/2006/relationships/slide" Target="slides/slide216.xml"/><Relationship Id="rId230" Type="http://schemas.openxmlformats.org/officeDocument/2006/relationships/slide" Target="slides/slide227.xml"/><Relationship Id="rId251" Type="http://schemas.openxmlformats.org/officeDocument/2006/relationships/slide" Target="slides/slide248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72" Type="http://schemas.openxmlformats.org/officeDocument/2006/relationships/presProps" Target="presProps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slide" Target="slides/slide171.xml"/><Relationship Id="rId195" Type="http://schemas.openxmlformats.org/officeDocument/2006/relationships/slide" Target="slides/slide192.xml"/><Relationship Id="rId209" Type="http://schemas.openxmlformats.org/officeDocument/2006/relationships/slide" Target="slides/slide206.xml"/><Relationship Id="rId220" Type="http://schemas.openxmlformats.org/officeDocument/2006/relationships/slide" Target="slides/slide217.xml"/><Relationship Id="rId241" Type="http://schemas.openxmlformats.org/officeDocument/2006/relationships/slide" Target="slides/slide23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262" Type="http://schemas.openxmlformats.org/officeDocument/2006/relationships/slide" Target="slides/slide259.xml"/><Relationship Id="rId78" Type="http://schemas.openxmlformats.org/officeDocument/2006/relationships/slide" Target="slides/slide75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64" Type="http://schemas.openxmlformats.org/officeDocument/2006/relationships/slide" Target="slides/slide161.xml"/><Relationship Id="rId185" Type="http://schemas.openxmlformats.org/officeDocument/2006/relationships/slide" Target="slides/slide182.xml"/><Relationship Id="rId9" Type="http://schemas.openxmlformats.org/officeDocument/2006/relationships/slide" Target="slides/slide6.xml"/><Relationship Id="rId210" Type="http://schemas.openxmlformats.org/officeDocument/2006/relationships/slide" Target="slides/slide207.xml"/><Relationship Id="rId26" Type="http://schemas.openxmlformats.org/officeDocument/2006/relationships/slide" Target="slides/slide23.xml"/><Relationship Id="rId231" Type="http://schemas.openxmlformats.org/officeDocument/2006/relationships/slide" Target="slides/slide228.xml"/><Relationship Id="rId252" Type="http://schemas.openxmlformats.org/officeDocument/2006/relationships/slide" Target="slides/slide249.xml"/><Relationship Id="rId273" Type="http://schemas.openxmlformats.org/officeDocument/2006/relationships/viewProps" Target="viewProps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slide" Target="slides/slide172.xml"/><Relationship Id="rId196" Type="http://schemas.openxmlformats.org/officeDocument/2006/relationships/slide" Target="slides/slide193.xml"/><Relationship Id="rId200" Type="http://schemas.openxmlformats.org/officeDocument/2006/relationships/slide" Target="slides/slide197.xml"/><Relationship Id="rId16" Type="http://schemas.openxmlformats.org/officeDocument/2006/relationships/slide" Target="slides/slide13.xml"/><Relationship Id="rId221" Type="http://schemas.openxmlformats.org/officeDocument/2006/relationships/slide" Target="slides/slide218.xml"/><Relationship Id="rId242" Type="http://schemas.openxmlformats.org/officeDocument/2006/relationships/slide" Target="slides/slide239.xml"/><Relationship Id="rId263" Type="http://schemas.openxmlformats.org/officeDocument/2006/relationships/slide" Target="slides/slide260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slide" Target="slides/slide162.xml"/><Relationship Id="rId186" Type="http://schemas.openxmlformats.org/officeDocument/2006/relationships/slide" Target="slides/slide183.xml"/><Relationship Id="rId211" Type="http://schemas.openxmlformats.org/officeDocument/2006/relationships/slide" Target="slides/slide208.xml"/><Relationship Id="rId232" Type="http://schemas.openxmlformats.org/officeDocument/2006/relationships/slide" Target="slides/slide229.xml"/><Relationship Id="rId253" Type="http://schemas.openxmlformats.org/officeDocument/2006/relationships/slide" Target="slides/slide250.xml"/><Relationship Id="rId274" Type="http://schemas.openxmlformats.org/officeDocument/2006/relationships/theme" Target="theme/theme1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slide" Target="slides/slide173.xml"/><Relationship Id="rId197" Type="http://schemas.openxmlformats.org/officeDocument/2006/relationships/slide" Target="slides/slide194.xml"/><Relationship Id="rId201" Type="http://schemas.openxmlformats.org/officeDocument/2006/relationships/slide" Target="slides/slide198.xml"/><Relationship Id="rId222" Type="http://schemas.openxmlformats.org/officeDocument/2006/relationships/slide" Target="slides/slide219.xml"/><Relationship Id="rId243" Type="http://schemas.openxmlformats.org/officeDocument/2006/relationships/slide" Target="slides/slide240.xml"/><Relationship Id="rId264" Type="http://schemas.openxmlformats.org/officeDocument/2006/relationships/slide" Target="slides/slide261.xml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slide" Target="slides/slide163.xml"/><Relationship Id="rId187" Type="http://schemas.openxmlformats.org/officeDocument/2006/relationships/slide" Target="slides/slide184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9.xml"/><Relationship Id="rId233" Type="http://schemas.openxmlformats.org/officeDocument/2006/relationships/slide" Target="slides/slide230.xml"/><Relationship Id="rId254" Type="http://schemas.openxmlformats.org/officeDocument/2006/relationships/slide" Target="slides/slide251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275" Type="http://schemas.openxmlformats.org/officeDocument/2006/relationships/tableStyles" Target="tableStyles.xml"/><Relationship Id="rId60" Type="http://schemas.openxmlformats.org/officeDocument/2006/relationships/slide" Target="slides/slide57.xml"/><Relationship Id="rId81" Type="http://schemas.openxmlformats.org/officeDocument/2006/relationships/slide" Target="slides/slide78.xml"/><Relationship Id="rId135" Type="http://schemas.openxmlformats.org/officeDocument/2006/relationships/slide" Target="slides/slide132.xml"/><Relationship Id="rId156" Type="http://schemas.openxmlformats.org/officeDocument/2006/relationships/slide" Target="slides/slide153.xml"/><Relationship Id="rId177" Type="http://schemas.openxmlformats.org/officeDocument/2006/relationships/slide" Target="slides/slide174.xml"/><Relationship Id="rId198" Type="http://schemas.openxmlformats.org/officeDocument/2006/relationships/slide" Target="slides/slide195.xml"/><Relationship Id="rId202" Type="http://schemas.openxmlformats.org/officeDocument/2006/relationships/slide" Target="slides/slide199.xml"/><Relationship Id="rId223" Type="http://schemas.openxmlformats.org/officeDocument/2006/relationships/slide" Target="slides/slide220.xml"/><Relationship Id="rId244" Type="http://schemas.openxmlformats.org/officeDocument/2006/relationships/slide" Target="slides/slide241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265" Type="http://schemas.openxmlformats.org/officeDocument/2006/relationships/slide" Target="slides/slide262.xml"/><Relationship Id="rId50" Type="http://schemas.openxmlformats.org/officeDocument/2006/relationships/slide" Target="slides/slide47.xml"/><Relationship Id="rId104" Type="http://schemas.openxmlformats.org/officeDocument/2006/relationships/slide" Target="slides/slide101.xml"/><Relationship Id="rId125" Type="http://schemas.openxmlformats.org/officeDocument/2006/relationships/slide" Target="slides/slide122.xml"/><Relationship Id="rId146" Type="http://schemas.openxmlformats.org/officeDocument/2006/relationships/slide" Target="slides/slide143.xml"/><Relationship Id="rId167" Type="http://schemas.openxmlformats.org/officeDocument/2006/relationships/slide" Target="slides/slide164.xml"/><Relationship Id="rId188" Type="http://schemas.openxmlformats.org/officeDocument/2006/relationships/slide" Target="slides/slide185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13" Type="http://schemas.openxmlformats.org/officeDocument/2006/relationships/slide" Target="slides/slide210.xml"/><Relationship Id="rId234" Type="http://schemas.openxmlformats.org/officeDocument/2006/relationships/slide" Target="slides/slide23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55" Type="http://schemas.openxmlformats.org/officeDocument/2006/relationships/slide" Target="slides/slide252.xml"/><Relationship Id="rId40" Type="http://schemas.openxmlformats.org/officeDocument/2006/relationships/slide" Target="slides/slide37.xml"/><Relationship Id="rId115" Type="http://schemas.openxmlformats.org/officeDocument/2006/relationships/slide" Target="slides/slide112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slide" Target="slides/slide175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9" Type="http://schemas.openxmlformats.org/officeDocument/2006/relationships/slide" Target="slides/slide196.xml"/><Relationship Id="rId203" Type="http://schemas.openxmlformats.org/officeDocument/2006/relationships/slide" Target="slides/slide200.xml"/><Relationship Id="rId19" Type="http://schemas.openxmlformats.org/officeDocument/2006/relationships/slide" Target="slides/slide16.xml"/><Relationship Id="rId224" Type="http://schemas.openxmlformats.org/officeDocument/2006/relationships/slide" Target="slides/slide221.xml"/><Relationship Id="rId245" Type="http://schemas.openxmlformats.org/officeDocument/2006/relationships/slide" Target="slides/slide242.xml"/><Relationship Id="rId266" Type="http://schemas.openxmlformats.org/officeDocument/2006/relationships/slide" Target="slides/slide263.xml"/><Relationship Id="rId30" Type="http://schemas.openxmlformats.org/officeDocument/2006/relationships/slide" Target="slides/slide2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slide" Target="slides/slide16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189" Type="http://schemas.openxmlformats.org/officeDocument/2006/relationships/slide" Target="slides/slide186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11.xml"/><Relationship Id="rId235" Type="http://schemas.openxmlformats.org/officeDocument/2006/relationships/slide" Target="slides/slide232.xml"/><Relationship Id="rId256" Type="http://schemas.openxmlformats.org/officeDocument/2006/relationships/slide" Target="slides/slide253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179" Type="http://schemas.openxmlformats.org/officeDocument/2006/relationships/slide" Target="slides/slide176.xml"/><Relationship Id="rId190" Type="http://schemas.openxmlformats.org/officeDocument/2006/relationships/slide" Target="slides/slide187.xml"/><Relationship Id="rId204" Type="http://schemas.openxmlformats.org/officeDocument/2006/relationships/slide" Target="slides/slide201.xml"/><Relationship Id="rId225" Type="http://schemas.openxmlformats.org/officeDocument/2006/relationships/slide" Target="slides/slide222.xml"/><Relationship Id="rId246" Type="http://schemas.openxmlformats.org/officeDocument/2006/relationships/slide" Target="slides/slide243.xml"/><Relationship Id="rId267" Type="http://schemas.openxmlformats.org/officeDocument/2006/relationships/slide" Target="slides/slide26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94" Type="http://schemas.openxmlformats.org/officeDocument/2006/relationships/slide" Target="slides/slide91.xml"/><Relationship Id="rId148" Type="http://schemas.openxmlformats.org/officeDocument/2006/relationships/slide" Target="slides/slide145.xml"/><Relationship Id="rId169" Type="http://schemas.openxmlformats.org/officeDocument/2006/relationships/slide" Target="slides/slide166.xml"/><Relationship Id="rId4" Type="http://schemas.openxmlformats.org/officeDocument/2006/relationships/slide" Target="slides/slide1.xml"/><Relationship Id="rId180" Type="http://schemas.openxmlformats.org/officeDocument/2006/relationships/slide" Target="slides/slide177.xml"/><Relationship Id="rId215" Type="http://schemas.openxmlformats.org/officeDocument/2006/relationships/slide" Target="slides/slide212.xml"/><Relationship Id="rId236" Type="http://schemas.openxmlformats.org/officeDocument/2006/relationships/slide" Target="slides/slide233.xml"/><Relationship Id="rId257" Type="http://schemas.openxmlformats.org/officeDocument/2006/relationships/slide" Target="slides/slide254.xml"/><Relationship Id="rId42" Type="http://schemas.openxmlformats.org/officeDocument/2006/relationships/slide" Target="slides/slide39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91" Type="http://schemas.openxmlformats.org/officeDocument/2006/relationships/slide" Target="slides/slide188.xml"/><Relationship Id="rId205" Type="http://schemas.openxmlformats.org/officeDocument/2006/relationships/slide" Target="slides/slide202.xml"/><Relationship Id="rId247" Type="http://schemas.openxmlformats.org/officeDocument/2006/relationships/slide" Target="slides/slide244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53" Type="http://schemas.openxmlformats.org/officeDocument/2006/relationships/slide" Target="slides/slide50.xml"/><Relationship Id="rId149" Type="http://schemas.openxmlformats.org/officeDocument/2006/relationships/slide" Target="slides/slide1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13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5100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1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3438"/>
            <a:ext cx="5314950" cy="439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E4D940D-1F24-4B0C-B62D-DF4FCFF387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3583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D940D-1F24-4B0C-B62D-DF4FCFF387FD}" type="slidenum">
              <a:rPr lang="en-US" altLang="zh-TW" smtClean="0"/>
              <a:pPr>
                <a:defRPr/>
              </a:pPr>
              <a:t>163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9491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D940D-1F24-4B0C-B62D-DF4FCFF387FD}" type="slidenum">
              <a:rPr lang="en-US" altLang="zh-TW" smtClean="0"/>
              <a:pPr>
                <a:defRPr/>
              </a:pPr>
              <a:t>164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9698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D940D-1F24-4B0C-B62D-DF4FCFF387FD}" type="slidenum">
              <a:rPr lang="en-US" altLang="zh-TW" smtClean="0"/>
              <a:pPr>
                <a:defRPr/>
              </a:pPr>
              <a:t>165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0752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D940D-1F24-4B0C-B62D-DF4FCFF387FD}" type="slidenum">
              <a:rPr lang="en-US" altLang="zh-TW" smtClean="0"/>
              <a:pPr>
                <a:defRPr/>
              </a:pPr>
              <a:t>168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9839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D940D-1F24-4B0C-B62D-DF4FCFF387FD}" type="slidenum">
              <a:rPr lang="en-US" altLang="zh-TW" smtClean="0"/>
              <a:pPr>
                <a:defRPr/>
              </a:pPr>
              <a:t>172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5591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6AEBC-AB5B-403C-9713-61468BF715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BE66-145B-43F3-87D5-C5CBE67EE5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4417" y="1484313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12417" y="1484313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63923-0C3E-497E-866B-6EDE41A3DFB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D2E59-BCE5-4529-B626-1F5C8A9FF7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1FD2B2-1563-455D-8D29-F524E614776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C0DE4-A04A-452D-BA32-79676CBE47F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7D52-C234-4951-9F21-21DB291066F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1E892-58AC-412D-91F6-6683F05F689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27F46-2C1B-407D-A223-364BA22348B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4017" y="115889"/>
            <a:ext cx="2743200" cy="589438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4417" y="115889"/>
            <a:ext cx="8026400" cy="589438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15DA8-0D69-46D5-85A2-1C60824F03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412875"/>
            <a:ext cx="5384800" cy="4713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713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CDD7-C1B8-464F-88BD-56BB3641CA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9726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156298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412875"/>
            <a:ext cx="10972800" cy="2283702"/>
          </a:xfrm>
        </p:spPr>
        <p:txBody>
          <a:bodyPr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553FFF-364D-472D-BD86-E9D2ADC672B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179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A00DEF-2885-4964-8A9E-1D3D385882C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890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84800" cy="4713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713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5C88D7-64DF-428E-96D4-5CB954FBDE3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195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A5B95B-6F1C-40AF-845F-DAB0F912E38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8332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5B2EE5-B2E2-4C22-A68E-4DFD51E712D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1090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0B7B03-37ED-4849-B49F-EE11D754BB1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717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96BFDD-E6C2-4C34-9FEC-A90193434A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815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5AA562-61D5-42CE-A546-48CDA1F5F9F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219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1BD0FB-FE32-4D2B-95AD-373493453E8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701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15889"/>
            <a:ext cx="2745317" cy="601027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15889"/>
            <a:ext cx="8039100" cy="601027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1AE929-94C6-4781-8076-3D814F449C7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486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412875"/>
            <a:ext cx="5384800" cy="4713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713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ACDD7-C1B8-464F-88BD-56BB3641CA0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7593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6412957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0012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385228-623B-4451-AE5F-DC9B995EBC9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2054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39481-F962-4F85-9E1B-554F3CA472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4735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64DE2E-C83E-4954-B893-149E183B01F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449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632AD-9D6A-45CC-A1CF-8EF7EBEC225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446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03F6A1-8A0B-4905-8C4D-A2A89273829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1564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8101C-A27A-4027-B24D-6AD0C5A4167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2415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310DE6-F0B5-4BB5-93AA-2CCD573E1E0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7480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45A9B3-FB01-4448-ABE2-4F80DA56BB6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17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47625"/>
            <a:ext cx="2745317" cy="60785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47625"/>
            <a:ext cx="8039100" cy="60785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3A3035-2733-4190-AD0D-DBCC8048BEE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04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7" y="1484313"/>
            <a:ext cx="10972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05F422F2-3991-4C27-9325-2E046A80759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4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ts val="768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875"/>
            <a:ext cx="10972800" cy="471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AA4DEE-14F1-4CBA-8F9A-8DBEDE3C63BF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02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B7576-D5A1-4124-A8A2-2098A4E88BC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2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6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Chapter 10</a:t>
            </a:r>
            <a:r>
              <a:rPr lang="zh-TW" altLang="en-US" dirty="0" smtClean="0"/>
              <a:t>：</a:t>
            </a:r>
            <a:r>
              <a:rPr lang="en-US" altLang="zh-TW" dirty="0" smtClean="0"/>
              <a:t> Virtual Memory</a:t>
            </a:r>
          </a:p>
        </p:txBody>
      </p:sp>
    </p:spTree>
    <p:extLst>
      <p:ext uri="{BB962C8B-B14F-4D97-AF65-F5344CB8AC3E}">
        <p14:creationId xmlns:p14="http://schemas.microsoft.com/office/powerpoint/2010/main" val="108181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Background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Replacement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buffering </a:t>
            </a:r>
            <a:r>
              <a:rPr lang="en-US" altLang="zh-TW" sz="2800" dirty="0" smtClean="0"/>
              <a:t>Algorithm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Allocation of Frames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38233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Motivation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Memory Management in Chapter 9 </a:t>
            </a:r>
          </a:p>
          <a:p>
            <a:pPr lvl="1" eaLnBrk="1" hangingPunct="1"/>
            <a:r>
              <a:rPr lang="en-US" altLang="zh-TW" sz="2400" dirty="0"/>
              <a:t>A process needs to be </a:t>
            </a:r>
            <a:r>
              <a:rPr lang="en-US" altLang="zh-TW" sz="2400" b="1" dirty="0"/>
              <a:t>entirely</a:t>
            </a:r>
            <a:r>
              <a:rPr lang="en-US" altLang="zh-TW" sz="2400" dirty="0"/>
              <a:t> loaded into the </a:t>
            </a:r>
            <a:r>
              <a:rPr lang="en-US" altLang="zh-TW" sz="2400" dirty="0" smtClean="0"/>
              <a:t>memory</a:t>
            </a:r>
            <a:endParaRPr lang="en-US" altLang="zh-TW" sz="2400" dirty="0"/>
          </a:p>
          <a:p>
            <a:pPr eaLnBrk="1" hangingPunct="1"/>
            <a:r>
              <a:rPr lang="en-US" altLang="zh-TW" sz="2800" dirty="0" smtClean="0"/>
              <a:t>Q: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but</a:t>
            </a:r>
            <a:r>
              <a:rPr lang="en-US" altLang="zh-TW" sz="2800" dirty="0"/>
              <a:t>, in many cases, </a:t>
            </a:r>
            <a:r>
              <a:rPr lang="en-US" altLang="zh-TW" sz="2800" b="1" dirty="0">
                <a:solidFill>
                  <a:srgbClr val="FF3300"/>
                </a:solidFill>
              </a:rPr>
              <a:t>entire</a:t>
            </a:r>
            <a:r>
              <a:rPr lang="en-US" altLang="zh-TW" sz="2800" dirty="0"/>
              <a:t> program is not </a:t>
            </a:r>
            <a:r>
              <a:rPr lang="en-US" altLang="zh-TW" sz="2800" dirty="0" smtClean="0"/>
              <a:t>needed. Why?</a:t>
            </a:r>
            <a:endParaRPr lang="en-US" altLang="zh-TW" sz="2800" dirty="0"/>
          </a:p>
          <a:p>
            <a:pPr lvl="1" eaLnBrk="1" hangingPunct="1"/>
            <a:r>
              <a:rPr lang="en-US" altLang="zh-TW" sz="2400" dirty="0"/>
              <a:t>Code to handle unusual </a:t>
            </a:r>
            <a:r>
              <a:rPr lang="en-US" altLang="zh-TW" sz="2400" b="1" dirty="0"/>
              <a:t>error</a:t>
            </a:r>
            <a:r>
              <a:rPr lang="en-US" altLang="zh-TW" sz="2400" dirty="0"/>
              <a:t> conditions</a:t>
            </a:r>
          </a:p>
          <a:p>
            <a:pPr lvl="1" eaLnBrk="1" hangingPunct="1"/>
            <a:r>
              <a:rPr lang="en-US" altLang="zh-TW" sz="2400" dirty="0"/>
              <a:t>Arrays, list, and tables are often allocated more than they </a:t>
            </a:r>
            <a:r>
              <a:rPr lang="en-US" altLang="zh-TW" sz="2400" dirty="0" smtClean="0"/>
              <a:t>need</a:t>
            </a:r>
            <a:endParaRPr lang="en-US" altLang="zh-TW" sz="2400" dirty="0"/>
          </a:p>
          <a:p>
            <a:pPr lvl="1" eaLnBrk="1" hangingPunct="1"/>
            <a:r>
              <a:rPr lang="en-US" altLang="zh-TW" sz="2400" dirty="0"/>
              <a:t>Certain options/features may be used rarely (Ex: Word, PowerPoint…)</a:t>
            </a:r>
          </a:p>
          <a:p>
            <a:pPr eaLnBrk="1" hangingPunct="1"/>
            <a:r>
              <a:rPr lang="en-US" altLang="zh-TW" sz="2800" dirty="0"/>
              <a:t>Even when the entire program is needed, it may not all be needed </a:t>
            </a:r>
            <a:r>
              <a:rPr lang="en-US" altLang="zh-TW" sz="2800" b="1" dirty="0">
                <a:solidFill>
                  <a:srgbClr val="FF3300"/>
                </a:solidFill>
              </a:rPr>
              <a:t>at the same </a:t>
            </a:r>
            <a:r>
              <a:rPr lang="en-US" altLang="zh-TW" sz="2800" b="1" dirty="0" smtClean="0">
                <a:solidFill>
                  <a:srgbClr val="FF3300"/>
                </a:solidFill>
              </a:rPr>
              <a:t>time</a:t>
            </a:r>
            <a:r>
              <a:rPr lang="zh-TW" altLang="en-US" sz="2400" b="1" dirty="0">
                <a:solidFill>
                  <a:srgbClr val="FF3300"/>
                </a:solidFill>
              </a:rPr>
              <a:t> </a:t>
            </a:r>
            <a:r>
              <a:rPr lang="en-US" altLang="zh-TW" sz="1800" dirty="0" smtClean="0"/>
              <a:t>(see the following slide)</a:t>
            </a:r>
            <a:endParaRPr lang="en-US" altLang="zh-TW" sz="2800" dirty="0" smtClean="0"/>
          </a:p>
        </p:txBody>
      </p:sp>
    </p:spTree>
    <p:extLst>
      <p:ext uri="{BB962C8B-B14F-4D97-AF65-F5344CB8AC3E}">
        <p14:creationId xmlns:p14="http://schemas.microsoft.com/office/powerpoint/2010/main" val="359871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Paging Model of Logical and Physical Memory</a:t>
            </a:r>
            <a:endParaRPr lang="en-US" altLang="zh-TW" sz="320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1718329" y="1556792"/>
            <a:ext cx="8784976" cy="4824536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8546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So, </a:t>
            </a:r>
            <a:r>
              <a:rPr lang="zh-TW" altLang="en-US" dirty="0" smtClean="0"/>
              <a:t>如何利用這個特色呢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e</a:t>
            </a:r>
            <a:r>
              <a:rPr lang="en-US" altLang="en-US" dirty="0" smtClean="0"/>
              <a:t>xecute </a:t>
            </a:r>
            <a:r>
              <a:rPr lang="en-US" altLang="en-US" b="1" dirty="0">
                <a:solidFill>
                  <a:srgbClr val="FF0000"/>
                </a:solidFill>
              </a:rPr>
              <a:t>partially-loaded program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506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Virtual Memory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b="1" dirty="0"/>
              <a:t>Idea: </a:t>
            </a:r>
            <a:r>
              <a:rPr lang="en-US" altLang="en-US" dirty="0"/>
              <a:t>Execute </a:t>
            </a:r>
            <a:r>
              <a:rPr lang="en-US" altLang="en-US" b="1" dirty="0">
                <a:solidFill>
                  <a:srgbClr val="FF0000"/>
                </a:solidFill>
              </a:rPr>
              <a:t>partially-loaded program</a:t>
            </a:r>
          </a:p>
          <a:p>
            <a:pPr eaLnBrk="1" hangingPunct="1">
              <a:lnSpc>
                <a:spcPct val="110000"/>
              </a:lnSpc>
            </a:pPr>
            <a:endParaRPr lang="en-US" altLang="zh-TW" b="1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b="1" dirty="0" smtClean="0"/>
              <a:t>Solution:</a:t>
            </a:r>
            <a:r>
              <a:rPr lang="en-US" altLang="zh-TW" b="1" dirty="0" smtClean="0">
                <a:solidFill>
                  <a:srgbClr val="FF3300"/>
                </a:solidFill>
              </a:rPr>
              <a:t> Virtual memory</a:t>
            </a:r>
            <a:r>
              <a:rPr lang="en-US" altLang="zh-TW" dirty="0" smtClean="0"/>
              <a:t>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Only </a:t>
            </a:r>
            <a:r>
              <a:rPr lang="en-US" altLang="zh-TW" b="1" dirty="0" smtClean="0">
                <a:solidFill>
                  <a:srgbClr val="FF3300"/>
                </a:solidFill>
              </a:rPr>
              <a:t>part of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the program is in memory for execution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 smtClean="0"/>
          </a:p>
          <a:p>
            <a:pPr lvl="1" eaLnBrk="1" hangingPunct="1">
              <a:lnSpc>
                <a:spcPct val="110000"/>
              </a:lnSpc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18900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728633"/>
            <a:ext cx="8158361" cy="222383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4403923"/>
            <a:ext cx="8165257" cy="1833389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4858396" y="6597352"/>
            <a:ext cx="58096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b="1" i="1" dirty="0">
                <a:latin typeface="Calibri" panose="020F0502020204030204" pitchFamily="34" charset="0"/>
              </a:rPr>
              <a:t>https://www.usenix.org/sites/default/files/conference/protected-files/atc16_slides_huang.pdf</a:t>
            </a:r>
            <a:endParaRPr lang="zh-TW" altLang="en-US" sz="1100" b="1" i="1" dirty="0">
              <a:latin typeface="Calibri" panose="020F0502020204030204" pitchFamily="34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Memory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885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虛擬記憶體有什麼好處呢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55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Benefits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 smtClean="0"/>
              <a:t>Benefits</a:t>
            </a:r>
            <a:endParaRPr lang="en-US" altLang="en-US" b="1" dirty="0"/>
          </a:p>
          <a:p>
            <a:pPr lvl="1"/>
            <a:r>
              <a:rPr lang="en-US" altLang="en-US" dirty="0" smtClean="0"/>
              <a:t>Program </a:t>
            </a:r>
            <a:r>
              <a:rPr lang="en-US" altLang="en-US" dirty="0"/>
              <a:t>no longer constrained by sizes of physical memory</a:t>
            </a:r>
          </a:p>
          <a:p>
            <a:pPr lvl="1"/>
            <a:r>
              <a:rPr lang="en-US" altLang="zh-TW" dirty="0" smtClean="0"/>
              <a:t>Less </a:t>
            </a:r>
            <a:r>
              <a:rPr lang="en-US" altLang="zh-TW" dirty="0"/>
              <a:t>memory is </a:t>
            </a:r>
            <a:r>
              <a:rPr lang="en-US" altLang="zh-TW" dirty="0" smtClean="0"/>
              <a:t>needed for each process</a:t>
            </a:r>
          </a:p>
          <a:p>
            <a:pPr lvl="2"/>
            <a:r>
              <a:rPr lang="en-US" altLang="zh-TW" dirty="0"/>
              <a:t>In previous slide, only 3 pages (instead of 5) are kept in memory</a:t>
            </a:r>
          </a:p>
          <a:p>
            <a:pPr lvl="1"/>
            <a:r>
              <a:rPr lang="en-US" altLang="zh-TW" dirty="0" smtClean="0"/>
              <a:t>More processes in memory</a:t>
            </a:r>
          </a:p>
          <a:p>
            <a:pPr lvl="1"/>
            <a:r>
              <a:rPr lang="en-US" altLang="zh-TW" dirty="0" smtClean="0"/>
              <a:t>Less </a:t>
            </a:r>
            <a:r>
              <a:rPr lang="en-US" altLang="zh-TW" dirty="0"/>
              <a:t>I/O </a:t>
            </a:r>
            <a:r>
              <a:rPr lang="en-US" altLang="zh-TW" dirty="0" smtClean="0"/>
              <a:t>needed and faster response</a:t>
            </a:r>
            <a:endParaRPr lang="en-US" altLang="zh-TW" dirty="0"/>
          </a:p>
          <a:p>
            <a:pPr lvl="2"/>
            <a:r>
              <a:rPr lang="en-US" altLang="en-US" b="1" dirty="0" smtClean="0"/>
              <a:t>Less </a:t>
            </a:r>
            <a:r>
              <a:rPr lang="en-US" altLang="en-US" b="1" dirty="0"/>
              <a:t>I/O </a:t>
            </a:r>
            <a:r>
              <a:rPr lang="en-US" altLang="en-US" dirty="0"/>
              <a:t>needed to </a:t>
            </a:r>
            <a:r>
              <a:rPr lang="en-US" altLang="en-US" b="1" dirty="0"/>
              <a:t>load</a:t>
            </a:r>
            <a:r>
              <a:rPr lang="en-US" altLang="en-US" dirty="0"/>
              <a:t> </a:t>
            </a:r>
            <a:r>
              <a:rPr lang="en-US" altLang="en-US" dirty="0" smtClean="0"/>
              <a:t>programs </a:t>
            </a:r>
            <a:r>
              <a:rPr lang="en-US" altLang="en-US" dirty="0"/>
              <a:t>into </a:t>
            </a:r>
            <a:r>
              <a:rPr lang="en-US" altLang="en-US" dirty="0" smtClean="0"/>
              <a:t>memory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286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en-US" altLang="zh-TW" dirty="0" smtClean="0"/>
              <a:t>But, how to implement virtual memory?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181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482500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b="1" dirty="0">
                <a:solidFill>
                  <a:srgbClr val="FF0000"/>
                </a:solidFill>
              </a:rPr>
              <a:t>Demand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Paging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b="1" dirty="0">
                <a:solidFill>
                  <a:srgbClr val="FF3300"/>
                </a:solidFill>
              </a:rPr>
              <a:t>Basic Concepts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Performance of Demand </a:t>
            </a:r>
            <a:r>
              <a:rPr lang="en-US" altLang="zh-TW" sz="2400" dirty="0" smtClean="0"/>
              <a:t>Paging</a:t>
            </a:r>
            <a:endParaRPr lang="en-US" altLang="zh-TW" sz="2400" b="1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Replacement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buffering </a:t>
            </a:r>
            <a:r>
              <a:rPr lang="en-US" altLang="zh-TW" sz="2800" dirty="0" smtClean="0"/>
              <a:t>Algorithm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Allocation of Frames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44720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Demand Paging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sz="2800" dirty="0"/>
              <a:t>Virtual memory can be implemented via </a:t>
            </a:r>
            <a:r>
              <a:rPr lang="en-US" altLang="zh-TW" sz="2800" b="1" dirty="0">
                <a:solidFill>
                  <a:srgbClr val="FF0000"/>
                </a:solidFill>
              </a:rPr>
              <a:t>demand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paging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sz="2400" dirty="0" smtClean="0"/>
              <a:t>A </a:t>
            </a:r>
            <a:r>
              <a:rPr lang="en-US" altLang="zh-TW" sz="2400" b="1" dirty="0" smtClean="0"/>
              <a:t>great</a:t>
            </a:r>
            <a:r>
              <a:rPr lang="en-US" altLang="zh-TW" sz="2400" dirty="0" smtClean="0"/>
              <a:t> benefit of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paging</a:t>
            </a:r>
            <a:r>
              <a:rPr lang="en-US" altLang="zh-TW" sz="2400" dirty="0" smtClean="0"/>
              <a:t> scheme</a:t>
            </a:r>
            <a:endParaRPr lang="en-US" altLang="zh-TW" sz="2400" dirty="0"/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endParaRPr lang="en-US" altLang="zh-TW" sz="2800" dirty="0" smtClean="0"/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sz="2800" dirty="0" smtClean="0"/>
              <a:t>Paging</a:t>
            </a:r>
            <a:r>
              <a:rPr lang="zh-TW" altLang="en-US" sz="2800" dirty="0" smtClean="0"/>
              <a:t>的優點</a:t>
            </a:r>
            <a:endParaRPr lang="en-US" altLang="zh-TW" sz="2800" dirty="0" smtClean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sz="2400" dirty="0" smtClean="0"/>
              <a:t>Eliminate external fragmentation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b="1" dirty="0" smtClean="0"/>
              <a:t>Facilitate memory sharing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sz="3200" b="1" dirty="0" smtClean="0">
                <a:solidFill>
                  <a:srgbClr val="FF0000"/>
                </a:solidFill>
              </a:rPr>
              <a:t>Support virtual memory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494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3300"/>
                </a:solidFill>
              </a:rPr>
              <a:t>Q: what is demand Paging?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/>
              <a:t>Ans</a:t>
            </a:r>
            <a:r>
              <a:rPr lang="en-US" altLang="zh-TW" dirty="0"/>
              <a:t>: bring a page from disk into memory only </a:t>
            </a:r>
            <a:r>
              <a:rPr lang="en-US" altLang="zh-TW" dirty="0">
                <a:solidFill>
                  <a:srgbClr val="FF3300"/>
                </a:solidFill>
              </a:rPr>
              <a:t>when it is needed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025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Demand Paging: Physical Memory is Not Full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2640014" y="1773239"/>
            <a:ext cx="6696075" cy="44592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4007768" y="2204864"/>
            <a:ext cx="1656184" cy="2592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/>
          <p:nvPr/>
        </p:nvCxnSpPr>
        <p:spPr>
          <a:xfrm>
            <a:off x="1847529" y="2708920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7031708" y="3501008"/>
            <a:ext cx="1800597" cy="1368152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973677" y="5157192"/>
            <a:ext cx="84209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600" b="1" dirty="0">
                <a:solidFill>
                  <a:schemeClr val="hlink"/>
                </a:solidFill>
                <a:latin typeface="Calibri" panose="020F0502020204030204" pitchFamily="34" charset="0"/>
                <a:ea typeface="標楷體" pitchFamily="65" charset="-120"/>
              </a:rPr>
              <a:t>page in </a:t>
            </a: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 flipH="1" flipV="1">
            <a:off x="7791450" y="4301082"/>
            <a:ext cx="176758" cy="928118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614217" y="3818345"/>
            <a:ext cx="204961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solidFill>
                  <a:schemeClr val="accent2"/>
                </a:solidFill>
                <a:latin typeface="Calibri" panose="020F0502020204030204" pitchFamily="34" charset="0"/>
                <a:ea typeface="標楷體" pitchFamily="65" charset="-120"/>
              </a:rPr>
              <a:t>Page not in physical </a:t>
            </a:r>
            <a:r>
              <a:rPr lang="en-US" altLang="zh-TW" sz="1600" b="1" dirty="0" smtClean="0">
                <a:solidFill>
                  <a:schemeClr val="accent2"/>
                </a:solidFill>
                <a:latin typeface="Calibri" panose="020F0502020204030204" pitchFamily="34" charset="0"/>
                <a:ea typeface="標楷體" pitchFamily="65" charset="-120"/>
              </a:rPr>
              <a:t>memory</a:t>
            </a:r>
            <a:endParaRPr lang="en-US" altLang="zh-TW" sz="1600" b="1" dirty="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V="1">
            <a:off x="4439817" y="2780927"/>
            <a:ext cx="1440159" cy="1037417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44620" y="4994127"/>
            <a:ext cx="787485" cy="27044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B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09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/>
      <p:bldP spid="17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Swapper vs. Pager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 smtClean="0"/>
              <a:t>Comparison</a:t>
            </a:r>
            <a:endParaRPr lang="en-US" altLang="zh-TW" dirty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rgbClr val="FF3300"/>
                </a:solidFill>
              </a:rPr>
              <a:t>Swapper</a:t>
            </a:r>
            <a:r>
              <a:rPr lang="en-US" altLang="zh-TW" dirty="0"/>
              <a:t>: manipulate </a:t>
            </a:r>
            <a:r>
              <a:rPr lang="en-US" altLang="zh-TW" b="1" dirty="0">
                <a:solidFill>
                  <a:srgbClr val="3333FF"/>
                </a:solidFill>
              </a:rPr>
              <a:t>entire</a:t>
            </a:r>
            <a:r>
              <a:rPr lang="en-US" altLang="zh-TW" dirty="0"/>
              <a:t> processes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Seldom used today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endParaRPr lang="en-US" altLang="zh-TW" b="1" dirty="0" smtClean="0">
              <a:solidFill>
                <a:srgbClr val="FF3300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b="1" dirty="0" smtClean="0">
                <a:solidFill>
                  <a:srgbClr val="FF3300"/>
                </a:solidFill>
              </a:rPr>
              <a:t>Pager</a:t>
            </a:r>
            <a:r>
              <a:rPr lang="en-US" altLang="zh-TW" b="1" dirty="0" smtClean="0"/>
              <a:t> </a:t>
            </a:r>
            <a:r>
              <a:rPr lang="en-US" altLang="zh-TW" dirty="0"/>
              <a:t>(or</a:t>
            </a:r>
            <a:r>
              <a:rPr lang="en-US" altLang="zh-TW" b="1" dirty="0"/>
              <a:t> </a:t>
            </a:r>
            <a:r>
              <a:rPr lang="en-US" altLang="zh-TW" b="1" dirty="0">
                <a:solidFill>
                  <a:srgbClr val="FF3300"/>
                </a:solidFill>
              </a:rPr>
              <a:t>Lazy Swapper</a:t>
            </a:r>
            <a:r>
              <a:rPr lang="en-US" altLang="zh-TW" dirty="0"/>
              <a:t>): manipulate the </a:t>
            </a:r>
            <a:r>
              <a:rPr lang="en-US" altLang="zh-TW" b="1" dirty="0">
                <a:solidFill>
                  <a:srgbClr val="3333FF"/>
                </a:solidFill>
              </a:rPr>
              <a:t>individual pages</a:t>
            </a:r>
            <a:r>
              <a:rPr lang="en-US" altLang="zh-TW" dirty="0"/>
              <a:t> of a process 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Bring in a page only when the page is needed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7569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Schematic View of Swapping</a:t>
            </a:r>
            <a:endParaRPr lang="en-US" altLang="zh-TW" sz="3600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 l="743" t="342" r="487" b="1299"/>
          <a:stretch>
            <a:fillRect/>
          </a:stretch>
        </p:blipFill>
        <p:spPr bwMode="auto">
          <a:xfrm>
            <a:off x="1847528" y="1692275"/>
            <a:ext cx="8424935" cy="41656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048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exec()</a:t>
            </a:r>
            <a:r>
              <a:rPr lang="zh-TW" altLang="en-US" dirty="0" smtClean="0"/>
              <a:t>不再將</a:t>
            </a:r>
            <a:r>
              <a:rPr lang="zh-TW" altLang="en-US" dirty="0"/>
              <a:t>整個</a:t>
            </a:r>
            <a:r>
              <a:rPr lang="zh-TW" altLang="en-US" dirty="0" smtClean="0"/>
              <a:t>執行檔載入到記憶體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2000" dirty="0" smtClean="0"/>
              <a:t>See the following slide</a:t>
            </a:r>
            <a:r>
              <a:rPr lang="en-US" altLang="zh-TW" sz="2800" dirty="0" smtClean="0"/>
              <a:t>.</a:t>
            </a:r>
          </a:p>
          <a:p>
            <a:r>
              <a:rPr lang="zh-TW" altLang="en-US" sz="2800" dirty="0" smtClean="0"/>
              <a:t>事實上</a:t>
            </a:r>
            <a:r>
              <a:rPr lang="en-US" altLang="zh-TW" sz="2800" dirty="0" smtClean="0"/>
              <a:t>, exec()</a:t>
            </a:r>
            <a:r>
              <a:rPr lang="zh-TW" altLang="en-US" sz="2800" dirty="0" smtClean="0"/>
              <a:t>只是讀取執行檔的檔頭</a:t>
            </a:r>
            <a:r>
              <a:rPr lang="en-US" altLang="zh-TW" sz="2800" dirty="0" smtClean="0"/>
              <a:t>, </a:t>
            </a:r>
            <a:r>
              <a:rPr lang="zh-TW" altLang="en-US" sz="2800" dirty="0" smtClean="0"/>
              <a:t>只有當程式</a:t>
            </a:r>
            <a:r>
              <a:rPr lang="zh-TW" altLang="en-US" sz="2800" dirty="0"/>
              <a:t>之後</a:t>
            </a:r>
            <a:r>
              <a:rPr lang="zh-TW" altLang="en-US" sz="2800" dirty="0" smtClean="0"/>
              <a:t>執行時用到某個</a:t>
            </a:r>
            <a:r>
              <a:rPr lang="en-US" altLang="zh-TW" sz="2800" dirty="0" smtClean="0"/>
              <a:t>page</a:t>
            </a:r>
            <a:r>
              <a:rPr lang="zh-TW" altLang="en-US" sz="2800" dirty="0" smtClean="0"/>
              <a:t>才會將該</a:t>
            </a:r>
            <a:r>
              <a:rPr lang="en-US" altLang="zh-TW" sz="2800" dirty="0" smtClean="0"/>
              <a:t>page</a:t>
            </a:r>
            <a:r>
              <a:rPr lang="zh-TW" altLang="en-US" sz="2800" dirty="0" smtClean="0"/>
              <a:t>載入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6161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 txBox="1">
            <a:spLocks noGrp="1"/>
          </p:cNvSpPr>
          <p:nvPr/>
        </p:nvSpPr>
        <p:spPr bwMode="auto">
          <a:xfrm>
            <a:off x="4151314" y="6453188"/>
            <a:ext cx="3889375" cy="215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NCHU System &amp; Network Lab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The </a:t>
            </a:r>
            <a:r>
              <a:rPr lang="en-US" altLang="zh-TW" dirty="0">
                <a:latin typeface="Courier New" pitchFamily="49" charset="0"/>
              </a:rPr>
              <a:t>exec()</a:t>
            </a:r>
            <a:r>
              <a:rPr lang="en-US" altLang="zh-TW" dirty="0"/>
              <a:t> System Call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5159376" y="2060576"/>
            <a:ext cx="1655763" cy="3959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5159376" y="1557338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/>
              <a:t>Memory</a:t>
            </a:r>
          </a:p>
        </p:txBody>
      </p:sp>
      <p:sp>
        <p:nvSpPr>
          <p:cNvPr id="309254" name="Text Box 6"/>
          <p:cNvSpPr txBox="1">
            <a:spLocks noChangeArrowheads="1"/>
          </p:cNvSpPr>
          <p:nvPr/>
        </p:nvSpPr>
        <p:spPr bwMode="auto">
          <a:xfrm>
            <a:off x="6888163" y="2852738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solidFill>
                  <a:srgbClr val="3333CC"/>
                </a:solidFill>
                <a:latin typeface="Courier New" pitchFamily="49" charset="0"/>
              </a:rPr>
              <a:t>fork()</a:t>
            </a:r>
          </a:p>
        </p:txBody>
      </p:sp>
      <p:grpSp>
        <p:nvGrpSpPr>
          <p:cNvPr id="35847" name="Group 7"/>
          <p:cNvGrpSpPr>
            <a:grpSpLocks/>
          </p:cNvGrpSpPr>
          <p:nvPr/>
        </p:nvGrpSpPr>
        <p:grpSpPr bwMode="auto">
          <a:xfrm>
            <a:off x="5160963" y="2563814"/>
            <a:ext cx="1655762" cy="936625"/>
            <a:chOff x="2064" y="1616"/>
            <a:chExt cx="1043" cy="545"/>
          </a:xfrm>
        </p:grpSpPr>
        <p:sp>
          <p:nvSpPr>
            <p:cNvPr id="35856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7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Original image</a:t>
              </a:r>
            </a:p>
          </p:txBody>
        </p:sp>
      </p:grpSp>
      <p:sp>
        <p:nvSpPr>
          <p:cNvPr id="35848" name="Text Box 10"/>
          <p:cNvSpPr txBox="1">
            <a:spLocks noChangeArrowheads="1"/>
          </p:cNvSpPr>
          <p:nvPr/>
        </p:nvSpPr>
        <p:spPr bwMode="auto">
          <a:xfrm>
            <a:off x="3144839" y="4652963"/>
            <a:ext cx="1584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solidFill>
                  <a:schemeClr val="bg1"/>
                </a:solidFill>
              </a:rPr>
              <a:t>New image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159376" y="2565400"/>
            <a:ext cx="1655763" cy="935038"/>
            <a:chOff x="2290" y="1616"/>
            <a:chExt cx="1043" cy="589"/>
          </a:xfrm>
        </p:grpSpPr>
        <p:sp>
          <p:nvSpPr>
            <p:cNvPr id="35854" name="Rectangle 12"/>
            <p:cNvSpPr>
              <a:spLocks noChangeArrowheads="1"/>
            </p:cNvSpPr>
            <p:nvPr/>
          </p:nvSpPr>
          <p:spPr bwMode="auto"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5" name="Text Box 13"/>
            <p:cNvSpPr txBox="1">
              <a:spLocks noChangeArrowheads="1"/>
            </p:cNvSpPr>
            <p:nvPr/>
          </p:nvSpPr>
          <p:spPr bwMode="auto">
            <a:xfrm>
              <a:off x="2290" y="1616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Copy from original image</a:t>
              </a:r>
            </a:p>
          </p:txBody>
        </p:sp>
      </p:grpSp>
      <p:sp>
        <p:nvSpPr>
          <p:cNvPr id="309262" name="Text Box 14"/>
          <p:cNvSpPr txBox="1">
            <a:spLocks noChangeArrowheads="1"/>
          </p:cNvSpPr>
          <p:nvPr/>
        </p:nvSpPr>
        <p:spPr bwMode="auto">
          <a:xfrm>
            <a:off x="6888163" y="4627563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solidFill>
                  <a:srgbClr val="3333CC"/>
                </a:solidFill>
                <a:latin typeface="Courier New" pitchFamily="49" charset="0"/>
              </a:rPr>
              <a:t>exec()</a:t>
            </a: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5160963" y="4437064"/>
            <a:ext cx="1655762" cy="935037"/>
            <a:chOff x="930" y="3249"/>
            <a:chExt cx="1043" cy="589"/>
          </a:xfrm>
        </p:grpSpPr>
        <p:sp>
          <p:nvSpPr>
            <p:cNvPr id="35852" name="Rectangle 16"/>
            <p:cNvSpPr>
              <a:spLocks noChangeArrowheads="1"/>
            </p:cNvSpPr>
            <p:nvPr/>
          </p:nvSpPr>
          <p:spPr bwMode="auto">
            <a:xfrm>
              <a:off x="930" y="3249"/>
              <a:ext cx="1043" cy="58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3" name="Text Box 17"/>
            <p:cNvSpPr txBox="1">
              <a:spLocks noChangeArrowheads="1"/>
            </p:cNvSpPr>
            <p:nvPr/>
          </p:nvSpPr>
          <p:spPr bwMode="auto">
            <a:xfrm>
              <a:off x="975" y="3261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Load another image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979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14 0.00023 C 0.1691 0.03769 0.2434 0.07537 0.22761 0.12069 C 0.21181 0.16601 0.02708 0.24509 0.00087 0.27283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0" y="1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4" grpId="0"/>
      <p:bldP spid="30926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那</a:t>
            </a:r>
            <a:r>
              <a:rPr lang="en-US" altLang="zh-TW" dirty="0" smtClean="0"/>
              <a:t>fork()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Shown later~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077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 smtClean="0">
                <a:solidFill>
                  <a:schemeClr val="tx1"/>
                </a:solidFill>
              </a:rPr>
              <a:t>Q: </a:t>
            </a:r>
            <a:r>
              <a:rPr lang="en-US" altLang="zh-TW" sz="3200" dirty="0"/>
              <a:t>if physical memory is full, we must select a </a:t>
            </a:r>
            <a:r>
              <a:rPr lang="en-US" altLang="zh-TW" sz="3200" dirty="0">
                <a:solidFill>
                  <a:srgbClr val="0000FF"/>
                </a:solidFill>
              </a:rPr>
              <a:t>victim</a:t>
            </a:r>
            <a:r>
              <a:rPr lang="en-US" altLang="zh-TW" sz="3200" dirty="0"/>
              <a:t> for </a:t>
            </a:r>
            <a:r>
              <a:rPr lang="en-US" altLang="zh-TW" sz="3200" dirty="0">
                <a:solidFill>
                  <a:srgbClr val="FF0000"/>
                </a:solidFill>
              </a:rPr>
              <a:t>page </a:t>
            </a:r>
            <a:r>
              <a:rPr lang="en-US" altLang="zh-TW" sz="3200" dirty="0" smtClean="0">
                <a:solidFill>
                  <a:srgbClr val="FF0000"/>
                </a:solidFill>
              </a:rPr>
              <a:t>out. </a:t>
            </a:r>
            <a:r>
              <a:rPr lang="en-US" altLang="zh-TW" sz="3200" dirty="0" smtClean="0">
                <a:solidFill>
                  <a:schemeClr val="tx1"/>
                </a:solidFill>
              </a:rPr>
              <a:t>Where </a:t>
            </a:r>
            <a:r>
              <a:rPr lang="en-US" altLang="zh-TW" sz="3200" dirty="0">
                <a:solidFill>
                  <a:schemeClr val="tx1"/>
                </a:solidFill>
              </a:rPr>
              <a:t>to put the pages that are </a:t>
            </a:r>
            <a:r>
              <a:rPr lang="en-US" altLang="zh-TW" sz="3200" dirty="0">
                <a:solidFill>
                  <a:srgbClr val="FF0000"/>
                </a:solidFill>
              </a:rPr>
              <a:t>paged out </a:t>
            </a:r>
            <a:r>
              <a:rPr lang="en-US" altLang="zh-TW" sz="32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sz="2800" dirty="0" smtClean="0"/>
          </a:p>
          <a:p>
            <a:r>
              <a:rPr lang="en-US" altLang="zh-TW" sz="2800" dirty="0" err="1" smtClean="0"/>
              <a:t>Ans</a:t>
            </a:r>
            <a:r>
              <a:rPr lang="en-US" altLang="zh-TW" sz="2800" dirty="0" smtClean="0"/>
              <a:t>: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see the following two slides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187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Storage-Device </a:t>
            </a:r>
            <a:r>
              <a:rPr lang="en-US" altLang="zh-TW" dirty="0"/>
              <a:t>Hierarchy</a:t>
            </a:r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3482975" y="1069975"/>
            <a:ext cx="184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1919288" y="1125539"/>
            <a:ext cx="8229600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TW" altLang="zh-TW" sz="3200" i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9462" name="Rectangle 9"/>
          <p:cNvSpPr>
            <a:spLocks noChangeArrowheads="1"/>
          </p:cNvSpPr>
          <p:nvPr/>
        </p:nvSpPr>
        <p:spPr bwMode="auto">
          <a:xfrm>
            <a:off x="1919288" y="981076"/>
            <a:ext cx="8229600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zh-TW" altLang="zh-TW" sz="2400">
              <a:latin typeface="Times New Roman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231900"/>
            <a:ext cx="9649071" cy="504056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382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Page </a:t>
            </a:r>
            <a:r>
              <a:rPr lang="en-US" altLang="zh-TW" sz="3600" dirty="0" smtClean="0"/>
              <a:t>In and Page Out</a:t>
            </a:r>
            <a:endParaRPr lang="en-US" altLang="zh-TW" sz="3600" dirty="0"/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2640014" y="1412777"/>
            <a:ext cx="6696075" cy="44592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4007768" y="1844402"/>
            <a:ext cx="1656184" cy="2592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/>
          <p:nvPr/>
        </p:nvCxnSpPr>
        <p:spPr>
          <a:xfrm>
            <a:off x="1847529" y="2348458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7031708" y="3140546"/>
            <a:ext cx="1800597" cy="1368152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7032104" y="4292674"/>
            <a:ext cx="720080" cy="216024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824057" y="4559921"/>
            <a:ext cx="102374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800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page out</a:t>
            </a:r>
            <a:endParaRPr lang="en-US" altLang="zh-TW" sz="1800" b="1" dirty="0">
              <a:solidFill>
                <a:srgbClr val="FF0000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614217" y="3457883"/>
            <a:ext cx="1689695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solidFill>
                  <a:schemeClr val="accent2"/>
                </a:solidFill>
                <a:latin typeface="Calibri" panose="020F0502020204030204" pitchFamily="34" charset="0"/>
                <a:ea typeface="標楷體" pitchFamily="65" charset="-120"/>
              </a:rPr>
              <a:t>Page not in physical memory</a:t>
            </a: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V="1">
            <a:off x="4611391" y="2708498"/>
            <a:ext cx="1268586" cy="749384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52184" y="4168055"/>
            <a:ext cx="288032" cy="2061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I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48748" y="4362869"/>
            <a:ext cx="787485" cy="27044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I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48421" y="4367364"/>
            <a:ext cx="769089" cy="256149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6244620" y="4365105"/>
            <a:ext cx="787485" cy="27044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B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7320136" y="3419708"/>
            <a:ext cx="87177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800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page in</a:t>
            </a:r>
            <a:endParaRPr lang="en-US" altLang="zh-TW" sz="1800" b="1" dirty="0">
              <a:solidFill>
                <a:srgbClr val="FF0000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027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 animBg="1"/>
      <p:bldP spid="11" grpId="0" animBg="1"/>
      <p:bldP spid="3" grpId="0" animBg="1"/>
      <p:bldP spid="20" grpId="0" animBg="1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Swap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Where to put the pages that are paged out ?</a:t>
            </a:r>
          </a:p>
          <a:p>
            <a:pPr lvl="1"/>
            <a:r>
              <a:rPr lang="en-US" altLang="zh-TW" b="1" dirty="0"/>
              <a:t>Secondary memory</a:t>
            </a:r>
            <a:r>
              <a:rPr lang="en-US" altLang="zh-TW" dirty="0"/>
              <a:t>: hold the pages not in main memory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Specifically, a </a:t>
            </a:r>
            <a:r>
              <a:rPr lang="en-US" altLang="zh-TW" b="1" dirty="0" smtClean="0"/>
              <a:t>partition</a:t>
            </a:r>
            <a:r>
              <a:rPr lang="en-US" altLang="zh-TW" dirty="0" smtClean="0"/>
              <a:t> on the secondary memory</a:t>
            </a:r>
          </a:p>
          <a:p>
            <a:pPr lvl="1"/>
            <a:endParaRPr lang="en-US" altLang="zh-TW" b="1" dirty="0">
              <a:solidFill>
                <a:srgbClr val="3333FF"/>
              </a:solidFill>
            </a:endParaRPr>
          </a:p>
          <a:p>
            <a:pPr lvl="1"/>
            <a:r>
              <a:rPr lang="en-US" altLang="zh-TW" dirty="0"/>
              <a:t>Called </a:t>
            </a:r>
            <a:r>
              <a:rPr lang="en-US" altLang="zh-TW" b="1" dirty="0">
                <a:solidFill>
                  <a:srgbClr val="3333FF"/>
                </a:solidFill>
              </a:rPr>
              <a:t>Swap space </a:t>
            </a:r>
            <a:r>
              <a:rPr lang="en-US" altLang="zh-TW" dirty="0"/>
              <a:t>or </a:t>
            </a:r>
            <a:r>
              <a:rPr lang="en-US" altLang="zh-TW" b="1" dirty="0">
                <a:solidFill>
                  <a:srgbClr val="3333FF"/>
                </a:solidFill>
              </a:rPr>
              <a:t>backing store</a:t>
            </a:r>
          </a:p>
          <a:p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537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Q: if memory is not full, where </a:t>
            </a:r>
            <a:r>
              <a:rPr lang="en-US" altLang="zh-TW" dirty="0">
                <a:solidFill>
                  <a:schemeClr val="tx1"/>
                </a:solidFill>
              </a:rPr>
              <a:t>to put the pages that are </a:t>
            </a:r>
            <a:r>
              <a:rPr lang="en-US" altLang="zh-TW" dirty="0">
                <a:solidFill>
                  <a:srgbClr val="FF0000"/>
                </a:solidFill>
              </a:rPr>
              <a:t>paged </a:t>
            </a:r>
            <a:r>
              <a:rPr lang="en-US" altLang="zh-TW" dirty="0" smtClean="0">
                <a:solidFill>
                  <a:srgbClr val="FF0000"/>
                </a:solidFill>
              </a:rPr>
              <a:t>in </a:t>
            </a:r>
            <a:r>
              <a:rPr lang="en-US" altLang="zh-TW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en-US" altLang="zh-TW" b="1" dirty="0" smtClean="0">
                <a:solidFill>
                  <a:srgbClr val="FF0000"/>
                </a:solidFill>
              </a:rPr>
              <a:t>free-frame </a:t>
            </a:r>
            <a:r>
              <a:rPr lang="en-US" altLang="zh-TW" b="1" dirty="0">
                <a:solidFill>
                  <a:srgbClr val="FF0000"/>
                </a:solidFill>
              </a:rPr>
              <a:t>list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816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複習：</a:t>
            </a:r>
            <a:r>
              <a:rPr lang="en-US" altLang="zh-TW" dirty="0" smtClean="0"/>
              <a:t>Free-Frame List in Chapter 9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22" y="1345705"/>
            <a:ext cx="3371850" cy="490321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892" y="1345705"/>
            <a:ext cx="4162425" cy="4862273"/>
          </a:xfrm>
          <a:prstGeom prst="rect">
            <a:avLst/>
          </a:prstGeom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212295" y="6210598"/>
            <a:ext cx="21605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Calibri" panose="020F0502020204030204" pitchFamily="34" charset="0"/>
              </a:rPr>
              <a:t>Before allocation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831556" y="6207978"/>
            <a:ext cx="16643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Calibri" panose="020F0502020204030204" pitchFamily="34" charset="0"/>
              </a:rPr>
              <a:t>After allocation</a:t>
            </a:r>
          </a:p>
        </p:txBody>
      </p:sp>
      <p:sp>
        <p:nvSpPr>
          <p:cNvPr id="9" name="矩形 8"/>
          <p:cNvSpPr/>
          <p:nvPr/>
        </p:nvSpPr>
        <p:spPr>
          <a:xfrm>
            <a:off x="6679428" y="1340768"/>
            <a:ext cx="3953076" cy="4867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631504" y="1354088"/>
            <a:ext cx="3855519" cy="48948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34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/>
              <a:t>Free-Frame </a:t>
            </a:r>
            <a:r>
              <a:rPr lang="en-US" altLang="zh-TW" sz="3600" dirty="0"/>
              <a:t>List </a:t>
            </a:r>
            <a:r>
              <a:rPr lang="en-US" altLang="zh-TW" sz="3600" dirty="0" smtClean="0"/>
              <a:t>in Chapter 10: </a:t>
            </a:r>
            <a:r>
              <a:rPr lang="zh-TW" altLang="en-US" sz="3600" dirty="0" smtClean="0">
                <a:solidFill>
                  <a:srgbClr val="FF0000"/>
                </a:solidFill>
              </a:rPr>
              <a:t>假設程式存取</a:t>
            </a:r>
            <a:r>
              <a:rPr lang="en-US" altLang="zh-TW" sz="3600" dirty="0" smtClean="0">
                <a:solidFill>
                  <a:srgbClr val="FF0000"/>
                </a:solidFill>
              </a:rPr>
              <a:t>page 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22" y="1345705"/>
            <a:ext cx="3371850" cy="4903217"/>
          </a:xfrm>
          <a:prstGeom prst="rect">
            <a:avLst/>
          </a:prstGeom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212295" y="6210598"/>
            <a:ext cx="21605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Calibri" panose="020F0502020204030204" pitchFamily="34" charset="0"/>
              </a:rPr>
              <a:t>Before allocation</a:t>
            </a:r>
          </a:p>
        </p:txBody>
      </p:sp>
      <p:sp>
        <p:nvSpPr>
          <p:cNvPr id="10" name="矩形 9"/>
          <p:cNvSpPr/>
          <p:nvPr/>
        </p:nvSpPr>
        <p:spPr>
          <a:xfrm>
            <a:off x="1631504" y="1354088"/>
            <a:ext cx="3855519" cy="48948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6426892" y="1340768"/>
            <a:ext cx="4205612" cy="5236542"/>
            <a:chOff x="6426892" y="1340768"/>
            <a:chExt cx="4205612" cy="5236542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6892" y="1345705"/>
              <a:ext cx="4162425" cy="4862273"/>
            </a:xfrm>
            <a:prstGeom prst="rect">
              <a:avLst/>
            </a:prstGeom>
          </p:spPr>
        </p:pic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7831556" y="6207978"/>
              <a:ext cx="166436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TW" sz="1800" b="1" dirty="0">
                  <a:solidFill>
                    <a:srgbClr val="0000FF"/>
                  </a:solidFill>
                  <a:latin typeface="Calibri" panose="020F0502020204030204" pitchFamily="34" charset="0"/>
                </a:rPr>
                <a:t>After allocation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6679428" y="1340768"/>
              <a:ext cx="3953076" cy="48672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31556" y="1596120"/>
              <a:ext cx="352425" cy="838200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40110" y="1549109"/>
              <a:ext cx="762000" cy="485775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30584" y="3962552"/>
              <a:ext cx="762000" cy="485775"/>
            </a:xfrm>
            <a:prstGeom prst="rect">
              <a:avLst/>
            </a:prstGeom>
          </p:spPr>
        </p:pic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40416" y="4916937"/>
              <a:ext cx="762000" cy="485775"/>
            </a:xfrm>
            <a:prstGeom prst="rect">
              <a:avLst/>
            </a:prstGeom>
          </p:spPr>
        </p:pic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66680" y="4855487"/>
              <a:ext cx="217301" cy="177060"/>
            </a:xfrm>
            <a:prstGeom prst="rect">
              <a:avLst/>
            </a:prstGeom>
          </p:spPr>
        </p:pic>
        <p:pic>
          <p:nvPicPr>
            <p:cNvPr id="14" name="圖片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66931" y="5061972"/>
              <a:ext cx="217301" cy="177060"/>
            </a:xfrm>
            <a:prstGeom prst="rect">
              <a:avLst/>
            </a:prstGeom>
          </p:spPr>
        </p:pic>
        <p:pic>
          <p:nvPicPr>
            <p:cNvPr id="15" name="圖片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40863" y="5269143"/>
              <a:ext cx="239031" cy="1947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230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在</a:t>
            </a:r>
            <a:r>
              <a:rPr lang="en-US" altLang="zh-TW" dirty="0" smtClean="0"/>
              <a:t>demand paging, </a:t>
            </a:r>
            <a:r>
              <a:rPr lang="zh-TW" altLang="en-US" dirty="0" smtClean="0"/>
              <a:t>何時會使用</a:t>
            </a:r>
            <a:r>
              <a:rPr lang="en-US" altLang="zh-TW" dirty="0" smtClean="0"/>
              <a:t>free-frame list?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2400" dirty="0" err="1"/>
              <a:t>Ans</a:t>
            </a:r>
            <a:r>
              <a:rPr lang="en-US" altLang="zh-TW" sz="2400" dirty="0"/>
              <a:t>:</a:t>
            </a:r>
          </a:p>
          <a:p>
            <a:pPr lvl="1" eaLnBrk="1" hangingPunct="1"/>
            <a:r>
              <a:rPr lang="en-US" altLang="zh-TW" sz="2400" dirty="0"/>
              <a:t>Upon the accessed page is not in memory,</a:t>
            </a:r>
            <a:r>
              <a:rPr lang="zh-TW" altLang="en-US" sz="2400" dirty="0"/>
              <a:t> </a:t>
            </a:r>
            <a:r>
              <a:rPr lang="en-US" altLang="zh-TW" sz="2400" dirty="0"/>
              <a:t>called a </a:t>
            </a:r>
            <a:r>
              <a:rPr lang="en-US" altLang="zh-TW" sz="2400" b="1" dirty="0">
                <a:solidFill>
                  <a:srgbClr val="FF0000"/>
                </a:solidFill>
              </a:rPr>
              <a:t>page faults</a:t>
            </a:r>
            <a:r>
              <a:rPr lang="en-US" altLang="zh-TW" sz="2400" dirty="0"/>
              <a:t> </a:t>
            </a:r>
          </a:p>
          <a:p>
            <a:pPr lvl="1" eaLnBrk="1" hangingPunct="1"/>
            <a:r>
              <a:rPr lang="en-US" altLang="zh-TW" sz="2400" dirty="0"/>
              <a:t>Upon stack or heap expand (see the following </a:t>
            </a:r>
            <a:r>
              <a:rPr lang="en-US" altLang="zh-TW" sz="2400" dirty="0" smtClean="0"/>
              <a:t>slide</a:t>
            </a:r>
            <a:r>
              <a:rPr lang="en-US" altLang="zh-TW" sz="2400" dirty="0"/>
              <a:t>)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7344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Calibri" panose="020F0502020204030204" pitchFamily="34" charset="0"/>
              </a:rPr>
              <a:t>複習：</a:t>
            </a:r>
            <a:r>
              <a:rPr lang="en-US" altLang="zh-TW" dirty="0" smtClean="0">
                <a:latin typeface="Calibri" panose="020F0502020204030204" pitchFamily="34" charset="0"/>
              </a:rPr>
              <a:t>Process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 l="27092" t="1192" r="27121" b="1192"/>
          <a:stretch>
            <a:fillRect/>
          </a:stretch>
        </p:blipFill>
        <p:spPr bwMode="auto">
          <a:xfrm>
            <a:off x="3220618" y="1556221"/>
            <a:ext cx="3889375" cy="45370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8" name="左大括弧 7"/>
          <p:cNvSpPr/>
          <p:nvPr/>
        </p:nvSpPr>
        <p:spPr>
          <a:xfrm flipH="1">
            <a:off x="7109993" y="1556220"/>
            <a:ext cx="1008112" cy="4537075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121871" y="3644007"/>
            <a:ext cx="1862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alibri" panose="020F0502020204030204" pitchFamily="34" charset="0"/>
              </a:rPr>
              <a:t>Virtual memory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38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Address Space of a Process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 smtClean="0">
                <a:solidFill>
                  <a:srgbClr val="FF0000"/>
                </a:solidFill>
              </a:rPr>
              <a:t>Sparse (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空閒的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) </a:t>
            </a:r>
            <a:r>
              <a:rPr lang="en-US" altLang="zh-TW" sz="2800" b="1" dirty="0">
                <a:solidFill>
                  <a:srgbClr val="FF0000"/>
                </a:solidFill>
              </a:rPr>
              <a:t>address spaces: </a:t>
            </a:r>
          </a:p>
          <a:p>
            <a:pPr lvl="1"/>
            <a:r>
              <a:rPr lang="en-US" altLang="zh-TW" sz="2400" dirty="0"/>
              <a:t>Virtual address spaces that include </a:t>
            </a:r>
            <a:r>
              <a:rPr lang="en-US" altLang="zh-TW" sz="2400" b="1" dirty="0" smtClean="0"/>
              <a:t>holes</a:t>
            </a:r>
          </a:p>
          <a:p>
            <a:pPr lvl="1"/>
            <a:r>
              <a:rPr lang="en-US" altLang="zh-TW" sz="2400" dirty="0" smtClean="0"/>
              <a:t>See the following slide</a:t>
            </a:r>
            <a:endParaRPr lang="en-US" altLang="zh-TW" sz="2400" dirty="0"/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The </a:t>
            </a:r>
            <a:r>
              <a:rPr lang="en-US" altLang="zh-TW" sz="2800" dirty="0"/>
              <a:t>hole between heap and stack is </a:t>
            </a:r>
            <a:r>
              <a:rPr lang="en-US" altLang="zh-TW" sz="2800" dirty="0" smtClean="0"/>
              <a:t>also part </a:t>
            </a:r>
            <a:r>
              <a:rPr lang="en-US" altLang="zh-TW" sz="2800" dirty="0"/>
              <a:t>of the </a:t>
            </a:r>
            <a:r>
              <a:rPr lang="en-US" altLang="zh-TW" sz="2800" b="1" dirty="0"/>
              <a:t>virtual address space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No </a:t>
            </a:r>
            <a:r>
              <a:rPr lang="en-US" altLang="zh-TW" sz="2800" dirty="0"/>
              <a:t>physical memory needed until </a:t>
            </a:r>
            <a:r>
              <a:rPr lang="en-US" altLang="zh-TW" sz="2800" dirty="0" smtClean="0"/>
              <a:t>heap </a:t>
            </a:r>
            <a:r>
              <a:rPr lang="en-US" altLang="zh-TW" sz="2800" dirty="0"/>
              <a:t>or stack </a:t>
            </a:r>
            <a:r>
              <a:rPr lang="en-US" altLang="zh-TW" sz="2800" dirty="0" smtClean="0"/>
              <a:t>grows</a:t>
            </a:r>
          </a:p>
          <a:p>
            <a:pPr lvl="1"/>
            <a:r>
              <a:rPr lang="en-US" altLang="zh-TW" sz="2400" dirty="0" smtClean="0"/>
              <a:t>See the following next slide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68630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Calibri" panose="020F0502020204030204" pitchFamily="34" charset="0"/>
              </a:rPr>
              <a:t>複習：</a:t>
            </a:r>
            <a:r>
              <a:rPr lang="en-US" altLang="zh-TW" dirty="0" smtClean="0">
                <a:latin typeface="Calibri" panose="020F0502020204030204" pitchFamily="34" charset="0"/>
              </a:rPr>
              <a:t>Process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 l="27092" t="1192" r="27121" b="1192"/>
          <a:stretch>
            <a:fillRect/>
          </a:stretch>
        </p:blipFill>
        <p:spPr bwMode="auto">
          <a:xfrm>
            <a:off x="3220618" y="1556221"/>
            <a:ext cx="3889375" cy="45370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8" name="左大括弧 7"/>
          <p:cNvSpPr/>
          <p:nvPr/>
        </p:nvSpPr>
        <p:spPr>
          <a:xfrm flipH="1">
            <a:off x="7109993" y="1556220"/>
            <a:ext cx="1008112" cy="4537075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121871" y="3644007"/>
            <a:ext cx="1862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alibri" panose="020F0502020204030204" pitchFamily="34" charset="0"/>
              </a:rPr>
              <a:t>Virtual memory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5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911888" y="1268760"/>
            <a:ext cx="3080388" cy="5589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1755" y="115888"/>
            <a:ext cx="8726733" cy="1143000"/>
          </a:xfrm>
          <a:noFill/>
        </p:spPr>
        <p:txBody>
          <a:bodyPr/>
          <a:lstStyle/>
          <a:p>
            <a:r>
              <a:rPr lang="zh-TW" altLang="en-US" dirty="0" smtClean="0">
                <a:effectLst/>
              </a:rPr>
              <a:t>複習</a:t>
            </a:r>
            <a:r>
              <a:rPr lang="en-US" altLang="zh-TW" dirty="0" smtClean="0">
                <a:effectLst/>
              </a:rPr>
              <a:t>:</a:t>
            </a:r>
            <a:r>
              <a:rPr lang="zh-TW" altLang="en-US" dirty="0" smtClean="0">
                <a:effectLst/>
              </a:rPr>
              <a:t> </a:t>
            </a:r>
            <a:r>
              <a:rPr lang="en-US" altLang="zh-TW" dirty="0" smtClean="0"/>
              <a:t>Stack</a:t>
            </a:r>
            <a:endParaRPr lang="zh-TW" altLang="en-US" dirty="0">
              <a:effectLst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898224" y="1515462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5951984" y="1268760"/>
            <a:ext cx="302433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a = a + 1;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function_1(…);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exit(1);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</a:p>
          <a:p>
            <a:endParaRPr lang="en-US" altLang="zh-TW" sz="1800" dirty="0">
              <a:solidFill>
                <a:srgbClr val="000000"/>
              </a:solidFill>
              <a:latin typeface="Calibri" pitchFamily="34" charset="0"/>
            </a:endParaRP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function_1()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b = b - 1;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function_2(…);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return;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function_2()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 …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 return;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itchFamily="34" charset="0"/>
            </a:endParaRPr>
          </a:p>
          <a:p>
            <a:endParaRPr lang="zh-TW" altLang="en-US" sz="180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5171009" y="148413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5171009" y="255355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5171009" y="284547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H="1">
            <a:off x="9161672" y="387906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H="1">
            <a:off x="9192344" y="443711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231904" y="555533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2423243" y="1972468"/>
            <a:ext cx="1737537" cy="73866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arugment</a:t>
            </a:r>
            <a:endParaRPr lang="en-US" altLang="zh-TW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local variables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2423244" y="2650672"/>
            <a:ext cx="1737537" cy="73866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argument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local variables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2423243" y="3389336"/>
            <a:ext cx="1737537" cy="73866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argument</a:t>
            </a:r>
            <a:endParaRPr lang="zh-TW" altLang="en-US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local variables</a:t>
            </a:r>
          </a:p>
        </p:txBody>
      </p:sp>
      <p:cxnSp>
        <p:nvCxnSpPr>
          <p:cNvPr id="39" name="直線單箭頭接點 38"/>
          <p:cNvCxnSpPr/>
          <p:nvPr/>
        </p:nvCxnSpPr>
        <p:spPr>
          <a:xfrm>
            <a:off x="1753570" y="260888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1718881" y="2073706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>
            <a:off x="1761754" y="319572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1718881" y="2655793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48" name="直線單箭頭接點 47"/>
          <p:cNvCxnSpPr/>
          <p:nvPr/>
        </p:nvCxnSpPr>
        <p:spPr>
          <a:xfrm>
            <a:off x="1761754" y="373961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1718881" y="3265820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50" name="直線單箭頭接點 49"/>
          <p:cNvCxnSpPr/>
          <p:nvPr/>
        </p:nvCxnSpPr>
        <p:spPr>
          <a:xfrm>
            <a:off x="5231904" y="638132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9192344" y="501317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5231904" y="616530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5159896" y="314630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90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68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9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0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7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147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48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9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53" dur="indefinite"/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78" dur="indefinite"/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7" grpId="0" animBg="1"/>
      <p:bldP spid="37" grpId="1" animBg="1"/>
      <p:bldP spid="38" grpId="0" animBg="1"/>
      <p:bldP spid="38" grpId="1" animBg="1"/>
      <p:bldP spid="40" grpId="0"/>
      <p:bldP spid="46" grpId="0"/>
      <p:bldP spid="46" grpId="1"/>
      <p:bldP spid="46" grpId="2"/>
      <p:bldP spid="46" grpId="3"/>
      <p:bldP spid="49" grpId="0"/>
      <p:bldP spid="49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Free-frame lists are </a:t>
            </a:r>
            <a:r>
              <a:rPr lang="en-US" altLang="zh-TW" dirty="0">
                <a:solidFill>
                  <a:srgbClr val="FF0000"/>
                </a:solidFill>
              </a:rPr>
              <a:t>zero-fill-on-demand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 smtClean="0"/>
              <a:t>(Zero-out </a:t>
            </a:r>
            <a:r>
              <a:rPr lang="en-US" altLang="zh-TW" dirty="0"/>
              <a:t>before being </a:t>
            </a:r>
            <a:r>
              <a:rPr lang="en-US" altLang="zh-TW" dirty="0" smtClean="0"/>
              <a:t>allocated). Why?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197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>
                <a:solidFill>
                  <a:schemeClr val="tx1"/>
                </a:solidFill>
              </a:rPr>
              <a:t>Q: </a:t>
            </a:r>
            <a:r>
              <a:rPr lang="zh-TW" altLang="en-US" sz="4000" dirty="0" smtClean="0">
                <a:solidFill>
                  <a:schemeClr val="tx1"/>
                </a:solidFill>
              </a:rPr>
              <a:t>當程式執行時</a:t>
            </a:r>
            <a:r>
              <a:rPr lang="en-US" altLang="zh-TW" sz="4000" dirty="0" smtClean="0">
                <a:solidFill>
                  <a:schemeClr val="tx1"/>
                </a:solidFill>
              </a:rPr>
              <a:t>, </a:t>
            </a:r>
            <a:r>
              <a:rPr lang="zh-TW" altLang="en-US" sz="4000" dirty="0" smtClean="0">
                <a:solidFill>
                  <a:schemeClr val="tx1"/>
                </a:solidFill>
              </a:rPr>
              <a:t>我們必須知道存取的</a:t>
            </a:r>
            <a:r>
              <a:rPr lang="en-US" altLang="zh-TW" sz="4000" dirty="0" smtClean="0">
                <a:solidFill>
                  <a:schemeClr val="tx1"/>
                </a:solidFill>
              </a:rPr>
              <a:t>page</a:t>
            </a:r>
            <a:r>
              <a:rPr lang="zh-TW" altLang="en-US" sz="4000" dirty="0" smtClean="0">
                <a:solidFill>
                  <a:schemeClr val="tx1"/>
                </a:solidFill>
              </a:rPr>
              <a:t>是否有在記憶體當中</a:t>
            </a:r>
            <a:r>
              <a:rPr lang="en-US" altLang="zh-TW" sz="4000" dirty="0" smtClean="0">
                <a:solidFill>
                  <a:schemeClr val="tx1"/>
                </a:solidFill>
              </a:rPr>
              <a:t>. </a:t>
            </a:r>
            <a:r>
              <a:rPr lang="zh-TW" altLang="en-US" sz="4000" dirty="0" smtClean="0">
                <a:solidFill>
                  <a:schemeClr val="tx1"/>
                </a:solidFill>
              </a:rPr>
              <a:t>誰</a:t>
            </a:r>
            <a:r>
              <a:rPr lang="zh-TW" altLang="en-US" sz="4000" dirty="0">
                <a:solidFill>
                  <a:schemeClr val="tx1"/>
                </a:solidFill>
              </a:rPr>
              <a:t>負責偵測這件</a:t>
            </a:r>
            <a:r>
              <a:rPr lang="zh-TW" altLang="en-US" sz="4000" dirty="0" smtClean="0">
                <a:solidFill>
                  <a:schemeClr val="tx1"/>
                </a:solidFill>
              </a:rPr>
              <a:t>事情</a:t>
            </a:r>
            <a:r>
              <a:rPr lang="en-US" altLang="zh-TW" sz="4000" dirty="0" smtClean="0">
                <a:solidFill>
                  <a:schemeClr val="tx1"/>
                </a:solidFill>
              </a:rPr>
              <a:t>? 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hardware or OS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671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600" dirty="0" smtClean="0"/>
              <a:t>複習：</a:t>
            </a:r>
            <a:r>
              <a:rPr lang="en-US" altLang="zh-TW" sz="3600" dirty="0" smtClean="0"/>
              <a:t>Demand </a:t>
            </a:r>
            <a:r>
              <a:rPr lang="en-US" altLang="zh-TW" sz="3600" dirty="0"/>
              <a:t>Paging: Physical Memory is Not Full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2640014" y="1773239"/>
            <a:ext cx="6696075" cy="44592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4007768" y="2204864"/>
            <a:ext cx="1656184" cy="2592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5" name="直線單箭頭接點 4"/>
          <p:cNvCxnSpPr/>
          <p:nvPr/>
        </p:nvCxnSpPr>
        <p:spPr>
          <a:xfrm>
            <a:off x="1847529" y="2708920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7031708" y="3501008"/>
            <a:ext cx="1800597" cy="1368152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973677" y="5157192"/>
            <a:ext cx="84209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page in </a:t>
            </a: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 flipH="1" flipV="1">
            <a:off x="7791450" y="4301082"/>
            <a:ext cx="176758" cy="928118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614217" y="3818345"/>
            <a:ext cx="204961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Page not in physical </a:t>
            </a:r>
            <a:r>
              <a:rPr kumimoji="1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memory</a:t>
            </a:r>
            <a:r>
              <a:rPr kumimoji="1" lang="zh-TW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＝</a:t>
            </a:r>
            <a:r>
              <a:rPr kumimoji="1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&gt;</a:t>
            </a:r>
            <a:r>
              <a:rPr kumimoji="1" lang="zh-TW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如何知道</a:t>
            </a:r>
            <a:r>
              <a:rPr kumimoji="1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?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anose="020F0502020204030204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V="1">
            <a:off x="4439817" y="2780927"/>
            <a:ext cx="1440159" cy="1037417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44620" y="4994127"/>
            <a:ext cx="787485" cy="27044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28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/>
      <p:bldP spid="17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Hardware Support for </a:t>
            </a:r>
            <a:r>
              <a:rPr lang="en-US" altLang="zh-TW" dirty="0"/>
              <a:t>Demand Paging</a:t>
            </a:r>
            <a:endParaRPr lang="en-US" altLang="zh-TW" sz="4000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24416" y="1484313"/>
            <a:ext cx="11088207" cy="45259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Upon execution, how do we know if a page is in memory or not?</a:t>
            </a:r>
          </a:p>
          <a:p>
            <a:pPr lvl="1" eaLnBrk="1" hangingPunct="1"/>
            <a:r>
              <a:rPr lang="en-US" altLang="zh-TW" dirty="0" smtClean="0"/>
              <a:t>Need </a:t>
            </a:r>
            <a:r>
              <a:rPr lang="en-US" altLang="zh-TW" b="1" dirty="0" smtClean="0"/>
              <a:t>hardware</a:t>
            </a:r>
            <a:r>
              <a:rPr lang="en-US" altLang="zh-TW" dirty="0" smtClean="0"/>
              <a:t> support. </a:t>
            </a:r>
          </a:p>
          <a:p>
            <a:pPr eaLnBrk="1" hangingPunct="1"/>
            <a:endParaRPr lang="en-US" altLang="zh-TW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Q: Why not software?</a:t>
            </a:r>
          </a:p>
        </p:txBody>
      </p:sp>
    </p:spTree>
    <p:extLst>
      <p:ext uri="{BB962C8B-B14F-4D97-AF65-F5344CB8AC3E}">
        <p14:creationId xmlns:p14="http://schemas.microsoft.com/office/powerpoint/2010/main" val="182770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sz="4000" dirty="0" smtClean="0">
                <a:effectLst/>
              </a:rPr>
              <a:t>複習</a:t>
            </a:r>
            <a:r>
              <a:rPr lang="en-US" altLang="zh-TW" sz="4000" dirty="0" smtClean="0">
                <a:effectLst/>
              </a:rPr>
              <a:t>:</a:t>
            </a:r>
            <a:r>
              <a:rPr lang="zh-TW" altLang="en-US" sz="4000" dirty="0" smtClean="0">
                <a:effectLst/>
              </a:rPr>
              <a:t> </a:t>
            </a:r>
            <a:r>
              <a:rPr lang="en-US" altLang="zh-TW" sz="4000" dirty="0" smtClean="0">
                <a:effectLst/>
              </a:rPr>
              <a:t>OS</a:t>
            </a:r>
            <a:r>
              <a:rPr lang="zh-TW" altLang="en-US" sz="4000" dirty="0" smtClean="0">
                <a:effectLst/>
              </a:rPr>
              <a:t>不知道發生</a:t>
            </a:r>
            <a:r>
              <a:rPr lang="zh-TW" altLang="en-US" sz="4000" dirty="0">
                <a:effectLst/>
              </a:rPr>
              <a:t>記憶體</a:t>
            </a:r>
            <a:r>
              <a:rPr lang="zh-TW" altLang="en-US" sz="4000" dirty="0" smtClean="0">
                <a:effectLst/>
              </a:rPr>
              <a:t>存取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10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5" y="2978230"/>
          <a:ext cx="13890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B2569-5B8B-470D-A3E2-C3981CD983F2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8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>
                <a:solidFill>
                  <a:schemeClr val="tx1"/>
                </a:solidFill>
              </a:rPr>
              <a:t>Q: </a:t>
            </a:r>
            <a:r>
              <a:rPr lang="zh-TW" altLang="en-US" sz="4000" dirty="0" smtClean="0">
                <a:solidFill>
                  <a:schemeClr val="tx1"/>
                </a:solidFill>
              </a:rPr>
              <a:t>當程式執行時</a:t>
            </a:r>
            <a:r>
              <a:rPr lang="en-US" altLang="zh-TW" sz="4000" dirty="0" smtClean="0">
                <a:solidFill>
                  <a:schemeClr val="tx1"/>
                </a:solidFill>
              </a:rPr>
              <a:t>, </a:t>
            </a:r>
            <a:r>
              <a:rPr lang="zh-TW" altLang="en-US" sz="4000" dirty="0" smtClean="0">
                <a:solidFill>
                  <a:schemeClr val="tx1"/>
                </a:solidFill>
              </a:rPr>
              <a:t>我們必須知道存取的</a:t>
            </a:r>
            <a:r>
              <a:rPr lang="en-US" altLang="zh-TW" sz="4000" dirty="0" smtClean="0">
                <a:solidFill>
                  <a:schemeClr val="tx1"/>
                </a:solidFill>
              </a:rPr>
              <a:t>page</a:t>
            </a:r>
            <a:r>
              <a:rPr lang="zh-TW" altLang="en-US" sz="4000" dirty="0" smtClean="0">
                <a:solidFill>
                  <a:schemeClr val="tx1"/>
                </a:solidFill>
              </a:rPr>
              <a:t>是否有在記憶體當中</a:t>
            </a:r>
            <a:r>
              <a:rPr lang="en-US" altLang="zh-TW" sz="4000" dirty="0" smtClean="0">
                <a:solidFill>
                  <a:schemeClr val="tx1"/>
                </a:solidFill>
              </a:rPr>
              <a:t>. </a:t>
            </a:r>
            <a:r>
              <a:rPr lang="zh-TW" altLang="en-US" sz="4000" dirty="0" smtClean="0">
                <a:solidFill>
                  <a:srgbClr val="FF0000"/>
                </a:solidFill>
              </a:rPr>
              <a:t>如何偵測</a:t>
            </a:r>
            <a:r>
              <a:rPr lang="en-US" altLang="zh-TW" sz="4000" dirty="0" smtClean="0">
                <a:solidFill>
                  <a:srgbClr val="FF0000"/>
                </a:solidFill>
              </a:rPr>
              <a:t>? </a:t>
            </a:r>
            <a:endParaRPr lang="zh-TW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31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Hardware Support for </a:t>
            </a:r>
            <a:r>
              <a:rPr lang="en-US" altLang="zh-TW" dirty="0"/>
              <a:t>Demand Paging</a:t>
            </a:r>
            <a:endParaRPr lang="en-US" altLang="zh-TW" sz="4000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24416" y="1484313"/>
            <a:ext cx="11088207" cy="45259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Q: how do we know if a page is in memory or not?</a:t>
            </a:r>
          </a:p>
          <a:p>
            <a:pPr eaLnBrk="1" hangingPunct="1"/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en-US" altLang="zh-TW" b="1" dirty="0" smtClean="0">
                <a:solidFill>
                  <a:srgbClr val="3333FF"/>
                </a:solidFill>
              </a:rPr>
              <a:t>valid-Invalid bit in the page table</a:t>
            </a:r>
          </a:p>
          <a:p>
            <a:pPr lvl="1" eaLnBrk="1" hangingPunct="1"/>
            <a:r>
              <a:rPr lang="en-US" altLang="zh-TW" dirty="0" smtClean="0"/>
              <a:t>We saw it in Chapter 9</a:t>
            </a:r>
          </a:p>
          <a:p>
            <a:pPr lvl="1" eaLnBrk="1" hangingPunct="1"/>
            <a:r>
              <a:rPr lang="en-US" altLang="zh-TW" dirty="0" smtClean="0">
                <a:sym typeface="Symbol" pitchFamily="18" charset="2"/>
              </a:rPr>
              <a:t>Now, valid-invalid bit is </a:t>
            </a:r>
            <a:r>
              <a:rPr lang="en-US" altLang="zh-TW" b="1" dirty="0" smtClean="0">
                <a:sym typeface="Symbol" pitchFamily="18" charset="2"/>
              </a:rPr>
              <a:t>re-defined</a:t>
            </a:r>
            <a:r>
              <a:rPr lang="en-US" altLang="zh-TW" dirty="0" smtClean="0">
                <a:sym typeface="Symbol" pitchFamily="18" charset="2"/>
              </a:rPr>
              <a:t> for </a:t>
            </a:r>
            <a:r>
              <a:rPr lang="en-US" altLang="zh-TW" b="1" dirty="0" smtClean="0">
                <a:solidFill>
                  <a:srgbClr val="FF0000"/>
                </a:solidFill>
                <a:sym typeface="Symbol" pitchFamily="18" charset="2"/>
              </a:rPr>
              <a:t>virtual memory management</a:t>
            </a:r>
          </a:p>
          <a:p>
            <a:pPr lvl="1" eaLnBrk="1" hangingPunct="1"/>
            <a:r>
              <a:rPr lang="en-US" altLang="zh-TW" dirty="0" smtClean="0"/>
              <a:t>With each page table entry, a valid–invalid bit is associated</a:t>
            </a:r>
            <a:endParaRPr lang="en-US" altLang="zh-TW" dirty="0" smtClean="0">
              <a:solidFill>
                <a:schemeClr val="hlink"/>
              </a:solidFill>
            </a:endParaRPr>
          </a:p>
          <a:p>
            <a:pPr lvl="2" eaLnBrk="1" hangingPunct="1"/>
            <a:r>
              <a:rPr lang="en-US" altLang="zh-TW" sz="2600" dirty="0" smtClean="0"/>
              <a:t>1</a:t>
            </a:r>
            <a:r>
              <a:rPr lang="en-US" altLang="zh-TW" sz="2600" dirty="0">
                <a:sym typeface="Wingdings" pitchFamily="2" charset="2"/>
              </a:rPr>
              <a:t></a:t>
            </a:r>
            <a:r>
              <a:rPr lang="en-US" altLang="zh-TW" sz="2600" dirty="0">
                <a:sym typeface="Symbol" pitchFamily="18" charset="2"/>
              </a:rPr>
              <a:t> legal and in-memory; </a:t>
            </a:r>
          </a:p>
          <a:p>
            <a:pPr lvl="2" eaLnBrk="1" hangingPunct="1"/>
            <a:r>
              <a:rPr lang="en-US" altLang="zh-TW" sz="2600" dirty="0">
                <a:sym typeface="Symbol" pitchFamily="18" charset="2"/>
              </a:rPr>
              <a:t>0</a:t>
            </a:r>
            <a:r>
              <a:rPr lang="en-US" altLang="zh-TW" sz="2600" dirty="0"/>
              <a:t> </a:t>
            </a:r>
            <a:r>
              <a:rPr lang="en-US" altLang="zh-TW" sz="2600" dirty="0">
                <a:sym typeface="Wingdings" pitchFamily="2" charset="2"/>
              </a:rPr>
              <a:t></a:t>
            </a:r>
            <a:r>
              <a:rPr lang="en-US" altLang="zh-TW" sz="2600" b="1" dirty="0">
                <a:solidFill>
                  <a:srgbClr val="FF0000"/>
                </a:solidFill>
                <a:sym typeface="Symbol" pitchFamily="18" charset="2"/>
              </a:rPr>
              <a:t>not-in-memory</a:t>
            </a:r>
            <a:r>
              <a:rPr lang="en-US" altLang="zh-TW" sz="2600" dirty="0">
                <a:sym typeface="Symbol" pitchFamily="18" charset="2"/>
              </a:rPr>
              <a:t> or </a:t>
            </a:r>
            <a:r>
              <a:rPr lang="en-US" altLang="zh-TW" sz="2600" b="1" dirty="0" smtClean="0">
                <a:solidFill>
                  <a:srgbClr val="3333FF"/>
                </a:solidFill>
                <a:sym typeface="Symbol" pitchFamily="18" charset="2"/>
              </a:rPr>
              <a:t>illegal</a:t>
            </a:r>
            <a:endParaRPr lang="en-US" altLang="zh-TW" sz="2600" b="1" dirty="0">
              <a:solidFill>
                <a:srgbClr val="3333FF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85392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200" dirty="0"/>
              <a:t>複習： </a:t>
            </a:r>
            <a:r>
              <a:rPr lang="en-US" altLang="zh-TW" sz="3200" dirty="0" smtClean="0">
                <a:solidFill>
                  <a:srgbClr val="000000"/>
                </a:solidFill>
              </a:rPr>
              <a:t>Valid </a:t>
            </a:r>
            <a:r>
              <a:rPr lang="en-US" altLang="zh-TW" sz="3200" dirty="0">
                <a:solidFill>
                  <a:srgbClr val="000000"/>
                </a:solidFill>
              </a:rPr>
              <a:t>(v) or Invalid (</a:t>
            </a:r>
            <a:r>
              <a:rPr lang="en-US" altLang="zh-TW" sz="3200" dirty="0" err="1">
                <a:solidFill>
                  <a:srgbClr val="000000"/>
                </a:solidFill>
              </a:rPr>
              <a:t>i</a:t>
            </a:r>
            <a:r>
              <a:rPr lang="en-US" altLang="zh-TW" sz="3200" dirty="0">
                <a:solidFill>
                  <a:srgbClr val="000000"/>
                </a:solidFill>
              </a:rPr>
              <a:t>) Bit in a Page Table for Memory Protection</a:t>
            </a:r>
            <a:endParaRPr lang="en-US" altLang="zh-TW" dirty="0" smtClean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2207568" y="2267744"/>
            <a:ext cx="6985248" cy="4248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文字方塊 1"/>
          <p:cNvSpPr txBox="1"/>
          <p:nvPr/>
        </p:nvSpPr>
        <p:spPr>
          <a:xfrm>
            <a:off x="624417" y="1322766"/>
            <a:ext cx="108721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If virtual address space = 8 pages, each page table entry associate with valid/invalid bit.</a:t>
            </a:r>
            <a:endParaRPr kumimoji="1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51984" y="2971450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53740" y="3223137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51984" y="3455186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40068" y="3706873"/>
            <a:ext cx="262154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41" y="2366934"/>
            <a:ext cx="2505061" cy="514350"/>
          </a:xfrm>
          <a:prstGeom prst="rect">
            <a:avLst/>
          </a:prstGeom>
          <a:noFill/>
        </p:spPr>
      </p:pic>
      <p:sp>
        <p:nvSpPr>
          <p:cNvPr id="12" name="圓角矩形 11"/>
          <p:cNvSpPr/>
          <p:nvPr/>
        </p:nvSpPr>
        <p:spPr>
          <a:xfrm>
            <a:off x="5033901" y="2881284"/>
            <a:ext cx="1584176" cy="167266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5231904" y="2924944"/>
          <a:ext cx="1008112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337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1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4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2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3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3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7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4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latin typeface="Calibri" panose="020F0502020204030204" pitchFamily="34" charset="0"/>
                        </a:rPr>
                        <a:t>i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latin typeface="Calibri" panose="020F0502020204030204" pitchFamily="34" charset="0"/>
                        </a:rPr>
                        <a:t>i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6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latin typeface="Calibri" panose="020F0502020204030204" pitchFamily="34" charset="0"/>
                        </a:rPr>
                        <a:t>i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7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latin typeface="Calibri" panose="020F0502020204030204" pitchFamily="34" charset="0"/>
                        </a:rPr>
                        <a:t>i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02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Page Table When Some Pages Are Not in Main Memory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1343472" y="1484784"/>
            <a:ext cx="9289032" cy="489175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871864" y="2899683"/>
            <a:ext cx="864096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 smtClean="0">
                <a:solidFill>
                  <a:schemeClr val="accent2"/>
                </a:solidFill>
                <a:latin typeface="Calibri" panose="020F0502020204030204" pitchFamily="34" charset="0"/>
                <a:ea typeface="標楷體" pitchFamily="65" charset="-120"/>
              </a:rPr>
              <a:t>In-valid</a:t>
            </a:r>
            <a:endParaRPr lang="en-US" altLang="zh-TW" sz="1600" b="1" dirty="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12024" y="4725144"/>
            <a:ext cx="1152128" cy="2880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631504" y="5395863"/>
            <a:ext cx="284552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Valid 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: </a:t>
            </a:r>
            <a:r>
              <a:rPr kumimoji="1" lang="en-US" altLang="zh-TW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addr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 translation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Invalid: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trap</a:t>
            </a:r>
          </a:p>
        </p:txBody>
      </p:sp>
    </p:spTree>
    <p:extLst>
      <p:ext uri="{BB962C8B-B14F-4D97-AF65-F5344CB8AC3E}">
        <p14:creationId xmlns:p14="http://schemas.microsoft.com/office/powerpoint/2010/main" val="307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當</a:t>
            </a:r>
            <a:r>
              <a:rPr lang="en-US" altLang="zh-TW" dirty="0" smtClean="0"/>
              <a:t>invalid</a:t>
            </a:r>
            <a:r>
              <a:rPr lang="zh-TW" altLang="en-US" dirty="0" smtClean="0"/>
              <a:t>時</a:t>
            </a:r>
            <a:r>
              <a:rPr lang="en-US" altLang="zh-TW" dirty="0" smtClean="0"/>
              <a:t>, CPU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跳到</a:t>
            </a:r>
            <a:r>
              <a:rPr lang="en-US" altLang="zh-TW" dirty="0" smtClean="0"/>
              <a:t>OS, </a:t>
            </a:r>
            <a:r>
              <a:rPr lang="zh-TW" altLang="en-US" dirty="0" smtClean="0"/>
              <a:t>請</a:t>
            </a:r>
            <a:r>
              <a:rPr lang="en-US" altLang="zh-TW" dirty="0" smtClean="0"/>
              <a:t>OS</a:t>
            </a:r>
            <a:r>
              <a:rPr lang="zh-TW" altLang="en-US" dirty="0" smtClean="0"/>
              <a:t>處理</a:t>
            </a:r>
            <a:r>
              <a:rPr lang="en-US" altLang="zh-TW" dirty="0" smtClean="0"/>
              <a:t>page fault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514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Event-Driven </a:t>
            </a:r>
            <a:r>
              <a:rPr lang="en-US" altLang="zh-TW" dirty="0"/>
              <a:t>OS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dirty="0"/>
              <a:t>OS is </a:t>
            </a:r>
            <a:r>
              <a:rPr lang="en-US" altLang="zh-TW" b="1" dirty="0">
                <a:solidFill>
                  <a:srgbClr val="FF0000"/>
                </a:solidFill>
              </a:rPr>
              <a:t>event-driven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dirty="0"/>
              <a:t>Events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Interrupt: driven by hardware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Trap (or exception): a software-generated interrupt</a:t>
            </a:r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dirty="0"/>
              <a:t>Error:  Division by zero, illegal </a:t>
            </a:r>
            <a:r>
              <a:rPr lang="en-US" altLang="zh-TW" dirty="0" smtClean="0"/>
              <a:t>instructions,</a:t>
            </a:r>
            <a:r>
              <a:rPr lang="en-US" altLang="zh-TW" b="1" dirty="0" smtClean="0">
                <a:solidFill>
                  <a:srgbClr val="FF0000"/>
                </a:solidFill>
              </a:rPr>
              <a:t> page fault trap</a:t>
            </a:r>
            <a:endParaRPr lang="en-US" altLang="zh-TW" b="1" dirty="0">
              <a:solidFill>
                <a:srgbClr val="FF0000"/>
              </a:solidFill>
            </a:endParaRPr>
          </a:p>
          <a:p>
            <a:pPr marL="1085850" lvl="2" eaLnBrk="1" hangingPunct="1">
              <a:spcBef>
                <a:spcPts val="600"/>
              </a:spcBef>
            </a:pPr>
            <a:endParaRPr lang="en-US" altLang="zh-TW" dirty="0"/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dirty="0"/>
              <a:t>System calls: functions provided by OS to provide service to applications</a:t>
            </a:r>
          </a:p>
          <a:p>
            <a:pPr lvl="3" eaLnBrk="1" hangingPunct="1"/>
            <a:r>
              <a:rPr lang="en-US" altLang="zh-TW" dirty="0"/>
              <a:t>Ex: read(), write(), open()……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208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Page Table When Some Pages Are Not in Main Memory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1343472" y="1484784"/>
            <a:ext cx="9289032" cy="489175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cxnSp>
        <p:nvCxnSpPr>
          <p:cNvPr id="4" name="直線單箭頭接點 3"/>
          <p:cNvCxnSpPr/>
          <p:nvPr/>
        </p:nvCxnSpPr>
        <p:spPr>
          <a:xfrm>
            <a:off x="551384" y="2492896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3071267" y="3068960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871864" y="2899683"/>
            <a:ext cx="864096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 smtClean="0">
                <a:solidFill>
                  <a:schemeClr val="accent2"/>
                </a:solidFill>
                <a:latin typeface="Calibri" panose="020F0502020204030204" pitchFamily="34" charset="0"/>
                <a:ea typeface="標楷體" pitchFamily="65" charset="-120"/>
              </a:rPr>
              <a:t>In-valid</a:t>
            </a:r>
            <a:endParaRPr lang="en-US" altLang="zh-TW" sz="1600" b="1" dirty="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7392144" y="3501008"/>
            <a:ext cx="2520281" cy="1224136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312024" y="4725144"/>
            <a:ext cx="1152128" cy="2880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631504" y="5395863"/>
            <a:ext cx="284552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Valid 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: </a:t>
            </a:r>
            <a:r>
              <a:rPr kumimoji="1" lang="en-US" altLang="zh-TW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addr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 translation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Invalid: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trap</a:t>
            </a:r>
          </a:p>
        </p:txBody>
      </p:sp>
    </p:spTree>
    <p:extLst>
      <p:ext uri="{BB962C8B-B14F-4D97-AF65-F5344CB8AC3E}">
        <p14:creationId xmlns:p14="http://schemas.microsoft.com/office/powerpoint/2010/main" val="399040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Page Table When Some Pages Are Not in Main Memory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1343472" y="1484784"/>
            <a:ext cx="9289032" cy="489175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cxnSp>
        <p:nvCxnSpPr>
          <p:cNvPr id="4" name="直線單箭頭接點 3"/>
          <p:cNvCxnSpPr/>
          <p:nvPr/>
        </p:nvCxnSpPr>
        <p:spPr>
          <a:xfrm>
            <a:off x="551384" y="2492896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3071267" y="3068960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4158716" y="2905199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11</a:t>
            </a:r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655840" y="2905199"/>
            <a:ext cx="72008" cy="307777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v</a:t>
            </a:r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12024" y="4725144"/>
            <a:ext cx="1152128" cy="2880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7392144" y="3501008"/>
            <a:ext cx="2520281" cy="1224136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559496" y="5467871"/>
            <a:ext cx="284552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Valid 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: </a:t>
            </a:r>
            <a:r>
              <a:rPr kumimoji="1" lang="en-US" altLang="zh-TW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addr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 translation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Invalid:</a:t>
            </a: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odoni MT" panose="02070603080606020203" pitchFamily="18" charset="0"/>
                <a:ea typeface="新細明體" pitchFamily="18" charset="-120"/>
                <a:cs typeface="+mn-cs"/>
              </a:rPr>
              <a:t>trap</a:t>
            </a:r>
          </a:p>
        </p:txBody>
      </p:sp>
    </p:spTree>
    <p:extLst>
      <p:ext uri="{BB962C8B-B14F-4D97-AF65-F5344CB8AC3E}">
        <p14:creationId xmlns:p14="http://schemas.microsoft.com/office/powerpoint/2010/main" val="40578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Who </a:t>
            </a:r>
            <a:r>
              <a:rPr lang="en-US" altLang="zh-TW" dirty="0"/>
              <a:t>sets the valid-invalid bit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OS </a:t>
            </a:r>
            <a:r>
              <a:rPr lang="en-US" altLang="zh-TW" sz="2800" dirty="0" smtClean="0"/>
              <a:t>(see the following slide)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244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接下來看</a:t>
            </a:r>
            <a:r>
              <a:rPr lang="en-US" altLang="zh-TW" dirty="0" smtClean="0"/>
              <a:t>page fault</a:t>
            </a:r>
            <a:r>
              <a:rPr lang="zh-TW" altLang="en-US" dirty="0" smtClean="0"/>
              <a:t>的處理流程</a:t>
            </a:r>
            <a:r>
              <a:rPr lang="en-US" altLang="zh-TW" dirty="0" smtClean="0"/>
              <a:t>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87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Page Fault Handling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altLang="zh-TW" sz="2800" dirty="0">
                <a:sym typeface="Symbol" pitchFamily="18" charset="2"/>
              </a:rPr>
              <a:t>During address translation by </a:t>
            </a:r>
            <a:r>
              <a:rPr lang="en-US" altLang="zh-TW" sz="2800" b="1" dirty="0">
                <a:sym typeface="Symbol" pitchFamily="18" charset="2"/>
              </a:rPr>
              <a:t>MMU</a:t>
            </a:r>
            <a:r>
              <a:rPr lang="en-US" altLang="zh-TW" sz="2800" dirty="0">
                <a:sym typeface="Symbol" pitchFamily="18" charset="2"/>
              </a:rPr>
              <a:t>, if </a:t>
            </a:r>
            <a:r>
              <a:rPr lang="en-US" altLang="zh-TW" sz="2800" dirty="0">
                <a:solidFill>
                  <a:srgbClr val="3333FF"/>
                </a:solidFill>
                <a:sym typeface="Symbol" pitchFamily="18" charset="2"/>
              </a:rPr>
              <a:t>valid–invalid</a:t>
            </a:r>
            <a:r>
              <a:rPr lang="en-US" altLang="zh-TW" sz="2800" dirty="0">
                <a:sym typeface="Symbol" pitchFamily="18" charset="2"/>
              </a:rPr>
              <a:t> bit is 0 </a:t>
            </a:r>
            <a:r>
              <a:rPr lang="en-US" altLang="zh-TW" sz="2800" dirty="0">
                <a:sym typeface="Wingdings" pitchFamily="2" charset="2"/>
              </a:rPr>
              <a:t></a:t>
            </a:r>
            <a:r>
              <a:rPr lang="en-US" altLang="zh-TW" sz="2800" dirty="0">
                <a:sym typeface="Symbol" pitchFamily="18" charset="2"/>
              </a:rPr>
              <a:t> </a:t>
            </a:r>
            <a:r>
              <a:rPr lang="en-US" altLang="zh-TW" sz="2800" b="1" dirty="0">
                <a:solidFill>
                  <a:srgbClr val="FF3300"/>
                </a:solidFill>
                <a:sym typeface="Symbol" pitchFamily="18" charset="2"/>
              </a:rPr>
              <a:t>page-fault trap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zh-TW" sz="2800" dirty="0"/>
              <a:t>CPU jump to the OS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zh-TW" sz="2800" b="1" dirty="0"/>
              <a:t>OS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then handle the trap</a:t>
            </a:r>
            <a:endParaRPr lang="en-US" altLang="zh-TW" sz="2400" dirty="0"/>
          </a:p>
          <a:p>
            <a:pPr lvl="1" eaLnBrk="1" hangingPunct="1"/>
            <a:r>
              <a:rPr lang="en-US" altLang="zh-TW" sz="2400" b="1" dirty="0" smtClean="0">
                <a:solidFill>
                  <a:srgbClr val="3333FF"/>
                </a:solidFill>
                <a:sym typeface="Symbol" pitchFamily="18" charset="2"/>
              </a:rPr>
              <a:t>Page in </a:t>
            </a:r>
            <a:r>
              <a:rPr lang="en-US" altLang="zh-TW" sz="2400" dirty="0" smtClean="0">
                <a:sym typeface="Symbol" pitchFamily="18" charset="2"/>
              </a:rPr>
              <a:t>the desired page</a:t>
            </a:r>
            <a:endParaRPr lang="en-US" altLang="zh-TW" sz="2400" dirty="0">
              <a:sym typeface="Symbol" pitchFamily="18" charset="2"/>
            </a:endParaRP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zh-TW" sz="2800" dirty="0">
                <a:sym typeface="Symbol" pitchFamily="18" charset="2"/>
              </a:rPr>
              <a:t>Get a free frame from the </a:t>
            </a:r>
            <a:r>
              <a:rPr lang="en-US" altLang="zh-TW" sz="2800" b="1" dirty="0">
                <a:solidFill>
                  <a:srgbClr val="FF0000"/>
                </a:solidFill>
                <a:sym typeface="Symbol" pitchFamily="18" charset="2"/>
              </a:rPr>
              <a:t>free-frame list </a:t>
            </a:r>
            <a:r>
              <a:rPr lang="en-US" altLang="zh-TW" sz="2800" dirty="0">
                <a:sym typeface="Symbol" pitchFamily="18" charset="2"/>
              </a:rPr>
              <a:t>and read desired page into the allocated frame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zh-TW" sz="2800" dirty="0">
                <a:sym typeface="Symbol" pitchFamily="18" charset="2"/>
              </a:rPr>
              <a:t>OS modifies the page table </a:t>
            </a:r>
            <a:r>
              <a:rPr lang="en-US" altLang="zh-TW" sz="2800" dirty="0" smtClean="0">
                <a:sym typeface="Symbol" pitchFamily="18" charset="2"/>
              </a:rPr>
              <a:t>of </a:t>
            </a:r>
            <a:r>
              <a:rPr lang="en-US" altLang="zh-TW" sz="2800" b="1" i="1" dirty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zh-TW" sz="2800" b="1" i="1" baseline="-25000" dirty="0">
                <a:solidFill>
                  <a:srgbClr val="FF0000"/>
                </a:solidFill>
                <a:sym typeface="Symbol" pitchFamily="18" charset="2"/>
              </a:rPr>
              <a:t>i</a:t>
            </a:r>
            <a:endParaRPr lang="en-US" altLang="zh-TW" sz="2800" b="1" i="1" dirty="0">
              <a:solidFill>
                <a:srgbClr val="FF0000"/>
              </a:solidFill>
              <a:sym typeface="Symbol" pitchFamily="18" charset="2"/>
            </a:endParaRPr>
          </a:p>
          <a:p>
            <a:pPr lvl="1" eaLnBrk="1" hangingPunct="1"/>
            <a:r>
              <a:rPr lang="en-US" altLang="zh-TW" sz="2400" dirty="0">
                <a:sym typeface="Symbol" pitchFamily="18" charset="2"/>
              </a:rPr>
              <a:t>Fill the </a:t>
            </a:r>
            <a:r>
              <a:rPr lang="en-US" altLang="zh-TW" sz="2400" b="1" dirty="0">
                <a:sym typeface="Symbol" pitchFamily="18" charset="2"/>
              </a:rPr>
              <a:t>frame number</a:t>
            </a:r>
            <a:r>
              <a:rPr lang="en-US" altLang="zh-TW" sz="2400" dirty="0">
                <a:sym typeface="Symbol" pitchFamily="18" charset="2"/>
              </a:rPr>
              <a:t> and set </a:t>
            </a:r>
            <a:r>
              <a:rPr lang="en-US" altLang="zh-TW" sz="2400" b="1" dirty="0">
                <a:sym typeface="Symbol" pitchFamily="18" charset="2"/>
              </a:rPr>
              <a:t>valid bit </a:t>
            </a:r>
            <a:r>
              <a:rPr lang="en-US" altLang="zh-TW" sz="2400" dirty="0">
                <a:sym typeface="Symbol" pitchFamily="18" charset="2"/>
              </a:rPr>
              <a:t>= 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1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zh-TW" sz="2800" dirty="0">
                <a:sym typeface="Symbol" pitchFamily="18" charset="2"/>
              </a:rPr>
              <a:t>Restart the instruction</a:t>
            </a:r>
          </a:p>
        </p:txBody>
      </p:sp>
    </p:spTree>
    <p:extLst>
      <p:ext uri="{BB962C8B-B14F-4D97-AF65-F5344CB8AC3E}">
        <p14:creationId xmlns:p14="http://schemas.microsoft.com/office/powerpoint/2010/main" val="202365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Steps in Handling a Page Fault</a:t>
            </a: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2" cstate="print"/>
          <a:srcRect l="5666" t="598" r="6114" b="912"/>
          <a:stretch>
            <a:fillRect/>
          </a:stretch>
        </p:blipFill>
        <p:spPr bwMode="auto">
          <a:xfrm>
            <a:off x="2063750" y="1196975"/>
            <a:ext cx="7704138" cy="53276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5303839" y="2997200"/>
            <a:ext cx="22904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</a:rPr>
              <a:t>detected </a:t>
            </a: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by hardware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4439816" y="35224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 smtClean="0">
                <a:solidFill>
                  <a:srgbClr val="FF0000"/>
                </a:solidFill>
              </a:rPr>
              <a:t>3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71864" y="352433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 smtClean="0">
                <a:solidFill>
                  <a:srgbClr val="FF0000"/>
                </a:solidFill>
              </a:rPr>
              <a:t>V</a:t>
            </a:r>
            <a:endParaRPr lang="zh-TW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98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tx1"/>
                </a:solidFill>
              </a:rPr>
              <a:t>Page Table in OS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5"/>
            <a:ext cx="2265362" cy="93256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794794"/>
            <a:ext cx="2260600" cy="645693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416883"/>
            <a:ext cx="2260600" cy="3377911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863" y="4365104"/>
            <a:ext cx="1877393" cy="1224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688288" y="4797152"/>
            <a:ext cx="151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alibri" panose="020F0502020204030204" pitchFamily="34" charset="0"/>
              </a:rPr>
              <a:t>Page table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Calibri" panose="020F0502020204030204" pitchFamily="34" charset="0"/>
            </a:endParaRPr>
          </a:p>
        </p:txBody>
      </p:sp>
      <p:cxnSp>
        <p:nvCxnSpPr>
          <p:cNvPr id="7" name="直線接點 6"/>
          <p:cNvCxnSpPr>
            <a:stCxn id="282629" idx="1"/>
            <a:endCxn id="282629" idx="3"/>
          </p:cNvCxnSpPr>
          <p:nvPr/>
        </p:nvCxnSpPr>
        <p:spPr>
          <a:xfrm>
            <a:off x="6311900" y="4105839"/>
            <a:ext cx="2260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30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有沒有可能一直發生</a:t>
            </a:r>
            <a:r>
              <a:rPr lang="en-US" altLang="zh-TW" dirty="0" smtClean="0"/>
              <a:t>page fault?</a:t>
            </a:r>
            <a:br>
              <a:rPr lang="en-US" altLang="zh-TW" dirty="0" smtClean="0"/>
            </a:br>
            <a:r>
              <a:rPr lang="en-US" altLang="zh-TW" dirty="0" smtClean="0"/>
              <a:t>(</a:t>
            </a:r>
            <a:r>
              <a:rPr lang="zh-TW" altLang="en-US" dirty="0" smtClean="0"/>
              <a:t>使用者會非常不滿意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No.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545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為什麼不會一直發生</a:t>
            </a:r>
            <a:r>
              <a:rPr lang="en-US" altLang="zh-TW" dirty="0" smtClean="0"/>
              <a:t>page fault?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93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More about Demand Paging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000" b="1" dirty="0" smtClean="0">
                <a:solidFill>
                  <a:srgbClr val="3333FF"/>
                </a:solidFill>
              </a:rPr>
              <a:t>Q: </a:t>
            </a:r>
            <a:r>
              <a:rPr lang="en-US" altLang="zh-TW" sz="3000" b="1" dirty="0">
                <a:solidFill>
                  <a:srgbClr val="3333FF"/>
                </a:solidFill>
              </a:rPr>
              <a:t>why demand paging is useful? </a:t>
            </a:r>
          </a:p>
          <a:p>
            <a:pPr lvl="1" eaLnBrk="1" hangingPunct="1"/>
            <a:r>
              <a:rPr lang="en-US" altLang="zh-TW" sz="2600" dirty="0"/>
              <a:t>i.e., </a:t>
            </a:r>
            <a:r>
              <a:rPr lang="en-US" altLang="zh-TW" sz="2600" b="1" dirty="0"/>
              <a:t>without</a:t>
            </a:r>
            <a:r>
              <a:rPr lang="en-US" altLang="zh-TW" sz="2600" dirty="0"/>
              <a:t> causing many page faults</a:t>
            </a:r>
          </a:p>
          <a:p>
            <a:pPr eaLnBrk="1" hangingPunct="1"/>
            <a:endParaRPr lang="en-US" altLang="zh-TW" sz="3000" b="1" dirty="0"/>
          </a:p>
          <a:p>
            <a:pPr eaLnBrk="1" hangingPunct="1"/>
            <a:r>
              <a:rPr lang="en-US" altLang="zh-TW" sz="3000" b="1" dirty="0"/>
              <a:t>Answer:</a:t>
            </a:r>
            <a:r>
              <a:rPr lang="en-US" altLang="zh-TW" sz="3000" dirty="0"/>
              <a:t> </a:t>
            </a:r>
            <a:r>
              <a:rPr lang="en-US" altLang="zh-TW" sz="3000" b="1" dirty="0">
                <a:solidFill>
                  <a:srgbClr val="FF3300"/>
                </a:solidFill>
              </a:rPr>
              <a:t>Locality of reference</a:t>
            </a:r>
          </a:p>
          <a:p>
            <a:pPr lvl="1" eaLnBrk="1" hangingPunct="1"/>
            <a:r>
              <a:rPr lang="en-US" altLang="zh-TW" dirty="0" smtClean="0"/>
              <a:t>Result in very low page faults</a:t>
            </a:r>
          </a:p>
          <a:p>
            <a:pPr lvl="1" eaLnBrk="1" hangingPunct="1"/>
            <a:r>
              <a:rPr lang="en-US" altLang="zh-TW" dirty="0" smtClean="0"/>
              <a:t>In turn result in reasonable performance for demand paging</a:t>
            </a:r>
          </a:p>
        </p:txBody>
      </p:sp>
    </p:spTree>
    <p:extLst>
      <p:ext uri="{BB962C8B-B14F-4D97-AF65-F5344CB8AC3E}">
        <p14:creationId xmlns:p14="http://schemas.microsoft.com/office/powerpoint/2010/main" val="360333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Locality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000" b="1" dirty="0">
                <a:solidFill>
                  <a:srgbClr val="FF3300"/>
                </a:solidFill>
              </a:rPr>
              <a:t>Locality of reference</a:t>
            </a:r>
          </a:p>
          <a:p>
            <a:pPr lvl="1" eaLnBrk="1" hangingPunct="1"/>
            <a:r>
              <a:rPr lang="en-US" altLang="zh-TW" b="1" dirty="0" smtClean="0">
                <a:solidFill>
                  <a:srgbClr val="3333FF"/>
                </a:solidFill>
              </a:rPr>
              <a:t>Temporal locality</a:t>
            </a:r>
          </a:p>
          <a:p>
            <a:pPr lvl="2" eaLnBrk="1" hangingPunct="1"/>
            <a:r>
              <a:rPr lang="en-US" altLang="zh-TW" dirty="0" smtClean="0"/>
              <a:t>A data/instruction </a:t>
            </a:r>
            <a:r>
              <a:rPr lang="en-US" altLang="zh-TW" dirty="0"/>
              <a:t>which is recently </a:t>
            </a:r>
            <a:r>
              <a:rPr lang="en-US" altLang="zh-TW" dirty="0" smtClean="0"/>
              <a:t>accessed/executed </a:t>
            </a:r>
            <a:r>
              <a:rPr lang="en-US" altLang="zh-TW" dirty="0"/>
              <a:t>have high chances of </a:t>
            </a:r>
            <a:r>
              <a:rPr lang="en-US" altLang="zh-TW" dirty="0" smtClean="0"/>
              <a:t>access/execution </a:t>
            </a:r>
            <a:r>
              <a:rPr lang="en-US" altLang="zh-TW" dirty="0"/>
              <a:t>again</a:t>
            </a:r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en-US" altLang="zh-TW" b="1" dirty="0" smtClean="0">
                <a:solidFill>
                  <a:srgbClr val="3333FF"/>
                </a:solidFill>
              </a:rPr>
              <a:t>Spatial locality</a:t>
            </a:r>
          </a:p>
          <a:p>
            <a:pPr lvl="2" eaLnBrk="1" hangingPunct="1"/>
            <a:r>
              <a:rPr lang="en-US" altLang="zh-TW" dirty="0" smtClean="0"/>
              <a:t>All </a:t>
            </a:r>
            <a:r>
              <a:rPr lang="en-US" altLang="zh-TW" dirty="0"/>
              <a:t>those </a:t>
            </a:r>
            <a:r>
              <a:rPr lang="en-US" altLang="zh-TW" dirty="0" smtClean="0"/>
              <a:t>data/instructions </a:t>
            </a:r>
            <a:r>
              <a:rPr lang="en-US" altLang="zh-TW" dirty="0"/>
              <a:t>which are stored nearby to the recently </a:t>
            </a:r>
            <a:r>
              <a:rPr lang="en-US" altLang="zh-TW" dirty="0" smtClean="0"/>
              <a:t>accessed/executed data/instruction </a:t>
            </a:r>
            <a:r>
              <a:rPr lang="en-US" altLang="zh-TW" dirty="0"/>
              <a:t>have high chances of </a:t>
            </a:r>
            <a:r>
              <a:rPr lang="en-US" altLang="zh-TW" dirty="0" smtClean="0"/>
              <a:t>access/execution</a:t>
            </a:r>
          </a:p>
        </p:txBody>
      </p:sp>
    </p:spTree>
    <p:extLst>
      <p:ext uri="{BB962C8B-B14F-4D97-AF65-F5344CB8AC3E}">
        <p14:creationId xmlns:p14="http://schemas.microsoft.com/office/powerpoint/2010/main" val="382335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Demand Paging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Basic Concepts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Performance of Demand Paging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07693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Performance of Demand Paging</a:t>
            </a:r>
          </a:p>
        </p:txBody>
      </p:sp>
      <p:sp>
        <p:nvSpPr>
          <p:cNvPr id="64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TW" sz="2800" dirty="0"/>
              <a:t>Demand paging can significantly affect the performance of a computer system</a:t>
            </a:r>
          </a:p>
          <a:p>
            <a:pPr eaLnBrk="1" hangingPunct="1">
              <a:defRPr/>
            </a:pPr>
            <a:r>
              <a:rPr lang="en-US" altLang="zh-TW" sz="2800" b="1" dirty="0"/>
              <a:t>Page Fault Rate</a:t>
            </a:r>
            <a:r>
              <a:rPr lang="en-US" altLang="zh-TW" sz="2800" dirty="0"/>
              <a:t>: 0 </a:t>
            </a:r>
            <a:r>
              <a:rPr lang="en-US" altLang="zh-TW" sz="2800" dirty="0">
                <a:sym typeface="Symbol" pitchFamily="18" charset="2"/>
              </a:rPr>
              <a:t> </a:t>
            </a:r>
            <a:r>
              <a:rPr lang="en-US" altLang="zh-TW" sz="2800" i="1" dirty="0">
                <a:sym typeface="Symbol" pitchFamily="18" charset="2"/>
              </a:rPr>
              <a:t>p</a:t>
            </a:r>
            <a:r>
              <a:rPr lang="en-US" altLang="zh-TW" sz="2800" dirty="0">
                <a:sym typeface="Symbol" pitchFamily="18" charset="2"/>
              </a:rPr>
              <a:t>  1.0</a:t>
            </a:r>
          </a:p>
          <a:p>
            <a:pPr lvl="1" eaLnBrk="1" hangingPunct="1">
              <a:defRPr/>
            </a:pPr>
            <a:r>
              <a:rPr lang="en-US" altLang="zh-TW" sz="2400" dirty="0">
                <a:sym typeface="Symbol" pitchFamily="18" charset="2"/>
              </a:rPr>
              <a:t>If </a:t>
            </a:r>
            <a:r>
              <a:rPr lang="en-US" altLang="zh-TW" sz="2400" i="1" dirty="0">
                <a:sym typeface="Symbol" pitchFamily="18" charset="2"/>
              </a:rPr>
              <a:t>p</a:t>
            </a:r>
            <a:r>
              <a:rPr lang="en-US" altLang="zh-TW" sz="2400" dirty="0">
                <a:sym typeface="Symbol" pitchFamily="18" charset="2"/>
              </a:rPr>
              <a:t> = 0, no page faults </a:t>
            </a:r>
          </a:p>
          <a:p>
            <a:pPr lvl="1" eaLnBrk="1" hangingPunct="1">
              <a:defRPr/>
            </a:pPr>
            <a:r>
              <a:rPr lang="en-US" altLang="zh-TW" sz="2400" dirty="0">
                <a:sym typeface="Symbol" pitchFamily="18" charset="2"/>
              </a:rPr>
              <a:t>If </a:t>
            </a:r>
            <a:r>
              <a:rPr lang="en-US" altLang="zh-TW" sz="2400" i="1" dirty="0">
                <a:sym typeface="Symbol" pitchFamily="18" charset="2"/>
              </a:rPr>
              <a:t>p</a:t>
            </a:r>
            <a:r>
              <a:rPr lang="en-US" altLang="zh-TW" sz="2400" dirty="0">
                <a:sym typeface="Symbol" pitchFamily="18" charset="2"/>
              </a:rPr>
              <a:t> = 1, every reference is a fault</a:t>
            </a:r>
          </a:p>
          <a:p>
            <a:pPr eaLnBrk="1" hangingPunct="1">
              <a:defRPr/>
            </a:pPr>
            <a:endParaRPr lang="en-US" altLang="zh-TW" sz="2800" b="1" dirty="0"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zh-TW" sz="2800" b="1" dirty="0">
                <a:sym typeface="Symbol" pitchFamily="18" charset="2"/>
              </a:rPr>
              <a:t>Effective Access Time</a:t>
            </a:r>
            <a:r>
              <a:rPr lang="en-US" altLang="zh-TW" sz="2800" dirty="0">
                <a:sym typeface="Symbol" pitchFamily="18" charset="2"/>
              </a:rPr>
              <a:t> (EAT)</a:t>
            </a:r>
          </a:p>
          <a:p>
            <a:pPr eaLnBrk="1" hangingPunct="1">
              <a:buFontTx/>
              <a:buNone/>
              <a:defRPr/>
            </a:pPr>
            <a:r>
              <a:rPr lang="en-US" altLang="zh-TW" sz="2800" dirty="0">
                <a:sym typeface="Symbol" pitchFamily="18" charset="2"/>
              </a:rPr>
              <a:t>	</a:t>
            </a:r>
            <a:r>
              <a:rPr lang="en-US" altLang="zh-TW" sz="2600" dirty="0">
                <a:solidFill>
                  <a:srgbClr val="FF3300"/>
                </a:solidFill>
                <a:sym typeface="Symbol" pitchFamily="18" charset="2"/>
              </a:rPr>
              <a:t>EAT = (1 – </a:t>
            </a:r>
            <a:r>
              <a:rPr lang="en-US" altLang="zh-TW" sz="2600" i="1" dirty="0">
                <a:solidFill>
                  <a:srgbClr val="FF3300"/>
                </a:solidFill>
                <a:sym typeface="Symbol" pitchFamily="18" charset="2"/>
              </a:rPr>
              <a:t>p</a:t>
            </a:r>
            <a:r>
              <a:rPr lang="en-US" altLang="zh-TW" sz="2600" dirty="0">
                <a:solidFill>
                  <a:srgbClr val="FF3300"/>
                </a:solidFill>
                <a:sym typeface="Symbol" pitchFamily="18" charset="2"/>
              </a:rPr>
              <a:t>) x memory access time +</a:t>
            </a:r>
            <a:r>
              <a:rPr lang="en-US" altLang="zh-TW" sz="2600" i="1" dirty="0">
                <a:solidFill>
                  <a:srgbClr val="FF3300"/>
                </a:solidFill>
                <a:sym typeface="Symbol" pitchFamily="18" charset="2"/>
              </a:rPr>
              <a:t> p</a:t>
            </a:r>
            <a:r>
              <a:rPr lang="en-US" altLang="zh-TW" sz="26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</a:t>
            </a:r>
            <a:r>
              <a:rPr lang="en-US" altLang="zh-TW" sz="2600" dirty="0">
                <a:solidFill>
                  <a:srgbClr val="FF3300"/>
                </a:solidFill>
                <a:sym typeface="Symbol" pitchFamily="18" charset="2"/>
              </a:rPr>
              <a:t>x page fault time</a:t>
            </a:r>
          </a:p>
          <a:p>
            <a:pPr eaLnBrk="1" hangingPunct="1">
              <a:defRPr/>
            </a:pPr>
            <a:endParaRPr lang="en-US" altLang="zh-TW" sz="2800" dirty="0"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zh-TW" sz="2800" dirty="0">
                <a:sym typeface="Symbol" pitchFamily="18" charset="2"/>
              </a:rPr>
              <a:t>To derive EAT, we must know page fault time</a:t>
            </a:r>
            <a:endParaRPr lang="en-US" altLang="zh-TW" sz="2800" b="1" dirty="0"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2062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Page Fault Time (Skip!)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 page fault causes </a:t>
            </a:r>
            <a:r>
              <a:rPr lang="en-US" altLang="zh-TW" dirty="0" smtClean="0"/>
              <a:t>the following sequence to occur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b="1" dirty="0" smtClean="0"/>
              <a:t>Trap</a:t>
            </a:r>
            <a:r>
              <a:rPr lang="en-US" altLang="zh-TW" dirty="0" smtClean="0"/>
              <a:t> to the operating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/>
              <a:t>Determine </a:t>
            </a:r>
            <a:r>
              <a:rPr lang="en-US" altLang="zh-TW" dirty="0"/>
              <a:t>that the </a:t>
            </a:r>
            <a:r>
              <a:rPr lang="en-US" altLang="zh-TW" dirty="0" smtClean="0"/>
              <a:t>trap </a:t>
            </a:r>
            <a:r>
              <a:rPr lang="en-US" altLang="zh-TW" dirty="0"/>
              <a:t>was a </a:t>
            </a:r>
            <a:r>
              <a:rPr lang="en-US" altLang="zh-TW" b="1" dirty="0"/>
              <a:t>page fault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/>
              <a:t>Check that the </a:t>
            </a:r>
            <a:r>
              <a:rPr lang="en-US" altLang="zh-TW" b="1" dirty="0"/>
              <a:t>page reference was legal </a:t>
            </a:r>
            <a:endParaRPr lang="en-US" altLang="zh-TW" b="1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/>
              <a:t>Determine </a:t>
            </a:r>
            <a:r>
              <a:rPr lang="en-US" altLang="zh-TW" dirty="0"/>
              <a:t>the location of the page on the disk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b="1" dirty="0">
                <a:solidFill>
                  <a:srgbClr val="FF0000"/>
                </a:solidFill>
              </a:rPr>
              <a:t>Save the user registers and process state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b="1" dirty="0">
                <a:solidFill>
                  <a:srgbClr val="0000FF"/>
                </a:solidFill>
              </a:rPr>
              <a:t>Issue a read from the disk to a free </a:t>
            </a:r>
            <a:r>
              <a:rPr lang="en-US" altLang="zh-TW" b="1" dirty="0" smtClean="0">
                <a:solidFill>
                  <a:srgbClr val="0000FF"/>
                </a:solidFill>
              </a:rPr>
              <a:t>frame</a:t>
            </a:r>
            <a:endParaRPr lang="en-US" altLang="zh-TW" b="1" dirty="0">
              <a:solidFill>
                <a:srgbClr val="0000FF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 smtClean="0">
                <a:solidFill>
                  <a:srgbClr val="000000"/>
                </a:solidFill>
              </a:rPr>
              <a:t>While </a:t>
            </a:r>
            <a:r>
              <a:rPr lang="en-US" altLang="en-US" dirty="0">
                <a:solidFill>
                  <a:srgbClr val="000000"/>
                </a:solidFill>
              </a:rPr>
              <a:t>waiting, allocate the CPU to some other </a:t>
            </a:r>
            <a:r>
              <a:rPr lang="en-US" altLang="en-US" dirty="0" smtClean="0">
                <a:solidFill>
                  <a:srgbClr val="000000"/>
                </a:solidFill>
              </a:rPr>
              <a:t>user processes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Receive an interrupt from the disk (I/O completed)</a:t>
            </a:r>
            <a:endParaRPr lang="en-US" altLang="zh-TW" dirty="0" smtClean="0"/>
          </a:p>
          <a:p>
            <a:pPr marL="741600" lvl="1" indent="-284400">
              <a:buFont typeface="+mj-lt"/>
              <a:buAutoNum type="arabicPeriod"/>
            </a:pPr>
            <a:endParaRPr lang="en-US" altLang="zh-TW" dirty="0" smtClean="0"/>
          </a:p>
          <a:p>
            <a:pPr marL="741600" lvl="1" indent="-284400">
              <a:buFont typeface="+mj-lt"/>
              <a:buAutoNum type="arabicPeriod"/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marL="741600" lvl="1" indent="-28440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940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Summary</a:t>
            </a:r>
            <a:endParaRPr lang="en-US" altLang="zh-TW" dirty="0"/>
          </a:p>
        </p:txBody>
      </p:sp>
      <p:grpSp>
        <p:nvGrpSpPr>
          <p:cNvPr id="3" name="群組 2"/>
          <p:cNvGrpSpPr/>
          <p:nvPr/>
        </p:nvGrpSpPr>
        <p:grpSpPr>
          <a:xfrm>
            <a:off x="911424" y="1341363"/>
            <a:ext cx="10225136" cy="5039965"/>
            <a:chOff x="911424" y="1268760"/>
            <a:chExt cx="10225136" cy="5039965"/>
          </a:xfrm>
        </p:grpSpPr>
        <p:pic>
          <p:nvPicPr>
            <p:cNvPr id="28675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03512" y="1306513"/>
              <a:ext cx="8928991" cy="5002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矩形 1"/>
            <p:cNvSpPr/>
            <p:nvPr/>
          </p:nvSpPr>
          <p:spPr>
            <a:xfrm>
              <a:off x="2351584" y="1268760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847528" y="2152734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11424" y="3789040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9336360" y="4365104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4655840" y="5363277"/>
              <a:ext cx="374441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979778" y="3635085"/>
              <a:ext cx="720080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283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12024" y="764704"/>
            <a:ext cx="2265362" cy="93256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6786" y="5075183"/>
            <a:ext cx="2260600" cy="645693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6786" y="1697272"/>
            <a:ext cx="2260600" cy="3377911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137693" y="1484784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749" y="3645493"/>
            <a:ext cx="1877393" cy="1224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688288" y="4005064"/>
            <a:ext cx="151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table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直線接點 6"/>
          <p:cNvCxnSpPr>
            <a:stCxn id="282629" idx="1"/>
            <a:endCxn id="282629" idx="3"/>
          </p:cNvCxnSpPr>
          <p:nvPr/>
        </p:nvCxnSpPr>
        <p:spPr>
          <a:xfrm>
            <a:off x="6316786" y="3386228"/>
            <a:ext cx="2260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2024" y="1700808"/>
            <a:ext cx="2265362" cy="932568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20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Page Fault Time </a:t>
            </a:r>
            <a:r>
              <a:rPr lang="en-US" altLang="zh-TW" dirty="0" smtClean="0"/>
              <a:t>(Cont</a:t>
            </a:r>
            <a:r>
              <a:rPr lang="en-US" altLang="zh-TW" dirty="0"/>
              <a:t>.) (Skip!)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971550" lvl="1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 startAt="9"/>
              <a:tabLst>
                <a:tab pos="2163763" algn="l"/>
                <a:tab pos="2855913" algn="l"/>
              </a:tabLst>
            </a:pPr>
            <a:r>
              <a:rPr lang="en-US" altLang="en-US" b="1" dirty="0" smtClean="0">
                <a:solidFill>
                  <a:srgbClr val="FF0000"/>
                </a:solidFill>
              </a:rPr>
              <a:t>Save </a:t>
            </a:r>
            <a:r>
              <a:rPr lang="en-US" altLang="en-US" b="1" dirty="0">
                <a:solidFill>
                  <a:srgbClr val="FF0000"/>
                </a:solidFill>
              </a:rPr>
              <a:t>the registers and process state for the other </a:t>
            </a:r>
            <a:r>
              <a:rPr lang="en-US" altLang="en-US" b="1" dirty="0" smtClean="0">
                <a:solidFill>
                  <a:srgbClr val="FF0000"/>
                </a:solidFill>
              </a:rPr>
              <a:t>user processes</a:t>
            </a:r>
          </a:p>
          <a:p>
            <a:pPr marL="971550" lvl="1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 startAt="9"/>
              <a:tabLst>
                <a:tab pos="2163763" algn="l"/>
                <a:tab pos="2855913" algn="l"/>
              </a:tabLst>
            </a:pPr>
            <a:r>
              <a:rPr lang="en-US" altLang="en-US" dirty="0"/>
              <a:t>Determine that the interrupt was from the </a:t>
            </a:r>
            <a:r>
              <a:rPr lang="en-US" altLang="en-US" dirty="0" smtClean="0"/>
              <a:t>disk</a:t>
            </a:r>
          </a:p>
          <a:p>
            <a:pPr marL="971550" lvl="1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 startAt="9"/>
              <a:tabLst>
                <a:tab pos="2163763" algn="l"/>
                <a:tab pos="2855913" algn="l"/>
              </a:tabLst>
            </a:pPr>
            <a:r>
              <a:rPr lang="en-US" altLang="en-US" dirty="0"/>
              <a:t>Correct the page table </a:t>
            </a:r>
            <a:r>
              <a:rPr lang="en-US" altLang="en-US" dirty="0" smtClean="0"/>
              <a:t>to </a:t>
            </a:r>
            <a:r>
              <a:rPr lang="en-US" altLang="en-US" dirty="0"/>
              <a:t>show page is </a:t>
            </a:r>
            <a:r>
              <a:rPr lang="en-US" altLang="en-US" dirty="0" smtClean="0"/>
              <a:t>now in memory</a:t>
            </a:r>
          </a:p>
          <a:p>
            <a:pPr marL="971550" lvl="1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 startAt="9"/>
              <a:tabLst>
                <a:tab pos="2163763" algn="l"/>
                <a:tab pos="2855913" algn="l"/>
              </a:tabLst>
            </a:pPr>
            <a:r>
              <a:rPr lang="en-US" altLang="en-US" dirty="0"/>
              <a:t>Wait for the CPU to be allocated to this process </a:t>
            </a:r>
            <a:r>
              <a:rPr lang="en-US" altLang="en-US" dirty="0" smtClean="0"/>
              <a:t>again</a:t>
            </a:r>
          </a:p>
          <a:p>
            <a:pPr marL="971550" lvl="1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 startAt="9"/>
              <a:tabLst>
                <a:tab pos="2163763" algn="l"/>
                <a:tab pos="2855913" algn="l"/>
              </a:tabLst>
            </a:pPr>
            <a:r>
              <a:rPr lang="en-US" altLang="en-US" b="1" dirty="0">
                <a:solidFill>
                  <a:srgbClr val="FF0000"/>
                </a:solidFill>
              </a:rPr>
              <a:t>Restore the user registers, process state, and new page  table, and then resume the interrupted </a:t>
            </a:r>
            <a:r>
              <a:rPr lang="en-US" altLang="en-US" b="1" dirty="0" smtClean="0">
                <a:solidFill>
                  <a:srgbClr val="FF0000"/>
                </a:solidFill>
              </a:rPr>
              <a:t>instruction</a:t>
            </a:r>
          </a:p>
          <a:p>
            <a:pPr>
              <a:lnSpc>
                <a:spcPct val="120000"/>
              </a:lnSpc>
              <a:spcBef>
                <a:spcPts val="600"/>
              </a:spcBef>
              <a:tabLst>
                <a:tab pos="2163763" algn="l"/>
                <a:tab pos="2855913" algn="l"/>
              </a:tabLst>
            </a:pPr>
            <a:r>
              <a:rPr lang="en-US" altLang="en-US" dirty="0" smtClean="0"/>
              <a:t>Three major task components of the page-fault service time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tabLst>
                <a:tab pos="2163763" algn="l"/>
                <a:tab pos="2855913" algn="l"/>
              </a:tabLst>
            </a:pPr>
            <a:r>
              <a:rPr lang="en-US" altLang="en-US" b="1" dirty="0" smtClean="0"/>
              <a:t>Service the trap </a:t>
            </a:r>
            <a:r>
              <a:rPr lang="en-US" altLang="en-US" dirty="0" smtClean="0"/>
              <a:t>– several hundred instructions needed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tabLst>
                <a:tab pos="2163763" algn="l"/>
                <a:tab pos="2855913" algn="l"/>
              </a:tabLst>
            </a:pPr>
            <a:r>
              <a:rPr lang="en-US" altLang="en-US" b="1" dirty="0" smtClean="0">
                <a:solidFill>
                  <a:srgbClr val="FF0000"/>
                </a:solidFill>
              </a:rPr>
              <a:t>Read the page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b="1" dirty="0" smtClean="0">
                <a:solidFill>
                  <a:srgbClr val="FF0000"/>
                </a:solidFill>
              </a:rPr>
              <a:t>from the disk</a:t>
            </a:r>
            <a:r>
              <a:rPr lang="en-US" altLang="en-US" dirty="0" smtClean="0"/>
              <a:t>– </a:t>
            </a:r>
            <a:r>
              <a:rPr lang="en-US" altLang="en-US" b="1" dirty="0" smtClean="0"/>
              <a:t>lots of time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tabLst>
                <a:tab pos="2163763" algn="l"/>
                <a:tab pos="2855913" algn="l"/>
              </a:tabLst>
            </a:pPr>
            <a:r>
              <a:rPr lang="en-US" altLang="en-US" b="1" dirty="0" smtClean="0"/>
              <a:t>Restart the process </a:t>
            </a:r>
            <a:r>
              <a:rPr lang="en-US" altLang="en-US" dirty="0" smtClean="0"/>
              <a:t>– again just a small amount of time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638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Example: Performance of Demand Paging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4752999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Assume memory access time = 200 nanoseconds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Assume average </a:t>
            </a:r>
            <a:r>
              <a:rPr lang="en-US" altLang="zh-TW" sz="2400" dirty="0"/>
              <a:t>page-fault service time = 8 milliseconds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EAT </a:t>
            </a:r>
            <a:r>
              <a:rPr lang="en-US" altLang="zh-TW" sz="2400" dirty="0"/>
              <a:t>= (1 </a:t>
            </a:r>
            <a:r>
              <a:rPr lang="en-US" altLang="zh-TW" sz="2400" dirty="0">
                <a:latin typeface="Helvetica" pitchFamily="34" charset="0"/>
              </a:rPr>
              <a:t>–</a:t>
            </a:r>
            <a:r>
              <a:rPr lang="en-US" altLang="zh-TW" sz="2400" dirty="0"/>
              <a:t> p) x 200 + p </a:t>
            </a:r>
            <a:r>
              <a:rPr lang="en-US" altLang="zh-TW" sz="2400" dirty="0" smtClean="0"/>
              <a:t>x (</a:t>
            </a:r>
            <a:r>
              <a:rPr lang="en-US" altLang="zh-TW" sz="2400" dirty="0"/>
              <a:t>8 milliseconds) </a:t>
            </a:r>
            <a:endParaRPr lang="en-US" altLang="zh-TW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 smtClean="0"/>
              <a:t>              = 200 + p x 7,999,800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If </a:t>
            </a:r>
            <a:r>
              <a:rPr lang="en-US" altLang="zh-TW" sz="2400" dirty="0"/>
              <a:t>one access out of 1,000 causes a page fault, then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     EAT = 8.2 microseconds =&gt;This is a slowdown by a factor of 40!!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/>
              <a:t>Thus</a:t>
            </a:r>
            <a:r>
              <a:rPr lang="en-US" altLang="zh-TW" sz="2400" dirty="0"/>
              <a:t>, page fault rate should be </a:t>
            </a:r>
            <a:r>
              <a:rPr lang="en-US" altLang="zh-TW" sz="2400" b="1" dirty="0">
                <a:solidFill>
                  <a:srgbClr val="FF3300"/>
                </a:solidFill>
              </a:rPr>
              <a:t>very small</a:t>
            </a:r>
            <a:r>
              <a:rPr lang="en-US" altLang="zh-TW" sz="24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Thanks to the </a:t>
            </a:r>
            <a:r>
              <a:rPr lang="en-US" altLang="zh-TW" sz="2000" b="1" dirty="0">
                <a:solidFill>
                  <a:srgbClr val="FF0000"/>
                </a:solidFill>
              </a:rPr>
              <a:t>Locality of 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reference</a:t>
            </a:r>
          </a:p>
          <a:p>
            <a:pPr lvl="1" eaLnBrk="1" hangingPunct="1">
              <a:lnSpc>
                <a:spcPct val="90000"/>
              </a:lnSpc>
            </a:pPr>
            <a:r>
              <a:rPr lang="zh-TW" altLang="en-US" sz="2000" b="1" dirty="0" smtClean="0">
                <a:solidFill>
                  <a:srgbClr val="0000FF"/>
                </a:solidFill>
              </a:rPr>
              <a:t>複習：</a:t>
            </a:r>
            <a:r>
              <a:rPr lang="en-US" altLang="zh-TW" sz="2000" b="1" dirty="0" smtClean="0">
                <a:solidFill>
                  <a:srgbClr val="0000FF"/>
                </a:solidFill>
              </a:rPr>
              <a:t>In Chapter 9, we show that TLB has very high hit ratio. Now you know the reason.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600" dirty="0" smtClean="0"/>
              <a:t>See the following slide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49610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複習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smtClean="0"/>
              <a:t>Effective </a:t>
            </a:r>
            <a:r>
              <a:rPr lang="en-US" altLang="zh-TW" dirty="0"/>
              <a:t>Access </a:t>
            </a:r>
            <a:r>
              <a:rPr lang="en-US" altLang="zh-TW" dirty="0" smtClean="0"/>
              <a:t>Time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Assume</a:t>
            </a:r>
            <a:r>
              <a:rPr lang="en-US" altLang="zh-TW" dirty="0" smtClean="0"/>
              <a:t>: TLB </a:t>
            </a:r>
            <a:r>
              <a:rPr lang="en-US" altLang="zh-TW" dirty="0"/>
              <a:t>hit ratio = 80%</a:t>
            </a:r>
          </a:p>
          <a:p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Effective </a:t>
            </a:r>
            <a:r>
              <a:rPr lang="en-US" altLang="zh-TW" b="1" dirty="0">
                <a:solidFill>
                  <a:srgbClr val="FF0000"/>
                </a:solidFill>
              </a:rPr>
              <a:t>Access Time (EAT)</a:t>
            </a:r>
          </a:p>
          <a:p>
            <a:pPr lvl="1"/>
            <a:r>
              <a:rPr lang="en-US" altLang="zh-TW" dirty="0"/>
              <a:t>EAT = 0.8 x 10 + 0.20 x 20 = 12 ns</a:t>
            </a:r>
          </a:p>
          <a:p>
            <a:pPr lvl="1"/>
            <a:r>
              <a:rPr lang="en-US" altLang="zh-TW" dirty="0"/>
              <a:t>Suffer a 20 percent slowdown in memory access time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Consider a more </a:t>
            </a:r>
            <a:r>
              <a:rPr lang="en-US" altLang="zh-TW" b="1" dirty="0"/>
              <a:t>realistic</a:t>
            </a:r>
            <a:r>
              <a:rPr lang="en-US" altLang="zh-TW" dirty="0"/>
              <a:t> hit ratio of 99</a:t>
            </a:r>
            <a:r>
              <a:rPr lang="en-US" altLang="zh-TW" dirty="0" smtClean="0"/>
              <a:t>%, 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Why so  hit?</a:t>
            </a:r>
            <a:r>
              <a:rPr lang="zh-TW" altLang="en-US" dirty="0" smtClean="0"/>
              <a:t> </a:t>
            </a:r>
            <a:r>
              <a:rPr lang="en-US" altLang="zh-TW" b="1" dirty="0" smtClean="0">
                <a:solidFill>
                  <a:srgbClr val="0000FF"/>
                </a:solidFill>
              </a:rPr>
              <a:t>(</a:t>
            </a:r>
            <a:r>
              <a:rPr lang="zh-TW" altLang="en-US" b="1" dirty="0" smtClean="0">
                <a:solidFill>
                  <a:srgbClr val="0000FF"/>
                </a:solidFill>
              </a:rPr>
              <a:t>第十章會介紹</a:t>
            </a:r>
            <a:r>
              <a:rPr lang="en-US" altLang="zh-TW" b="1" dirty="0" smtClean="0">
                <a:solidFill>
                  <a:srgbClr val="0000FF"/>
                </a:solidFill>
              </a:rPr>
              <a:t>)</a:t>
            </a:r>
            <a:endParaRPr lang="en-US" altLang="zh-TW" b="1" dirty="0">
              <a:solidFill>
                <a:srgbClr val="0000FF"/>
              </a:solidFill>
            </a:endParaRPr>
          </a:p>
          <a:p>
            <a:pPr lvl="1"/>
            <a:r>
              <a:rPr lang="en-US" altLang="zh-TW" dirty="0"/>
              <a:t>EAT = 0.99 x 10 + 0.01 x 20 = 10.1ns,  </a:t>
            </a:r>
            <a:r>
              <a:rPr lang="en-US" altLang="zh-TW" dirty="0" smtClean="0"/>
              <a:t>Implying  </a:t>
            </a:r>
            <a:r>
              <a:rPr lang="en-US" altLang="zh-TW" dirty="0"/>
              <a:t>only 1% slowdown in access time.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25680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Copy-on-Write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 smtClean="0"/>
              <a:t>Algorithm</a:t>
            </a:r>
            <a:endParaRPr lang="en-US" altLang="zh-TW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Allocation of Frames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72632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Motivations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b="1" dirty="0">
                <a:latin typeface="Courier New" pitchFamily="49" charset="0"/>
              </a:rPr>
              <a:t>fork()</a:t>
            </a:r>
            <a:r>
              <a:rPr lang="en-US" altLang="zh-TW" sz="2800" dirty="0"/>
              <a:t> creates a copy of the parent</a:t>
            </a:r>
            <a:r>
              <a:rPr lang="en-US" altLang="zh-TW" sz="2800" dirty="0">
                <a:latin typeface="Helvetica" pitchFamily="34" charset="0"/>
              </a:rPr>
              <a:t>’</a:t>
            </a:r>
            <a:r>
              <a:rPr lang="en-US" altLang="zh-TW" sz="2800" dirty="0"/>
              <a:t>s address space for child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 smtClean="0"/>
              <a:t>Problem </a:t>
            </a:r>
            <a:r>
              <a:rPr lang="en-US" altLang="zh-TW" sz="2800" dirty="0"/>
              <a:t>of </a:t>
            </a:r>
            <a:r>
              <a:rPr lang="en-US" altLang="zh-TW" sz="2800" b="1" dirty="0">
                <a:latin typeface="Courier New" pitchFamily="49" charset="0"/>
              </a:rPr>
              <a:t>fork()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/>
              <a:t>Time consuming: needs memory </a:t>
            </a:r>
            <a:r>
              <a:rPr lang="en-US" altLang="zh-TW" dirty="0" smtClean="0"/>
              <a:t>copy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In some case, the copying </a:t>
            </a:r>
            <a:r>
              <a:rPr lang="en-US" altLang="zh-TW" b="1" dirty="0" smtClean="0"/>
              <a:t>may</a:t>
            </a:r>
            <a:r>
              <a:rPr lang="en-US" altLang="zh-TW" dirty="0" smtClean="0"/>
              <a:t> be </a:t>
            </a:r>
            <a:r>
              <a:rPr lang="en-US" altLang="zh-TW" b="1" dirty="0" smtClean="0">
                <a:solidFill>
                  <a:srgbClr val="FF3300"/>
                </a:solidFill>
              </a:rPr>
              <a:t>unnecessary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Why?</a:t>
            </a:r>
            <a:endParaRPr lang="en-US" altLang="zh-TW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87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smtClean="0"/>
              <a:t> </a:t>
            </a:r>
            <a:r>
              <a:rPr lang="en-US" altLang="zh-TW" smtClean="0"/>
              <a:t>Q</a:t>
            </a:r>
            <a:r>
              <a:rPr lang="en-US" altLang="zh-TW" dirty="0" smtClean="0"/>
              <a:t>: </a:t>
            </a:r>
            <a:r>
              <a:rPr lang="zh-TW" altLang="en-US" dirty="0" smtClean="0"/>
              <a:t>那</a:t>
            </a:r>
            <a:r>
              <a:rPr lang="en-US" altLang="zh-TW" dirty="0" smtClean="0"/>
              <a:t>fork()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Shown later~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944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我們先看只有呼叫</a:t>
            </a:r>
            <a:r>
              <a:rPr lang="en-US" altLang="zh-TW" dirty="0" smtClean="0"/>
              <a:t>fork(), </a:t>
            </a:r>
            <a:r>
              <a:rPr lang="zh-TW" altLang="en-US" dirty="0" smtClean="0"/>
              <a:t>沒有呼叫</a:t>
            </a:r>
            <a:r>
              <a:rPr lang="en-US" altLang="zh-TW" dirty="0" smtClean="0"/>
              <a:t>exec()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301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複習</a:t>
            </a:r>
            <a:r>
              <a:rPr lang="en-US" altLang="zh-TW" dirty="0"/>
              <a:t>: </a:t>
            </a:r>
            <a:r>
              <a:rPr lang="en-US" altLang="zh-TW" dirty="0" smtClean="0"/>
              <a:t>fork() System Call</a:t>
            </a:r>
            <a:endParaRPr lang="zh-TW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087889" y="1484784"/>
            <a:ext cx="1655763" cy="47525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5087888" y="1773709"/>
            <a:ext cx="1657350" cy="1727200"/>
            <a:chOff x="1066" y="1253"/>
            <a:chExt cx="1044" cy="1088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066" y="1253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code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066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data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066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stack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066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…</a:t>
              </a:r>
            </a:p>
          </p:txBody>
        </p:sp>
      </p:grp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6542866" y="2286918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fork()</a:t>
            </a:r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5087888" y="3772149"/>
            <a:ext cx="1657350" cy="1727200"/>
            <a:chOff x="2290" y="1525"/>
            <a:chExt cx="1044" cy="1088"/>
          </a:xfrm>
        </p:grpSpPr>
        <p:sp>
          <p:nvSpPr>
            <p:cNvPr id="12" name="Rectangle 42"/>
            <p:cNvSpPr>
              <a:spLocks noChangeArrowheads="1"/>
            </p:cNvSpPr>
            <p:nvPr/>
          </p:nvSpPr>
          <p:spPr bwMode="auto">
            <a:xfrm>
              <a:off x="2290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code</a:t>
              </a:r>
            </a:p>
          </p:txBody>
        </p:sp>
        <p:sp>
          <p:nvSpPr>
            <p:cNvPr id="13" name="Rectangle 43"/>
            <p:cNvSpPr>
              <a:spLocks noChangeArrowheads="1"/>
            </p:cNvSpPr>
            <p:nvPr/>
          </p:nvSpPr>
          <p:spPr bwMode="auto">
            <a:xfrm>
              <a:off x="2290" y="1797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data</a:t>
              </a:r>
            </a:p>
          </p:txBody>
        </p:sp>
        <p:sp>
          <p:nvSpPr>
            <p:cNvPr id="14" name="Rectangle 44"/>
            <p:cNvSpPr>
              <a:spLocks noChangeArrowheads="1"/>
            </p:cNvSpPr>
            <p:nvPr/>
          </p:nvSpPr>
          <p:spPr bwMode="auto">
            <a:xfrm>
              <a:off x="2290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stack</a:t>
              </a:r>
            </a:p>
          </p:txBody>
        </p:sp>
        <p:sp>
          <p:nvSpPr>
            <p:cNvPr id="15" name="Rectangle 45"/>
            <p:cNvSpPr>
              <a:spLocks noChangeArrowheads="1"/>
            </p:cNvSpPr>
            <p:nvPr/>
          </p:nvSpPr>
          <p:spPr bwMode="auto">
            <a:xfrm>
              <a:off x="2290" y="2341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…</a:t>
              </a:r>
            </a:p>
          </p:txBody>
        </p:sp>
      </p:grpSp>
      <p:sp>
        <p:nvSpPr>
          <p:cNvPr id="21" name="矩形圖說文字 20"/>
          <p:cNvSpPr/>
          <p:nvPr/>
        </p:nvSpPr>
        <p:spPr>
          <a:xfrm>
            <a:off x="1631504" y="3153153"/>
            <a:ext cx="1989697" cy="853851"/>
          </a:xfrm>
          <a:prstGeom prst="wedgeRectCallout">
            <a:avLst>
              <a:gd name="adj1" fmla="val 121072"/>
              <a:gd name="adj2" fmla="val -12147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In fact, they are non-continuous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矩形圖說文字 21"/>
          <p:cNvSpPr/>
          <p:nvPr/>
        </p:nvSpPr>
        <p:spPr>
          <a:xfrm>
            <a:off x="1703512" y="5283449"/>
            <a:ext cx="1989697" cy="853851"/>
          </a:xfrm>
          <a:prstGeom prst="wedgeRectCallout">
            <a:avLst>
              <a:gd name="adj1" fmla="val 121072"/>
              <a:gd name="adj2" fmla="val -12147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In fact, they are non-continuous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60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 animBg="1"/>
      <p:bldP spid="2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複習</a:t>
            </a:r>
            <a:r>
              <a:rPr lang="en-US" altLang="zh-TW" dirty="0"/>
              <a:t>: fork() System Call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1484784"/>
            <a:ext cx="9145016" cy="4104456"/>
          </a:xfrm>
          <a:prstGeom prst="rect">
            <a:avLst/>
          </a:prstGeom>
        </p:spPr>
      </p:pic>
      <p:sp>
        <p:nvSpPr>
          <p:cNvPr id="4" name="圓角矩形 3"/>
          <p:cNvSpPr/>
          <p:nvPr/>
        </p:nvSpPr>
        <p:spPr>
          <a:xfrm>
            <a:off x="2315580" y="5815136"/>
            <a:ext cx="8064896" cy="6926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Calibri" panose="020F0502020204030204" pitchFamily="34" charset="0"/>
              </a:rPr>
              <a:t>In fact, </a:t>
            </a:r>
            <a:r>
              <a:rPr lang="en-US" altLang="zh-TW" sz="3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child’s pages are </a:t>
            </a:r>
            <a:r>
              <a:rPr lang="en-US" altLang="zh-TW" sz="32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demand paged in.</a:t>
            </a:r>
            <a:endParaRPr lang="zh-TW" altLang="en-US" sz="32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48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觀察</a:t>
            </a:r>
            <a:r>
              <a:rPr lang="en-US" altLang="zh-TW" smtClean="0"/>
              <a:t>: </a:t>
            </a:r>
            <a:r>
              <a:rPr lang="zh-TW" altLang="en-US" smtClean="0"/>
              <a:t>沒有</a:t>
            </a:r>
            <a:r>
              <a:rPr lang="zh-TW" altLang="en-US" dirty="0" smtClean="0"/>
              <a:t>呼叫</a:t>
            </a:r>
            <a:r>
              <a:rPr lang="en-US" altLang="zh-TW" dirty="0" smtClean="0"/>
              <a:t>exec()</a:t>
            </a:r>
            <a:endParaRPr lang="zh-TW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47528" y="1556792"/>
            <a:ext cx="1655763" cy="47525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847527" y="1845717"/>
            <a:ext cx="1657350" cy="1727200"/>
            <a:chOff x="1066" y="1253"/>
            <a:chExt cx="1044" cy="1088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066" y="1253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code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066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data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066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stack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066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…</a:t>
              </a:r>
            </a:p>
          </p:txBody>
        </p:sp>
      </p:grp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3302505" y="2358926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fork()</a:t>
            </a:r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1847527" y="3844157"/>
            <a:ext cx="1657350" cy="1727200"/>
            <a:chOff x="2290" y="1525"/>
            <a:chExt cx="1044" cy="1088"/>
          </a:xfrm>
        </p:grpSpPr>
        <p:sp>
          <p:nvSpPr>
            <p:cNvPr id="12" name="Rectangle 42"/>
            <p:cNvSpPr>
              <a:spLocks noChangeArrowheads="1"/>
            </p:cNvSpPr>
            <p:nvPr/>
          </p:nvSpPr>
          <p:spPr bwMode="auto">
            <a:xfrm>
              <a:off x="2290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code</a:t>
              </a:r>
            </a:p>
          </p:txBody>
        </p:sp>
        <p:sp>
          <p:nvSpPr>
            <p:cNvPr id="13" name="Rectangle 43"/>
            <p:cNvSpPr>
              <a:spLocks noChangeArrowheads="1"/>
            </p:cNvSpPr>
            <p:nvPr/>
          </p:nvSpPr>
          <p:spPr bwMode="auto">
            <a:xfrm>
              <a:off x="2290" y="1797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data</a:t>
              </a:r>
            </a:p>
          </p:txBody>
        </p:sp>
        <p:sp>
          <p:nvSpPr>
            <p:cNvPr id="14" name="Rectangle 44"/>
            <p:cNvSpPr>
              <a:spLocks noChangeArrowheads="1"/>
            </p:cNvSpPr>
            <p:nvPr/>
          </p:nvSpPr>
          <p:spPr bwMode="auto">
            <a:xfrm>
              <a:off x="2290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stack</a:t>
              </a:r>
            </a:p>
          </p:txBody>
        </p:sp>
        <p:sp>
          <p:nvSpPr>
            <p:cNvPr id="15" name="Rectangle 45"/>
            <p:cNvSpPr>
              <a:spLocks noChangeArrowheads="1"/>
            </p:cNvSpPr>
            <p:nvPr/>
          </p:nvSpPr>
          <p:spPr bwMode="auto">
            <a:xfrm>
              <a:off x="2290" y="2341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…</a:t>
              </a:r>
            </a:p>
          </p:txBody>
        </p:sp>
      </p:grpSp>
      <p:sp>
        <p:nvSpPr>
          <p:cNvPr id="20" name="Rectangle 3"/>
          <p:cNvSpPr>
            <a:spLocks noGrp="1" noChangeArrowheads="1"/>
          </p:cNvSpPr>
          <p:nvPr>
            <p:ph idx="1"/>
          </p:nvPr>
        </p:nvSpPr>
        <p:spPr>
          <a:xfrm>
            <a:off x="4784081" y="1670075"/>
            <a:ext cx="7085393" cy="4525962"/>
          </a:xfrm>
          <a:ln w="38100">
            <a:solidFill>
              <a:srgbClr val="0000FF"/>
            </a:solidFill>
          </a:ln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TW" altLang="en-US" sz="2800" b="1" dirty="0" smtClean="0">
                <a:solidFill>
                  <a:srgbClr val="FF0000"/>
                </a:solidFill>
              </a:rPr>
              <a:t>觀察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1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：</a:t>
            </a:r>
            <a:endParaRPr lang="en-US" altLang="zh-TW" sz="2800" b="1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TW" altLang="en-US" sz="2600" b="1" dirty="0" smtClean="0"/>
              <a:t>如果沒有呼叫</a:t>
            </a:r>
            <a:r>
              <a:rPr lang="en-US" altLang="zh-TW" sz="2600" b="1" dirty="0" smtClean="0"/>
              <a:t>exec()</a:t>
            </a:r>
            <a:r>
              <a:rPr lang="zh-TW" altLang="en-US" sz="2600" b="1" dirty="0" smtClean="0"/>
              <a:t>，</a:t>
            </a:r>
            <a:r>
              <a:rPr lang="en-US" altLang="zh-TW" sz="2600" b="1" dirty="0" smtClean="0"/>
              <a:t>parent </a:t>
            </a:r>
            <a:r>
              <a:rPr lang="zh-TW" altLang="en-US" sz="2600" b="1" dirty="0" smtClean="0"/>
              <a:t>和 </a:t>
            </a:r>
            <a:r>
              <a:rPr lang="en-US" altLang="zh-TW" sz="2600" b="1" dirty="0" smtClean="0"/>
              <a:t>child</a:t>
            </a:r>
            <a:r>
              <a:rPr lang="zh-TW" altLang="en-US" sz="2600" b="1" dirty="0" smtClean="0"/>
              <a:t>可以共享</a:t>
            </a:r>
            <a:r>
              <a:rPr lang="en-US" altLang="zh-TW" sz="2600" b="1" dirty="0" smtClean="0"/>
              <a:t>code section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1" dirty="0" smtClean="0"/>
          </a:p>
          <a:p>
            <a:pPr eaLnBrk="1" hangingPunct="1">
              <a:lnSpc>
                <a:spcPct val="110000"/>
              </a:lnSpc>
            </a:pPr>
            <a:r>
              <a:rPr lang="zh-TW" altLang="en-US" sz="2800" b="1" dirty="0">
                <a:solidFill>
                  <a:srgbClr val="FF0000"/>
                </a:solidFill>
              </a:rPr>
              <a:t>觀察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2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：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TW" altLang="en-US" sz="2600" b="1" dirty="0"/>
              <a:t>如果</a:t>
            </a:r>
            <a:r>
              <a:rPr lang="en-US" altLang="zh-TW" sz="2600" b="1" dirty="0"/>
              <a:t>data, stack </a:t>
            </a:r>
            <a:r>
              <a:rPr lang="zh-TW" altLang="en-US" sz="2600" b="1" dirty="0"/>
              <a:t>和</a:t>
            </a:r>
            <a:r>
              <a:rPr lang="en-US" altLang="zh-TW" sz="2600" b="1" dirty="0" smtClean="0"/>
              <a:t>heap sections</a:t>
            </a:r>
            <a:r>
              <a:rPr lang="zh-TW" altLang="en-US" sz="2600" b="1" dirty="0" smtClean="0"/>
              <a:t>沒有寫入動作，</a:t>
            </a:r>
            <a:r>
              <a:rPr lang="en-US" altLang="zh-TW" sz="2600" b="1" dirty="0"/>
              <a:t>parent </a:t>
            </a:r>
            <a:r>
              <a:rPr lang="zh-TW" altLang="en-US" sz="2600" b="1" dirty="0"/>
              <a:t>和 </a:t>
            </a:r>
            <a:r>
              <a:rPr lang="en-US" altLang="zh-TW" sz="2600" b="1" dirty="0"/>
              <a:t>child</a:t>
            </a:r>
            <a:r>
              <a:rPr lang="zh-TW" altLang="en-US" sz="2600" b="1" dirty="0"/>
              <a:t>也可以共享</a:t>
            </a:r>
            <a:endParaRPr lang="en-US" altLang="zh-TW" sz="2600" b="1" dirty="0"/>
          </a:p>
          <a:p>
            <a:pPr lvl="1" eaLnBrk="1" hangingPunct="1">
              <a:lnSpc>
                <a:spcPct val="110000"/>
              </a:lnSpc>
            </a:pPr>
            <a:endParaRPr lang="en-US" altLang="zh-TW" sz="2400" b="1" dirty="0"/>
          </a:p>
          <a:p>
            <a:pPr eaLnBrk="1" hangingPunct="1">
              <a:lnSpc>
                <a:spcPct val="110000"/>
              </a:lnSpc>
            </a:pPr>
            <a:endParaRPr lang="en-US" altLang="zh-TW" sz="2800" b="1" dirty="0"/>
          </a:p>
        </p:txBody>
      </p:sp>
    </p:spTree>
    <p:extLst>
      <p:ext uri="{BB962C8B-B14F-4D97-AF65-F5344CB8AC3E}">
        <p14:creationId xmlns:p14="http://schemas.microsoft.com/office/powerpoint/2010/main" val="296518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如果有呼叫</a:t>
            </a:r>
            <a:r>
              <a:rPr lang="en-US" altLang="zh-TW" dirty="0" smtClean="0"/>
              <a:t>fork()</a:t>
            </a:r>
            <a:r>
              <a:rPr lang="zh-TW" altLang="en-US" dirty="0" smtClean="0"/>
              <a:t>和</a:t>
            </a:r>
            <a:r>
              <a:rPr lang="en-US" altLang="zh-TW" dirty="0" smtClean="0"/>
              <a:t>exec()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675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複習</a:t>
            </a:r>
            <a:r>
              <a:rPr lang="en-US" altLang="zh-TW" dirty="0"/>
              <a:t>: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fork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zh-TW" dirty="0"/>
              <a:t>and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TW" dirty="0"/>
          </a:p>
        </p:txBody>
      </p:sp>
      <p:sp>
        <p:nvSpPr>
          <p:cNvPr id="766982" name="Text Box 6"/>
          <p:cNvSpPr txBox="1">
            <a:spLocks noChangeArrowheads="1"/>
          </p:cNvSpPr>
          <p:nvPr/>
        </p:nvSpPr>
        <p:spPr bwMode="auto">
          <a:xfrm>
            <a:off x="6892343" y="2228934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b="1" dirty="0">
                <a:solidFill>
                  <a:srgbClr val="3333CC"/>
                </a:solidFill>
                <a:latin typeface="Calibri" panose="020F0502020204030204" pitchFamily="34" charset="0"/>
              </a:rPr>
              <a:t>fork()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5376193" y="1700808"/>
            <a:ext cx="1655763" cy="355351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25" name="Group 7"/>
          <p:cNvGrpSpPr>
            <a:grpSpLocks/>
          </p:cNvGrpSpPr>
          <p:nvPr/>
        </p:nvGrpSpPr>
        <p:grpSpPr bwMode="auto">
          <a:xfrm>
            <a:off x="5377780" y="2204046"/>
            <a:ext cx="1655762" cy="936625"/>
            <a:chOff x="2064" y="1616"/>
            <a:chExt cx="1043" cy="545"/>
          </a:xfrm>
        </p:grpSpPr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Original image</a:t>
              </a:r>
            </a:p>
          </p:txBody>
        </p:sp>
      </p:grpSp>
      <p:grpSp>
        <p:nvGrpSpPr>
          <p:cNvPr id="28" name="Group 11"/>
          <p:cNvGrpSpPr>
            <a:grpSpLocks/>
          </p:cNvGrpSpPr>
          <p:nvPr/>
        </p:nvGrpSpPr>
        <p:grpSpPr bwMode="auto">
          <a:xfrm>
            <a:off x="5373017" y="2192550"/>
            <a:ext cx="1655763" cy="935038"/>
            <a:chOff x="2290" y="1616"/>
            <a:chExt cx="1043" cy="589"/>
          </a:xfrm>
        </p:grpSpPr>
        <p:sp>
          <p:nvSpPr>
            <p:cNvPr id="29" name="Rectangle 12"/>
            <p:cNvSpPr>
              <a:spLocks noChangeArrowheads="1"/>
            </p:cNvSpPr>
            <p:nvPr/>
          </p:nvSpPr>
          <p:spPr bwMode="auto"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" name="Text Box 13"/>
            <p:cNvSpPr txBox="1">
              <a:spLocks noChangeArrowheads="1"/>
            </p:cNvSpPr>
            <p:nvPr/>
          </p:nvSpPr>
          <p:spPr bwMode="auto">
            <a:xfrm>
              <a:off x="2290" y="1616"/>
              <a:ext cx="998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Copy from original image</a:t>
              </a:r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4317032" y="2329502"/>
            <a:ext cx="103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parent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526022" y="434043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child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6892343" y="4411941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b="1" dirty="0">
                <a:solidFill>
                  <a:srgbClr val="3333CC"/>
                </a:solidFill>
                <a:latin typeface="Calibri" panose="020F0502020204030204" pitchFamily="34" charset="0"/>
              </a:rPr>
              <a:t>exec()</a:t>
            </a:r>
          </a:p>
        </p:txBody>
      </p:sp>
      <p:grpSp>
        <p:nvGrpSpPr>
          <p:cNvPr id="33" name="Group 15"/>
          <p:cNvGrpSpPr>
            <a:grpSpLocks/>
          </p:cNvGrpSpPr>
          <p:nvPr/>
        </p:nvGrpSpPr>
        <p:grpSpPr bwMode="auto">
          <a:xfrm>
            <a:off x="5368255" y="4115396"/>
            <a:ext cx="1655762" cy="935037"/>
            <a:chOff x="930" y="3249"/>
            <a:chExt cx="1043" cy="589"/>
          </a:xfrm>
        </p:grpSpPr>
        <p:sp>
          <p:nvSpPr>
            <p:cNvPr id="34" name="Rectangle 16"/>
            <p:cNvSpPr>
              <a:spLocks noChangeArrowheads="1"/>
            </p:cNvSpPr>
            <p:nvPr/>
          </p:nvSpPr>
          <p:spPr bwMode="auto">
            <a:xfrm>
              <a:off x="930" y="3249"/>
              <a:ext cx="1043" cy="58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" name="Text Box 17"/>
            <p:cNvSpPr txBox="1">
              <a:spLocks noChangeArrowheads="1"/>
            </p:cNvSpPr>
            <p:nvPr/>
          </p:nvSpPr>
          <p:spPr bwMode="auto">
            <a:xfrm>
              <a:off x="975" y="3261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 dirty="0">
                  <a:solidFill>
                    <a:schemeClr val="bg1"/>
                  </a:solidFill>
                </a:rPr>
                <a:t>Load another image</a:t>
              </a:r>
            </a:p>
          </p:txBody>
        </p:sp>
      </p:grpSp>
      <p:sp>
        <p:nvSpPr>
          <p:cNvPr id="36" name="矩形圖說文字 35"/>
          <p:cNvSpPr/>
          <p:nvPr/>
        </p:nvSpPr>
        <p:spPr>
          <a:xfrm>
            <a:off x="1991543" y="3303803"/>
            <a:ext cx="1989697" cy="853851"/>
          </a:xfrm>
          <a:prstGeom prst="wedgeRectCallout">
            <a:avLst>
              <a:gd name="adj1" fmla="val 121072"/>
              <a:gd name="adj2" fmla="val -12147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In fact, they are non-continuous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矩形圖說文字 36"/>
          <p:cNvSpPr/>
          <p:nvPr/>
        </p:nvSpPr>
        <p:spPr>
          <a:xfrm>
            <a:off x="1991544" y="5301208"/>
            <a:ext cx="1989697" cy="853851"/>
          </a:xfrm>
          <a:prstGeom prst="wedgeRectCallout">
            <a:avLst>
              <a:gd name="adj1" fmla="val 121072"/>
              <a:gd name="adj2" fmla="val -12147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In fact, they are non-continuous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5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284 0.00857 C 0.1668 0.04607 0.24115 0.0838 0.22539 0.12894 C 0.20951 0.17431 0.02487 0.25347 -0.00143 0.28125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8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982" grpId="0"/>
      <p:bldP spid="31" grpId="0"/>
      <p:bldP spid="32" grpId="0"/>
      <p:bldP spid="36" grpId="0" animBg="1"/>
      <p:bldP spid="3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dirty="0"/>
              <a:t>複習</a:t>
            </a:r>
            <a:r>
              <a:rPr lang="en-US" altLang="zh-TW" sz="4800" dirty="0"/>
              <a:t>: </a:t>
            </a:r>
            <a:r>
              <a:rPr lang="en-US" altLang="zh-TW" sz="4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zh-TW" dirty="0"/>
              <a:t>and </a:t>
            </a:r>
            <a:r>
              <a:rPr lang="en-US" altLang="zh-TW" sz="4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endParaRPr lang="zh-TW" altLang="en-US" sz="4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674733" y="6589628"/>
            <a:ext cx="7976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https://ss.csdn.net/p?https://upload-images.jianshu.io/upload_images/195230-727dc95e50684064.png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1127448" y="1124745"/>
            <a:ext cx="9865096" cy="4896544"/>
            <a:chOff x="1127448" y="1236788"/>
            <a:chExt cx="9865096" cy="5018087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7448" y="1236788"/>
              <a:ext cx="9865096" cy="5018087"/>
            </a:xfrm>
            <a:prstGeom prst="rect">
              <a:avLst/>
            </a:prstGeom>
          </p:spPr>
        </p:pic>
        <p:sp>
          <p:nvSpPr>
            <p:cNvPr id="5" name="圓角矩形 4"/>
            <p:cNvSpPr/>
            <p:nvPr/>
          </p:nvSpPr>
          <p:spPr>
            <a:xfrm>
              <a:off x="2662173" y="1485628"/>
              <a:ext cx="7322259" cy="64722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" name="圓角矩形 6"/>
          <p:cNvSpPr/>
          <p:nvPr/>
        </p:nvSpPr>
        <p:spPr>
          <a:xfrm>
            <a:off x="2639616" y="6065674"/>
            <a:ext cx="6984776" cy="459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Calibri" panose="020F0502020204030204" pitchFamily="34" charset="0"/>
              </a:rPr>
              <a:t>In fact, </a:t>
            </a:r>
            <a:r>
              <a:rPr lang="en-US" altLang="zh-TW" sz="24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after exec(), child’s pages are 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demand paged in.</a:t>
            </a:r>
            <a:endParaRPr lang="zh-TW" altLang="en-US" sz="24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07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觀察</a:t>
            </a:r>
            <a:r>
              <a:rPr lang="en-US" altLang="zh-TW" dirty="0"/>
              <a:t>: </a:t>
            </a:r>
            <a:r>
              <a:rPr lang="zh-TW" altLang="en-US" dirty="0" smtClean="0"/>
              <a:t>呼叫</a:t>
            </a:r>
            <a:r>
              <a:rPr lang="en-US" altLang="zh-TW" dirty="0"/>
              <a:t>exec()</a:t>
            </a:r>
            <a:endParaRPr lang="zh-TW" altLang="en-US" dirty="0"/>
          </a:p>
        </p:txBody>
      </p:sp>
      <p:sp>
        <p:nvSpPr>
          <p:cNvPr id="20" name="Rectangle 3"/>
          <p:cNvSpPr>
            <a:spLocks noGrp="1" noChangeArrowheads="1"/>
          </p:cNvSpPr>
          <p:nvPr>
            <p:ph idx="1"/>
          </p:nvPr>
        </p:nvSpPr>
        <p:spPr>
          <a:xfrm>
            <a:off x="4784081" y="1670075"/>
            <a:ext cx="7085393" cy="4525962"/>
          </a:xfrm>
          <a:ln w="38100">
            <a:solidFill>
              <a:srgbClr val="0000FF"/>
            </a:solidFill>
          </a:ln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TW" altLang="en-US" sz="2800" b="1" dirty="0" smtClean="0">
                <a:solidFill>
                  <a:srgbClr val="FF0000"/>
                </a:solidFill>
              </a:rPr>
              <a:t>觀察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3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：</a:t>
            </a:r>
            <a:endParaRPr lang="en-US" altLang="zh-TW" sz="2800" b="1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TW" altLang="en-US" sz="2600" b="1" dirty="0" smtClean="0"/>
              <a:t>如果</a:t>
            </a:r>
            <a:r>
              <a:rPr lang="en-US" altLang="zh-TW" sz="2600" b="1" dirty="0" smtClean="0"/>
              <a:t>child</a:t>
            </a:r>
            <a:r>
              <a:rPr lang="zh-TW" altLang="en-US" sz="2600" b="1" dirty="0" smtClean="0"/>
              <a:t>呼叫</a:t>
            </a:r>
            <a:r>
              <a:rPr lang="en-US" altLang="zh-TW" sz="2600" b="1" dirty="0" smtClean="0"/>
              <a:t>exec()</a:t>
            </a:r>
            <a:r>
              <a:rPr lang="zh-TW" altLang="en-US" sz="2600" b="1" dirty="0" smtClean="0"/>
              <a:t>，則</a:t>
            </a:r>
            <a:r>
              <a:rPr lang="en-US" altLang="zh-TW" sz="2600" b="1" dirty="0" smtClean="0"/>
              <a:t>fork()</a:t>
            </a:r>
            <a:r>
              <a:rPr lang="zh-TW" altLang="en-US" sz="2600" b="1" dirty="0" smtClean="0"/>
              <a:t>時的</a:t>
            </a:r>
            <a:r>
              <a:rPr lang="en-US" altLang="zh-TW" sz="2600" b="1" dirty="0" smtClean="0"/>
              <a:t>copy</a:t>
            </a:r>
            <a:r>
              <a:rPr lang="zh-TW" altLang="en-US" sz="2600" b="1" dirty="0" smtClean="0"/>
              <a:t>不需要</a:t>
            </a:r>
            <a:endParaRPr lang="en-US" altLang="zh-TW" sz="2600" b="1" dirty="0" smtClean="0"/>
          </a:p>
          <a:p>
            <a:pPr eaLnBrk="1" hangingPunct="1">
              <a:lnSpc>
                <a:spcPct val="110000"/>
              </a:lnSpc>
            </a:pPr>
            <a:endParaRPr lang="en-US" altLang="zh-TW" sz="2800" b="1" dirty="0" smtClean="0"/>
          </a:p>
          <a:p>
            <a:pPr lvl="1" eaLnBrk="1" hangingPunct="1">
              <a:lnSpc>
                <a:spcPct val="110000"/>
              </a:lnSpc>
            </a:pPr>
            <a:endParaRPr lang="en-US" altLang="zh-TW" sz="2400" b="1" dirty="0"/>
          </a:p>
          <a:p>
            <a:pPr eaLnBrk="1" hangingPunct="1">
              <a:lnSpc>
                <a:spcPct val="110000"/>
              </a:lnSpc>
            </a:pPr>
            <a:endParaRPr lang="en-US" altLang="zh-TW" sz="2800" b="1" dirty="0"/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3144292" y="2588974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b="1" dirty="0">
                <a:solidFill>
                  <a:srgbClr val="3333CC"/>
                </a:solidFill>
                <a:latin typeface="Calibri" panose="020F0502020204030204" pitchFamily="34" charset="0"/>
              </a:rPr>
              <a:t>fork()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1628142" y="2060848"/>
            <a:ext cx="1655763" cy="355351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22" name="Group 7"/>
          <p:cNvGrpSpPr>
            <a:grpSpLocks/>
          </p:cNvGrpSpPr>
          <p:nvPr/>
        </p:nvGrpSpPr>
        <p:grpSpPr bwMode="auto">
          <a:xfrm>
            <a:off x="1629729" y="2564086"/>
            <a:ext cx="1655762" cy="936625"/>
            <a:chOff x="2064" y="1616"/>
            <a:chExt cx="1043" cy="545"/>
          </a:xfrm>
        </p:grpSpPr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Original image</a:t>
              </a:r>
            </a:p>
          </p:txBody>
        </p:sp>
      </p:grpSp>
      <p:grpSp>
        <p:nvGrpSpPr>
          <p:cNvPr id="25" name="Group 11"/>
          <p:cNvGrpSpPr>
            <a:grpSpLocks/>
          </p:cNvGrpSpPr>
          <p:nvPr/>
        </p:nvGrpSpPr>
        <p:grpSpPr bwMode="auto">
          <a:xfrm>
            <a:off x="1624966" y="2552590"/>
            <a:ext cx="1655763" cy="935038"/>
            <a:chOff x="2290" y="1616"/>
            <a:chExt cx="1043" cy="589"/>
          </a:xfrm>
        </p:grpSpPr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2290" y="1616"/>
              <a:ext cx="998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Copy from original image</a:t>
              </a: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568981" y="2689542"/>
            <a:ext cx="103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parent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7971" y="470047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child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3144292" y="4771981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b="1" dirty="0">
                <a:solidFill>
                  <a:srgbClr val="3333CC"/>
                </a:solidFill>
                <a:latin typeface="Calibri" panose="020F0502020204030204" pitchFamily="34" charset="0"/>
              </a:rPr>
              <a:t>exec()</a:t>
            </a:r>
          </a:p>
        </p:txBody>
      </p:sp>
      <p:grpSp>
        <p:nvGrpSpPr>
          <p:cNvPr id="31" name="Group 15"/>
          <p:cNvGrpSpPr>
            <a:grpSpLocks/>
          </p:cNvGrpSpPr>
          <p:nvPr/>
        </p:nvGrpSpPr>
        <p:grpSpPr bwMode="auto">
          <a:xfrm>
            <a:off x="1620204" y="4475436"/>
            <a:ext cx="1655762" cy="935037"/>
            <a:chOff x="930" y="3249"/>
            <a:chExt cx="1043" cy="589"/>
          </a:xfrm>
        </p:grpSpPr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930" y="3249"/>
              <a:ext cx="1043" cy="58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3" name="Text Box 17"/>
            <p:cNvSpPr txBox="1">
              <a:spLocks noChangeArrowheads="1"/>
            </p:cNvSpPr>
            <p:nvPr/>
          </p:nvSpPr>
          <p:spPr bwMode="auto">
            <a:xfrm>
              <a:off x="975" y="3261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 dirty="0">
                  <a:solidFill>
                    <a:schemeClr val="bg1"/>
                  </a:solidFill>
                </a:rPr>
                <a:t>Load another image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440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284 0.00857 C 0.1668 0.04607 0.24115 0.0838 0.22539 0.12894 C 0.20951 0.17431 0.02487 0.25347 -0.00143 0.28125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8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/>
      <p:bldP spid="3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597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Copy-on-Write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Solutions: </a:t>
            </a:r>
            <a:r>
              <a:rPr lang="en-US" altLang="zh-TW" sz="2800" b="1" dirty="0">
                <a:solidFill>
                  <a:srgbClr val="FF0000"/>
                </a:solidFill>
              </a:rPr>
              <a:t>Copy-on-Write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 smtClean="0"/>
              <a:t>Upon </a:t>
            </a:r>
            <a:r>
              <a:rPr lang="en-US" altLang="zh-TW" sz="2800" dirty="0"/>
              <a:t>fork(), </a:t>
            </a:r>
            <a:r>
              <a:rPr lang="en-US" altLang="zh-TW" sz="2800" b="1" dirty="0"/>
              <a:t>do not copy</a:t>
            </a:r>
            <a:r>
              <a:rPr lang="en-US" altLang="zh-TW" sz="2800" dirty="0"/>
              <a:t>.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Parent and child share the same physical memory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 smtClean="0"/>
              <a:t>Question 1: But</a:t>
            </a:r>
            <a:r>
              <a:rPr lang="en-US" altLang="zh-TW" sz="2800" dirty="0"/>
              <a:t>, if child process </a:t>
            </a:r>
            <a:r>
              <a:rPr lang="en-US" altLang="zh-TW" sz="2800" dirty="0" smtClean="0"/>
              <a:t>writes data/stack/heap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 smtClean="0">
                <a:solidFill>
                  <a:srgbClr val="3333FF"/>
                </a:solidFill>
              </a:rPr>
              <a:t>Cannot share anymore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 smtClean="0">
                <a:solidFill>
                  <a:srgbClr val="FF0000"/>
                </a:solidFill>
              </a:rPr>
              <a:t>Solutions</a:t>
            </a:r>
            <a:r>
              <a:rPr lang="en-US" altLang="zh-TW" sz="2400" b="1" dirty="0">
                <a:solidFill>
                  <a:srgbClr val="FF0000"/>
                </a:solidFill>
              </a:rPr>
              <a:t>:</a:t>
            </a:r>
            <a:r>
              <a:rPr lang="en-US" altLang="zh-TW" sz="2400" dirty="0"/>
              <a:t> </a:t>
            </a:r>
            <a:r>
              <a:rPr lang="en-US" altLang="zh-TW" sz="2400" b="1" dirty="0">
                <a:solidFill>
                  <a:srgbClr val="FF3300"/>
                </a:solidFill>
              </a:rPr>
              <a:t>Copy-on-Write (COW)</a:t>
            </a:r>
            <a:r>
              <a:rPr lang="en-US" altLang="zh-TW" sz="2400" dirty="0"/>
              <a:t> </a:t>
            </a:r>
            <a:endParaRPr lang="en-US" altLang="zh-TW" sz="2400" dirty="0" smtClean="0"/>
          </a:p>
          <a:p>
            <a:pPr lvl="1" eaLnBrk="1" hangingPunct="1">
              <a:lnSpc>
                <a:spcPct val="110000"/>
              </a:lnSpc>
            </a:pPr>
            <a:endParaRPr lang="en-US" altLang="zh-TW" sz="2400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>
                <a:solidFill>
                  <a:schemeClr val="accent3">
                    <a:lumMod val="85000"/>
                  </a:schemeClr>
                </a:solidFill>
              </a:rPr>
              <a:t>Question 2: </a:t>
            </a:r>
            <a:r>
              <a:rPr lang="en-US" altLang="zh-TW" sz="2800" dirty="0" smtClean="0">
                <a:solidFill>
                  <a:schemeClr val="accent3">
                    <a:lumMod val="85000"/>
                  </a:schemeClr>
                </a:solidFill>
              </a:rPr>
              <a:t>If child process invoke </a:t>
            </a:r>
            <a:r>
              <a:rPr lang="en-US" altLang="zh-TW" sz="2800" dirty="0">
                <a:solidFill>
                  <a:schemeClr val="accent3">
                    <a:lumMod val="85000"/>
                  </a:schemeClr>
                </a:solidFill>
              </a:rPr>
              <a:t>exec</a:t>
            </a:r>
            <a:r>
              <a:rPr lang="en-US" altLang="zh-TW" sz="2800" dirty="0" smtClean="0">
                <a:solidFill>
                  <a:schemeClr val="accent3">
                    <a:lumMod val="85000"/>
                  </a:schemeClr>
                </a:solidFill>
              </a:rPr>
              <a:t>()?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 smtClean="0">
                <a:solidFill>
                  <a:schemeClr val="accent3">
                    <a:lumMod val="85000"/>
                  </a:schemeClr>
                </a:solidFill>
              </a:rPr>
              <a:t>Just load the new image by demand paging</a:t>
            </a:r>
            <a:endParaRPr lang="en-US" altLang="zh-TW" sz="2400" dirty="0">
              <a:solidFill>
                <a:schemeClr val="accent3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50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Copy-on-Write: Before Fork()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9" y="1556792"/>
            <a:ext cx="4467225" cy="443865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7392145" y="6537226"/>
            <a:ext cx="3232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https://slideplayer.com/slide/13869430/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38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Copy-on-Write: </a:t>
            </a:r>
            <a:r>
              <a:rPr lang="en-US" altLang="zh-TW" dirty="0" smtClean="0"/>
              <a:t>After Fork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7" y="1258889"/>
            <a:ext cx="7191375" cy="4962525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7392145" y="6537226"/>
            <a:ext cx="3232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https://slideplayer.com/slide/13869430/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482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/>
              <a:t>Copy-on-Write: Child Does not Call exec() But Performs write()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to Page 2</a:t>
            </a:r>
            <a:endParaRPr lang="zh-TW" altLang="en-US" sz="3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1412777"/>
            <a:ext cx="7124700" cy="4905375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7392145" y="6537226"/>
            <a:ext cx="3232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https://slideplayer.com/slide/13869430/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419283" y="6012371"/>
            <a:ext cx="2952328" cy="459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  <a:latin typeface="Calibri" panose="020F0502020204030204" pitchFamily="34" charset="0"/>
              </a:rPr>
              <a:t>Child writes page 2</a:t>
            </a:r>
            <a:endParaRPr lang="zh-TW" altLang="en-US" sz="24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96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Another Example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79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Process Creation: with Copy-on-Write</a:t>
            </a:r>
            <a:endParaRPr lang="zh-TW" altLang="en-US" sz="40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65" y="1052737"/>
            <a:ext cx="9937104" cy="475252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674733" y="6589628"/>
            <a:ext cx="79768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https://ss.csdn.net/p?https://upload-images.jianshu.io/upload_images/195230-727dc95e50684064.png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2351584" y="5967611"/>
            <a:ext cx="8300013" cy="459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  <a:latin typeface="Calibri" panose="020F0502020204030204" pitchFamily="34" charset="0"/>
              </a:rPr>
              <a:t>Child writes page 2, </a:t>
            </a:r>
            <a:r>
              <a:rPr lang="en-US" altLang="zh-TW" sz="2400" dirty="0" err="1" smtClean="0">
                <a:solidFill>
                  <a:schemeClr val="tx1"/>
                </a:solidFill>
                <a:latin typeface="Calibri" panose="020F0502020204030204" pitchFamily="34" charset="0"/>
              </a:rPr>
              <a:t>i.e</a:t>
            </a:r>
            <a:r>
              <a:rPr lang="en-US" altLang="zh-TW" sz="2400" dirty="0" smtClean="0">
                <a:solidFill>
                  <a:schemeClr val="tx1"/>
                </a:solidFill>
                <a:latin typeface="Calibri" panose="020F0502020204030204" pitchFamily="34" charset="0"/>
              </a:rPr>
              <a:t>, B </a:t>
            </a:r>
            <a:r>
              <a:rPr lang="en-US" altLang="zh-TW" sz="2400" dirty="0" smtClean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</a:t>
            </a:r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Copy</a:t>
            </a:r>
            <a:r>
              <a:rPr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 B to </a:t>
            </a:r>
            <a:r>
              <a:rPr lang="en-US" altLang="zh-TW" sz="24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frame 1 and modify it to B’</a:t>
            </a:r>
            <a:endParaRPr lang="zh-TW" altLang="en-US" sz="24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60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</a:t>
            </a:r>
            <a:r>
              <a:rPr lang="zh-TW" altLang="en-US" dirty="0" smtClean="0">
                <a:solidFill>
                  <a:srgbClr val="FF0000"/>
                </a:solidFill>
              </a:rPr>
              <a:t>：可以不</a:t>
            </a:r>
            <a:r>
              <a:rPr lang="en-US" altLang="zh-TW" dirty="0" smtClean="0">
                <a:solidFill>
                  <a:srgbClr val="FF0000"/>
                </a:solidFill>
              </a:rPr>
              <a:t>copy</a:t>
            </a:r>
            <a:r>
              <a:rPr lang="zh-TW" altLang="en-US" dirty="0" smtClean="0">
                <a:solidFill>
                  <a:srgbClr val="FF0000"/>
                </a:solidFill>
              </a:rPr>
              <a:t>而直接</a:t>
            </a:r>
            <a:r>
              <a:rPr lang="en-US" altLang="zh-TW" dirty="0" smtClean="0">
                <a:solidFill>
                  <a:srgbClr val="FF0000"/>
                </a:solidFill>
              </a:rPr>
              <a:t>write</a:t>
            </a:r>
            <a:r>
              <a:rPr lang="zh-TW" altLang="en-US" dirty="0" smtClean="0">
                <a:solidFill>
                  <a:srgbClr val="FF0000"/>
                </a:solidFill>
              </a:rPr>
              <a:t>嗎？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62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Copy-on-Write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 smtClean="0"/>
              <a:t>Upon </a:t>
            </a:r>
            <a:r>
              <a:rPr lang="en-US" altLang="zh-TW" sz="2800" dirty="0"/>
              <a:t>fork(), </a:t>
            </a:r>
            <a:r>
              <a:rPr lang="en-US" altLang="zh-TW" sz="2800" b="1" dirty="0"/>
              <a:t>do not copy</a:t>
            </a:r>
            <a:r>
              <a:rPr lang="en-US" altLang="zh-TW" sz="2800" dirty="0"/>
              <a:t>.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Parent and child share the same physical memory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 smtClean="0">
                <a:solidFill>
                  <a:schemeClr val="accent3">
                    <a:lumMod val="85000"/>
                  </a:schemeClr>
                </a:solidFill>
              </a:rPr>
              <a:t>Question 1: But</a:t>
            </a:r>
            <a:r>
              <a:rPr lang="en-US" altLang="zh-TW" sz="2800" dirty="0">
                <a:solidFill>
                  <a:schemeClr val="accent3">
                    <a:lumMod val="85000"/>
                  </a:schemeClr>
                </a:solidFill>
              </a:rPr>
              <a:t>, if child process </a:t>
            </a:r>
            <a:r>
              <a:rPr lang="en-US" altLang="zh-TW" sz="2800" dirty="0" smtClean="0">
                <a:solidFill>
                  <a:schemeClr val="accent3">
                    <a:lumMod val="85000"/>
                  </a:schemeClr>
                </a:solidFill>
              </a:rPr>
              <a:t>writes data/stack/heap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 smtClean="0">
                <a:solidFill>
                  <a:schemeClr val="accent3">
                    <a:lumMod val="85000"/>
                  </a:schemeClr>
                </a:solidFill>
              </a:rPr>
              <a:t>Cannot share anymore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 smtClean="0">
                <a:solidFill>
                  <a:schemeClr val="accent3">
                    <a:lumMod val="85000"/>
                  </a:schemeClr>
                </a:solidFill>
              </a:rPr>
              <a:t>Solutions</a:t>
            </a:r>
            <a:r>
              <a:rPr lang="en-US" altLang="zh-TW" sz="2400" b="1" dirty="0">
                <a:solidFill>
                  <a:schemeClr val="accent3">
                    <a:lumMod val="85000"/>
                  </a:schemeClr>
                </a:solidFill>
              </a:rPr>
              <a:t>:</a:t>
            </a:r>
            <a:r>
              <a:rPr lang="en-US" altLang="zh-TW" sz="2400" dirty="0">
                <a:solidFill>
                  <a:schemeClr val="accent3">
                    <a:lumMod val="85000"/>
                  </a:schemeClr>
                </a:solidFill>
              </a:rPr>
              <a:t> </a:t>
            </a:r>
            <a:r>
              <a:rPr lang="en-US" altLang="zh-TW" sz="2400" b="1" dirty="0">
                <a:solidFill>
                  <a:schemeClr val="accent3">
                    <a:lumMod val="85000"/>
                  </a:schemeClr>
                </a:solidFill>
              </a:rPr>
              <a:t>Copy-on-Write (COW)</a:t>
            </a:r>
            <a:r>
              <a:rPr lang="en-US" altLang="zh-TW" sz="2400" dirty="0">
                <a:solidFill>
                  <a:schemeClr val="accent3">
                    <a:lumMod val="85000"/>
                  </a:schemeClr>
                </a:solidFill>
              </a:rPr>
              <a:t> </a:t>
            </a:r>
            <a:endParaRPr lang="en-US" altLang="zh-TW" sz="2400" dirty="0" smtClean="0">
              <a:solidFill>
                <a:schemeClr val="accent3">
                  <a:lumMod val="85000"/>
                </a:schemeClr>
              </a:solidFill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TW" sz="2400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Question 2: </a:t>
            </a:r>
            <a:r>
              <a:rPr lang="en-US" altLang="zh-TW" sz="2800" dirty="0" smtClean="0"/>
              <a:t>If child process invoke </a:t>
            </a:r>
            <a:r>
              <a:rPr lang="en-US" altLang="zh-TW" sz="2800" dirty="0"/>
              <a:t>exec</a:t>
            </a:r>
            <a:r>
              <a:rPr lang="en-US" altLang="zh-TW" sz="2800" dirty="0" smtClean="0"/>
              <a:t>()?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 smtClean="0"/>
              <a:t>Just load the new image by demanding paging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78721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 txBox="1">
            <a:spLocks noGrp="1"/>
          </p:cNvSpPr>
          <p:nvPr/>
        </p:nvSpPr>
        <p:spPr bwMode="auto">
          <a:xfrm>
            <a:off x="4151314" y="6453188"/>
            <a:ext cx="3889375" cy="215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20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NCHU System &amp; Network Lab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The </a:t>
            </a:r>
            <a:r>
              <a:rPr lang="en-US" altLang="zh-TW" sz="4000" dirty="0">
                <a:cs typeface="Courier New" panose="02070309020205020404" pitchFamily="49" charset="0"/>
              </a:rPr>
              <a:t>fork</a:t>
            </a:r>
            <a:r>
              <a:rPr lang="en-US" altLang="zh-TW" sz="4000" dirty="0" smtClean="0">
                <a:cs typeface="Courier New" panose="02070309020205020404" pitchFamily="49" charset="0"/>
              </a:rPr>
              <a:t>() </a:t>
            </a:r>
            <a:r>
              <a:rPr lang="en-US" altLang="zh-TW" sz="4000" dirty="0" smtClean="0"/>
              <a:t>System Call: With </a:t>
            </a:r>
            <a:r>
              <a:rPr lang="en-US" altLang="zh-TW" sz="4000" dirty="0"/>
              <a:t>Page Sharing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566988" y="1989139"/>
            <a:ext cx="1655762" cy="9874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135188" y="1628776"/>
            <a:ext cx="2520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latin typeface="Calibri" panose="020F0502020204030204" pitchFamily="34" charset="0"/>
              </a:rPr>
              <a:t>Virtual Memory</a:t>
            </a:r>
          </a:p>
        </p:txBody>
      </p:sp>
      <p:sp>
        <p:nvSpPr>
          <p:cNvPr id="766982" name="Text Box 6"/>
          <p:cNvSpPr txBox="1">
            <a:spLocks noChangeArrowheads="1"/>
          </p:cNvSpPr>
          <p:nvPr/>
        </p:nvSpPr>
        <p:spPr bwMode="auto">
          <a:xfrm>
            <a:off x="4151313" y="2492376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b="1">
                <a:solidFill>
                  <a:srgbClr val="3333CC"/>
                </a:solidFill>
                <a:latin typeface="Calibri" panose="020F0502020204030204" pitchFamily="34" charset="0"/>
              </a:rPr>
              <a:t>fork()</a:t>
            </a:r>
          </a:p>
        </p:txBody>
      </p:sp>
      <p:grpSp>
        <p:nvGrpSpPr>
          <p:cNvPr id="15367" name="Group 7"/>
          <p:cNvGrpSpPr>
            <a:grpSpLocks/>
          </p:cNvGrpSpPr>
          <p:nvPr/>
        </p:nvGrpSpPr>
        <p:grpSpPr bwMode="auto">
          <a:xfrm>
            <a:off x="2566988" y="1989139"/>
            <a:ext cx="1655762" cy="987401"/>
            <a:chOff x="2064" y="1616"/>
            <a:chExt cx="1043" cy="545"/>
          </a:xfrm>
        </p:grpSpPr>
        <p:sp>
          <p:nvSpPr>
            <p:cNvPr id="15381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82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  <a:latin typeface="Calibri" panose="020F0502020204030204" pitchFamily="34" charset="0"/>
                </a:rPr>
                <a:t>program image</a:t>
              </a:r>
            </a:p>
          </p:txBody>
        </p:sp>
      </p:grpSp>
      <p:sp>
        <p:nvSpPr>
          <p:cNvPr id="766991" name="Rectangle 15"/>
          <p:cNvSpPr>
            <a:spLocks noChangeArrowheads="1"/>
          </p:cNvSpPr>
          <p:nvPr/>
        </p:nvSpPr>
        <p:spPr bwMode="auto">
          <a:xfrm>
            <a:off x="8328025" y="1936526"/>
            <a:ext cx="1655763" cy="1060426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5370" name="Text Box 16"/>
          <p:cNvSpPr txBox="1">
            <a:spLocks noChangeArrowheads="1"/>
          </p:cNvSpPr>
          <p:nvPr/>
        </p:nvSpPr>
        <p:spPr bwMode="auto">
          <a:xfrm>
            <a:off x="7896225" y="1484313"/>
            <a:ext cx="2520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latin typeface="Calibri" panose="020F0502020204030204" pitchFamily="34" charset="0"/>
              </a:rPr>
              <a:t>Virtual Memory</a:t>
            </a:r>
          </a:p>
        </p:txBody>
      </p:sp>
      <p:sp>
        <p:nvSpPr>
          <p:cNvPr id="15371" name="Rectangle 17"/>
          <p:cNvSpPr>
            <a:spLocks noChangeArrowheads="1"/>
          </p:cNvSpPr>
          <p:nvPr/>
        </p:nvSpPr>
        <p:spPr bwMode="auto">
          <a:xfrm>
            <a:off x="5376863" y="2420938"/>
            <a:ext cx="1655762" cy="338432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15372" name="Text Box 18"/>
          <p:cNvSpPr txBox="1">
            <a:spLocks noChangeArrowheads="1"/>
          </p:cNvSpPr>
          <p:nvPr/>
        </p:nvSpPr>
        <p:spPr bwMode="auto">
          <a:xfrm>
            <a:off x="5016500" y="1916113"/>
            <a:ext cx="2520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latin typeface="Calibri" panose="020F0502020204030204" pitchFamily="34" charset="0"/>
              </a:rPr>
              <a:t>Physical Memory</a:t>
            </a:r>
          </a:p>
        </p:txBody>
      </p:sp>
      <p:grpSp>
        <p:nvGrpSpPr>
          <p:cNvPr id="15373" name="Group 19"/>
          <p:cNvGrpSpPr>
            <a:grpSpLocks/>
          </p:cNvGrpSpPr>
          <p:nvPr/>
        </p:nvGrpSpPr>
        <p:grpSpPr bwMode="auto">
          <a:xfrm>
            <a:off x="5373689" y="2803028"/>
            <a:ext cx="1655763" cy="1058021"/>
            <a:chOff x="2064" y="1616"/>
            <a:chExt cx="1043" cy="545"/>
          </a:xfrm>
        </p:grpSpPr>
        <p:sp>
          <p:nvSpPr>
            <p:cNvPr id="15379" name="Rectangle 20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80" name="Text Box 21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  <a:latin typeface="Calibri" panose="020F0502020204030204" pitchFamily="34" charset="0"/>
                </a:rPr>
                <a:t>program image</a:t>
              </a:r>
            </a:p>
          </p:txBody>
        </p:sp>
      </p:grpSp>
      <p:sp>
        <p:nvSpPr>
          <p:cNvPr id="15374" name="Line 22"/>
          <p:cNvSpPr>
            <a:spLocks noChangeShapeType="1"/>
          </p:cNvSpPr>
          <p:nvPr/>
        </p:nvSpPr>
        <p:spPr bwMode="auto">
          <a:xfrm flipH="1" flipV="1">
            <a:off x="4224339" y="1989138"/>
            <a:ext cx="1150937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5375" name="Line 23"/>
          <p:cNvSpPr>
            <a:spLocks noChangeShapeType="1"/>
          </p:cNvSpPr>
          <p:nvPr/>
        </p:nvSpPr>
        <p:spPr bwMode="auto">
          <a:xfrm flipH="1" flipV="1">
            <a:off x="4257676" y="3033350"/>
            <a:ext cx="1077912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67000" name="Line 24"/>
          <p:cNvSpPr>
            <a:spLocks noChangeShapeType="1"/>
          </p:cNvSpPr>
          <p:nvPr/>
        </p:nvSpPr>
        <p:spPr bwMode="auto">
          <a:xfrm flipV="1">
            <a:off x="7032625" y="1989138"/>
            <a:ext cx="1295400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67001" name="Line 25"/>
          <p:cNvSpPr>
            <a:spLocks noChangeShapeType="1"/>
          </p:cNvSpPr>
          <p:nvPr/>
        </p:nvSpPr>
        <p:spPr bwMode="auto">
          <a:xfrm flipV="1">
            <a:off x="7032774" y="2966244"/>
            <a:ext cx="1295400" cy="86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67002" name="Text Box 26"/>
          <p:cNvSpPr txBox="1">
            <a:spLocks noChangeArrowheads="1"/>
          </p:cNvSpPr>
          <p:nvPr/>
        </p:nvSpPr>
        <p:spPr bwMode="auto">
          <a:xfrm>
            <a:off x="7175500" y="2852739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b="1">
                <a:solidFill>
                  <a:srgbClr val="3333CC"/>
                </a:solidFill>
                <a:latin typeface="Calibri" panose="020F0502020204030204" pitchFamily="34" charset="0"/>
              </a:rPr>
              <a:t>share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2949292" y="2960665"/>
            <a:ext cx="103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parent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8760297" y="2997177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child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矩形圖說文字 24"/>
          <p:cNvSpPr/>
          <p:nvPr/>
        </p:nvSpPr>
        <p:spPr>
          <a:xfrm>
            <a:off x="1992313" y="3861049"/>
            <a:ext cx="1989697" cy="853851"/>
          </a:xfrm>
          <a:prstGeom prst="wedgeRectCallout">
            <a:avLst>
              <a:gd name="adj1" fmla="val 121072"/>
              <a:gd name="adj2" fmla="val -12147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In fact, they are non-continuous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2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6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67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982" grpId="0"/>
      <p:bldP spid="766991" grpId="0" animBg="1"/>
      <p:bldP spid="767000" grpId="0" animBg="1"/>
      <p:bldP spid="767001" grpId="0" animBg="1"/>
      <p:bldP spid="767002" grpId="0"/>
      <p:bldP spid="767002" grpId="1"/>
      <p:bldP spid="24" grpId="0"/>
      <p:bldP spid="25" grpId="0" animBg="1"/>
      <p:bldP spid="25" grpI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 txBox="1">
            <a:spLocks noGrp="1"/>
          </p:cNvSpPr>
          <p:nvPr/>
        </p:nvSpPr>
        <p:spPr bwMode="auto">
          <a:xfrm>
            <a:off x="4151314" y="6453188"/>
            <a:ext cx="3889375" cy="215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20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NCHU System &amp; Network Lab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The </a:t>
            </a:r>
            <a:r>
              <a:rPr lang="en-US" altLang="zh-TW" sz="4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r>
              <a:rPr lang="en-US" altLang="zh-TW" sz="4000" dirty="0"/>
              <a:t>System </a:t>
            </a:r>
            <a:r>
              <a:rPr lang="en-US" altLang="zh-TW" sz="4000" dirty="0" smtClean="0"/>
              <a:t>Call: Load the New Image</a:t>
            </a:r>
            <a:endParaRPr lang="en-US" altLang="zh-TW" sz="4000" dirty="0"/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135188" y="1628776"/>
            <a:ext cx="2520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latin typeface="Calibri" panose="020F0502020204030204" pitchFamily="34" charset="0"/>
              </a:rPr>
              <a:t>Virtual Memory</a:t>
            </a:r>
          </a:p>
        </p:txBody>
      </p:sp>
      <p:sp>
        <p:nvSpPr>
          <p:cNvPr id="766982" name="Text Box 6"/>
          <p:cNvSpPr txBox="1">
            <a:spLocks noChangeArrowheads="1"/>
          </p:cNvSpPr>
          <p:nvPr/>
        </p:nvSpPr>
        <p:spPr bwMode="auto">
          <a:xfrm>
            <a:off x="4151313" y="2492376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b="1" dirty="0">
                <a:solidFill>
                  <a:srgbClr val="3333CC"/>
                </a:solidFill>
                <a:latin typeface="Calibri" panose="020F0502020204030204" pitchFamily="34" charset="0"/>
              </a:rPr>
              <a:t>fork()</a:t>
            </a:r>
          </a:p>
        </p:txBody>
      </p:sp>
      <p:grpSp>
        <p:nvGrpSpPr>
          <p:cNvPr id="15367" name="Group 7"/>
          <p:cNvGrpSpPr>
            <a:grpSpLocks/>
          </p:cNvGrpSpPr>
          <p:nvPr/>
        </p:nvGrpSpPr>
        <p:grpSpPr bwMode="auto">
          <a:xfrm>
            <a:off x="2566988" y="1989138"/>
            <a:ext cx="1655762" cy="986400"/>
            <a:chOff x="2064" y="1616"/>
            <a:chExt cx="1043" cy="545"/>
          </a:xfrm>
        </p:grpSpPr>
        <p:sp>
          <p:nvSpPr>
            <p:cNvPr id="15381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82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program image</a:t>
              </a:r>
            </a:p>
          </p:txBody>
        </p:sp>
      </p:grpSp>
      <p:sp>
        <p:nvSpPr>
          <p:cNvPr id="766991" name="Rectangle 15"/>
          <p:cNvSpPr>
            <a:spLocks noChangeArrowheads="1"/>
          </p:cNvSpPr>
          <p:nvPr/>
        </p:nvSpPr>
        <p:spPr bwMode="auto">
          <a:xfrm>
            <a:off x="8328026" y="1916113"/>
            <a:ext cx="1655763" cy="9864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5370" name="Text Box 16"/>
          <p:cNvSpPr txBox="1">
            <a:spLocks noChangeArrowheads="1"/>
          </p:cNvSpPr>
          <p:nvPr/>
        </p:nvSpPr>
        <p:spPr bwMode="auto">
          <a:xfrm>
            <a:off x="7896225" y="1484313"/>
            <a:ext cx="2520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latin typeface="Calibri" panose="020F0502020204030204" pitchFamily="34" charset="0"/>
              </a:rPr>
              <a:t>Virtual Memory</a:t>
            </a:r>
          </a:p>
        </p:txBody>
      </p:sp>
      <p:sp>
        <p:nvSpPr>
          <p:cNvPr id="15371" name="Rectangle 17"/>
          <p:cNvSpPr>
            <a:spLocks noChangeArrowheads="1"/>
          </p:cNvSpPr>
          <p:nvPr/>
        </p:nvSpPr>
        <p:spPr bwMode="auto">
          <a:xfrm>
            <a:off x="5376863" y="2420938"/>
            <a:ext cx="1655762" cy="338432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15372" name="Text Box 18"/>
          <p:cNvSpPr txBox="1">
            <a:spLocks noChangeArrowheads="1"/>
          </p:cNvSpPr>
          <p:nvPr/>
        </p:nvSpPr>
        <p:spPr bwMode="auto">
          <a:xfrm>
            <a:off x="5016500" y="1916113"/>
            <a:ext cx="2520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latin typeface="Calibri" panose="020F0502020204030204" pitchFamily="34" charset="0"/>
              </a:rPr>
              <a:t>Physical Memory</a:t>
            </a:r>
          </a:p>
        </p:txBody>
      </p:sp>
      <p:grpSp>
        <p:nvGrpSpPr>
          <p:cNvPr id="15373" name="Group 19"/>
          <p:cNvGrpSpPr>
            <a:grpSpLocks/>
          </p:cNvGrpSpPr>
          <p:nvPr/>
        </p:nvGrpSpPr>
        <p:grpSpPr bwMode="auto">
          <a:xfrm>
            <a:off x="5373689" y="2803027"/>
            <a:ext cx="1655763" cy="986400"/>
            <a:chOff x="2064" y="1616"/>
            <a:chExt cx="1043" cy="545"/>
          </a:xfrm>
        </p:grpSpPr>
        <p:sp>
          <p:nvSpPr>
            <p:cNvPr id="15379" name="Rectangle 20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80" name="Text Box 21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  <a:latin typeface="Calibri" panose="020F0502020204030204" pitchFamily="34" charset="0"/>
                </a:rPr>
                <a:t>program image</a:t>
              </a:r>
            </a:p>
          </p:txBody>
        </p:sp>
      </p:grpSp>
      <p:sp>
        <p:nvSpPr>
          <p:cNvPr id="15374" name="Line 22"/>
          <p:cNvSpPr>
            <a:spLocks noChangeShapeType="1"/>
          </p:cNvSpPr>
          <p:nvPr/>
        </p:nvSpPr>
        <p:spPr bwMode="auto">
          <a:xfrm flipH="1" flipV="1">
            <a:off x="4224339" y="1989138"/>
            <a:ext cx="1150937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5375" name="Line 23"/>
          <p:cNvSpPr>
            <a:spLocks noChangeShapeType="1"/>
          </p:cNvSpPr>
          <p:nvPr/>
        </p:nvSpPr>
        <p:spPr bwMode="auto">
          <a:xfrm flipH="1" flipV="1">
            <a:off x="4224338" y="2996952"/>
            <a:ext cx="1077912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67000" name="Line 24"/>
          <p:cNvSpPr>
            <a:spLocks noChangeShapeType="1"/>
          </p:cNvSpPr>
          <p:nvPr/>
        </p:nvSpPr>
        <p:spPr bwMode="auto">
          <a:xfrm flipV="1">
            <a:off x="7032625" y="1989138"/>
            <a:ext cx="1295400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67001" name="Line 25"/>
          <p:cNvSpPr>
            <a:spLocks noChangeShapeType="1"/>
          </p:cNvSpPr>
          <p:nvPr/>
        </p:nvSpPr>
        <p:spPr bwMode="auto">
          <a:xfrm flipV="1">
            <a:off x="7032625" y="2924944"/>
            <a:ext cx="1295400" cy="86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7472492" y="2347451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b="1" dirty="0">
                <a:solidFill>
                  <a:srgbClr val="3333CC"/>
                </a:solidFill>
                <a:latin typeface="Calibri" panose="020F0502020204030204" pitchFamily="34" charset="0"/>
              </a:rPr>
              <a:t>exec()</a:t>
            </a:r>
          </a:p>
        </p:txBody>
      </p:sp>
      <p:grpSp>
        <p:nvGrpSpPr>
          <p:cNvPr id="25" name="Group 15"/>
          <p:cNvGrpSpPr>
            <a:grpSpLocks/>
          </p:cNvGrpSpPr>
          <p:nvPr/>
        </p:nvGrpSpPr>
        <p:grpSpPr bwMode="auto">
          <a:xfrm>
            <a:off x="5377780" y="4654576"/>
            <a:ext cx="1655762" cy="935037"/>
            <a:chOff x="930" y="3249"/>
            <a:chExt cx="1043" cy="589"/>
          </a:xfrm>
        </p:grpSpPr>
        <p:sp>
          <p:nvSpPr>
            <p:cNvPr id="26" name="Rectangle 16"/>
            <p:cNvSpPr>
              <a:spLocks noChangeArrowheads="1"/>
            </p:cNvSpPr>
            <p:nvPr/>
          </p:nvSpPr>
          <p:spPr bwMode="auto">
            <a:xfrm>
              <a:off x="930" y="3249"/>
              <a:ext cx="1043" cy="58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Text Box 17"/>
            <p:cNvSpPr txBox="1">
              <a:spLocks noChangeArrowheads="1"/>
            </p:cNvSpPr>
            <p:nvPr/>
          </p:nvSpPr>
          <p:spPr bwMode="auto">
            <a:xfrm>
              <a:off x="975" y="3261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 dirty="0">
                  <a:solidFill>
                    <a:schemeClr val="bg1"/>
                  </a:solidFill>
                </a:rPr>
                <a:t>Load another image</a:t>
              </a:r>
            </a:p>
          </p:txBody>
        </p:sp>
      </p:grpSp>
      <p:sp>
        <p:nvSpPr>
          <p:cNvPr id="28" name="Line 24"/>
          <p:cNvSpPr>
            <a:spLocks noChangeShapeType="1"/>
          </p:cNvSpPr>
          <p:nvPr/>
        </p:nvSpPr>
        <p:spPr bwMode="auto">
          <a:xfrm flipV="1">
            <a:off x="7029450" y="1989138"/>
            <a:ext cx="1294484" cy="26484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 flipV="1">
            <a:off x="7029451" y="2930749"/>
            <a:ext cx="1294484" cy="263711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758578" y="2967336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child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855641" y="2996953"/>
            <a:ext cx="103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parent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05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982" grpId="0"/>
      <p:bldP spid="766991" grpId="0" animBg="1"/>
      <p:bldP spid="767000" grpId="0" animBg="1"/>
      <p:bldP spid="767000" grpId="1" animBg="1"/>
      <p:bldP spid="767001" grpId="0" animBg="1"/>
      <p:bldP spid="767001" grpId="1" animBg="1"/>
      <p:bldP spid="23" grpId="0"/>
      <p:bldP spid="28" grpId="0" animBg="1"/>
      <p:bldP spid="29" grpId="0" animBg="1"/>
      <p:bldP spid="3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Again, loading the new image is </a:t>
            </a:r>
            <a:r>
              <a:rPr lang="en-US" altLang="zh-TW" dirty="0" err="1" smtClean="0"/>
              <a:t>dony</a:t>
            </a:r>
            <a:r>
              <a:rPr lang="en-US" altLang="zh-TW" smtClean="0"/>
              <a:t> by </a:t>
            </a:r>
            <a:r>
              <a:rPr lang="en-US" altLang="zh-TW" dirty="0" smtClean="0"/>
              <a:t>demand paging.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57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Q: How </a:t>
            </a:r>
            <a:r>
              <a:rPr lang="en-US" altLang="zh-TW" dirty="0">
                <a:solidFill>
                  <a:srgbClr val="FF0000"/>
                </a:solidFill>
              </a:rPr>
              <a:t>to </a:t>
            </a:r>
            <a:r>
              <a:rPr lang="en-US" altLang="zh-TW" dirty="0" smtClean="0">
                <a:solidFill>
                  <a:srgbClr val="FF0000"/>
                </a:solidFill>
              </a:rPr>
              <a:t>implement Copy-on-Write?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zh-TW" sz="3600" b="1" dirty="0" smtClean="0">
                <a:solidFill>
                  <a:srgbClr val="3333FF"/>
                </a:solidFill>
              </a:rPr>
              <a:t>Hint: </a:t>
            </a:r>
            <a:r>
              <a:rPr lang="zh-TW" altLang="en-US" sz="3600" b="1" dirty="0" smtClean="0">
                <a:solidFill>
                  <a:srgbClr val="3333FF"/>
                </a:solidFill>
              </a:rPr>
              <a:t>如何讓</a:t>
            </a:r>
            <a:r>
              <a:rPr lang="en-US" altLang="zh-TW" sz="3600" b="1" dirty="0" smtClean="0">
                <a:solidFill>
                  <a:srgbClr val="3333FF"/>
                </a:solidFill>
              </a:rPr>
              <a:t>CPU</a:t>
            </a:r>
            <a:r>
              <a:rPr lang="zh-TW" altLang="en-US" sz="3600" b="1" dirty="0" smtClean="0">
                <a:solidFill>
                  <a:srgbClr val="3333FF"/>
                </a:solidFill>
              </a:rPr>
              <a:t>跳到</a:t>
            </a:r>
            <a:r>
              <a:rPr lang="en-US" altLang="zh-TW" sz="3600" b="1" dirty="0" smtClean="0">
                <a:solidFill>
                  <a:srgbClr val="3333FF"/>
                </a:solidFill>
              </a:rPr>
              <a:t>OS?</a:t>
            </a:r>
          </a:p>
          <a:p>
            <a:r>
              <a:rPr lang="en-US" altLang="zh-TW" sz="3600" b="1" dirty="0" smtClean="0">
                <a:solidFill>
                  <a:srgbClr val="3333FF"/>
                </a:solidFill>
              </a:rPr>
              <a:t>(</a:t>
            </a:r>
            <a:r>
              <a:rPr lang="zh-TW" altLang="en-US" sz="3600" b="1" dirty="0" smtClean="0">
                <a:solidFill>
                  <a:srgbClr val="3333FF"/>
                </a:solidFill>
              </a:rPr>
              <a:t>因為</a:t>
            </a:r>
            <a:r>
              <a:rPr lang="en-US" altLang="zh-TW" sz="3600" b="1" dirty="0" smtClean="0">
                <a:solidFill>
                  <a:srgbClr val="3333FF"/>
                </a:solidFill>
              </a:rPr>
              <a:t>OS</a:t>
            </a:r>
            <a:r>
              <a:rPr lang="zh-TW" altLang="en-US" sz="3600" b="1" dirty="0" smtClean="0">
                <a:solidFill>
                  <a:srgbClr val="3333FF"/>
                </a:solidFill>
              </a:rPr>
              <a:t>要</a:t>
            </a:r>
            <a:r>
              <a:rPr lang="en-US" altLang="zh-TW" sz="3600" b="1" dirty="0" smtClean="0">
                <a:solidFill>
                  <a:srgbClr val="3333FF"/>
                </a:solidFill>
              </a:rPr>
              <a:t>copy</a:t>
            </a:r>
            <a:r>
              <a:rPr lang="zh-TW" altLang="en-US" sz="3600" b="1" dirty="0" smtClean="0">
                <a:solidFill>
                  <a:srgbClr val="3333FF"/>
                </a:solidFill>
              </a:rPr>
              <a:t>並修改</a:t>
            </a:r>
            <a:r>
              <a:rPr lang="en-US" altLang="zh-TW" sz="3600" b="1" dirty="0" smtClean="0">
                <a:solidFill>
                  <a:srgbClr val="3333FF"/>
                </a:solidFill>
              </a:rPr>
              <a:t>page table)</a:t>
            </a:r>
            <a:endParaRPr lang="zh-TW" altLang="en-US" sz="3600" b="1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45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sz="4000" dirty="0" smtClean="0">
                <a:effectLst/>
              </a:rPr>
              <a:t>複習</a:t>
            </a:r>
            <a:r>
              <a:rPr lang="en-US" altLang="zh-TW" sz="4000" dirty="0" smtClean="0">
                <a:effectLst/>
              </a:rPr>
              <a:t>:</a:t>
            </a:r>
            <a:r>
              <a:rPr lang="zh-TW" altLang="en-US" sz="4000" dirty="0" smtClean="0">
                <a:effectLst/>
              </a:rPr>
              <a:t> 如何讓</a:t>
            </a:r>
            <a:r>
              <a:rPr lang="en-US" altLang="zh-TW" sz="4000" dirty="0" smtClean="0">
                <a:effectLst/>
              </a:rPr>
              <a:t>CPU</a:t>
            </a:r>
            <a:r>
              <a:rPr lang="zh-TW" altLang="en-US" sz="4000" dirty="0" smtClean="0">
                <a:effectLst/>
              </a:rPr>
              <a:t>跳到</a:t>
            </a:r>
            <a:r>
              <a:rPr lang="en-US" altLang="zh-TW" sz="4000" dirty="0" smtClean="0">
                <a:effectLst/>
              </a:rPr>
              <a:t>OS?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10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5" y="2978230"/>
          <a:ext cx="13890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B2569-5B8B-470D-A3E2-C3981CD983F2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92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如何產生</a:t>
            </a:r>
            <a:r>
              <a:rPr lang="en-US" altLang="zh-TW" dirty="0" smtClean="0"/>
              <a:t>exception?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Hint: </a:t>
            </a:r>
            <a:r>
              <a:rPr lang="zh-TW" altLang="en-US" dirty="0" smtClean="0"/>
              <a:t>參考</a:t>
            </a:r>
            <a:r>
              <a:rPr lang="en-US" altLang="zh-TW" dirty="0" smtClean="0"/>
              <a:t>page fault</a:t>
            </a:r>
            <a:r>
              <a:rPr lang="zh-TW" altLang="en-US" dirty="0" smtClean="0"/>
              <a:t>的處理</a:t>
            </a:r>
            <a:r>
              <a:rPr lang="en-US" altLang="zh-TW" dirty="0" smtClean="0"/>
              <a:t>(valid/invalid bit)</a:t>
            </a:r>
          </a:p>
          <a:p>
            <a:r>
              <a:rPr lang="en-US" altLang="zh-TW" b="1" dirty="0">
                <a:solidFill>
                  <a:srgbClr val="3333FF"/>
                </a:solidFill>
              </a:rPr>
              <a:t>Sol.: </a:t>
            </a:r>
            <a:r>
              <a:rPr lang="en-US" altLang="zh-TW" b="1" dirty="0" smtClean="0">
                <a:solidFill>
                  <a:srgbClr val="3333FF"/>
                </a:solidFill>
              </a:rPr>
              <a:t>add </a:t>
            </a:r>
            <a:r>
              <a:rPr lang="en-US" altLang="zh-TW" b="1" dirty="0">
                <a:solidFill>
                  <a:srgbClr val="3333FF"/>
                </a:solidFill>
              </a:rPr>
              <a:t>copy-on-write bit in the page table </a:t>
            </a:r>
            <a:r>
              <a:rPr lang="en-US" altLang="zh-TW" b="1" dirty="0" smtClean="0">
                <a:solidFill>
                  <a:srgbClr val="3333FF"/>
                </a:solidFill>
              </a:rPr>
              <a:t>entries (similar </a:t>
            </a:r>
            <a:r>
              <a:rPr lang="en-US" altLang="zh-TW" b="1" dirty="0">
                <a:solidFill>
                  <a:srgbClr val="3333FF"/>
                </a:solidFill>
              </a:rPr>
              <a:t>to the page fault handling)</a:t>
            </a:r>
            <a:endParaRPr lang="zh-TW" altLang="en-US" b="1" dirty="0">
              <a:solidFill>
                <a:srgbClr val="3333FF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815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 smtClean="0">
                <a:solidFill>
                  <a:schemeClr val="tx1"/>
                </a:solidFill>
              </a:rPr>
              <a:t>Q: </a:t>
            </a:r>
            <a:r>
              <a:rPr lang="en-US" altLang="zh-TW" sz="3600" dirty="0">
                <a:solidFill>
                  <a:schemeClr val="tx1"/>
                </a:solidFill>
              </a:rPr>
              <a:t>If P</a:t>
            </a:r>
            <a:r>
              <a:rPr lang="en-US" altLang="zh-TW" sz="3600" baseline="-25000" dirty="0">
                <a:solidFill>
                  <a:schemeClr val="tx1"/>
                </a:solidFill>
              </a:rPr>
              <a:t>1</a:t>
            </a:r>
            <a:r>
              <a:rPr lang="en-US" altLang="zh-TW" sz="3600" dirty="0">
                <a:solidFill>
                  <a:schemeClr val="tx1"/>
                </a:solidFill>
              </a:rPr>
              <a:t> Writes to Page </a:t>
            </a:r>
            <a:r>
              <a:rPr lang="en-US" altLang="zh-TW" sz="3600" dirty="0" smtClean="0">
                <a:solidFill>
                  <a:schemeClr val="tx1"/>
                </a:solidFill>
              </a:rPr>
              <a:t>3, </a:t>
            </a:r>
            <a:r>
              <a:rPr lang="en-US" altLang="zh-TW" sz="3600" dirty="0">
                <a:solidFill>
                  <a:schemeClr val="tx1"/>
                </a:solidFill>
              </a:rPr>
              <a:t>What Happened?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8" y="1412777"/>
            <a:ext cx="7560840" cy="5053159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437057" y="1735634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39816" y="1972924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39816" y="2199491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39816" y="2426058"/>
            <a:ext cx="237626" cy="210855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39816" y="2631539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437057" y="4583504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39816" y="4820794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39816" y="5047361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39816" y="5273928"/>
            <a:ext cx="237626" cy="210855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439816" y="5479409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圖說文字 20"/>
          <p:cNvSpPr/>
          <p:nvPr/>
        </p:nvSpPr>
        <p:spPr>
          <a:xfrm>
            <a:off x="5187417" y="5479408"/>
            <a:ext cx="1839392" cy="612648"/>
          </a:xfrm>
          <a:prstGeom prst="wedgeRectCallout">
            <a:avLst>
              <a:gd name="adj1" fmla="val -77499"/>
              <a:gd name="adj2" fmla="val -210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Copy-on-write bit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320136" y="3136676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322895" y="3373966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322895" y="3600533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322895" y="3827100"/>
            <a:ext cx="237626" cy="210855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3333FF"/>
                </a:solidFill>
              </a:rPr>
              <a:t>1</a:t>
            </a:r>
            <a:endParaRPr lang="zh-TW" altLang="en-US" sz="1800" b="1" dirty="0">
              <a:solidFill>
                <a:srgbClr val="3333FF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322895" y="4032581"/>
            <a:ext cx="237626" cy="231941"/>
          </a:xfrm>
          <a:prstGeom prst="rect">
            <a:avLst/>
          </a:prstGeom>
          <a:solidFill>
            <a:srgbClr val="FFFF00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圓角矩形 1"/>
          <p:cNvSpPr/>
          <p:nvPr/>
        </p:nvSpPr>
        <p:spPr>
          <a:xfrm>
            <a:off x="2495600" y="1484785"/>
            <a:ext cx="576064" cy="250849"/>
          </a:xfrm>
          <a:prstGeom prst="round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A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2495600" y="1882008"/>
            <a:ext cx="576064" cy="250849"/>
          </a:xfrm>
          <a:prstGeom prst="round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B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圓角矩形 28"/>
          <p:cNvSpPr/>
          <p:nvPr/>
        </p:nvSpPr>
        <p:spPr>
          <a:xfrm>
            <a:off x="2495600" y="2242048"/>
            <a:ext cx="576064" cy="250849"/>
          </a:xfrm>
          <a:prstGeom prst="round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C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圓角矩形 29"/>
          <p:cNvSpPr/>
          <p:nvPr/>
        </p:nvSpPr>
        <p:spPr>
          <a:xfrm>
            <a:off x="2495600" y="2674096"/>
            <a:ext cx="576064" cy="250849"/>
          </a:xfrm>
          <a:prstGeom prst="round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D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圓角矩形 30"/>
          <p:cNvSpPr/>
          <p:nvPr/>
        </p:nvSpPr>
        <p:spPr>
          <a:xfrm>
            <a:off x="2495600" y="4365105"/>
            <a:ext cx="576064" cy="250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A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圓角矩形 31"/>
          <p:cNvSpPr/>
          <p:nvPr/>
        </p:nvSpPr>
        <p:spPr>
          <a:xfrm>
            <a:off x="2495600" y="4725145"/>
            <a:ext cx="576064" cy="250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B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2495600" y="5122368"/>
            <a:ext cx="576064" cy="250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C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2495600" y="5517233"/>
            <a:ext cx="576064" cy="250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D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圓角矩形 34"/>
          <p:cNvSpPr/>
          <p:nvPr/>
        </p:nvSpPr>
        <p:spPr>
          <a:xfrm>
            <a:off x="8616280" y="2874703"/>
            <a:ext cx="576064" cy="250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A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圓角矩形 35"/>
          <p:cNvSpPr/>
          <p:nvPr/>
        </p:nvSpPr>
        <p:spPr>
          <a:xfrm>
            <a:off x="8616280" y="3279440"/>
            <a:ext cx="576064" cy="250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B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圓角矩形 36"/>
          <p:cNvSpPr/>
          <p:nvPr/>
        </p:nvSpPr>
        <p:spPr>
          <a:xfrm>
            <a:off x="8616280" y="4139097"/>
            <a:ext cx="576064" cy="250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C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圓角矩形 37"/>
          <p:cNvSpPr/>
          <p:nvPr/>
        </p:nvSpPr>
        <p:spPr>
          <a:xfrm>
            <a:off x="8624088" y="2026371"/>
            <a:ext cx="576064" cy="25084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D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圓角矩形 38"/>
          <p:cNvSpPr/>
          <p:nvPr/>
        </p:nvSpPr>
        <p:spPr>
          <a:xfrm>
            <a:off x="5375920" y="2874702"/>
            <a:ext cx="576064" cy="2508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A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5375920" y="3284985"/>
            <a:ext cx="576064" cy="2508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B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圓角矩形 40"/>
          <p:cNvSpPr/>
          <p:nvPr/>
        </p:nvSpPr>
        <p:spPr>
          <a:xfrm>
            <a:off x="5375920" y="3681678"/>
            <a:ext cx="576064" cy="2508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C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圓角矩形 41"/>
          <p:cNvSpPr/>
          <p:nvPr/>
        </p:nvSpPr>
        <p:spPr>
          <a:xfrm>
            <a:off x="5375920" y="4042248"/>
            <a:ext cx="576064" cy="2508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D</a:t>
            </a:r>
            <a:endParaRPr lang="zh-TW" altLang="en-US" sz="20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13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Copy-on-Write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b="1" dirty="0" smtClean="0">
                <a:solidFill>
                  <a:srgbClr val="0000FF"/>
                </a:solidFill>
              </a:rPr>
              <a:t>See the following slide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Upon fork(), create </a:t>
            </a:r>
            <a:r>
              <a:rPr lang="en-US" altLang="zh-TW" dirty="0"/>
              <a:t>a new page table for the child that </a:t>
            </a:r>
            <a:r>
              <a:rPr lang="en-US" altLang="zh-TW" b="1" dirty="0"/>
              <a:t>maps to all of the parents </a:t>
            </a:r>
            <a:r>
              <a:rPr lang="en-US" altLang="zh-TW" b="1" dirty="0" smtClean="0"/>
              <a:t>pages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Parent and child </a:t>
            </a:r>
            <a:r>
              <a:rPr lang="en-US" altLang="zh-TW" b="1" dirty="0"/>
              <a:t>initially shares</a:t>
            </a:r>
            <a:r>
              <a:rPr lang="en-US" altLang="zh-TW" dirty="0"/>
              <a:t> the same page frames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Mark </a:t>
            </a:r>
            <a:r>
              <a:rPr lang="en-US" altLang="zh-TW" dirty="0"/>
              <a:t>all of the pages as </a:t>
            </a:r>
            <a:r>
              <a:rPr lang="en-US" altLang="zh-TW" b="1" dirty="0" smtClean="0">
                <a:solidFill>
                  <a:srgbClr val="FF0000"/>
                </a:solidFill>
              </a:rPr>
              <a:t>copy-on-write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If </a:t>
            </a:r>
            <a:r>
              <a:rPr lang="en-US" altLang="zh-TW" dirty="0"/>
              <a:t>parent or child writes to a page, a </a:t>
            </a:r>
            <a:r>
              <a:rPr lang="en-US" altLang="zh-TW" b="1" dirty="0">
                <a:solidFill>
                  <a:srgbClr val="FF0000"/>
                </a:solidFill>
              </a:rPr>
              <a:t>protection exception </a:t>
            </a:r>
            <a:r>
              <a:rPr lang="en-US" altLang="zh-TW" b="1" dirty="0" smtClean="0">
                <a:solidFill>
                  <a:srgbClr val="FF0000"/>
                </a:solidFill>
              </a:rPr>
              <a:t>(or copy-on-write fault) </a:t>
            </a:r>
            <a:r>
              <a:rPr lang="en-US" altLang="zh-TW" dirty="0" smtClean="0"/>
              <a:t>will </a:t>
            </a:r>
            <a:r>
              <a:rPr lang="en-US" altLang="zh-TW" dirty="0"/>
              <a:t>be triggered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CPU jump to OS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OS copy the </a:t>
            </a:r>
            <a:r>
              <a:rPr lang="en-US" altLang="zh-TW" dirty="0"/>
              <a:t>target page, </a:t>
            </a:r>
            <a:r>
              <a:rPr lang="en-US" altLang="zh-TW" dirty="0" smtClean="0"/>
              <a:t>reset the page table and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Finally, restarts </a:t>
            </a:r>
            <a:r>
              <a:rPr lang="en-US" altLang="zh-TW" dirty="0"/>
              <a:t>the write </a:t>
            </a:r>
            <a:r>
              <a:rPr lang="en-US" altLang="zh-TW" dirty="0" smtClean="0"/>
              <a:t>operation</a:t>
            </a:r>
            <a:endParaRPr lang="en-US" altLang="zh-TW" dirty="0"/>
          </a:p>
        </p:txBody>
      </p:sp>
      <p:sp>
        <p:nvSpPr>
          <p:cNvPr id="4" name="文字方塊 3"/>
          <p:cNvSpPr txBox="1"/>
          <p:nvPr/>
        </p:nvSpPr>
        <p:spPr>
          <a:xfrm>
            <a:off x="8755874" y="6581002"/>
            <a:ext cx="1912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i="1" dirty="0">
                <a:latin typeface="Calibri" panose="020F0502020204030204" pitchFamily="34" charset="0"/>
              </a:rPr>
              <a:t>CS 5600 Computer Systems</a:t>
            </a:r>
            <a:endParaRPr lang="zh-TW" altLang="en-US" sz="1200" b="1" i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97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9350990" y="1937991"/>
            <a:ext cx="1153234" cy="4351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sz="1800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29813" y="6050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266" y="1753748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black"/>
                </a:solidFill>
                <a:latin typeface="Calibri"/>
              </a:rPr>
              <a:t>2</a:t>
            </a:r>
            <a:r>
              <a:rPr kumimoji="0" lang="en-US" sz="1800" baseline="300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9350990" y="1937992"/>
            <a:ext cx="1153234" cy="641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Kernel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6721" y="1405728"/>
            <a:ext cx="2007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2000" b="1" dirty="0">
                <a:solidFill>
                  <a:prstClr val="black"/>
                </a:solidFill>
                <a:latin typeface="Calibri"/>
              </a:rPr>
              <a:t>Physical 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50990" y="3813309"/>
            <a:ext cx="1153234" cy="30025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50990" y="2886508"/>
            <a:ext cx="1153234" cy="30025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Heap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0990" y="5080387"/>
            <a:ext cx="1153234" cy="30025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2008" y="50458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 smtClean="0">
                <a:solidFill>
                  <a:prstClr val="black"/>
                </a:solidFill>
                <a:latin typeface="Calibri"/>
              </a:rPr>
              <a:t>2</a:t>
            </a:r>
            <a:endParaRPr kumimoji="0" 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17200" y="377876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 smtClean="0">
                <a:solidFill>
                  <a:prstClr val="black"/>
                </a:solidFill>
                <a:latin typeface="Calibri"/>
              </a:rPr>
              <a:t>5</a:t>
            </a:r>
            <a:endParaRPr kumimoji="0" 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15596" y="28519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 smtClean="0">
                <a:solidFill>
                  <a:prstClr val="black"/>
                </a:solidFill>
                <a:latin typeface="Calibri"/>
              </a:rPr>
              <a:t>9</a:t>
            </a:r>
            <a:endParaRPr kumimoji="0" lang="en-US" sz="18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459112"/>
              </p:ext>
            </p:extLst>
          </p:nvPr>
        </p:nvGraphicFramePr>
        <p:xfrm>
          <a:off x="2001042" y="2231426"/>
          <a:ext cx="2917259" cy="1752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40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VPN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PFN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Copy-on-Write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945175" y="1787738"/>
            <a:ext cx="21734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2000" b="1" dirty="0">
                <a:solidFill>
                  <a:prstClr val="black"/>
                </a:solidFill>
                <a:latin typeface="Calibri"/>
              </a:rPr>
              <a:t>Parents Page Table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331026"/>
              </p:ext>
            </p:extLst>
          </p:nvPr>
        </p:nvGraphicFramePr>
        <p:xfrm>
          <a:off x="2043662" y="4567154"/>
          <a:ext cx="2917259" cy="175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40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PFN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Copy-on-Write</a:t>
                      </a:r>
                      <a:endParaRPr lang="en-US" altLang="zh-TW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9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987794" y="4123466"/>
            <a:ext cx="2010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2000" b="1" dirty="0">
                <a:solidFill>
                  <a:prstClr val="black"/>
                </a:solidFill>
                <a:latin typeface="Calibri"/>
              </a:rPr>
              <a:t>Childs Page 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1745" y="3225004"/>
            <a:ext cx="272955" cy="3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1745" y="3645025"/>
            <a:ext cx="272955" cy="3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33" name="Rectangular Callout 32"/>
          <p:cNvSpPr/>
          <p:nvPr/>
        </p:nvSpPr>
        <p:spPr>
          <a:xfrm>
            <a:off x="5172149" y="3429000"/>
            <a:ext cx="2796059" cy="332190"/>
          </a:xfrm>
          <a:prstGeom prst="wedgeRectCallout">
            <a:avLst>
              <a:gd name="adj1" fmla="val -60009"/>
              <a:gd name="adj2" fmla="val 91937"/>
            </a:avLst>
          </a:prstGeom>
          <a:solidFill>
            <a:schemeClr val="accent2"/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2400" dirty="0">
                <a:solidFill>
                  <a:prstClr val="white"/>
                </a:solidFill>
              </a:rPr>
              <a:t>Protection Exception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2045" y="33274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 smtClean="0">
                <a:solidFill>
                  <a:prstClr val="black"/>
                </a:solidFill>
                <a:latin typeface="Calibri"/>
              </a:rPr>
              <a:t>7</a:t>
            </a:r>
            <a:endParaRPr kumimoji="0" 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350990" y="3385683"/>
            <a:ext cx="1153234" cy="30025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Stack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7648" y="3636009"/>
            <a:ext cx="272955" cy="3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 smtClean="0">
                <a:solidFill>
                  <a:prstClr val="white"/>
                </a:solidFill>
              </a:rPr>
              <a:t>7</a:t>
            </a:r>
            <a:endParaRPr kumimoji="0" lang="en-US" sz="1800" dirty="0">
              <a:solidFill>
                <a:prstClr val="white"/>
              </a:solidFill>
            </a:endParaRPr>
          </a:p>
        </p:txBody>
      </p:sp>
      <p:sp>
        <p:nvSpPr>
          <p:cNvPr id="40" name="Right Arrow 39"/>
          <p:cNvSpPr/>
          <p:nvPr/>
        </p:nvSpPr>
        <p:spPr>
          <a:xfrm rot="19186709">
            <a:off x="8130680" y="3595701"/>
            <a:ext cx="1036263" cy="569787"/>
          </a:xfrm>
          <a:prstGeom prst="rightArrow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Write</a:t>
            </a:r>
          </a:p>
        </p:txBody>
      </p:sp>
      <p:sp>
        <p:nvSpPr>
          <p:cNvPr id="31" name="Right Arrow 30"/>
          <p:cNvSpPr/>
          <p:nvPr/>
        </p:nvSpPr>
        <p:spPr>
          <a:xfrm rot="19186709">
            <a:off x="8512575" y="5398175"/>
            <a:ext cx="1036263" cy="569787"/>
          </a:xfrm>
          <a:prstGeom prst="rightArrow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Write</a:t>
            </a:r>
          </a:p>
        </p:txBody>
      </p:sp>
      <p:sp>
        <p:nvSpPr>
          <p:cNvPr id="32" name="Multiply 31"/>
          <p:cNvSpPr/>
          <p:nvPr/>
        </p:nvSpPr>
        <p:spPr>
          <a:xfrm>
            <a:off x="8643928" y="5130955"/>
            <a:ext cx="873456" cy="873456"/>
          </a:xfrm>
          <a:prstGeom prst="mathMultiply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sz="1800">
              <a:solidFill>
                <a:prstClr val="white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8772964" y="6581002"/>
            <a:ext cx="1912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i="1" dirty="0">
                <a:latin typeface="Calibri" panose="020F0502020204030204" pitchFamily="34" charset="0"/>
              </a:rPr>
              <a:t>CS 5600 Computer Systems</a:t>
            </a:r>
            <a:endParaRPr lang="zh-TW" altLang="en-US" sz="1200" b="1" i="1" dirty="0"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931435" y="2969119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endParaRPr lang="zh-TW" alt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圓角矩形圖說文字 3"/>
          <p:cNvSpPr/>
          <p:nvPr/>
        </p:nvSpPr>
        <p:spPr>
          <a:xfrm>
            <a:off x="5667984" y="5982803"/>
            <a:ext cx="2439934" cy="612648"/>
          </a:xfrm>
          <a:prstGeom prst="wedgeRoundRectCallout">
            <a:avLst>
              <a:gd name="adj1" fmla="val 72107"/>
              <a:gd name="adj2" fmla="val -4322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parent writes 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page 3 (frame 2)</a:t>
            </a:r>
            <a:endParaRPr lang="zh-TW" altLang="en-US" sz="2000" b="1" i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Rectangle 36"/>
          <p:cNvSpPr/>
          <p:nvPr/>
        </p:nvSpPr>
        <p:spPr>
          <a:xfrm flipV="1">
            <a:off x="3793705" y="5930025"/>
            <a:ext cx="270995" cy="4333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45" name="Rectangle 28"/>
          <p:cNvSpPr/>
          <p:nvPr/>
        </p:nvSpPr>
        <p:spPr>
          <a:xfrm>
            <a:off x="3791745" y="3661489"/>
            <a:ext cx="272955" cy="3480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800" dirty="0">
                <a:solidFill>
                  <a:prstClr val="white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6434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0" grpId="0" animBg="1"/>
      <p:bldP spid="33" grpId="0" animBg="1"/>
      <p:bldP spid="33" grpId="1" animBg="1"/>
      <p:bldP spid="35" grpId="0"/>
      <p:bldP spid="38" grpId="0" animBg="1"/>
      <p:bldP spid="39" grpId="0" animBg="1"/>
      <p:bldP spid="40" grpId="0" animBg="1"/>
      <p:bldP spid="31" grpId="0" animBg="1"/>
      <p:bldP spid="31" grpId="1" animBg="1"/>
      <p:bldP spid="32" grpId="0" animBg="1"/>
      <p:bldP spid="32" grpId="1" animBg="1"/>
      <p:bldP spid="3" grpId="0" build="allAtOnce"/>
      <p:bldP spid="4" grpId="0" animBg="1"/>
      <p:bldP spid="4" grpId="1" animBg="1"/>
      <p:bldP spid="44" grpId="0" animBg="1"/>
      <p:bldP spid="4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Event-Driven </a:t>
            </a:r>
            <a:r>
              <a:rPr lang="en-US" altLang="zh-TW" dirty="0"/>
              <a:t>OS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dirty="0"/>
              <a:t>OS is </a:t>
            </a:r>
            <a:r>
              <a:rPr lang="en-US" altLang="zh-TW" b="1" dirty="0">
                <a:solidFill>
                  <a:srgbClr val="FF0000"/>
                </a:solidFill>
              </a:rPr>
              <a:t>event-driven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/>
              <a:t>Events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Interrupt</a:t>
            </a:r>
            <a:r>
              <a:rPr lang="en-US" altLang="zh-TW" b="1" dirty="0"/>
              <a:t>: driven by hardware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Trap (or exception): a software-generated interrupt</a:t>
            </a:r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dirty="0"/>
              <a:t>Error:  Division by zero, illegal </a:t>
            </a:r>
            <a:r>
              <a:rPr lang="en-US" altLang="zh-TW" dirty="0" smtClean="0"/>
              <a:t>instructions,</a:t>
            </a:r>
            <a:r>
              <a:rPr lang="en-US" altLang="zh-TW" b="1" dirty="0" smtClean="0">
                <a:solidFill>
                  <a:srgbClr val="FF0000"/>
                </a:solidFill>
              </a:rPr>
              <a:t> page fault trap, copy-on-write fault trap</a:t>
            </a:r>
            <a:endParaRPr lang="en-US" altLang="zh-TW" b="1" dirty="0">
              <a:solidFill>
                <a:srgbClr val="FF0000"/>
              </a:solidFill>
            </a:endParaRPr>
          </a:p>
          <a:p>
            <a:pPr marL="1085850" lvl="2" eaLnBrk="1" hangingPunct="1">
              <a:spcBef>
                <a:spcPts val="600"/>
              </a:spcBef>
            </a:pPr>
            <a:endParaRPr lang="en-US" altLang="zh-TW" dirty="0"/>
          </a:p>
          <a:p>
            <a:pPr marL="1085850" lvl="2" eaLnBrk="1" hangingPunct="1">
              <a:spcBef>
                <a:spcPts val="600"/>
              </a:spcBef>
            </a:pPr>
            <a:r>
              <a:rPr lang="en-US" altLang="zh-TW" dirty="0"/>
              <a:t>System calls: functions provided by OS to provide service to applications</a:t>
            </a:r>
          </a:p>
          <a:p>
            <a:pPr lvl="3" eaLnBrk="1" hangingPunct="1"/>
            <a:r>
              <a:rPr lang="en-US" altLang="zh-TW" dirty="0"/>
              <a:t>Ex: read(), write(), open()……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91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899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Page </a:t>
            </a:r>
            <a:r>
              <a:rPr lang="en-US" altLang="zh-TW" sz="2800" b="1" dirty="0" smtClean="0">
                <a:solidFill>
                  <a:srgbClr val="FF3300"/>
                </a:solidFill>
              </a:rPr>
              <a:t>Replacement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buffering </a:t>
            </a:r>
            <a:r>
              <a:rPr lang="en-US" altLang="zh-TW" sz="2800" dirty="0" smtClean="0"/>
              <a:t>Algorithm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Allocation of Frames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46555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772816"/>
            <a:ext cx="10363200" cy="2016224"/>
          </a:xfrm>
        </p:spPr>
        <p:txBody>
          <a:bodyPr/>
          <a:lstStyle/>
          <a:p>
            <a:r>
              <a:rPr lang="en-US" altLang="zh-TW" dirty="0" smtClean="0"/>
              <a:t>Question: upon page faults, how to do if physical </a:t>
            </a:r>
            <a:r>
              <a:rPr lang="en-US" altLang="zh-TW" dirty="0"/>
              <a:t>memory is </a:t>
            </a:r>
            <a:r>
              <a:rPr lang="en-US" altLang="zh-TW" dirty="0" smtClean="0"/>
              <a:t>full (free frame list is empty) ? </a:t>
            </a:r>
            <a:endParaRPr lang="zh-TW" altLang="en-US" dirty="0"/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6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512912"/>
          </a:xfrm>
        </p:spPr>
        <p:txBody>
          <a:bodyPr/>
          <a:lstStyle/>
          <a:p>
            <a:r>
              <a:rPr lang="en-US" altLang="zh-TW" dirty="0"/>
              <a:t>Demand Paging: Physical Memory is </a:t>
            </a:r>
            <a:r>
              <a:rPr lang="en-US" altLang="zh-TW" dirty="0" smtClean="0"/>
              <a:t>Full</a:t>
            </a: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340768"/>
            <a:ext cx="10225136" cy="4961276"/>
          </a:xfrm>
          <a:prstGeom prst="rect">
            <a:avLst/>
          </a:prstGeom>
        </p:spPr>
      </p:pic>
      <p:sp>
        <p:nvSpPr>
          <p:cNvPr id="6" name="圓角矩形圖說文字 5"/>
          <p:cNvSpPr/>
          <p:nvPr/>
        </p:nvSpPr>
        <p:spPr>
          <a:xfrm>
            <a:off x="6132764" y="5949280"/>
            <a:ext cx="3024336" cy="504056"/>
          </a:xfrm>
          <a:prstGeom prst="wedgeRoundRectCallout">
            <a:avLst>
              <a:gd name="adj1" fmla="val 723"/>
              <a:gd name="adj2" fmla="val -114305"/>
              <a:gd name="adj3" fmla="val 16667"/>
            </a:avLst>
          </a:prstGeom>
          <a:solidFill>
            <a:srgbClr val="8ED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All frames are in use</a:t>
            </a:r>
            <a:endParaRPr lang="zh-TW" altLang="en-US" sz="24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19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772816"/>
            <a:ext cx="10363200" cy="2016224"/>
          </a:xfrm>
        </p:spPr>
        <p:txBody>
          <a:bodyPr/>
          <a:lstStyle/>
          <a:p>
            <a:r>
              <a:rPr lang="en-US" altLang="zh-TW" dirty="0" smtClean="0"/>
              <a:t>Question: upon page faults, how to do if physical </a:t>
            </a:r>
            <a:r>
              <a:rPr lang="en-US" altLang="zh-TW" dirty="0"/>
              <a:t>memory is </a:t>
            </a:r>
            <a:r>
              <a:rPr lang="en-US" altLang="zh-TW" dirty="0" smtClean="0"/>
              <a:t>full (free frame list is empty) 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Answer: Page Replacement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33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Page Replacement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Page replacement</a:t>
            </a:r>
          </a:p>
          <a:p>
            <a:pPr lvl="1" eaLnBrk="1" hangingPunct="1"/>
            <a:r>
              <a:rPr lang="en-US" altLang="zh-TW" dirty="0" smtClean="0"/>
              <a:t>Find a page frame in memory, </a:t>
            </a:r>
            <a:r>
              <a:rPr lang="en-US" altLang="zh-TW" b="1" dirty="0" smtClean="0"/>
              <a:t>page </a:t>
            </a:r>
            <a:r>
              <a:rPr lang="en-US" altLang="zh-TW" dirty="0" smtClean="0"/>
              <a:t>it</a:t>
            </a:r>
            <a:r>
              <a:rPr lang="en-US" altLang="zh-TW" b="1" dirty="0" smtClean="0"/>
              <a:t> out</a:t>
            </a:r>
            <a:r>
              <a:rPr lang="en-US" altLang="zh-TW" dirty="0" smtClean="0"/>
              <a:t>.</a:t>
            </a:r>
          </a:p>
          <a:p>
            <a:pPr lvl="1" eaLnBrk="1" hangingPunct="1"/>
            <a:r>
              <a:rPr lang="en-US" altLang="zh-TW" dirty="0" smtClean="0"/>
              <a:t>And then </a:t>
            </a:r>
            <a:r>
              <a:rPr lang="en-US" altLang="zh-TW" b="1" dirty="0" smtClean="0"/>
              <a:t>page in </a:t>
            </a:r>
            <a:r>
              <a:rPr lang="en-US" altLang="zh-TW" dirty="0" smtClean="0"/>
              <a:t>the desired page</a:t>
            </a:r>
          </a:p>
          <a:p>
            <a:pPr lvl="1"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0304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Page Replacement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2640014" y="1412777"/>
            <a:ext cx="6696075" cy="44592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4007768" y="1844402"/>
            <a:ext cx="1656184" cy="2592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/>
          <p:nvPr/>
        </p:nvCxnSpPr>
        <p:spPr>
          <a:xfrm>
            <a:off x="1847529" y="2348458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>
            <a:off x="7031708" y="3140546"/>
            <a:ext cx="1800597" cy="1368152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7032104" y="4292674"/>
            <a:ext cx="720080" cy="216024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396532" y="4796730"/>
            <a:ext cx="199638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Page Replacement </a:t>
            </a:r>
          </a:p>
        </p:txBody>
      </p:sp>
      <p:sp>
        <p:nvSpPr>
          <p:cNvPr id="14" name="Line 6"/>
          <p:cNvSpPr>
            <a:spLocks noChangeShapeType="1"/>
          </p:cNvSpPr>
          <p:nvPr/>
        </p:nvSpPr>
        <p:spPr bwMode="auto">
          <a:xfrm flipH="1" flipV="1">
            <a:off x="7165324" y="4485476"/>
            <a:ext cx="802884" cy="383263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 flipH="1" flipV="1">
            <a:off x="7791450" y="3940620"/>
            <a:ext cx="176758" cy="928118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614217" y="3457883"/>
            <a:ext cx="1689695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solidFill>
                  <a:schemeClr val="accent2"/>
                </a:solidFill>
                <a:latin typeface="Calibri" panose="020F0502020204030204" pitchFamily="34" charset="0"/>
                <a:ea typeface="標楷體" pitchFamily="65" charset="-120"/>
              </a:rPr>
              <a:t>Page not in physical memory</a:t>
            </a: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V="1">
            <a:off x="4611391" y="2708498"/>
            <a:ext cx="1268586" cy="749384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52184" y="4168055"/>
            <a:ext cx="288032" cy="2061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I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48748" y="4362869"/>
            <a:ext cx="787485" cy="27044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I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48421" y="4367364"/>
            <a:ext cx="769089" cy="256149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6244620" y="4365105"/>
            <a:ext cx="787485" cy="27044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B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13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/>
      <p:bldP spid="17" grpId="0" animBg="1"/>
      <p:bldP spid="11" grpId="0" animBg="1"/>
      <p:bldP spid="3" grpId="0" animBg="1"/>
      <p:bldP spid="20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 Page Replacement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See the following slide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/>
              <a:t>Select a </a:t>
            </a:r>
            <a:r>
              <a:rPr lang="en-US" altLang="zh-TW" b="1" dirty="0">
                <a:solidFill>
                  <a:srgbClr val="FF0000"/>
                </a:solidFill>
              </a:rPr>
              <a:t>victim </a:t>
            </a:r>
            <a:r>
              <a:rPr lang="en-US" altLang="zh-TW" b="1" dirty="0" smtClean="0">
                <a:solidFill>
                  <a:srgbClr val="FF0000"/>
                </a:solidFill>
              </a:rPr>
              <a:t>frame </a:t>
            </a:r>
            <a:r>
              <a:rPr lang="en-US" altLang="zh-TW" dirty="0" smtClean="0"/>
              <a:t>and</a:t>
            </a:r>
            <a:r>
              <a:rPr lang="en-US" altLang="zh-TW" b="1" dirty="0" smtClean="0">
                <a:solidFill>
                  <a:srgbClr val="FF0000"/>
                </a:solidFill>
              </a:rPr>
              <a:t> </a:t>
            </a:r>
            <a:r>
              <a:rPr lang="en-US" altLang="zh-TW" b="1" dirty="0" smtClean="0"/>
              <a:t>page out </a:t>
            </a:r>
            <a:r>
              <a:rPr lang="en-US" altLang="zh-TW" dirty="0"/>
              <a:t>the </a:t>
            </a:r>
            <a:r>
              <a:rPr lang="en-US" altLang="zh-TW" b="1" dirty="0">
                <a:solidFill>
                  <a:srgbClr val="FF0000"/>
                </a:solidFill>
              </a:rPr>
              <a:t>victim frame </a:t>
            </a:r>
            <a:r>
              <a:rPr lang="en-US" altLang="zh-TW" dirty="0"/>
              <a:t>to the </a:t>
            </a:r>
            <a:r>
              <a:rPr lang="en-US" altLang="zh-TW" dirty="0" smtClean="0"/>
              <a:t>disk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/>
              <a:t>Change </a:t>
            </a:r>
            <a:r>
              <a:rPr lang="en-US" altLang="zh-TW" dirty="0"/>
              <a:t>the </a:t>
            </a:r>
            <a:r>
              <a:rPr lang="en-US" altLang="zh-TW" b="1" dirty="0">
                <a:solidFill>
                  <a:srgbClr val="0000FF"/>
                </a:solidFill>
              </a:rPr>
              <a:t>page </a:t>
            </a:r>
            <a:r>
              <a:rPr lang="en-US" altLang="zh-TW" b="1" dirty="0" smtClean="0">
                <a:solidFill>
                  <a:srgbClr val="0000FF"/>
                </a:solidFill>
              </a:rPr>
              <a:t>and frame tables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zh-TW" b="1" dirty="0" smtClean="0"/>
              <a:t>Page in </a:t>
            </a:r>
            <a:r>
              <a:rPr lang="en-US" altLang="zh-TW" dirty="0" smtClean="0"/>
              <a:t>the </a:t>
            </a:r>
            <a:r>
              <a:rPr lang="en-US" altLang="zh-TW" dirty="0"/>
              <a:t>desired page into the (newly) free frame; </a:t>
            </a:r>
            <a:endParaRPr lang="en-US" altLang="zh-TW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/>
              <a:t>Update </a:t>
            </a:r>
            <a:r>
              <a:rPr lang="en-US" altLang="zh-TW" dirty="0"/>
              <a:t>the </a:t>
            </a:r>
            <a:r>
              <a:rPr lang="en-US" altLang="zh-TW" b="1" dirty="0">
                <a:solidFill>
                  <a:srgbClr val="0000FF"/>
                </a:solidFill>
              </a:rPr>
              <a:t>page and frame </a:t>
            </a:r>
            <a:r>
              <a:rPr lang="en-US" altLang="zh-TW" b="1" dirty="0" smtClean="0">
                <a:solidFill>
                  <a:srgbClr val="0000FF"/>
                </a:solidFill>
              </a:rPr>
              <a:t>tables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dirty="0" smtClean="0"/>
              <a:t>Restart </a:t>
            </a:r>
            <a:r>
              <a:rPr lang="en-US" altLang="zh-TW" dirty="0"/>
              <a:t>the process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743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Page Table When Some Pages Are Not in Main Memory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1343472" y="1484784"/>
            <a:ext cx="9289032" cy="489175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cxnSp>
        <p:nvCxnSpPr>
          <p:cNvPr id="4" name="直線單箭頭接點 3"/>
          <p:cNvCxnSpPr/>
          <p:nvPr/>
        </p:nvCxnSpPr>
        <p:spPr>
          <a:xfrm>
            <a:off x="551384" y="2492896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3071267" y="3068960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871864" y="2899683"/>
            <a:ext cx="864096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 smtClean="0">
                <a:solidFill>
                  <a:schemeClr val="accent2"/>
                </a:solidFill>
                <a:latin typeface="Calibri" panose="020F0502020204030204" pitchFamily="34" charset="0"/>
                <a:ea typeface="標楷體" pitchFamily="65" charset="-120"/>
              </a:rPr>
              <a:t>In-valid</a:t>
            </a:r>
            <a:endParaRPr lang="en-US" altLang="zh-TW" sz="1600" b="1" dirty="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12024" y="4149080"/>
            <a:ext cx="1152128" cy="2880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F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655840" y="3697287"/>
            <a:ext cx="72008" cy="307777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en-US" altLang="zh-TW" sz="1400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i</a:t>
            </a:r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305036" y="3688051"/>
            <a:ext cx="72008" cy="307777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0</a:t>
            </a:r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62739" y="4120505"/>
            <a:ext cx="396000" cy="2061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smtClean="0">
                <a:solidFill>
                  <a:schemeClr val="tx1"/>
                </a:solidFill>
              </a:rPr>
              <a:t>F`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7536160" y="4221088"/>
            <a:ext cx="936104" cy="72008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708112" y="4202616"/>
            <a:ext cx="396000" cy="2061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smtClean="0">
                <a:solidFill>
                  <a:schemeClr val="tx1"/>
                </a:solidFill>
              </a:rPr>
              <a:t>F`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12024" y="4149080"/>
            <a:ext cx="1152128" cy="288032"/>
          </a:xfrm>
          <a:prstGeom prst="rect">
            <a:avLst/>
          </a:prstGeom>
          <a:solidFill>
            <a:srgbClr val="CCECFF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80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4" grpId="0" animBg="1"/>
      <p:bldP spid="16" grpId="0" animBg="1"/>
      <p:bldP spid="1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Page Table When Some Pages Are Not in Main Memory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1343869" y="1487177"/>
            <a:ext cx="9289032" cy="489175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cxnSp>
        <p:nvCxnSpPr>
          <p:cNvPr id="4" name="直線單箭頭接點 3"/>
          <p:cNvCxnSpPr/>
          <p:nvPr/>
        </p:nvCxnSpPr>
        <p:spPr>
          <a:xfrm>
            <a:off x="551384" y="2492896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3071267" y="3068960"/>
            <a:ext cx="792485" cy="0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4206932" y="2905199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9</a:t>
            </a:r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708390" y="3717032"/>
            <a:ext cx="72008" cy="307777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en-US" altLang="zh-TW" sz="1400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i</a:t>
            </a:r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7463359" y="3501008"/>
            <a:ext cx="2449067" cy="800843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4267454" y="3789040"/>
            <a:ext cx="243974" cy="144016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655840" y="2905199"/>
            <a:ext cx="72008" cy="307777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v</a:t>
            </a:r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295800" y="3697287"/>
            <a:ext cx="72008" cy="307777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0</a:t>
            </a:r>
            <a:endParaRPr lang="zh-TW" altLang="en-US" sz="14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09693" y="4128734"/>
            <a:ext cx="1152128" cy="288032"/>
          </a:xfrm>
          <a:prstGeom prst="rect">
            <a:avLst/>
          </a:prstGeom>
          <a:solidFill>
            <a:srgbClr val="CCECFF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19218" y="4130030"/>
            <a:ext cx="1152128" cy="28803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462739" y="4120505"/>
            <a:ext cx="396000" cy="2061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smtClean="0">
                <a:solidFill>
                  <a:schemeClr val="tx1"/>
                </a:solidFill>
              </a:rPr>
              <a:t>F`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27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512912"/>
          </a:xfrm>
        </p:spPr>
        <p:txBody>
          <a:bodyPr/>
          <a:lstStyle/>
          <a:p>
            <a:r>
              <a:rPr lang="zh-TW" altLang="en-US" dirty="0" smtClean="0"/>
              <a:t>請完成動畫</a:t>
            </a:r>
            <a:r>
              <a:rPr lang="en-US" altLang="zh-TW" dirty="0" smtClean="0"/>
              <a:t>: If frame 5 is Selected as Victim</a:t>
            </a: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340768"/>
            <a:ext cx="10225136" cy="4961276"/>
          </a:xfrm>
          <a:prstGeom prst="rect">
            <a:avLst/>
          </a:prstGeom>
        </p:spPr>
      </p:pic>
      <p:sp>
        <p:nvSpPr>
          <p:cNvPr id="6" name="圓角矩形圖說文字 5"/>
          <p:cNvSpPr/>
          <p:nvPr/>
        </p:nvSpPr>
        <p:spPr>
          <a:xfrm>
            <a:off x="6528048" y="5877272"/>
            <a:ext cx="2232248" cy="288032"/>
          </a:xfrm>
          <a:prstGeom prst="wedgeRoundRectCallout">
            <a:avLst>
              <a:gd name="adj1" fmla="val -4073"/>
              <a:gd name="adj2" fmla="val -12577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All frames are in use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475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Reduce Page Replacement Overhead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 smtClean="0"/>
              <a:t>Page replacement</a:t>
            </a:r>
            <a:r>
              <a:rPr lang="en-US" altLang="zh-TW" dirty="0" smtClean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>
                <a:sym typeface="Wingdings" pitchFamily="2" charset="2"/>
              </a:rPr>
              <a:t></a:t>
            </a:r>
            <a:r>
              <a:rPr lang="en-US" altLang="zh-TW" sz="3200" dirty="0"/>
              <a:t>: Two page </a:t>
            </a:r>
            <a:r>
              <a:rPr lang="en-US" altLang="zh-TW" sz="3200" dirty="0" smtClean="0"/>
              <a:t>transfers</a:t>
            </a:r>
          </a:p>
          <a:p>
            <a:pPr eaLnBrk="1" hangingPunct="1">
              <a:lnSpc>
                <a:spcPct val="90000"/>
              </a:lnSpc>
            </a:pPr>
            <a:endParaRPr lang="en-US" altLang="zh-TW" sz="36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3600" b="1" dirty="0" smtClean="0"/>
              <a:t>Q: </a:t>
            </a:r>
            <a:r>
              <a:rPr lang="zh-TW" altLang="en-US" sz="3600" b="1" dirty="0" smtClean="0"/>
              <a:t>怎麼辦呢</a:t>
            </a:r>
            <a:r>
              <a:rPr lang="en-US" altLang="zh-TW" sz="3600" b="1" dirty="0" smtClean="0"/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zh-TW" altLang="en-US" sz="3200" dirty="0" smtClean="0"/>
              <a:t>只前看到的都是</a:t>
            </a:r>
            <a:r>
              <a:rPr lang="en-US" altLang="zh-TW" sz="3200" dirty="0" smtClean="0"/>
              <a:t>OS</a:t>
            </a:r>
            <a:r>
              <a:rPr lang="zh-TW" altLang="en-US" sz="3200" dirty="0" smtClean="0"/>
              <a:t>在填</a:t>
            </a:r>
            <a:r>
              <a:rPr lang="en-US" altLang="zh-TW" sz="3200" dirty="0" smtClean="0"/>
              <a:t>page table</a:t>
            </a:r>
            <a:r>
              <a:rPr lang="zh-TW" altLang="en-US" sz="3200" dirty="0" smtClean="0"/>
              <a:t>的內容</a:t>
            </a:r>
            <a:endParaRPr lang="en-US" altLang="zh-TW" sz="3200" dirty="0" smtClean="0"/>
          </a:p>
          <a:p>
            <a:pPr lvl="1" eaLnBrk="1" hangingPunct="1">
              <a:lnSpc>
                <a:spcPct val="90000"/>
              </a:lnSpc>
            </a:pPr>
            <a:endParaRPr lang="en-US" altLang="zh-TW" sz="3200" dirty="0" smtClean="0"/>
          </a:p>
          <a:p>
            <a:pPr lvl="1" eaLnBrk="1" hangingPunct="1">
              <a:lnSpc>
                <a:spcPct val="90000"/>
              </a:lnSpc>
            </a:pPr>
            <a:r>
              <a:rPr lang="zh-TW" altLang="en-US" sz="3200" dirty="0" smtClean="0"/>
              <a:t>事實上</a:t>
            </a:r>
            <a:r>
              <a:rPr lang="en-US" altLang="zh-TW" sz="3200" dirty="0" smtClean="0"/>
              <a:t>, MMU</a:t>
            </a:r>
            <a:r>
              <a:rPr lang="zh-TW" altLang="en-US" sz="3200" dirty="0" smtClean="0"/>
              <a:t>也會填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modify bit</a:t>
            </a:r>
            <a:r>
              <a:rPr lang="en-US" altLang="zh-TW" sz="3200" dirty="0" smtClean="0"/>
              <a:t> in each page table entry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69655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tx1"/>
                </a:solidFill>
              </a:rPr>
              <a:t>Page Table in OS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5"/>
            <a:ext cx="2265362" cy="93256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794794"/>
            <a:ext cx="2260600" cy="645693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416883"/>
            <a:ext cx="2260600" cy="3377911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863" y="4365104"/>
            <a:ext cx="1877393" cy="1224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688288" y="4797152"/>
            <a:ext cx="151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table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直線接點 6"/>
          <p:cNvCxnSpPr>
            <a:stCxn id="282629" idx="1"/>
            <a:endCxn id="282629" idx="3"/>
          </p:cNvCxnSpPr>
          <p:nvPr/>
        </p:nvCxnSpPr>
        <p:spPr>
          <a:xfrm>
            <a:off x="6311900" y="4105839"/>
            <a:ext cx="2260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6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Reduce Page Replacement Overhead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3600" dirty="0" smtClean="0"/>
              <a:t>Solution</a:t>
            </a:r>
            <a:r>
              <a:rPr lang="en-US" altLang="zh-TW" sz="3600" dirty="0"/>
              <a:t>: </a:t>
            </a:r>
            <a:r>
              <a:rPr lang="en-US" altLang="zh-TW" sz="3600" b="1" dirty="0">
                <a:solidFill>
                  <a:srgbClr val="CC3300"/>
                </a:solidFill>
              </a:rPr>
              <a:t>modify bit (</a:t>
            </a:r>
            <a:r>
              <a:rPr lang="en-US" altLang="zh-TW" sz="3600" dirty="0">
                <a:solidFill>
                  <a:srgbClr val="CC3300"/>
                </a:solidFill>
              </a:rPr>
              <a:t>or</a:t>
            </a:r>
            <a:r>
              <a:rPr lang="en-US" altLang="zh-TW" sz="3600" b="1" dirty="0">
                <a:solidFill>
                  <a:srgbClr val="CC3300"/>
                </a:solidFill>
              </a:rPr>
              <a:t> dirty bit)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Each page frame is associated with a </a:t>
            </a:r>
            <a:r>
              <a:rPr lang="en-US" altLang="zh-TW" b="1" dirty="0" smtClean="0"/>
              <a:t>modify bit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Set by the </a:t>
            </a:r>
            <a:r>
              <a:rPr lang="en-US" altLang="zh-TW" b="1" dirty="0" smtClean="0">
                <a:solidFill>
                  <a:srgbClr val="FF3300"/>
                </a:solidFill>
              </a:rPr>
              <a:t>hardware</a:t>
            </a:r>
            <a:r>
              <a:rPr lang="en-US" altLang="zh-TW" dirty="0" smtClean="0"/>
              <a:t> if a frame page is modified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Reduce overhead</a:t>
            </a:r>
            <a:r>
              <a:rPr lang="en-US" altLang="zh-TW" dirty="0" smtClean="0">
                <a:latin typeface="Helvetica" pitchFamily="34" charset="0"/>
              </a:rPr>
              <a:t>–</a:t>
            </a:r>
            <a:r>
              <a:rPr lang="en-US" altLang="zh-TW" dirty="0" smtClean="0"/>
              <a:t> only </a:t>
            </a:r>
            <a:r>
              <a:rPr lang="en-US" altLang="zh-TW" dirty="0" smtClean="0">
                <a:solidFill>
                  <a:srgbClr val="FF3300"/>
                </a:solidFill>
              </a:rPr>
              <a:t>modified pages</a:t>
            </a:r>
            <a:r>
              <a:rPr lang="en-US" altLang="zh-TW" dirty="0" smtClean="0"/>
              <a:t> are written to disk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 smtClean="0"/>
              <a:t>If m = 1, write back to disk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 smtClean="0"/>
              <a:t>If m = 0, directly replace the page</a:t>
            </a:r>
          </a:p>
        </p:txBody>
      </p:sp>
    </p:spTree>
    <p:extLst>
      <p:ext uri="{BB962C8B-B14F-4D97-AF65-F5344CB8AC3E}">
        <p14:creationId xmlns:p14="http://schemas.microsoft.com/office/powerpoint/2010/main" val="183409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Page Replacement with Modify Bit</a:t>
            </a:r>
            <a:endParaRPr lang="zh-TW" altLang="en-US" dirty="0"/>
          </a:p>
        </p:txBody>
      </p:sp>
      <p:grpSp>
        <p:nvGrpSpPr>
          <p:cNvPr id="16" name="群組 15"/>
          <p:cNvGrpSpPr/>
          <p:nvPr/>
        </p:nvGrpSpPr>
        <p:grpSpPr>
          <a:xfrm>
            <a:off x="1725837" y="1553796"/>
            <a:ext cx="8124973" cy="5048250"/>
            <a:chOff x="1725837" y="1553796"/>
            <a:chExt cx="8124973" cy="5048250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135560" y="1553796"/>
              <a:ext cx="7715250" cy="5048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Line 10"/>
            <p:cNvSpPr>
              <a:spLocks noChangeShapeType="1"/>
            </p:cNvSpPr>
            <p:nvPr/>
          </p:nvSpPr>
          <p:spPr bwMode="auto">
            <a:xfrm flipV="1">
              <a:off x="6096001" y="3212976"/>
              <a:ext cx="1584176" cy="432047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5663952" y="2564905"/>
              <a:ext cx="2122488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If </a:t>
              </a:r>
              <a:r>
                <a:rPr lang="en-US" altLang="zh-TW" sz="2000" b="1" i="1" dirty="0">
                  <a:latin typeface="Calibri" panose="020F0502020204030204" pitchFamily="34" charset="0"/>
                </a:rPr>
                <a:t>m</a:t>
              </a:r>
              <a:r>
                <a:rPr lang="en-US" altLang="zh-TW" sz="2000" b="1" dirty="0">
                  <a:latin typeface="Calibri" panose="020F0502020204030204" pitchFamily="34" charset="0"/>
                </a:rPr>
                <a:t>=1</a:t>
              </a:r>
            </a:p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write back to disk</a:t>
              </a: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3503712" y="2151305"/>
              <a:ext cx="216024" cy="1944216"/>
              <a:chOff x="1979712" y="2161137"/>
              <a:chExt cx="216024" cy="1944216"/>
            </a:xfrm>
          </p:grpSpPr>
          <p:sp>
            <p:nvSpPr>
              <p:cNvPr id="4" name="Rectangle 6"/>
              <p:cNvSpPr>
                <a:spLocks noChangeArrowheads="1"/>
              </p:cNvSpPr>
              <p:nvPr/>
            </p:nvSpPr>
            <p:spPr bwMode="auto">
              <a:xfrm>
                <a:off x="1979712" y="2161137"/>
                <a:ext cx="216024" cy="1944216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TW" sz="1800" b="1">
                    <a:latin typeface="Calibri" pitchFamily="34" charset="0"/>
                  </a:rPr>
                  <a:t>m</a:t>
                </a:r>
                <a:endParaRPr lang="en-US" altLang="zh-TW" sz="1800" b="1" dirty="0">
                  <a:latin typeface="Calibri" pitchFamily="34" charset="0"/>
                </a:endParaRPr>
              </a:p>
            </p:txBody>
          </p:sp>
          <p:cxnSp>
            <p:nvCxnSpPr>
              <p:cNvPr id="7" name="直線接點 6"/>
              <p:cNvCxnSpPr/>
              <p:nvPr/>
            </p:nvCxnSpPr>
            <p:spPr>
              <a:xfrm>
                <a:off x="1979712" y="2996952"/>
                <a:ext cx="2160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線接點 8"/>
              <p:cNvCxnSpPr/>
              <p:nvPr/>
            </p:nvCxnSpPr>
            <p:spPr>
              <a:xfrm>
                <a:off x="1979712" y="3501008"/>
                <a:ext cx="2160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接點 9"/>
              <p:cNvCxnSpPr/>
              <p:nvPr/>
            </p:nvCxnSpPr>
            <p:spPr>
              <a:xfrm>
                <a:off x="1979712" y="3789040"/>
                <a:ext cx="2160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/>
              <p:cNvCxnSpPr/>
              <p:nvPr/>
            </p:nvCxnSpPr>
            <p:spPr>
              <a:xfrm>
                <a:off x="1979712" y="3266579"/>
                <a:ext cx="2160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橢圓 11"/>
            <p:cNvSpPr/>
            <p:nvPr/>
          </p:nvSpPr>
          <p:spPr>
            <a:xfrm>
              <a:off x="6600056" y="2267000"/>
              <a:ext cx="360040" cy="3515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solidFill>
                    <a:schemeClr val="tx1"/>
                  </a:solidFill>
                  <a:latin typeface="Calibri" panose="020F0502020204030204" pitchFamily="34" charset="0"/>
                </a:rPr>
                <a:t>1</a:t>
              </a:r>
              <a:endParaRPr lang="zh-TW" altLang="en-US" sz="2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3" name="直線單箭頭接點 12"/>
            <p:cNvCxnSpPr/>
            <p:nvPr/>
          </p:nvCxnSpPr>
          <p:spPr>
            <a:xfrm>
              <a:off x="1775520" y="3068960"/>
              <a:ext cx="792485" cy="0"/>
            </a:xfrm>
            <a:prstGeom prst="straightConnector1">
              <a:avLst/>
            </a:prstGeom>
            <a:ln w="76200">
              <a:solidFill>
                <a:srgbClr val="FF00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字方塊 7"/>
            <p:cNvSpPr txBox="1"/>
            <p:nvPr/>
          </p:nvSpPr>
          <p:spPr>
            <a:xfrm>
              <a:off x="1725837" y="2708920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 b="1" dirty="0" smtClean="0">
                  <a:latin typeface="Calibri" panose="020F0502020204030204" pitchFamily="34" charset="0"/>
                  <a:cs typeface="Calibri" panose="020F0502020204030204" pitchFamily="34" charset="0"/>
                </a:rPr>
                <a:t>victim</a:t>
              </a:r>
              <a:endPara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757836" y="2618509"/>
              <a:ext cx="1186434" cy="19626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499598" y="2159659"/>
              <a:ext cx="57606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312024" y="4077072"/>
              <a:ext cx="432048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370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Replacement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Page Replacement</a:t>
            </a:r>
            <a:r>
              <a:rPr lang="zh-TW" altLang="en-US" sz="2800" b="1" dirty="0">
                <a:solidFill>
                  <a:srgbClr val="FF3300"/>
                </a:solidFill>
              </a:rPr>
              <a:t> </a:t>
            </a:r>
            <a:r>
              <a:rPr lang="en-US" altLang="zh-TW" sz="2800" b="1" dirty="0">
                <a:solidFill>
                  <a:srgbClr val="FF3300"/>
                </a:solidFill>
              </a:rPr>
              <a:t>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Page buffering </a:t>
            </a:r>
            <a:r>
              <a:rPr lang="en-US" altLang="zh-TW" sz="2800" dirty="0" smtClean="0"/>
              <a:t>Algorithm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Allocation of Frames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74282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Two Major Problems to Implement Demand Paging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Page-replacement algorithm </a:t>
            </a:r>
          </a:p>
          <a:p>
            <a:pPr lvl="1"/>
            <a:r>
              <a:rPr lang="en-US" altLang="zh-TW" dirty="0"/>
              <a:t>Which frame is to be replaced ?</a:t>
            </a:r>
          </a:p>
          <a:p>
            <a:pPr lvl="1"/>
            <a:r>
              <a:rPr lang="en-US" altLang="zh-TW" dirty="0"/>
              <a:t>Goal: </a:t>
            </a:r>
            <a:r>
              <a:rPr lang="en-US" altLang="zh-TW" b="1" dirty="0">
                <a:solidFill>
                  <a:srgbClr val="FF0000"/>
                </a:solidFill>
              </a:rPr>
              <a:t>result in minimum number of page faults</a:t>
            </a:r>
          </a:p>
          <a:p>
            <a:endParaRPr lang="en-US" altLang="zh-TW" dirty="0" smtClean="0"/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Frame-allocation </a:t>
            </a:r>
            <a:r>
              <a:rPr lang="en-US" altLang="zh-TW" b="1" dirty="0">
                <a:solidFill>
                  <a:srgbClr val="FF0000"/>
                </a:solidFill>
              </a:rPr>
              <a:t>algorithm </a:t>
            </a:r>
          </a:p>
          <a:p>
            <a:pPr lvl="1"/>
            <a:r>
              <a:rPr lang="en-US" altLang="zh-TW" dirty="0"/>
              <a:t>How many frames are allocated to a process ?</a:t>
            </a:r>
          </a:p>
          <a:p>
            <a:pPr lvl="1"/>
            <a:r>
              <a:rPr lang="en-US" altLang="zh-TW" dirty="0"/>
              <a:t>Introduced </a:t>
            </a:r>
            <a:r>
              <a:rPr lang="en-US" altLang="zh-TW" dirty="0" smtClean="0"/>
              <a:t>later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304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Page Replacement Algorithm: </a:t>
            </a:r>
            <a:r>
              <a:rPr lang="en-US" altLang="zh-TW" dirty="0"/>
              <a:t>Which Frame is Selected as the Victim Frame?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966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/>
              <a:t>Page </a:t>
            </a:r>
            <a:r>
              <a:rPr lang="en-US" altLang="zh-TW" sz="4000" dirty="0"/>
              <a:t>Replacement Algorithms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b="1" dirty="0">
                <a:solidFill>
                  <a:srgbClr val="FF3300"/>
                </a:solidFill>
              </a:rPr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Stack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Optimal </a:t>
            </a:r>
            <a:r>
              <a:rPr lang="en-US" altLang="zh-TW" sz="2400" dirty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</a:t>
            </a:r>
            <a:r>
              <a:rPr lang="en-US" altLang="zh-TW" sz="2400" dirty="0" smtClean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LRU </a:t>
            </a:r>
            <a:r>
              <a:rPr lang="en-US" altLang="zh-TW" sz="2400" dirty="0"/>
              <a:t>approximation 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LFU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 smtClean="0"/>
              <a:t>MFU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60598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FIFO Page Replacement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15 page faults in this </a:t>
            </a:r>
            <a:r>
              <a:rPr lang="en-US" altLang="zh-TW" sz="2800" dirty="0" smtClean="0"/>
              <a:t>case</a:t>
            </a:r>
            <a:endParaRPr lang="en-US" altLang="zh-TW" sz="2800" dirty="0"/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2" cstate="print"/>
          <a:srcRect l="655" t="32359" r="452" b="32361"/>
          <a:stretch>
            <a:fillRect/>
          </a:stretch>
        </p:blipFill>
        <p:spPr bwMode="auto">
          <a:xfrm>
            <a:off x="1415480" y="2204864"/>
            <a:ext cx="9073008" cy="388843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437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再看一個例子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89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First-In-First-Out (FIFO) Algorithm</a:t>
            </a:r>
          </a:p>
        </p:txBody>
      </p:sp>
      <p:pic>
        <p:nvPicPr>
          <p:cNvPr id="4505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0539" y="1527175"/>
            <a:ext cx="8593137" cy="499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0" name="Rectangle 6"/>
          <p:cNvSpPr>
            <a:spLocks noChangeArrowheads="1"/>
          </p:cNvSpPr>
          <p:nvPr/>
        </p:nvSpPr>
        <p:spPr bwMode="auto">
          <a:xfrm>
            <a:off x="1774826" y="6237289"/>
            <a:ext cx="8569325" cy="2873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67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FIFO Page Replacement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800" dirty="0" smtClean="0"/>
              <a:t>上述例子是否很奇怪</a:t>
            </a:r>
            <a:r>
              <a:rPr lang="en-US" altLang="zh-TW" sz="2800" dirty="0" smtClean="0"/>
              <a:t>?</a:t>
            </a:r>
            <a:endParaRPr lang="en-US" altLang="en-US" sz="2800" dirty="0" smtClean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/>
              <a:t>FIFO suffers </a:t>
            </a:r>
            <a:r>
              <a:rPr lang="en-US" altLang="en-US" sz="2800" dirty="0"/>
              <a:t>from the </a:t>
            </a:r>
            <a:r>
              <a:rPr lang="en-US" altLang="en-US" sz="2800" b="1" dirty="0" err="1">
                <a:solidFill>
                  <a:srgbClr val="FF3300"/>
                </a:solidFill>
              </a:rPr>
              <a:t>belady’s</a:t>
            </a:r>
            <a:r>
              <a:rPr lang="en-US" altLang="en-US" sz="2800" b="1" dirty="0">
                <a:solidFill>
                  <a:srgbClr val="FF3300"/>
                </a:solidFill>
              </a:rPr>
              <a:t> anomaly</a:t>
            </a:r>
            <a:endParaRPr lang="en-US" altLang="zh-TW" sz="2800" dirty="0"/>
          </a:p>
        </p:txBody>
      </p:sp>
      <p:sp>
        <p:nvSpPr>
          <p:cNvPr id="729092" name="Text Box 4"/>
          <p:cNvSpPr txBox="1">
            <a:spLocks noChangeArrowheads="1"/>
          </p:cNvSpPr>
          <p:nvPr/>
        </p:nvSpPr>
        <p:spPr bwMode="auto">
          <a:xfrm>
            <a:off x="2752656" y="3678123"/>
            <a:ext cx="638347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2400" b="1" dirty="0" err="1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Belady’s</a:t>
            </a:r>
            <a:r>
              <a:rPr lang="en-US" altLang="zh-TW" sz="2400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TW" sz="24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Anomaly</a:t>
            </a:r>
          </a:p>
          <a:p>
            <a:pPr lvl="1" algn="ctr">
              <a:defRPr/>
            </a:pPr>
            <a:r>
              <a:rPr lang="en-US" altLang="zh-TW" sz="2400" b="1" dirty="0"/>
              <a:t>allocated frames </a:t>
            </a:r>
            <a:r>
              <a:rPr lang="en-US" altLang="zh-TW" sz="2400" b="1" dirty="0">
                <a:sym typeface="Symbol" pitchFamily="18" charset="2"/>
              </a:rPr>
              <a:t>    </a:t>
            </a:r>
            <a:r>
              <a:rPr lang="en-US" altLang="zh-TW" sz="2400" b="1" dirty="0"/>
              <a:t>page-fault rate </a:t>
            </a:r>
            <a:r>
              <a:rPr lang="en-US" altLang="zh-TW" sz="2400" b="1" dirty="0">
                <a:sym typeface="Symbol" pitchFamily="18" charset="2"/>
              </a:rPr>
              <a:t></a:t>
            </a: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3287714" y="3788965"/>
            <a:ext cx="5832475" cy="79216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69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Graph of Page Faults Versus the Number of Frames: </a:t>
            </a:r>
            <a:r>
              <a:rPr lang="en-US" altLang="zh-TW" sz="3600" dirty="0">
                <a:solidFill>
                  <a:srgbClr val="0000FF"/>
                </a:solidFill>
              </a:rPr>
              <a:t>Normal Case</a:t>
            </a:r>
          </a:p>
        </p:txBody>
      </p:sp>
      <p:pic>
        <p:nvPicPr>
          <p:cNvPr id="41987" name="Picture 4"/>
          <p:cNvPicPr>
            <a:picLocks noChangeAspect="1" noChangeArrowheads="1"/>
          </p:cNvPicPr>
          <p:nvPr/>
        </p:nvPicPr>
        <p:blipFill>
          <a:blip r:embed="rId2" cstate="print"/>
          <a:srcRect l="493" t="11264" r="1244" b="11610"/>
          <a:stretch>
            <a:fillRect/>
          </a:stretch>
        </p:blipFill>
        <p:spPr bwMode="auto">
          <a:xfrm>
            <a:off x="2063751" y="1484314"/>
            <a:ext cx="8010525" cy="468153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480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FIFO Illustrating Belady</a:t>
            </a:r>
            <a:r>
              <a:rPr lang="en-US" altLang="zh-TW" smtClean="0">
                <a:latin typeface="Helvetica"/>
              </a:rPr>
              <a:t>’</a:t>
            </a:r>
            <a:r>
              <a:rPr lang="en-US" altLang="zh-TW" smtClean="0"/>
              <a:t>s Anomaly</a:t>
            </a: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 cstate="print"/>
          <a:srcRect l="1103" t="7935" r="1103" b="8517"/>
          <a:stretch>
            <a:fillRect/>
          </a:stretch>
        </p:blipFill>
        <p:spPr bwMode="auto">
          <a:xfrm>
            <a:off x="2351088" y="1700214"/>
            <a:ext cx="7561262" cy="37623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10845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en-US" altLang="zh-TW" sz="4000" b="1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</a:rPr>
              <a:t>Page </a:t>
            </a:r>
            <a:r>
              <a:rPr kumimoji="1" lang="en-US" altLang="zh-TW" sz="40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</a:rPr>
              <a:t>Replacement Algorithms</a:t>
            </a:r>
            <a:endParaRPr lang="en-US" altLang="zh-TW" sz="4800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b="1" dirty="0">
                <a:solidFill>
                  <a:srgbClr val="FF3300"/>
                </a:solidFill>
              </a:rPr>
              <a:t>Stack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Optimal </a:t>
            </a:r>
            <a:r>
              <a:rPr lang="en-US" altLang="zh-TW" sz="2400" dirty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LRU-approximation </a:t>
            </a:r>
            <a:r>
              <a:rPr lang="en-US" altLang="zh-TW" sz="2400" dirty="0"/>
              <a:t>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LFU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 smtClean="0"/>
              <a:t>MFU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53767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Stack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Not</a:t>
            </a:r>
            <a:r>
              <a:rPr lang="en-US" altLang="zh-TW" dirty="0"/>
              <a:t> a specific page replacement algorithm</a:t>
            </a:r>
          </a:p>
          <a:p>
            <a:r>
              <a:rPr lang="en-US" altLang="zh-TW" b="1" dirty="0"/>
              <a:t>Stack algorithm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Assume physical memory has n frames</a:t>
            </a:r>
          </a:p>
          <a:p>
            <a:pPr lvl="1"/>
            <a:r>
              <a:rPr lang="en-US" altLang="zh-TW" dirty="0"/>
              <a:t>If physical memory becomes n+1 frames, above n frames must also be in physical memory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Stack algorithms do not suffers from </a:t>
            </a:r>
            <a:r>
              <a:rPr lang="en-US" altLang="zh-TW" dirty="0" err="1">
                <a:solidFill>
                  <a:srgbClr val="FF0000"/>
                </a:solidFill>
              </a:rPr>
              <a:t>Belady's</a:t>
            </a:r>
            <a:r>
              <a:rPr lang="en-US" altLang="zh-TW" dirty="0">
                <a:solidFill>
                  <a:srgbClr val="FF0000"/>
                </a:solidFill>
              </a:rPr>
              <a:t> anomaly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Both optimal algorithm and LRU algorithm are stack algorithm. </a:t>
            </a:r>
          </a:p>
          <a:p>
            <a:pPr lvl="1"/>
            <a:r>
              <a:rPr lang="en-US" altLang="zh-TW" dirty="0"/>
              <a:t>FIFO is not a stack algorithm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059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>
                <a:solidFill>
                  <a:srgbClr val="000000"/>
                </a:solidFill>
              </a:rPr>
              <a:t>Page </a:t>
            </a:r>
            <a:r>
              <a:rPr lang="en-US" altLang="zh-TW" sz="4000" dirty="0">
                <a:solidFill>
                  <a:srgbClr val="000000"/>
                </a:solidFill>
              </a:rPr>
              <a:t>Replacement Algorithms</a:t>
            </a:r>
            <a:endParaRPr lang="en-US" altLang="zh-TW" sz="4800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b="1" dirty="0">
                <a:solidFill>
                  <a:srgbClr val="FF3300"/>
                </a:solidFill>
              </a:rPr>
              <a:t>Optimal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</a:t>
            </a:r>
            <a:r>
              <a:rPr lang="en-US" altLang="zh-TW" sz="2400" dirty="0" smtClean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Stack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approximation 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LFU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 smtClean="0"/>
              <a:t>MFU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55039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如何選擇</a:t>
            </a:r>
            <a:r>
              <a:rPr lang="en-US" altLang="zh-TW" dirty="0" smtClean="0"/>
              <a:t>victim page</a:t>
            </a:r>
            <a:r>
              <a:rPr lang="zh-TW" altLang="en-US" dirty="0" smtClean="0"/>
              <a:t>可以達到最佳效能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最佳效果</a:t>
            </a:r>
            <a:r>
              <a:rPr lang="en-US" altLang="zh-TW" dirty="0" smtClean="0"/>
              <a:t>=page faults</a:t>
            </a:r>
            <a:r>
              <a:rPr lang="zh-TW" altLang="en-US" dirty="0" smtClean="0"/>
              <a:t>次數最少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674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Optimal Algorithm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TW" b="1" dirty="0" smtClean="0">
                <a:solidFill>
                  <a:srgbClr val="FF3300"/>
                </a:solidFill>
              </a:rPr>
              <a:t>Replace page that will </a:t>
            </a:r>
            <a:r>
              <a:rPr lang="en-US" altLang="zh-TW" b="1" dirty="0" smtClean="0">
                <a:solidFill>
                  <a:srgbClr val="3333FF"/>
                </a:solidFill>
              </a:rPr>
              <a:t>not</a:t>
            </a:r>
            <a:r>
              <a:rPr lang="en-US" altLang="zh-TW" b="1" dirty="0" smtClean="0">
                <a:solidFill>
                  <a:srgbClr val="FF3300"/>
                </a:solidFill>
              </a:rPr>
              <a:t> be used for longest period of time</a:t>
            </a:r>
            <a:endParaRPr lang="en-US" altLang="zh-TW" dirty="0" smtClean="0"/>
          </a:p>
        </p:txBody>
      </p:sp>
      <p:pic>
        <p:nvPicPr>
          <p:cNvPr id="48132" name="Picture 5"/>
          <p:cNvPicPr>
            <a:picLocks noChangeAspect="1" noChangeArrowheads="1"/>
          </p:cNvPicPr>
          <p:nvPr/>
        </p:nvPicPr>
        <p:blipFill>
          <a:blip r:embed="rId2" cstate="print"/>
          <a:srcRect l="471" t="32074" r="781" b="32076"/>
          <a:stretch>
            <a:fillRect/>
          </a:stretch>
        </p:blipFill>
        <p:spPr bwMode="auto">
          <a:xfrm>
            <a:off x="2063751" y="2349501"/>
            <a:ext cx="8342313" cy="35988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48133" name="Text Box 6"/>
          <p:cNvSpPr txBox="1">
            <a:spLocks noChangeArrowheads="1"/>
          </p:cNvSpPr>
          <p:nvPr/>
        </p:nvSpPr>
        <p:spPr bwMode="auto">
          <a:xfrm>
            <a:off x="5303838" y="6021388"/>
            <a:ext cx="1416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9 page faults</a:t>
            </a:r>
          </a:p>
        </p:txBody>
      </p:sp>
    </p:spTree>
    <p:extLst>
      <p:ext uri="{BB962C8B-B14F-4D97-AF65-F5344CB8AC3E}">
        <p14:creationId xmlns:p14="http://schemas.microsoft.com/office/powerpoint/2010/main" val="94085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Optimal Algorithm (Cont.)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 smtClean="0"/>
              <a:t>Has the </a:t>
            </a:r>
            <a:r>
              <a:rPr lang="en-US" altLang="zh-TW" b="1" dirty="0" smtClean="0">
                <a:solidFill>
                  <a:srgbClr val="FF0000"/>
                </a:solidFill>
              </a:rPr>
              <a:t>lowest</a:t>
            </a:r>
            <a:r>
              <a:rPr lang="en-US" altLang="zh-TW" dirty="0" smtClean="0"/>
              <a:t> page-fault rate of all algorithms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/>
              <a:t>Never suffers from the </a:t>
            </a:r>
            <a:r>
              <a:rPr lang="en-US" altLang="zh-TW" dirty="0" err="1"/>
              <a:t>belady’s</a:t>
            </a:r>
            <a:r>
              <a:rPr lang="en-US" altLang="zh-TW" dirty="0"/>
              <a:t> </a:t>
            </a:r>
            <a:r>
              <a:rPr lang="en-US" altLang="zh-TW" dirty="0" smtClean="0"/>
              <a:t>anomaly</a:t>
            </a:r>
            <a:r>
              <a:rPr lang="zh-TW" altLang="en-US" dirty="0" smtClean="0"/>
              <a:t> </a:t>
            </a:r>
            <a:r>
              <a:rPr lang="en-US" altLang="zh-TW" dirty="0" smtClean="0"/>
              <a:t>(a stack algorithm)</a:t>
            </a:r>
            <a:endParaRPr lang="en-US" altLang="zh-TW" dirty="0"/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Optimal.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 smtClean="0"/>
              <a:t>But difficult to implement. </a:t>
            </a:r>
            <a:r>
              <a:rPr lang="en-US" altLang="zh-TW" b="1" dirty="0" smtClean="0">
                <a:solidFill>
                  <a:srgbClr val="FF0000"/>
                </a:solidFill>
              </a:rPr>
              <a:t>Why?</a:t>
            </a:r>
          </a:p>
          <a:p>
            <a:pPr eaLnBrk="1" hangingPunct="1"/>
            <a:r>
              <a:rPr lang="en-US" altLang="zh-TW" dirty="0" smtClean="0"/>
              <a:t>Sol.: </a:t>
            </a:r>
            <a:r>
              <a:rPr lang="en-US" altLang="zh-TW" dirty="0" smtClean="0">
                <a:solidFill>
                  <a:srgbClr val="3333FF"/>
                </a:solidFill>
              </a:rPr>
              <a:t>Need </a:t>
            </a:r>
            <a:r>
              <a:rPr lang="en-US" altLang="zh-TW" b="1" dirty="0" smtClean="0">
                <a:solidFill>
                  <a:srgbClr val="3333FF"/>
                </a:solidFill>
              </a:rPr>
              <a:t>future</a:t>
            </a:r>
            <a:r>
              <a:rPr lang="en-US" altLang="zh-TW" dirty="0" smtClean="0">
                <a:solidFill>
                  <a:srgbClr val="3333FF"/>
                </a:solidFill>
              </a:rPr>
              <a:t> knowledge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04519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>
                <a:solidFill>
                  <a:srgbClr val="000000"/>
                </a:solidFill>
              </a:rPr>
              <a:t>Page </a:t>
            </a:r>
            <a:r>
              <a:rPr lang="en-US" altLang="zh-TW" sz="4000" dirty="0">
                <a:solidFill>
                  <a:srgbClr val="000000"/>
                </a:solidFill>
              </a:rPr>
              <a:t>Replacement Algorithms</a:t>
            </a:r>
            <a:endParaRPr lang="en-US" altLang="zh-TW" sz="4800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Stack Algorithm</a:t>
            </a:r>
            <a:endParaRPr lang="en-US" altLang="zh-TW" sz="2400" b="1" dirty="0">
              <a:solidFill>
                <a:srgbClr val="FF3300"/>
              </a:solidFill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Optimal </a:t>
            </a:r>
            <a:r>
              <a:rPr lang="en-US" altLang="zh-TW" sz="2400" dirty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b="1" dirty="0">
                <a:solidFill>
                  <a:srgbClr val="FF3300"/>
                </a:solidFill>
              </a:rPr>
              <a:t>LRU </a:t>
            </a:r>
            <a:r>
              <a:rPr lang="en-US" altLang="zh-TW" sz="2400" b="1" dirty="0" smtClean="0">
                <a:solidFill>
                  <a:srgbClr val="FF3300"/>
                </a:solidFill>
              </a:rPr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LRU-approximation </a:t>
            </a:r>
            <a:r>
              <a:rPr lang="en-US" altLang="zh-TW" sz="2400" dirty="0"/>
              <a:t>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LFU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 smtClean="0"/>
              <a:t>MFU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3029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Q: </a:t>
            </a:r>
            <a:r>
              <a:rPr lang="zh-TW" altLang="en-US" sz="4000" dirty="0" smtClean="0"/>
              <a:t>所以我們必須逼近</a:t>
            </a:r>
            <a:r>
              <a:rPr lang="en-US" altLang="zh-TW" sz="4000" dirty="0" smtClean="0"/>
              <a:t>optimal. </a:t>
            </a:r>
            <a:r>
              <a:rPr lang="zh-TW" altLang="en-US" sz="4000" dirty="0" smtClean="0"/>
              <a:t>如何逼近呢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鑑古以知今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476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Least Recently Used (LRU)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Replace the page that </a:t>
            </a:r>
            <a:r>
              <a:rPr lang="en-US" altLang="zh-TW" b="1" dirty="0">
                <a:solidFill>
                  <a:srgbClr val="FF3300"/>
                </a:solidFill>
              </a:rPr>
              <a:t>has not been used for the longest period of time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An approximation of optimal algorithm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Use the </a:t>
            </a:r>
            <a:r>
              <a:rPr lang="en-US" altLang="zh-TW" b="1" dirty="0">
                <a:solidFill>
                  <a:srgbClr val="FF3300"/>
                </a:solidFill>
              </a:rPr>
              <a:t>recent past</a:t>
            </a:r>
            <a:r>
              <a:rPr lang="en-US" altLang="zh-TW" dirty="0"/>
              <a:t> as the approximation of the </a:t>
            </a:r>
            <a:r>
              <a:rPr lang="en-US" altLang="zh-TW" b="1" dirty="0">
                <a:solidFill>
                  <a:srgbClr val="FF3300"/>
                </a:solidFill>
              </a:rPr>
              <a:t>near future</a:t>
            </a:r>
          </a:p>
          <a:p>
            <a:pPr eaLnBrk="1" hangingPunct="1">
              <a:spcBef>
                <a:spcPts val="600"/>
              </a:spcBef>
            </a:pPr>
            <a:endParaRPr lang="en-US" altLang="zh-TW" dirty="0"/>
          </a:p>
          <a:p>
            <a:pPr eaLnBrk="1" hangingPunct="1">
              <a:spcBef>
                <a:spcPts val="600"/>
              </a:spcBef>
            </a:pPr>
            <a:r>
              <a:rPr lang="en-US" altLang="zh-TW" dirty="0"/>
              <a:t>LRU is often used, and is considered as quite good.</a:t>
            </a:r>
          </a:p>
          <a:p>
            <a:pPr eaLnBrk="1" hangingPunct="1">
              <a:spcBef>
                <a:spcPts val="600"/>
              </a:spcBef>
            </a:pPr>
            <a:endParaRPr lang="en-US" altLang="zh-TW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Never </a:t>
            </a:r>
            <a:r>
              <a:rPr lang="en-US" altLang="zh-TW" dirty="0"/>
              <a:t>suffers from the </a:t>
            </a:r>
            <a:r>
              <a:rPr lang="en-US" altLang="zh-TW" dirty="0" err="1"/>
              <a:t>belady</a:t>
            </a:r>
            <a:r>
              <a:rPr lang="en-US" altLang="zh-TW" dirty="0" err="1">
                <a:latin typeface="Helvetica" pitchFamily="34" charset="0"/>
              </a:rPr>
              <a:t>’</a:t>
            </a:r>
            <a:r>
              <a:rPr lang="en-US" altLang="zh-TW" dirty="0" err="1"/>
              <a:t>s</a:t>
            </a:r>
            <a:r>
              <a:rPr lang="en-US" altLang="zh-TW" dirty="0"/>
              <a:t> anomaly (a stack algorithm)</a:t>
            </a:r>
          </a:p>
        </p:txBody>
      </p:sp>
    </p:spTree>
    <p:extLst>
      <p:ext uri="{BB962C8B-B14F-4D97-AF65-F5344CB8AC3E}">
        <p14:creationId xmlns:p14="http://schemas.microsoft.com/office/powerpoint/2010/main" val="17971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LRU Page Replacement</a:t>
            </a: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 cstate="print"/>
          <a:srcRect l="809" t="32875" r="789" b="32362"/>
          <a:stretch>
            <a:fillRect/>
          </a:stretch>
        </p:blipFill>
        <p:spPr bwMode="auto">
          <a:xfrm>
            <a:off x="1487488" y="1484784"/>
            <a:ext cx="8784976" cy="4049489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4943475" y="5661248"/>
            <a:ext cx="19653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12 page faults</a:t>
            </a:r>
          </a:p>
        </p:txBody>
      </p:sp>
    </p:spTree>
    <p:extLst>
      <p:ext uri="{BB962C8B-B14F-4D97-AF65-F5344CB8AC3E}">
        <p14:creationId xmlns:p14="http://schemas.microsoft.com/office/powerpoint/2010/main" val="65931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Q: how to implement LRU?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Hint: </a:t>
            </a:r>
            <a:r>
              <a:rPr lang="zh-TW" altLang="en-US" dirty="0" smtClean="0"/>
              <a:t>電腦沒有眼睛</a:t>
            </a:r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en-US" altLang="zh-TW" b="1" dirty="0" smtClean="0"/>
              <a:t>Counters</a:t>
            </a:r>
            <a:r>
              <a:rPr lang="en-US" altLang="zh-TW" dirty="0" smtClean="0"/>
              <a:t> or </a:t>
            </a:r>
            <a:r>
              <a:rPr lang="en-US" altLang="zh-TW" b="1" dirty="0" smtClean="0"/>
              <a:t>LRU </a:t>
            </a:r>
            <a:r>
              <a:rPr lang="en-US" altLang="zh-TW" b="1" dirty="0"/>
              <a:t>Stack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292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dirty="0"/>
              <a:t>Two LRU Implementation</a:t>
            </a:r>
            <a:r>
              <a:rPr lang="en-US" altLang="zh-TW" sz="4000" dirty="0"/>
              <a:t> Schemes of LRU-Counters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b="1" dirty="0"/>
              <a:t>Counter implementation</a:t>
            </a:r>
          </a:p>
          <a:p>
            <a:pPr lvl="1" eaLnBrk="1" hangingPunct="1"/>
            <a:r>
              <a:rPr lang="en-US" altLang="zh-TW" sz="2400" dirty="0"/>
              <a:t>Every page table entry has a </a:t>
            </a:r>
            <a:r>
              <a:rPr lang="en-US" altLang="zh-TW" sz="2400" b="1" dirty="0">
                <a:solidFill>
                  <a:srgbClr val="FF3300"/>
                </a:solidFill>
              </a:rPr>
              <a:t>time-of-use</a:t>
            </a:r>
            <a:r>
              <a:rPr lang="en-US" altLang="zh-TW" sz="2400" b="1" dirty="0"/>
              <a:t> </a:t>
            </a:r>
            <a:r>
              <a:rPr lang="en-US" altLang="zh-TW" sz="2400" dirty="0"/>
              <a:t>field </a:t>
            </a:r>
          </a:p>
          <a:p>
            <a:pPr lvl="1" eaLnBrk="1" hangingPunct="1"/>
            <a:r>
              <a:rPr lang="en-US" altLang="zh-TW" sz="2400" dirty="0"/>
              <a:t>When a page is referenced, </a:t>
            </a:r>
          </a:p>
          <a:p>
            <a:pPr lvl="2" eaLnBrk="1" hangingPunct="1"/>
            <a:r>
              <a:rPr lang="en-US" altLang="zh-TW" sz="2000" dirty="0"/>
              <a:t>Write the current time into this field</a:t>
            </a:r>
          </a:p>
          <a:p>
            <a:pPr lvl="1" eaLnBrk="1" hangingPunct="1"/>
            <a:r>
              <a:rPr lang="en-US" altLang="zh-TW" sz="2400" dirty="0"/>
              <a:t>Select a victim page </a:t>
            </a:r>
            <a:r>
              <a:rPr lang="en-US" altLang="zh-TW" sz="2400" b="1" dirty="0">
                <a:sym typeface="Symbol" pitchFamily="18" charset="2"/>
              </a:rPr>
              <a:t> </a:t>
            </a:r>
            <a:r>
              <a:rPr lang="en-US" altLang="zh-TW" sz="2400" dirty="0">
                <a:sym typeface="Symbol" pitchFamily="18" charset="2"/>
              </a:rPr>
              <a:t>page with the </a:t>
            </a:r>
            <a:r>
              <a:rPr lang="en-US" altLang="zh-TW" sz="2400" b="1" dirty="0">
                <a:solidFill>
                  <a:srgbClr val="FF3300"/>
                </a:solidFill>
                <a:sym typeface="Symbol" pitchFamily="18" charset="2"/>
              </a:rPr>
              <a:t>smallest</a:t>
            </a:r>
            <a:r>
              <a:rPr lang="en-US" altLang="zh-TW" sz="2400" dirty="0">
                <a:sym typeface="Symbol" pitchFamily="18" charset="2"/>
              </a:rPr>
              <a:t> time value</a:t>
            </a:r>
            <a:endParaRPr lang="en-US" altLang="zh-TW" sz="2400" dirty="0"/>
          </a:p>
          <a:p>
            <a:pPr lvl="1" eaLnBrk="1" hangingPunct="1"/>
            <a:endParaRPr lang="en-US" altLang="zh-TW" sz="2400" dirty="0"/>
          </a:p>
          <a:p>
            <a:pPr lvl="1" eaLnBrk="1" hangingPunct="1"/>
            <a:r>
              <a:rPr lang="en-US" altLang="zh-TW" sz="2400" dirty="0"/>
              <a:t>Problems: </a:t>
            </a:r>
          </a:p>
          <a:p>
            <a:pPr lvl="2" eaLnBrk="1" hangingPunct="1"/>
            <a:r>
              <a:rPr lang="en-US" altLang="zh-TW" sz="2000" dirty="0"/>
              <a:t>Require a </a:t>
            </a:r>
            <a:r>
              <a:rPr lang="en-US" altLang="zh-TW" sz="2000" b="1" dirty="0">
                <a:solidFill>
                  <a:srgbClr val="FF3300"/>
                </a:solidFill>
              </a:rPr>
              <a:t>search</a:t>
            </a:r>
            <a:r>
              <a:rPr lang="en-US" altLang="zh-TW" sz="2000" dirty="0"/>
              <a:t> of the page table to find the LRU page, </a:t>
            </a:r>
          </a:p>
          <a:p>
            <a:pPr lvl="2" eaLnBrk="1" hangingPunct="1"/>
            <a:r>
              <a:rPr lang="en-US" altLang="zh-TW" sz="2000" dirty="0"/>
              <a:t>A write to memory (i.e., time-of-use field in page table) for each memory access</a:t>
            </a:r>
          </a:p>
          <a:p>
            <a:pPr lvl="2" eaLnBrk="1" hangingPunct="1"/>
            <a:r>
              <a:rPr lang="en-US" altLang="zh-TW" sz="2000" dirty="0"/>
              <a:t>Overflow of the clock must be considered</a:t>
            </a:r>
          </a:p>
        </p:txBody>
      </p:sp>
    </p:spTree>
    <p:extLst>
      <p:ext uri="{BB962C8B-B14F-4D97-AF65-F5344CB8AC3E}">
        <p14:creationId xmlns:p14="http://schemas.microsoft.com/office/powerpoint/2010/main" val="147453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Time-of-Use Field in Each Page Table Entry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11795" t="635" r="12021" b="1302"/>
          <a:stretch>
            <a:fillRect/>
          </a:stretch>
        </p:blipFill>
        <p:spPr bwMode="auto">
          <a:xfrm>
            <a:off x="2640014" y="1773239"/>
            <a:ext cx="6696075" cy="44592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grpSp>
        <p:nvGrpSpPr>
          <p:cNvPr id="4" name="群組 3"/>
          <p:cNvGrpSpPr/>
          <p:nvPr/>
        </p:nvGrpSpPr>
        <p:grpSpPr>
          <a:xfrm>
            <a:off x="4459812" y="2229684"/>
            <a:ext cx="1436744" cy="2162686"/>
            <a:chOff x="4459812" y="2229684"/>
            <a:chExt cx="1436744" cy="2162686"/>
          </a:xfrm>
        </p:grpSpPr>
        <p:sp>
          <p:nvSpPr>
            <p:cNvPr id="2" name="矩形 1"/>
            <p:cNvSpPr/>
            <p:nvPr/>
          </p:nvSpPr>
          <p:spPr>
            <a:xfrm>
              <a:off x="5178184" y="2943232"/>
              <a:ext cx="197736" cy="18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0000"/>
                  </a:solidFill>
                </a:rPr>
                <a:t>4</a:t>
              </a:r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178184" y="3123232"/>
              <a:ext cx="197736" cy="18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5179336" y="3303232"/>
              <a:ext cx="197736" cy="18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0000"/>
                  </a:solidFill>
                </a:rPr>
                <a:t>3</a:t>
              </a:r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5179336" y="3479558"/>
              <a:ext cx="197736" cy="18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5178184" y="3659558"/>
              <a:ext cx="197736" cy="18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179336" y="3835884"/>
              <a:ext cx="197736" cy="18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0000"/>
                  </a:solidFill>
                </a:rPr>
                <a:t>6</a:t>
              </a:r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178184" y="4021354"/>
              <a:ext cx="197736" cy="18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178184" y="4212370"/>
              <a:ext cx="197736" cy="1800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3" name="圓角矩形 2"/>
            <p:cNvSpPr/>
            <p:nvPr/>
          </p:nvSpPr>
          <p:spPr>
            <a:xfrm>
              <a:off x="4511824" y="2348880"/>
              <a:ext cx="1152128" cy="4400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4943872" y="2492896"/>
              <a:ext cx="864096" cy="43385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圓角矩形圖說文字 20"/>
            <p:cNvSpPr/>
            <p:nvPr/>
          </p:nvSpPr>
          <p:spPr>
            <a:xfrm>
              <a:off x="4459812" y="2229684"/>
              <a:ext cx="1436744" cy="374622"/>
            </a:xfrm>
            <a:prstGeom prst="wedgeRoundRectCallout">
              <a:avLst>
                <a:gd name="adj1" fmla="val 4624"/>
                <a:gd name="adj2" fmla="val 133285"/>
                <a:gd name="adj3" fmla="val 16667"/>
              </a:avLst>
            </a:prstGeom>
            <a:solidFill>
              <a:srgbClr val="D6D4C8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b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time-of-use</a:t>
              </a:r>
              <a:endParaRPr lang="zh-TW" altLang="en-US" sz="1800" b="1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852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最大的問題</a:t>
            </a:r>
            <a:r>
              <a:rPr lang="en-US" altLang="zh-TW" dirty="0" smtClean="0"/>
              <a:t>, </a:t>
            </a:r>
            <a:r>
              <a:rPr lang="zh-TW" altLang="en-US" dirty="0" smtClean="0"/>
              <a:t>誰來寫</a:t>
            </a:r>
            <a:r>
              <a:rPr lang="en-US" altLang="zh-TW" dirty="0" smtClean="0"/>
              <a:t>time-of-use?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</a:t>
            </a:r>
            <a:r>
              <a:rPr lang="zh-TW" altLang="en-US" dirty="0" smtClean="0"/>
              <a:t>不可能是</a:t>
            </a:r>
            <a:r>
              <a:rPr lang="en-US" altLang="zh-TW" dirty="0" smtClean="0"/>
              <a:t>OS, shown later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714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sz="4000" dirty="0" smtClean="0">
                <a:effectLst/>
              </a:rPr>
              <a:t>複習</a:t>
            </a:r>
            <a:r>
              <a:rPr lang="en-US" altLang="zh-TW" sz="4000" dirty="0" smtClean="0">
                <a:effectLst/>
              </a:rPr>
              <a:t>:</a:t>
            </a:r>
            <a:r>
              <a:rPr lang="zh-TW" altLang="en-US" sz="4000" dirty="0" smtClean="0">
                <a:effectLst/>
              </a:rPr>
              <a:t> </a:t>
            </a:r>
            <a:r>
              <a:rPr lang="en-US" altLang="zh-TW" sz="4000" dirty="0" smtClean="0">
                <a:effectLst/>
              </a:rPr>
              <a:t>OS</a:t>
            </a:r>
            <a:r>
              <a:rPr lang="zh-TW" altLang="en-US" sz="4000" dirty="0" smtClean="0">
                <a:effectLst/>
              </a:rPr>
              <a:t>不知道發生</a:t>
            </a:r>
            <a:r>
              <a:rPr lang="zh-TW" altLang="en-US" sz="4000" dirty="0">
                <a:effectLst/>
              </a:rPr>
              <a:t>記憶體</a:t>
            </a:r>
            <a:r>
              <a:rPr lang="zh-TW" altLang="en-US" sz="4000" dirty="0" smtClean="0">
                <a:effectLst/>
              </a:rPr>
              <a:t>存取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10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5" y="2978230"/>
          <a:ext cx="13890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B2569-5B8B-470D-A3E2-C3981CD983F2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30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dirty="0"/>
              <a:t>Two LRU Implementation</a:t>
            </a:r>
            <a:r>
              <a:rPr lang="en-US" altLang="zh-TW" sz="4000" dirty="0"/>
              <a:t> </a:t>
            </a:r>
            <a:r>
              <a:rPr lang="en-US" altLang="zh-TW" sz="4000" dirty="0" smtClean="0"/>
              <a:t>Schemes-LRU Stack</a:t>
            </a:r>
            <a:endParaRPr lang="en-US" altLang="zh-TW" sz="4000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b="1" dirty="0" smtClean="0"/>
              <a:t>LRU Stack </a:t>
            </a:r>
            <a:r>
              <a:rPr lang="en-US" altLang="zh-TW" sz="2800" b="1" dirty="0"/>
              <a:t>implementation</a:t>
            </a:r>
            <a:r>
              <a:rPr lang="en-US" altLang="zh-TW" sz="2800" dirty="0"/>
              <a:t> </a:t>
            </a:r>
            <a:r>
              <a:rPr lang="en-US" altLang="zh-TW" sz="2800" dirty="0">
                <a:latin typeface="Helvetica" pitchFamily="34" charset="0"/>
              </a:rPr>
              <a:t>–</a:t>
            </a:r>
            <a:r>
              <a:rPr lang="en-US" altLang="zh-TW" sz="2800" dirty="0"/>
              <a:t> </a:t>
            </a:r>
          </a:p>
          <a:p>
            <a:pPr lvl="1" eaLnBrk="1" hangingPunct="1"/>
            <a:r>
              <a:rPr lang="en-US" altLang="zh-TW" sz="2400" dirty="0"/>
              <a:t>Keep a stack of </a:t>
            </a:r>
            <a:r>
              <a:rPr lang="en-US" altLang="zh-TW" sz="2400" dirty="0">
                <a:solidFill>
                  <a:srgbClr val="3333FF"/>
                </a:solidFill>
              </a:rPr>
              <a:t>page numbers</a:t>
            </a:r>
            <a:r>
              <a:rPr lang="en-US" altLang="zh-TW" sz="2400" dirty="0"/>
              <a:t> in a double linked list</a:t>
            </a:r>
          </a:p>
          <a:p>
            <a:pPr lvl="1" eaLnBrk="1" hangingPunct="1"/>
            <a:endParaRPr lang="en-US" altLang="zh-TW" sz="2400" dirty="0"/>
          </a:p>
          <a:p>
            <a:pPr lvl="1" eaLnBrk="1" hangingPunct="1"/>
            <a:r>
              <a:rPr lang="en-US" altLang="zh-TW" sz="2400" dirty="0"/>
              <a:t>Page referenced:</a:t>
            </a:r>
          </a:p>
          <a:p>
            <a:pPr lvl="2" eaLnBrk="1" hangingPunct="1"/>
            <a:r>
              <a:rPr lang="en-US" altLang="zh-TW" sz="2000" dirty="0"/>
              <a:t>Move it to the top</a:t>
            </a:r>
          </a:p>
          <a:p>
            <a:pPr lvl="1" eaLnBrk="1" hangingPunct="1"/>
            <a:endParaRPr lang="en-US" altLang="zh-TW" sz="24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b="1" dirty="0">
                <a:solidFill>
                  <a:srgbClr val="FF3300"/>
                </a:solidFill>
              </a:rPr>
              <a:t>No</a:t>
            </a:r>
            <a:r>
              <a:rPr lang="en-US" altLang="zh-TW" sz="2400" dirty="0"/>
              <a:t> search for replacement</a:t>
            </a:r>
          </a:p>
          <a:p>
            <a:pPr lvl="1" eaLnBrk="1" hangingPunct="1"/>
            <a:endParaRPr lang="en-US" altLang="zh-TW" sz="2400" dirty="0"/>
          </a:p>
          <a:p>
            <a:pPr lvl="1" eaLnBrk="1" hangingPunct="1"/>
            <a:r>
              <a:rPr lang="en-US" altLang="zh-TW" sz="2400" dirty="0"/>
              <a:t>See the next slide</a:t>
            </a:r>
          </a:p>
          <a:p>
            <a:pPr eaLnBrk="1" hangingPunct="1"/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92417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ChangeArrowheads="1"/>
          </p:cNvSpPr>
          <p:nvPr/>
        </p:nvSpPr>
        <p:spPr bwMode="auto">
          <a:xfrm>
            <a:off x="2819400" y="24384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14353">
              <a:lnSpc>
                <a:spcPct val="125000"/>
              </a:lnSpc>
              <a:spcBef>
                <a:spcPct val="50000"/>
              </a:spcBef>
              <a:spcAft>
                <a:spcPct val="20000"/>
              </a:spcAft>
              <a:buFont typeface="Wingdings" pitchFamily="2" charset="2"/>
              <a:buChar char="Ø"/>
            </a:pPr>
            <a:endParaRPr kumimoji="0" lang="zh-CN" altLang="en-US">
              <a:solidFill>
                <a:srgbClr val="010000"/>
              </a:solidFill>
              <a:latin typeface="Times New Roman" pitchFamily="18" charset="0"/>
              <a:sym typeface="Iowan Old Style"/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927648" y="2701295"/>
            <a:ext cx="85268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353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</a:pPr>
            <a:r>
              <a:rPr kumimoji="0" lang="en-US" altLang="zh-CN" sz="3200" b="1" dirty="0">
                <a:solidFill>
                  <a:srgbClr val="CC0000"/>
                </a:solidFill>
                <a:latin typeface="Calibri"/>
                <a:sym typeface="Iowan Old Style"/>
              </a:rPr>
              <a:t> hit</a:t>
            </a:r>
            <a:endParaRPr kumimoji="0" lang="en-US" altLang="zh-CN" sz="3200" dirty="0">
              <a:solidFill>
                <a:srgbClr val="CC0000"/>
              </a:solidFill>
              <a:latin typeface="Calibri"/>
              <a:sym typeface="Iowan Old Style"/>
            </a:endParaRP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688822" y="4015632"/>
            <a:ext cx="381000" cy="477054"/>
            <a:chOff x="6629400" y="3810833"/>
            <a:chExt cx="381000" cy="477054"/>
          </a:xfrm>
        </p:grpSpPr>
        <p:sp>
          <p:nvSpPr>
            <p:cNvPr id="23588" name="Oval 16"/>
            <p:cNvSpPr>
              <a:spLocks noChangeArrowheads="1"/>
            </p:cNvSpPr>
            <p:nvPr/>
          </p:nvSpPr>
          <p:spPr bwMode="auto">
            <a:xfrm>
              <a:off x="6629400" y="3851717"/>
              <a:ext cx="381000" cy="381000"/>
            </a:xfrm>
            <a:prstGeom prst="ellipse">
              <a:avLst/>
            </a:prstGeom>
            <a:solidFill>
              <a:srgbClr val="92D050"/>
            </a:solidFill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  <a:buFont typeface="Wingdings" pitchFamily="2" charset="2"/>
                <a:buChar char="Ø"/>
              </a:pPr>
              <a:endParaRPr kumimoji="0" lang="en-US" sz="2000">
                <a:solidFill>
                  <a:srgbClr val="010000"/>
                </a:solidFill>
                <a:latin typeface="Verdana" pitchFamily="34" charset="0"/>
                <a:sym typeface="Iowan Old Style"/>
              </a:endParaRPr>
            </a:p>
          </p:txBody>
        </p:sp>
        <p:sp>
          <p:nvSpPr>
            <p:cNvPr id="23589" name="Text Box 18"/>
            <p:cNvSpPr txBox="1">
              <a:spLocks noChangeArrowheads="1"/>
            </p:cNvSpPr>
            <p:nvPr/>
          </p:nvSpPr>
          <p:spPr bwMode="auto">
            <a:xfrm>
              <a:off x="6661356" y="3810833"/>
              <a:ext cx="228600" cy="4770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20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1</a:t>
              </a:r>
              <a:endParaRPr lang="zh-CN" altLang="en-US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4688822" y="4472832"/>
            <a:ext cx="381000" cy="477054"/>
            <a:chOff x="6629400" y="4268033"/>
            <a:chExt cx="381000" cy="477054"/>
          </a:xfrm>
        </p:grpSpPr>
        <p:sp>
          <p:nvSpPr>
            <p:cNvPr id="23586" name="Oval 17"/>
            <p:cNvSpPr>
              <a:spLocks noChangeArrowheads="1"/>
            </p:cNvSpPr>
            <p:nvPr/>
          </p:nvSpPr>
          <p:spPr bwMode="auto">
            <a:xfrm>
              <a:off x="6629400" y="4308917"/>
              <a:ext cx="381000" cy="381000"/>
            </a:xfrm>
            <a:prstGeom prst="ellipse">
              <a:avLst/>
            </a:prstGeom>
            <a:solidFill>
              <a:srgbClr val="92D050"/>
            </a:solidFill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  <a:buFont typeface="Wingdings" pitchFamily="2" charset="2"/>
                <a:buChar char="Ø"/>
              </a:pPr>
              <a:endParaRPr kumimoji="0" lang="en-US" sz="2000">
                <a:solidFill>
                  <a:srgbClr val="010000"/>
                </a:solidFill>
                <a:latin typeface="Verdana" pitchFamily="34" charset="0"/>
                <a:sym typeface="Iowan Old Style"/>
              </a:endParaRPr>
            </a:p>
          </p:txBody>
        </p:sp>
        <p:sp>
          <p:nvSpPr>
            <p:cNvPr id="23587" name="Text Box 19"/>
            <p:cNvSpPr txBox="1">
              <a:spLocks noChangeArrowheads="1"/>
            </p:cNvSpPr>
            <p:nvPr/>
          </p:nvSpPr>
          <p:spPr bwMode="auto">
            <a:xfrm>
              <a:off x="6676104" y="4268033"/>
              <a:ext cx="228600" cy="4770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20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3</a:t>
              </a:r>
              <a:endParaRPr lang="zh-CN" altLang="en-US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4688822" y="3558432"/>
            <a:ext cx="381000" cy="477054"/>
            <a:chOff x="6629400" y="3353633"/>
            <a:chExt cx="381000" cy="477054"/>
          </a:xfrm>
        </p:grpSpPr>
        <p:sp>
          <p:nvSpPr>
            <p:cNvPr id="23584" name="Oval 15"/>
            <p:cNvSpPr>
              <a:spLocks noChangeArrowheads="1"/>
            </p:cNvSpPr>
            <p:nvPr/>
          </p:nvSpPr>
          <p:spPr bwMode="auto">
            <a:xfrm>
              <a:off x="6629400" y="3394517"/>
              <a:ext cx="381000" cy="381000"/>
            </a:xfrm>
            <a:prstGeom prst="ellipse">
              <a:avLst/>
            </a:prstGeom>
            <a:solidFill>
              <a:srgbClr val="92D050"/>
            </a:solidFill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  <a:buFont typeface="Wingdings" pitchFamily="2" charset="2"/>
                <a:buChar char="Ø"/>
              </a:pPr>
              <a:endParaRPr kumimoji="0" lang="en-US" sz="2000">
                <a:solidFill>
                  <a:srgbClr val="010000"/>
                </a:solidFill>
                <a:latin typeface="Verdana" pitchFamily="34" charset="0"/>
                <a:sym typeface="Iowan Old Style"/>
              </a:endParaRPr>
            </a:p>
          </p:txBody>
        </p:sp>
        <p:sp>
          <p:nvSpPr>
            <p:cNvPr id="23585" name="Text Box 20"/>
            <p:cNvSpPr txBox="1">
              <a:spLocks noChangeArrowheads="1"/>
            </p:cNvSpPr>
            <p:nvPr/>
          </p:nvSpPr>
          <p:spPr bwMode="auto">
            <a:xfrm>
              <a:off x="6676104" y="3353633"/>
              <a:ext cx="228600" cy="4770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20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7</a:t>
              </a:r>
              <a:endParaRPr lang="zh-CN" altLang="en-US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4583833" y="3581400"/>
            <a:ext cx="1904999" cy="2819400"/>
            <a:chOff x="6553200" y="3394516"/>
            <a:chExt cx="1905000" cy="2819400"/>
          </a:xfrm>
        </p:grpSpPr>
        <p:grpSp>
          <p:nvGrpSpPr>
            <p:cNvPr id="23579" name="Group 26"/>
            <p:cNvGrpSpPr>
              <a:grpSpLocks/>
            </p:cNvGrpSpPr>
            <p:nvPr/>
          </p:nvGrpSpPr>
          <p:grpSpPr bwMode="auto">
            <a:xfrm>
              <a:off x="6553200" y="3394516"/>
              <a:ext cx="533400" cy="2819400"/>
              <a:chOff x="6553200" y="3394516"/>
              <a:chExt cx="533400" cy="2819400"/>
            </a:xfrm>
          </p:grpSpPr>
          <p:sp>
            <p:nvSpPr>
              <p:cNvPr id="23581" name="Line 6"/>
              <p:cNvSpPr>
                <a:spLocks noChangeShapeType="1"/>
              </p:cNvSpPr>
              <p:nvPr/>
            </p:nvSpPr>
            <p:spPr bwMode="auto">
              <a:xfrm>
                <a:off x="7086600" y="3394516"/>
                <a:ext cx="0" cy="28194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/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  <p:sp>
            <p:nvSpPr>
              <p:cNvPr id="23582" name="Line 7"/>
              <p:cNvSpPr>
                <a:spLocks noChangeShapeType="1"/>
              </p:cNvSpPr>
              <p:nvPr/>
            </p:nvSpPr>
            <p:spPr bwMode="auto">
              <a:xfrm>
                <a:off x="6553200" y="6213916"/>
                <a:ext cx="5334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/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  <p:sp>
            <p:nvSpPr>
              <p:cNvPr id="23583" name="Line 8"/>
              <p:cNvSpPr>
                <a:spLocks noChangeShapeType="1"/>
              </p:cNvSpPr>
              <p:nvPr/>
            </p:nvSpPr>
            <p:spPr bwMode="auto">
              <a:xfrm>
                <a:off x="6553200" y="3394516"/>
                <a:ext cx="0" cy="28194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/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</p:grpSp>
        <p:sp>
          <p:nvSpPr>
            <p:cNvPr id="23580" name="Text Box 21"/>
            <p:cNvSpPr txBox="1">
              <a:spLocks noChangeArrowheads="1"/>
            </p:cNvSpPr>
            <p:nvPr/>
          </p:nvSpPr>
          <p:spPr bwMode="auto">
            <a:xfrm>
              <a:off x="7239000" y="5771868"/>
              <a:ext cx="1219200" cy="438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18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LRU stack</a:t>
              </a:r>
              <a:endParaRPr lang="en-US" altLang="zh-CN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4688822" y="5463436"/>
            <a:ext cx="381000" cy="477054"/>
            <a:chOff x="6629400" y="5702623"/>
            <a:chExt cx="381000" cy="476271"/>
          </a:xfrm>
        </p:grpSpPr>
        <p:sp>
          <p:nvSpPr>
            <p:cNvPr id="23577" name="Oval 10"/>
            <p:cNvSpPr>
              <a:spLocks noChangeArrowheads="1"/>
            </p:cNvSpPr>
            <p:nvPr/>
          </p:nvSpPr>
          <p:spPr bwMode="auto">
            <a:xfrm>
              <a:off x="6629400" y="5756716"/>
              <a:ext cx="381000" cy="381000"/>
            </a:xfrm>
            <a:prstGeom prst="ellipse">
              <a:avLst/>
            </a:prstGeom>
            <a:solidFill>
              <a:srgbClr val="92D050"/>
            </a:solidFill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endParaRPr kumimoji="0" lang="en-US" sz="2000">
                <a:solidFill>
                  <a:srgbClr val="010000"/>
                </a:solidFill>
                <a:latin typeface="Verdana" pitchFamily="34" charset="0"/>
                <a:sym typeface="Iowan Old Style"/>
              </a:endParaRPr>
            </a:p>
          </p:txBody>
        </p:sp>
        <p:sp>
          <p:nvSpPr>
            <p:cNvPr id="23578" name="Text Box 19"/>
            <p:cNvSpPr txBox="1">
              <a:spLocks noChangeArrowheads="1"/>
            </p:cNvSpPr>
            <p:nvPr/>
          </p:nvSpPr>
          <p:spPr bwMode="auto">
            <a:xfrm>
              <a:off x="6661356" y="5702623"/>
              <a:ext cx="228600" cy="476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20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6</a:t>
              </a:r>
              <a:endParaRPr lang="zh-CN" altLang="en-US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cxnSp>
        <p:nvCxnSpPr>
          <p:cNvPr id="30" name="Straight Connector 29"/>
          <p:cNvCxnSpPr/>
          <p:nvPr/>
        </p:nvCxnSpPr>
        <p:spPr>
          <a:xfrm rot="5400000" flipH="1" flipV="1">
            <a:off x="4650722" y="5218561"/>
            <a:ext cx="381000" cy="0"/>
          </a:xfrm>
          <a:prstGeom prst="line">
            <a:avLst/>
          </a:prstGeom>
          <a:ln w="539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ular Callout 40"/>
          <p:cNvSpPr/>
          <p:nvPr/>
        </p:nvSpPr>
        <p:spPr>
          <a:xfrm>
            <a:off x="5298421" y="4951862"/>
            <a:ext cx="2375708" cy="457201"/>
          </a:xfrm>
          <a:prstGeom prst="wedgeRectCallout">
            <a:avLst>
              <a:gd name="adj1" fmla="val -61155"/>
              <a:gd name="adj2" fmla="val -105914"/>
            </a:avLst>
          </a:prstGeom>
          <a:solidFill>
            <a:srgbClr val="0070C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3">
              <a:lnSpc>
                <a:spcPct val="125000"/>
              </a:lnSpc>
              <a:spcBef>
                <a:spcPct val="50000"/>
              </a:spcBef>
              <a:spcAft>
                <a:spcPct val="20000"/>
              </a:spcAft>
              <a:defRPr/>
            </a:pPr>
            <a:r>
              <a:rPr kumimoji="0" lang="en-US" sz="2000" b="1" dirty="0" smtClean="0">
                <a:solidFill>
                  <a:prstClr val="white"/>
                </a:solidFill>
                <a:latin typeface="Calibri"/>
                <a:sym typeface="Iowan Old Style"/>
              </a:rPr>
              <a:t>Hit </a:t>
            </a:r>
            <a:r>
              <a:rPr kumimoji="0" lang="en-US" sz="2000" b="1" dirty="0">
                <a:solidFill>
                  <a:prstClr val="white"/>
                </a:solidFill>
                <a:latin typeface="Calibri"/>
                <a:sym typeface="Iowan Old Style"/>
              </a:rPr>
              <a:t>to block 3</a:t>
            </a:r>
            <a:endParaRPr kumimoji="0" lang="en-US" sz="2000" u="sng" dirty="0">
              <a:solidFill>
                <a:prstClr val="white"/>
              </a:solidFill>
              <a:latin typeface="Calibri"/>
              <a:sym typeface="Iowan Old Style"/>
            </a:endParaRPr>
          </a:p>
        </p:txBody>
      </p: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4688822" y="5944449"/>
            <a:ext cx="381000" cy="477054"/>
            <a:chOff x="6629400" y="5702231"/>
            <a:chExt cx="381000" cy="477054"/>
          </a:xfrm>
        </p:grpSpPr>
        <p:sp>
          <p:nvSpPr>
            <p:cNvPr id="23570" name="Oval 10"/>
            <p:cNvSpPr>
              <a:spLocks noChangeArrowheads="1"/>
            </p:cNvSpPr>
            <p:nvPr/>
          </p:nvSpPr>
          <p:spPr bwMode="auto">
            <a:xfrm>
              <a:off x="6629400" y="5756716"/>
              <a:ext cx="381000" cy="381000"/>
            </a:xfrm>
            <a:prstGeom prst="ellipse">
              <a:avLst/>
            </a:prstGeom>
            <a:solidFill>
              <a:srgbClr val="92D050"/>
            </a:solidFill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endParaRPr kumimoji="0" lang="en-US" sz="2000">
                <a:solidFill>
                  <a:srgbClr val="010000"/>
                </a:solidFill>
                <a:latin typeface="Verdana" pitchFamily="34" charset="0"/>
                <a:sym typeface="Iowan Old Style"/>
              </a:endParaRPr>
            </a:p>
          </p:txBody>
        </p:sp>
        <p:sp>
          <p:nvSpPr>
            <p:cNvPr id="23571" name="Text Box 19"/>
            <p:cNvSpPr txBox="1">
              <a:spLocks noChangeArrowheads="1"/>
            </p:cNvSpPr>
            <p:nvPr/>
          </p:nvSpPr>
          <p:spPr bwMode="auto">
            <a:xfrm>
              <a:off x="6661356" y="5702231"/>
              <a:ext cx="228600" cy="4770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20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5</a:t>
              </a:r>
              <a:endParaRPr lang="zh-CN" altLang="en-US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sp>
        <p:nvSpPr>
          <p:cNvPr id="42" name="Rectangular Callout 41"/>
          <p:cNvSpPr/>
          <p:nvPr/>
        </p:nvSpPr>
        <p:spPr>
          <a:xfrm>
            <a:off x="4993622" y="2513462"/>
            <a:ext cx="2584546" cy="838200"/>
          </a:xfrm>
          <a:prstGeom prst="wedgeRectCallout">
            <a:avLst>
              <a:gd name="adj1" fmla="val -42733"/>
              <a:gd name="adj2" fmla="val 83247"/>
            </a:avLst>
          </a:prstGeom>
          <a:solidFill>
            <a:srgbClr val="0070C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3">
              <a:lnSpc>
                <a:spcPct val="125000"/>
              </a:lnSpc>
              <a:spcBef>
                <a:spcPct val="50000"/>
              </a:spcBef>
              <a:spcAft>
                <a:spcPct val="20000"/>
              </a:spcAft>
              <a:defRPr/>
            </a:pPr>
            <a:r>
              <a:rPr kumimoji="0" lang="en-US" sz="2000" b="1" dirty="0">
                <a:solidFill>
                  <a:prstClr val="white"/>
                </a:solidFill>
                <a:latin typeface="Calibri"/>
                <a:sym typeface="Iowan Old Style"/>
              </a:rPr>
              <a:t>Move block 3 to the top of stack</a:t>
            </a:r>
            <a:endParaRPr kumimoji="0" lang="en-US" sz="2000" u="sng" dirty="0">
              <a:solidFill>
                <a:prstClr val="white"/>
              </a:solidFill>
              <a:latin typeface="Calibri"/>
              <a:sym typeface="Iowan Old Style"/>
            </a:endParaRPr>
          </a:p>
        </p:txBody>
      </p:sp>
      <p:sp>
        <p:nvSpPr>
          <p:cNvPr id="3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Calibri" panose="020F0502020204030204" pitchFamily="34" charset="0"/>
              </a:rPr>
              <a:t>LRU Stack Implementation </a:t>
            </a:r>
            <a:r>
              <a:rPr lang="en-US" altLang="zh-TW" b="1" dirty="0" smtClean="0">
                <a:latin typeface="Calibri" panose="020F0502020204030204" pitchFamily="34" charset="0"/>
                <a:cs typeface="Times New Roman" pitchFamily="18" charset="0"/>
              </a:rPr>
              <a:t>Example</a:t>
            </a:r>
            <a:endParaRPr lang="zh-TW" altLang="en-US" b="1" dirty="0"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4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410751" fontAlgn="auto" hangingPunct="0">
              <a:buNone/>
              <a:defRPr/>
            </a:pPr>
            <a:fld id="{B3416C6C-3F04-49DC-BB25-765F827E81AB}" type="slidenum">
              <a:rPr kumimoji="0" lang="zh-CN" altLang="en-US" i="1" kern="0" spc="20">
                <a:solidFill>
                  <a:prstClr val="black">
                    <a:tint val="75000"/>
                  </a:prstClr>
                </a:solidFill>
                <a:latin typeface="Iowan Old Style"/>
                <a:sym typeface="Iowan Old Style"/>
              </a:rPr>
              <a:pPr defTabSz="410751" fontAlgn="auto" hangingPunct="0">
                <a:buNone/>
                <a:defRPr/>
              </a:pPr>
              <a:t>132</a:t>
            </a:fld>
            <a:endParaRPr kumimoji="0" lang="zh-CN" altLang="en-US" i="1" kern="0" spc="20" dirty="0">
              <a:solidFill>
                <a:prstClr val="black">
                  <a:tint val="75000"/>
                </a:prstClr>
              </a:solidFill>
              <a:latin typeface="Iowan Old Style"/>
              <a:sym typeface="Iowan Old Style"/>
            </a:endParaRPr>
          </a:p>
        </p:txBody>
      </p:sp>
      <p:sp>
        <p:nvSpPr>
          <p:cNvPr id="31" name="內容版面配置區 2"/>
          <p:cNvSpPr txBox="1">
            <a:spLocks/>
          </p:cNvSpPr>
          <p:nvPr/>
        </p:nvSpPr>
        <p:spPr>
          <a:xfrm>
            <a:off x="1981200" y="1600206"/>
            <a:ext cx="8229600" cy="600209"/>
          </a:xfrm>
          <a:prstGeom prst="rect">
            <a:avLst/>
          </a:prstGeom>
        </p:spPr>
        <p:txBody>
          <a:bodyPr>
            <a:normAutofit/>
          </a:bodyPr>
          <a:lstStyle>
            <a:lvl1pPr marL="487672" indent="-48767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45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56623" indent="-4063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9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75" indent="-32511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804" indent="-32511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034" indent="-32511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42915">
              <a:buNone/>
            </a:pPr>
            <a:r>
              <a:rPr kumimoji="0" lang="en-US" sz="2812" dirty="0">
                <a:solidFill>
                  <a:prstClr val="black"/>
                </a:solidFill>
                <a:latin typeface="Calibri"/>
                <a:cs typeface="Times New Roman" pitchFamily="18" charset="0"/>
                <a:sym typeface="Iowan Old Style"/>
              </a:rPr>
              <a:t>LRU is realized by </a:t>
            </a:r>
            <a:r>
              <a:rPr kumimoji="0" lang="en-US" sz="2812" dirty="0">
                <a:solidFill>
                  <a:srgbClr val="FF0000"/>
                </a:solidFill>
                <a:latin typeface="Calibri"/>
                <a:cs typeface="Times New Roman" pitchFamily="18" charset="0"/>
                <a:sym typeface="Iowan Old Style"/>
              </a:rPr>
              <a:t>an LRU stack</a:t>
            </a:r>
          </a:p>
          <a:p>
            <a:pPr marL="742912" lvl="1" indent="-285736" algn="ctr" defTabSz="642915"/>
            <a:endParaRPr kumimoji="0" lang="en-US" altLang="zh-TW" sz="2250" dirty="0">
              <a:solidFill>
                <a:prstClr val="black"/>
              </a:solidFill>
              <a:latin typeface="Calibri"/>
              <a:ea typeface="新細明體" panose="02020500000000000000" pitchFamily="18" charset="-120"/>
              <a:sym typeface="Iowan Old Style"/>
            </a:endParaRPr>
          </a:p>
          <a:p>
            <a:pPr marL="742912" lvl="1" indent="-285736" algn="ctr" defTabSz="642915"/>
            <a:endParaRPr kumimoji="0" lang="en-US" altLang="zh-TW" sz="2250" dirty="0">
              <a:solidFill>
                <a:srgbClr val="FF0000"/>
              </a:solidFill>
              <a:latin typeface="Calibri"/>
              <a:ea typeface="新細明體" panose="02020500000000000000" pitchFamily="18" charset="-120"/>
              <a:cs typeface="Arial" panose="020B0604020202020204" pitchFamily="34" charset="0"/>
              <a:sym typeface="Iowan Old Style"/>
            </a:endParaRPr>
          </a:p>
        </p:txBody>
      </p:sp>
      <p:sp>
        <p:nvSpPr>
          <p:cNvPr id="6" name="圓角矩形圖說文字 5"/>
          <p:cNvSpPr/>
          <p:nvPr/>
        </p:nvSpPr>
        <p:spPr>
          <a:xfrm>
            <a:off x="480867" y="4949886"/>
            <a:ext cx="3166861" cy="711362"/>
          </a:xfrm>
          <a:prstGeom prst="wedgeRoundRectCallout">
            <a:avLst>
              <a:gd name="adj1" fmla="val 78398"/>
              <a:gd name="adj2" fmla="val -1565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If memory size = 8 frames</a:t>
            </a:r>
          </a:p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stack has 8 entries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003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-0.1222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3.33333E-6 0.0777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3333E-6 L -3.33333E-6 0.07777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  <p:bldP spid="42" grpId="0" animBg="1"/>
      <p:bldP spid="42" grpId="1" animBg="1"/>
      <p:bldP spid="6" grpId="0" animBg="1"/>
      <p:bldP spid="6" grpId="1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ChangeArrowheads="1"/>
          </p:cNvSpPr>
          <p:nvPr/>
        </p:nvSpPr>
        <p:spPr bwMode="auto">
          <a:xfrm>
            <a:off x="1271464" y="2441848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14353">
              <a:lnSpc>
                <a:spcPct val="125000"/>
              </a:lnSpc>
              <a:spcBef>
                <a:spcPct val="50000"/>
              </a:spcBef>
              <a:spcAft>
                <a:spcPct val="20000"/>
              </a:spcAft>
              <a:buFont typeface="Wingdings" pitchFamily="2" charset="2"/>
              <a:buChar char="Ø"/>
            </a:pPr>
            <a:endParaRPr kumimoji="0" lang="zh-CN" altLang="en-US">
              <a:solidFill>
                <a:srgbClr val="010000"/>
              </a:solidFill>
              <a:latin typeface="Times New Roman" pitchFamily="18" charset="0"/>
              <a:sym typeface="Iowan Old Style"/>
            </a:endParaRPr>
          </a:p>
        </p:txBody>
      </p:sp>
      <p:grpSp>
        <p:nvGrpSpPr>
          <p:cNvPr id="24580" name="Group 27"/>
          <p:cNvGrpSpPr>
            <a:grpSpLocks/>
          </p:cNvGrpSpPr>
          <p:nvPr/>
        </p:nvGrpSpPr>
        <p:grpSpPr bwMode="auto">
          <a:xfrm>
            <a:off x="6453065" y="3737248"/>
            <a:ext cx="1905000" cy="2819400"/>
            <a:chOff x="6553200" y="3394516"/>
            <a:chExt cx="1905000" cy="2819400"/>
          </a:xfrm>
        </p:grpSpPr>
        <p:grpSp>
          <p:nvGrpSpPr>
            <p:cNvPr id="24613" name="Group 26"/>
            <p:cNvGrpSpPr>
              <a:grpSpLocks/>
            </p:cNvGrpSpPr>
            <p:nvPr/>
          </p:nvGrpSpPr>
          <p:grpSpPr bwMode="auto">
            <a:xfrm>
              <a:off x="6553200" y="3394516"/>
              <a:ext cx="533400" cy="2819400"/>
              <a:chOff x="6553200" y="3394516"/>
              <a:chExt cx="533400" cy="2819400"/>
            </a:xfrm>
          </p:grpSpPr>
          <p:sp>
            <p:nvSpPr>
              <p:cNvPr id="24615" name="Line 6"/>
              <p:cNvSpPr>
                <a:spLocks noChangeShapeType="1"/>
              </p:cNvSpPr>
              <p:nvPr/>
            </p:nvSpPr>
            <p:spPr bwMode="auto">
              <a:xfrm>
                <a:off x="7086600" y="3394516"/>
                <a:ext cx="0" cy="28194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/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  <p:sp>
            <p:nvSpPr>
              <p:cNvPr id="24616" name="Line 7"/>
              <p:cNvSpPr>
                <a:spLocks noChangeShapeType="1"/>
              </p:cNvSpPr>
              <p:nvPr/>
            </p:nvSpPr>
            <p:spPr bwMode="auto">
              <a:xfrm>
                <a:off x="6553200" y="6213916"/>
                <a:ext cx="5334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/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  <p:sp>
            <p:nvSpPr>
              <p:cNvPr id="24617" name="Line 8"/>
              <p:cNvSpPr>
                <a:spLocks noChangeShapeType="1"/>
              </p:cNvSpPr>
              <p:nvPr/>
            </p:nvSpPr>
            <p:spPr bwMode="auto">
              <a:xfrm>
                <a:off x="6553200" y="3394516"/>
                <a:ext cx="0" cy="28194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/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</p:grpSp>
        <p:sp>
          <p:nvSpPr>
            <p:cNvPr id="24614" name="Text Box 21"/>
            <p:cNvSpPr txBox="1">
              <a:spLocks noChangeArrowheads="1"/>
            </p:cNvSpPr>
            <p:nvPr/>
          </p:nvSpPr>
          <p:spPr bwMode="auto">
            <a:xfrm>
              <a:off x="7239000" y="5771868"/>
              <a:ext cx="1219200" cy="438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180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LRU stack</a:t>
              </a:r>
              <a:endParaRPr lang="en-US" altLang="zh-CN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6529265" y="3715450"/>
            <a:ext cx="381000" cy="2382370"/>
            <a:chOff x="6553200" y="3712006"/>
            <a:chExt cx="381000" cy="2381975"/>
          </a:xfrm>
        </p:grpSpPr>
        <p:grpSp>
          <p:nvGrpSpPr>
            <p:cNvPr id="24600" name="Group 31"/>
            <p:cNvGrpSpPr>
              <a:grpSpLocks/>
            </p:cNvGrpSpPr>
            <p:nvPr/>
          </p:nvGrpSpPr>
          <p:grpSpPr bwMode="auto">
            <a:xfrm>
              <a:off x="6553200" y="4169206"/>
              <a:ext cx="381000" cy="476975"/>
              <a:chOff x="6629400" y="3810873"/>
              <a:chExt cx="381000" cy="476975"/>
            </a:xfrm>
          </p:grpSpPr>
          <p:sp>
            <p:nvSpPr>
              <p:cNvPr id="24611" name="Oval 16"/>
              <p:cNvSpPr>
                <a:spLocks noChangeArrowheads="1"/>
              </p:cNvSpPr>
              <p:nvPr/>
            </p:nvSpPr>
            <p:spPr bwMode="auto">
              <a:xfrm>
                <a:off x="6629400" y="3851717"/>
                <a:ext cx="381000" cy="381000"/>
              </a:xfrm>
              <a:prstGeom prst="ellipse">
                <a:avLst/>
              </a:prstGeom>
              <a:solidFill>
                <a:srgbClr val="92D050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>
                  <a:lnSpc>
                    <a:spcPct val="125000"/>
                  </a:lnSpc>
                  <a:spcBef>
                    <a:spcPct val="50000"/>
                  </a:spcBef>
                  <a:spcAft>
                    <a:spcPct val="20000"/>
                  </a:spcAft>
                  <a:buFont typeface="Wingdings" pitchFamily="2" charset="2"/>
                  <a:buChar char="Ø"/>
                </a:pPr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  <p:sp>
            <p:nvSpPr>
              <p:cNvPr id="24612" name="Text Box 18"/>
              <p:cNvSpPr txBox="1">
                <a:spLocks noChangeArrowheads="1"/>
              </p:cNvSpPr>
              <p:nvPr/>
            </p:nvSpPr>
            <p:spPr bwMode="auto">
              <a:xfrm>
                <a:off x="6661356" y="3810873"/>
                <a:ext cx="228600" cy="476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defTabSz="914353">
                  <a:lnSpc>
                    <a:spcPct val="125000"/>
                  </a:lnSpc>
                  <a:spcBef>
                    <a:spcPct val="50000"/>
                  </a:spcBef>
                  <a:spcAft>
                    <a:spcPct val="20000"/>
                  </a:spcAft>
                </a:pPr>
                <a:r>
                  <a:rPr lang="en-US" altLang="zh-CN" sz="2000" dirty="0">
                    <a:solidFill>
                      <a:srgbClr val="010000"/>
                    </a:solidFill>
                    <a:latin typeface="Impact" pitchFamily="34" charset="0"/>
                    <a:sym typeface="Iowan Old Style"/>
                  </a:rPr>
                  <a:t>1</a:t>
                </a:r>
                <a:endParaRPr lang="zh-CN" altLang="en-US" dirty="0">
                  <a:solidFill>
                    <a:srgbClr val="010000"/>
                  </a:solidFill>
                  <a:latin typeface="Impact" pitchFamily="34" charset="0"/>
                  <a:sym typeface="Iowan Old Style"/>
                </a:endParaRPr>
              </a:p>
            </p:txBody>
          </p:sp>
        </p:grpSp>
        <p:grpSp>
          <p:nvGrpSpPr>
            <p:cNvPr id="24601" name="Group 32"/>
            <p:cNvGrpSpPr>
              <a:grpSpLocks/>
            </p:cNvGrpSpPr>
            <p:nvPr/>
          </p:nvGrpSpPr>
          <p:grpSpPr bwMode="auto">
            <a:xfrm>
              <a:off x="6553200" y="3712006"/>
              <a:ext cx="381000" cy="476975"/>
              <a:chOff x="6629400" y="4268073"/>
              <a:chExt cx="381000" cy="476975"/>
            </a:xfrm>
          </p:grpSpPr>
          <p:sp>
            <p:nvSpPr>
              <p:cNvPr id="24609" name="Oval 17"/>
              <p:cNvSpPr>
                <a:spLocks noChangeArrowheads="1"/>
              </p:cNvSpPr>
              <p:nvPr/>
            </p:nvSpPr>
            <p:spPr bwMode="auto">
              <a:xfrm>
                <a:off x="6629400" y="4308917"/>
                <a:ext cx="381000" cy="381000"/>
              </a:xfrm>
              <a:prstGeom prst="ellipse">
                <a:avLst/>
              </a:prstGeom>
              <a:solidFill>
                <a:srgbClr val="92D050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>
                  <a:lnSpc>
                    <a:spcPct val="125000"/>
                  </a:lnSpc>
                  <a:spcBef>
                    <a:spcPct val="50000"/>
                  </a:spcBef>
                  <a:spcAft>
                    <a:spcPct val="20000"/>
                  </a:spcAft>
                  <a:buFont typeface="Wingdings" pitchFamily="2" charset="2"/>
                  <a:buChar char="Ø"/>
                </a:pPr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  <p:sp>
            <p:nvSpPr>
              <p:cNvPr id="24610" name="Text Box 19"/>
              <p:cNvSpPr txBox="1">
                <a:spLocks noChangeArrowheads="1"/>
              </p:cNvSpPr>
              <p:nvPr/>
            </p:nvSpPr>
            <p:spPr bwMode="auto">
              <a:xfrm>
                <a:off x="6676104" y="4268073"/>
                <a:ext cx="228600" cy="476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defTabSz="914353">
                  <a:lnSpc>
                    <a:spcPct val="125000"/>
                  </a:lnSpc>
                  <a:spcBef>
                    <a:spcPct val="50000"/>
                  </a:spcBef>
                  <a:spcAft>
                    <a:spcPct val="20000"/>
                  </a:spcAft>
                </a:pPr>
                <a:r>
                  <a:rPr lang="en-US" altLang="zh-CN" sz="2000" dirty="0">
                    <a:solidFill>
                      <a:srgbClr val="010000"/>
                    </a:solidFill>
                    <a:latin typeface="Impact" pitchFamily="34" charset="0"/>
                    <a:sym typeface="Iowan Old Style"/>
                  </a:rPr>
                  <a:t>3</a:t>
                </a:r>
                <a:endParaRPr lang="zh-CN" altLang="en-US" dirty="0">
                  <a:solidFill>
                    <a:srgbClr val="010000"/>
                  </a:solidFill>
                  <a:latin typeface="Impact" pitchFamily="34" charset="0"/>
                  <a:sym typeface="Iowan Old Style"/>
                </a:endParaRPr>
              </a:p>
            </p:txBody>
          </p:sp>
        </p:grpSp>
        <p:grpSp>
          <p:nvGrpSpPr>
            <p:cNvPr id="24602" name="Group 30"/>
            <p:cNvGrpSpPr>
              <a:grpSpLocks/>
            </p:cNvGrpSpPr>
            <p:nvPr/>
          </p:nvGrpSpPr>
          <p:grpSpPr bwMode="auto">
            <a:xfrm>
              <a:off x="6553200" y="4650218"/>
              <a:ext cx="381000" cy="476975"/>
              <a:chOff x="6629400" y="3353673"/>
              <a:chExt cx="381000" cy="476975"/>
            </a:xfrm>
          </p:grpSpPr>
          <p:sp>
            <p:nvSpPr>
              <p:cNvPr id="24607" name="Oval 15"/>
              <p:cNvSpPr>
                <a:spLocks noChangeArrowheads="1"/>
              </p:cNvSpPr>
              <p:nvPr/>
            </p:nvSpPr>
            <p:spPr bwMode="auto">
              <a:xfrm>
                <a:off x="6629400" y="3394517"/>
                <a:ext cx="381000" cy="381000"/>
              </a:xfrm>
              <a:prstGeom prst="ellipse">
                <a:avLst/>
              </a:prstGeom>
              <a:solidFill>
                <a:srgbClr val="92D050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>
                  <a:lnSpc>
                    <a:spcPct val="125000"/>
                  </a:lnSpc>
                  <a:spcBef>
                    <a:spcPct val="50000"/>
                  </a:spcBef>
                  <a:spcAft>
                    <a:spcPct val="20000"/>
                  </a:spcAft>
                  <a:buFont typeface="Wingdings" pitchFamily="2" charset="2"/>
                  <a:buChar char="Ø"/>
                </a:pPr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  <p:sp>
            <p:nvSpPr>
              <p:cNvPr id="24608" name="Text Box 20"/>
              <p:cNvSpPr txBox="1">
                <a:spLocks noChangeArrowheads="1"/>
              </p:cNvSpPr>
              <p:nvPr/>
            </p:nvSpPr>
            <p:spPr bwMode="auto">
              <a:xfrm>
                <a:off x="6676104" y="3353673"/>
                <a:ext cx="228600" cy="476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defTabSz="914353">
                  <a:lnSpc>
                    <a:spcPct val="125000"/>
                  </a:lnSpc>
                  <a:spcBef>
                    <a:spcPct val="50000"/>
                  </a:spcBef>
                  <a:spcAft>
                    <a:spcPct val="20000"/>
                  </a:spcAft>
                </a:pPr>
                <a:r>
                  <a:rPr lang="en-US" altLang="zh-CN" sz="2000" dirty="0">
                    <a:solidFill>
                      <a:srgbClr val="010000"/>
                    </a:solidFill>
                    <a:latin typeface="Impact" pitchFamily="34" charset="0"/>
                    <a:sym typeface="Iowan Old Style"/>
                  </a:rPr>
                  <a:t>7</a:t>
                </a:r>
                <a:endParaRPr lang="zh-CN" altLang="en-US" dirty="0">
                  <a:solidFill>
                    <a:srgbClr val="010000"/>
                  </a:solidFill>
                  <a:latin typeface="Impact" pitchFamily="34" charset="0"/>
                  <a:sym typeface="Iowan Old Style"/>
                </a:endParaRPr>
              </a:p>
            </p:txBody>
          </p:sp>
        </p:grpSp>
        <p:grpSp>
          <p:nvGrpSpPr>
            <p:cNvPr id="24603" name="Group 25"/>
            <p:cNvGrpSpPr>
              <a:grpSpLocks/>
            </p:cNvGrpSpPr>
            <p:nvPr/>
          </p:nvGrpSpPr>
          <p:grpSpPr bwMode="auto">
            <a:xfrm>
              <a:off x="6553200" y="5617006"/>
              <a:ext cx="381000" cy="476975"/>
              <a:chOff x="6629400" y="5702270"/>
              <a:chExt cx="381000" cy="476975"/>
            </a:xfrm>
          </p:grpSpPr>
          <p:sp>
            <p:nvSpPr>
              <p:cNvPr id="24605" name="Oval 10"/>
              <p:cNvSpPr>
                <a:spLocks noChangeArrowheads="1"/>
              </p:cNvSpPr>
              <p:nvPr/>
            </p:nvSpPr>
            <p:spPr bwMode="auto">
              <a:xfrm>
                <a:off x="6629400" y="5756716"/>
                <a:ext cx="381000" cy="381000"/>
              </a:xfrm>
              <a:prstGeom prst="ellipse">
                <a:avLst/>
              </a:prstGeom>
              <a:solidFill>
                <a:srgbClr val="92D050"/>
              </a:solidFill>
              <a:ln w="317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4353">
                  <a:lnSpc>
                    <a:spcPct val="125000"/>
                  </a:lnSpc>
                  <a:spcBef>
                    <a:spcPct val="50000"/>
                  </a:spcBef>
                  <a:spcAft>
                    <a:spcPct val="20000"/>
                  </a:spcAft>
                </a:pPr>
                <a:endParaRPr kumimoji="0" lang="en-US" sz="2000">
                  <a:solidFill>
                    <a:srgbClr val="010000"/>
                  </a:solidFill>
                  <a:latin typeface="Verdana" pitchFamily="34" charset="0"/>
                  <a:sym typeface="Iowan Old Style"/>
                </a:endParaRPr>
              </a:p>
            </p:txBody>
          </p:sp>
          <p:sp>
            <p:nvSpPr>
              <p:cNvPr id="24606" name="Text Box 19"/>
              <p:cNvSpPr txBox="1">
                <a:spLocks noChangeArrowheads="1"/>
              </p:cNvSpPr>
              <p:nvPr/>
            </p:nvSpPr>
            <p:spPr bwMode="auto">
              <a:xfrm>
                <a:off x="6661356" y="5702270"/>
                <a:ext cx="228600" cy="476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defTabSz="914353">
                  <a:lnSpc>
                    <a:spcPct val="125000"/>
                  </a:lnSpc>
                  <a:spcBef>
                    <a:spcPct val="50000"/>
                  </a:spcBef>
                  <a:spcAft>
                    <a:spcPct val="20000"/>
                  </a:spcAft>
                </a:pPr>
                <a:r>
                  <a:rPr lang="en-US" altLang="zh-CN" sz="2000" dirty="0">
                    <a:solidFill>
                      <a:srgbClr val="010000"/>
                    </a:solidFill>
                    <a:latin typeface="Impact" pitchFamily="34" charset="0"/>
                    <a:sym typeface="Iowan Old Style"/>
                  </a:rPr>
                  <a:t>6</a:t>
                </a:r>
                <a:endParaRPr lang="zh-CN" altLang="en-US" dirty="0">
                  <a:solidFill>
                    <a:srgbClr val="010000"/>
                  </a:solidFill>
                  <a:latin typeface="Impact" pitchFamily="34" charset="0"/>
                  <a:sym typeface="Iowan Old Style"/>
                </a:endParaRPr>
              </a:p>
            </p:txBody>
          </p:sp>
        </p:grpSp>
        <p:cxnSp>
          <p:nvCxnSpPr>
            <p:cNvPr id="30" name="Straight Connector 29"/>
            <p:cNvCxnSpPr/>
            <p:nvPr/>
          </p:nvCxnSpPr>
          <p:spPr>
            <a:xfrm rot="5400000" flipH="1" flipV="1">
              <a:off x="6515132" y="5371828"/>
              <a:ext cx="380937" cy="0"/>
            </a:xfrm>
            <a:prstGeom prst="line">
              <a:avLst/>
            </a:prstGeom>
            <a:ln w="539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6529265" y="6077621"/>
            <a:ext cx="381000" cy="477054"/>
            <a:chOff x="6629400" y="5702230"/>
            <a:chExt cx="381000" cy="477054"/>
          </a:xfrm>
        </p:grpSpPr>
        <p:sp>
          <p:nvSpPr>
            <p:cNvPr id="24598" name="Oval 10"/>
            <p:cNvSpPr>
              <a:spLocks noChangeArrowheads="1"/>
            </p:cNvSpPr>
            <p:nvPr/>
          </p:nvSpPr>
          <p:spPr bwMode="auto">
            <a:xfrm>
              <a:off x="6629400" y="5756716"/>
              <a:ext cx="381000" cy="381000"/>
            </a:xfrm>
            <a:prstGeom prst="ellipse">
              <a:avLst/>
            </a:prstGeom>
            <a:solidFill>
              <a:srgbClr val="92D050"/>
            </a:solidFill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endParaRPr kumimoji="0" lang="en-US" sz="2000">
                <a:solidFill>
                  <a:srgbClr val="010000"/>
                </a:solidFill>
                <a:latin typeface="Verdana" pitchFamily="34" charset="0"/>
                <a:sym typeface="Iowan Old Style"/>
              </a:endParaRPr>
            </a:p>
          </p:txBody>
        </p:sp>
        <p:sp>
          <p:nvSpPr>
            <p:cNvPr id="24599" name="Text Box 19"/>
            <p:cNvSpPr txBox="1">
              <a:spLocks noChangeArrowheads="1"/>
            </p:cNvSpPr>
            <p:nvPr/>
          </p:nvSpPr>
          <p:spPr bwMode="auto">
            <a:xfrm>
              <a:off x="6661356" y="5702230"/>
              <a:ext cx="228600" cy="4770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20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2</a:t>
              </a:r>
              <a:endParaRPr lang="zh-CN" altLang="en-US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grpSp>
        <p:nvGrpSpPr>
          <p:cNvPr id="10" name="Group 42"/>
          <p:cNvGrpSpPr>
            <a:grpSpLocks/>
          </p:cNvGrpSpPr>
          <p:nvPr/>
        </p:nvGrpSpPr>
        <p:grpSpPr bwMode="auto">
          <a:xfrm>
            <a:off x="6542982" y="3104844"/>
            <a:ext cx="381000" cy="477054"/>
            <a:chOff x="6553200" y="6249638"/>
            <a:chExt cx="381000" cy="477830"/>
          </a:xfrm>
        </p:grpSpPr>
        <p:sp>
          <p:nvSpPr>
            <p:cNvPr id="24596" name="Oval 12"/>
            <p:cNvSpPr>
              <a:spLocks noChangeArrowheads="1"/>
            </p:cNvSpPr>
            <p:nvPr/>
          </p:nvSpPr>
          <p:spPr bwMode="auto">
            <a:xfrm>
              <a:off x="6553200" y="6290116"/>
              <a:ext cx="381000" cy="381000"/>
            </a:xfrm>
            <a:prstGeom prst="ellipse">
              <a:avLst/>
            </a:prstGeom>
            <a:solidFill>
              <a:srgbClr val="FFFF00">
                <a:alpha val="50195"/>
              </a:srgbClr>
            </a:solidFill>
            <a:ln w="3175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  <a:buFont typeface="Wingdings" pitchFamily="2" charset="2"/>
                <a:buChar char="Ø"/>
              </a:pPr>
              <a:endParaRPr kumimoji="0" lang="en-US" sz="2000">
                <a:solidFill>
                  <a:srgbClr val="010000"/>
                </a:solidFill>
                <a:latin typeface="Verdana" pitchFamily="34" charset="0"/>
                <a:sym typeface="Iowan Old Style"/>
              </a:endParaRPr>
            </a:p>
          </p:txBody>
        </p:sp>
        <p:sp>
          <p:nvSpPr>
            <p:cNvPr id="24597" name="Text Box 13"/>
            <p:cNvSpPr txBox="1">
              <a:spLocks noChangeArrowheads="1"/>
            </p:cNvSpPr>
            <p:nvPr/>
          </p:nvSpPr>
          <p:spPr bwMode="auto">
            <a:xfrm>
              <a:off x="6585156" y="6249638"/>
              <a:ext cx="228600" cy="47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20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9</a:t>
              </a:r>
              <a:endParaRPr lang="zh-CN" altLang="en-US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sp>
        <p:nvSpPr>
          <p:cNvPr id="51" name="Flowchart: Magnetic Disk 50"/>
          <p:cNvSpPr/>
          <p:nvPr/>
        </p:nvSpPr>
        <p:spPr>
          <a:xfrm>
            <a:off x="8053265" y="2975248"/>
            <a:ext cx="990600" cy="685800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defTabSz="914353">
              <a:lnSpc>
                <a:spcPct val="125000"/>
              </a:lnSpc>
              <a:spcBef>
                <a:spcPct val="50000"/>
              </a:spcBef>
              <a:spcAft>
                <a:spcPct val="20000"/>
              </a:spcAft>
              <a:defRPr/>
            </a:pPr>
            <a:r>
              <a:rPr kumimoji="0" lang="en-US" sz="2000" dirty="0">
                <a:solidFill>
                  <a:prstClr val="black"/>
                </a:solidFill>
                <a:latin typeface="Calibri"/>
                <a:sym typeface="Iowan Old Style"/>
              </a:rPr>
              <a:t>Disk</a:t>
            </a:r>
          </a:p>
        </p:txBody>
      </p:sp>
      <p:sp>
        <p:nvSpPr>
          <p:cNvPr id="52" name="Line 44"/>
          <p:cNvSpPr>
            <a:spLocks noChangeShapeType="1"/>
          </p:cNvSpPr>
          <p:nvPr/>
        </p:nvSpPr>
        <p:spPr bwMode="auto">
          <a:xfrm flipH="1" flipV="1">
            <a:off x="7062664" y="3356248"/>
            <a:ext cx="838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defTabSz="914353"/>
            <a:endParaRPr kumimoji="0" lang="en-US" sz="2000">
              <a:solidFill>
                <a:srgbClr val="010000"/>
              </a:solidFill>
              <a:latin typeface="Verdana" pitchFamily="34" charset="0"/>
              <a:sym typeface="Iowan Old Style"/>
            </a:endParaRPr>
          </a:p>
        </p:txBody>
      </p:sp>
      <p:grpSp>
        <p:nvGrpSpPr>
          <p:cNvPr id="11" name="Group 52"/>
          <p:cNvGrpSpPr>
            <a:grpSpLocks/>
          </p:cNvGrpSpPr>
          <p:nvPr/>
        </p:nvGrpSpPr>
        <p:grpSpPr bwMode="auto">
          <a:xfrm>
            <a:off x="6529265" y="3105815"/>
            <a:ext cx="381000" cy="477054"/>
            <a:chOff x="6553200" y="6249638"/>
            <a:chExt cx="381000" cy="477830"/>
          </a:xfrm>
        </p:grpSpPr>
        <p:sp>
          <p:nvSpPr>
            <p:cNvPr id="24594" name="Oval 12"/>
            <p:cNvSpPr>
              <a:spLocks noChangeArrowheads="1"/>
            </p:cNvSpPr>
            <p:nvPr/>
          </p:nvSpPr>
          <p:spPr bwMode="auto">
            <a:xfrm>
              <a:off x="6553200" y="6290116"/>
              <a:ext cx="381000" cy="381000"/>
            </a:xfrm>
            <a:prstGeom prst="ellipse">
              <a:avLst/>
            </a:prstGeom>
            <a:solidFill>
              <a:srgbClr val="92D050"/>
            </a:solidFill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  <a:buFont typeface="Wingdings" pitchFamily="2" charset="2"/>
                <a:buChar char="Ø"/>
              </a:pPr>
              <a:endParaRPr kumimoji="0" lang="en-US" sz="2000">
                <a:solidFill>
                  <a:srgbClr val="010000"/>
                </a:solidFill>
                <a:latin typeface="Verdana" pitchFamily="34" charset="0"/>
                <a:sym typeface="Iowan Old Style"/>
              </a:endParaRPr>
            </a:p>
          </p:txBody>
        </p:sp>
        <p:sp>
          <p:nvSpPr>
            <p:cNvPr id="24595" name="Text Box 13"/>
            <p:cNvSpPr txBox="1">
              <a:spLocks noChangeArrowheads="1"/>
            </p:cNvSpPr>
            <p:nvPr/>
          </p:nvSpPr>
          <p:spPr bwMode="auto">
            <a:xfrm>
              <a:off x="6585156" y="6249638"/>
              <a:ext cx="228600" cy="477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defTabSz="914353">
                <a:lnSpc>
                  <a:spcPct val="125000"/>
                </a:lnSpc>
                <a:spcBef>
                  <a:spcPct val="50000"/>
                </a:spcBef>
                <a:spcAft>
                  <a:spcPct val="20000"/>
                </a:spcAft>
              </a:pPr>
              <a:r>
                <a:rPr lang="en-US" altLang="zh-CN" sz="2000" dirty="0">
                  <a:solidFill>
                    <a:srgbClr val="010000"/>
                  </a:solidFill>
                  <a:latin typeface="Impact" pitchFamily="34" charset="0"/>
                  <a:sym typeface="Iowan Old Style"/>
                </a:rPr>
                <a:t>9</a:t>
              </a:r>
              <a:endParaRPr lang="zh-CN" altLang="en-US" dirty="0">
                <a:solidFill>
                  <a:srgbClr val="010000"/>
                </a:solidFill>
                <a:latin typeface="Impact" pitchFamily="34" charset="0"/>
                <a:sym typeface="Iowan Old Style"/>
              </a:endParaRPr>
            </a:p>
          </p:txBody>
        </p:sp>
      </p:grpSp>
      <p:sp>
        <p:nvSpPr>
          <p:cNvPr id="56" name="Rectangular Callout 55"/>
          <p:cNvSpPr/>
          <p:nvPr/>
        </p:nvSpPr>
        <p:spPr>
          <a:xfrm>
            <a:off x="5386264" y="2060848"/>
            <a:ext cx="1828800" cy="685800"/>
          </a:xfrm>
          <a:prstGeom prst="wedgeRectCallout">
            <a:avLst>
              <a:gd name="adj1" fmla="val 63560"/>
              <a:gd name="adj2" fmla="val 120198"/>
            </a:avLst>
          </a:prstGeom>
          <a:solidFill>
            <a:srgbClr val="0070C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3">
              <a:spcBef>
                <a:spcPct val="50000"/>
              </a:spcBef>
              <a:spcAft>
                <a:spcPct val="20000"/>
              </a:spcAft>
              <a:defRPr/>
            </a:pPr>
            <a:r>
              <a:rPr kumimoji="0" lang="en-US" sz="2000" b="1" dirty="0">
                <a:solidFill>
                  <a:prstClr val="white"/>
                </a:solidFill>
                <a:latin typeface="Calibri"/>
                <a:sym typeface="Iowan Old Style"/>
              </a:rPr>
              <a:t>Load block 9 from disk</a:t>
            </a:r>
            <a:endParaRPr kumimoji="0" lang="en-US" sz="2000" u="sng" dirty="0">
              <a:solidFill>
                <a:prstClr val="white"/>
              </a:solidFill>
              <a:latin typeface="Calibri"/>
              <a:sym typeface="Iowan Old Style"/>
            </a:endParaRPr>
          </a:p>
        </p:txBody>
      </p:sp>
      <p:sp>
        <p:nvSpPr>
          <p:cNvPr id="57" name="Rectangular Callout 56"/>
          <p:cNvSpPr/>
          <p:nvPr/>
        </p:nvSpPr>
        <p:spPr>
          <a:xfrm>
            <a:off x="7062664" y="4270649"/>
            <a:ext cx="1828800" cy="838200"/>
          </a:xfrm>
          <a:prstGeom prst="wedgeRectCallout">
            <a:avLst>
              <a:gd name="adj1" fmla="val -51494"/>
              <a:gd name="adj2" fmla="val -85667"/>
            </a:avLst>
          </a:prstGeom>
          <a:solidFill>
            <a:srgbClr val="0070C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3">
              <a:lnSpc>
                <a:spcPct val="125000"/>
              </a:lnSpc>
              <a:spcBef>
                <a:spcPct val="50000"/>
              </a:spcBef>
              <a:spcAft>
                <a:spcPct val="20000"/>
              </a:spcAft>
              <a:defRPr/>
            </a:pPr>
            <a:r>
              <a:rPr kumimoji="0" lang="en-US" sz="2000" b="1" dirty="0">
                <a:solidFill>
                  <a:prstClr val="white"/>
                </a:solidFill>
                <a:latin typeface="Calibri"/>
                <a:sym typeface="Iowan Old Style"/>
              </a:rPr>
              <a:t>Put block 9 on the stack top</a:t>
            </a:r>
            <a:endParaRPr kumimoji="0" lang="en-US" sz="2000" u="sng" dirty="0">
              <a:solidFill>
                <a:prstClr val="white"/>
              </a:solidFill>
              <a:latin typeface="Calibri"/>
              <a:sym typeface="Iowan Old Style"/>
            </a:endParaRPr>
          </a:p>
        </p:txBody>
      </p: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1981200" y="2129347"/>
            <a:ext cx="123448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353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</a:pPr>
            <a:r>
              <a:rPr kumimoji="0" lang="en-US" altLang="zh-CN" sz="3200" b="1" dirty="0">
                <a:solidFill>
                  <a:srgbClr val="CC0000"/>
                </a:solidFill>
                <a:latin typeface="Calibri"/>
                <a:sym typeface="Iowan Old Style"/>
              </a:rPr>
              <a:t>miss</a:t>
            </a:r>
            <a:endParaRPr kumimoji="0" lang="en-US" altLang="zh-CN" sz="3200" dirty="0">
              <a:solidFill>
                <a:prstClr val="black"/>
              </a:solidFill>
              <a:latin typeface="Calibri"/>
              <a:sym typeface="Iowan Old Style"/>
            </a:endParaRPr>
          </a:p>
        </p:txBody>
      </p:sp>
      <p:sp>
        <p:nvSpPr>
          <p:cNvPr id="49" name="Rectangular Callout 48"/>
          <p:cNvSpPr/>
          <p:nvPr/>
        </p:nvSpPr>
        <p:spPr>
          <a:xfrm>
            <a:off x="1881064" y="5634479"/>
            <a:ext cx="3810000" cy="836416"/>
          </a:xfrm>
          <a:prstGeom prst="wedgeRectCallout">
            <a:avLst>
              <a:gd name="adj1" fmla="val 72689"/>
              <a:gd name="adj2" fmla="val 32839"/>
            </a:avLst>
          </a:prstGeom>
          <a:solidFill>
            <a:srgbClr val="0070C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3">
              <a:lnSpc>
                <a:spcPct val="125000"/>
              </a:lnSpc>
              <a:spcBef>
                <a:spcPct val="50000"/>
              </a:spcBef>
              <a:spcAft>
                <a:spcPct val="20000"/>
              </a:spcAft>
              <a:defRPr/>
            </a:pPr>
            <a:r>
              <a:rPr kumimoji="0" lang="en-US" sz="2000" b="1" dirty="0" smtClean="0">
                <a:solidFill>
                  <a:prstClr val="white"/>
                </a:solidFill>
                <a:latin typeface="Calibri"/>
                <a:sym typeface="Iowan Old Style"/>
              </a:rPr>
              <a:t>block at </a:t>
            </a:r>
            <a:r>
              <a:rPr kumimoji="0" lang="en-US" sz="2000" b="1" dirty="0">
                <a:solidFill>
                  <a:prstClr val="white"/>
                </a:solidFill>
                <a:latin typeface="Calibri"/>
                <a:sym typeface="Iowan Old Style"/>
              </a:rPr>
              <a:t>the </a:t>
            </a:r>
            <a:r>
              <a:rPr kumimoji="0" lang="en-US" sz="2000" b="1" dirty="0" smtClean="0">
                <a:solidFill>
                  <a:prstClr val="white"/>
                </a:solidFill>
                <a:latin typeface="Calibri"/>
                <a:sym typeface="Iowan Old Style"/>
              </a:rPr>
              <a:t>bottom (block 2) is victim</a:t>
            </a:r>
            <a:endParaRPr kumimoji="0" lang="en-US" sz="2000" u="sng" dirty="0">
              <a:solidFill>
                <a:prstClr val="white"/>
              </a:solidFill>
              <a:latin typeface="Calibri"/>
              <a:sym typeface="Iowan Old Style"/>
            </a:endParaRPr>
          </a:p>
        </p:txBody>
      </p:sp>
      <p:sp>
        <p:nvSpPr>
          <p:cNvPr id="48" name="Rectangular Callout 47"/>
          <p:cNvSpPr/>
          <p:nvPr/>
        </p:nvSpPr>
        <p:spPr>
          <a:xfrm>
            <a:off x="3334378" y="3165748"/>
            <a:ext cx="2135661" cy="495300"/>
          </a:xfrm>
          <a:prstGeom prst="wedgeRectCallout">
            <a:avLst>
              <a:gd name="adj1" fmla="val 99662"/>
              <a:gd name="adj2" fmla="val -27303"/>
            </a:avLst>
          </a:prstGeom>
          <a:solidFill>
            <a:srgbClr val="0070C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3">
              <a:lnSpc>
                <a:spcPct val="125000"/>
              </a:lnSpc>
              <a:spcBef>
                <a:spcPct val="50000"/>
              </a:spcBef>
              <a:spcAft>
                <a:spcPct val="20000"/>
              </a:spcAft>
              <a:defRPr/>
            </a:pPr>
            <a:r>
              <a:rPr kumimoji="0" lang="en-US" sz="2000" b="1" dirty="0" smtClean="0">
                <a:solidFill>
                  <a:prstClr val="white"/>
                </a:solidFill>
                <a:latin typeface="Calibri"/>
                <a:sym typeface="Iowan Old Style"/>
              </a:rPr>
              <a:t>Miss </a:t>
            </a:r>
            <a:r>
              <a:rPr kumimoji="0" lang="en-US" sz="2000" b="1" dirty="0">
                <a:solidFill>
                  <a:prstClr val="white"/>
                </a:solidFill>
                <a:latin typeface="Calibri"/>
                <a:sym typeface="Iowan Old Style"/>
              </a:rPr>
              <a:t>to block 9</a:t>
            </a:r>
            <a:endParaRPr kumimoji="0" lang="en-US" sz="2000" u="sng" dirty="0">
              <a:solidFill>
                <a:prstClr val="white"/>
              </a:solidFill>
              <a:latin typeface="Calibri"/>
              <a:sym typeface="Iowan Old Style"/>
            </a:endParaRPr>
          </a:p>
        </p:txBody>
      </p:sp>
      <p:sp>
        <p:nvSpPr>
          <p:cNvPr id="4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Calibri" panose="020F0502020204030204" pitchFamily="34" charset="0"/>
              </a:rPr>
              <a:t>LRU Stack Implementation </a:t>
            </a:r>
            <a:r>
              <a:rPr lang="en-US" altLang="zh-TW" b="1" dirty="0">
                <a:latin typeface="Calibri" panose="020F0502020204030204" pitchFamily="34" charset="0"/>
                <a:cs typeface="Times New Roman" pitchFamily="18" charset="0"/>
              </a:rPr>
              <a:t>Example</a:t>
            </a:r>
            <a:endParaRPr lang="zh-TW" altLang="en-US" dirty="0">
              <a:latin typeface="+mn-lt"/>
              <a:cs typeface="Times New Roman" pitchFamily="18" charset="0"/>
            </a:endParaRPr>
          </a:p>
        </p:txBody>
      </p:sp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410751" fontAlgn="auto" hangingPunct="0">
              <a:buNone/>
              <a:defRPr/>
            </a:pPr>
            <a:fld id="{D205F798-360E-49D5-AC3A-C6E1ABD1A943}" type="slidenum">
              <a:rPr kumimoji="0" lang="zh-CN" altLang="en-US" i="1" kern="0" spc="20">
                <a:solidFill>
                  <a:prstClr val="black">
                    <a:tint val="75000"/>
                  </a:prstClr>
                </a:solidFill>
                <a:latin typeface="Iowan Old Style"/>
                <a:sym typeface="Iowan Old Style"/>
              </a:rPr>
              <a:pPr defTabSz="410751" fontAlgn="auto" hangingPunct="0">
                <a:buNone/>
                <a:defRPr/>
              </a:pPr>
              <a:t>133</a:t>
            </a:fld>
            <a:endParaRPr kumimoji="0" lang="zh-CN" altLang="en-US" i="1" kern="0" spc="20" dirty="0">
              <a:solidFill>
                <a:prstClr val="black">
                  <a:tint val="75000"/>
                </a:prstClr>
              </a:solidFill>
              <a:latin typeface="Iowan Old Style"/>
              <a:sym typeface="Iowan Old Style"/>
            </a:endParaRPr>
          </a:p>
        </p:txBody>
      </p:sp>
      <p:sp>
        <p:nvSpPr>
          <p:cNvPr id="43" name="內容版面配置區 2"/>
          <p:cNvSpPr txBox="1">
            <a:spLocks/>
          </p:cNvSpPr>
          <p:nvPr/>
        </p:nvSpPr>
        <p:spPr>
          <a:xfrm>
            <a:off x="2050648" y="1466714"/>
            <a:ext cx="8229600" cy="600209"/>
          </a:xfrm>
          <a:prstGeom prst="rect">
            <a:avLst/>
          </a:prstGeom>
        </p:spPr>
        <p:txBody>
          <a:bodyPr>
            <a:normAutofit/>
          </a:bodyPr>
          <a:lstStyle>
            <a:lvl1pPr marL="487672" indent="-48767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45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56623" indent="-40639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9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75" indent="-32511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804" indent="-32511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034" indent="-32511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42915">
              <a:buNone/>
            </a:pPr>
            <a:r>
              <a:rPr kumimoji="0" lang="en-US" sz="2812" dirty="0">
                <a:solidFill>
                  <a:prstClr val="black"/>
                </a:solidFill>
                <a:latin typeface="Calibri"/>
                <a:cs typeface="Times New Roman" pitchFamily="18" charset="0"/>
                <a:sym typeface="Iowan Old Style"/>
              </a:rPr>
              <a:t>LRU is realized by </a:t>
            </a:r>
            <a:r>
              <a:rPr kumimoji="0" lang="en-US" sz="2812" dirty="0">
                <a:solidFill>
                  <a:srgbClr val="FF0000"/>
                </a:solidFill>
                <a:latin typeface="Calibri"/>
                <a:cs typeface="Times New Roman" pitchFamily="18" charset="0"/>
                <a:sym typeface="Iowan Old Style"/>
              </a:rPr>
              <a:t>an LRU stack</a:t>
            </a:r>
          </a:p>
          <a:p>
            <a:pPr marL="742912" lvl="1" indent="-285736" algn="ctr" defTabSz="642915"/>
            <a:endParaRPr kumimoji="0" lang="en-US" altLang="zh-TW" sz="2250" dirty="0">
              <a:solidFill>
                <a:prstClr val="black"/>
              </a:solidFill>
              <a:latin typeface="Calibri"/>
              <a:ea typeface="新細明體" panose="02020500000000000000" pitchFamily="18" charset="-120"/>
              <a:sym typeface="Iowan Old Style"/>
            </a:endParaRPr>
          </a:p>
          <a:p>
            <a:pPr marL="742912" lvl="1" indent="-285736" algn="ctr" defTabSz="642915"/>
            <a:endParaRPr kumimoji="0" lang="en-US" altLang="zh-TW" sz="2250" dirty="0">
              <a:solidFill>
                <a:srgbClr val="FF0000"/>
              </a:solidFill>
              <a:latin typeface="Calibri"/>
              <a:ea typeface="新細明體" panose="02020500000000000000" pitchFamily="18" charset="-120"/>
              <a:cs typeface="Arial" panose="020B0604020202020204" pitchFamily="34" charset="0"/>
              <a:sym typeface="Iow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0114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3.33333E-6 0.0555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-3.33333E-6 0.07778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1" grpId="1" animBg="1"/>
      <p:bldP spid="52" grpId="0" animBg="1"/>
      <p:bldP spid="52" grpId="1" animBg="1"/>
      <p:bldP spid="56" grpId="0" animBg="1"/>
      <p:bldP spid="56" grpId="1" animBg="1"/>
      <p:bldP spid="57" grpId="0" animBg="1"/>
      <p:bldP spid="57" grpId="1" animBg="1"/>
      <p:bldP spid="49" grpId="0" animBg="1"/>
      <p:bldP spid="49" grpId="1" animBg="1"/>
      <p:bldP spid="48" grpId="0" animBg="1"/>
      <p:bldP spid="48" grpId="1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同樣的問題</a:t>
            </a:r>
            <a:r>
              <a:rPr lang="en-US" altLang="zh-TW" dirty="0" smtClean="0"/>
              <a:t>, </a:t>
            </a:r>
            <a:r>
              <a:rPr lang="zh-TW" altLang="en-US" dirty="0" smtClean="0"/>
              <a:t>誰來負責維護</a:t>
            </a:r>
            <a:r>
              <a:rPr lang="en-US" altLang="zh-TW" dirty="0" smtClean="0"/>
              <a:t>LRU stack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Hint</a:t>
            </a:r>
            <a:r>
              <a:rPr lang="en-US" altLang="zh-TW" dirty="0" smtClean="0"/>
              <a:t>:</a:t>
            </a:r>
            <a:r>
              <a:rPr lang="zh-TW" altLang="en-US" dirty="0" smtClean="0"/>
              <a:t>一樣不可能</a:t>
            </a:r>
            <a:r>
              <a:rPr lang="zh-TW" altLang="en-US" dirty="0"/>
              <a:t>是</a:t>
            </a:r>
            <a:r>
              <a:rPr lang="en-US" altLang="zh-TW" dirty="0" smtClean="0"/>
              <a:t>OS, shown later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002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LRU Implementation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Schemes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b="1" dirty="0"/>
              <a:t>But…</a:t>
            </a:r>
            <a:endParaRPr lang="en-US" altLang="zh-TW" sz="2400" dirty="0"/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/>
              <a:t>Counters and </a:t>
            </a:r>
            <a:r>
              <a:rPr lang="en-US" altLang="zh-TW" sz="2800" dirty="0" smtClean="0"/>
              <a:t>LRU stack </a:t>
            </a:r>
            <a:r>
              <a:rPr lang="en-US" altLang="zh-TW" sz="2800" dirty="0"/>
              <a:t>implementation schemes require substantial </a:t>
            </a:r>
            <a:r>
              <a:rPr lang="en-US" altLang="zh-TW" sz="2800" b="1" dirty="0">
                <a:solidFill>
                  <a:srgbClr val="3333FF"/>
                </a:solidFill>
              </a:rPr>
              <a:t>hardware</a:t>
            </a:r>
            <a:r>
              <a:rPr lang="en-US" altLang="zh-TW" sz="2800" dirty="0"/>
              <a:t> assistance.</a:t>
            </a:r>
          </a:p>
          <a:p>
            <a:pPr lvl="1" eaLnBrk="1" hangingPunct="1"/>
            <a:r>
              <a:rPr lang="en-US" altLang="zh-TW" sz="2400" dirty="0"/>
              <a:t>Updating the </a:t>
            </a:r>
            <a:r>
              <a:rPr lang="en-US" altLang="zh-TW" sz="2400" b="1" dirty="0"/>
              <a:t>clock </a:t>
            </a:r>
            <a:r>
              <a:rPr lang="en-US" altLang="zh-TW" sz="2400" dirty="0"/>
              <a:t>field or the </a:t>
            </a:r>
            <a:r>
              <a:rPr lang="en-US" altLang="zh-TW" sz="2400" b="1" dirty="0" smtClean="0"/>
              <a:t>LRU stack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must be done for </a:t>
            </a:r>
            <a:r>
              <a:rPr lang="en-US" altLang="zh-TW" sz="2400" b="1" i="1" dirty="0">
                <a:solidFill>
                  <a:srgbClr val="FF3300"/>
                </a:solidFill>
              </a:rPr>
              <a:t>every</a:t>
            </a:r>
            <a:r>
              <a:rPr lang="en-US" altLang="zh-TW" sz="2400" dirty="0"/>
              <a:t> memory </a:t>
            </a:r>
            <a:r>
              <a:rPr lang="en-US" altLang="zh-TW" sz="2400" dirty="0" smtClean="0"/>
              <a:t>reference</a:t>
            </a:r>
          </a:p>
          <a:p>
            <a:pPr lvl="1" eaLnBrk="1" hangingPunct="1"/>
            <a:r>
              <a:rPr lang="en-US" altLang="zh-TW" sz="2400" dirty="0" smtClean="0"/>
              <a:t>Need hardware support</a:t>
            </a:r>
          </a:p>
          <a:p>
            <a:pPr lvl="1" eaLnBrk="1" hangingPunct="1"/>
            <a:r>
              <a:rPr lang="en-US" altLang="zh-TW" sz="2400" dirty="0" smtClean="0"/>
              <a:t>See the following two slides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03996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tx1"/>
                </a:solidFill>
              </a:rPr>
              <a:t>Update Page Table for Each Memory Access</a:t>
            </a:r>
            <a:endParaRPr lang="en-US" altLang="zh-TW" dirty="0"/>
          </a:p>
        </p:txBody>
      </p:sp>
      <p:grpSp>
        <p:nvGrpSpPr>
          <p:cNvPr id="16" name="群組 15"/>
          <p:cNvGrpSpPr/>
          <p:nvPr/>
        </p:nvGrpSpPr>
        <p:grpSpPr>
          <a:xfrm>
            <a:off x="2566989" y="1484314"/>
            <a:ext cx="6005511" cy="4956174"/>
            <a:chOff x="2566989" y="1484314"/>
            <a:chExt cx="6005511" cy="4956174"/>
          </a:xfrm>
        </p:grpSpPr>
        <p:sp>
          <p:nvSpPr>
            <p:cNvPr id="282627" name="Rectangle 4"/>
            <p:cNvSpPr>
              <a:spLocks noChangeArrowheads="1"/>
            </p:cNvSpPr>
            <p:nvPr/>
          </p:nvSpPr>
          <p:spPr bwMode="auto">
            <a:xfrm>
              <a:off x="6307138" y="1484314"/>
              <a:ext cx="2265362" cy="1235075"/>
            </a:xfrm>
            <a:prstGeom prst="rect">
              <a:avLst/>
            </a:prstGeom>
            <a:solidFill>
              <a:srgbClr val="99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out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, 0x60; </a:t>
              </a:r>
              <a:endPara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dirty="0" smtClean="0">
                  <a:solidFill>
                    <a:srgbClr val="FF3300"/>
                  </a:solidFill>
                  <a:ea typeface="新細明體" panose="02020500000000000000" pitchFamily="18" charset="-120"/>
                </a:rPr>
                <a:t>…</a:t>
              </a:r>
              <a:endPara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add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,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ebx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</a:p>
          </p:txBody>
        </p:sp>
        <p:sp>
          <p:nvSpPr>
            <p:cNvPr id="282628" name="Rectangle 4"/>
            <p:cNvSpPr>
              <a:spLocks noChangeArrowheads="1"/>
            </p:cNvSpPr>
            <p:nvPr/>
          </p:nvSpPr>
          <p:spPr bwMode="auto">
            <a:xfrm>
              <a:off x="6311900" y="5445224"/>
              <a:ext cx="2260600" cy="995264"/>
            </a:xfrm>
            <a:prstGeom prst="rect">
              <a:avLst/>
            </a:prstGeom>
            <a:solidFill>
              <a:srgbClr val="CCFF33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OS</a:t>
              </a:r>
            </a:p>
          </p:txBody>
        </p:sp>
        <p:sp>
          <p:nvSpPr>
            <p:cNvPr id="282629" name="Rectangle 4"/>
            <p:cNvSpPr>
              <a:spLocks noChangeArrowheads="1"/>
            </p:cNvSpPr>
            <p:nvPr/>
          </p:nvSpPr>
          <p:spPr bwMode="auto">
            <a:xfrm>
              <a:off x="6311900" y="2719388"/>
              <a:ext cx="2260600" cy="272583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…..</a:t>
              </a:r>
            </a:p>
          </p:txBody>
        </p:sp>
        <p:sp>
          <p:nvSpPr>
            <p:cNvPr id="282630" name="Rectangle 6"/>
            <p:cNvSpPr>
              <a:spLocks noChangeArrowheads="1"/>
            </p:cNvSpPr>
            <p:nvPr/>
          </p:nvSpPr>
          <p:spPr bwMode="auto">
            <a:xfrm>
              <a:off x="2566989" y="2189163"/>
              <a:ext cx="1870075" cy="1274762"/>
            </a:xfrm>
            <a:prstGeom prst="rect">
              <a:avLst/>
            </a:prstGeom>
            <a:solidFill>
              <a:srgbClr val="5B9BD5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CPU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9" name="直線單箭頭接點 8"/>
            <p:cNvCxnSpPr>
              <a:endCxn id="282630" idx="3"/>
            </p:cNvCxnSpPr>
            <p:nvPr/>
          </p:nvCxnSpPr>
          <p:spPr>
            <a:xfrm flipH="1">
              <a:off x="4437064" y="1916832"/>
              <a:ext cx="1870074" cy="909712"/>
            </a:xfrm>
            <a:prstGeom prst="straightConnector1">
              <a:avLst/>
            </a:prstGeom>
            <a:ln w="762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flipH="1">
              <a:off x="4475712" y="2447280"/>
              <a:ext cx="1772963" cy="837704"/>
            </a:xfrm>
            <a:prstGeom prst="straightConnector1">
              <a:avLst/>
            </a:prstGeom>
            <a:ln w="762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55804" y="3877384"/>
              <a:ext cx="2188468" cy="1567840"/>
            </a:xfrm>
            <a:prstGeom prst="rect">
              <a:avLst/>
            </a:prstGeom>
          </p:spPr>
        </p:pic>
        <p:cxnSp>
          <p:nvCxnSpPr>
            <p:cNvPr id="14" name="直線接點 13"/>
            <p:cNvCxnSpPr/>
            <p:nvPr/>
          </p:nvCxnSpPr>
          <p:spPr>
            <a:xfrm>
              <a:off x="6307138" y="3877384"/>
              <a:ext cx="2265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375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tx1"/>
                </a:solidFill>
              </a:rPr>
              <a:t>Update LRU Stack for Each Memory Access</a:t>
            </a:r>
            <a:endParaRPr lang="en-US" altLang="zh-TW" dirty="0"/>
          </a:p>
        </p:txBody>
      </p:sp>
      <p:grpSp>
        <p:nvGrpSpPr>
          <p:cNvPr id="16" name="群組 15"/>
          <p:cNvGrpSpPr/>
          <p:nvPr/>
        </p:nvGrpSpPr>
        <p:grpSpPr>
          <a:xfrm>
            <a:off x="2566989" y="1484314"/>
            <a:ext cx="6005511" cy="4956174"/>
            <a:chOff x="2566989" y="1484314"/>
            <a:chExt cx="6005511" cy="4956174"/>
          </a:xfrm>
        </p:grpSpPr>
        <p:sp>
          <p:nvSpPr>
            <p:cNvPr id="282627" name="Rectangle 4"/>
            <p:cNvSpPr>
              <a:spLocks noChangeArrowheads="1"/>
            </p:cNvSpPr>
            <p:nvPr/>
          </p:nvSpPr>
          <p:spPr bwMode="auto">
            <a:xfrm>
              <a:off x="6307138" y="1484314"/>
              <a:ext cx="2265362" cy="1235075"/>
            </a:xfrm>
            <a:prstGeom prst="rect">
              <a:avLst/>
            </a:prstGeom>
            <a:solidFill>
              <a:srgbClr val="99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out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, 0x60; </a:t>
              </a:r>
              <a:endPara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dirty="0" smtClean="0">
                  <a:solidFill>
                    <a:srgbClr val="FF3300"/>
                  </a:solidFill>
                  <a:ea typeface="新細明體" panose="02020500000000000000" pitchFamily="18" charset="-120"/>
                </a:rPr>
                <a:t>…</a:t>
              </a:r>
              <a:endPara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add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,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ebx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</a:p>
          </p:txBody>
        </p:sp>
        <p:sp>
          <p:nvSpPr>
            <p:cNvPr id="282628" name="Rectangle 4"/>
            <p:cNvSpPr>
              <a:spLocks noChangeArrowheads="1"/>
            </p:cNvSpPr>
            <p:nvPr/>
          </p:nvSpPr>
          <p:spPr bwMode="auto">
            <a:xfrm>
              <a:off x="6311900" y="5445224"/>
              <a:ext cx="2260600" cy="995264"/>
            </a:xfrm>
            <a:prstGeom prst="rect">
              <a:avLst/>
            </a:prstGeom>
            <a:solidFill>
              <a:srgbClr val="CCFF33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OS</a:t>
              </a:r>
            </a:p>
          </p:txBody>
        </p:sp>
        <p:sp>
          <p:nvSpPr>
            <p:cNvPr id="282629" name="Rectangle 4"/>
            <p:cNvSpPr>
              <a:spLocks noChangeArrowheads="1"/>
            </p:cNvSpPr>
            <p:nvPr/>
          </p:nvSpPr>
          <p:spPr bwMode="auto">
            <a:xfrm>
              <a:off x="6311900" y="2719388"/>
              <a:ext cx="2260600" cy="272583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2630" name="Rectangle 6"/>
            <p:cNvSpPr>
              <a:spLocks noChangeArrowheads="1"/>
            </p:cNvSpPr>
            <p:nvPr/>
          </p:nvSpPr>
          <p:spPr bwMode="auto">
            <a:xfrm>
              <a:off x="2566989" y="2189163"/>
              <a:ext cx="1870075" cy="1274762"/>
            </a:xfrm>
            <a:prstGeom prst="rect">
              <a:avLst/>
            </a:prstGeom>
            <a:solidFill>
              <a:srgbClr val="5B9BD5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CPU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9" name="直線單箭頭接點 8"/>
            <p:cNvCxnSpPr>
              <a:endCxn id="282630" idx="3"/>
            </p:cNvCxnSpPr>
            <p:nvPr/>
          </p:nvCxnSpPr>
          <p:spPr>
            <a:xfrm flipH="1">
              <a:off x="4437064" y="1916832"/>
              <a:ext cx="1870074" cy="909712"/>
            </a:xfrm>
            <a:prstGeom prst="straightConnector1">
              <a:avLst/>
            </a:prstGeom>
            <a:ln w="762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flipH="1">
              <a:off x="4475712" y="2447280"/>
              <a:ext cx="1772963" cy="837704"/>
            </a:xfrm>
            <a:prstGeom prst="straightConnector1">
              <a:avLst/>
            </a:prstGeom>
            <a:ln w="762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6307138" y="3877384"/>
              <a:ext cx="2265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733" y="3984540"/>
            <a:ext cx="604172" cy="146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2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問題是沒有硬體提供上述的支援</a:t>
            </a:r>
            <a:r>
              <a:rPr lang="en-US" altLang="zh-TW" dirty="0" smtClean="0"/>
              <a:t>.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</a:t>
            </a:r>
            <a:r>
              <a:rPr lang="zh-TW" altLang="en-US" dirty="0" smtClean="0"/>
              <a:t>逼近</a:t>
            </a:r>
            <a:r>
              <a:rPr lang="en-US" altLang="zh-TW" dirty="0" smtClean="0"/>
              <a:t>LRU</a:t>
            </a:r>
            <a:r>
              <a:rPr lang="zh-TW" altLang="en-US" dirty="0" smtClean="0"/>
              <a:t>演算法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382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>
                <a:solidFill>
                  <a:srgbClr val="000000"/>
                </a:solidFill>
              </a:rPr>
              <a:t>Page </a:t>
            </a:r>
            <a:r>
              <a:rPr lang="en-US" altLang="zh-TW" sz="4000" dirty="0">
                <a:solidFill>
                  <a:srgbClr val="000000"/>
                </a:solidFill>
              </a:rPr>
              <a:t>Replacement Algorithms</a:t>
            </a:r>
            <a:endParaRPr lang="en-US" altLang="zh-TW" sz="48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Stack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Optimal </a:t>
            </a:r>
            <a:r>
              <a:rPr lang="en-US" altLang="zh-TW" sz="2400" dirty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</a:t>
            </a:r>
            <a:r>
              <a:rPr lang="en-US" altLang="zh-TW" sz="2400" dirty="0" smtClean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b="1" dirty="0" smtClean="0">
                <a:solidFill>
                  <a:srgbClr val="FF3300"/>
                </a:solidFill>
              </a:rPr>
              <a:t>LRU-approximation </a:t>
            </a:r>
            <a:r>
              <a:rPr lang="en-US" altLang="zh-TW" sz="2400" b="1" dirty="0">
                <a:solidFill>
                  <a:srgbClr val="FF3300"/>
                </a:solidFill>
              </a:rPr>
              <a:t>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LFU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MFU</a:t>
            </a:r>
          </a:p>
          <a:p>
            <a:pPr eaLnBrk="1" hangingPunct="1">
              <a:spcBef>
                <a:spcPct val="10000"/>
              </a:spcBef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60383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LRU Approximation Algorithms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LRU need hardware support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Few systems provide sufficient hardware support for LRU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90000"/>
              </a:lnSpc>
            </a:pPr>
            <a:r>
              <a:rPr lang="zh-TW" altLang="en-US" sz="2800" dirty="0" smtClean="0"/>
              <a:t>除了</a:t>
            </a:r>
            <a:r>
              <a:rPr lang="en-US" altLang="zh-TW" sz="2800" dirty="0" smtClean="0"/>
              <a:t>dirty bit, </a:t>
            </a:r>
            <a:r>
              <a:rPr lang="en-US" altLang="zh-TW" sz="2800" b="1" dirty="0" smtClean="0"/>
              <a:t>MMU</a:t>
            </a:r>
            <a:r>
              <a:rPr lang="zh-TW" altLang="en-US" sz="2800" dirty="0"/>
              <a:t>也會對</a:t>
            </a:r>
            <a:r>
              <a:rPr lang="zh-TW" altLang="en-US" sz="2800" dirty="0" smtClean="0"/>
              <a:t>每一個</a:t>
            </a:r>
            <a:r>
              <a:rPr lang="en-US" altLang="zh-TW" sz="2800" dirty="0" smtClean="0"/>
              <a:t>page table entry</a:t>
            </a:r>
            <a:r>
              <a:rPr lang="zh-TW" altLang="en-US" sz="2800" dirty="0" smtClean="0"/>
              <a:t>設定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reference bit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Can </a:t>
            </a:r>
            <a:r>
              <a:rPr lang="en-US" altLang="zh-TW" sz="2400" dirty="0"/>
              <a:t>be utilized to </a:t>
            </a:r>
            <a:r>
              <a:rPr lang="en-US" altLang="zh-TW" sz="2400" b="1" dirty="0">
                <a:solidFill>
                  <a:srgbClr val="FF3300"/>
                </a:solidFill>
              </a:rPr>
              <a:t>approximate</a:t>
            </a:r>
            <a:r>
              <a:rPr lang="en-US" altLang="zh-TW" sz="2400" dirty="0"/>
              <a:t> LRU scheme</a:t>
            </a:r>
            <a:endParaRPr lang="en-US" altLang="zh-TW" sz="2400" b="1" dirty="0"/>
          </a:p>
          <a:p>
            <a:pPr eaLnBrk="1" hangingPunct="1">
              <a:lnSpc>
                <a:spcPct val="90000"/>
              </a:lnSpc>
            </a:pPr>
            <a:endParaRPr lang="en-US" altLang="zh-TW" sz="2800" b="1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/>
              <a:t>Reference bit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Each page associated with a </a:t>
            </a:r>
            <a:r>
              <a:rPr lang="en-US" altLang="zh-TW" sz="2400" b="1" dirty="0"/>
              <a:t>reference</a:t>
            </a:r>
            <a:r>
              <a:rPr lang="en-US" altLang="zh-TW" sz="2400" dirty="0"/>
              <a:t> </a:t>
            </a:r>
            <a:r>
              <a:rPr lang="en-US" altLang="zh-TW" sz="2400" b="1" dirty="0"/>
              <a:t>bit</a:t>
            </a:r>
            <a:r>
              <a:rPr lang="en-US" altLang="zh-TW" sz="2400" dirty="0"/>
              <a:t>, initially set to 0 by </a:t>
            </a:r>
            <a:r>
              <a:rPr lang="en-US" altLang="zh-TW" sz="2400" b="1" dirty="0">
                <a:solidFill>
                  <a:srgbClr val="3333FF"/>
                </a:solidFill>
              </a:rPr>
              <a:t>OS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When a page is referenced, </a:t>
            </a:r>
            <a:r>
              <a:rPr lang="en-US" altLang="zh-TW" sz="2400" b="1" dirty="0">
                <a:solidFill>
                  <a:srgbClr val="FF3300"/>
                </a:solidFill>
              </a:rPr>
              <a:t>hardware</a:t>
            </a:r>
            <a:r>
              <a:rPr lang="en-US" altLang="zh-TW" sz="2400" dirty="0"/>
              <a:t> set this bit to </a:t>
            </a:r>
            <a:r>
              <a:rPr lang="en-US" altLang="zh-TW" sz="2400" dirty="0" smtClean="0"/>
              <a:t>1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28209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Reference Bit</a:t>
            </a:r>
          </a:p>
        </p:txBody>
      </p:sp>
      <p:sp>
        <p:nvSpPr>
          <p:cNvPr id="60419" name="Rectangle 27"/>
          <p:cNvSpPr>
            <a:spLocks noChangeArrowheads="1"/>
          </p:cNvSpPr>
          <p:nvPr/>
        </p:nvSpPr>
        <p:spPr bwMode="auto">
          <a:xfrm>
            <a:off x="4233864" y="5438775"/>
            <a:ext cx="201612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0" name="Rectangle 28"/>
          <p:cNvSpPr>
            <a:spLocks noChangeArrowheads="1"/>
          </p:cNvSpPr>
          <p:nvPr/>
        </p:nvSpPr>
        <p:spPr bwMode="auto">
          <a:xfrm>
            <a:off x="4233864" y="2805113"/>
            <a:ext cx="2016125" cy="436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1" name="Rectangle 29"/>
          <p:cNvSpPr>
            <a:spLocks noChangeArrowheads="1"/>
          </p:cNvSpPr>
          <p:nvPr/>
        </p:nvSpPr>
        <p:spPr bwMode="auto">
          <a:xfrm>
            <a:off x="4233864" y="3244851"/>
            <a:ext cx="2016125" cy="436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2" name="Rectangle 30"/>
          <p:cNvSpPr>
            <a:spLocks noChangeArrowheads="1"/>
          </p:cNvSpPr>
          <p:nvPr/>
        </p:nvSpPr>
        <p:spPr bwMode="auto">
          <a:xfrm>
            <a:off x="4233864" y="3683000"/>
            <a:ext cx="201612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3" name="Rectangle 31"/>
          <p:cNvSpPr>
            <a:spLocks noChangeArrowheads="1"/>
          </p:cNvSpPr>
          <p:nvPr/>
        </p:nvSpPr>
        <p:spPr bwMode="auto">
          <a:xfrm>
            <a:off x="4233864" y="4122738"/>
            <a:ext cx="201612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4" name="Rectangle 32"/>
          <p:cNvSpPr>
            <a:spLocks noChangeArrowheads="1"/>
          </p:cNvSpPr>
          <p:nvPr/>
        </p:nvSpPr>
        <p:spPr bwMode="auto">
          <a:xfrm>
            <a:off x="4233864" y="4562475"/>
            <a:ext cx="201612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5" name="Rectangle 33"/>
          <p:cNvSpPr>
            <a:spLocks noChangeArrowheads="1"/>
          </p:cNvSpPr>
          <p:nvPr/>
        </p:nvSpPr>
        <p:spPr bwMode="auto">
          <a:xfrm>
            <a:off x="4233864" y="5000626"/>
            <a:ext cx="2016125" cy="436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6" name="Text Box 34"/>
          <p:cNvSpPr txBox="1">
            <a:spLocks noChangeArrowheads="1"/>
          </p:cNvSpPr>
          <p:nvPr/>
        </p:nvSpPr>
        <p:spPr bwMode="auto">
          <a:xfrm>
            <a:off x="4233863" y="2276476"/>
            <a:ext cx="13763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Book Antiqua" pitchFamily="18" charset="0"/>
              </a:rPr>
              <a:t>page table</a:t>
            </a:r>
          </a:p>
        </p:txBody>
      </p:sp>
      <p:sp>
        <p:nvSpPr>
          <p:cNvPr id="778276" name="Rectangle 36"/>
          <p:cNvSpPr>
            <a:spLocks noChangeArrowheads="1"/>
          </p:cNvSpPr>
          <p:nvPr/>
        </p:nvSpPr>
        <p:spPr bwMode="auto">
          <a:xfrm>
            <a:off x="5962651" y="2803525"/>
            <a:ext cx="288925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0</a:t>
            </a:r>
          </a:p>
        </p:txBody>
      </p:sp>
      <p:sp>
        <p:nvSpPr>
          <p:cNvPr id="60428" name="Rectangle 37"/>
          <p:cNvSpPr>
            <a:spLocks noChangeArrowheads="1"/>
          </p:cNvSpPr>
          <p:nvPr/>
        </p:nvSpPr>
        <p:spPr bwMode="auto">
          <a:xfrm>
            <a:off x="5961064" y="3241675"/>
            <a:ext cx="288925" cy="4397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0</a:t>
            </a:r>
          </a:p>
        </p:txBody>
      </p:sp>
      <p:sp>
        <p:nvSpPr>
          <p:cNvPr id="778278" name="Rectangle 38"/>
          <p:cNvSpPr>
            <a:spLocks noChangeArrowheads="1"/>
          </p:cNvSpPr>
          <p:nvPr/>
        </p:nvSpPr>
        <p:spPr bwMode="auto">
          <a:xfrm>
            <a:off x="5962651" y="3681414"/>
            <a:ext cx="288925" cy="4397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0</a:t>
            </a:r>
          </a:p>
        </p:txBody>
      </p:sp>
      <p:sp>
        <p:nvSpPr>
          <p:cNvPr id="778279" name="Rectangle 39"/>
          <p:cNvSpPr>
            <a:spLocks noChangeArrowheads="1"/>
          </p:cNvSpPr>
          <p:nvPr/>
        </p:nvSpPr>
        <p:spPr bwMode="auto">
          <a:xfrm>
            <a:off x="5961064" y="4119564"/>
            <a:ext cx="288925" cy="4397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0</a:t>
            </a:r>
          </a:p>
        </p:txBody>
      </p:sp>
      <p:sp>
        <p:nvSpPr>
          <p:cNvPr id="60431" name="Rectangle 40"/>
          <p:cNvSpPr>
            <a:spLocks noChangeArrowheads="1"/>
          </p:cNvSpPr>
          <p:nvPr/>
        </p:nvSpPr>
        <p:spPr bwMode="auto">
          <a:xfrm>
            <a:off x="5962651" y="4559300"/>
            <a:ext cx="288925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0</a:t>
            </a:r>
          </a:p>
        </p:txBody>
      </p:sp>
      <p:sp>
        <p:nvSpPr>
          <p:cNvPr id="60432" name="Rectangle 41"/>
          <p:cNvSpPr>
            <a:spLocks noChangeArrowheads="1"/>
          </p:cNvSpPr>
          <p:nvPr/>
        </p:nvSpPr>
        <p:spPr bwMode="auto">
          <a:xfrm>
            <a:off x="5962651" y="4997450"/>
            <a:ext cx="288925" cy="4397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0</a:t>
            </a:r>
          </a:p>
        </p:txBody>
      </p:sp>
      <p:sp>
        <p:nvSpPr>
          <p:cNvPr id="778282" name="Rectangle 42"/>
          <p:cNvSpPr>
            <a:spLocks noChangeArrowheads="1"/>
          </p:cNvSpPr>
          <p:nvPr/>
        </p:nvSpPr>
        <p:spPr bwMode="auto">
          <a:xfrm>
            <a:off x="5962651" y="5437189"/>
            <a:ext cx="288925" cy="4397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0</a:t>
            </a:r>
          </a:p>
        </p:txBody>
      </p:sp>
      <p:sp>
        <p:nvSpPr>
          <p:cNvPr id="60434" name="Text Box 43"/>
          <p:cNvSpPr txBox="1">
            <a:spLocks noChangeArrowheads="1"/>
          </p:cNvSpPr>
          <p:nvPr/>
        </p:nvSpPr>
        <p:spPr bwMode="auto">
          <a:xfrm>
            <a:off x="5673725" y="2276475"/>
            <a:ext cx="17907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reference bit</a:t>
            </a:r>
          </a:p>
        </p:txBody>
      </p:sp>
      <p:sp>
        <p:nvSpPr>
          <p:cNvPr id="778285" name="Text Box 45"/>
          <p:cNvSpPr txBox="1">
            <a:spLocks noChangeArrowheads="1"/>
          </p:cNvSpPr>
          <p:nvPr/>
        </p:nvSpPr>
        <p:spPr bwMode="auto">
          <a:xfrm>
            <a:off x="4151314" y="1484314"/>
            <a:ext cx="22494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Book Antiqua" pitchFamily="18" charset="0"/>
              </a:rPr>
              <a:t>reference string: 0</a:t>
            </a:r>
          </a:p>
        </p:txBody>
      </p:sp>
      <p:grpSp>
        <p:nvGrpSpPr>
          <p:cNvPr id="60436" name="Group 63"/>
          <p:cNvGrpSpPr>
            <a:grpSpLocks/>
          </p:cNvGrpSpPr>
          <p:nvPr/>
        </p:nvGrpSpPr>
        <p:grpSpPr bwMode="auto">
          <a:xfrm>
            <a:off x="3913188" y="2897188"/>
            <a:ext cx="311150" cy="2908300"/>
            <a:chOff x="657" y="1666"/>
            <a:chExt cx="196" cy="1832"/>
          </a:xfrm>
        </p:grpSpPr>
        <p:sp>
          <p:nvSpPr>
            <p:cNvPr id="60447" name="Text Box 64"/>
            <p:cNvSpPr txBox="1">
              <a:spLocks noChangeArrowheads="1"/>
            </p:cNvSpPr>
            <p:nvPr/>
          </p:nvSpPr>
          <p:spPr bwMode="auto">
            <a:xfrm>
              <a:off x="657" y="166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0</a:t>
              </a:r>
            </a:p>
          </p:txBody>
        </p:sp>
        <p:sp>
          <p:nvSpPr>
            <p:cNvPr id="60448" name="Text Box 65"/>
            <p:cNvSpPr txBox="1">
              <a:spLocks noChangeArrowheads="1"/>
            </p:cNvSpPr>
            <p:nvPr/>
          </p:nvSpPr>
          <p:spPr bwMode="auto">
            <a:xfrm>
              <a:off x="657" y="195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1</a:t>
              </a:r>
            </a:p>
          </p:txBody>
        </p:sp>
        <p:sp>
          <p:nvSpPr>
            <p:cNvPr id="60449" name="Text Box 66"/>
            <p:cNvSpPr txBox="1">
              <a:spLocks noChangeArrowheads="1"/>
            </p:cNvSpPr>
            <p:nvPr/>
          </p:nvSpPr>
          <p:spPr bwMode="auto">
            <a:xfrm>
              <a:off x="657" y="222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2</a:t>
              </a:r>
            </a:p>
          </p:txBody>
        </p:sp>
        <p:sp>
          <p:nvSpPr>
            <p:cNvPr id="60450" name="Text Box 67"/>
            <p:cNvSpPr txBox="1">
              <a:spLocks noChangeArrowheads="1"/>
            </p:cNvSpPr>
            <p:nvPr/>
          </p:nvSpPr>
          <p:spPr bwMode="auto">
            <a:xfrm>
              <a:off x="657" y="247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3</a:t>
              </a:r>
            </a:p>
          </p:txBody>
        </p:sp>
        <p:sp>
          <p:nvSpPr>
            <p:cNvPr id="60451" name="Text Box 68"/>
            <p:cNvSpPr txBox="1">
              <a:spLocks noChangeArrowheads="1"/>
            </p:cNvSpPr>
            <p:nvPr/>
          </p:nvSpPr>
          <p:spPr bwMode="auto">
            <a:xfrm>
              <a:off x="657" y="2749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4</a:t>
              </a:r>
            </a:p>
          </p:txBody>
        </p:sp>
        <p:sp>
          <p:nvSpPr>
            <p:cNvPr id="60452" name="Text Box 69"/>
            <p:cNvSpPr txBox="1">
              <a:spLocks noChangeArrowheads="1"/>
            </p:cNvSpPr>
            <p:nvPr/>
          </p:nvSpPr>
          <p:spPr bwMode="auto">
            <a:xfrm>
              <a:off x="657" y="299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5</a:t>
              </a:r>
            </a:p>
          </p:txBody>
        </p:sp>
        <p:sp>
          <p:nvSpPr>
            <p:cNvPr id="60453" name="Text Box 70"/>
            <p:cNvSpPr txBox="1">
              <a:spLocks noChangeArrowheads="1"/>
            </p:cNvSpPr>
            <p:nvPr/>
          </p:nvSpPr>
          <p:spPr bwMode="auto">
            <a:xfrm>
              <a:off x="657" y="324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6</a:t>
              </a:r>
            </a:p>
          </p:txBody>
        </p:sp>
      </p:grpSp>
      <p:sp>
        <p:nvSpPr>
          <p:cNvPr id="60437" name="Line 71"/>
          <p:cNvSpPr>
            <a:spLocks noChangeShapeType="1"/>
          </p:cNvSpPr>
          <p:nvPr/>
        </p:nvSpPr>
        <p:spPr bwMode="auto">
          <a:xfrm>
            <a:off x="3359150" y="2349500"/>
            <a:ext cx="649288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438" name="Text Box 72"/>
          <p:cNvSpPr txBox="1">
            <a:spLocks noChangeArrowheads="1"/>
          </p:cNvSpPr>
          <p:nvPr/>
        </p:nvSpPr>
        <p:spPr bwMode="auto">
          <a:xfrm>
            <a:off x="2424114" y="1989139"/>
            <a:ext cx="171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Book Antiqua" pitchFamily="18" charset="0"/>
              </a:rPr>
              <a:t>page number</a:t>
            </a:r>
          </a:p>
        </p:txBody>
      </p:sp>
      <p:sp>
        <p:nvSpPr>
          <p:cNvPr id="778313" name="Rectangle 73"/>
          <p:cNvSpPr>
            <a:spLocks noChangeArrowheads="1"/>
          </p:cNvSpPr>
          <p:nvPr/>
        </p:nvSpPr>
        <p:spPr bwMode="auto">
          <a:xfrm>
            <a:off x="5951539" y="2800350"/>
            <a:ext cx="288925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778314" name="Rectangle 74"/>
          <p:cNvSpPr>
            <a:spLocks noChangeArrowheads="1"/>
          </p:cNvSpPr>
          <p:nvPr/>
        </p:nvSpPr>
        <p:spPr bwMode="auto">
          <a:xfrm>
            <a:off x="6383339" y="1484313"/>
            <a:ext cx="28892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2</a:t>
            </a:r>
          </a:p>
        </p:txBody>
      </p:sp>
      <p:sp>
        <p:nvSpPr>
          <p:cNvPr id="778316" name="Rectangle 76"/>
          <p:cNvSpPr>
            <a:spLocks noChangeArrowheads="1"/>
          </p:cNvSpPr>
          <p:nvPr/>
        </p:nvSpPr>
        <p:spPr bwMode="auto">
          <a:xfrm>
            <a:off x="5951539" y="3687763"/>
            <a:ext cx="288925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778317" name="Rectangle 77"/>
          <p:cNvSpPr>
            <a:spLocks noChangeArrowheads="1"/>
          </p:cNvSpPr>
          <p:nvPr/>
        </p:nvSpPr>
        <p:spPr bwMode="auto">
          <a:xfrm>
            <a:off x="6743701" y="1484313"/>
            <a:ext cx="28892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3</a:t>
            </a:r>
          </a:p>
        </p:txBody>
      </p:sp>
      <p:sp>
        <p:nvSpPr>
          <p:cNvPr id="778318" name="Rectangle 78"/>
          <p:cNvSpPr>
            <a:spLocks noChangeArrowheads="1"/>
          </p:cNvSpPr>
          <p:nvPr/>
        </p:nvSpPr>
        <p:spPr bwMode="auto">
          <a:xfrm>
            <a:off x="5942014" y="4114800"/>
            <a:ext cx="288925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778319" name="Rectangle 79"/>
          <p:cNvSpPr>
            <a:spLocks noChangeArrowheads="1"/>
          </p:cNvSpPr>
          <p:nvPr/>
        </p:nvSpPr>
        <p:spPr bwMode="auto">
          <a:xfrm>
            <a:off x="7104064" y="1484313"/>
            <a:ext cx="28892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latin typeface="Book Antiqua" pitchFamily="18" charset="0"/>
              </a:rPr>
              <a:t>6</a:t>
            </a:r>
          </a:p>
        </p:txBody>
      </p:sp>
      <p:sp>
        <p:nvSpPr>
          <p:cNvPr id="778320" name="Rectangle 80"/>
          <p:cNvSpPr>
            <a:spLocks noChangeArrowheads="1"/>
          </p:cNvSpPr>
          <p:nvPr/>
        </p:nvSpPr>
        <p:spPr bwMode="auto">
          <a:xfrm>
            <a:off x="5951539" y="5445125"/>
            <a:ext cx="288925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>
                <a:solidFill>
                  <a:srgbClr val="FF3300"/>
                </a:solidFill>
                <a:latin typeface="Book Antiqua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6182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" dur="500"/>
                                        <p:tgtEl>
                                          <p:spTgt spid="778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" dur="500"/>
                                        <p:tgtEl>
                                          <p:spTgt spid="778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778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9" dur="500"/>
                                        <p:tgtEl>
                                          <p:spTgt spid="778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6" grpId="0" animBg="1"/>
      <p:bldP spid="778278" grpId="0" animBg="1"/>
      <p:bldP spid="778279" grpId="0" animBg="1"/>
      <p:bldP spid="778282" grpId="0" animBg="1"/>
      <p:bldP spid="778285" grpId="0" build="allAtOnce"/>
      <p:bldP spid="778313" grpId="0" animBg="1"/>
      <p:bldP spid="778314" grpId="0"/>
      <p:bldP spid="778316" grpId="0" animBg="1"/>
      <p:bldP spid="778317" grpId="0"/>
      <p:bldP spid="778318" grpId="0" animBg="1"/>
      <p:bldP spid="778319" grpId="0"/>
      <p:bldP spid="778320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tx1"/>
                </a:solidFill>
              </a:rPr>
              <a:t>Page Table in OS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5"/>
            <a:ext cx="2265362" cy="93256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794794"/>
            <a:ext cx="2260600" cy="645693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416883"/>
            <a:ext cx="2260600" cy="3377911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863" y="4365104"/>
            <a:ext cx="1877393" cy="1224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688288" y="4797152"/>
            <a:ext cx="151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table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直線接點 6"/>
          <p:cNvCxnSpPr>
            <a:stCxn id="282629" idx="1"/>
            <a:endCxn id="282629" idx="3"/>
          </p:cNvCxnSpPr>
          <p:nvPr/>
        </p:nvCxnSpPr>
        <p:spPr>
          <a:xfrm>
            <a:off x="6311900" y="4105839"/>
            <a:ext cx="2260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88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Q: When page replacement occurs, </a:t>
            </a:r>
            <a:r>
              <a:rPr lang="zh-TW" altLang="en-US" dirty="0"/>
              <a:t>我們要替換誰呢</a:t>
            </a:r>
            <a:r>
              <a:rPr lang="en-US" altLang="zh-TW" dirty="0"/>
              <a:t>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>
                <a:cs typeface="Calibri" panose="020F0502020204030204" pitchFamily="34" charset="0"/>
              </a:rPr>
              <a:t>Hint: replace the one with 0</a:t>
            </a:r>
          </a:p>
          <a:p>
            <a:r>
              <a:rPr lang="en-US" altLang="zh-TW" dirty="0" smtClean="0">
                <a:cs typeface="Calibri" panose="020F0502020204030204" pitchFamily="34" charset="0"/>
              </a:rPr>
              <a:t>Q:</a:t>
            </a:r>
            <a:r>
              <a:rPr lang="zh-TW" altLang="en-US" dirty="0" smtClean="0">
                <a:cs typeface="Calibri" panose="020F0502020204030204" pitchFamily="34" charset="0"/>
              </a:rPr>
              <a:t> 但是</a:t>
            </a:r>
            <a:r>
              <a:rPr lang="zh-TW" altLang="en-US" dirty="0">
                <a:cs typeface="Calibri" panose="020F0502020204030204" pitchFamily="34" charset="0"/>
              </a:rPr>
              <a:t>如果有</a:t>
            </a:r>
            <a:r>
              <a:rPr lang="zh-TW" altLang="en-US" dirty="0" smtClean="0">
                <a:cs typeface="Calibri" panose="020F0502020204030204" pitchFamily="34" charset="0"/>
              </a:rPr>
              <a:t>很多</a:t>
            </a:r>
            <a:r>
              <a:rPr lang="en-US" altLang="zh-TW" dirty="0" smtClean="0">
                <a:cs typeface="Calibri" panose="020F0502020204030204" pitchFamily="34" charset="0"/>
              </a:rPr>
              <a:t>0</a:t>
            </a:r>
            <a:r>
              <a:rPr lang="zh-TW" altLang="en-US" dirty="0" smtClean="0">
                <a:cs typeface="Calibri" panose="020F0502020204030204" pitchFamily="34" charset="0"/>
              </a:rPr>
              <a:t>呢</a:t>
            </a:r>
            <a:r>
              <a:rPr lang="en-US" altLang="zh-TW" dirty="0" smtClean="0">
                <a:cs typeface="Calibri" panose="020F0502020204030204" pitchFamily="34" charset="0"/>
              </a:rPr>
              <a:t>?</a:t>
            </a:r>
            <a:endParaRPr lang="zh-TW" altLang="en-US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46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Reference Bit</a:t>
            </a:r>
          </a:p>
        </p:txBody>
      </p:sp>
      <p:sp>
        <p:nvSpPr>
          <p:cNvPr id="60419" name="Rectangle 27"/>
          <p:cNvSpPr>
            <a:spLocks noChangeArrowheads="1"/>
          </p:cNvSpPr>
          <p:nvPr/>
        </p:nvSpPr>
        <p:spPr bwMode="auto">
          <a:xfrm>
            <a:off x="4233864" y="5438775"/>
            <a:ext cx="201612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0420" name="Rectangle 28"/>
          <p:cNvSpPr>
            <a:spLocks noChangeArrowheads="1"/>
          </p:cNvSpPr>
          <p:nvPr/>
        </p:nvSpPr>
        <p:spPr bwMode="auto">
          <a:xfrm>
            <a:off x="4233864" y="2805113"/>
            <a:ext cx="2016125" cy="436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0421" name="Rectangle 29"/>
          <p:cNvSpPr>
            <a:spLocks noChangeArrowheads="1"/>
          </p:cNvSpPr>
          <p:nvPr/>
        </p:nvSpPr>
        <p:spPr bwMode="auto">
          <a:xfrm>
            <a:off x="4233864" y="3244851"/>
            <a:ext cx="2016125" cy="436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0422" name="Rectangle 30"/>
          <p:cNvSpPr>
            <a:spLocks noChangeArrowheads="1"/>
          </p:cNvSpPr>
          <p:nvPr/>
        </p:nvSpPr>
        <p:spPr bwMode="auto">
          <a:xfrm>
            <a:off x="4233864" y="3683000"/>
            <a:ext cx="201612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0423" name="Rectangle 31"/>
          <p:cNvSpPr>
            <a:spLocks noChangeArrowheads="1"/>
          </p:cNvSpPr>
          <p:nvPr/>
        </p:nvSpPr>
        <p:spPr bwMode="auto">
          <a:xfrm>
            <a:off x="4233864" y="4122738"/>
            <a:ext cx="201612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0424" name="Rectangle 32"/>
          <p:cNvSpPr>
            <a:spLocks noChangeArrowheads="1"/>
          </p:cNvSpPr>
          <p:nvPr/>
        </p:nvSpPr>
        <p:spPr bwMode="auto">
          <a:xfrm>
            <a:off x="4233864" y="4562475"/>
            <a:ext cx="201612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0425" name="Rectangle 33"/>
          <p:cNvSpPr>
            <a:spLocks noChangeArrowheads="1"/>
          </p:cNvSpPr>
          <p:nvPr/>
        </p:nvSpPr>
        <p:spPr bwMode="auto">
          <a:xfrm>
            <a:off x="4233864" y="5000626"/>
            <a:ext cx="2016125" cy="436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0426" name="Text Box 34"/>
          <p:cNvSpPr txBox="1">
            <a:spLocks noChangeArrowheads="1"/>
          </p:cNvSpPr>
          <p:nvPr/>
        </p:nvSpPr>
        <p:spPr bwMode="auto">
          <a:xfrm>
            <a:off x="4233863" y="2276476"/>
            <a:ext cx="13763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page table</a:t>
            </a:r>
          </a:p>
        </p:txBody>
      </p:sp>
      <p:sp>
        <p:nvSpPr>
          <p:cNvPr id="778276" name="Rectangle 36"/>
          <p:cNvSpPr>
            <a:spLocks noChangeArrowheads="1"/>
          </p:cNvSpPr>
          <p:nvPr/>
        </p:nvSpPr>
        <p:spPr bwMode="auto">
          <a:xfrm>
            <a:off x="5962651" y="2803525"/>
            <a:ext cx="288925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428" name="Rectangle 37"/>
          <p:cNvSpPr>
            <a:spLocks noChangeArrowheads="1"/>
          </p:cNvSpPr>
          <p:nvPr/>
        </p:nvSpPr>
        <p:spPr bwMode="auto">
          <a:xfrm>
            <a:off x="5961064" y="3241675"/>
            <a:ext cx="288925" cy="4397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78278" name="Rectangle 38"/>
          <p:cNvSpPr>
            <a:spLocks noChangeArrowheads="1"/>
          </p:cNvSpPr>
          <p:nvPr/>
        </p:nvSpPr>
        <p:spPr bwMode="auto">
          <a:xfrm>
            <a:off x="5962651" y="3681414"/>
            <a:ext cx="288925" cy="4397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8279" name="Rectangle 39"/>
          <p:cNvSpPr>
            <a:spLocks noChangeArrowheads="1"/>
          </p:cNvSpPr>
          <p:nvPr/>
        </p:nvSpPr>
        <p:spPr bwMode="auto">
          <a:xfrm>
            <a:off x="5961064" y="4119564"/>
            <a:ext cx="288925" cy="4397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431" name="Rectangle 40"/>
          <p:cNvSpPr>
            <a:spLocks noChangeArrowheads="1"/>
          </p:cNvSpPr>
          <p:nvPr/>
        </p:nvSpPr>
        <p:spPr bwMode="auto">
          <a:xfrm>
            <a:off x="5962651" y="4559300"/>
            <a:ext cx="288925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60432" name="Rectangle 41"/>
          <p:cNvSpPr>
            <a:spLocks noChangeArrowheads="1"/>
          </p:cNvSpPr>
          <p:nvPr/>
        </p:nvSpPr>
        <p:spPr bwMode="auto">
          <a:xfrm>
            <a:off x="5962651" y="4997450"/>
            <a:ext cx="288925" cy="4397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78282" name="Rectangle 42"/>
          <p:cNvSpPr>
            <a:spLocks noChangeArrowheads="1"/>
          </p:cNvSpPr>
          <p:nvPr/>
        </p:nvSpPr>
        <p:spPr bwMode="auto">
          <a:xfrm>
            <a:off x="5962651" y="5437189"/>
            <a:ext cx="288925" cy="4397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434" name="Text Box 43"/>
          <p:cNvSpPr txBox="1">
            <a:spLocks noChangeArrowheads="1"/>
          </p:cNvSpPr>
          <p:nvPr/>
        </p:nvSpPr>
        <p:spPr bwMode="auto">
          <a:xfrm>
            <a:off x="5673725" y="2276475"/>
            <a:ext cx="17907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reference bit</a:t>
            </a:r>
          </a:p>
        </p:txBody>
      </p:sp>
      <p:sp>
        <p:nvSpPr>
          <p:cNvPr id="778285" name="Text Box 45"/>
          <p:cNvSpPr txBox="1">
            <a:spLocks noChangeArrowheads="1"/>
          </p:cNvSpPr>
          <p:nvPr/>
        </p:nvSpPr>
        <p:spPr bwMode="auto">
          <a:xfrm>
            <a:off x="4151314" y="1484314"/>
            <a:ext cx="22494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reference string: 0</a:t>
            </a:r>
          </a:p>
        </p:txBody>
      </p:sp>
      <p:grpSp>
        <p:nvGrpSpPr>
          <p:cNvPr id="60436" name="Group 63"/>
          <p:cNvGrpSpPr>
            <a:grpSpLocks/>
          </p:cNvGrpSpPr>
          <p:nvPr/>
        </p:nvGrpSpPr>
        <p:grpSpPr bwMode="auto">
          <a:xfrm>
            <a:off x="3913188" y="2897188"/>
            <a:ext cx="311150" cy="2908300"/>
            <a:chOff x="657" y="1666"/>
            <a:chExt cx="196" cy="1832"/>
          </a:xfrm>
        </p:grpSpPr>
        <p:sp>
          <p:nvSpPr>
            <p:cNvPr id="60447" name="Text Box 64"/>
            <p:cNvSpPr txBox="1">
              <a:spLocks noChangeArrowheads="1"/>
            </p:cNvSpPr>
            <p:nvPr/>
          </p:nvSpPr>
          <p:spPr bwMode="auto">
            <a:xfrm>
              <a:off x="657" y="1666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itchFamily="18" charset="0"/>
                  <a:ea typeface="新細明體" pitchFamily="18" charset="-120"/>
                  <a:cs typeface="+mn-cs"/>
                </a:rPr>
                <a:t>0</a:t>
              </a:r>
            </a:p>
          </p:txBody>
        </p:sp>
        <p:sp>
          <p:nvSpPr>
            <p:cNvPr id="60448" name="Text Box 65"/>
            <p:cNvSpPr txBox="1">
              <a:spLocks noChangeArrowheads="1"/>
            </p:cNvSpPr>
            <p:nvPr/>
          </p:nvSpPr>
          <p:spPr bwMode="auto">
            <a:xfrm>
              <a:off x="657" y="195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itchFamily="18" charset="0"/>
                  <a:ea typeface="新細明體" pitchFamily="18" charset="-120"/>
                  <a:cs typeface="+mn-cs"/>
                </a:rPr>
                <a:t>1</a:t>
              </a:r>
            </a:p>
          </p:txBody>
        </p:sp>
        <p:sp>
          <p:nvSpPr>
            <p:cNvPr id="60449" name="Text Box 66"/>
            <p:cNvSpPr txBox="1">
              <a:spLocks noChangeArrowheads="1"/>
            </p:cNvSpPr>
            <p:nvPr/>
          </p:nvSpPr>
          <p:spPr bwMode="auto">
            <a:xfrm>
              <a:off x="657" y="222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itchFamily="18" charset="0"/>
                  <a:ea typeface="新細明體" pitchFamily="18" charset="-120"/>
                  <a:cs typeface="+mn-cs"/>
                </a:rPr>
                <a:t>2</a:t>
              </a:r>
            </a:p>
          </p:txBody>
        </p:sp>
        <p:sp>
          <p:nvSpPr>
            <p:cNvPr id="60450" name="Text Box 67"/>
            <p:cNvSpPr txBox="1">
              <a:spLocks noChangeArrowheads="1"/>
            </p:cNvSpPr>
            <p:nvPr/>
          </p:nvSpPr>
          <p:spPr bwMode="auto">
            <a:xfrm>
              <a:off x="657" y="2477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itchFamily="18" charset="0"/>
                  <a:ea typeface="新細明體" pitchFamily="18" charset="-120"/>
                  <a:cs typeface="+mn-cs"/>
                </a:rPr>
                <a:t>3</a:t>
              </a:r>
            </a:p>
          </p:txBody>
        </p:sp>
        <p:sp>
          <p:nvSpPr>
            <p:cNvPr id="60451" name="Text Box 68"/>
            <p:cNvSpPr txBox="1">
              <a:spLocks noChangeArrowheads="1"/>
            </p:cNvSpPr>
            <p:nvPr/>
          </p:nvSpPr>
          <p:spPr bwMode="auto">
            <a:xfrm>
              <a:off x="657" y="2749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itchFamily="18" charset="0"/>
                  <a:ea typeface="新細明體" pitchFamily="18" charset="-120"/>
                  <a:cs typeface="+mn-cs"/>
                </a:rPr>
                <a:t>4</a:t>
              </a:r>
            </a:p>
          </p:txBody>
        </p:sp>
        <p:sp>
          <p:nvSpPr>
            <p:cNvPr id="60452" name="Text Box 69"/>
            <p:cNvSpPr txBox="1">
              <a:spLocks noChangeArrowheads="1"/>
            </p:cNvSpPr>
            <p:nvPr/>
          </p:nvSpPr>
          <p:spPr bwMode="auto">
            <a:xfrm>
              <a:off x="657" y="299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itchFamily="18" charset="0"/>
                  <a:ea typeface="新細明體" pitchFamily="18" charset="-120"/>
                  <a:cs typeface="+mn-cs"/>
                </a:rPr>
                <a:t>5</a:t>
              </a:r>
            </a:p>
          </p:txBody>
        </p:sp>
        <p:sp>
          <p:nvSpPr>
            <p:cNvPr id="60453" name="Text Box 70"/>
            <p:cNvSpPr txBox="1">
              <a:spLocks noChangeArrowheads="1"/>
            </p:cNvSpPr>
            <p:nvPr/>
          </p:nvSpPr>
          <p:spPr bwMode="auto">
            <a:xfrm>
              <a:off x="657" y="324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itchFamily="18" charset="0"/>
                  <a:ea typeface="新細明體" pitchFamily="18" charset="-120"/>
                  <a:cs typeface="+mn-cs"/>
                </a:rPr>
                <a:t>6</a:t>
              </a:r>
            </a:p>
          </p:txBody>
        </p:sp>
      </p:grpSp>
      <p:sp>
        <p:nvSpPr>
          <p:cNvPr id="60437" name="Line 71"/>
          <p:cNvSpPr>
            <a:spLocks noChangeShapeType="1"/>
          </p:cNvSpPr>
          <p:nvPr/>
        </p:nvSpPr>
        <p:spPr bwMode="auto">
          <a:xfrm>
            <a:off x="3143672" y="2349500"/>
            <a:ext cx="649288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0438" name="Text Box 72"/>
          <p:cNvSpPr txBox="1">
            <a:spLocks noChangeArrowheads="1"/>
          </p:cNvSpPr>
          <p:nvPr/>
        </p:nvSpPr>
        <p:spPr bwMode="auto">
          <a:xfrm>
            <a:off x="2424114" y="1989139"/>
            <a:ext cx="1716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page number</a:t>
            </a:r>
          </a:p>
        </p:txBody>
      </p:sp>
      <p:sp>
        <p:nvSpPr>
          <p:cNvPr id="778314" name="Rectangle 74"/>
          <p:cNvSpPr>
            <a:spLocks noChangeArrowheads="1"/>
          </p:cNvSpPr>
          <p:nvPr/>
        </p:nvSpPr>
        <p:spPr bwMode="auto">
          <a:xfrm>
            <a:off x="6383339" y="1484313"/>
            <a:ext cx="28892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78317" name="Rectangle 77"/>
          <p:cNvSpPr>
            <a:spLocks noChangeArrowheads="1"/>
          </p:cNvSpPr>
          <p:nvPr/>
        </p:nvSpPr>
        <p:spPr bwMode="auto">
          <a:xfrm>
            <a:off x="6743701" y="1484313"/>
            <a:ext cx="28892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778319" name="Rectangle 79"/>
          <p:cNvSpPr>
            <a:spLocks noChangeArrowheads="1"/>
          </p:cNvSpPr>
          <p:nvPr/>
        </p:nvSpPr>
        <p:spPr bwMode="auto">
          <a:xfrm>
            <a:off x="7104064" y="1484313"/>
            <a:ext cx="288925" cy="4381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37" name="Text Box 81"/>
          <p:cNvSpPr txBox="1">
            <a:spLocks noChangeArrowheads="1"/>
          </p:cNvSpPr>
          <p:nvPr/>
        </p:nvSpPr>
        <p:spPr bwMode="auto">
          <a:xfrm>
            <a:off x="6802239" y="3860801"/>
            <a:ext cx="44783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Book Antiqua" pitchFamily="18" charset="0"/>
              </a:rPr>
              <a:t>when replacement, select which one?</a:t>
            </a:r>
          </a:p>
          <a:p>
            <a:pPr algn="ctr"/>
            <a:r>
              <a:rPr lang="en-US" altLang="zh-TW" sz="2000" b="1" dirty="0">
                <a:latin typeface="Book Antiqua" pitchFamily="18" charset="0"/>
              </a:rPr>
              <a:t>1, or 4, or 5</a:t>
            </a:r>
          </a:p>
        </p:txBody>
      </p:sp>
    </p:spTree>
    <p:extLst>
      <p:ext uri="{BB962C8B-B14F-4D97-AF65-F5344CB8AC3E}">
        <p14:creationId xmlns:p14="http://schemas.microsoft.com/office/powerpoint/2010/main" val="11237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>
                <a:solidFill>
                  <a:srgbClr val="000000"/>
                </a:solidFill>
              </a:rPr>
              <a:t>Page </a:t>
            </a:r>
            <a:r>
              <a:rPr lang="en-US" altLang="zh-TW" sz="4000" dirty="0">
                <a:solidFill>
                  <a:srgbClr val="000000"/>
                </a:solidFill>
              </a:rPr>
              <a:t>Replacement Algorithms</a:t>
            </a:r>
            <a:endParaRPr lang="en-US" altLang="zh-TW" sz="48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Optimal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</a:t>
            </a:r>
            <a:r>
              <a:rPr lang="en-US" altLang="zh-TW" sz="2400" dirty="0" smtClean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Stack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b="1" dirty="0" smtClean="0">
                <a:solidFill>
                  <a:srgbClr val="FF3300"/>
                </a:solidFill>
              </a:rPr>
              <a:t>LRU-approximation </a:t>
            </a:r>
            <a:r>
              <a:rPr lang="en-US" altLang="zh-TW" sz="2400" b="1" dirty="0">
                <a:solidFill>
                  <a:srgbClr val="FF3300"/>
                </a:solidFill>
              </a:rPr>
              <a:t>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b="1" dirty="0">
                <a:solidFill>
                  <a:srgbClr val="FF3300"/>
                </a:solidFill>
              </a:rPr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LFU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MFU</a:t>
            </a:r>
          </a:p>
          <a:p>
            <a:pPr eaLnBrk="1" hangingPunct="1">
              <a:spcBef>
                <a:spcPct val="10000"/>
              </a:spcBef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02355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/>
              <a:t>LRU Approximation Algorithms- Additional-reference-bits Algorithm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 smtClean="0"/>
              <a:t>Additional-reference-bits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Get additional ordering information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Keep </a:t>
            </a:r>
            <a:r>
              <a:rPr lang="en-US" altLang="zh-TW" b="1" dirty="0" smtClean="0">
                <a:solidFill>
                  <a:srgbClr val="FF0000"/>
                </a:solidFill>
              </a:rPr>
              <a:t>several history bits </a:t>
            </a:r>
            <a:r>
              <a:rPr lang="en-US" altLang="zh-TW" dirty="0" smtClean="0"/>
              <a:t>for each page in a table in </a:t>
            </a:r>
            <a:r>
              <a:rPr lang="en-US" altLang="zh-TW" b="1" dirty="0" smtClean="0"/>
              <a:t>memory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Periodically, shift the reference bit to the MSB bit (discarding the LSB bit)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Replace the page with smallest number</a:t>
            </a:r>
          </a:p>
        </p:txBody>
      </p:sp>
    </p:spTree>
    <p:extLst>
      <p:ext uri="{BB962C8B-B14F-4D97-AF65-F5344CB8AC3E}">
        <p14:creationId xmlns:p14="http://schemas.microsoft.com/office/powerpoint/2010/main" val="401402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tx1"/>
                </a:solidFill>
              </a:rPr>
              <a:t>Page Table and History Table in OS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5"/>
            <a:ext cx="2265362" cy="93256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794794"/>
            <a:ext cx="2260600" cy="645693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416883"/>
            <a:ext cx="2260600" cy="3377911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4221088"/>
            <a:ext cx="1619250" cy="144016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871" y="2708920"/>
            <a:ext cx="1877393" cy="1224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688288" y="2996952"/>
            <a:ext cx="151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table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688288" y="4623519"/>
            <a:ext cx="1792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history 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73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1" name="Text Box 3"/>
          <p:cNvSpPr txBox="1">
            <a:spLocks noChangeArrowheads="1"/>
          </p:cNvSpPr>
          <p:nvPr/>
        </p:nvSpPr>
        <p:spPr bwMode="auto">
          <a:xfrm>
            <a:off x="1768815" y="2348880"/>
            <a:ext cx="1806905" cy="324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reference bit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1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0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1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1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0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0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200" b="1" dirty="0">
                <a:latin typeface="Book Antiqua" pitchFamily="18" charset="0"/>
              </a:rPr>
              <a:t>1</a:t>
            </a:r>
          </a:p>
        </p:txBody>
      </p:sp>
      <p:sp>
        <p:nvSpPr>
          <p:cNvPr id="780294" name="Line 6"/>
          <p:cNvSpPr>
            <a:spLocks noChangeShapeType="1"/>
          </p:cNvSpPr>
          <p:nvPr/>
        </p:nvSpPr>
        <p:spPr bwMode="auto">
          <a:xfrm>
            <a:off x="6655197" y="3860800"/>
            <a:ext cx="2897187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9209906" y="1844675"/>
            <a:ext cx="1998662" cy="3665538"/>
            <a:chOff x="3585" y="1162"/>
            <a:chExt cx="1259" cy="2309"/>
          </a:xfrm>
        </p:grpSpPr>
        <p:sp>
          <p:nvSpPr>
            <p:cNvPr id="62492" name="Rectangle 2"/>
            <p:cNvSpPr>
              <a:spLocks noChangeArrowheads="1"/>
            </p:cNvSpPr>
            <p:nvPr/>
          </p:nvSpPr>
          <p:spPr bwMode="auto">
            <a:xfrm>
              <a:off x="3846" y="1577"/>
              <a:ext cx="115" cy="18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93" name="Text Box 5"/>
            <p:cNvSpPr txBox="1">
              <a:spLocks noChangeArrowheads="1"/>
            </p:cNvSpPr>
            <p:nvPr/>
          </p:nvSpPr>
          <p:spPr bwMode="auto">
            <a:xfrm>
              <a:off x="3585" y="1162"/>
              <a:ext cx="1259" cy="22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 smtClean="0">
                  <a:latin typeface="Book Antiqua" pitchFamily="18" charset="0"/>
                </a:rPr>
                <a:t>new</a:t>
              </a:r>
              <a:endParaRPr lang="en-US" altLang="zh-TW" sz="2200" b="1" dirty="0">
                <a:latin typeface="Book Antiqua" pitchFamily="18" charset="0"/>
              </a:endParaRP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endParaRPr lang="en-US" altLang="zh-TW" sz="2200" b="1" dirty="0">
                <a:latin typeface="Book Antiqua" pitchFamily="18" charset="0"/>
              </a:endParaRP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11101011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00011001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11010000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10000111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00010000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01000000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10000000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7967671" y="4652964"/>
            <a:ext cx="3889375" cy="1944688"/>
            <a:chOff x="4059" y="2931"/>
            <a:chExt cx="2450" cy="1225"/>
          </a:xfrm>
        </p:grpSpPr>
        <p:sp>
          <p:nvSpPr>
            <p:cNvPr id="62490" name="Line 7"/>
            <p:cNvSpPr>
              <a:spLocks noChangeShapeType="1"/>
            </p:cNvSpPr>
            <p:nvPr/>
          </p:nvSpPr>
          <p:spPr bwMode="auto">
            <a:xfrm flipV="1">
              <a:off x="4967" y="2931"/>
              <a:ext cx="200" cy="8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91" name="Text Box 8"/>
            <p:cNvSpPr txBox="1">
              <a:spLocks noChangeArrowheads="1"/>
            </p:cNvSpPr>
            <p:nvPr/>
          </p:nvSpPr>
          <p:spPr bwMode="auto">
            <a:xfrm>
              <a:off x="4059" y="3749"/>
              <a:ext cx="2450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Book Antiqua" pitchFamily="18" charset="0"/>
                </a:rPr>
                <a:t>The page (page 4) with the lowest number can be replaced</a:t>
              </a:r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4044753" y="1404938"/>
            <a:ext cx="2627311" cy="5192713"/>
            <a:chOff x="1919289" y="1404938"/>
            <a:chExt cx="2627311" cy="5192713"/>
          </a:xfrm>
        </p:grpSpPr>
        <p:sp>
          <p:nvSpPr>
            <p:cNvPr id="62470" name="Text Box 4"/>
            <p:cNvSpPr txBox="1">
              <a:spLocks noChangeArrowheads="1"/>
            </p:cNvSpPr>
            <p:nvPr/>
          </p:nvSpPr>
          <p:spPr bwMode="auto">
            <a:xfrm>
              <a:off x="2547938" y="1838325"/>
              <a:ext cx="1998662" cy="3647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history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endParaRPr lang="en-US" altLang="zh-TW" sz="2200" b="1" dirty="0">
                <a:latin typeface="Book Antiqua" pitchFamily="18" charset="0"/>
              </a:endParaRP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11010111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00110011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10100000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00001111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00100001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10000000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200" b="1" dirty="0">
                  <a:latin typeface="Book Antiqua" pitchFamily="18" charset="0"/>
                </a:rPr>
                <a:t>00000001</a:t>
              </a:r>
            </a:p>
          </p:txBody>
        </p:sp>
        <p:sp>
          <p:nvSpPr>
            <p:cNvPr id="62471" name="Text Box 9"/>
            <p:cNvSpPr txBox="1">
              <a:spLocks noChangeArrowheads="1"/>
            </p:cNvSpPr>
            <p:nvPr/>
          </p:nvSpPr>
          <p:spPr bwMode="auto">
            <a:xfrm>
              <a:off x="3000375" y="1404938"/>
              <a:ext cx="1150938" cy="476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800" b="1" i="1" dirty="0">
                  <a:latin typeface="Book Antiqua" pitchFamily="18" charset="0"/>
                </a:rPr>
                <a:t>(k</a:t>
              </a:r>
              <a:r>
                <a:rPr lang="en-US" altLang="zh-TW" sz="2800" b="1" dirty="0">
                  <a:latin typeface="Book Antiqua" pitchFamily="18" charset="0"/>
                </a:rPr>
                <a:t>=8)</a:t>
              </a:r>
              <a:endParaRPr lang="en-US" altLang="zh-TW" sz="2800" b="1" i="1" dirty="0">
                <a:latin typeface="Book Antiqua" pitchFamily="18" charset="0"/>
              </a:endParaRPr>
            </a:p>
          </p:txBody>
        </p:sp>
        <p:sp>
          <p:nvSpPr>
            <p:cNvPr id="62472" name="Rectangle 10"/>
            <p:cNvSpPr>
              <a:spLocks noChangeArrowheads="1"/>
            </p:cNvSpPr>
            <p:nvPr/>
          </p:nvSpPr>
          <p:spPr bwMode="auto">
            <a:xfrm>
              <a:off x="2927351" y="2636838"/>
              <a:ext cx="1223963" cy="431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73" name="Rectangle 11"/>
            <p:cNvSpPr>
              <a:spLocks noChangeArrowheads="1"/>
            </p:cNvSpPr>
            <p:nvPr/>
          </p:nvSpPr>
          <p:spPr bwMode="auto">
            <a:xfrm>
              <a:off x="2927351" y="3068638"/>
              <a:ext cx="1223963" cy="431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74" name="Rectangle 12"/>
            <p:cNvSpPr>
              <a:spLocks noChangeArrowheads="1"/>
            </p:cNvSpPr>
            <p:nvPr/>
          </p:nvSpPr>
          <p:spPr bwMode="auto">
            <a:xfrm>
              <a:off x="2927351" y="3500438"/>
              <a:ext cx="1223963" cy="3603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75" name="Rectangle 13"/>
            <p:cNvSpPr>
              <a:spLocks noChangeArrowheads="1"/>
            </p:cNvSpPr>
            <p:nvPr/>
          </p:nvSpPr>
          <p:spPr bwMode="auto">
            <a:xfrm>
              <a:off x="2927351" y="3860801"/>
              <a:ext cx="1223963" cy="3603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76" name="Rectangle 14"/>
            <p:cNvSpPr>
              <a:spLocks noChangeArrowheads="1"/>
            </p:cNvSpPr>
            <p:nvPr/>
          </p:nvSpPr>
          <p:spPr bwMode="auto">
            <a:xfrm>
              <a:off x="2927351" y="4221163"/>
              <a:ext cx="1223963" cy="431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77" name="Rectangle 15"/>
            <p:cNvSpPr>
              <a:spLocks noChangeArrowheads="1"/>
            </p:cNvSpPr>
            <p:nvPr/>
          </p:nvSpPr>
          <p:spPr bwMode="auto">
            <a:xfrm>
              <a:off x="2927351" y="4652963"/>
              <a:ext cx="1223963" cy="3603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78" name="Rectangle 16"/>
            <p:cNvSpPr>
              <a:spLocks noChangeArrowheads="1"/>
            </p:cNvSpPr>
            <p:nvPr/>
          </p:nvSpPr>
          <p:spPr bwMode="auto">
            <a:xfrm>
              <a:off x="2927351" y="5013325"/>
              <a:ext cx="1223963" cy="431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2479" name="Text Box 17"/>
            <p:cNvSpPr txBox="1">
              <a:spLocks noChangeArrowheads="1"/>
            </p:cNvSpPr>
            <p:nvPr/>
          </p:nvSpPr>
          <p:spPr bwMode="auto">
            <a:xfrm>
              <a:off x="2566988" y="2644776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0</a:t>
              </a:r>
            </a:p>
          </p:txBody>
        </p:sp>
        <p:sp>
          <p:nvSpPr>
            <p:cNvPr id="62480" name="Text Box 18"/>
            <p:cNvSpPr txBox="1">
              <a:spLocks noChangeArrowheads="1"/>
            </p:cNvSpPr>
            <p:nvPr/>
          </p:nvSpPr>
          <p:spPr bwMode="auto">
            <a:xfrm>
              <a:off x="2566988" y="3103564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1</a:t>
              </a:r>
            </a:p>
          </p:txBody>
        </p:sp>
        <p:sp>
          <p:nvSpPr>
            <p:cNvPr id="62481" name="Text Box 19"/>
            <p:cNvSpPr txBox="1">
              <a:spLocks noChangeArrowheads="1"/>
            </p:cNvSpPr>
            <p:nvPr/>
          </p:nvSpPr>
          <p:spPr bwMode="auto">
            <a:xfrm>
              <a:off x="2566988" y="3535364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2</a:t>
              </a:r>
            </a:p>
          </p:txBody>
        </p:sp>
        <p:sp>
          <p:nvSpPr>
            <p:cNvPr id="62482" name="Text Box 20"/>
            <p:cNvSpPr txBox="1">
              <a:spLocks noChangeArrowheads="1"/>
            </p:cNvSpPr>
            <p:nvPr/>
          </p:nvSpPr>
          <p:spPr bwMode="auto">
            <a:xfrm>
              <a:off x="2566988" y="3932239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3</a:t>
              </a:r>
            </a:p>
          </p:txBody>
        </p:sp>
        <p:sp>
          <p:nvSpPr>
            <p:cNvPr id="62483" name="Text Box 21"/>
            <p:cNvSpPr txBox="1">
              <a:spLocks noChangeArrowheads="1"/>
            </p:cNvSpPr>
            <p:nvPr/>
          </p:nvSpPr>
          <p:spPr bwMode="auto">
            <a:xfrm>
              <a:off x="2566988" y="4364039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4</a:t>
              </a:r>
            </a:p>
          </p:txBody>
        </p:sp>
        <p:sp>
          <p:nvSpPr>
            <p:cNvPr id="62484" name="Text Box 22"/>
            <p:cNvSpPr txBox="1">
              <a:spLocks noChangeArrowheads="1"/>
            </p:cNvSpPr>
            <p:nvPr/>
          </p:nvSpPr>
          <p:spPr bwMode="auto">
            <a:xfrm>
              <a:off x="2566988" y="4759326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5</a:t>
              </a:r>
            </a:p>
          </p:txBody>
        </p:sp>
        <p:sp>
          <p:nvSpPr>
            <p:cNvPr id="62485" name="Text Box 23"/>
            <p:cNvSpPr txBox="1">
              <a:spLocks noChangeArrowheads="1"/>
            </p:cNvSpPr>
            <p:nvPr/>
          </p:nvSpPr>
          <p:spPr bwMode="auto">
            <a:xfrm>
              <a:off x="2566988" y="5156201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6</a:t>
              </a:r>
            </a:p>
          </p:txBody>
        </p:sp>
        <p:sp>
          <p:nvSpPr>
            <p:cNvPr id="62486" name="Line 24"/>
            <p:cNvSpPr>
              <a:spLocks noChangeShapeType="1"/>
            </p:cNvSpPr>
            <p:nvPr/>
          </p:nvSpPr>
          <p:spPr bwMode="auto">
            <a:xfrm flipV="1">
              <a:off x="2711450" y="5588000"/>
              <a:ext cx="0" cy="649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487" name="Text Box 25"/>
            <p:cNvSpPr txBox="1">
              <a:spLocks noChangeArrowheads="1"/>
            </p:cNvSpPr>
            <p:nvPr/>
          </p:nvSpPr>
          <p:spPr bwMode="auto">
            <a:xfrm>
              <a:off x="1919289" y="6200776"/>
              <a:ext cx="17160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Book Antiqua" pitchFamily="18" charset="0"/>
                </a:rPr>
                <a:t>page number</a:t>
              </a:r>
            </a:p>
          </p:txBody>
        </p:sp>
      </p:grpSp>
      <p:sp>
        <p:nvSpPr>
          <p:cNvPr id="780314" name="Text Box 26"/>
          <p:cNvSpPr txBox="1">
            <a:spLocks noChangeArrowheads="1"/>
          </p:cNvSpPr>
          <p:nvPr/>
        </p:nvSpPr>
        <p:spPr bwMode="auto">
          <a:xfrm>
            <a:off x="1284313" y="1519957"/>
            <a:ext cx="30114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Book Antiqua" pitchFamily="18" charset="0"/>
              </a:rPr>
              <a:t>reference string: 0, 2, 3, 6</a:t>
            </a:r>
          </a:p>
        </p:txBody>
      </p:sp>
      <p:sp>
        <p:nvSpPr>
          <p:cNvPr id="780321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History by Additional Reference Bits</a:t>
            </a:r>
          </a:p>
        </p:txBody>
      </p:sp>
      <p:sp>
        <p:nvSpPr>
          <p:cNvPr id="4" name="矩形 3"/>
          <p:cNvSpPr/>
          <p:nvPr/>
        </p:nvSpPr>
        <p:spPr>
          <a:xfrm>
            <a:off x="9446444" y="4221163"/>
            <a:ext cx="1452587" cy="431800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5578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1" grpId="0"/>
      <p:bldP spid="780294" grpId="0" animBg="1"/>
      <p:bldP spid="780314" grpId="0"/>
      <p:bldP spid="4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>
                <a:solidFill>
                  <a:srgbClr val="000000"/>
                </a:solidFill>
              </a:rPr>
              <a:t>Page </a:t>
            </a:r>
            <a:r>
              <a:rPr lang="en-US" altLang="zh-TW" sz="4000" dirty="0">
                <a:solidFill>
                  <a:srgbClr val="000000"/>
                </a:solidFill>
              </a:rPr>
              <a:t>Replacement Algorithms</a:t>
            </a:r>
            <a:endParaRPr lang="en-US" altLang="zh-TW" sz="48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Stack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Optimal </a:t>
            </a:r>
            <a:r>
              <a:rPr lang="en-US" altLang="zh-TW" sz="2400" dirty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</a:t>
            </a:r>
            <a:r>
              <a:rPr lang="en-US" altLang="zh-TW" sz="2400" dirty="0" smtClean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b="1" dirty="0" smtClean="0">
                <a:solidFill>
                  <a:srgbClr val="FF3300"/>
                </a:solidFill>
              </a:rPr>
              <a:t>LRU-approximation </a:t>
            </a:r>
            <a:r>
              <a:rPr lang="en-US" altLang="zh-TW" sz="2400" b="1" dirty="0">
                <a:solidFill>
                  <a:srgbClr val="FF3300"/>
                </a:solidFill>
              </a:rPr>
              <a:t>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b="1" dirty="0">
                <a:solidFill>
                  <a:srgbClr val="FF3300"/>
                </a:solidFill>
              </a:rPr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LFU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MFU</a:t>
            </a:r>
          </a:p>
          <a:p>
            <a:pPr eaLnBrk="1" hangingPunct="1">
              <a:spcBef>
                <a:spcPct val="10000"/>
              </a:spcBef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209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/>
              <a:t>LRU Approximation Algorithms- Second chance Algorithm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/>
              <a:t>Second chance, </a:t>
            </a:r>
            <a:r>
              <a:rPr lang="en-US" altLang="zh-TW" dirty="0" smtClean="0"/>
              <a:t>also called</a:t>
            </a:r>
            <a:r>
              <a:rPr lang="en-US" altLang="zh-TW" b="1" dirty="0" smtClean="0"/>
              <a:t> </a:t>
            </a:r>
            <a:r>
              <a:rPr lang="en-US" altLang="zh-TW" b="1" dirty="0" smtClean="0">
                <a:solidFill>
                  <a:srgbClr val="3333FF"/>
                </a:solidFill>
              </a:rPr>
              <a:t>Clock Algorithm</a:t>
            </a:r>
          </a:p>
          <a:p>
            <a:pPr lvl="1" eaLnBrk="1" hangingPunct="1"/>
            <a:r>
              <a:rPr lang="en-US" altLang="zh-TW" sz="2400" dirty="0"/>
              <a:t>FIFO + reference bit</a:t>
            </a:r>
          </a:p>
          <a:p>
            <a:pPr lvl="1" eaLnBrk="1" hangingPunct="1"/>
            <a:r>
              <a:rPr lang="en-US" altLang="zh-TW" sz="2400" dirty="0"/>
              <a:t>Use FIFO selection of pages for replacement</a:t>
            </a:r>
          </a:p>
          <a:p>
            <a:pPr lvl="1" eaLnBrk="1" hangingPunct="1"/>
            <a:r>
              <a:rPr lang="en-US" altLang="zh-TW" sz="2400" dirty="0"/>
              <a:t>If selected page has reference bit=0, replace the page</a:t>
            </a:r>
          </a:p>
          <a:p>
            <a:pPr lvl="1" eaLnBrk="1" hangingPunct="1"/>
            <a:r>
              <a:rPr lang="en-US" altLang="zh-TW" sz="2400" dirty="0"/>
              <a:t>If selected page has reference bit=1, then give it a second chance:</a:t>
            </a:r>
          </a:p>
          <a:p>
            <a:pPr lvl="2" eaLnBrk="1" hangingPunct="1"/>
            <a:r>
              <a:rPr lang="en-US" altLang="zh-TW" sz="2000" dirty="0"/>
              <a:t>Clear reference bit to 0,</a:t>
            </a:r>
          </a:p>
          <a:p>
            <a:pPr lvl="2" eaLnBrk="1" hangingPunct="1"/>
            <a:r>
              <a:rPr lang="en-US" altLang="zh-TW" sz="2000" dirty="0"/>
              <a:t>Leave the page in memory,</a:t>
            </a:r>
          </a:p>
          <a:p>
            <a:pPr lvl="2" eaLnBrk="1" hangingPunct="1"/>
            <a:r>
              <a:rPr lang="en-US" altLang="zh-TW" sz="2000" dirty="0"/>
              <a:t>Select next FIFO page, </a:t>
            </a:r>
          </a:p>
          <a:p>
            <a:pPr lvl="1" eaLnBrk="1" hangingPunct="1"/>
            <a:r>
              <a:rPr lang="en-US" altLang="zh-TW" sz="2400" dirty="0"/>
              <a:t>If the page is used often enough, it will never been replaced</a:t>
            </a:r>
          </a:p>
          <a:p>
            <a:pPr lvl="2" eaLnBrk="1" hangingPunct="1"/>
            <a:r>
              <a:rPr lang="en-US" altLang="zh-TW" sz="2000" dirty="0"/>
              <a:t>Since the reference bit always = 1</a:t>
            </a:r>
          </a:p>
        </p:txBody>
      </p:sp>
    </p:spTree>
    <p:extLst>
      <p:ext uri="{BB962C8B-B14F-4D97-AF65-F5344CB8AC3E}">
        <p14:creationId xmlns:p14="http://schemas.microsoft.com/office/powerpoint/2010/main" val="386481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/>
              <a:t>Second-Chance (Clock) Page-Replacement Algorithm</a:t>
            </a:r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 cstate="print"/>
          <a:srcRect l="8766" t="983" r="8766" b="983"/>
          <a:stretch>
            <a:fillRect/>
          </a:stretch>
        </p:blipFill>
        <p:spPr bwMode="auto">
          <a:xfrm>
            <a:off x="2351088" y="1341439"/>
            <a:ext cx="7129462" cy="47529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64516" name="Text Box 5"/>
          <p:cNvSpPr txBox="1">
            <a:spLocks noChangeArrowheads="1"/>
          </p:cNvSpPr>
          <p:nvPr/>
        </p:nvSpPr>
        <p:spPr bwMode="auto">
          <a:xfrm>
            <a:off x="4224338" y="6092826"/>
            <a:ext cx="38973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Calibri" panose="020F0502020204030204" pitchFamily="34" charset="0"/>
              </a:rPr>
              <a:t>Use a </a:t>
            </a:r>
            <a:r>
              <a:rPr lang="en-US" altLang="zh-TW" sz="2000" b="1">
                <a:solidFill>
                  <a:srgbClr val="FF3300"/>
                </a:solidFill>
                <a:latin typeface="Calibri" panose="020F0502020204030204" pitchFamily="34" charset="0"/>
              </a:rPr>
              <a:t>circular queue</a:t>
            </a:r>
            <a:r>
              <a:rPr lang="en-US" altLang="zh-TW" sz="2000" b="1">
                <a:latin typeface="Calibri" panose="020F0502020204030204" pitchFamily="34" charset="0"/>
              </a:rPr>
              <a:t> to implement</a:t>
            </a:r>
          </a:p>
        </p:txBody>
      </p:sp>
      <p:sp>
        <p:nvSpPr>
          <p:cNvPr id="64517" name="Line 6"/>
          <p:cNvSpPr>
            <a:spLocks noChangeShapeType="1"/>
          </p:cNvSpPr>
          <p:nvPr/>
        </p:nvSpPr>
        <p:spPr bwMode="auto">
          <a:xfrm>
            <a:off x="6816725" y="2565400"/>
            <a:ext cx="719138" cy="28733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4518" name="Line 7"/>
          <p:cNvSpPr>
            <a:spLocks noChangeShapeType="1"/>
          </p:cNvSpPr>
          <p:nvPr/>
        </p:nvSpPr>
        <p:spPr bwMode="auto">
          <a:xfrm>
            <a:off x="6816725" y="2565400"/>
            <a:ext cx="719138" cy="8636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4519" name="Text Box 8"/>
          <p:cNvSpPr txBox="1">
            <a:spLocks noChangeArrowheads="1"/>
          </p:cNvSpPr>
          <p:nvPr/>
        </p:nvSpPr>
        <p:spPr bwMode="auto">
          <a:xfrm>
            <a:off x="5664201" y="2205038"/>
            <a:ext cx="18231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FF3300"/>
                </a:solidFill>
                <a:latin typeface="Calibri" panose="020F0502020204030204" pitchFamily="34" charset="0"/>
              </a:rPr>
              <a:t>give second chance</a:t>
            </a:r>
          </a:p>
        </p:txBody>
      </p:sp>
    </p:spTree>
    <p:extLst>
      <p:ext uri="{BB962C8B-B14F-4D97-AF65-F5344CB8AC3E}">
        <p14:creationId xmlns:p14="http://schemas.microsoft.com/office/powerpoint/2010/main" val="420109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tx1"/>
                </a:solidFill>
              </a:rPr>
              <a:t>Page Table and </a:t>
            </a:r>
            <a:r>
              <a:rPr lang="en-US" altLang="zh-TW" dirty="0" smtClean="0">
                <a:solidFill>
                  <a:schemeClr val="tx1"/>
                </a:solidFill>
              </a:rPr>
              <a:t>FIFO</a:t>
            </a:r>
            <a:r>
              <a:rPr lang="zh-TW" altLang="en-US" dirty="0" smtClean="0">
                <a:solidFill>
                  <a:schemeClr val="tx1"/>
                </a:solidFill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</a:rPr>
              <a:t>Queue </a:t>
            </a:r>
            <a:r>
              <a:rPr lang="en-US" altLang="zh-TW" dirty="0" smtClean="0">
                <a:solidFill>
                  <a:schemeClr val="tx1"/>
                </a:solidFill>
              </a:rPr>
              <a:t>in OS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5"/>
            <a:ext cx="2265362" cy="93256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794794"/>
            <a:ext cx="2260600" cy="645693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416883"/>
            <a:ext cx="2260600" cy="3377911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871" y="2708920"/>
            <a:ext cx="1877393" cy="1224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688288" y="2996952"/>
            <a:ext cx="151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table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17" y="4075746"/>
            <a:ext cx="1181100" cy="165392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4750668"/>
            <a:ext cx="695325" cy="190500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8688288" y="4551511"/>
            <a:ext cx="1629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FIFO queue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94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>
                <a:solidFill>
                  <a:srgbClr val="000000"/>
                </a:solidFill>
              </a:rPr>
              <a:t>Page </a:t>
            </a:r>
            <a:r>
              <a:rPr lang="en-US" altLang="zh-TW" sz="4000" dirty="0">
                <a:solidFill>
                  <a:srgbClr val="000000"/>
                </a:solidFill>
              </a:rPr>
              <a:t>Replacement Algorithms</a:t>
            </a:r>
            <a:endParaRPr lang="en-US" altLang="zh-TW" sz="48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Stack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 smtClean="0"/>
              <a:t>Optimal </a:t>
            </a:r>
            <a:r>
              <a:rPr lang="en-US" altLang="zh-TW" sz="2400" dirty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</a:t>
            </a:r>
            <a:r>
              <a:rPr lang="en-US" altLang="zh-TW" sz="2400" dirty="0" smtClean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b="1" dirty="0" smtClean="0">
                <a:solidFill>
                  <a:srgbClr val="FF3300"/>
                </a:solidFill>
              </a:rPr>
              <a:t>LRU-approximation </a:t>
            </a:r>
            <a:r>
              <a:rPr lang="en-US" altLang="zh-TW" sz="2400" b="1" dirty="0">
                <a:solidFill>
                  <a:srgbClr val="FF3300"/>
                </a:solidFill>
              </a:rPr>
              <a:t>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b="1" dirty="0">
                <a:solidFill>
                  <a:srgbClr val="FF3300"/>
                </a:solidFill>
              </a:rPr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LFU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MFU</a:t>
            </a:r>
          </a:p>
          <a:p>
            <a:pPr eaLnBrk="1" hangingPunct="1">
              <a:spcBef>
                <a:spcPct val="10000"/>
              </a:spcBef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9133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之前提過</a:t>
            </a:r>
            <a:r>
              <a:rPr lang="en-US" altLang="zh-TW" dirty="0" smtClean="0"/>
              <a:t>MMU</a:t>
            </a:r>
            <a:r>
              <a:rPr lang="zh-TW" altLang="en-US" dirty="0" smtClean="0"/>
              <a:t>會設定</a:t>
            </a:r>
            <a:r>
              <a:rPr lang="en-US" altLang="zh-TW" dirty="0" smtClean="0"/>
              <a:t>page table</a:t>
            </a:r>
            <a:r>
              <a:rPr lang="zh-TW" altLang="en-US" dirty="0" smtClean="0"/>
              <a:t>中的</a:t>
            </a:r>
            <a:r>
              <a:rPr lang="en-US" altLang="zh-TW" dirty="0" smtClean="0"/>
              <a:t>modify bit (dirty bit), </a:t>
            </a:r>
            <a:r>
              <a:rPr lang="zh-TW" altLang="en-US" dirty="0" smtClean="0"/>
              <a:t>也可以拿來利用</a:t>
            </a:r>
            <a:r>
              <a:rPr lang="en-US" altLang="zh-TW" dirty="0" smtClean="0"/>
              <a:t>!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5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/>
              <a:t>LRU Approximation Algorithms- Enhanced Second Chance Algorithm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altLang="zh-TW" sz="2400" dirty="0"/>
              <a:t>Reference bit + modify bit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q"/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altLang="zh-TW" sz="2400" dirty="0"/>
              <a:t>The pair (</a:t>
            </a:r>
            <a:r>
              <a:rPr lang="en-US" altLang="zh-TW" sz="2400" b="1" dirty="0">
                <a:solidFill>
                  <a:srgbClr val="990000"/>
                </a:solidFill>
              </a:rPr>
              <a:t>reference bit</a:t>
            </a:r>
            <a:r>
              <a:rPr lang="en-US" altLang="zh-TW" sz="2400" dirty="0"/>
              <a:t>, </a:t>
            </a:r>
            <a:r>
              <a:rPr lang="en-US" altLang="zh-TW" sz="2400" b="1" dirty="0">
                <a:solidFill>
                  <a:srgbClr val="990000"/>
                </a:solidFill>
              </a:rPr>
              <a:t>modify bit</a:t>
            </a:r>
            <a:r>
              <a:rPr lang="en-US" altLang="zh-TW" sz="2400" dirty="0"/>
              <a:t>), categorized into four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(0,0): neither used and dirty – best page to replace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Why check the modify bit? </a:t>
            </a:r>
            <a:r>
              <a:rPr lang="en-US" altLang="zh-TW" sz="2000" b="1" dirty="0">
                <a:solidFill>
                  <a:srgbClr val="FF3300"/>
                </a:solidFill>
              </a:rPr>
              <a:t>Reduce I/O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(0,1): not used but dirty – not quite as good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The page will need to be written out before replacement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(1,0): used but clean – probably will be used again soon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(1,1): used and dirty – (0, 1) + (1,0)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Replace the first page encountered in the </a:t>
            </a:r>
            <a:r>
              <a:rPr lang="en-US" altLang="zh-TW" sz="2400" dirty="0">
                <a:solidFill>
                  <a:srgbClr val="FF3300"/>
                </a:solidFill>
              </a:rPr>
              <a:t>lowest nonempty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See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149337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Enhanced Second-Chance Page-Replacement Algorithm</a:t>
            </a:r>
          </a:p>
        </p:txBody>
      </p:sp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2" cstate="print"/>
          <a:srcRect l="8766" t="983" r="8766" b="983"/>
          <a:stretch>
            <a:fillRect/>
          </a:stretch>
        </p:blipFill>
        <p:spPr bwMode="auto">
          <a:xfrm>
            <a:off x="2351088" y="1341439"/>
            <a:ext cx="7129462" cy="47529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4224338" y="6092826"/>
            <a:ext cx="38973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Use a </a:t>
            </a: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circular queue</a:t>
            </a:r>
            <a:r>
              <a:rPr lang="en-US" altLang="zh-TW" sz="2000" b="1" dirty="0">
                <a:latin typeface="Calibri" panose="020F0502020204030204" pitchFamily="34" charset="0"/>
              </a:rPr>
              <a:t> to implement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4152900" y="1773239"/>
            <a:ext cx="287338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4151314" y="2278064"/>
            <a:ext cx="287337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4152900" y="2828925"/>
            <a:ext cx="287338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4152900" y="3357564"/>
            <a:ext cx="287338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69" name="Rectangle 9"/>
          <p:cNvSpPr>
            <a:spLocks noChangeArrowheads="1"/>
          </p:cNvSpPr>
          <p:nvPr/>
        </p:nvSpPr>
        <p:spPr bwMode="auto">
          <a:xfrm>
            <a:off x="4151314" y="3860800"/>
            <a:ext cx="287337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70" name="Rectangle 10"/>
          <p:cNvSpPr>
            <a:spLocks noChangeArrowheads="1"/>
          </p:cNvSpPr>
          <p:nvPr/>
        </p:nvSpPr>
        <p:spPr bwMode="auto">
          <a:xfrm>
            <a:off x="4151314" y="4508500"/>
            <a:ext cx="287337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71" name="Rectangle 11"/>
          <p:cNvSpPr>
            <a:spLocks noChangeArrowheads="1"/>
          </p:cNvSpPr>
          <p:nvPr/>
        </p:nvSpPr>
        <p:spPr bwMode="auto">
          <a:xfrm>
            <a:off x="4151314" y="5013325"/>
            <a:ext cx="287337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6572" name="Rectangle 12"/>
          <p:cNvSpPr>
            <a:spLocks noChangeArrowheads="1"/>
          </p:cNvSpPr>
          <p:nvPr/>
        </p:nvSpPr>
        <p:spPr bwMode="auto">
          <a:xfrm>
            <a:off x="8040689" y="1773239"/>
            <a:ext cx="287337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8040689" y="2276475"/>
            <a:ext cx="287337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74" name="Rectangle 14"/>
          <p:cNvSpPr>
            <a:spLocks noChangeArrowheads="1"/>
          </p:cNvSpPr>
          <p:nvPr/>
        </p:nvSpPr>
        <p:spPr bwMode="auto">
          <a:xfrm>
            <a:off x="8040689" y="2836864"/>
            <a:ext cx="287337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8040689" y="3357564"/>
            <a:ext cx="287337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76" name="Rectangle 16"/>
          <p:cNvSpPr>
            <a:spLocks noChangeArrowheads="1"/>
          </p:cNvSpPr>
          <p:nvPr/>
        </p:nvSpPr>
        <p:spPr bwMode="auto">
          <a:xfrm>
            <a:off x="8040689" y="3860800"/>
            <a:ext cx="287337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77" name="Rectangle 17"/>
          <p:cNvSpPr>
            <a:spLocks noChangeArrowheads="1"/>
          </p:cNvSpPr>
          <p:nvPr/>
        </p:nvSpPr>
        <p:spPr bwMode="auto">
          <a:xfrm>
            <a:off x="8040689" y="4508500"/>
            <a:ext cx="287337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78" name="Rectangle 18"/>
          <p:cNvSpPr>
            <a:spLocks noChangeArrowheads="1"/>
          </p:cNvSpPr>
          <p:nvPr/>
        </p:nvSpPr>
        <p:spPr bwMode="auto">
          <a:xfrm>
            <a:off x="8040689" y="5013325"/>
            <a:ext cx="287337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66579" name="Text Box 19"/>
          <p:cNvSpPr txBox="1">
            <a:spLocks noChangeArrowheads="1"/>
          </p:cNvSpPr>
          <p:nvPr/>
        </p:nvSpPr>
        <p:spPr bwMode="auto">
          <a:xfrm>
            <a:off x="3719514" y="5373689"/>
            <a:ext cx="104227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Modified bits</a:t>
            </a:r>
          </a:p>
        </p:txBody>
      </p:sp>
      <p:sp>
        <p:nvSpPr>
          <p:cNvPr id="66580" name="Text Box 20"/>
          <p:cNvSpPr txBox="1">
            <a:spLocks noChangeArrowheads="1"/>
          </p:cNvSpPr>
          <p:nvPr/>
        </p:nvSpPr>
        <p:spPr bwMode="auto">
          <a:xfrm>
            <a:off x="5591944" y="2221468"/>
            <a:ext cx="20184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give second chance</a:t>
            </a:r>
          </a:p>
        </p:txBody>
      </p:sp>
      <p:sp>
        <p:nvSpPr>
          <p:cNvPr id="66581" name="Line 21"/>
          <p:cNvSpPr>
            <a:spLocks noChangeShapeType="1"/>
          </p:cNvSpPr>
          <p:nvPr/>
        </p:nvSpPr>
        <p:spPr bwMode="auto">
          <a:xfrm>
            <a:off x="6816725" y="2565400"/>
            <a:ext cx="719138" cy="28733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6582" name="Line 22"/>
          <p:cNvSpPr>
            <a:spLocks noChangeShapeType="1"/>
          </p:cNvSpPr>
          <p:nvPr/>
        </p:nvSpPr>
        <p:spPr bwMode="auto">
          <a:xfrm>
            <a:off x="6816725" y="2565400"/>
            <a:ext cx="719138" cy="8636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71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chemeClr val="tx1"/>
                </a:solidFill>
              </a:rPr>
              <a:t>Page Table and FIFO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Queue in OS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5"/>
            <a:ext cx="2265362" cy="93256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794794"/>
            <a:ext cx="2260600" cy="645693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416883"/>
            <a:ext cx="2260600" cy="3377911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871" y="2708920"/>
            <a:ext cx="1877393" cy="1224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688288" y="2996952"/>
            <a:ext cx="151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table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17" y="4075746"/>
            <a:ext cx="1181100" cy="165392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4750668"/>
            <a:ext cx="695325" cy="190500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8688288" y="4551511"/>
            <a:ext cx="1629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FIFO queue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363" y="2861562"/>
            <a:ext cx="5429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6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>
                <a:solidFill>
                  <a:srgbClr val="000000"/>
                </a:solidFill>
              </a:rPr>
              <a:t>Page </a:t>
            </a:r>
            <a:r>
              <a:rPr lang="en-US" altLang="zh-TW" sz="4000" dirty="0">
                <a:solidFill>
                  <a:srgbClr val="000000"/>
                </a:solidFill>
              </a:rPr>
              <a:t>Replacement Algorithms</a:t>
            </a:r>
            <a:endParaRPr lang="en-US" altLang="zh-TW" sz="4800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FIFO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Optimal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</a:t>
            </a:r>
            <a:r>
              <a:rPr lang="en-US" altLang="zh-TW" sz="2400" dirty="0" smtClean="0"/>
              <a:t>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Stack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dirty="0"/>
              <a:t>LRU approximation algorithms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Additional-reference-bits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Second-chance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dirty="0"/>
              <a:t>Enhanced second-chance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TW" sz="2400" b="1" dirty="0">
                <a:solidFill>
                  <a:srgbClr val="FF3300"/>
                </a:solidFill>
              </a:rPr>
              <a:t>Counting algorithm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TW" sz="2400" b="1" dirty="0" smtClean="0">
                <a:solidFill>
                  <a:srgbClr val="FF3300"/>
                </a:solidFill>
              </a:rPr>
              <a:t>LFU</a:t>
            </a:r>
            <a:endParaRPr lang="en-US" altLang="zh-TW" sz="24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75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Counting-Based Page Replacement Algorithms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Keep a </a:t>
            </a:r>
            <a:r>
              <a:rPr lang="en-US" altLang="zh-TW" b="1" dirty="0">
                <a:solidFill>
                  <a:srgbClr val="FF3300"/>
                </a:solidFill>
              </a:rPr>
              <a:t>counter</a:t>
            </a:r>
            <a:r>
              <a:rPr lang="en-US" altLang="zh-TW" dirty="0"/>
              <a:t> of the </a:t>
            </a:r>
            <a:r>
              <a:rPr lang="en-US" altLang="zh-TW" b="1" dirty="0">
                <a:solidFill>
                  <a:srgbClr val="3333FF"/>
                </a:solidFill>
              </a:rPr>
              <a:t>number of references</a:t>
            </a:r>
            <a:r>
              <a:rPr lang="en-US" altLang="zh-TW" b="1" dirty="0"/>
              <a:t> </a:t>
            </a:r>
            <a:r>
              <a:rPr lang="en-US" altLang="zh-TW" dirty="0"/>
              <a:t>that have been made to each page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b="1" dirty="0"/>
              <a:t>LFU Algorithm</a:t>
            </a:r>
            <a:r>
              <a:rPr lang="en-US" altLang="zh-TW" sz="3600" b="1" dirty="0" smtClean="0"/>
              <a:t> </a:t>
            </a:r>
            <a:r>
              <a:rPr lang="en-US" altLang="zh-TW" sz="2800" dirty="0"/>
              <a:t>(</a:t>
            </a:r>
            <a:r>
              <a:rPr lang="en-US" altLang="zh-TW" sz="2800" b="1" dirty="0">
                <a:solidFill>
                  <a:srgbClr val="CC3300"/>
                </a:solidFill>
              </a:rPr>
              <a:t>least frequently used</a:t>
            </a:r>
            <a:r>
              <a:rPr lang="en-US" altLang="zh-TW" sz="2800" dirty="0"/>
              <a:t>)</a:t>
            </a:r>
            <a:r>
              <a:rPr lang="en-US" altLang="zh-TW" sz="3600" b="1" dirty="0" smtClean="0"/>
              <a:t> </a:t>
            </a:r>
            <a:r>
              <a:rPr lang="en-US" altLang="zh-TW" sz="3600" dirty="0" smtClean="0"/>
              <a:t>:</a:t>
            </a:r>
          </a:p>
          <a:p>
            <a:pPr lvl="1" eaLnBrk="1" hangingPunct="1"/>
            <a:r>
              <a:rPr lang="en-US" altLang="zh-TW" dirty="0"/>
              <a:t>Replaces page with </a:t>
            </a:r>
            <a:r>
              <a:rPr lang="en-US" altLang="zh-TW" b="1" dirty="0"/>
              <a:t>smallest count (</a:t>
            </a:r>
            <a:r>
              <a:rPr lang="zh-TW" altLang="en-US" b="1" dirty="0"/>
              <a:t>最少被使用到</a:t>
            </a:r>
            <a:r>
              <a:rPr lang="en-US" altLang="zh-TW" b="1" dirty="0"/>
              <a:t>) </a:t>
            </a:r>
          </a:p>
          <a:p>
            <a:pPr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8803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LRU Page Replacement</a:t>
            </a: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 cstate="print"/>
          <a:srcRect l="809" t="32875" r="789" b="32362"/>
          <a:stretch>
            <a:fillRect/>
          </a:stretch>
        </p:blipFill>
        <p:spPr bwMode="auto">
          <a:xfrm>
            <a:off x="1487488" y="1484784"/>
            <a:ext cx="8784976" cy="4049489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4943475" y="5661248"/>
            <a:ext cx="19653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12 page faults</a:t>
            </a:r>
          </a:p>
        </p:txBody>
      </p:sp>
    </p:spTree>
    <p:extLst>
      <p:ext uri="{BB962C8B-B14F-4D97-AF65-F5344CB8AC3E}">
        <p14:creationId xmlns:p14="http://schemas.microsoft.com/office/powerpoint/2010/main" val="58055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But counting-based algorithm is uncommon</a:t>
            </a:r>
            <a:br>
              <a:rPr lang="en-US" altLang="zh-TW" dirty="0"/>
            </a:br>
            <a:r>
              <a:rPr lang="en-US" altLang="zh-TW" sz="4000" dirty="0">
                <a:solidFill>
                  <a:srgbClr val="FF0000"/>
                </a:solidFill>
              </a:rPr>
              <a:t>Why</a:t>
            </a:r>
            <a:r>
              <a:rPr lang="en-US" altLang="zh-TW" sz="4000" dirty="0" smtClean="0">
                <a:solidFill>
                  <a:srgbClr val="FF0000"/>
                </a:solidFill>
              </a:rPr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20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3300"/>
                </a:solidFill>
              </a:rPr>
              <a:t>Page </a:t>
            </a:r>
            <a:r>
              <a:rPr lang="en-US" altLang="zh-TW" sz="2800" b="1" dirty="0">
                <a:solidFill>
                  <a:srgbClr val="FF3300"/>
                </a:solidFill>
              </a:rPr>
              <a:t>buffering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Thrashing</a:t>
            </a:r>
            <a:endParaRPr lang="en-US" altLang="zh-TW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8693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Page Buffering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Several </a:t>
            </a:r>
            <a:r>
              <a:rPr lang="en-US" altLang="zh-TW" b="1" dirty="0"/>
              <a:t>buffering</a:t>
            </a:r>
            <a:r>
              <a:rPr lang="en-US" altLang="zh-TW" dirty="0"/>
              <a:t> mechanism to reduce the page </a:t>
            </a:r>
            <a:r>
              <a:rPr lang="en-US" altLang="zh-TW" dirty="0" smtClean="0"/>
              <a:t>faults overhead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dirty="0"/>
              <a:t>Keep a pool of free frames</a:t>
            </a:r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Write </a:t>
            </a:r>
            <a:r>
              <a:rPr lang="en-US" altLang="zh-TW" dirty="0"/>
              <a:t>back the modified pages to the disk when the disk is </a:t>
            </a:r>
            <a:r>
              <a:rPr lang="en-US" altLang="zh-TW" dirty="0" smtClean="0"/>
              <a:t>idle</a:t>
            </a:r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Remember which page was in each free frame 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7525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Page Buffering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Several </a:t>
            </a:r>
            <a:r>
              <a:rPr lang="en-US" altLang="zh-TW" b="1" dirty="0"/>
              <a:t>buffering</a:t>
            </a:r>
            <a:r>
              <a:rPr lang="en-US" altLang="zh-TW" dirty="0"/>
              <a:t> mechanism to reduce the page </a:t>
            </a:r>
            <a:r>
              <a:rPr lang="en-US" altLang="zh-TW" dirty="0" smtClean="0"/>
              <a:t>faults overhead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Keep a pool of free frames</a:t>
            </a:r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Write </a:t>
            </a:r>
            <a:r>
              <a:rPr lang="en-US" altLang="zh-TW" dirty="0"/>
              <a:t>back the modified pages to the disk when the disk is </a:t>
            </a:r>
            <a:r>
              <a:rPr lang="en-US" altLang="zh-TW" dirty="0" smtClean="0"/>
              <a:t>idle</a:t>
            </a:r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Remember which page was in each free frame 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7245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Keep a </a:t>
            </a:r>
            <a:r>
              <a:rPr lang="en-US" altLang="zh-TW" dirty="0" smtClean="0"/>
              <a:t>Pool </a:t>
            </a:r>
            <a:r>
              <a:rPr lang="en-US" altLang="zh-TW" dirty="0"/>
              <a:t>of </a:t>
            </a:r>
            <a:r>
              <a:rPr lang="en-US" altLang="zh-TW" dirty="0" smtClean="0"/>
              <a:t>Free Frames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Keep </a:t>
            </a:r>
            <a:r>
              <a:rPr lang="en-US" altLang="zh-TW" b="1" dirty="0"/>
              <a:t>a pool of free frames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Invoking page replacement until there is no free memory is not adopted by OS. 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Page replacement is in fact invoked when </a:t>
            </a:r>
            <a:r>
              <a:rPr lang="en-US" altLang="zh-TW" b="1" dirty="0" smtClean="0">
                <a:solidFill>
                  <a:srgbClr val="FF0000"/>
                </a:solidFill>
              </a:rPr>
              <a:t>free memory is below a threshold.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Why?</a:t>
            </a:r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Obtain a free frame from the pool before the victim is written out</a:t>
            </a:r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Allows the process to restart as soon as possible </a:t>
            </a:r>
          </a:p>
        </p:txBody>
      </p:sp>
    </p:spTree>
    <p:extLst>
      <p:ext uri="{BB962C8B-B14F-4D97-AF65-F5344CB8AC3E}">
        <p14:creationId xmlns:p14="http://schemas.microsoft.com/office/powerpoint/2010/main" val="368840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Page Replacement: Original</a:t>
            </a:r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2" cstate="print"/>
          <a:srcRect l="694" t="1534" r="694" b="1534"/>
          <a:stretch>
            <a:fillRect/>
          </a:stretch>
        </p:blipFill>
        <p:spPr bwMode="auto">
          <a:xfrm>
            <a:off x="1775520" y="1412876"/>
            <a:ext cx="8928992" cy="43735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71684" name="Text Box 15"/>
          <p:cNvSpPr txBox="1">
            <a:spLocks noChangeArrowheads="1"/>
          </p:cNvSpPr>
          <p:nvPr/>
        </p:nvSpPr>
        <p:spPr bwMode="auto">
          <a:xfrm>
            <a:off x="3360720" y="5940426"/>
            <a:ext cx="635603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Must wait for the page out of victim page</a:t>
            </a:r>
          </a:p>
        </p:txBody>
      </p:sp>
    </p:spTree>
    <p:extLst>
      <p:ext uri="{BB962C8B-B14F-4D97-AF65-F5344CB8AC3E}">
        <p14:creationId xmlns:p14="http://schemas.microsoft.com/office/powerpoint/2010/main" val="294233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4" name="Text Box 13"/>
          <p:cNvSpPr txBox="1">
            <a:spLocks noChangeArrowheads="1"/>
          </p:cNvSpPr>
          <p:nvPr/>
        </p:nvSpPr>
        <p:spPr bwMode="auto">
          <a:xfrm>
            <a:off x="2711624" y="5949280"/>
            <a:ext cx="74196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Without waiting for the page out of victim pages</a:t>
            </a:r>
          </a:p>
        </p:txBody>
      </p:sp>
      <p:sp>
        <p:nvSpPr>
          <p:cNvPr id="78439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Page Replacement-Maintain Free Frames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2351583" y="1412776"/>
            <a:ext cx="7488833" cy="4366493"/>
            <a:chOff x="755650" y="1484313"/>
            <a:chExt cx="7673975" cy="4799012"/>
          </a:xfrm>
        </p:grpSpPr>
        <p:pic>
          <p:nvPicPr>
            <p:cNvPr id="72706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55650" y="1484313"/>
              <a:ext cx="7673975" cy="4799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707" name="Rectangle 6"/>
            <p:cNvSpPr>
              <a:spLocks noChangeArrowheads="1"/>
            </p:cNvSpPr>
            <p:nvPr/>
          </p:nvSpPr>
          <p:spPr bwMode="auto">
            <a:xfrm>
              <a:off x="3851275" y="5548313"/>
              <a:ext cx="936625" cy="247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08" name="Rectangle 7"/>
            <p:cNvSpPr>
              <a:spLocks noChangeArrowheads="1"/>
            </p:cNvSpPr>
            <p:nvPr/>
          </p:nvSpPr>
          <p:spPr bwMode="auto">
            <a:xfrm>
              <a:off x="3851275" y="5341938"/>
              <a:ext cx="936625" cy="247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09" name="Rectangle 8"/>
            <p:cNvSpPr>
              <a:spLocks noChangeArrowheads="1"/>
            </p:cNvSpPr>
            <p:nvPr/>
          </p:nvSpPr>
          <p:spPr bwMode="auto">
            <a:xfrm>
              <a:off x="3851275" y="5084763"/>
              <a:ext cx="936625" cy="247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10" name="Rectangle 9"/>
            <p:cNvSpPr>
              <a:spLocks noChangeArrowheads="1"/>
            </p:cNvSpPr>
            <p:nvPr/>
          </p:nvSpPr>
          <p:spPr bwMode="auto">
            <a:xfrm>
              <a:off x="3851275" y="4837113"/>
              <a:ext cx="936625" cy="247650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2711" name="Text Box 10"/>
            <p:cNvSpPr txBox="1">
              <a:spLocks noChangeArrowheads="1"/>
            </p:cNvSpPr>
            <p:nvPr/>
          </p:nvSpPr>
          <p:spPr bwMode="auto">
            <a:xfrm>
              <a:off x="4769604" y="5266324"/>
              <a:ext cx="1278965" cy="3720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i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free frames</a:t>
              </a:r>
            </a:p>
          </p:txBody>
        </p:sp>
        <p:sp>
          <p:nvSpPr>
            <p:cNvPr id="72712" name="Line 11"/>
            <p:cNvSpPr>
              <a:spLocks noChangeShapeType="1"/>
            </p:cNvSpPr>
            <p:nvPr/>
          </p:nvSpPr>
          <p:spPr bwMode="auto">
            <a:xfrm flipH="1">
              <a:off x="4787900" y="4005263"/>
              <a:ext cx="1512888" cy="936625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2713" name="Oval 12"/>
            <p:cNvSpPr>
              <a:spLocks noChangeArrowheads="1"/>
            </p:cNvSpPr>
            <p:nvPr/>
          </p:nvSpPr>
          <p:spPr bwMode="auto">
            <a:xfrm>
              <a:off x="4963772" y="4171471"/>
              <a:ext cx="299132" cy="2978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dirty="0"/>
                <a:t>1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4955662" y="2902067"/>
              <a:ext cx="329045" cy="2978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dirty="0"/>
                <a:t>3</a:t>
              </a: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2142778" y="2682711"/>
              <a:ext cx="361950" cy="32760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dirty="0"/>
                <a:t>4</a:t>
              </a:r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2152303" y="3337992"/>
              <a:ext cx="361950" cy="2978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970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Page Buffering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Several </a:t>
            </a:r>
            <a:r>
              <a:rPr lang="en-US" altLang="zh-TW" b="1" dirty="0"/>
              <a:t>buffering</a:t>
            </a:r>
            <a:r>
              <a:rPr lang="en-US" altLang="zh-TW" dirty="0"/>
              <a:t> mechanism to reduce the page </a:t>
            </a:r>
            <a:r>
              <a:rPr lang="en-US" altLang="zh-TW" dirty="0" smtClean="0"/>
              <a:t>faults overhead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dirty="0"/>
              <a:t>Keep a pool of free frames</a:t>
            </a:r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Write </a:t>
            </a:r>
            <a:r>
              <a:rPr lang="en-US" altLang="zh-TW" b="1" dirty="0">
                <a:solidFill>
                  <a:srgbClr val="FF0000"/>
                </a:solidFill>
              </a:rPr>
              <a:t>back the modified pages to the disk when the disk is </a:t>
            </a:r>
            <a:r>
              <a:rPr lang="en-US" altLang="zh-TW" b="1" dirty="0" smtClean="0">
                <a:solidFill>
                  <a:srgbClr val="FF0000"/>
                </a:solidFill>
              </a:rPr>
              <a:t>idle. </a:t>
            </a:r>
            <a:endParaRPr lang="en-US" altLang="zh-TW" dirty="0" smtClean="0"/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Remember which page was in each free frame 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5619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Write </a:t>
            </a:r>
            <a:r>
              <a:rPr lang="en-US" altLang="zh-TW" dirty="0" smtClean="0"/>
              <a:t>Back </a:t>
            </a:r>
            <a:r>
              <a:rPr lang="en-US" altLang="zh-TW" dirty="0"/>
              <a:t>the </a:t>
            </a:r>
            <a:r>
              <a:rPr lang="en-US" altLang="zh-TW" dirty="0" smtClean="0"/>
              <a:t>Modified Pages </a:t>
            </a:r>
            <a:r>
              <a:rPr lang="en-US" altLang="zh-TW" dirty="0"/>
              <a:t>to </a:t>
            </a:r>
            <a:r>
              <a:rPr lang="en-US" altLang="zh-TW" dirty="0" smtClean="0"/>
              <a:t>Disk When Disk </a:t>
            </a:r>
            <a:r>
              <a:rPr lang="en-US" altLang="zh-TW" dirty="0"/>
              <a:t>is </a:t>
            </a:r>
            <a:r>
              <a:rPr lang="en-US" altLang="zh-TW" dirty="0" smtClean="0"/>
              <a:t>Idle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Write </a:t>
            </a:r>
            <a:r>
              <a:rPr lang="en-US" altLang="zh-TW" dirty="0"/>
              <a:t>back the </a:t>
            </a:r>
            <a:r>
              <a:rPr lang="en-US" altLang="zh-TW" b="1" dirty="0"/>
              <a:t>modified</a:t>
            </a:r>
            <a:r>
              <a:rPr lang="en-US" altLang="zh-TW" dirty="0"/>
              <a:t> pages to the disk </a:t>
            </a:r>
            <a:r>
              <a:rPr lang="en-US" altLang="zh-TW" b="1" dirty="0"/>
              <a:t>when the disk is </a:t>
            </a:r>
            <a:r>
              <a:rPr lang="en-US" altLang="zh-TW" b="1" dirty="0" smtClean="0"/>
              <a:t>idle. </a:t>
            </a:r>
            <a:endParaRPr lang="en-US" altLang="zh-TW" b="1" dirty="0"/>
          </a:p>
          <a:p>
            <a:pPr>
              <a:lnSpc>
                <a:spcPct val="120000"/>
              </a:lnSpc>
            </a:pPr>
            <a:endParaRPr lang="en-US" altLang="zh-TW" b="1" dirty="0" smtClean="0"/>
          </a:p>
          <a:p>
            <a:pPr>
              <a:lnSpc>
                <a:spcPct val="12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Why?</a:t>
            </a:r>
            <a:endParaRPr lang="en-US" altLang="zh-TW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en-US" altLang="zh-TW" dirty="0" smtClean="0"/>
              <a:t>Ans.: when </a:t>
            </a:r>
            <a:r>
              <a:rPr lang="en-US" altLang="zh-TW" dirty="0"/>
              <a:t>it is selected for replacement, no need to be written out </a:t>
            </a:r>
          </a:p>
          <a:p>
            <a:pPr>
              <a:lnSpc>
                <a:spcPct val="120000"/>
              </a:lnSpc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094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Page Replacement: Original</a:t>
            </a:r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2" cstate="print"/>
          <a:srcRect l="694" t="1534" r="694" b="1534"/>
          <a:stretch>
            <a:fillRect/>
          </a:stretch>
        </p:blipFill>
        <p:spPr bwMode="auto">
          <a:xfrm>
            <a:off x="1415480" y="1412876"/>
            <a:ext cx="8928992" cy="43735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71684" name="Text Box 15"/>
          <p:cNvSpPr txBox="1">
            <a:spLocks noChangeArrowheads="1"/>
          </p:cNvSpPr>
          <p:nvPr/>
        </p:nvSpPr>
        <p:spPr bwMode="auto">
          <a:xfrm>
            <a:off x="2567608" y="5940426"/>
            <a:ext cx="635603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Must wait for the page out of victim page</a:t>
            </a:r>
          </a:p>
        </p:txBody>
      </p:sp>
    </p:spTree>
    <p:extLst>
      <p:ext uri="{BB962C8B-B14F-4D97-AF65-F5344CB8AC3E}">
        <p14:creationId xmlns:p14="http://schemas.microsoft.com/office/powerpoint/2010/main" val="96916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24417" y="81383"/>
            <a:ext cx="10972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Page Replacement: New</a:t>
            </a:r>
          </a:p>
        </p:txBody>
      </p:sp>
      <p:sp>
        <p:nvSpPr>
          <p:cNvPr id="71684" name="Text Box 15"/>
          <p:cNvSpPr txBox="1">
            <a:spLocks noChangeArrowheads="1"/>
          </p:cNvSpPr>
          <p:nvPr/>
        </p:nvSpPr>
        <p:spPr bwMode="auto">
          <a:xfrm>
            <a:off x="2423592" y="5940426"/>
            <a:ext cx="68265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solidFill>
                  <a:srgbClr val="FF3300"/>
                </a:solidFill>
                <a:latin typeface="Calibri" panose="020F0502020204030204" pitchFamily="34" charset="0"/>
              </a:rPr>
              <a:t>Without </a:t>
            </a:r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wait for the page out of victim page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1631504" y="1412876"/>
            <a:ext cx="8640960" cy="4373563"/>
            <a:chOff x="2711450" y="1412876"/>
            <a:chExt cx="6553200" cy="4373563"/>
          </a:xfrm>
        </p:grpSpPr>
        <p:pic>
          <p:nvPicPr>
            <p:cNvPr id="71683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694" t="1534" r="694" b="1534"/>
            <a:stretch>
              <a:fillRect/>
            </a:stretch>
          </p:blipFill>
          <p:spPr bwMode="auto">
            <a:xfrm>
              <a:off x="2711450" y="1412876"/>
              <a:ext cx="6553200" cy="4373563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" name="圓角矩形 1"/>
            <p:cNvSpPr/>
            <p:nvPr/>
          </p:nvSpPr>
          <p:spPr>
            <a:xfrm>
              <a:off x="6186602" y="2204864"/>
              <a:ext cx="1224000" cy="11521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7464152" y="2348880"/>
              <a:ext cx="1224000" cy="1152128"/>
            </a:xfrm>
            <a:prstGeom prst="roundRect">
              <a:avLst/>
            </a:prstGeom>
            <a:solidFill>
              <a:srgbClr val="CCECFF"/>
            </a:solidFill>
            <a:ln>
              <a:solidFill>
                <a:srgbClr val="CCE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Oval 12"/>
            <p:cNvSpPr>
              <a:spLocks noChangeArrowheads="1"/>
            </p:cNvSpPr>
            <p:nvPr/>
          </p:nvSpPr>
          <p:spPr bwMode="auto">
            <a:xfrm>
              <a:off x="3927985" y="2511799"/>
              <a:ext cx="299132" cy="2707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dirty="0"/>
                <a:t>1</a:t>
              </a:r>
            </a:p>
          </p:txBody>
        </p:sp>
        <p:sp>
          <p:nvSpPr>
            <p:cNvPr id="8" name="Oval 12"/>
            <p:cNvSpPr>
              <a:spLocks noChangeArrowheads="1"/>
            </p:cNvSpPr>
            <p:nvPr/>
          </p:nvSpPr>
          <p:spPr bwMode="auto">
            <a:xfrm>
              <a:off x="6305333" y="3637609"/>
              <a:ext cx="299132" cy="2707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dirty="0" smtClean="0"/>
                <a:t>1</a:t>
              </a:r>
              <a:endParaRPr lang="en-US" altLang="zh-TW" sz="1800" dirty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3924660" y="3105296"/>
              <a:ext cx="299132" cy="2707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dirty="0"/>
                <a:t>3</a:t>
              </a:r>
            </a:p>
          </p:txBody>
        </p:sp>
      </p:grpSp>
      <p:sp>
        <p:nvSpPr>
          <p:cNvPr id="4" name="圓角矩形 3"/>
          <p:cNvSpPr/>
          <p:nvPr/>
        </p:nvSpPr>
        <p:spPr>
          <a:xfrm>
            <a:off x="3231226" y="2348880"/>
            <a:ext cx="1496622" cy="5760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3236045" y="3106498"/>
            <a:ext cx="394431" cy="27074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dirty="0" smtClean="0"/>
              <a:t>2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240733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Page Buffering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Several </a:t>
            </a:r>
            <a:r>
              <a:rPr lang="en-US" altLang="zh-TW" b="1" dirty="0"/>
              <a:t>buffering</a:t>
            </a:r>
            <a:r>
              <a:rPr lang="en-US" altLang="zh-TW" dirty="0"/>
              <a:t> mechanism to reduce the page </a:t>
            </a:r>
            <a:r>
              <a:rPr lang="en-US" altLang="zh-TW" dirty="0" smtClean="0"/>
              <a:t>faults overhead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dirty="0"/>
              <a:t>Keep a pool of free frames</a:t>
            </a:r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Write </a:t>
            </a:r>
            <a:r>
              <a:rPr lang="en-US" altLang="zh-TW" dirty="0"/>
              <a:t>back the modified pages to the disk when the disk is </a:t>
            </a:r>
            <a:r>
              <a:rPr lang="en-US" altLang="zh-TW" dirty="0" smtClean="0"/>
              <a:t>idle</a:t>
            </a:r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Remember which page was in each free frame 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63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Remember </a:t>
            </a:r>
            <a:r>
              <a:rPr lang="en-US" altLang="zh-TW" dirty="0" smtClean="0"/>
              <a:t>Which Page </a:t>
            </a:r>
            <a:r>
              <a:rPr lang="en-US" altLang="zh-TW" dirty="0"/>
              <a:t>was in </a:t>
            </a:r>
            <a:r>
              <a:rPr lang="en-US" altLang="zh-TW" dirty="0" smtClean="0"/>
              <a:t>Each Free Frame 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Remember </a:t>
            </a:r>
            <a:r>
              <a:rPr lang="en-US" altLang="zh-TW" dirty="0"/>
              <a:t>which page was in each free frame </a:t>
            </a:r>
            <a:endParaRPr lang="en-US" altLang="zh-TW" dirty="0" smtClean="0"/>
          </a:p>
          <a:p>
            <a:pPr>
              <a:lnSpc>
                <a:spcPct val="120000"/>
              </a:lnSpc>
            </a:pPr>
            <a:endParaRPr lang="en-US" altLang="zh-TW" b="1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Why?</a:t>
            </a:r>
          </a:p>
          <a:p>
            <a:pPr>
              <a:lnSpc>
                <a:spcPct val="120000"/>
              </a:lnSpc>
            </a:pP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en-US" altLang="zh-TW" dirty="0" smtClean="0"/>
              <a:t>Ans</a:t>
            </a:r>
            <a:r>
              <a:rPr lang="en-US" altLang="zh-TW" dirty="0"/>
              <a:t>.: The old page can be reused from the free-frame pool 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See </a:t>
            </a:r>
            <a:r>
              <a:rPr lang="en-US" altLang="zh-TW" dirty="0"/>
              <a:t>the following </a:t>
            </a:r>
            <a:r>
              <a:rPr lang="en-US" altLang="zh-TW" dirty="0" smtClean="0"/>
              <a:t>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235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651" y="1484313"/>
            <a:ext cx="7673975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5375276" y="5548313"/>
            <a:ext cx="936625" cy="247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200" b="1">
                <a:latin typeface="Times New Roman" pitchFamily="18" charset="0"/>
              </a:rPr>
              <a:t>8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5375276" y="5053558"/>
            <a:ext cx="936625" cy="247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200" b="1">
                <a:latin typeface="Times New Roman" pitchFamily="18" charset="0"/>
              </a:rPr>
              <a:t>15</a:t>
            </a:r>
          </a:p>
        </p:txBody>
      </p:sp>
      <p:sp>
        <p:nvSpPr>
          <p:cNvPr id="787461" name="Rectangle 5"/>
          <p:cNvSpPr>
            <a:spLocks noChangeArrowheads="1"/>
          </p:cNvSpPr>
          <p:nvPr/>
        </p:nvSpPr>
        <p:spPr bwMode="auto">
          <a:xfrm>
            <a:off x="5375276" y="4437112"/>
            <a:ext cx="936625" cy="247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200" b="1">
                <a:latin typeface="Times New Roman" pitchFamily="18" charset="0"/>
              </a:rPr>
              <a:t>23</a:t>
            </a: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5375276" y="1916832"/>
            <a:ext cx="936625" cy="247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200" b="1">
                <a:latin typeface="Times New Roman" pitchFamily="18" charset="0"/>
              </a:rPr>
              <a:t>10</a:t>
            </a: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4067803" y="4365104"/>
            <a:ext cx="11641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b="1" i="1" dirty="0">
                <a:solidFill>
                  <a:srgbClr val="FF3300"/>
                </a:solidFill>
                <a:latin typeface="Calibri" panose="020F0502020204030204" pitchFamily="34" charset="0"/>
              </a:rPr>
              <a:t>free frames</a:t>
            </a:r>
          </a:p>
        </p:txBody>
      </p:sp>
      <p:sp>
        <p:nvSpPr>
          <p:cNvPr id="787466" name="Text Box 10"/>
          <p:cNvSpPr txBox="1">
            <a:spLocks noChangeArrowheads="1"/>
          </p:cNvSpPr>
          <p:nvPr/>
        </p:nvSpPr>
        <p:spPr bwMode="auto">
          <a:xfrm>
            <a:off x="2495551" y="6376987"/>
            <a:ext cx="80633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Compared with previous slide, don’t need to page in page 23 from the disk</a:t>
            </a:r>
          </a:p>
        </p:txBody>
      </p:sp>
      <p:sp>
        <p:nvSpPr>
          <p:cNvPr id="78746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Page Replacement- </a:t>
            </a:r>
            <a:r>
              <a:rPr lang="en-US" altLang="zh-TW" sz="3600"/>
              <a:t>Remember Which Page was in Each Free Frame </a:t>
            </a:r>
          </a:p>
        </p:txBody>
      </p:sp>
      <p:sp>
        <p:nvSpPr>
          <p:cNvPr id="787468" name="Text Box 12"/>
          <p:cNvSpPr txBox="1">
            <a:spLocks noChangeArrowheads="1"/>
          </p:cNvSpPr>
          <p:nvPr/>
        </p:nvSpPr>
        <p:spPr bwMode="auto">
          <a:xfrm>
            <a:off x="2495550" y="2852739"/>
            <a:ext cx="3365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Times New Roman" pitchFamily="18" charset="0"/>
              </a:rPr>
              <a:t>23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774825" y="3141662"/>
            <a:ext cx="1260476" cy="1736724"/>
            <a:chOff x="158" y="1979"/>
            <a:chExt cx="794" cy="1094"/>
          </a:xfrm>
        </p:grpSpPr>
        <p:sp>
          <p:nvSpPr>
            <p:cNvPr id="73743" name="Line 14"/>
            <p:cNvSpPr>
              <a:spLocks noChangeShapeType="1"/>
            </p:cNvSpPr>
            <p:nvPr/>
          </p:nvSpPr>
          <p:spPr bwMode="auto">
            <a:xfrm flipH="1">
              <a:off x="431" y="1979"/>
              <a:ext cx="226" cy="81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3744" name="Text Box 15"/>
            <p:cNvSpPr txBox="1">
              <a:spLocks noChangeArrowheads="1"/>
            </p:cNvSpPr>
            <p:nvPr/>
          </p:nvSpPr>
          <p:spPr bwMode="auto">
            <a:xfrm>
              <a:off x="158" y="2840"/>
              <a:ext cx="79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i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page faults</a:t>
              </a:r>
            </a:p>
          </p:txBody>
        </p:sp>
      </p:grpSp>
      <p:sp>
        <p:nvSpPr>
          <p:cNvPr id="73740" name="Rectangle 17"/>
          <p:cNvSpPr>
            <a:spLocks noChangeArrowheads="1"/>
          </p:cNvSpPr>
          <p:nvPr/>
        </p:nvSpPr>
        <p:spPr bwMode="auto">
          <a:xfrm>
            <a:off x="6672264" y="4150022"/>
            <a:ext cx="936625" cy="7191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87474" name="Line 18"/>
          <p:cNvSpPr>
            <a:spLocks noChangeShapeType="1"/>
          </p:cNvSpPr>
          <p:nvPr/>
        </p:nvSpPr>
        <p:spPr bwMode="auto">
          <a:xfrm flipV="1">
            <a:off x="3863752" y="4581127"/>
            <a:ext cx="1440086" cy="170219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742" name="Rectangle 19"/>
          <p:cNvSpPr>
            <a:spLocks noChangeArrowheads="1"/>
          </p:cNvSpPr>
          <p:nvPr/>
        </p:nvSpPr>
        <p:spPr bwMode="auto">
          <a:xfrm>
            <a:off x="3648075" y="2565401"/>
            <a:ext cx="1295400" cy="18716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" name="圓角矩形 16"/>
          <p:cNvSpPr/>
          <p:nvPr/>
        </p:nvSpPr>
        <p:spPr>
          <a:xfrm>
            <a:off x="7805700" y="3592114"/>
            <a:ext cx="1799642" cy="1152128"/>
          </a:xfrm>
          <a:prstGeom prst="roundRect">
            <a:avLst/>
          </a:prstGeom>
          <a:solidFill>
            <a:srgbClr val="CCECFF"/>
          </a:solidFill>
          <a:ln>
            <a:solidFill>
              <a:srgbClr val="CC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14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787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10" dur="2000" fill="hold"/>
                                        <p:tgtEl>
                                          <p:spTgt spid="787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787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6CC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787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787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466" grpId="0"/>
      <p:bldP spid="787474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Page </a:t>
            </a:r>
            <a:r>
              <a:rPr lang="en-US" altLang="zh-TW" sz="2800" dirty="0"/>
              <a:t>buffering </a:t>
            </a:r>
            <a:r>
              <a:rPr lang="en-US" altLang="zh-TW" sz="2800" dirty="0" smtClean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3300"/>
                </a:solidFill>
              </a:rPr>
              <a:t>Allocation </a:t>
            </a:r>
            <a:r>
              <a:rPr lang="en-US" altLang="zh-TW" sz="2800" b="1" dirty="0">
                <a:solidFill>
                  <a:srgbClr val="FF3300"/>
                </a:solidFill>
              </a:rPr>
              <a:t>of Frames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Thrashing</a:t>
            </a:r>
            <a:endParaRPr lang="en-US" altLang="zh-TW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82328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Two Major Problems to Implement Demand Paging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Page-replacement algorithm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Which frame is to be replaced 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Goal: result in minimum number of page faults</a:t>
            </a:r>
          </a:p>
          <a:p>
            <a:pPr eaLnBrk="1" hangingPunct="1">
              <a:lnSpc>
                <a:spcPct val="90000"/>
              </a:lnSpc>
            </a:pPr>
            <a:endParaRPr lang="en-US" altLang="zh-TW" sz="36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 smtClean="0">
                <a:solidFill>
                  <a:srgbClr val="FF3300"/>
                </a:solidFill>
              </a:rPr>
              <a:t>Frame-allocation </a:t>
            </a:r>
            <a:r>
              <a:rPr lang="en-US" altLang="zh-TW" b="1" dirty="0">
                <a:solidFill>
                  <a:srgbClr val="FF3300"/>
                </a:solidFill>
              </a:rPr>
              <a:t>algorithm</a:t>
            </a:r>
            <a:r>
              <a:rPr lang="en-US" altLang="zh-TW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How many frames are allocated to a </a:t>
            </a:r>
            <a:r>
              <a:rPr lang="en-US" altLang="zh-TW" dirty="0" smtClean="0"/>
              <a:t>process?</a:t>
            </a: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Introduced in this and the following subsections</a:t>
            </a:r>
          </a:p>
          <a:p>
            <a:pPr eaLnBrk="1" hangingPunct="1">
              <a:lnSpc>
                <a:spcPct val="90000"/>
              </a:lnSpc>
            </a:pPr>
            <a:endParaRPr lang="en-US" altLang="zh-TW" sz="3600" dirty="0" smtClean="0"/>
          </a:p>
        </p:txBody>
      </p:sp>
    </p:spTree>
    <p:extLst>
      <p:ext uri="{BB962C8B-B14F-4D97-AF65-F5344CB8AC3E}">
        <p14:creationId xmlns:p14="http://schemas.microsoft.com/office/powerpoint/2010/main" val="305217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3300"/>
                </a:solidFill>
              </a:rPr>
              <a:t>Allocation </a:t>
            </a:r>
            <a:r>
              <a:rPr lang="en-US" altLang="zh-TW" sz="2800" b="1" dirty="0">
                <a:solidFill>
                  <a:srgbClr val="FF3300"/>
                </a:solidFill>
              </a:rPr>
              <a:t>of </a:t>
            </a:r>
            <a:r>
              <a:rPr lang="en-US" altLang="zh-TW" sz="2800" b="1" dirty="0" smtClean="0">
                <a:solidFill>
                  <a:srgbClr val="FF3300"/>
                </a:solidFill>
              </a:rPr>
              <a:t>Frames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FF3300"/>
                </a:solidFill>
              </a:rPr>
              <a:t>Frame Allocation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Global </a:t>
            </a:r>
            <a:r>
              <a:rPr lang="en-US" altLang="zh-TW" sz="2400" dirty="0"/>
              <a:t>versus Local </a:t>
            </a:r>
            <a:r>
              <a:rPr lang="en-US" altLang="zh-TW" sz="2400" dirty="0" smtClean="0"/>
              <a:t>Allocation</a:t>
            </a: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Thrashing</a:t>
            </a:r>
            <a:endParaRPr lang="en-US" altLang="zh-TW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51497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每一個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應該分配多少記憶體空間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872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Allocation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How to allocate the free memory among the various processes?</a:t>
            </a:r>
          </a:p>
          <a:p>
            <a:pPr eaLnBrk="1" hangingPunct="1"/>
            <a:endParaRPr lang="en-US" altLang="zh-TW" sz="2800" b="1" dirty="0" smtClean="0"/>
          </a:p>
          <a:p>
            <a:pPr eaLnBrk="1" hangingPunct="1"/>
            <a:r>
              <a:rPr lang="en-US" altLang="zh-TW" sz="2800" b="1" dirty="0" smtClean="0"/>
              <a:t>Equal </a:t>
            </a:r>
            <a:r>
              <a:rPr lang="en-US" altLang="zh-TW" sz="2800" b="1" dirty="0"/>
              <a:t>allocation</a:t>
            </a:r>
          </a:p>
          <a:p>
            <a:pPr lvl="1" eaLnBrk="1" hangingPunct="1"/>
            <a:r>
              <a:rPr lang="en-US" altLang="zh-TW" sz="2400" dirty="0"/>
              <a:t>If 100 frames and 5 processes, give each 20 frames.</a:t>
            </a:r>
          </a:p>
          <a:p>
            <a:pPr eaLnBrk="1" hangingPunct="1"/>
            <a:endParaRPr lang="en-US" altLang="zh-TW" sz="2800" b="1" dirty="0"/>
          </a:p>
          <a:p>
            <a:pPr eaLnBrk="1" hangingPunct="1"/>
            <a:r>
              <a:rPr lang="en-US" altLang="zh-TW" sz="2800" b="1" dirty="0"/>
              <a:t>Proportional allocation </a:t>
            </a:r>
          </a:p>
          <a:p>
            <a:pPr lvl="1" eaLnBrk="1" hangingPunct="1"/>
            <a:r>
              <a:rPr lang="en-US" altLang="zh-TW" sz="2400" dirty="0" smtClean="0"/>
              <a:t>Allocate </a:t>
            </a:r>
            <a:r>
              <a:rPr lang="en-US" altLang="zh-TW" sz="2400" dirty="0"/>
              <a:t>according to the size </a:t>
            </a:r>
            <a:r>
              <a:rPr lang="en-US" altLang="zh-TW" sz="2400" dirty="0" smtClean="0"/>
              <a:t>(and priority) of </a:t>
            </a:r>
            <a:r>
              <a:rPr lang="en-US" altLang="zh-TW" sz="2400" dirty="0"/>
              <a:t>process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783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但是兩種方法都不好</a:t>
            </a:r>
            <a:r>
              <a:rPr lang="en-US" altLang="zh-TW" dirty="0" smtClean="0"/>
              <a:t>!</a:t>
            </a:r>
            <a:r>
              <a:rPr lang="zh-TW" altLang="en-US" dirty="0" smtClean="0"/>
              <a:t> </a:t>
            </a:r>
            <a:r>
              <a:rPr lang="zh-TW" altLang="en-US" dirty="0"/>
              <a:t>應該要動態</a:t>
            </a:r>
            <a:r>
              <a:rPr lang="zh-TW" altLang="en-US" dirty="0" smtClean="0"/>
              <a:t>調整</a:t>
            </a:r>
            <a:r>
              <a:rPr lang="en-US" altLang="zh-TW" dirty="0" smtClean="0"/>
              <a:t>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Q: </a:t>
            </a:r>
            <a:r>
              <a:rPr lang="zh-TW" altLang="en-US" dirty="0" smtClean="0"/>
              <a:t>如何動態調整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784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>
                <a:solidFill>
                  <a:srgbClr val="FF3300"/>
                </a:solidFill>
              </a:rPr>
              <a:t>Allocation </a:t>
            </a:r>
            <a:r>
              <a:rPr lang="en-US" altLang="zh-TW" sz="2800" b="1" dirty="0">
                <a:solidFill>
                  <a:srgbClr val="FF3300"/>
                </a:solidFill>
              </a:rPr>
              <a:t>of </a:t>
            </a:r>
            <a:r>
              <a:rPr lang="en-US" altLang="zh-TW" sz="2800" b="1" dirty="0" smtClean="0">
                <a:solidFill>
                  <a:srgbClr val="FF3300"/>
                </a:solidFill>
              </a:rPr>
              <a:t>Frames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Frame Allocation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FF0000"/>
                </a:solidFill>
              </a:rPr>
              <a:t>Global </a:t>
            </a:r>
            <a:r>
              <a:rPr lang="en-US" altLang="zh-TW" sz="2400" b="1" dirty="0">
                <a:solidFill>
                  <a:srgbClr val="FF0000"/>
                </a:solidFill>
              </a:rPr>
              <a:t>versus Local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Allocation</a:t>
            </a:r>
            <a:endParaRPr lang="en-US" altLang="zh-TW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Thrashing</a:t>
            </a:r>
            <a:endParaRPr lang="en-US" altLang="zh-TW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12525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effectLst/>
              </a:rPr>
              <a:t>Global </a:t>
            </a:r>
            <a:r>
              <a:rPr lang="en-US" altLang="zh-TW" dirty="0" err="1" smtClean="0">
                <a:effectLst/>
              </a:rPr>
              <a:t>v.s</a:t>
            </a:r>
            <a:r>
              <a:rPr lang="en-US" altLang="zh-TW" dirty="0" smtClean="0">
                <a:effectLst/>
              </a:rPr>
              <a:t>. Local Allocation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zh-TW" altLang="en-US" dirty="0" smtClean="0"/>
              <a:t>在看動態調整之前</a:t>
            </a:r>
            <a:r>
              <a:rPr lang="en-US" altLang="zh-TW" dirty="0" smtClean="0"/>
              <a:t>, </a:t>
            </a:r>
            <a:r>
              <a:rPr lang="zh-TW" altLang="en-US" dirty="0" smtClean="0"/>
              <a:t>我們先介紹</a:t>
            </a:r>
            <a:r>
              <a:rPr lang="en-US" altLang="zh-TW" dirty="0" smtClean="0"/>
              <a:t>global and local allocation.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When </a:t>
            </a:r>
            <a:r>
              <a:rPr lang="en-US" altLang="zh-TW" dirty="0"/>
              <a:t>replacement, which frame is replaced?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 smtClean="0"/>
              <a:t>Global </a:t>
            </a:r>
            <a:r>
              <a:rPr lang="en-US" altLang="zh-TW" b="1" dirty="0"/>
              <a:t>replacement</a:t>
            </a:r>
            <a:r>
              <a:rPr lang="en-US" altLang="zh-TW" dirty="0"/>
              <a:t> </a:t>
            </a:r>
            <a:r>
              <a:rPr lang="en-US" altLang="zh-TW" dirty="0">
                <a:latin typeface="Helvetica" pitchFamily="34" charset="0"/>
              </a:rPr>
              <a:t>–</a:t>
            </a:r>
            <a:r>
              <a:rPr lang="en-US" altLang="zh-TW" dirty="0"/>
              <a:t>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Selects a replacement frame from the set of </a:t>
            </a:r>
            <a:r>
              <a:rPr lang="en-US" altLang="zh-TW" b="1" dirty="0"/>
              <a:t>all frames</a:t>
            </a:r>
            <a:r>
              <a:rPr lang="en-US" altLang="zh-TW" dirty="0"/>
              <a:t>;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 smtClean="0"/>
              <a:t>Local </a:t>
            </a:r>
            <a:r>
              <a:rPr lang="en-US" altLang="zh-TW" b="1" dirty="0"/>
              <a:t>replacement</a:t>
            </a:r>
            <a:r>
              <a:rPr lang="en-US" altLang="zh-TW" dirty="0"/>
              <a:t> </a:t>
            </a:r>
            <a:r>
              <a:rPr lang="en-US" altLang="zh-TW" dirty="0">
                <a:latin typeface="Helvetica" pitchFamily="34" charset="0"/>
              </a:rPr>
              <a:t>–</a:t>
            </a:r>
            <a:r>
              <a:rPr lang="en-US" altLang="zh-TW" dirty="0"/>
              <a:t>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Each process selects a replacement frame from its </a:t>
            </a:r>
            <a:r>
              <a:rPr lang="en-US" altLang="zh-TW" b="1" dirty="0"/>
              <a:t>own frames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 smtClean="0">
                <a:solidFill>
                  <a:srgbClr val="FF3300"/>
                </a:solidFill>
              </a:rPr>
              <a:t>Global</a:t>
            </a:r>
            <a:r>
              <a:rPr lang="en-US" altLang="zh-TW" dirty="0" smtClean="0"/>
              <a:t> </a:t>
            </a:r>
            <a:r>
              <a:rPr lang="en-US" altLang="zh-TW" dirty="0"/>
              <a:t>replacement is more common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Results in </a:t>
            </a:r>
            <a:r>
              <a:rPr lang="en-US" altLang="zh-TW" dirty="0">
                <a:solidFill>
                  <a:srgbClr val="FF3300"/>
                </a:solidFill>
              </a:rPr>
              <a:t>better throughput</a:t>
            </a:r>
          </a:p>
        </p:txBody>
      </p:sp>
    </p:spTree>
    <p:extLst>
      <p:ext uri="{BB962C8B-B14F-4D97-AF65-F5344CB8AC3E}">
        <p14:creationId xmlns:p14="http://schemas.microsoft.com/office/powerpoint/2010/main" val="242455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512912"/>
          </a:xfrm>
        </p:spPr>
        <p:txBody>
          <a:bodyPr/>
          <a:lstStyle/>
          <a:p>
            <a:r>
              <a:rPr lang="en-US" altLang="zh-TW" dirty="0" smtClean="0"/>
              <a:t> Global </a:t>
            </a:r>
            <a:r>
              <a:rPr lang="en-US" altLang="zh-TW" dirty="0"/>
              <a:t>Replacement or Local Replacement?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340768"/>
            <a:ext cx="10225136" cy="4961276"/>
          </a:xfrm>
          <a:prstGeom prst="rect">
            <a:avLst/>
          </a:prstGeom>
        </p:spPr>
      </p:pic>
      <p:sp>
        <p:nvSpPr>
          <p:cNvPr id="6" name="圓角矩形圖說文字 5"/>
          <p:cNvSpPr/>
          <p:nvPr/>
        </p:nvSpPr>
        <p:spPr>
          <a:xfrm>
            <a:off x="6528048" y="5877272"/>
            <a:ext cx="2232248" cy="288032"/>
          </a:xfrm>
          <a:prstGeom prst="wedgeRoundRectCallout">
            <a:avLst>
              <a:gd name="adj1" fmla="val -4073"/>
              <a:gd name="adj2" fmla="val -12577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  <a:latin typeface="Calibri" panose="020F0502020204030204" pitchFamily="34" charset="0"/>
              </a:rPr>
              <a:t>All frames are in use</a:t>
            </a:r>
            <a:endParaRPr lang="zh-TW" altLang="en-US" sz="18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Global Replacement</a:t>
            </a:r>
            <a:r>
              <a:rPr lang="zh-TW" altLang="en-US" dirty="0" smtClean="0"/>
              <a:t>就是一種動態調整機制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sz="2800" dirty="0" smtClean="0"/>
          </a:p>
          <a:p>
            <a:r>
              <a:rPr lang="en-US" altLang="zh-TW" sz="2800" dirty="0" smtClean="0"/>
              <a:t>Process A page fault, process C</a:t>
            </a:r>
            <a:r>
              <a:rPr lang="zh-TW" altLang="en-US" sz="2800" dirty="0" smtClean="0"/>
              <a:t>的一個</a:t>
            </a:r>
            <a:r>
              <a:rPr lang="en-US" altLang="zh-TW" sz="2800" dirty="0" smtClean="0"/>
              <a:t>page</a:t>
            </a:r>
            <a:r>
              <a:rPr lang="zh-TW" altLang="en-US" sz="2800" dirty="0" smtClean="0"/>
              <a:t>被</a:t>
            </a:r>
            <a:r>
              <a:rPr lang="en-US" altLang="zh-TW" sz="2800" dirty="0" smtClean="0"/>
              <a:t>page out. </a:t>
            </a:r>
          </a:p>
          <a:p>
            <a:r>
              <a:rPr lang="en-US" altLang="zh-TW" sz="2800" dirty="0" smtClean="0"/>
              <a:t>Process A</a:t>
            </a:r>
            <a:r>
              <a:rPr lang="zh-TW" altLang="en-US" sz="2800" dirty="0" smtClean="0"/>
              <a:t>新增一個</a:t>
            </a:r>
            <a:r>
              <a:rPr lang="en-US" altLang="zh-TW" sz="2800" dirty="0" smtClean="0"/>
              <a:t>page, process C</a:t>
            </a:r>
            <a:r>
              <a:rPr lang="zh-TW" altLang="en-US" sz="2800" dirty="0" smtClean="0"/>
              <a:t>少一個</a:t>
            </a:r>
            <a:r>
              <a:rPr lang="en-US" altLang="zh-TW" sz="2800" dirty="0" smtClean="0"/>
              <a:t>page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6607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effectLst/>
              </a:rPr>
              <a:t>A Example Global </a:t>
            </a:r>
            <a:r>
              <a:rPr lang="en-US" altLang="zh-TW" sz="3600" dirty="0"/>
              <a:t>P</a:t>
            </a:r>
            <a:r>
              <a:rPr lang="en-US" altLang="en-US" sz="3600" dirty="0"/>
              <a:t>age Replacement Policy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common strategy </a:t>
            </a:r>
            <a:r>
              <a:rPr lang="en-US" altLang="zh-TW" dirty="0"/>
              <a:t>to implement </a:t>
            </a:r>
            <a:r>
              <a:rPr lang="en-US" altLang="zh-TW" b="1" dirty="0">
                <a:solidFill>
                  <a:srgbClr val="FF0000"/>
                </a:solidFill>
              </a:rPr>
              <a:t>global page-replacement policy </a:t>
            </a:r>
          </a:p>
          <a:p>
            <a:pPr lvl="1"/>
            <a:r>
              <a:rPr lang="en-US" altLang="en-US" dirty="0" smtClean="0"/>
              <a:t>When </a:t>
            </a:r>
            <a:r>
              <a:rPr lang="en-US" altLang="en-US" dirty="0"/>
              <a:t>the </a:t>
            </a:r>
            <a:r>
              <a:rPr lang="en-US" altLang="en-US" b="1" dirty="0"/>
              <a:t>free-frame list</a:t>
            </a:r>
            <a:r>
              <a:rPr lang="en-US" altLang="en-US" dirty="0" smtClean="0"/>
              <a:t> </a:t>
            </a:r>
            <a:r>
              <a:rPr lang="en-US" altLang="en-US" dirty="0"/>
              <a:t>falls below a </a:t>
            </a:r>
            <a:r>
              <a:rPr lang="en-US" altLang="en-US" b="1" dirty="0"/>
              <a:t>minimum</a:t>
            </a:r>
            <a:r>
              <a:rPr lang="en-US" altLang="en-US" dirty="0"/>
              <a:t> threshold 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A kernel routine, called </a:t>
            </a:r>
            <a:r>
              <a:rPr lang="en-US" altLang="en-US" b="1" dirty="0" smtClean="0">
                <a:solidFill>
                  <a:srgbClr val="FF0000"/>
                </a:solidFill>
              </a:rPr>
              <a:t>reapers </a:t>
            </a:r>
            <a:r>
              <a:rPr lang="en-US" altLang="en-US" dirty="0" smtClean="0"/>
              <a:t>(</a:t>
            </a:r>
            <a:r>
              <a:rPr lang="zh-TW" altLang="en-US" dirty="0"/>
              <a:t>收穫</a:t>
            </a:r>
            <a:r>
              <a:rPr lang="zh-TW" altLang="en-US" dirty="0" smtClean="0"/>
              <a:t>者</a:t>
            </a:r>
            <a:r>
              <a:rPr lang="en-US" altLang="zh-TW" dirty="0" smtClean="0"/>
              <a:t>)</a:t>
            </a:r>
            <a:r>
              <a:rPr lang="en-US" altLang="en-US" dirty="0" smtClean="0"/>
              <a:t>, is triggered to reclaim pages</a:t>
            </a:r>
          </a:p>
          <a:p>
            <a:pPr lvl="1"/>
            <a:r>
              <a:rPr lang="en-US" altLang="en-US" dirty="0" smtClean="0"/>
              <a:t>When </a:t>
            </a:r>
            <a:r>
              <a:rPr lang="en-US" altLang="en-US" dirty="0"/>
              <a:t>reaching a </a:t>
            </a:r>
            <a:r>
              <a:rPr lang="en-US" altLang="en-US" b="1" dirty="0"/>
              <a:t>maximum</a:t>
            </a:r>
            <a:r>
              <a:rPr lang="en-US" altLang="en-US" dirty="0"/>
              <a:t> threshold 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Reapers are stopped</a:t>
            </a:r>
          </a:p>
          <a:p>
            <a:pPr lvl="1"/>
            <a:r>
              <a:rPr lang="en-US" altLang="en-US" dirty="0" smtClean="0"/>
              <a:t>Ensure </a:t>
            </a:r>
            <a:r>
              <a:rPr lang="en-US" altLang="en-US" dirty="0"/>
              <a:t>there is </a:t>
            </a:r>
            <a:r>
              <a:rPr lang="en-US" altLang="en-US" dirty="0" smtClean="0"/>
              <a:t>always </a:t>
            </a:r>
            <a:r>
              <a:rPr lang="en-US" altLang="en-US" b="1" dirty="0" smtClean="0"/>
              <a:t>free </a:t>
            </a:r>
            <a:r>
              <a:rPr lang="en-US" altLang="en-US" b="1" dirty="0"/>
              <a:t>memory </a:t>
            </a:r>
            <a:r>
              <a:rPr lang="en-US" altLang="en-US" dirty="0"/>
              <a:t>to satisfy new </a:t>
            </a:r>
            <a:r>
              <a:rPr lang="en-US" altLang="en-US" dirty="0" smtClean="0"/>
              <a:t>requests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endParaRPr lang="en-US" altLang="zh-TW" dirty="0" smtClean="0">
              <a:solidFill>
                <a:srgbClr val="0000FF"/>
              </a:solidFill>
            </a:endParaRPr>
          </a:p>
          <a:p>
            <a:pPr lvl="1"/>
            <a:r>
              <a:rPr lang="en-US" altLang="zh-TW" dirty="0" smtClean="0">
                <a:solidFill>
                  <a:srgbClr val="0000FF"/>
                </a:solidFill>
              </a:rPr>
              <a:t>Why guarantee free memory is always available instead of using up all free memory?</a:t>
            </a:r>
          </a:p>
          <a:p>
            <a:pPr lvl="1"/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61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Reclaiming Pages </a:t>
            </a:r>
            <a:r>
              <a:rPr lang="en-US" altLang="zh-TW" dirty="0" smtClean="0"/>
              <a:t>Example</a:t>
            </a:r>
            <a:r>
              <a:rPr lang="en-US" altLang="en-US" dirty="0" smtClean="0"/>
              <a:t> 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4" name="Picture 2" descr="B:\os-book\os10-dir\Slides-WORK-area\Figures-dir\ch10\JPG-dir\10_1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9" y="1700808"/>
            <a:ext cx="8014345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566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3"/>
            <a:ext cx="10972800" cy="4897016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 smtClean="0"/>
              <a:t>Memory </a:t>
            </a:r>
            <a:r>
              <a:rPr lang="en-US" altLang="zh-TW" sz="2800" dirty="0"/>
              <a:t>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28944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因此</a:t>
            </a:r>
            <a:r>
              <a:rPr lang="en-US" altLang="zh-TW" dirty="0" smtClean="0"/>
              <a:t>, </a:t>
            </a:r>
            <a:r>
              <a:rPr lang="zh-TW" altLang="en-US" dirty="0" smtClean="0"/>
              <a:t>在某些情況下</a:t>
            </a:r>
            <a:r>
              <a:rPr lang="en-US" altLang="zh-TW" dirty="0" smtClean="0"/>
              <a:t>, </a:t>
            </a:r>
            <a:r>
              <a:rPr lang="zh-TW" altLang="en-US" dirty="0" smtClean="0"/>
              <a:t>有可能某些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被分配到的</a:t>
            </a:r>
            <a:r>
              <a:rPr lang="zh-TW" altLang="en-US" dirty="0"/>
              <a:t>記憶體空間太少了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931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496902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Thrashing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Cause of Thrashing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Working-Set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Page-Fault Frequency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46569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Allocation Algorithms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Problem: if </a:t>
            </a:r>
            <a:r>
              <a:rPr lang="en-US" altLang="zh-TW" dirty="0"/>
              <a:t>a process does not have </a:t>
            </a:r>
            <a:r>
              <a:rPr lang="en-US" altLang="zh-TW" b="1" dirty="0"/>
              <a:t>enough</a:t>
            </a:r>
            <a:r>
              <a:rPr lang="en-US" altLang="zh-TW" dirty="0"/>
              <a:t> pages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The page-fault rate is very </a:t>
            </a:r>
            <a:r>
              <a:rPr lang="en-US" altLang="zh-TW" dirty="0" smtClean="0"/>
              <a:t>high since </a:t>
            </a:r>
            <a:r>
              <a:rPr lang="en-US" altLang="zh-TW" dirty="0"/>
              <a:t>the paged out pages will be paged in soon </a:t>
            </a:r>
          </a:p>
          <a:p>
            <a:pPr eaLnBrk="1" hangingPunct="1">
              <a:spcBef>
                <a:spcPts val="600"/>
              </a:spcBef>
            </a:pPr>
            <a:endParaRPr lang="en-US" altLang="zh-TW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This </a:t>
            </a:r>
            <a:r>
              <a:rPr lang="en-US" altLang="zh-TW" dirty="0"/>
              <a:t>leads to: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b="1" dirty="0"/>
              <a:t>Low CPU utilization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2649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Thrashing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3"/>
            <a:ext cx="10972800" cy="1008583"/>
          </a:xfrm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2400" b="1" dirty="0" smtClean="0"/>
              <a:t>Definition</a:t>
            </a:r>
            <a:r>
              <a:rPr lang="en-US" altLang="zh-TW" sz="2400" dirty="0"/>
              <a:t>: a process is </a:t>
            </a:r>
            <a:r>
              <a:rPr lang="en-US" altLang="zh-TW" sz="2400" b="1" dirty="0"/>
              <a:t>thrashing</a:t>
            </a:r>
            <a:r>
              <a:rPr lang="en-US" altLang="zh-TW" sz="2400" dirty="0"/>
              <a:t> if it is spending more time </a:t>
            </a:r>
            <a:r>
              <a:rPr lang="en-US" altLang="zh-TW" sz="2400" dirty="0">
                <a:solidFill>
                  <a:srgbClr val="FF3300"/>
                </a:solidFill>
              </a:rPr>
              <a:t>paging</a:t>
            </a:r>
            <a:r>
              <a:rPr lang="en-US" altLang="zh-TW" sz="2400" dirty="0"/>
              <a:t> than executing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400" b="1" dirty="0"/>
              <a:t>Thrashing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= a process is busy </a:t>
            </a:r>
            <a:r>
              <a:rPr lang="en-US" altLang="zh-TW" sz="2400" dirty="0" smtClean="0">
                <a:sym typeface="Symbol" pitchFamily="18" charset="2"/>
              </a:rPr>
              <a:t>paging </a:t>
            </a:r>
            <a:r>
              <a:rPr lang="en-US" altLang="zh-TW" sz="2400" dirty="0">
                <a:sym typeface="Symbol" pitchFamily="18" charset="2"/>
              </a:rPr>
              <a:t>in and </a:t>
            </a:r>
            <a:r>
              <a:rPr lang="en-US" altLang="zh-TW" sz="2400" dirty="0" smtClean="0">
                <a:sym typeface="Symbol" pitchFamily="18" charset="2"/>
              </a:rPr>
              <a:t>paging out</a:t>
            </a:r>
            <a:endParaRPr lang="en-US" altLang="zh-TW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 l="417" t="12083" r="856" b="12083"/>
          <a:stretch>
            <a:fillRect/>
          </a:stretch>
        </p:blipFill>
        <p:spPr bwMode="auto">
          <a:xfrm>
            <a:off x="2279650" y="2636912"/>
            <a:ext cx="7640638" cy="403217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70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Locality of References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/>
              <a:t>Why does paging work? </a:t>
            </a:r>
            <a:r>
              <a:rPr lang="en-US" altLang="zh-TW" sz="2800" b="1" dirty="0">
                <a:solidFill>
                  <a:srgbClr val="FF3300"/>
                </a:solidFill>
              </a:rPr>
              <a:t>Locality Model</a:t>
            </a:r>
          </a:p>
          <a:p>
            <a:pPr lvl="1" eaLnBrk="1" hangingPunct="1"/>
            <a:r>
              <a:rPr lang="en-US" altLang="zh-TW" sz="2400" dirty="0"/>
              <a:t>A </a:t>
            </a:r>
            <a:r>
              <a:rPr lang="en-US" altLang="zh-TW" sz="2400" b="1" dirty="0"/>
              <a:t>locality</a:t>
            </a:r>
            <a:r>
              <a:rPr lang="en-US" altLang="zh-TW" sz="2400" dirty="0"/>
              <a:t>: a set of pages that are actively used </a:t>
            </a:r>
          </a:p>
          <a:p>
            <a:pPr lvl="2" eaLnBrk="1" hangingPunct="1"/>
            <a:r>
              <a:rPr lang="en-US" altLang="zh-TW" sz="2000" dirty="0"/>
              <a:t>Program structure (subroutine, loop, stack)</a:t>
            </a:r>
          </a:p>
          <a:p>
            <a:pPr lvl="2" eaLnBrk="1" hangingPunct="1"/>
            <a:r>
              <a:rPr lang="en-US" altLang="zh-TW" sz="2000" dirty="0"/>
              <a:t>Data structure (array, table)</a:t>
            </a:r>
          </a:p>
          <a:p>
            <a:pPr lvl="2" eaLnBrk="1" hangingPunct="1"/>
            <a:r>
              <a:rPr lang="en-US" altLang="zh-TW" sz="2000" dirty="0"/>
              <a:t>See the next slide</a:t>
            </a:r>
          </a:p>
          <a:p>
            <a:pPr lvl="1" eaLnBrk="1" hangingPunct="1"/>
            <a:r>
              <a:rPr lang="en-US" altLang="zh-TW" sz="2400" dirty="0"/>
              <a:t>As a process executes, it moves from one locality to another</a:t>
            </a:r>
          </a:p>
          <a:p>
            <a:pPr lvl="2" eaLnBrk="1" hangingPunct="1"/>
            <a:r>
              <a:rPr lang="en-US" altLang="zh-TW" sz="2000" dirty="0"/>
              <a:t>EX: When a function is called, it defines a new locality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/>
              <a:t>Thus, if we can allocate enough frames to include the </a:t>
            </a:r>
            <a:r>
              <a:rPr lang="en-US" altLang="zh-TW" sz="2800" dirty="0">
                <a:solidFill>
                  <a:srgbClr val="FF3300"/>
                </a:solidFill>
              </a:rPr>
              <a:t>current localities</a:t>
            </a:r>
            <a:r>
              <a:rPr lang="en-US" altLang="zh-TW" sz="2800" dirty="0"/>
              <a:t> of all processes </a:t>
            </a:r>
            <a:r>
              <a:rPr lang="en-US" altLang="zh-TW" sz="2800" dirty="0">
                <a:sym typeface="Symbol" pitchFamily="18" charset="2"/>
              </a:rPr>
              <a:t></a:t>
            </a:r>
            <a:r>
              <a:rPr lang="en-US" altLang="zh-TW" sz="2800" dirty="0"/>
              <a:t> no thrashing</a:t>
            </a:r>
          </a:p>
        </p:txBody>
      </p:sp>
    </p:spTree>
    <p:extLst>
      <p:ext uri="{BB962C8B-B14F-4D97-AF65-F5344CB8AC3E}">
        <p14:creationId xmlns:p14="http://schemas.microsoft.com/office/powerpoint/2010/main" val="318275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Locality of References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Example: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altLang="zh-TW" sz="2400" b="1" dirty="0">
              <a:latin typeface="Courier New" pitchFamily="49" charset="0"/>
            </a:endParaRP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altLang="zh-TW" sz="2400" b="1" dirty="0">
              <a:latin typeface="Courier New" pitchFamily="49" charset="0"/>
            </a:endParaRP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TW" sz="2400" b="1" dirty="0" err="1">
                <a:latin typeface="Courier New" pitchFamily="49" charset="0"/>
              </a:rPr>
              <a:t>int</a:t>
            </a:r>
            <a:r>
              <a:rPr lang="en-US" altLang="zh-TW" sz="2400" b="1" dirty="0">
                <a:latin typeface="Courier New" pitchFamily="49" charset="0"/>
              </a:rPr>
              <a:t>[128,128] data; 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2400" b="1" dirty="0"/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TW" sz="2400" b="1" dirty="0">
                <a:latin typeface="Courier New" pitchFamily="49" charset="0"/>
              </a:rPr>
              <a:t>for (j = 0; j &lt;128; j++)</a:t>
            </a:r>
            <a:br>
              <a:rPr lang="en-US" altLang="zh-TW" sz="2400" b="1" dirty="0">
                <a:latin typeface="Courier New" pitchFamily="49" charset="0"/>
              </a:rPr>
            </a:br>
            <a:r>
              <a:rPr lang="en-US" altLang="zh-TW" sz="2400" b="1" dirty="0">
                <a:latin typeface="Courier New" pitchFamily="49" charset="0"/>
              </a:rPr>
              <a:t>     for (</a:t>
            </a:r>
            <a:r>
              <a:rPr lang="en-US" altLang="zh-TW" sz="2400" b="1" dirty="0" err="1">
                <a:latin typeface="Courier New" pitchFamily="49" charset="0"/>
              </a:rPr>
              <a:t>i</a:t>
            </a:r>
            <a:r>
              <a:rPr lang="en-US" altLang="zh-TW" sz="2400" b="1" dirty="0">
                <a:latin typeface="Courier New" pitchFamily="49" charset="0"/>
              </a:rPr>
              <a:t> = 0; </a:t>
            </a:r>
            <a:r>
              <a:rPr lang="en-US" altLang="zh-TW" sz="2400" b="1" dirty="0" err="1">
                <a:latin typeface="Courier New" pitchFamily="49" charset="0"/>
              </a:rPr>
              <a:t>i</a:t>
            </a:r>
            <a:r>
              <a:rPr lang="en-US" altLang="zh-TW" sz="2400" b="1" dirty="0">
                <a:latin typeface="Courier New" pitchFamily="49" charset="0"/>
              </a:rPr>
              <a:t> &lt; 128; </a:t>
            </a:r>
            <a:r>
              <a:rPr lang="en-US" altLang="zh-TW" sz="2400" b="1" dirty="0" err="1">
                <a:latin typeface="Courier New" pitchFamily="49" charset="0"/>
              </a:rPr>
              <a:t>i</a:t>
            </a:r>
            <a:r>
              <a:rPr lang="en-US" altLang="zh-TW" sz="2400" b="1" dirty="0">
                <a:latin typeface="Courier New" pitchFamily="49" charset="0"/>
              </a:rPr>
              <a:t>++)</a:t>
            </a:r>
            <a:br>
              <a:rPr lang="en-US" altLang="zh-TW" sz="2400" b="1" dirty="0">
                <a:latin typeface="Courier New" pitchFamily="49" charset="0"/>
              </a:rPr>
            </a:br>
            <a:r>
              <a:rPr lang="en-US" altLang="zh-TW" sz="2400" b="1" dirty="0">
                <a:latin typeface="Courier New" pitchFamily="49" charset="0"/>
              </a:rPr>
              <a:t>        data[</a:t>
            </a:r>
            <a:r>
              <a:rPr lang="en-US" altLang="zh-TW" sz="2400" b="1" dirty="0" err="1">
                <a:latin typeface="Courier New" pitchFamily="49" charset="0"/>
              </a:rPr>
              <a:t>i,j</a:t>
            </a:r>
            <a:r>
              <a:rPr lang="en-US" altLang="zh-TW" sz="2400" b="1" dirty="0">
                <a:latin typeface="Courier New" pitchFamily="49" charset="0"/>
              </a:rPr>
              <a:t>] = 0;</a:t>
            </a:r>
            <a:br>
              <a:rPr lang="en-US" altLang="zh-TW" sz="2400" b="1" dirty="0">
                <a:latin typeface="Courier New" pitchFamily="49" charset="0"/>
              </a:rPr>
            </a:br>
            <a:endParaRPr lang="en-US" altLang="zh-TW" sz="2400" b="1" dirty="0">
              <a:latin typeface="Courier New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/>
              <a:t>    	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l="34624" t="613" r="34842" b="613"/>
          <a:stretch>
            <a:fillRect/>
          </a:stretch>
        </p:blipFill>
        <p:spPr bwMode="auto">
          <a:xfrm>
            <a:off x="7536160" y="1263018"/>
            <a:ext cx="3816423" cy="496855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8112224" y="5733256"/>
            <a:ext cx="3240360" cy="1440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8112224" y="1556792"/>
            <a:ext cx="3240360" cy="1440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 flipV="1">
            <a:off x="4655840" y="1700808"/>
            <a:ext cx="3456383" cy="1152128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6384031" y="4221088"/>
            <a:ext cx="1656185" cy="1584176"/>
          </a:xfrm>
          <a:prstGeom prst="straightConnector1">
            <a:avLst/>
          </a:prstGeom>
          <a:ln w="762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35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Locality in a Memory-Reference Pattern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4" y="1258888"/>
            <a:ext cx="9721080" cy="4690392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2639616" y="6093296"/>
            <a:ext cx="65896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At t=(a), locality={18, 19, 20, 21, 22, 23, 24, 29, 30, 33}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At t=(b), locality={18, 19, 20, 24, 25, 26, 27, 28, 29, 31, 32, 33}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64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如何知道要分配多少的記憶體空間給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以避免</a:t>
            </a:r>
            <a:r>
              <a:rPr lang="en-US" altLang="zh-TW" dirty="0" smtClean="0"/>
              <a:t>thrashing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13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Thrashing (Cont.)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To prevent thrashing, </a:t>
            </a:r>
          </a:p>
          <a:p>
            <a:pPr lvl="1" eaLnBrk="1" hangingPunct="1"/>
            <a:r>
              <a:rPr lang="en-US" altLang="zh-TW" sz="3200" b="1" dirty="0" smtClean="0">
                <a:solidFill>
                  <a:srgbClr val="FF3300"/>
                </a:solidFill>
              </a:rPr>
              <a:t>Working-set model</a:t>
            </a:r>
            <a:endParaRPr lang="en-US" altLang="zh-TW" sz="3200" b="1" dirty="0" smtClean="0"/>
          </a:p>
          <a:p>
            <a:pPr lvl="1" eaLnBrk="1" hangingPunct="1"/>
            <a:endParaRPr lang="en-US" altLang="zh-TW" sz="3200" dirty="0" smtClean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3200" b="1" dirty="0" smtClean="0">
                <a:solidFill>
                  <a:srgbClr val="FF3300"/>
                </a:solidFill>
              </a:rPr>
              <a:t>Page-fault frequency</a:t>
            </a:r>
          </a:p>
        </p:txBody>
      </p:sp>
    </p:spTree>
    <p:extLst>
      <p:ext uri="{BB962C8B-B14F-4D97-AF65-F5344CB8AC3E}">
        <p14:creationId xmlns:p14="http://schemas.microsoft.com/office/powerpoint/2010/main" val="216317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Thrashing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Cause of Thrashing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Working-Set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Page-Fault Frequency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36638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Working-Set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Based on the assumption of locality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Working-set </a:t>
            </a:r>
            <a:r>
              <a:rPr lang="en-US" altLang="zh-TW" dirty="0"/>
              <a:t>model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Working-set </a:t>
            </a:r>
            <a:r>
              <a:rPr lang="en-US" altLang="zh-TW" b="1" dirty="0">
                <a:solidFill>
                  <a:srgbClr val="FF0000"/>
                </a:solidFill>
              </a:rPr>
              <a:t>window</a:t>
            </a:r>
            <a:r>
              <a:rPr lang="en-US" altLang="zh-TW" dirty="0"/>
              <a:t>: a parameter </a:t>
            </a:r>
            <a:r>
              <a:rPr lang="en-US" altLang="zh-TW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</a:t>
            </a:r>
            <a:r>
              <a:rPr lang="en-US" altLang="zh-TW" dirty="0" smtClean="0"/>
              <a:t> </a:t>
            </a:r>
            <a:r>
              <a:rPr lang="en-US" altLang="zh-TW" dirty="0"/>
              <a:t>(delta)</a:t>
            </a:r>
          </a:p>
          <a:p>
            <a:pPr lvl="2"/>
            <a:r>
              <a:rPr lang="en-US" altLang="zh-TW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 =</a:t>
            </a:r>
            <a:r>
              <a:rPr lang="en-US" altLang="zh-TW" dirty="0" smtClean="0"/>
              <a:t> </a:t>
            </a:r>
            <a:r>
              <a:rPr lang="en-US" altLang="zh-TW" dirty="0"/>
              <a:t>a fixed number of page </a:t>
            </a:r>
            <a:r>
              <a:rPr lang="en-US" altLang="zh-TW" dirty="0" smtClean="0"/>
              <a:t>references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Working </a:t>
            </a:r>
            <a:r>
              <a:rPr lang="en-US" altLang="zh-TW" b="1" dirty="0">
                <a:solidFill>
                  <a:srgbClr val="FF0000"/>
                </a:solidFill>
              </a:rPr>
              <a:t>set</a:t>
            </a:r>
            <a:r>
              <a:rPr lang="en-US" altLang="zh-TW" dirty="0"/>
              <a:t>: </a:t>
            </a:r>
            <a:r>
              <a:rPr lang="en-US" altLang="zh-TW" dirty="0" smtClean="0"/>
              <a:t>set </a:t>
            </a:r>
            <a:r>
              <a:rPr lang="en-US" altLang="zh-TW" dirty="0"/>
              <a:t>of pages in most recent </a:t>
            </a:r>
            <a:r>
              <a:rPr lang="en-US" altLang="zh-TW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</a:t>
            </a:r>
            <a:r>
              <a:rPr lang="en-US" altLang="zh-TW" dirty="0" smtClean="0"/>
              <a:t>  page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>
                <a:solidFill>
                  <a:srgbClr val="FF3300"/>
                </a:solidFill>
                <a:sym typeface="Symbol" pitchFamily="18" charset="2"/>
              </a:rPr>
              <a:t>Allocate at least </a:t>
            </a:r>
            <a:r>
              <a:rPr lang="en-US" altLang="zh-TW" i="1" dirty="0" err="1">
                <a:solidFill>
                  <a:srgbClr val="FF3300"/>
                </a:solidFill>
                <a:sym typeface="Symbol" pitchFamily="18" charset="2"/>
              </a:rPr>
              <a:t>WSSi</a:t>
            </a:r>
            <a:r>
              <a:rPr lang="en-US" altLang="zh-TW" i="1" dirty="0">
                <a:solidFill>
                  <a:srgbClr val="FF33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FF3300"/>
                </a:solidFill>
                <a:sym typeface="Symbol" pitchFamily="18" charset="2"/>
              </a:rPr>
              <a:t>pages for </a:t>
            </a:r>
            <a:r>
              <a:rPr lang="en-US" altLang="zh-TW" i="1" dirty="0">
                <a:solidFill>
                  <a:srgbClr val="FF3300"/>
                </a:solidFill>
                <a:sym typeface="Symbol" pitchFamily="18" charset="2"/>
              </a:rPr>
              <a:t>Pi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809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Working-Set Model</a:t>
            </a:r>
          </a:p>
        </p:txBody>
      </p:sp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2" cstate="print"/>
          <a:srcRect l="452" t="34947" r="688" b="35550"/>
          <a:stretch>
            <a:fillRect/>
          </a:stretch>
        </p:blipFill>
        <p:spPr bwMode="auto">
          <a:xfrm>
            <a:off x="1127448" y="1844675"/>
            <a:ext cx="9937104" cy="324008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4265769" y="5084763"/>
            <a:ext cx="374301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Working-set window </a:t>
            </a:r>
            <a:r>
              <a:rPr lang="en-US" altLang="zh-TW" sz="2400" b="1" dirty="0">
                <a:latin typeface="Calibri" panose="020F0502020204030204" pitchFamily="34" charset="0"/>
                <a:sym typeface="Symbol" pitchFamily="18" charset="2"/>
              </a:rPr>
              <a:t></a:t>
            </a:r>
            <a:r>
              <a:rPr lang="en-US" altLang="zh-TW" sz="4000" dirty="0">
                <a:latin typeface="Calibri" panose="020F0502020204030204" pitchFamily="34" charset="0"/>
              </a:rPr>
              <a:t> </a:t>
            </a:r>
            <a:r>
              <a:rPr lang="en-US" altLang="zh-TW" sz="2400" b="1" dirty="0">
                <a:latin typeface="Calibri" panose="020F0502020204030204" pitchFamily="34" charset="0"/>
              </a:rPr>
              <a:t>= 10</a:t>
            </a:r>
          </a:p>
        </p:txBody>
      </p:sp>
    </p:spTree>
    <p:extLst>
      <p:ext uri="{BB962C8B-B14F-4D97-AF65-F5344CB8AC3E}">
        <p14:creationId xmlns:p14="http://schemas.microsoft.com/office/powerpoint/2010/main" val="398741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如何紀錄</a:t>
            </a:r>
            <a:r>
              <a:rPr lang="en-US" altLang="zh-TW" dirty="0" smtClean="0"/>
              <a:t>working </a:t>
            </a:r>
            <a:r>
              <a:rPr lang="en-US" altLang="zh-TW" dirty="0"/>
              <a:t>set?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785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Working-Set Model (Cont.)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 smtClean="0">
                <a:sym typeface="Symbol" pitchFamily="18" charset="2"/>
              </a:rPr>
              <a:t>But</a:t>
            </a:r>
            <a:r>
              <a:rPr lang="en-US" altLang="zh-TW" sz="2800" dirty="0">
                <a:sym typeface="Symbol" pitchFamily="18" charset="2"/>
              </a:rPr>
              <a:t>: tracking the WSS </a:t>
            </a:r>
            <a:r>
              <a:rPr lang="en-US" altLang="zh-TW" sz="2800" i="1" dirty="0">
                <a:solidFill>
                  <a:srgbClr val="FF3300"/>
                </a:solidFill>
                <a:sym typeface="Symbol" pitchFamily="18" charset="2"/>
              </a:rPr>
              <a:t>at each memory reference</a:t>
            </a:r>
            <a:r>
              <a:rPr lang="en-US" altLang="zh-TW" sz="2800" dirty="0">
                <a:sym typeface="Symbol" pitchFamily="18" charset="2"/>
              </a:rPr>
              <a:t> </a:t>
            </a:r>
            <a:r>
              <a:rPr lang="en-US" altLang="zh-TW" sz="2800" dirty="0" smtClean="0">
                <a:sym typeface="Symbol" pitchFamily="18" charset="2"/>
              </a:rPr>
              <a:t>is not easy. </a:t>
            </a:r>
            <a:r>
              <a:rPr lang="en-US" altLang="zh-TW" sz="2800" b="1" dirty="0">
                <a:solidFill>
                  <a:srgbClr val="FF0000"/>
                </a:solidFill>
                <a:sym typeface="Symbol" pitchFamily="18" charset="2"/>
              </a:rPr>
              <a:t>Why?</a:t>
            </a:r>
            <a:r>
              <a:rPr lang="en-US" altLang="zh-TW" sz="2800" dirty="0">
                <a:sym typeface="Symbol" pitchFamily="18" charset="2"/>
              </a:rPr>
              <a:t> </a:t>
            </a:r>
            <a:endParaRPr lang="en-US" altLang="zh-TW" sz="2800" dirty="0" smtClean="0">
              <a:sym typeface="Symbol" pitchFamily="18" charset="2"/>
            </a:endParaRPr>
          </a:p>
          <a:p>
            <a:pPr lvl="1" eaLnBrk="1" hangingPunct="1"/>
            <a:r>
              <a:rPr lang="en-US" altLang="zh-TW" sz="2400" dirty="0" smtClean="0">
                <a:sym typeface="Symbol" pitchFamily="18" charset="2"/>
              </a:rPr>
              <a:t>See the following slide</a:t>
            </a:r>
          </a:p>
          <a:p>
            <a:pPr marL="0" indent="0" eaLnBrk="1" hangingPunct="1">
              <a:buNone/>
            </a:pPr>
            <a:r>
              <a:rPr lang="en-US" altLang="zh-TW" sz="2800" dirty="0" smtClean="0">
                <a:sym typeface="Symbol" pitchFamily="18" charset="2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415527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如果由</a:t>
            </a:r>
            <a:r>
              <a:rPr lang="en-US" altLang="zh-TW" dirty="0" smtClean="0"/>
              <a:t>OS</a:t>
            </a:r>
            <a:r>
              <a:rPr lang="zh-TW" altLang="en-US" dirty="0" smtClean="0"/>
              <a:t>紀錄</a:t>
            </a:r>
            <a:r>
              <a:rPr lang="en-US" altLang="zh-TW" dirty="0" smtClean="0"/>
              <a:t>WSS?</a:t>
            </a:r>
            <a:endParaRPr lang="en-US" altLang="zh-TW" dirty="0"/>
          </a:p>
        </p:txBody>
      </p:sp>
      <p:grpSp>
        <p:nvGrpSpPr>
          <p:cNvPr id="16" name="群組 15"/>
          <p:cNvGrpSpPr/>
          <p:nvPr/>
        </p:nvGrpSpPr>
        <p:grpSpPr>
          <a:xfrm>
            <a:off x="2566989" y="1484314"/>
            <a:ext cx="6005511" cy="4956174"/>
            <a:chOff x="2566989" y="1484314"/>
            <a:chExt cx="6005511" cy="4956174"/>
          </a:xfrm>
        </p:grpSpPr>
        <p:sp>
          <p:nvSpPr>
            <p:cNvPr id="282627" name="Rectangle 4"/>
            <p:cNvSpPr>
              <a:spLocks noChangeArrowheads="1"/>
            </p:cNvSpPr>
            <p:nvPr/>
          </p:nvSpPr>
          <p:spPr bwMode="auto">
            <a:xfrm>
              <a:off x="6307138" y="1484314"/>
              <a:ext cx="2265362" cy="1235075"/>
            </a:xfrm>
            <a:prstGeom prst="rect">
              <a:avLst/>
            </a:prstGeom>
            <a:solidFill>
              <a:srgbClr val="99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out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, 0x60; </a:t>
              </a:r>
              <a:endPara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dirty="0" smtClean="0">
                  <a:solidFill>
                    <a:srgbClr val="FF3300"/>
                  </a:solidFill>
                  <a:ea typeface="新細明體" panose="02020500000000000000" pitchFamily="18" charset="-120"/>
                </a:rPr>
                <a:t>…</a:t>
              </a:r>
              <a:endPara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add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,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ebx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</a:p>
          </p:txBody>
        </p:sp>
        <p:sp>
          <p:nvSpPr>
            <p:cNvPr id="282628" name="Rectangle 4"/>
            <p:cNvSpPr>
              <a:spLocks noChangeArrowheads="1"/>
            </p:cNvSpPr>
            <p:nvPr/>
          </p:nvSpPr>
          <p:spPr bwMode="auto">
            <a:xfrm>
              <a:off x="6311900" y="4928225"/>
              <a:ext cx="2260600" cy="1512263"/>
            </a:xfrm>
            <a:prstGeom prst="rect">
              <a:avLst/>
            </a:prstGeom>
            <a:solidFill>
              <a:srgbClr val="CCFF33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OS</a:t>
              </a:r>
            </a:p>
          </p:txBody>
        </p:sp>
        <p:sp>
          <p:nvSpPr>
            <p:cNvPr id="282629" name="Rectangle 4"/>
            <p:cNvSpPr>
              <a:spLocks noChangeArrowheads="1"/>
            </p:cNvSpPr>
            <p:nvPr/>
          </p:nvSpPr>
          <p:spPr bwMode="auto">
            <a:xfrm>
              <a:off x="6311900" y="2719388"/>
              <a:ext cx="2260600" cy="2208837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…..</a:t>
              </a:r>
            </a:p>
          </p:txBody>
        </p:sp>
        <p:sp>
          <p:nvSpPr>
            <p:cNvPr id="282630" name="Rectangle 6"/>
            <p:cNvSpPr>
              <a:spLocks noChangeArrowheads="1"/>
            </p:cNvSpPr>
            <p:nvPr/>
          </p:nvSpPr>
          <p:spPr bwMode="auto">
            <a:xfrm>
              <a:off x="2566989" y="2189163"/>
              <a:ext cx="1870075" cy="1274762"/>
            </a:xfrm>
            <a:prstGeom prst="rect">
              <a:avLst/>
            </a:prstGeom>
            <a:solidFill>
              <a:srgbClr val="5B9BD5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CPU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9" name="直線單箭頭接點 8"/>
            <p:cNvCxnSpPr>
              <a:endCxn id="282630" idx="3"/>
            </p:cNvCxnSpPr>
            <p:nvPr/>
          </p:nvCxnSpPr>
          <p:spPr>
            <a:xfrm flipH="1">
              <a:off x="4437064" y="1916832"/>
              <a:ext cx="1870074" cy="909712"/>
            </a:xfrm>
            <a:prstGeom prst="straightConnector1">
              <a:avLst/>
            </a:prstGeom>
            <a:ln w="762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>
            <a:xfrm flipH="1">
              <a:off x="4475712" y="2447280"/>
              <a:ext cx="1772963" cy="837704"/>
            </a:xfrm>
            <a:prstGeom prst="straightConnector1">
              <a:avLst/>
            </a:prstGeom>
            <a:ln w="762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641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zh-TW" altLang="en-US" dirty="0" smtClean="0"/>
              <a:t>逼近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 smtClean="0"/>
              <a:t>Q: </a:t>
            </a:r>
            <a:r>
              <a:rPr lang="zh-TW" altLang="en-US" b="1" dirty="0" smtClean="0"/>
              <a:t>如何逼近呢</a:t>
            </a:r>
            <a:r>
              <a:rPr lang="en-US" altLang="zh-TW" b="1" dirty="0" smtClean="0"/>
              <a:t>?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07655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Approximate </a:t>
            </a:r>
            <a:r>
              <a:rPr lang="en-US" altLang="zh-TW" dirty="0" smtClean="0"/>
              <a:t>W</a:t>
            </a:r>
            <a:r>
              <a:rPr lang="en-US" altLang="en-US" dirty="0" smtClean="0"/>
              <a:t>orking </a:t>
            </a:r>
            <a:r>
              <a:rPr lang="en-US" altLang="zh-TW" dirty="0" smtClean="0"/>
              <a:t>S</a:t>
            </a:r>
            <a:r>
              <a:rPr lang="en-US" altLang="en-US" dirty="0" smtClean="0"/>
              <a:t>et </a:t>
            </a:r>
            <a:endParaRPr lang="en-US" altLang="zh-TW" dirty="0" smtClean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Approximate with </a:t>
            </a:r>
            <a:r>
              <a:rPr lang="en-US" altLang="zh-TW" sz="2800" b="1" dirty="0">
                <a:solidFill>
                  <a:srgbClr val="FF3300"/>
                </a:solidFill>
              </a:rPr>
              <a:t>interval timer</a:t>
            </a:r>
            <a:r>
              <a:rPr lang="en-US" altLang="zh-TW" sz="2800" dirty="0"/>
              <a:t> + </a:t>
            </a:r>
            <a:r>
              <a:rPr lang="en-US" altLang="zh-TW" sz="2800" b="1" dirty="0">
                <a:solidFill>
                  <a:srgbClr val="FF3300"/>
                </a:solidFill>
              </a:rPr>
              <a:t>a</a:t>
            </a:r>
            <a:r>
              <a:rPr lang="en-US" altLang="zh-TW" sz="2800" dirty="0">
                <a:solidFill>
                  <a:srgbClr val="FF3300"/>
                </a:solidFill>
              </a:rPr>
              <a:t> </a:t>
            </a:r>
            <a:r>
              <a:rPr lang="en-US" altLang="zh-TW" sz="2800" b="1" dirty="0">
                <a:solidFill>
                  <a:srgbClr val="FF3300"/>
                </a:solidFill>
              </a:rPr>
              <a:t>reference bit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b="1" dirty="0"/>
              <a:t>Reference bit</a:t>
            </a:r>
            <a:r>
              <a:rPr lang="en-US" altLang="zh-TW" sz="2400" dirty="0"/>
              <a:t> is introduced </a:t>
            </a:r>
            <a:r>
              <a:rPr lang="en-US" altLang="zh-TW" sz="2400" dirty="0" smtClean="0"/>
              <a:t>before</a:t>
            </a:r>
            <a:endParaRPr lang="en-US" altLang="zh-TW" sz="2400" dirty="0"/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Example (skip!):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See the next two slides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Assume </a:t>
            </a:r>
            <a:r>
              <a:rPr lang="en-US" altLang="zh-TW" sz="2400" dirty="0">
                <a:sym typeface="Symbol" pitchFamily="18" charset="2"/>
              </a:rPr>
              <a:t> = 10,000 references and timer interrupts every 5000 time units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>
                <a:sym typeface="Symbol" pitchFamily="18" charset="2"/>
              </a:rPr>
              <a:t>Keep in memory 2 bits for each page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>
                <a:sym typeface="Symbol" pitchFamily="18" charset="2"/>
              </a:rPr>
              <a:t>Whenever a timer interrupts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>
                <a:sym typeface="Symbol" pitchFamily="18" charset="2"/>
              </a:rPr>
              <a:t>Copy the reference bits to the in memory bits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>
                <a:sym typeface="Symbol" pitchFamily="18" charset="2"/>
              </a:rPr>
              <a:t>Set the values of all reference bits to 0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In case of </a:t>
            </a:r>
            <a:r>
              <a:rPr lang="en-US" altLang="zh-TW" sz="2400" b="1" dirty="0"/>
              <a:t>page fault</a:t>
            </a:r>
            <a:r>
              <a:rPr lang="en-US" altLang="zh-TW" sz="2400" dirty="0"/>
              <a:t>, </a:t>
            </a:r>
            <a:r>
              <a:rPr lang="en-US" altLang="zh-TW" sz="2400" dirty="0">
                <a:solidFill>
                  <a:srgbClr val="FF0000"/>
                </a:solidFill>
              </a:rPr>
              <a:t>examine </a:t>
            </a:r>
            <a:r>
              <a:rPr lang="en-US" altLang="zh-TW" sz="2400" b="1" dirty="0">
                <a:solidFill>
                  <a:srgbClr val="FF0000"/>
                </a:solidFill>
              </a:rPr>
              <a:t>reference bit</a:t>
            </a:r>
            <a:r>
              <a:rPr lang="en-US" altLang="zh-TW" sz="2400" dirty="0">
                <a:solidFill>
                  <a:srgbClr val="FF0000"/>
                </a:solidFill>
              </a:rPr>
              <a:t> + </a:t>
            </a:r>
            <a:r>
              <a:rPr lang="en-US" altLang="zh-TW" sz="2400" b="1" dirty="0">
                <a:solidFill>
                  <a:srgbClr val="FF0000"/>
                </a:solidFill>
              </a:rPr>
              <a:t>2 in-memory bits</a:t>
            </a:r>
            <a:endParaRPr lang="en-US" altLang="zh-TW" sz="2400" dirty="0">
              <a:solidFill>
                <a:srgbClr val="FF0000"/>
              </a:solidFill>
              <a:sym typeface="Symbol" pitchFamily="18" charset="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>
                <a:solidFill>
                  <a:srgbClr val="FF0000"/>
                </a:solidFill>
                <a:sym typeface="Symbol" pitchFamily="18" charset="2"/>
              </a:rPr>
              <a:t>If one of the three bits = 1  this page is in working set</a:t>
            </a:r>
          </a:p>
        </p:txBody>
      </p:sp>
    </p:spTree>
    <p:extLst>
      <p:ext uri="{BB962C8B-B14F-4D97-AF65-F5344CB8AC3E}">
        <p14:creationId xmlns:p14="http://schemas.microsoft.com/office/powerpoint/2010/main" val="50507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Example</a:t>
            </a:r>
          </a:p>
        </p:txBody>
      </p:sp>
      <p:sp>
        <p:nvSpPr>
          <p:cNvPr id="93188" name="Text Box 6"/>
          <p:cNvSpPr txBox="1">
            <a:spLocks noChangeArrowheads="1"/>
          </p:cNvSpPr>
          <p:nvPr/>
        </p:nvSpPr>
        <p:spPr bwMode="auto">
          <a:xfrm>
            <a:off x="2559051" y="1773238"/>
            <a:ext cx="40417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Calibri" panose="020F0502020204030204" pitchFamily="34" charset="0"/>
              </a:rPr>
              <a:t>time    0    ~        5,000    ~    10,000~ </a:t>
            </a:r>
          </a:p>
        </p:txBody>
      </p:sp>
      <p:grpSp>
        <p:nvGrpSpPr>
          <p:cNvPr id="93189" name="Group 23"/>
          <p:cNvGrpSpPr>
            <a:grpSpLocks/>
          </p:cNvGrpSpPr>
          <p:nvPr/>
        </p:nvGrpSpPr>
        <p:grpSpPr bwMode="auto">
          <a:xfrm>
            <a:off x="3448050" y="2132014"/>
            <a:ext cx="4808538" cy="263525"/>
            <a:chOff x="1791" y="1706"/>
            <a:chExt cx="3029" cy="166"/>
          </a:xfrm>
        </p:grpSpPr>
        <p:sp>
          <p:nvSpPr>
            <p:cNvPr id="93217" name="Line 7"/>
            <p:cNvSpPr>
              <a:spLocks noChangeShapeType="1"/>
            </p:cNvSpPr>
            <p:nvPr/>
          </p:nvSpPr>
          <p:spPr bwMode="auto">
            <a:xfrm>
              <a:off x="1799" y="1761"/>
              <a:ext cx="30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93218" name="Line 8"/>
            <p:cNvSpPr>
              <a:spLocks noChangeShapeType="1"/>
            </p:cNvSpPr>
            <p:nvPr/>
          </p:nvSpPr>
          <p:spPr bwMode="auto">
            <a:xfrm flipH="1">
              <a:off x="2509" y="1716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93219" name="Line 9"/>
            <p:cNvSpPr>
              <a:spLocks noChangeShapeType="1"/>
            </p:cNvSpPr>
            <p:nvPr/>
          </p:nvSpPr>
          <p:spPr bwMode="auto">
            <a:xfrm flipH="1">
              <a:off x="3348" y="1712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93221" name="Line 11"/>
            <p:cNvSpPr>
              <a:spLocks noChangeShapeType="1"/>
            </p:cNvSpPr>
            <p:nvPr/>
          </p:nvSpPr>
          <p:spPr bwMode="auto">
            <a:xfrm flipH="1">
              <a:off x="1791" y="1706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</p:grpSp>
      <p:sp>
        <p:nvSpPr>
          <p:cNvPr id="93190" name="Line 18"/>
          <p:cNvSpPr>
            <a:spLocks noChangeShapeType="1"/>
          </p:cNvSpPr>
          <p:nvPr/>
        </p:nvSpPr>
        <p:spPr bwMode="auto">
          <a:xfrm flipH="1" flipV="1">
            <a:off x="3863975" y="5373688"/>
            <a:ext cx="719138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3191" name="Text Box 19"/>
          <p:cNvSpPr txBox="1">
            <a:spLocks noChangeArrowheads="1"/>
          </p:cNvSpPr>
          <p:nvPr/>
        </p:nvSpPr>
        <p:spPr bwMode="auto">
          <a:xfrm>
            <a:off x="2135188" y="5876925"/>
            <a:ext cx="6165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>
                <a:latin typeface="Calibri" panose="020F0502020204030204" pitchFamily="34" charset="0"/>
              </a:rPr>
              <a:t>in-memory two bits, copied from reference bit</a:t>
            </a:r>
          </a:p>
        </p:txBody>
      </p:sp>
      <p:sp>
        <p:nvSpPr>
          <p:cNvPr id="93192" name="Text Box 26"/>
          <p:cNvSpPr txBox="1">
            <a:spLocks noChangeArrowheads="1"/>
          </p:cNvSpPr>
          <p:nvPr/>
        </p:nvSpPr>
        <p:spPr bwMode="auto">
          <a:xfrm>
            <a:off x="2855914" y="3429000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i="1">
                <a:latin typeface="Calibri" panose="020F0502020204030204" pitchFamily="34" charset="0"/>
              </a:rPr>
              <a:t>p</a:t>
            </a:r>
            <a:r>
              <a:rPr lang="en-US" altLang="zh-TW" sz="2800" b="1" i="1" baseline="-25000">
                <a:latin typeface="Calibri" panose="020F0502020204030204" pitchFamily="34" charset="0"/>
              </a:rPr>
              <a:t>1</a:t>
            </a:r>
            <a:endParaRPr lang="en-US" altLang="zh-TW" sz="2800">
              <a:latin typeface="Calibri" panose="020F0502020204030204" pitchFamily="34" charset="0"/>
            </a:endParaRPr>
          </a:p>
        </p:txBody>
      </p:sp>
      <p:sp>
        <p:nvSpPr>
          <p:cNvPr id="93193" name="Text Box 27"/>
          <p:cNvSpPr txBox="1">
            <a:spLocks noChangeArrowheads="1"/>
          </p:cNvSpPr>
          <p:nvPr/>
        </p:nvSpPr>
        <p:spPr bwMode="auto">
          <a:xfrm>
            <a:off x="2855914" y="4005263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i="1">
                <a:latin typeface="Calibri" panose="020F0502020204030204" pitchFamily="34" charset="0"/>
              </a:rPr>
              <a:t>p</a:t>
            </a:r>
            <a:r>
              <a:rPr lang="en-US" altLang="zh-TW" sz="2800" b="1" i="1" baseline="-25000">
                <a:latin typeface="Calibri" panose="020F0502020204030204" pitchFamily="34" charset="0"/>
              </a:rPr>
              <a:t>2</a:t>
            </a:r>
            <a:endParaRPr lang="en-US" altLang="zh-TW" sz="2800" b="1" i="1">
              <a:latin typeface="Calibri" panose="020F0502020204030204" pitchFamily="34" charset="0"/>
            </a:endParaRPr>
          </a:p>
        </p:txBody>
      </p:sp>
      <p:sp>
        <p:nvSpPr>
          <p:cNvPr id="93194" name="Text Box 28"/>
          <p:cNvSpPr txBox="1">
            <a:spLocks noChangeArrowheads="1"/>
          </p:cNvSpPr>
          <p:nvPr/>
        </p:nvSpPr>
        <p:spPr bwMode="auto">
          <a:xfrm>
            <a:off x="2855914" y="4652964"/>
            <a:ext cx="4956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i="1">
                <a:latin typeface="Calibri" panose="020F0502020204030204" pitchFamily="34" charset="0"/>
              </a:rPr>
              <a:t>p</a:t>
            </a:r>
            <a:r>
              <a:rPr lang="en-US" altLang="zh-TW" sz="2800" b="1" i="1" baseline="-25000">
                <a:latin typeface="Calibri" panose="020F0502020204030204" pitchFamily="34" charset="0"/>
              </a:rPr>
              <a:t>3</a:t>
            </a:r>
          </a:p>
          <a:p>
            <a:r>
              <a:rPr lang="en-US" altLang="zh-TW" sz="2800" b="1" i="1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93195" name="Rectangle 29"/>
          <p:cNvSpPr>
            <a:spLocks noChangeArrowheads="1"/>
          </p:cNvSpPr>
          <p:nvPr/>
        </p:nvSpPr>
        <p:spPr bwMode="auto">
          <a:xfrm>
            <a:off x="3359150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8751" name="Rectangle 31"/>
          <p:cNvSpPr>
            <a:spLocks noChangeArrowheads="1"/>
          </p:cNvSpPr>
          <p:nvPr/>
        </p:nvSpPr>
        <p:spPr bwMode="auto">
          <a:xfrm>
            <a:off x="379253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3197" name="Rectangle 32"/>
          <p:cNvSpPr>
            <a:spLocks noChangeArrowheads="1"/>
          </p:cNvSpPr>
          <p:nvPr/>
        </p:nvSpPr>
        <p:spPr bwMode="auto">
          <a:xfrm>
            <a:off x="3359150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8753" name="Rectangle 33"/>
          <p:cNvSpPr>
            <a:spLocks noChangeArrowheads="1"/>
          </p:cNvSpPr>
          <p:nvPr/>
        </p:nvSpPr>
        <p:spPr bwMode="auto">
          <a:xfrm>
            <a:off x="3792538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3199" name="Rectangle 34"/>
          <p:cNvSpPr>
            <a:spLocks noChangeArrowheads="1"/>
          </p:cNvSpPr>
          <p:nvPr/>
        </p:nvSpPr>
        <p:spPr bwMode="auto">
          <a:xfrm>
            <a:off x="3359150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8755" name="Rectangle 35"/>
          <p:cNvSpPr>
            <a:spLocks noChangeArrowheads="1"/>
          </p:cNvSpPr>
          <p:nvPr/>
        </p:nvSpPr>
        <p:spPr bwMode="auto">
          <a:xfrm>
            <a:off x="379253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3719513" y="2349500"/>
            <a:ext cx="1758950" cy="831850"/>
            <a:chOff x="1383" y="1480"/>
            <a:chExt cx="1108" cy="524"/>
          </a:xfrm>
        </p:grpSpPr>
        <p:sp>
          <p:nvSpPr>
            <p:cNvPr id="93215" name="Line 37"/>
            <p:cNvSpPr>
              <a:spLocks noChangeShapeType="1"/>
            </p:cNvSpPr>
            <p:nvPr/>
          </p:nvSpPr>
          <p:spPr bwMode="auto">
            <a:xfrm>
              <a:off x="1927" y="1480"/>
              <a:ext cx="0" cy="22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93216" name="Text Box 38"/>
            <p:cNvSpPr txBox="1">
              <a:spLocks noChangeArrowheads="1"/>
            </p:cNvSpPr>
            <p:nvPr/>
          </p:nvSpPr>
          <p:spPr bwMode="auto">
            <a:xfrm>
              <a:off x="1383" y="1752"/>
              <a:ext cx="110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 i="1">
                  <a:latin typeface="Calibri" panose="020F0502020204030204" pitchFamily="34" charset="0"/>
                </a:rPr>
                <a:t>timer interrupt</a:t>
              </a:r>
            </a:p>
          </p:txBody>
        </p:sp>
      </p:grpSp>
      <p:sp>
        <p:nvSpPr>
          <p:cNvPr id="798781" name="Text Box 61"/>
          <p:cNvSpPr txBox="1">
            <a:spLocks noChangeArrowheads="1"/>
          </p:cNvSpPr>
          <p:nvPr/>
        </p:nvSpPr>
        <p:spPr bwMode="auto">
          <a:xfrm>
            <a:off x="8112126" y="4076700"/>
            <a:ext cx="1831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>
                <a:latin typeface="Calibri" panose="020F0502020204030204" pitchFamily="34" charset="0"/>
              </a:rPr>
              <a:t>reference bit</a:t>
            </a:r>
          </a:p>
        </p:txBody>
      </p:sp>
      <p:sp>
        <p:nvSpPr>
          <p:cNvPr id="798783" name="Rectangle 63"/>
          <p:cNvSpPr>
            <a:spLocks noChangeArrowheads="1"/>
          </p:cNvSpPr>
          <p:nvPr/>
        </p:nvSpPr>
        <p:spPr bwMode="auto">
          <a:xfrm>
            <a:off x="760888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98784" name="Rectangle 64"/>
          <p:cNvSpPr>
            <a:spLocks noChangeArrowheads="1"/>
          </p:cNvSpPr>
          <p:nvPr/>
        </p:nvSpPr>
        <p:spPr bwMode="auto">
          <a:xfrm>
            <a:off x="7608888" y="41497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8785" name="Rectangle 65"/>
          <p:cNvSpPr>
            <a:spLocks noChangeArrowheads="1"/>
          </p:cNvSpPr>
          <p:nvPr/>
        </p:nvSpPr>
        <p:spPr bwMode="auto">
          <a:xfrm>
            <a:off x="760888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5232400" y="4221161"/>
            <a:ext cx="1727200" cy="749299"/>
            <a:chOff x="2336" y="2659"/>
            <a:chExt cx="1088" cy="472"/>
          </a:xfrm>
        </p:grpSpPr>
        <p:sp>
          <p:nvSpPr>
            <p:cNvPr id="93213" name="AutoShape 66"/>
            <p:cNvSpPr>
              <a:spLocks noChangeArrowheads="1"/>
            </p:cNvSpPr>
            <p:nvPr/>
          </p:nvSpPr>
          <p:spPr bwMode="auto">
            <a:xfrm>
              <a:off x="2336" y="2659"/>
              <a:ext cx="1088" cy="226"/>
            </a:xfrm>
            <a:prstGeom prst="leftArrow">
              <a:avLst>
                <a:gd name="adj1" fmla="val 50000"/>
                <a:gd name="adj2" fmla="val 12035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93214" name="Text Box 67"/>
            <p:cNvSpPr txBox="1">
              <a:spLocks noChangeArrowheads="1"/>
            </p:cNvSpPr>
            <p:nvPr/>
          </p:nvSpPr>
          <p:spPr bwMode="auto">
            <a:xfrm>
              <a:off x="2744" y="2840"/>
              <a:ext cx="4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solidFill>
                    <a:srgbClr val="FF3300"/>
                  </a:solidFill>
                  <a:latin typeface="Calibri" panose="020F0502020204030204" pitchFamily="34" charset="0"/>
                </a:rPr>
                <a:t>copy</a:t>
              </a:r>
            </a:p>
          </p:txBody>
        </p:sp>
      </p:grpSp>
      <p:sp>
        <p:nvSpPr>
          <p:cNvPr id="798789" name="Rectangle 69"/>
          <p:cNvSpPr>
            <a:spLocks noChangeArrowheads="1"/>
          </p:cNvSpPr>
          <p:nvPr/>
        </p:nvSpPr>
        <p:spPr bwMode="auto">
          <a:xfrm>
            <a:off x="379253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98790" name="Rectangle 70"/>
          <p:cNvSpPr>
            <a:spLocks noChangeArrowheads="1"/>
          </p:cNvSpPr>
          <p:nvPr/>
        </p:nvSpPr>
        <p:spPr bwMode="auto">
          <a:xfrm>
            <a:off x="3792538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8791" name="Rectangle 71"/>
          <p:cNvSpPr>
            <a:spLocks noChangeArrowheads="1"/>
          </p:cNvSpPr>
          <p:nvPr/>
        </p:nvSpPr>
        <p:spPr bwMode="auto">
          <a:xfrm>
            <a:off x="379253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3210" name="Rectangle 75"/>
          <p:cNvSpPr>
            <a:spLocks noChangeArrowheads="1"/>
          </p:cNvSpPr>
          <p:nvPr/>
        </p:nvSpPr>
        <p:spPr bwMode="auto">
          <a:xfrm>
            <a:off x="760888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3211" name="Rectangle 76"/>
          <p:cNvSpPr>
            <a:spLocks noChangeArrowheads="1"/>
          </p:cNvSpPr>
          <p:nvPr/>
        </p:nvSpPr>
        <p:spPr bwMode="auto">
          <a:xfrm>
            <a:off x="7608888" y="41497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3212" name="Rectangle 77"/>
          <p:cNvSpPr>
            <a:spLocks noChangeArrowheads="1"/>
          </p:cNvSpPr>
          <p:nvPr/>
        </p:nvSpPr>
        <p:spPr bwMode="auto">
          <a:xfrm>
            <a:off x="760888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9738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798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798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7" dur="500"/>
                                        <p:tgtEl>
                                          <p:spTgt spid="79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1" grpId="0"/>
      <p:bldP spid="798783" grpId="0" animBg="1"/>
      <p:bldP spid="798784" grpId="0" animBg="1"/>
      <p:bldP spid="798785" grpId="0" animBg="1"/>
      <p:bldP spid="798789" grpId="0" build="allAtOnce" animBg="1"/>
      <p:bldP spid="798790" grpId="0" build="allAtOnce" animBg="1"/>
      <p:bldP spid="798791" grpId="0" build="allAtOnce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Example</a:t>
            </a:r>
          </a:p>
        </p:txBody>
      </p:sp>
      <p:sp>
        <p:nvSpPr>
          <p:cNvPr id="93188" name="Text Box 6"/>
          <p:cNvSpPr txBox="1">
            <a:spLocks noChangeArrowheads="1"/>
          </p:cNvSpPr>
          <p:nvPr/>
        </p:nvSpPr>
        <p:spPr bwMode="auto">
          <a:xfrm>
            <a:off x="2559051" y="1773238"/>
            <a:ext cx="40417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time    0    ~        5,000    ~    10,000~ </a:t>
            </a:r>
          </a:p>
        </p:txBody>
      </p:sp>
      <p:grpSp>
        <p:nvGrpSpPr>
          <p:cNvPr id="93189" name="Group 23"/>
          <p:cNvGrpSpPr>
            <a:grpSpLocks/>
          </p:cNvGrpSpPr>
          <p:nvPr/>
        </p:nvGrpSpPr>
        <p:grpSpPr bwMode="auto">
          <a:xfrm>
            <a:off x="3448050" y="2132014"/>
            <a:ext cx="4808538" cy="263525"/>
            <a:chOff x="1791" y="1706"/>
            <a:chExt cx="3029" cy="166"/>
          </a:xfrm>
        </p:grpSpPr>
        <p:sp>
          <p:nvSpPr>
            <p:cNvPr id="93217" name="Line 7"/>
            <p:cNvSpPr>
              <a:spLocks noChangeShapeType="1"/>
            </p:cNvSpPr>
            <p:nvPr/>
          </p:nvSpPr>
          <p:spPr bwMode="auto">
            <a:xfrm>
              <a:off x="1799" y="1761"/>
              <a:ext cx="30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93218" name="Line 8"/>
            <p:cNvSpPr>
              <a:spLocks noChangeShapeType="1"/>
            </p:cNvSpPr>
            <p:nvPr/>
          </p:nvSpPr>
          <p:spPr bwMode="auto">
            <a:xfrm flipH="1">
              <a:off x="2509" y="1716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93219" name="Line 9"/>
            <p:cNvSpPr>
              <a:spLocks noChangeShapeType="1"/>
            </p:cNvSpPr>
            <p:nvPr/>
          </p:nvSpPr>
          <p:spPr bwMode="auto">
            <a:xfrm flipH="1">
              <a:off x="3348" y="1712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93221" name="Line 11"/>
            <p:cNvSpPr>
              <a:spLocks noChangeShapeType="1"/>
            </p:cNvSpPr>
            <p:nvPr/>
          </p:nvSpPr>
          <p:spPr bwMode="auto">
            <a:xfrm flipH="1">
              <a:off x="1791" y="1706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</p:grpSp>
      <p:sp>
        <p:nvSpPr>
          <p:cNvPr id="93190" name="Line 18"/>
          <p:cNvSpPr>
            <a:spLocks noChangeShapeType="1"/>
          </p:cNvSpPr>
          <p:nvPr/>
        </p:nvSpPr>
        <p:spPr bwMode="auto">
          <a:xfrm flipH="1" flipV="1">
            <a:off x="3863975" y="5373688"/>
            <a:ext cx="719138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191" name="Text Box 19"/>
          <p:cNvSpPr txBox="1">
            <a:spLocks noChangeArrowheads="1"/>
          </p:cNvSpPr>
          <p:nvPr/>
        </p:nvSpPr>
        <p:spPr bwMode="auto">
          <a:xfrm>
            <a:off x="2135188" y="5876925"/>
            <a:ext cx="6165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in-memory two bits, copied from reference bit</a:t>
            </a:r>
          </a:p>
        </p:txBody>
      </p:sp>
      <p:sp>
        <p:nvSpPr>
          <p:cNvPr id="93192" name="Text Box 26"/>
          <p:cNvSpPr txBox="1">
            <a:spLocks noChangeArrowheads="1"/>
          </p:cNvSpPr>
          <p:nvPr/>
        </p:nvSpPr>
        <p:spPr bwMode="auto">
          <a:xfrm>
            <a:off x="2855914" y="3429000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</a:t>
            </a:r>
            <a:r>
              <a:rPr kumimoji="1" lang="en-US" altLang="zh-TW" sz="2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193" name="Text Box 27"/>
          <p:cNvSpPr txBox="1">
            <a:spLocks noChangeArrowheads="1"/>
          </p:cNvSpPr>
          <p:nvPr/>
        </p:nvSpPr>
        <p:spPr bwMode="auto">
          <a:xfrm>
            <a:off x="2855914" y="4005263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</a:t>
            </a:r>
            <a:r>
              <a:rPr kumimoji="1" lang="en-US" altLang="zh-TW" sz="2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194" name="Text Box 28"/>
          <p:cNvSpPr txBox="1">
            <a:spLocks noChangeArrowheads="1"/>
          </p:cNvSpPr>
          <p:nvPr/>
        </p:nvSpPr>
        <p:spPr bwMode="auto">
          <a:xfrm>
            <a:off x="2855914" y="4652964"/>
            <a:ext cx="4956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</a:t>
            </a:r>
            <a:r>
              <a:rPr kumimoji="1" lang="en-US" altLang="zh-TW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</a:p>
        </p:txBody>
      </p:sp>
      <p:sp>
        <p:nvSpPr>
          <p:cNvPr id="93195" name="Rectangle 29"/>
          <p:cNvSpPr>
            <a:spLocks noChangeArrowheads="1"/>
          </p:cNvSpPr>
          <p:nvPr/>
        </p:nvSpPr>
        <p:spPr bwMode="auto">
          <a:xfrm>
            <a:off x="3359150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98751" name="Rectangle 31"/>
          <p:cNvSpPr>
            <a:spLocks noChangeArrowheads="1"/>
          </p:cNvSpPr>
          <p:nvPr/>
        </p:nvSpPr>
        <p:spPr bwMode="auto">
          <a:xfrm>
            <a:off x="379253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93197" name="Rectangle 32"/>
          <p:cNvSpPr>
            <a:spLocks noChangeArrowheads="1"/>
          </p:cNvSpPr>
          <p:nvPr/>
        </p:nvSpPr>
        <p:spPr bwMode="auto">
          <a:xfrm>
            <a:off x="3359150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98753" name="Rectangle 33"/>
          <p:cNvSpPr>
            <a:spLocks noChangeArrowheads="1"/>
          </p:cNvSpPr>
          <p:nvPr/>
        </p:nvSpPr>
        <p:spPr bwMode="auto">
          <a:xfrm>
            <a:off x="3792538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93199" name="Rectangle 34"/>
          <p:cNvSpPr>
            <a:spLocks noChangeArrowheads="1"/>
          </p:cNvSpPr>
          <p:nvPr/>
        </p:nvSpPr>
        <p:spPr bwMode="auto">
          <a:xfrm>
            <a:off x="3359150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55" name="Rectangle 35"/>
          <p:cNvSpPr>
            <a:spLocks noChangeArrowheads="1"/>
          </p:cNvSpPr>
          <p:nvPr/>
        </p:nvSpPr>
        <p:spPr bwMode="auto">
          <a:xfrm>
            <a:off x="379253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81" name="Text Box 61"/>
          <p:cNvSpPr txBox="1">
            <a:spLocks noChangeArrowheads="1"/>
          </p:cNvSpPr>
          <p:nvPr/>
        </p:nvSpPr>
        <p:spPr bwMode="auto">
          <a:xfrm>
            <a:off x="8112126" y="4076700"/>
            <a:ext cx="1831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reference bit</a:t>
            </a:r>
          </a:p>
        </p:txBody>
      </p:sp>
      <p:sp>
        <p:nvSpPr>
          <p:cNvPr id="798783" name="Rectangle 63"/>
          <p:cNvSpPr>
            <a:spLocks noChangeArrowheads="1"/>
          </p:cNvSpPr>
          <p:nvPr/>
        </p:nvSpPr>
        <p:spPr bwMode="auto">
          <a:xfrm>
            <a:off x="760888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98784" name="Rectangle 64"/>
          <p:cNvSpPr>
            <a:spLocks noChangeArrowheads="1"/>
          </p:cNvSpPr>
          <p:nvPr/>
        </p:nvSpPr>
        <p:spPr bwMode="auto">
          <a:xfrm>
            <a:off x="7608888" y="41497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85" name="Rectangle 65"/>
          <p:cNvSpPr>
            <a:spLocks noChangeArrowheads="1"/>
          </p:cNvSpPr>
          <p:nvPr/>
        </p:nvSpPr>
        <p:spPr bwMode="auto">
          <a:xfrm>
            <a:off x="760888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89" name="Rectangle 69"/>
          <p:cNvSpPr>
            <a:spLocks noChangeArrowheads="1"/>
          </p:cNvSpPr>
          <p:nvPr/>
        </p:nvSpPr>
        <p:spPr bwMode="auto">
          <a:xfrm>
            <a:off x="379253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98790" name="Rectangle 70"/>
          <p:cNvSpPr>
            <a:spLocks noChangeArrowheads="1"/>
          </p:cNvSpPr>
          <p:nvPr/>
        </p:nvSpPr>
        <p:spPr bwMode="auto">
          <a:xfrm>
            <a:off x="3792538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91" name="Rectangle 71"/>
          <p:cNvSpPr>
            <a:spLocks noChangeArrowheads="1"/>
          </p:cNvSpPr>
          <p:nvPr/>
        </p:nvSpPr>
        <p:spPr bwMode="auto">
          <a:xfrm>
            <a:off x="379253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210" name="Rectangle 75"/>
          <p:cNvSpPr>
            <a:spLocks noChangeArrowheads="1"/>
          </p:cNvSpPr>
          <p:nvPr/>
        </p:nvSpPr>
        <p:spPr bwMode="auto">
          <a:xfrm>
            <a:off x="760888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211" name="Rectangle 76"/>
          <p:cNvSpPr>
            <a:spLocks noChangeArrowheads="1"/>
          </p:cNvSpPr>
          <p:nvPr/>
        </p:nvSpPr>
        <p:spPr bwMode="auto">
          <a:xfrm>
            <a:off x="7608888" y="41497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212" name="Rectangle 77"/>
          <p:cNvSpPr>
            <a:spLocks noChangeArrowheads="1"/>
          </p:cNvSpPr>
          <p:nvPr/>
        </p:nvSpPr>
        <p:spPr bwMode="auto">
          <a:xfrm>
            <a:off x="760888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5040313" y="2383273"/>
            <a:ext cx="1758950" cy="831850"/>
            <a:chOff x="1383" y="1480"/>
            <a:chExt cx="1108" cy="524"/>
          </a:xfrm>
        </p:grpSpPr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1927" y="1480"/>
              <a:ext cx="0" cy="22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1383" y="1752"/>
              <a:ext cx="110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timer interrupt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41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Example</a:t>
            </a:r>
          </a:p>
        </p:txBody>
      </p:sp>
      <p:sp>
        <p:nvSpPr>
          <p:cNvPr id="93188" name="Text Box 6"/>
          <p:cNvSpPr txBox="1">
            <a:spLocks noChangeArrowheads="1"/>
          </p:cNvSpPr>
          <p:nvPr/>
        </p:nvSpPr>
        <p:spPr bwMode="auto">
          <a:xfrm>
            <a:off x="2559051" y="1773238"/>
            <a:ext cx="40417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time    0    ~        5,000    ~    10,000~ </a:t>
            </a:r>
          </a:p>
        </p:txBody>
      </p:sp>
      <p:grpSp>
        <p:nvGrpSpPr>
          <p:cNvPr id="93189" name="Group 23"/>
          <p:cNvGrpSpPr>
            <a:grpSpLocks/>
          </p:cNvGrpSpPr>
          <p:nvPr/>
        </p:nvGrpSpPr>
        <p:grpSpPr bwMode="auto">
          <a:xfrm>
            <a:off x="3448050" y="2132014"/>
            <a:ext cx="4808538" cy="263525"/>
            <a:chOff x="1791" y="1706"/>
            <a:chExt cx="3029" cy="166"/>
          </a:xfrm>
        </p:grpSpPr>
        <p:sp>
          <p:nvSpPr>
            <p:cNvPr id="93217" name="Line 7"/>
            <p:cNvSpPr>
              <a:spLocks noChangeShapeType="1"/>
            </p:cNvSpPr>
            <p:nvPr/>
          </p:nvSpPr>
          <p:spPr bwMode="auto">
            <a:xfrm>
              <a:off x="1799" y="1761"/>
              <a:ext cx="30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93218" name="Line 8"/>
            <p:cNvSpPr>
              <a:spLocks noChangeShapeType="1"/>
            </p:cNvSpPr>
            <p:nvPr/>
          </p:nvSpPr>
          <p:spPr bwMode="auto">
            <a:xfrm flipH="1">
              <a:off x="2509" y="1716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93219" name="Line 9"/>
            <p:cNvSpPr>
              <a:spLocks noChangeShapeType="1"/>
            </p:cNvSpPr>
            <p:nvPr/>
          </p:nvSpPr>
          <p:spPr bwMode="auto">
            <a:xfrm flipH="1">
              <a:off x="3348" y="1712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93221" name="Line 11"/>
            <p:cNvSpPr>
              <a:spLocks noChangeShapeType="1"/>
            </p:cNvSpPr>
            <p:nvPr/>
          </p:nvSpPr>
          <p:spPr bwMode="auto">
            <a:xfrm flipH="1">
              <a:off x="1791" y="1706"/>
              <a:ext cx="0" cy="1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</p:grpSp>
      <p:sp>
        <p:nvSpPr>
          <p:cNvPr id="93190" name="Line 18"/>
          <p:cNvSpPr>
            <a:spLocks noChangeShapeType="1"/>
          </p:cNvSpPr>
          <p:nvPr/>
        </p:nvSpPr>
        <p:spPr bwMode="auto">
          <a:xfrm flipH="1" flipV="1">
            <a:off x="3863975" y="5373688"/>
            <a:ext cx="719138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191" name="Text Box 19"/>
          <p:cNvSpPr txBox="1">
            <a:spLocks noChangeArrowheads="1"/>
          </p:cNvSpPr>
          <p:nvPr/>
        </p:nvSpPr>
        <p:spPr bwMode="auto">
          <a:xfrm>
            <a:off x="2135188" y="5876925"/>
            <a:ext cx="6165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in-memory two bits, copied from reference bit</a:t>
            </a:r>
          </a:p>
        </p:txBody>
      </p:sp>
      <p:sp>
        <p:nvSpPr>
          <p:cNvPr id="93192" name="Text Box 26"/>
          <p:cNvSpPr txBox="1">
            <a:spLocks noChangeArrowheads="1"/>
          </p:cNvSpPr>
          <p:nvPr/>
        </p:nvSpPr>
        <p:spPr bwMode="auto">
          <a:xfrm>
            <a:off x="2855914" y="3429000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</a:t>
            </a:r>
            <a:r>
              <a:rPr kumimoji="1" lang="en-US" altLang="zh-TW" sz="2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193" name="Text Box 27"/>
          <p:cNvSpPr txBox="1">
            <a:spLocks noChangeArrowheads="1"/>
          </p:cNvSpPr>
          <p:nvPr/>
        </p:nvSpPr>
        <p:spPr bwMode="auto">
          <a:xfrm>
            <a:off x="2855914" y="4005263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</a:t>
            </a:r>
            <a:r>
              <a:rPr kumimoji="1" lang="en-US" altLang="zh-TW" sz="2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194" name="Text Box 28"/>
          <p:cNvSpPr txBox="1">
            <a:spLocks noChangeArrowheads="1"/>
          </p:cNvSpPr>
          <p:nvPr/>
        </p:nvSpPr>
        <p:spPr bwMode="auto">
          <a:xfrm>
            <a:off x="2855914" y="4652964"/>
            <a:ext cx="4956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</a:t>
            </a:r>
            <a:r>
              <a:rPr kumimoji="1" lang="en-US" altLang="zh-TW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</a:p>
        </p:txBody>
      </p:sp>
      <p:sp>
        <p:nvSpPr>
          <p:cNvPr id="93195" name="Rectangle 29"/>
          <p:cNvSpPr>
            <a:spLocks noChangeArrowheads="1"/>
          </p:cNvSpPr>
          <p:nvPr/>
        </p:nvSpPr>
        <p:spPr bwMode="auto">
          <a:xfrm>
            <a:off x="3359150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98751" name="Rectangle 31"/>
          <p:cNvSpPr>
            <a:spLocks noChangeArrowheads="1"/>
          </p:cNvSpPr>
          <p:nvPr/>
        </p:nvSpPr>
        <p:spPr bwMode="auto">
          <a:xfrm>
            <a:off x="379253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93197" name="Rectangle 32"/>
          <p:cNvSpPr>
            <a:spLocks noChangeArrowheads="1"/>
          </p:cNvSpPr>
          <p:nvPr/>
        </p:nvSpPr>
        <p:spPr bwMode="auto">
          <a:xfrm>
            <a:off x="3359150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98753" name="Rectangle 33"/>
          <p:cNvSpPr>
            <a:spLocks noChangeArrowheads="1"/>
          </p:cNvSpPr>
          <p:nvPr/>
        </p:nvSpPr>
        <p:spPr bwMode="auto">
          <a:xfrm>
            <a:off x="3792538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93199" name="Rectangle 34"/>
          <p:cNvSpPr>
            <a:spLocks noChangeArrowheads="1"/>
          </p:cNvSpPr>
          <p:nvPr/>
        </p:nvSpPr>
        <p:spPr bwMode="auto">
          <a:xfrm>
            <a:off x="3359150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55" name="Rectangle 35"/>
          <p:cNvSpPr>
            <a:spLocks noChangeArrowheads="1"/>
          </p:cNvSpPr>
          <p:nvPr/>
        </p:nvSpPr>
        <p:spPr bwMode="auto">
          <a:xfrm>
            <a:off x="379253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81" name="Text Box 61"/>
          <p:cNvSpPr txBox="1">
            <a:spLocks noChangeArrowheads="1"/>
          </p:cNvSpPr>
          <p:nvPr/>
        </p:nvSpPr>
        <p:spPr bwMode="auto">
          <a:xfrm>
            <a:off x="8112126" y="4076700"/>
            <a:ext cx="1831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reference bit</a:t>
            </a:r>
          </a:p>
        </p:txBody>
      </p:sp>
      <p:sp>
        <p:nvSpPr>
          <p:cNvPr id="798783" name="Rectangle 63"/>
          <p:cNvSpPr>
            <a:spLocks noChangeArrowheads="1"/>
          </p:cNvSpPr>
          <p:nvPr/>
        </p:nvSpPr>
        <p:spPr bwMode="auto">
          <a:xfrm>
            <a:off x="760888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98784" name="Rectangle 64"/>
          <p:cNvSpPr>
            <a:spLocks noChangeArrowheads="1"/>
          </p:cNvSpPr>
          <p:nvPr/>
        </p:nvSpPr>
        <p:spPr bwMode="auto">
          <a:xfrm>
            <a:off x="7608888" y="41497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85" name="Rectangle 65"/>
          <p:cNvSpPr>
            <a:spLocks noChangeArrowheads="1"/>
          </p:cNvSpPr>
          <p:nvPr/>
        </p:nvSpPr>
        <p:spPr bwMode="auto">
          <a:xfrm>
            <a:off x="760888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5232400" y="4221161"/>
            <a:ext cx="1727200" cy="749299"/>
            <a:chOff x="2336" y="2659"/>
            <a:chExt cx="1088" cy="472"/>
          </a:xfrm>
        </p:grpSpPr>
        <p:sp>
          <p:nvSpPr>
            <p:cNvPr id="93213" name="AutoShape 66"/>
            <p:cNvSpPr>
              <a:spLocks noChangeArrowheads="1"/>
            </p:cNvSpPr>
            <p:nvPr/>
          </p:nvSpPr>
          <p:spPr bwMode="auto">
            <a:xfrm>
              <a:off x="2336" y="2659"/>
              <a:ext cx="1088" cy="226"/>
            </a:xfrm>
            <a:prstGeom prst="leftArrow">
              <a:avLst>
                <a:gd name="adj1" fmla="val 50000"/>
                <a:gd name="adj2" fmla="val 12035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93214" name="Text Box 67"/>
            <p:cNvSpPr txBox="1">
              <a:spLocks noChangeArrowheads="1"/>
            </p:cNvSpPr>
            <p:nvPr/>
          </p:nvSpPr>
          <p:spPr bwMode="auto">
            <a:xfrm>
              <a:off x="2744" y="2840"/>
              <a:ext cx="4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copy</a:t>
              </a:r>
            </a:p>
          </p:txBody>
        </p:sp>
      </p:grpSp>
      <p:sp>
        <p:nvSpPr>
          <p:cNvPr id="798789" name="Rectangle 69"/>
          <p:cNvSpPr>
            <a:spLocks noChangeArrowheads="1"/>
          </p:cNvSpPr>
          <p:nvPr/>
        </p:nvSpPr>
        <p:spPr bwMode="auto">
          <a:xfrm>
            <a:off x="379253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98790" name="Rectangle 70"/>
          <p:cNvSpPr>
            <a:spLocks noChangeArrowheads="1"/>
          </p:cNvSpPr>
          <p:nvPr/>
        </p:nvSpPr>
        <p:spPr bwMode="auto">
          <a:xfrm>
            <a:off x="3792538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</a:p>
        </p:txBody>
      </p:sp>
      <p:sp>
        <p:nvSpPr>
          <p:cNvPr id="798791" name="Rectangle 71"/>
          <p:cNvSpPr>
            <a:spLocks noChangeArrowheads="1"/>
          </p:cNvSpPr>
          <p:nvPr/>
        </p:nvSpPr>
        <p:spPr bwMode="auto">
          <a:xfrm>
            <a:off x="379253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210" name="Rectangle 75"/>
          <p:cNvSpPr>
            <a:spLocks noChangeArrowheads="1"/>
          </p:cNvSpPr>
          <p:nvPr/>
        </p:nvSpPr>
        <p:spPr bwMode="auto">
          <a:xfrm>
            <a:off x="760888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211" name="Rectangle 76"/>
          <p:cNvSpPr>
            <a:spLocks noChangeArrowheads="1"/>
          </p:cNvSpPr>
          <p:nvPr/>
        </p:nvSpPr>
        <p:spPr bwMode="auto">
          <a:xfrm>
            <a:off x="7608888" y="41497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3212" name="Rectangle 77"/>
          <p:cNvSpPr>
            <a:spLocks noChangeArrowheads="1"/>
          </p:cNvSpPr>
          <p:nvPr/>
        </p:nvSpPr>
        <p:spPr bwMode="auto">
          <a:xfrm>
            <a:off x="760888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5040313" y="2383273"/>
            <a:ext cx="1758950" cy="831850"/>
            <a:chOff x="1383" y="1480"/>
            <a:chExt cx="1108" cy="524"/>
          </a:xfrm>
        </p:grpSpPr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1927" y="1480"/>
              <a:ext cx="0" cy="22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1383" y="1752"/>
              <a:ext cx="110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timer interrupt</a:t>
              </a:r>
            </a:p>
          </p:txBody>
        </p:sp>
      </p:grpSp>
      <p:sp>
        <p:nvSpPr>
          <p:cNvPr id="2" name="弧形箭號 (上彎) 1"/>
          <p:cNvSpPr/>
          <p:nvPr/>
        </p:nvSpPr>
        <p:spPr>
          <a:xfrm flipH="1" flipV="1">
            <a:off x="3426300" y="3201987"/>
            <a:ext cx="692397" cy="32806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2" name="Text Box 67"/>
          <p:cNvSpPr txBox="1">
            <a:spLocks noChangeArrowheads="1"/>
          </p:cNvSpPr>
          <p:nvPr/>
        </p:nvSpPr>
        <p:spPr bwMode="auto">
          <a:xfrm>
            <a:off x="3359150" y="2728916"/>
            <a:ext cx="7489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shift</a:t>
            </a:r>
            <a:endParaRPr kumimoji="1" lang="en-US" altLang="zh-TW" sz="24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96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Example (Cont.)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7032626" y="1484314"/>
            <a:ext cx="1460081" cy="4221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marL="285750" indent="-285750" eaLnBrk="0" hangingPunct="0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2400" b="1" dirty="0">
                <a:latin typeface="Calibri" panose="020F0502020204030204" pitchFamily="34" charset="0"/>
              </a:rPr>
              <a:t>page fault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2559051" y="1773238"/>
            <a:ext cx="40417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Calibri" panose="020F0502020204030204" pitchFamily="34" charset="0"/>
              </a:rPr>
              <a:t>time    0    ~        5,000    ~    10,000~ </a:t>
            </a:r>
          </a:p>
        </p:txBody>
      </p:sp>
      <p:sp>
        <p:nvSpPr>
          <p:cNvPr id="94243" name="Line 6"/>
          <p:cNvSpPr>
            <a:spLocks noChangeShapeType="1"/>
          </p:cNvSpPr>
          <p:nvPr/>
        </p:nvSpPr>
        <p:spPr bwMode="auto">
          <a:xfrm>
            <a:off x="3460750" y="2219326"/>
            <a:ext cx="47958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44" name="Line 7"/>
          <p:cNvSpPr>
            <a:spLocks noChangeShapeType="1"/>
          </p:cNvSpPr>
          <p:nvPr/>
        </p:nvSpPr>
        <p:spPr bwMode="auto">
          <a:xfrm flipH="1">
            <a:off x="4587875" y="2147888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45" name="Line 8"/>
          <p:cNvSpPr>
            <a:spLocks noChangeShapeType="1"/>
          </p:cNvSpPr>
          <p:nvPr/>
        </p:nvSpPr>
        <p:spPr bwMode="auto">
          <a:xfrm flipH="1">
            <a:off x="5919788" y="2141538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46" name="Line 9"/>
          <p:cNvSpPr>
            <a:spLocks noChangeShapeType="1"/>
          </p:cNvSpPr>
          <p:nvPr/>
        </p:nvSpPr>
        <p:spPr bwMode="auto">
          <a:xfrm flipH="1">
            <a:off x="6905625" y="1916113"/>
            <a:ext cx="147638" cy="273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47" name="Line 10"/>
          <p:cNvSpPr>
            <a:spLocks noChangeShapeType="1"/>
          </p:cNvSpPr>
          <p:nvPr/>
        </p:nvSpPr>
        <p:spPr bwMode="auto">
          <a:xfrm flipH="1">
            <a:off x="3448050" y="2132013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14" name="Line 11"/>
          <p:cNvSpPr>
            <a:spLocks noChangeShapeType="1"/>
          </p:cNvSpPr>
          <p:nvPr/>
        </p:nvSpPr>
        <p:spPr bwMode="auto">
          <a:xfrm flipH="1" flipV="1">
            <a:off x="3863975" y="5373688"/>
            <a:ext cx="719138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15" name="Text Box 12"/>
          <p:cNvSpPr txBox="1">
            <a:spLocks noChangeArrowheads="1"/>
          </p:cNvSpPr>
          <p:nvPr/>
        </p:nvSpPr>
        <p:spPr bwMode="auto">
          <a:xfrm>
            <a:off x="2135188" y="5876925"/>
            <a:ext cx="6165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>
                <a:latin typeface="Calibri" panose="020F0502020204030204" pitchFamily="34" charset="0"/>
              </a:rPr>
              <a:t>in-memory two bits, copied from reference bit</a:t>
            </a:r>
          </a:p>
        </p:txBody>
      </p:sp>
      <p:sp>
        <p:nvSpPr>
          <p:cNvPr id="94216" name="Text Box 13"/>
          <p:cNvSpPr txBox="1">
            <a:spLocks noChangeArrowheads="1"/>
          </p:cNvSpPr>
          <p:nvPr/>
        </p:nvSpPr>
        <p:spPr bwMode="auto">
          <a:xfrm>
            <a:off x="2855914" y="3429000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i="1">
                <a:latin typeface="Calibri" panose="020F0502020204030204" pitchFamily="34" charset="0"/>
              </a:rPr>
              <a:t>p</a:t>
            </a:r>
            <a:r>
              <a:rPr lang="en-US" altLang="zh-TW" sz="2800" b="1" i="1" baseline="-25000">
                <a:latin typeface="Calibri" panose="020F0502020204030204" pitchFamily="34" charset="0"/>
              </a:rPr>
              <a:t>1</a:t>
            </a:r>
            <a:endParaRPr lang="en-US" altLang="zh-TW" sz="2800">
              <a:latin typeface="Calibri" panose="020F0502020204030204" pitchFamily="34" charset="0"/>
            </a:endParaRPr>
          </a:p>
        </p:txBody>
      </p:sp>
      <p:sp>
        <p:nvSpPr>
          <p:cNvPr id="94217" name="Text Box 14"/>
          <p:cNvSpPr txBox="1">
            <a:spLocks noChangeArrowheads="1"/>
          </p:cNvSpPr>
          <p:nvPr/>
        </p:nvSpPr>
        <p:spPr bwMode="auto">
          <a:xfrm>
            <a:off x="2855914" y="4005263"/>
            <a:ext cx="4956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i="1">
                <a:latin typeface="Calibri" panose="020F0502020204030204" pitchFamily="34" charset="0"/>
              </a:rPr>
              <a:t>p</a:t>
            </a:r>
            <a:r>
              <a:rPr lang="en-US" altLang="zh-TW" sz="2800" b="1" i="1" baseline="-25000">
                <a:latin typeface="Calibri" panose="020F0502020204030204" pitchFamily="34" charset="0"/>
              </a:rPr>
              <a:t>2</a:t>
            </a:r>
            <a:endParaRPr lang="en-US" altLang="zh-TW" sz="2800" b="1" i="1">
              <a:latin typeface="Calibri" panose="020F0502020204030204" pitchFamily="34" charset="0"/>
            </a:endParaRPr>
          </a:p>
        </p:txBody>
      </p:sp>
      <p:sp>
        <p:nvSpPr>
          <p:cNvPr id="94218" name="Text Box 15"/>
          <p:cNvSpPr txBox="1">
            <a:spLocks noChangeArrowheads="1"/>
          </p:cNvSpPr>
          <p:nvPr/>
        </p:nvSpPr>
        <p:spPr bwMode="auto">
          <a:xfrm>
            <a:off x="2855914" y="4652964"/>
            <a:ext cx="4956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 b="1" i="1">
                <a:latin typeface="Calibri" panose="020F0502020204030204" pitchFamily="34" charset="0"/>
              </a:rPr>
              <a:t>p</a:t>
            </a:r>
            <a:r>
              <a:rPr lang="en-US" altLang="zh-TW" sz="2800" b="1" i="1" baseline="-25000">
                <a:latin typeface="Calibri" panose="020F0502020204030204" pitchFamily="34" charset="0"/>
              </a:rPr>
              <a:t>3</a:t>
            </a:r>
          </a:p>
          <a:p>
            <a:r>
              <a:rPr lang="en-US" altLang="zh-TW" sz="2800" b="1" i="1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94219" name="Rectangle 16"/>
          <p:cNvSpPr>
            <a:spLocks noChangeArrowheads="1"/>
          </p:cNvSpPr>
          <p:nvPr/>
        </p:nvSpPr>
        <p:spPr bwMode="auto">
          <a:xfrm>
            <a:off x="3359150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99761" name="Rectangle 17"/>
          <p:cNvSpPr>
            <a:spLocks noChangeArrowheads="1"/>
          </p:cNvSpPr>
          <p:nvPr/>
        </p:nvSpPr>
        <p:spPr bwMode="auto">
          <a:xfrm>
            <a:off x="379253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4221" name="Rectangle 18"/>
          <p:cNvSpPr>
            <a:spLocks noChangeArrowheads="1"/>
          </p:cNvSpPr>
          <p:nvPr/>
        </p:nvSpPr>
        <p:spPr bwMode="auto">
          <a:xfrm>
            <a:off x="3359150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9763" name="Rectangle 19"/>
          <p:cNvSpPr>
            <a:spLocks noChangeArrowheads="1"/>
          </p:cNvSpPr>
          <p:nvPr/>
        </p:nvSpPr>
        <p:spPr bwMode="auto">
          <a:xfrm>
            <a:off x="3792538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4223" name="Rectangle 20"/>
          <p:cNvSpPr>
            <a:spLocks noChangeArrowheads="1"/>
          </p:cNvSpPr>
          <p:nvPr/>
        </p:nvSpPr>
        <p:spPr bwMode="auto">
          <a:xfrm>
            <a:off x="3359150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9765" name="Rectangle 21"/>
          <p:cNvSpPr>
            <a:spLocks noChangeArrowheads="1"/>
          </p:cNvSpPr>
          <p:nvPr/>
        </p:nvSpPr>
        <p:spPr bwMode="auto">
          <a:xfrm>
            <a:off x="379253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9769" name="Text Box 25"/>
          <p:cNvSpPr txBox="1">
            <a:spLocks noChangeArrowheads="1"/>
          </p:cNvSpPr>
          <p:nvPr/>
        </p:nvSpPr>
        <p:spPr bwMode="auto">
          <a:xfrm>
            <a:off x="8112126" y="4076700"/>
            <a:ext cx="1831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>
                <a:latin typeface="Calibri" panose="020F0502020204030204" pitchFamily="34" charset="0"/>
              </a:rPr>
              <a:t>reference bit</a:t>
            </a:r>
          </a:p>
        </p:txBody>
      </p:sp>
      <p:sp>
        <p:nvSpPr>
          <p:cNvPr id="799770" name="Rectangle 26"/>
          <p:cNvSpPr>
            <a:spLocks noChangeArrowheads="1"/>
          </p:cNvSpPr>
          <p:nvPr/>
        </p:nvSpPr>
        <p:spPr bwMode="auto">
          <a:xfrm>
            <a:off x="760888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99771" name="Rectangle 27"/>
          <p:cNvSpPr>
            <a:spLocks noChangeArrowheads="1"/>
          </p:cNvSpPr>
          <p:nvPr/>
        </p:nvSpPr>
        <p:spPr bwMode="auto">
          <a:xfrm>
            <a:off x="7608888" y="41497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9772" name="Rectangle 28"/>
          <p:cNvSpPr>
            <a:spLocks noChangeArrowheads="1"/>
          </p:cNvSpPr>
          <p:nvPr/>
        </p:nvSpPr>
        <p:spPr bwMode="auto">
          <a:xfrm>
            <a:off x="760888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9776" name="Rectangle 32"/>
          <p:cNvSpPr>
            <a:spLocks noChangeArrowheads="1"/>
          </p:cNvSpPr>
          <p:nvPr/>
        </p:nvSpPr>
        <p:spPr bwMode="auto">
          <a:xfrm>
            <a:off x="379253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dirty="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9777" name="Rectangle 33"/>
          <p:cNvSpPr>
            <a:spLocks noChangeArrowheads="1"/>
          </p:cNvSpPr>
          <p:nvPr/>
        </p:nvSpPr>
        <p:spPr bwMode="auto">
          <a:xfrm>
            <a:off x="3792538" y="42211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799778" name="Rectangle 34"/>
          <p:cNvSpPr>
            <a:spLocks noChangeArrowheads="1"/>
          </p:cNvSpPr>
          <p:nvPr/>
        </p:nvSpPr>
        <p:spPr bwMode="auto">
          <a:xfrm>
            <a:off x="379253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4233" name="Rectangle 35"/>
          <p:cNvSpPr>
            <a:spLocks noChangeArrowheads="1"/>
          </p:cNvSpPr>
          <p:nvPr/>
        </p:nvSpPr>
        <p:spPr bwMode="auto">
          <a:xfrm>
            <a:off x="7608888" y="3573463"/>
            <a:ext cx="4318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4234" name="Rectangle 36"/>
          <p:cNvSpPr>
            <a:spLocks noChangeArrowheads="1"/>
          </p:cNvSpPr>
          <p:nvPr/>
        </p:nvSpPr>
        <p:spPr bwMode="auto">
          <a:xfrm>
            <a:off x="7608888" y="41497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4235" name="Rectangle 37"/>
          <p:cNvSpPr>
            <a:spLocks noChangeArrowheads="1"/>
          </p:cNvSpPr>
          <p:nvPr/>
        </p:nvSpPr>
        <p:spPr bwMode="auto">
          <a:xfrm>
            <a:off x="7608888" y="4797426"/>
            <a:ext cx="431800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4236" name="Line 38"/>
          <p:cNvSpPr>
            <a:spLocks noChangeShapeType="1"/>
          </p:cNvSpPr>
          <p:nvPr/>
        </p:nvSpPr>
        <p:spPr bwMode="auto">
          <a:xfrm flipH="1">
            <a:off x="3446463" y="3181350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37" name="Line 39"/>
          <p:cNvSpPr>
            <a:spLocks noChangeShapeType="1"/>
          </p:cNvSpPr>
          <p:nvPr/>
        </p:nvSpPr>
        <p:spPr bwMode="auto">
          <a:xfrm flipH="1" flipV="1">
            <a:off x="3459163" y="3319463"/>
            <a:ext cx="3509962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38" name="Line 40"/>
          <p:cNvSpPr>
            <a:spLocks noChangeShapeType="1"/>
          </p:cNvSpPr>
          <p:nvPr/>
        </p:nvSpPr>
        <p:spPr bwMode="auto">
          <a:xfrm flipH="1">
            <a:off x="6959600" y="3155950"/>
            <a:ext cx="0" cy="344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94240" name="Text Box 42"/>
          <p:cNvSpPr txBox="1">
            <a:spLocks noChangeArrowheads="1"/>
          </p:cNvSpPr>
          <p:nvPr/>
        </p:nvSpPr>
        <p:spPr bwMode="auto">
          <a:xfrm>
            <a:off x="7535863" y="2852738"/>
            <a:ext cx="149784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Calibri" panose="020F0502020204030204" pitchFamily="34" charset="0"/>
              </a:rPr>
              <a:t>WS={P1, P3}</a:t>
            </a:r>
          </a:p>
        </p:txBody>
      </p:sp>
    </p:spTree>
    <p:extLst>
      <p:ext uri="{BB962C8B-B14F-4D97-AF65-F5344CB8AC3E}">
        <p14:creationId xmlns:p14="http://schemas.microsoft.com/office/powerpoint/2010/main" val="407314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/>
      <p:bldP spid="94246" grpId="0" animBg="1"/>
      <p:bldP spid="94238" grpId="0" animBg="1"/>
      <p:bldP spid="94240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tx1"/>
                </a:solidFill>
              </a:rPr>
              <a:t>Page Table and In-Memory Bits in OS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5"/>
            <a:ext cx="2265362" cy="93256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794794"/>
            <a:ext cx="2260600" cy="645693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416883"/>
            <a:ext cx="2260600" cy="3377911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4221088"/>
            <a:ext cx="1619250" cy="144016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871" y="2708920"/>
            <a:ext cx="1877393" cy="12241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688288" y="2996952"/>
            <a:ext cx="151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table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688288" y="4623519"/>
            <a:ext cx="2143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In-memory bits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19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Working-Set Model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Problem</a:t>
            </a:r>
          </a:p>
          <a:p>
            <a:pPr lvl="1"/>
            <a:r>
              <a:rPr lang="en-US" altLang="zh-TW" dirty="0" smtClean="0"/>
              <a:t>Not easy to determine the </a:t>
            </a:r>
            <a:r>
              <a:rPr lang="en-US" altLang="zh-TW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</a:t>
            </a:r>
          </a:p>
          <a:p>
            <a:pPr lvl="1"/>
            <a:endParaRPr lang="en-US" altLang="zh-TW" dirty="0" smtClean="0">
              <a:sym typeface="Symbol" pitchFamily="18" charset="2"/>
            </a:endParaRPr>
          </a:p>
          <a:p>
            <a:pPr lvl="1"/>
            <a:r>
              <a:rPr lang="en-US" altLang="zh-TW" dirty="0" smtClean="0">
                <a:sym typeface="Symbol" pitchFamily="18" charset="2"/>
              </a:rPr>
              <a:t>if </a:t>
            </a:r>
            <a:r>
              <a:rPr lang="en-US" altLang="zh-TW" dirty="0">
                <a:sym typeface="Symbol" pitchFamily="18" charset="2"/>
              </a:rPr>
              <a:t> too small  will not encompass entire locality</a:t>
            </a:r>
          </a:p>
          <a:p>
            <a:pPr lvl="1"/>
            <a:endParaRPr lang="en-US" altLang="zh-TW" dirty="0" smtClean="0">
              <a:sym typeface="Symbol" pitchFamily="18" charset="2"/>
            </a:endParaRPr>
          </a:p>
          <a:p>
            <a:pPr lvl="1"/>
            <a:r>
              <a:rPr lang="en-US" altLang="zh-TW" dirty="0" smtClean="0">
                <a:sym typeface="Symbol" pitchFamily="18" charset="2"/>
              </a:rPr>
              <a:t>if </a:t>
            </a:r>
            <a:r>
              <a:rPr lang="en-US" altLang="zh-TW" dirty="0">
                <a:sym typeface="Symbol" pitchFamily="18" charset="2"/>
              </a:rPr>
              <a:t> too large  will encompass several localities</a:t>
            </a:r>
          </a:p>
        </p:txBody>
      </p:sp>
    </p:spTree>
    <p:extLst>
      <p:ext uri="{BB962C8B-B14F-4D97-AF65-F5344CB8AC3E}">
        <p14:creationId xmlns:p14="http://schemas.microsoft.com/office/powerpoint/2010/main" val="234048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Thrashing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Cause of Thrashing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Working-Set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Page-Fault Frequency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0438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Page-Fault Frequency Scheme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Investigation</a:t>
            </a:r>
            <a:r>
              <a:rPr lang="en-US" altLang="zh-TW" dirty="0"/>
              <a:t>: thrashing has a </a:t>
            </a:r>
            <a:r>
              <a:rPr lang="en-US" altLang="zh-TW" dirty="0">
                <a:solidFill>
                  <a:srgbClr val="3333FF"/>
                </a:solidFill>
              </a:rPr>
              <a:t>high page-fault rate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3300"/>
                </a:solidFill>
              </a:rPr>
              <a:t>Page fault frequency</a:t>
            </a:r>
            <a:r>
              <a:rPr lang="en-US" altLang="zh-TW" dirty="0"/>
              <a:t> scheme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See the next slide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Controls </a:t>
            </a:r>
            <a:r>
              <a:rPr lang="en-US" altLang="zh-TW" dirty="0"/>
              <a:t>the page-fault rate to prevent thrashing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Set upper and lower bounds on the desired page-fault rate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If page fault rate exceeds the upper limit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Allocate the process more frame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If page fault rate falls below the lower limit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Remove </a:t>
            </a:r>
            <a:r>
              <a:rPr lang="en-US" altLang="zh-TW" dirty="0" smtClean="0"/>
              <a:t>frames from the process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2934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Page-Fault Frequency Scheme</a:t>
            </a:r>
          </a:p>
        </p:txBody>
      </p:sp>
      <p:pic>
        <p:nvPicPr>
          <p:cNvPr id="96259" name="Picture 4"/>
          <p:cNvPicPr>
            <a:picLocks noChangeAspect="1" noChangeArrowheads="1"/>
          </p:cNvPicPr>
          <p:nvPr/>
        </p:nvPicPr>
        <p:blipFill>
          <a:blip r:embed="rId2" cstate="print"/>
          <a:srcRect l="900" t="16351" r="1137" b="16667"/>
          <a:stretch>
            <a:fillRect/>
          </a:stretch>
        </p:blipFill>
        <p:spPr bwMode="auto">
          <a:xfrm>
            <a:off x="1487489" y="1340768"/>
            <a:ext cx="8928991" cy="504056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5565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如果記憶體</a:t>
            </a:r>
            <a:r>
              <a:rPr lang="zh-TW" altLang="en-US" dirty="0" smtClean="0"/>
              <a:t>空間</a:t>
            </a:r>
            <a:r>
              <a:rPr lang="zh-TW" altLang="en-US" dirty="0"/>
              <a:t>就是真的不夠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代表執行太多</a:t>
            </a:r>
            <a:r>
              <a:rPr lang="en-US" altLang="zh-TW" dirty="0" smtClean="0"/>
              <a:t>processes</a:t>
            </a:r>
            <a:r>
              <a:rPr lang="zh-TW" altLang="en-US" dirty="0" smtClean="0"/>
              <a:t>了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75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Swapping</a:t>
            </a:r>
            <a:endParaRPr lang="en-US" altLang="zh-TW" sz="3600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 l="743" t="342" r="487" b="1299"/>
          <a:stretch>
            <a:fillRect/>
          </a:stretch>
        </p:blipFill>
        <p:spPr bwMode="auto">
          <a:xfrm>
            <a:off x="1847528" y="1692275"/>
            <a:ext cx="8424935" cy="41656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685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34603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Memory Compression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b="1" dirty="0" smtClean="0">
                <a:solidFill>
                  <a:srgbClr val="0000FF"/>
                </a:solidFill>
              </a:rPr>
              <a:t>Why memory compression?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An </a:t>
            </a:r>
            <a:r>
              <a:rPr lang="en-US" altLang="zh-TW" dirty="0"/>
              <a:t>alternative to </a:t>
            </a:r>
            <a:r>
              <a:rPr lang="en-US" altLang="zh-TW" dirty="0" smtClean="0"/>
              <a:t>page replacement is </a:t>
            </a:r>
            <a:r>
              <a:rPr lang="en-US" altLang="zh-TW" b="1" dirty="0" smtClean="0">
                <a:solidFill>
                  <a:srgbClr val="FF0000"/>
                </a:solidFill>
              </a:rPr>
              <a:t>memory </a:t>
            </a:r>
            <a:r>
              <a:rPr lang="en-US" altLang="zh-TW" b="1" dirty="0">
                <a:solidFill>
                  <a:srgbClr val="FF0000"/>
                </a:solidFill>
              </a:rPr>
              <a:t>compression</a:t>
            </a:r>
            <a:r>
              <a:rPr lang="en-US" altLang="zh-TW" dirty="0" smtClean="0"/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Used in mobile devices, </a:t>
            </a:r>
            <a:r>
              <a:rPr lang="en-US" altLang="zh-TW" dirty="0"/>
              <a:t>e.g., Android and iOS</a:t>
            </a:r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Windows </a:t>
            </a:r>
            <a:r>
              <a:rPr lang="en-US" altLang="zh-TW" dirty="0"/>
              <a:t>10 and </a:t>
            </a:r>
            <a:r>
              <a:rPr lang="en-US" altLang="zh-TW" dirty="0" err="1"/>
              <a:t>MacOS</a:t>
            </a:r>
            <a:r>
              <a:rPr lang="en-US" altLang="zh-TW" dirty="0"/>
              <a:t> also support memory </a:t>
            </a:r>
            <a:r>
              <a:rPr lang="en-US" altLang="zh-TW" dirty="0" smtClean="0"/>
              <a:t>compression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922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0000FF"/>
                </a:solidFill>
              </a:rPr>
              <a:t>Paging Version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4417" y="1484313"/>
            <a:ext cx="10972800" cy="244874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The </a:t>
            </a:r>
            <a:r>
              <a:rPr lang="en-US" altLang="zh-TW" b="1" dirty="0"/>
              <a:t>free-frame list </a:t>
            </a:r>
            <a:r>
              <a:rPr lang="en-US" altLang="zh-TW" dirty="0"/>
              <a:t>contains six </a:t>
            </a:r>
            <a:r>
              <a:rPr lang="en-US" altLang="zh-TW" dirty="0" smtClean="0"/>
              <a:t>frames, below </a:t>
            </a:r>
            <a:r>
              <a:rPr lang="en-US" altLang="zh-TW" dirty="0" smtClean="0"/>
              <a:t>the minimum </a:t>
            </a:r>
            <a:r>
              <a:rPr lang="en-US" altLang="zh-TW" dirty="0"/>
              <a:t>threshold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Replacement algorithm selects four frames, 15, 3, 35, 26, to add to the free-frame </a:t>
            </a:r>
            <a:r>
              <a:rPr lang="en-US" altLang="zh-TW" dirty="0" smtClean="0"/>
              <a:t>list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Assume these four frames are dirty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So they need to place on a </a:t>
            </a:r>
            <a:r>
              <a:rPr lang="en-US" altLang="zh-TW" b="1" dirty="0" smtClean="0"/>
              <a:t>modified-frame </a:t>
            </a:r>
            <a:r>
              <a:rPr lang="en-US" altLang="zh-TW" b="1" dirty="0"/>
              <a:t>list </a:t>
            </a:r>
            <a:r>
              <a:rPr lang="en-US" altLang="zh-TW" dirty="0"/>
              <a:t>first, waiting to be written to the disk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3964459"/>
            <a:ext cx="7056785" cy="246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Example: </a:t>
            </a:r>
            <a:r>
              <a:rPr lang="en-US" altLang="zh-TW" sz="4000" dirty="0">
                <a:solidFill>
                  <a:srgbClr val="0000FF"/>
                </a:solidFill>
              </a:rPr>
              <a:t>Memory Compression Version</a:t>
            </a:r>
            <a:endParaRPr lang="zh-TW" altLang="en-US" sz="4000" dirty="0">
              <a:solidFill>
                <a:srgbClr val="0000FF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Instead, frame 15, 3, 35 are compressed and stored in frame 7</a:t>
            </a:r>
          </a:p>
          <a:p>
            <a:pPr lvl="1"/>
            <a:r>
              <a:rPr lang="en-US" altLang="zh-TW" dirty="0" smtClean="0"/>
              <a:t>Assume a frame can only contain three compressed frames</a:t>
            </a:r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31" y="3068960"/>
            <a:ext cx="8064896" cy="318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0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Memory Compression (Cont</a:t>
            </a:r>
            <a:r>
              <a:rPr lang="en-US" altLang="zh-TW" sz="4000" dirty="0" smtClean="0"/>
              <a:t>.) (Skip!)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4417" y="1484312"/>
            <a:ext cx="10972800" cy="496902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Mobile devices generally do not support standard paging or swapping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Why? mobile devices use </a:t>
            </a:r>
            <a:r>
              <a:rPr lang="en-US" altLang="zh-TW" b="1" dirty="0"/>
              <a:t>flash</a:t>
            </a:r>
            <a:r>
              <a:rPr lang="en-US" altLang="zh-TW" dirty="0"/>
              <a:t> memory for storage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Constraint </a:t>
            </a:r>
            <a:r>
              <a:rPr lang="en-US" altLang="zh-TW" dirty="0"/>
              <a:t>of flash memory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Limited number of </a:t>
            </a:r>
            <a:r>
              <a:rPr lang="en-US" altLang="zh-TW" dirty="0" smtClean="0"/>
              <a:t>erases </a:t>
            </a:r>
            <a:r>
              <a:rPr lang="en-US" altLang="zh-TW" dirty="0"/>
              <a:t>that flash memory can tolerate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Poor throughput between main memory and flash memory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Thus, mobile devices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Reclaim </a:t>
            </a:r>
            <a:r>
              <a:rPr lang="en-US" altLang="zh-TW" b="1" dirty="0"/>
              <a:t>read-only pages </a:t>
            </a:r>
            <a:r>
              <a:rPr lang="en-US" altLang="zh-TW" dirty="0"/>
              <a:t>(such as </a:t>
            </a:r>
            <a:r>
              <a:rPr lang="en-US" altLang="zh-TW" b="1" dirty="0" smtClean="0"/>
              <a:t>code segment</a:t>
            </a:r>
            <a:r>
              <a:rPr lang="en-US" altLang="zh-TW" dirty="0" smtClean="0"/>
              <a:t>) </a:t>
            </a:r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Do not need to be paged out</a:t>
            </a:r>
            <a:endParaRPr lang="en-US" altLang="zh-TW" dirty="0"/>
          </a:p>
          <a:p>
            <a:pPr lvl="2">
              <a:lnSpc>
                <a:spcPct val="120000"/>
              </a:lnSpc>
            </a:pPr>
            <a:r>
              <a:rPr lang="en-US" altLang="zh-TW" dirty="0"/>
              <a:t>Such data can </a:t>
            </a:r>
            <a:r>
              <a:rPr lang="en-US" altLang="zh-TW" dirty="0">
                <a:solidFill>
                  <a:srgbClr val="FF0000"/>
                </a:solidFill>
              </a:rPr>
              <a:t>be demand-paged </a:t>
            </a:r>
            <a:r>
              <a:rPr lang="en-US" altLang="zh-TW" dirty="0"/>
              <a:t>from the </a:t>
            </a:r>
            <a:r>
              <a:rPr lang="en-US" altLang="zh-TW" b="1" dirty="0" smtClean="0"/>
              <a:t>executable file </a:t>
            </a:r>
            <a:r>
              <a:rPr lang="en-US" altLang="zh-TW" dirty="0" smtClean="0"/>
              <a:t>if </a:t>
            </a:r>
            <a:r>
              <a:rPr lang="en-US" altLang="zh-TW" dirty="0"/>
              <a:t>it is later needed.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Does </a:t>
            </a:r>
            <a:r>
              <a:rPr lang="en-US" altLang="zh-TW" dirty="0"/>
              <a:t>not </a:t>
            </a:r>
            <a:r>
              <a:rPr lang="en-US" altLang="zh-TW" dirty="0" smtClean="0"/>
              <a:t>page out </a:t>
            </a:r>
            <a:r>
              <a:rPr lang="en-US" altLang="zh-TW" b="1" dirty="0" smtClean="0"/>
              <a:t>anonymous </a:t>
            </a:r>
            <a:r>
              <a:rPr lang="en-US" altLang="zh-TW" b="1" dirty="0"/>
              <a:t>memory </a:t>
            </a:r>
            <a:r>
              <a:rPr lang="en-US" altLang="zh-TW" dirty="0"/>
              <a:t>pages </a:t>
            </a:r>
          </a:p>
          <a:p>
            <a:pPr lvl="2">
              <a:lnSpc>
                <a:spcPct val="120000"/>
              </a:lnSpc>
            </a:pPr>
            <a:r>
              <a:rPr lang="en-US" altLang="zh-TW" b="1" dirty="0" smtClean="0"/>
              <a:t>Anonymous </a:t>
            </a:r>
            <a:r>
              <a:rPr lang="en-US" altLang="zh-TW" b="1" dirty="0"/>
              <a:t>memory : </a:t>
            </a:r>
            <a:r>
              <a:rPr lang="en-US" altLang="zh-TW" dirty="0"/>
              <a:t>pages not associated with a file, e.g., stack and heap</a:t>
            </a:r>
          </a:p>
          <a:p>
            <a:pPr lvl="1"/>
            <a:r>
              <a:rPr lang="en-US" altLang="zh-TW" b="1" dirty="0" smtClean="0"/>
              <a:t>Memory compression </a:t>
            </a:r>
            <a:r>
              <a:rPr lang="en-US" altLang="zh-TW" dirty="0" smtClean="0"/>
              <a:t>is used if </a:t>
            </a:r>
            <a:r>
              <a:rPr lang="en-US" altLang="zh-TW" dirty="0"/>
              <a:t>memory becomes constrained. 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643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Other </a:t>
            </a:r>
            <a:r>
              <a:rPr lang="en-US" altLang="zh-TW" sz="2800" dirty="0" smtClean="0"/>
              <a:t>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52931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使用者程式如何動態配置</a:t>
            </a:r>
            <a:r>
              <a:rPr lang="en-US" altLang="zh-TW" dirty="0" smtClean="0"/>
              <a:t>(allocate)</a:t>
            </a:r>
            <a:r>
              <a:rPr lang="zh-TW" altLang="en-US" dirty="0" smtClean="0"/>
              <a:t>新的記憶體空間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via </a:t>
            </a:r>
            <a:r>
              <a:rPr lang="en-US" altLang="zh-TW" dirty="0" err="1" smtClean="0"/>
              <a:t>malloc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740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呼叫</a:t>
            </a:r>
            <a:r>
              <a:rPr lang="en-US" altLang="zh-TW" dirty="0" err="1" smtClean="0"/>
              <a:t>malloc</a:t>
            </a:r>
            <a:r>
              <a:rPr lang="en-US" altLang="zh-TW" dirty="0" smtClean="0"/>
              <a:t>(), OS</a:t>
            </a:r>
            <a:r>
              <a:rPr lang="zh-TW" altLang="en-US" dirty="0" smtClean="0"/>
              <a:t>如何配置記憶體空間給應用程式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從</a:t>
            </a:r>
            <a:r>
              <a:rPr lang="en-US" altLang="zh-TW" dirty="0" smtClean="0"/>
              <a:t>free frame list</a:t>
            </a:r>
            <a:r>
              <a:rPr lang="zh-TW" altLang="en-US" dirty="0" smtClean="0"/>
              <a:t>拿</a:t>
            </a:r>
            <a:r>
              <a:rPr lang="en-US" altLang="zh-TW" dirty="0" smtClean="0"/>
              <a:t>, </a:t>
            </a:r>
            <a:r>
              <a:rPr lang="zh-TW" altLang="en-US" dirty="0" smtClean="0"/>
              <a:t>並修改</a:t>
            </a:r>
            <a:r>
              <a:rPr lang="en-US" altLang="zh-TW" dirty="0" smtClean="0"/>
              <a:t>page table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605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 smtClean="0">
                <a:effectLst/>
              </a:rPr>
              <a:t>複習</a:t>
            </a:r>
            <a:r>
              <a:rPr lang="en-US" altLang="zh-TW" dirty="0" smtClean="0">
                <a:effectLst/>
              </a:rPr>
              <a:t>:</a:t>
            </a:r>
            <a:r>
              <a:rPr lang="zh-TW" altLang="en-US" dirty="0" smtClean="0">
                <a:effectLst/>
              </a:rPr>
              <a:t> </a:t>
            </a:r>
            <a:r>
              <a:rPr lang="en-US" altLang="zh-TW" dirty="0" smtClean="0">
                <a:effectLst/>
              </a:rPr>
              <a:t>Allocating Frames to a Process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2639617" y="6230640"/>
            <a:ext cx="21605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Helvetica" pitchFamily="34" charset="0"/>
              </a:rPr>
              <a:t>Before Allocation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7252339" y="6229330"/>
            <a:ext cx="18944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Helvetica" pitchFamily="34" charset="0"/>
              </a:rPr>
              <a:t>After Allocation</a:t>
            </a: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4007768" y="1177588"/>
            <a:ext cx="46805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OS</a:t>
            </a:r>
            <a:r>
              <a:rPr lang="en-US" altLang="zh-TW" sz="2800" dirty="0">
                <a:solidFill>
                  <a:srgbClr val="FF3300"/>
                </a:solidFill>
                <a:latin typeface="Calibri" panose="020F0502020204030204" pitchFamily="34" charset="0"/>
              </a:rPr>
              <a:t> maintain a</a:t>
            </a:r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 free-frame list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58" y="1916833"/>
            <a:ext cx="7920111" cy="417599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992314" y="1773288"/>
            <a:ext cx="3743647" cy="4392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384032" y="1772817"/>
            <a:ext cx="3837880" cy="4392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77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zh-TW" altLang="en-US" dirty="0"/>
              <a:t>這樣分配到的記憶體有什麼</a:t>
            </a:r>
            <a:r>
              <a:rPr lang="zh-TW" altLang="en-US" dirty="0" smtClean="0"/>
              <a:t>特色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59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Allocating Kernel Memory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User application requests additional memory</a:t>
            </a:r>
          </a:p>
          <a:p>
            <a:pPr lvl="1" eaLnBrk="1" hangingPunct="1"/>
            <a:r>
              <a:rPr lang="en-US" altLang="zh-TW" dirty="0" smtClean="0"/>
              <a:t>Calls </a:t>
            </a:r>
            <a:r>
              <a:rPr lang="en-US" altLang="zh-TW" b="1" dirty="0" err="1" smtClean="0">
                <a:latin typeface="Courier New" pitchFamily="49" charset="0"/>
              </a:rPr>
              <a:t>malloc</a:t>
            </a:r>
            <a:r>
              <a:rPr lang="en-US" altLang="zh-TW" b="1" dirty="0" smtClean="0">
                <a:latin typeface="Courier New" pitchFamily="49" charset="0"/>
              </a:rPr>
              <a:t>()</a:t>
            </a:r>
            <a:r>
              <a:rPr lang="en-US" altLang="zh-TW" dirty="0" smtClean="0"/>
              <a:t>;</a:t>
            </a:r>
          </a:p>
          <a:p>
            <a:pPr lvl="1" eaLnBrk="1" hangingPunct="1"/>
            <a:r>
              <a:rPr lang="en-US" altLang="zh-TW" dirty="0" smtClean="0"/>
              <a:t>OS allocates from the </a:t>
            </a:r>
            <a:r>
              <a:rPr lang="en-US" altLang="zh-TW" b="1" dirty="0" smtClean="0"/>
              <a:t>free frames list</a:t>
            </a:r>
          </a:p>
          <a:p>
            <a:pPr eaLnBrk="1" hangingPunct="1"/>
            <a:endParaRPr lang="en-US" altLang="zh-TW" b="1" dirty="0" smtClean="0"/>
          </a:p>
          <a:p>
            <a:pPr eaLnBrk="1" hangingPunct="1"/>
            <a:r>
              <a:rPr lang="en-US" altLang="zh-TW" b="1" dirty="0" smtClean="0"/>
              <a:t>Characteristics</a:t>
            </a:r>
          </a:p>
          <a:p>
            <a:pPr lvl="1" eaLnBrk="1" hangingPunct="1"/>
            <a:r>
              <a:rPr lang="en-US" altLang="zh-TW" b="1" dirty="0" smtClean="0"/>
              <a:t>Not contiguous </a:t>
            </a:r>
            <a:r>
              <a:rPr lang="en-US" altLang="zh-TW" dirty="0" smtClean="0"/>
              <a:t>and </a:t>
            </a:r>
            <a:r>
              <a:rPr lang="en-US" altLang="zh-TW" b="1" dirty="0" smtClean="0"/>
              <a:t>scattered</a:t>
            </a:r>
            <a:r>
              <a:rPr lang="en-US" altLang="zh-TW" dirty="0" smtClean="0"/>
              <a:t> through physical memory (e.g., a 8 KB request may be allocated in frame 5 and 19)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3300"/>
                </a:solidFill>
              </a:rPr>
              <a:t>Internal fragmentation </a:t>
            </a:r>
            <a:r>
              <a:rPr lang="en-US" altLang="zh-TW" b="1" dirty="0" smtClean="0"/>
              <a:t>since allocated in unit of pages</a:t>
            </a:r>
          </a:p>
          <a:p>
            <a:pPr lvl="1" eaLnBrk="1" hangingPunct="1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620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OS</a:t>
            </a:r>
            <a:r>
              <a:rPr lang="zh-TW" altLang="en-US" dirty="0" smtClean="0"/>
              <a:t>也會動態配置記憶體</a:t>
            </a:r>
            <a:r>
              <a:rPr lang="en-US" altLang="zh-TW" dirty="0" smtClean="0"/>
              <a:t>. </a:t>
            </a:r>
            <a:r>
              <a:rPr lang="zh-TW" altLang="en-US" dirty="0" smtClean="0"/>
              <a:t>例如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PCB, semaphore, mutex, </a:t>
            </a:r>
            <a:r>
              <a:rPr lang="en-US" altLang="zh-TW" dirty="0" err="1" smtClean="0"/>
              <a:t>sk_buff</a:t>
            </a:r>
            <a:r>
              <a:rPr lang="en-US" altLang="zh-TW" dirty="0" smtClean="0"/>
              <a:t>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963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但是</a:t>
            </a:r>
            <a:r>
              <a:rPr lang="en-US" altLang="zh-TW" dirty="0" smtClean="0"/>
              <a:t>, </a:t>
            </a:r>
            <a:r>
              <a:rPr lang="zh-TW" altLang="en-US" dirty="0" smtClean="0"/>
              <a:t>從</a:t>
            </a:r>
            <a:r>
              <a:rPr lang="en-US" altLang="zh-TW" dirty="0" smtClean="0"/>
              <a:t>free frame list</a:t>
            </a:r>
            <a:r>
              <a:rPr lang="zh-TW" altLang="en-US" dirty="0" smtClean="0"/>
              <a:t>拿的特性不適合</a:t>
            </a:r>
            <a:r>
              <a:rPr lang="en-US" altLang="zh-TW" dirty="0" smtClean="0"/>
              <a:t>OS. Why?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147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Allocating Kernel Memory (Cont.)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Why?</a:t>
            </a:r>
          </a:p>
          <a:p>
            <a:pPr lvl="1" eaLnBrk="1" hangingPunct="1"/>
            <a:r>
              <a:rPr lang="en-US" altLang="zh-TW" dirty="0" smtClean="0"/>
              <a:t>Kernel requests memory for </a:t>
            </a:r>
            <a:r>
              <a:rPr lang="en-US" altLang="zh-TW" b="1" dirty="0" smtClean="0"/>
              <a:t>data structures</a:t>
            </a:r>
            <a:r>
              <a:rPr lang="en-US" altLang="zh-TW" dirty="0" smtClean="0"/>
              <a:t>, usually less than a page</a:t>
            </a:r>
          </a:p>
          <a:p>
            <a:pPr lvl="2" eaLnBrk="1" hangingPunct="1"/>
            <a:r>
              <a:rPr lang="en-US" altLang="zh-TW" dirty="0" smtClean="0"/>
              <a:t>Minimizes memory waste due to </a:t>
            </a:r>
            <a:r>
              <a:rPr lang="en-US" altLang="zh-TW" b="1" dirty="0" smtClean="0"/>
              <a:t>internal fragmentation</a:t>
            </a:r>
          </a:p>
          <a:p>
            <a:pPr lvl="2" eaLnBrk="1" hangingPunct="1"/>
            <a:r>
              <a:rPr lang="en-US" altLang="zh-TW" dirty="0" smtClean="0"/>
              <a:t>Especially, some kernel</a:t>
            </a:r>
            <a:r>
              <a:rPr lang="en-US" altLang="zh-TW" dirty="0" smtClean="0">
                <a:latin typeface="Helvetica" pitchFamily="34" charset="0"/>
              </a:rPr>
              <a:t>’</a:t>
            </a:r>
            <a:r>
              <a:rPr lang="en-US" altLang="zh-TW" dirty="0" smtClean="0"/>
              <a:t>s code and data </a:t>
            </a:r>
            <a:r>
              <a:rPr lang="en-US" altLang="zh-TW" b="1" dirty="0" smtClean="0"/>
              <a:t>cannot</a:t>
            </a:r>
            <a:r>
              <a:rPr lang="en-US" altLang="zh-TW" dirty="0" smtClean="0"/>
              <a:t> be paged out. </a:t>
            </a:r>
            <a:r>
              <a:rPr lang="en-US" altLang="zh-TW" b="1" dirty="0" smtClean="0">
                <a:solidFill>
                  <a:srgbClr val="FF0000"/>
                </a:solidFill>
              </a:rPr>
              <a:t>Why?</a:t>
            </a:r>
          </a:p>
          <a:p>
            <a:pPr lvl="3" eaLnBrk="1" hangingPunct="1"/>
            <a:r>
              <a:rPr lang="en-US" altLang="zh-TW" dirty="0" smtClean="0"/>
              <a:t>Kernel memory must be used </a:t>
            </a:r>
            <a:r>
              <a:rPr lang="en-US" altLang="zh-TW" b="1" dirty="0" smtClean="0"/>
              <a:t>conservatively</a:t>
            </a:r>
            <a:r>
              <a:rPr lang="en-US" altLang="zh-TW" dirty="0" smtClean="0"/>
              <a:t> 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Some kernel memory needs memory to be </a:t>
            </a:r>
            <a:r>
              <a:rPr lang="en-US" altLang="zh-TW" b="1" dirty="0" smtClean="0">
                <a:solidFill>
                  <a:srgbClr val="FF0000"/>
                </a:solidFill>
              </a:rPr>
              <a:t>physically contiguous</a:t>
            </a:r>
            <a:r>
              <a:rPr lang="en-US" altLang="zh-TW" dirty="0" smtClean="0"/>
              <a:t>. </a:t>
            </a:r>
            <a:r>
              <a:rPr lang="en-US" altLang="zh-TW" b="1" dirty="0" smtClean="0"/>
              <a:t>Why?</a:t>
            </a:r>
          </a:p>
          <a:p>
            <a:pPr lvl="2" eaLnBrk="1" hangingPunct="1"/>
            <a:r>
              <a:rPr lang="en-US" altLang="zh-TW" dirty="0" smtClean="0"/>
              <a:t>Certain hardware devices interact with </a:t>
            </a:r>
            <a:r>
              <a:rPr lang="en-US" altLang="zh-TW" b="1" dirty="0" smtClean="0">
                <a:solidFill>
                  <a:srgbClr val="FF3300"/>
                </a:solidFill>
              </a:rPr>
              <a:t>physical</a:t>
            </a:r>
            <a:r>
              <a:rPr lang="en-US" altLang="zh-TW" dirty="0" smtClean="0"/>
              <a:t> memory</a:t>
            </a:r>
          </a:p>
        </p:txBody>
      </p:sp>
    </p:spTree>
    <p:extLst>
      <p:ext uri="{BB962C8B-B14F-4D97-AF65-F5344CB8AC3E}">
        <p14:creationId xmlns:p14="http://schemas.microsoft.com/office/powerpoint/2010/main" val="338455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A </a:t>
            </a:r>
            <a:r>
              <a:rPr lang="en-US" altLang="zh-TW" dirty="0"/>
              <a:t>Computer System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1634647" y="1556792"/>
            <a:ext cx="8997857" cy="4752527"/>
            <a:chOff x="755650" y="2852738"/>
            <a:chExt cx="7272338" cy="3671887"/>
          </a:xfrm>
        </p:grpSpPr>
        <p:pic>
          <p:nvPicPr>
            <p:cNvPr id="22532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427" t="17949" r="427" b="17664"/>
            <a:stretch>
              <a:fillRect/>
            </a:stretch>
          </p:blipFill>
          <p:spPr bwMode="auto">
            <a:xfrm>
              <a:off x="755650" y="2852738"/>
              <a:ext cx="7272338" cy="3671887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2539" name="Line 13"/>
            <p:cNvSpPr>
              <a:spLocks noChangeShapeType="1"/>
            </p:cNvSpPr>
            <p:nvPr/>
          </p:nvSpPr>
          <p:spPr bwMode="auto">
            <a:xfrm flipV="1">
              <a:off x="2771774" y="5046508"/>
              <a:ext cx="913600" cy="83041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43" name="Rectangle 18"/>
            <p:cNvSpPr>
              <a:spLocks noChangeArrowheads="1"/>
            </p:cNvSpPr>
            <p:nvPr/>
          </p:nvSpPr>
          <p:spPr bwMode="auto">
            <a:xfrm>
              <a:off x="3560602" y="4424319"/>
              <a:ext cx="215900" cy="57626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548" name="Text Box 23"/>
            <p:cNvSpPr txBox="1">
              <a:spLocks noChangeArrowheads="1"/>
            </p:cNvSpPr>
            <p:nvPr/>
          </p:nvSpPr>
          <p:spPr bwMode="auto">
            <a:xfrm>
              <a:off x="2318724" y="5899589"/>
              <a:ext cx="1197924" cy="324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latin typeface="Calibri" panose="020F0502020204030204" pitchFamily="34" charset="0"/>
                </a:rPr>
                <a:t>Local buffer</a:t>
              </a:r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28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Kernel</a:t>
            </a:r>
            <a:r>
              <a:rPr lang="zh-TW" altLang="en-US" dirty="0" smtClean="0"/>
              <a:t>動態要記憶體會有不同的做法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從另外一個</a:t>
            </a:r>
            <a:r>
              <a:rPr lang="en-US" altLang="zh-TW" dirty="0" smtClean="0"/>
              <a:t>free memory pool</a:t>
            </a:r>
            <a:r>
              <a:rPr lang="zh-TW" altLang="en-US" dirty="0" smtClean="0"/>
              <a:t>拿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571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Allocating Kernel Memory (Cont.)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Two strategies for managing free memory that is assigned to </a:t>
            </a:r>
            <a:r>
              <a:rPr lang="en-US" altLang="zh-TW" b="1" dirty="0" smtClean="0"/>
              <a:t>kernel</a:t>
            </a:r>
            <a:r>
              <a:rPr lang="en-US" altLang="zh-TW" dirty="0" smtClean="0"/>
              <a:t> processes</a:t>
            </a:r>
          </a:p>
          <a:p>
            <a:pPr lvl="1" eaLnBrk="1" hangingPunct="1"/>
            <a:endParaRPr lang="en-US" altLang="zh-TW" b="1" dirty="0" smtClean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dirty="0" smtClean="0">
                <a:solidFill>
                  <a:srgbClr val="FF3300"/>
                </a:solidFill>
              </a:rPr>
              <a:t>Buddy system</a:t>
            </a:r>
          </a:p>
          <a:p>
            <a:pPr lvl="1" eaLnBrk="1" hangingPunct="1"/>
            <a:endParaRPr lang="en-US" altLang="zh-TW" b="1" dirty="0" smtClean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dirty="0" smtClean="0">
                <a:solidFill>
                  <a:srgbClr val="FF3300"/>
                </a:solidFill>
              </a:rPr>
              <a:t>Slab allocation</a:t>
            </a:r>
          </a:p>
        </p:txBody>
      </p:sp>
    </p:spTree>
    <p:extLst>
      <p:ext uri="{BB962C8B-B14F-4D97-AF65-F5344CB8AC3E}">
        <p14:creationId xmlns:p14="http://schemas.microsoft.com/office/powerpoint/2010/main" val="104473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Buddy System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sz="2800" dirty="0"/>
              <a:t>Allocates memory from a fixed-size segment</a:t>
            </a:r>
          </a:p>
          <a:p>
            <a:pPr lvl="1" eaLnBrk="1" hangingPunct="1"/>
            <a:r>
              <a:rPr lang="en-US" altLang="zh-TW" sz="2400" dirty="0"/>
              <a:t>Consist of </a:t>
            </a:r>
            <a:r>
              <a:rPr lang="en-US" altLang="zh-TW" sz="2400" b="1" dirty="0">
                <a:solidFill>
                  <a:srgbClr val="3333FF"/>
                </a:solidFill>
              </a:rPr>
              <a:t>physically-contiguous pages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/>
              <a:t>Memory allocated using </a:t>
            </a:r>
            <a:r>
              <a:rPr lang="en-US" altLang="zh-TW" sz="2800" b="1" dirty="0"/>
              <a:t>power-of-2 allocator</a:t>
            </a:r>
          </a:p>
          <a:p>
            <a:pPr lvl="1" eaLnBrk="1" hangingPunct="1"/>
            <a:r>
              <a:rPr lang="en-US" altLang="zh-TW" sz="2400" dirty="0"/>
              <a:t>Satisfies requests in units sized as power of 2</a:t>
            </a:r>
          </a:p>
          <a:p>
            <a:pPr lvl="2" eaLnBrk="1" hangingPunct="1"/>
            <a:r>
              <a:rPr lang="en-US" altLang="zh-TW" sz="2000" dirty="0"/>
              <a:t>Request rounded up to next highest power of 2</a:t>
            </a:r>
          </a:p>
          <a:p>
            <a:pPr lvl="1" eaLnBrk="1" hangingPunct="1"/>
            <a:r>
              <a:rPr lang="en-US" altLang="zh-TW" sz="2400" dirty="0"/>
              <a:t>When smaller allocation needed than is available,</a:t>
            </a:r>
          </a:p>
          <a:p>
            <a:pPr lvl="2" eaLnBrk="1" hangingPunct="1"/>
            <a:r>
              <a:rPr lang="en-US" altLang="zh-TW" sz="2000" dirty="0"/>
              <a:t>Current chunk split into two buddies of next-lower power of 2</a:t>
            </a:r>
          </a:p>
          <a:p>
            <a:pPr lvl="2" eaLnBrk="1" hangingPunct="1"/>
            <a:r>
              <a:rPr lang="en-US" altLang="zh-TW" sz="2000" dirty="0"/>
              <a:t>Continue until appropriate sized chunk available</a:t>
            </a:r>
          </a:p>
          <a:p>
            <a:pPr lvl="1" eaLnBrk="1" hangingPunct="1"/>
            <a:r>
              <a:rPr lang="en-US" altLang="zh-TW" dirty="0"/>
              <a:t>Coalescing (</a:t>
            </a:r>
            <a:r>
              <a:rPr lang="zh-TW" altLang="en-US" dirty="0"/>
              <a:t>聯合</a:t>
            </a:r>
            <a:r>
              <a:rPr lang="en-US" altLang="zh-TW" dirty="0"/>
              <a:t>) </a:t>
            </a:r>
          </a:p>
          <a:p>
            <a:pPr lvl="2" eaLnBrk="1" hangingPunct="1"/>
            <a:r>
              <a:rPr lang="en-US" altLang="zh-TW" dirty="0"/>
              <a:t>Adjacent buddies can be combined to a larger segments</a:t>
            </a:r>
            <a:endParaRPr lang="en-US" altLang="zh-TW" dirty="0" smtClean="0"/>
          </a:p>
          <a:p>
            <a:pPr lvl="1" eaLnBrk="1" hangingPunct="1"/>
            <a:r>
              <a:rPr lang="en-US" altLang="zh-TW" sz="2400" dirty="0"/>
              <a:t>See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135856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 descr="7_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3388" y="404813"/>
            <a:ext cx="8547100" cy="606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825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Buddy System (Cont.)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Good: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/>
              <a:t>Physically</a:t>
            </a:r>
            <a:r>
              <a:rPr lang="en-US" altLang="zh-TW" sz="2400" dirty="0" smtClean="0"/>
              <a:t> contiguous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Bad: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/>
              <a:t>Fragmentation</a:t>
            </a:r>
            <a:r>
              <a:rPr lang="en-US" altLang="zh-TW" sz="2400" dirty="0"/>
              <a:t> due to rounding up to the next highest power of 2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 smtClean="0"/>
              <a:t>33 </a:t>
            </a:r>
            <a:r>
              <a:rPr lang="en-US" altLang="zh-TW" sz="2000" dirty="0"/>
              <a:t>KB =&gt; 64KB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Sol.: </a:t>
            </a:r>
            <a:r>
              <a:rPr lang="en-US" altLang="zh-TW" sz="2800" b="1" dirty="0"/>
              <a:t>Slab allocation</a:t>
            </a:r>
          </a:p>
        </p:txBody>
      </p:sp>
    </p:spTree>
    <p:extLst>
      <p:ext uri="{BB962C8B-B14F-4D97-AF65-F5344CB8AC3E}">
        <p14:creationId xmlns:p14="http://schemas.microsoft.com/office/powerpoint/2010/main" val="97012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Slab Allocation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b="1" dirty="0" smtClean="0"/>
              <a:t>Slab 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One or more contiguous frames</a:t>
            </a:r>
          </a:p>
          <a:p>
            <a:pPr>
              <a:lnSpc>
                <a:spcPct val="120000"/>
              </a:lnSpc>
            </a:pPr>
            <a:endParaRPr lang="en-US" altLang="zh-TW" b="1" dirty="0" smtClean="0"/>
          </a:p>
          <a:p>
            <a:pPr>
              <a:lnSpc>
                <a:spcPct val="120000"/>
              </a:lnSpc>
            </a:pPr>
            <a:r>
              <a:rPr lang="en-US" altLang="zh-TW" b="1" dirty="0" smtClean="0"/>
              <a:t>Cache</a:t>
            </a:r>
            <a:r>
              <a:rPr lang="en-US" altLang="zh-TW" dirty="0" smtClean="0"/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Consists of one or more slabs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Each cache is used for each unique kernel data structure</a:t>
            </a:r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Ex: Process control blocks, file descriptors, semaphores</a:t>
            </a:r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Example: a cache consists of 2 slabs and each slab made up of 3 contiguous frames. Thus, a cache is 24-KB. If this cache </a:t>
            </a:r>
            <a:r>
              <a:rPr lang="en-US" altLang="zh-TW" dirty="0"/>
              <a:t>is for </a:t>
            </a:r>
            <a:r>
              <a:rPr lang="en-US" altLang="zh-TW" dirty="0" smtClean="0"/>
              <a:t>PCB and PCB size = </a:t>
            </a:r>
            <a:r>
              <a:rPr lang="en-US" altLang="zh-TW" dirty="0"/>
              <a:t>2KB, </a:t>
            </a:r>
            <a:r>
              <a:rPr lang="en-US" altLang="zh-TW" dirty="0" smtClean="0"/>
              <a:t>this cache can store 12 PCB</a:t>
            </a:r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398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Slab Allocation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695400" y="5397211"/>
            <a:ext cx="10972800" cy="1440161"/>
          </a:xfrm>
        </p:spPr>
        <p:txBody>
          <a:bodyPr>
            <a:noAutofit/>
          </a:bodyPr>
          <a:lstStyle/>
          <a:p>
            <a:r>
              <a:rPr lang="en-US" altLang="zh-TW" sz="2000" dirty="0"/>
              <a:t>One cache consisting of two slabs, can store up to eight 3-KB (assume semaphore) objects (two are allocated, six are free</a:t>
            </a:r>
            <a:r>
              <a:rPr lang="en-US" altLang="zh-TW" sz="2000" dirty="0" smtClean="0"/>
              <a:t>)</a:t>
            </a:r>
            <a:endParaRPr lang="en-US" altLang="zh-TW" sz="2000" dirty="0"/>
          </a:p>
          <a:p>
            <a:r>
              <a:rPr lang="en-US" altLang="zh-TW" sz="2000" dirty="0"/>
              <a:t>Another cache consists of two slabs, can store up to six 7-KB (assume PCB) objects (three are allocated, three are </a:t>
            </a:r>
            <a:r>
              <a:rPr lang="en-US" altLang="zh-TW" sz="2000"/>
              <a:t>free</a:t>
            </a:r>
            <a:r>
              <a:rPr lang="en-US" altLang="zh-TW" sz="2000" smtClean="0"/>
              <a:t>)</a:t>
            </a:r>
            <a:endParaRPr lang="zh-TW" altLang="en-US" sz="2000" dirty="0"/>
          </a:p>
        </p:txBody>
      </p:sp>
      <p:sp>
        <p:nvSpPr>
          <p:cNvPr id="114692" name="Line 5"/>
          <p:cNvSpPr>
            <a:spLocks noChangeShapeType="1"/>
          </p:cNvSpPr>
          <p:nvPr/>
        </p:nvSpPr>
        <p:spPr bwMode="auto">
          <a:xfrm flipH="1">
            <a:off x="8040217" y="999011"/>
            <a:ext cx="1224433" cy="8643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693" name="Text Box 6"/>
          <p:cNvSpPr txBox="1">
            <a:spLocks noChangeArrowheads="1"/>
          </p:cNvSpPr>
          <p:nvPr/>
        </p:nvSpPr>
        <p:spPr bwMode="auto">
          <a:xfrm>
            <a:off x="8904288" y="620714"/>
            <a:ext cx="1446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3KB objects</a:t>
            </a:r>
          </a:p>
        </p:txBody>
      </p:sp>
      <p:sp>
        <p:nvSpPr>
          <p:cNvPr id="114694" name="Line 8"/>
          <p:cNvSpPr>
            <a:spLocks noChangeShapeType="1"/>
          </p:cNvSpPr>
          <p:nvPr/>
        </p:nvSpPr>
        <p:spPr bwMode="auto">
          <a:xfrm flipH="1">
            <a:off x="8040216" y="1017588"/>
            <a:ext cx="1224432" cy="13312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Picture 1" descr="9_27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182688"/>
            <a:ext cx="6984776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000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Slab Allocation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Benefits:</a:t>
            </a:r>
          </a:p>
          <a:p>
            <a:pPr lvl="1"/>
            <a:r>
              <a:rPr lang="en-US" altLang="zh-TW" b="1" dirty="0" smtClean="0"/>
              <a:t>Physically</a:t>
            </a:r>
            <a:r>
              <a:rPr lang="en-US" altLang="zh-TW" dirty="0" smtClean="0"/>
              <a:t> </a:t>
            </a:r>
            <a:r>
              <a:rPr lang="en-US" altLang="zh-TW" dirty="0"/>
              <a:t>contiguous</a:t>
            </a:r>
            <a:endParaRPr lang="en-US" altLang="zh-TW" b="1" dirty="0" smtClean="0"/>
          </a:p>
          <a:p>
            <a:pPr lvl="1"/>
            <a:endParaRPr lang="en-US" altLang="zh-TW" b="1" dirty="0" smtClean="0"/>
          </a:p>
          <a:p>
            <a:pPr lvl="1"/>
            <a:r>
              <a:rPr lang="en-US" altLang="zh-TW" b="1" dirty="0" smtClean="0"/>
              <a:t>No fragmentation</a:t>
            </a:r>
            <a:endParaRPr lang="en-US" altLang="zh-TW" dirty="0" smtClean="0"/>
          </a:p>
          <a:p>
            <a:pPr lvl="1"/>
            <a:endParaRPr lang="en-US" altLang="zh-TW" b="1" dirty="0" smtClean="0"/>
          </a:p>
          <a:p>
            <a:pPr lvl="1"/>
            <a:r>
              <a:rPr lang="en-US" altLang="zh-TW" b="1" dirty="0" smtClean="0"/>
              <a:t>Fast memory request satisfaction</a:t>
            </a:r>
          </a:p>
          <a:p>
            <a:pPr lvl="2"/>
            <a:r>
              <a:rPr lang="en-US" altLang="zh-TW" dirty="0" smtClean="0"/>
              <a:t>Objects are </a:t>
            </a:r>
            <a:r>
              <a:rPr lang="en-US" altLang="zh-TW" b="1" dirty="0" smtClean="0">
                <a:solidFill>
                  <a:srgbClr val="FF0000"/>
                </a:solidFill>
              </a:rPr>
              <a:t>created in advance</a:t>
            </a:r>
          </a:p>
          <a:p>
            <a:pPr lvl="2"/>
            <a:r>
              <a:rPr lang="en-US" altLang="zh-TW" dirty="0" smtClean="0"/>
              <a:t>Objects are </a:t>
            </a:r>
            <a:r>
              <a:rPr lang="en-US" altLang="zh-TW" b="1" dirty="0" smtClean="0">
                <a:solidFill>
                  <a:srgbClr val="FF0000"/>
                </a:solidFill>
              </a:rPr>
              <a:t>released by marking free </a:t>
            </a:r>
            <a:r>
              <a:rPr lang="en-US" altLang="zh-TW" dirty="0" smtClean="0"/>
              <a:t>and return to the cache</a:t>
            </a:r>
          </a:p>
          <a:p>
            <a:pPr lvl="2"/>
            <a:r>
              <a:rPr lang="en-US" altLang="zh-TW" dirty="0" smtClean="0"/>
              <a:t>Thus, attractive when objects are frequently allocated and freed</a:t>
            </a:r>
          </a:p>
          <a:p>
            <a:pPr lvl="3"/>
            <a:r>
              <a:rPr lang="en-US" altLang="zh-TW" dirty="0" smtClean="0"/>
              <a:t>Often the case with requests from the kernel</a:t>
            </a:r>
          </a:p>
          <a:p>
            <a:pPr lvl="3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066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Outline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Demand Paging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Copy-on-Write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</a:t>
            </a:r>
            <a:r>
              <a:rPr lang="en-US" altLang="zh-TW" sz="2800" dirty="0" smtClean="0"/>
              <a:t>Replacement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Page Replacement</a:t>
            </a:r>
            <a:r>
              <a:rPr lang="zh-TW" altLang="en-US" sz="2800" dirty="0"/>
              <a:t> </a:t>
            </a:r>
            <a:r>
              <a:rPr lang="en-US" altLang="zh-TW" sz="2800" dirty="0"/>
              <a:t>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Allocation </a:t>
            </a:r>
            <a:r>
              <a:rPr lang="en-US" altLang="zh-TW" sz="2800" dirty="0"/>
              <a:t>of Frames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Thrashing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Memory Compression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Allocating Kernel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FF3300"/>
                </a:solidFill>
              </a:rPr>
              <a:t>Other </a:t>
            </a:r>
            <a:r>
              <a:rPr lang="en-US" altLang="zh-TW" sz="2800" b="1" dirty="0" smtClean="0">
                <a:solidFill>
                  <a:srgbClr val="FF3300"/>
                </a:solidFill>
              </a:rPr>
              <a:t>Considerations</a:t>
            </a:r>
            <a:endParaRPr lang="en-US" altLang="zh-TW" sz="28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7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Other Considerations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/>
              <a:t>Major decisions of a paging system</a:t>
            </a:r>
          </a:p>
          <a:p>
            <a:pPr lvl="1" eaLnBrk="1" hangingPunct="1"/>
            <a:r>
              <a:rPr lang="en-US" altLang="zh-TW" sz="2400" dirty="0"/>
              <a:t>Page replacement algorithm</a:t>
            </a:r>
          </a:p>
          <a:p>
            <a:pPr lvl="1" eaLnBrk="1" hangingPunct="1"/>
            <a:r>
              <a:rPr lang="en-US" altLang="zh-TW" sz="2400" dirty="0"/>
              <a:t>Page allocation policy</a:t>
            </a:r>
          </a:p>
          <a:p>
            <a:pPr eaLnBrk="1" hangingPunct="1"/>
            <a:r>
              <a:rPr lang="en-US" altLang="zh-TW" sz="2800" dirty="0"/>
              <a:t>Other considerations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dirty="0" smtClean="0"/>
              <a:t>Pre-paging </a:t>
            </a:r>
            <a:endParaRPr lang="en-US" altLang="zh-TW" sz="2400" dirty="0"/>
          </a:p>
          <a:p>
            <a:pPr lvl="1" eaLnBrk="1" hangingPunct="1"/>
            <a:r>
              <a:rPr lang="en-US" altLang="zh-TW" sz="2400" dirty="0"/>
              <a:t>Page size </a:t>
            </a:r>
          </a:p>
          <a:p>
            <a:pPr lvl="1" eaLnBrk="1" hangingPunct="1"/>
            <a:r>
              <a:rPr lang="en-US" altLang="zh-TW" sz="2400" dirty="0"/>
              <a:t>TLB Reach</a:t>
            </a:r>
          </a:p>
          <a:p>
            <a:pPr lvl="1" eaLnBrk="1" hangingPunct="1"/>
            <a:r>
              <a:rPr lang="en-US" altLang="zh-TW" sz="2400" dirty="0"/>
              <a:t>Inverted Page Tables</a:t>
            </a:r>
          </a:p>
          <a:p>
            <a:pPr lvl="1" eaLnBrk="1" hangingPunct="1"/>
            <a:r>
              <a:rPr lang="en-US" altLang="zh-TW" sz="2400" dirty="0"/>
              <a:t>Program Structure</a:t>
            </a:r>
          </a:p>
          <a:p>
            <a:pPr lvl="1" eaLnBrk="1" hangingPunct="1"/>
            <a:r>
              <a:rPr lang="en-US" altLang="zh-TW" sz="2400" dirty="0"/>
              <a:t>I/O Interlock and Page Locking</a:t>
            </a:r>
          </a:p>
        </p:txBody>
      </p:sp>
    </p:spTree>
    <p:extLst>
      <p:ext uri="{BB962C8B-B14F-4D97-AF65-F5344CB8AC3E}">
        <p14:creationId xmlns:p14="http://schemas.microsoft.com/office/powerpoint/2010/main" val="279021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Other Considerations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/>
              <a:t>Major decisions of a paging system</a:t>
            </a:r>
          </a:p>
          <a:p>
            <a:pPr lvl="1" eaLnBrk="1" hangingPunct="1"/>
            <a:r>
              <a:rPr lang="en-US" altLang="zh-TW" sz="2400" dirty="0"/>
              <a:t>Page replacement algorithm</a:t>
            </a:r>
          </a:p>
          <a:p>
            <a:pPr lvl="1" eaLnBrk="1" hangingPunct="1"/>
            <a:r>
              <a:rPr lang="en-US" altLang="zh-TW" sz="2400" dirty="0"/>
              <a:t>Page allocation policy</a:t>
            </a:r>
          </a:p>
          <a:p>
            <a:pPr eaLnBrk="1" hangingPunct="1"/>
            <a:r>
              <a:rPr lang="en-US" altLang="zh-TW" sz="2800" dirty="0"/>
              <a:t>Other considerations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b="1" dirty="0" smtClean="0">
                <a:solidFill>
                  <a:srgbClr val="FF0000"/>
                </a:solidFill>
              </a:rPr>
              <a:t>Pre-paging </a:t>
            </a:r>
            <a:endParaRPr lang="en-US" altLang="zh-TW" sz="24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z="2400" dirty="0"/>
              <a:t>Page size </a:t>
            </a:r>
          </a:p>
          <a:p>
            <a:pPr lvl="1" eaLnBrk="1" hangingPunct="1"/>
            <a:r>
              <a:rPr lang="en-US" altLang="zh-TW" sz="2400" dirty="0"/>
              <a:t>TLB Reach</a:t>
            </a:r>
          </a:p>
          <a:p>
            <a:pPr lvl="1" eaLnBrk="1" hangingPunct="1"/>
            <a:r>
              <a:rPr lang="en-US" altLang="zh-TW" sz="2400" dirty="0"/>
              <a:t>Inverted Page Tables</a:t>
            </a:r>
          </a:p>
          <a:p>
            <a:pPr lvl="1" eaLnBrk="1" hangingPunct="1"/>
            <a:r>
              <a:rPr lang="en-US" altLang="zh-TW" sz="2400" dirty="0"/>
              <a:t>Program Structure</a:t>
            </a:r>
          </a:p>
          <a:p>
            <a:pPr lvl="1" eaLnBrk="1" hangingPunct="1"/>
            <a:r>
              <a:rPr lang="en-US" altLang="zh-TW" sz="2400" dirty="0"/>
              <a:t>I/O Interlock and Page Locking</a:t>
            </a:r>
          </a:p>
        </p:txBody>
      </p:sp>
    </p:spTree>
    <p:extLst>
      <p:ext uri="{BB962C8B-B14F-4D97-AF65-F5344CB8AC3E}">
        <p14:creationId xmlns:p14="http://schemas.microsoft.com/office/powerpoint/2010/main" val="249366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Other Issues </a:t>
            </a:r>
            <a:r>
              <a:rPr lang="en-US" altLang="zh-TW" dirty="0" smtClean="0">
                <a:latin typeface="Helvetica"/>
              </a:rPr>
              <a:t>–</a:t>
            </a:r>
            <a:r>
              <a:rPr lang="en-US" altLang="zh-TW" dirty="0" smtClean="0"/>
              <a:t> Pre-paging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sz="2800" dirty="0"/>
              <a:t>To reduce the large number of page faults at process startup </a:t>
            </a:r>
            <a:r>
              <a:rPr lang="en-US" altLang="zh-TW" sz="2100" dirty="0"/>
              <a:t>(see the next slide)</a:t>
            </a:r>
            <a:endParaRPr lang="en-US" altLang="zh-TW" sz="19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b="1" dirty="0" smtClean="0">
                <a:solidFill>
                  <a:srgbClr val="FF3300"/>
                </a:solidFill>
              </a:rPr>
              <a:t>Pre-page </a:t>
            </a:r>
            <a:r>
              <a:rPr lang="en-US" altLang="zh-TW" sz="2400" dirty="0"/>
              <a:t>pages a process will need, before they are referenced</a:t>
            </a:r>
          </a:p>
          <a:p>
            <a:pPr eaLnBrk="1" hangingPunct="1">
              <a:lnSpc>
                <a:spcPct val="12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120000"/>
              </a:lnSpc>
            </a:pPr>
            <a:r>
              <a:rPr lang="en-US" altLang="zh-TW" sz="2800" dirty="0" smtClean="0"/>
              <a:t>But </a:t>
            </a:r>
            <a:r>
              <a:rPr lang="en-US" altLang="zh-TW" sz="2800" dirty="0"/>
              <a:t>if prepaged pages are unused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dirty="0"/>
              <a:t>I/O and memory was </a:t>
            </a:r>
            <a:r>
              <a:rPr lang="en-US" altLang="zh-TW" sz="2400" dirty="0" smtClean="0"/>
              <a:t>wasted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28384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Other Issues </a:t>
            </a:r>
            <a:r>
              <a:rPr lang="en-US" altLang="zh-TW" dirty="0" smtClean="0">
                <a:latin typeface="Helvetica"/>
              </a:rPr>
              <a:t>–</a:t>
            </a:r>
            <a:r>
              <a:rPr lang="en-US" altLang="zh-TW" dirty="0" smtClean="0"/>
              <a:t> Pre-paging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eaLnBrk="1" hangingPunct="1">
              <a:buFontTx/>
              <a:buNone/>
            </a:pPr>
            <a:r>
              <a:rPr lang="en-US" altLang="zh-TW" b="1" i="1" dirty="0" smtClean="0">
                <a:solidFill>
                  <a:srgbClr val="FF3300"/>
                </a:solidFill>
              </a:rPr>
              <a:t>Page faults occurs at the program startup</a:t>
            </a:r>
          </a:p>
        </p:txBody>
      </p:sp>
      <p:pic>
        <p:nvPicPr>
          <p:cNvPr id="119812" name="Picture 4"/>
          <p:cNvPicPr>
            <a:picLocks noChangeAspect="1" noChangeArrowheads="1"/>
          </p:cNvPicPr>
          <p:nvPr/>
        </p:nvPicPr>
        <p:blipFill>
          <a:blip r:embed="rId2" cstate="print"/>
          <a:srcRect l="471" t="32074" r="781" b="32076"/>
          <a:stretch>
            <a:fillRect/>
          </a:stretch>
        </p:blipFill>
        <p:spPr bwMode="auto">
          <a:xfrm>
            <a:off x="2063751" y="2349501"/>
            <a:ext cx="8342313" cy="35988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5303838" y="6021388"/>
            <a:ext cx="1416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Times New Roman" pitchFamily="18" charset="0"/>
              </a:rPr>
              <a:t>9 page faults</a:t>
            </a:r>
          </a:p>
        </p:txBody>
      </p:sp>
    </p:spTree>
    <p:extLst>
      <p:ext uri="{BB962C8B-B14F-4D97-AF65-F5344CB8AC3E}">
        <p14:creationId xmlns:p14="http://schemas.microsoft.com/office/powerpoint/2010/main" val="267197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Other Considerations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/>
              <a:t>Major decisions of a paging system</a:t>
            </a:r>
          </a:p>
          <a:p>
            <a:pPr lvl="1" eaLnBrk="1" hangingPunct="1"/>
            <a:r>
              <a:rPr lang="en-US" altLang="zh-TW" sz="2400" dirty="0"/>
              <a:t>Page replacement algorithm</a:t>
            </a:r>
          </a:p>
          <a:p>
            <a:pPr lvl="1" eaLnBrk="1" hangingPunct="1"/>
            <a:r>
              <a:rPr lang="en-US" altLang="zh-TW" sz="2400" dirty="0"/>
              <a:t>Page allocation policy</a:t>
            </a:r>
          </a:p>
          <a:p>
            <a:pPr eaLnBrk="1" hangingPunct="1"/>
            <a:r>
              <a:rPr lang="en-US" altLang="zh-TW" sz="2800" dirty="0"/>
              <a:t>Other considerations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dirty="0" smtClean="0"/>
              <a:t>Pre-paging </a:t>
            </a:r>
            <a:endParaRPr lang="en-US" altLang="zh-TW" sz="2400" dirty="0"/>
          </a:p>
          <a:p>
            <a:pPr lvl="1" eaLnBrk="1" hangingPunct="1"/>
            <a:r>
              <a:rPr lang="en-US" altLang="zh-TW" sz="2400" b="1" dirty="0">
                <a:solidFill>
                  <a:srgbClr val="FF0000"/>
                </a:solidFill>
              </a:rPr>
              <a:t>Page size </a:t>
            </a:r>
          </a:p>
          <a:p>
            <a:pPr lvl="1" eaLnBrk="1" hangingPunct="1"/>
            <a:r>
              <a:rPr lang="en-US" altLang="zh-TW" sz="2400" dirty="0"/>
              <a:t>TLB Reach</a:t>
            </a:r>
          </a:p>
          <a:p>
            <a:pPr lvl="1" eaLnBrk="1" hangingPunct="1"/>
            <a:r>
              <a:rPr lang="en-US" altLang="zh-TW" sz="2400" dirty="0"/>
              <a:t>Inverted Page Tables</a:t>
            </a:r>
          </a:p>
          <a:p>
            <a:pPr lvl="1" eaLnBrk="1" hangingPunct="1"/>
            <a:r>
              <a:rPr lang="en-US" altLang="zh-TW" sz="2400" dirty="0"/>
              <a:t>Program Structure</a:t>
            </a:r>
          </a:p>
          <a:p>
            <a:pPr lvl="1" eaLnBrk="1" hangingPunct="1"/>
            <a:r>
              <a:rPr lang="en-US" altLang="zh-TW" sz="2400" dirty="0"/>
              <a:t>I/O Interlock and Page Locking</a:t>
            </a:r>
          </a:p>
        </p:txBody>
      </p:sp>
    </p:spTree>
    <p:extLst>
      <p:ext uri="{BB962C8B-B14F-4D97-AF65-F5344CB8AC3E}">
        <p14:creationId xmlns:p14="http://schemas.microsoft.com/office/powerpoint/2010/main" val="317109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Other Issues </a:t>
            </a:r>
            <a:r>
              <a:rPr lang="en-US" altLang="zh-TW" dirty="0" smtClean="0">
                <a:latin typeface="Helvetica"/>
              </a:rPr>
              <a:t>–</a:t>
            </a:r>
            <a:r>
              <a:rPr lang="en-US" altLang="zh-TW" dirty="0" smtClean="0"/>
              <a:t> Page Size</a:t>
            </a:r>
          </a:p>
        </p:txBody>
      </p:sp>
      <p:sp>
        <p:nvSpPr>
          <p:cNvPr id="7086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2800" dirty="0"/>
              <a:t>How do we select a page size</a:t>
            </a:r>
            <a:r>
              <a:rPr lang="en-US" altLang="zh-TW" sz="2800" dirty="0" smtClean="0"/>
              <a:t>? </a:t>
            </a:r>
            <a:r>
              <a:rPr lang="en-US" altLang="zh-TW" sz="2000" dirty="0" smtClean="0"/>
              <a:t>(see the following slide)</a:t>
            </a:r>
            <a:endParaRPr lang="en-US" altLang="zh-TW" sz="2800" dirty="0"/>
          </a:p>
          <a:p>
            <a:pPr lvl="1" eaLnBrk="1" hangingPunct="1">
              <a:defRPr/>
            </a:pPr>
            <a:r>
              <a:rPr lang="en-US" altLang="zh-TW" sz="2400" dirty="0"/>
              <a:t>Page table size (memory overhead) </a:t>
            </a:r>
            <a:r>
              <a:rPr lang="en-US" altLang="zh-TW" sz="2400" dirty="0">
                <a:sym typeface="Symbol" pitchFamily="18" charset="2"/>
              </a:rPr>
              <a:t> large page</a:t>
            </a:r>
          </a:p>
          <a:p>
            <a:pPr lvl="1" eaLnBrk="1" hangingPunct="1">
              <a:defRPr/>
            </a:pPr>
            <a:r>
              <a:rPr lang="en-US" altLang="zh-TW" sz="2400" dirty="0"/>
              <a:t>Internal fragmentation (</a:t>
            </a:r>
            <a:r>
              <a:rPr lang="en-US" altLang="zh-TW" sz="2400" dirty="0">
                <a:sym typeface="Symbol" pitchFamily="18" charset="2"/>
              </a:rPr>
              <a:t>memory utilization)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 small page</a:t>
            </a:r>
          </a:p>
          <a:p>
            <a:pPr lvl="2" eaLnBrk="1" hangingPunct="1">
              <a:defRPr/>
            </a:pPr>
            <a:r>
              <a:rPr lang="en-US" altLang="zh-TW" sz="2000" b="1" dirty="0"/>
              <a:t>Internal fragmentation</a:t>
            </a:r>
            <a:r>
              <a:rPr lang="en-US" altLang="zh-TW" sz="2000" dirty="0"/>
              <a:t>: </a:t>
            </a:r>
            <a:r>
              <a:rPr lang="en-US" altLang="zh-TW" sz="2000" b="1" dirty="0">
                <a:solidFill>
                  <a:srgbClr val="FF3300"/>
                </a:solidFill>
              </a:rPr>
              <a:t>1/2 page</a:t>
            </a:r>
            <a:r>
              <a:rPr lang="en-US" altLang="zh-TW" sz="2000" dirty="0"/>
              <a:t> per process in average</a:t>
            </a:r>
          </a:p>
          <a:p>
            <a:pPr lvl="1" eaLnBrk="1" hangingPunct="1">
              <a:defRPr/>
            </a:pPr>
            <a:r>
              <a:rPr lang="en-US" altLang="zh-TW" sz="2400" dirty="0"/>
              <a:t>I/O overhead </a:t>
            </a:r>
            <a:r>
              <a:rPr lang="en-US" altLang="zh-TW" sz="2400" dirty="0">
                <a:sym typeface="Symbol" pitchFamily="18" charset="2"/>
              </a:rPr>
              <a:t> large page</a:t>
            </a:r>
          </a:p>
          <a:p>
            <a:pPr lvl="2" eaLnBrk="1" hangingPunct="1">
              <a:defRPr/>
            </a:pPr>
            <a:r>
              <a:rPr lang="en-US" altLang="zh-TW" sz="2000" dirty="0"/>
              <a:t>Disk I/O is </a:t>
            </a:r>
            <a:r>
              <a:rPr lang="en-US" altLang="zh-TW" sz="2000" dirty="0" smtClean="0"/>
              <a:t>efficient </a:t>
            </a:r>
            <a:r>
              <a:rPr lang="en-US" altLang="zh-TW" sz="2000" dirty="0"/>
              <a:t>if the </a:t>
            </a:r>
            <a:r>
              <a:rPr lang="en-US" altLang="zh-TW" sz="2000" dirty="0" smtClean="0"/>
              <a:t>data </a:t>
            </a:r>
            <a:r>
              <a:rPr lang="en-US" altLang="zh-TW" sz="2000" dirty="0"/>
              <a:t>being transferred is </a:t>
            </a:r>
            <a:r>
              <a:rPr lang="en-US" altLang="zh-TW" sz="2000" dirty="0" smtClean="0"/>
              <a:t>large</a:t>
            </a:r>
            <a:endParaRPr lang="en-US" altLang="zh-TW" sz="2000" dirty="0"/>
          </a:p>
          <a:p>
            <a:pPr lvl="1" eaLnBrk="1" hangingPunct="1">
              <a:defRPr/>
            </a:pPr>
            <a:r>
              <a:rPr lang="en-US" altLang="zh-TW" sz="2400" dirty="0">
                <a:sym typeface="Symbol" pitchFamily="18" charset="2"/>
              </a:rPr>
              <a:t>Better </a:t>
            </a:r>
            <a:r>
              <a:rPr lang="en-US" altLang="zh-TW" sz="2400" b="1" dirty="0">
                <a:sym typeface="Symbol" pitchFamily="18" charset="2"/>
              </a:rPr>
              <a:t>r</a:t>
            </a:r>
            <a:r>
              <a:rPr lang="en-US" altLang="zh-TW" sz="2400" b="1" dirty="0"/>
              <a:t>esolution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catching</a:t>
            </a:r>
            <a:r>
              <a:rPr lang="en-US" altLang="zh-TW" sz="2400" dirty="0">
                <a:sym typeface="Symbol" pitchFamily="18" charset="2"/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  <a:sym typeface="Symbol" pitchFamily="18" charset="2"/>
              </a:rPr>
              <a:t>locality</a:t>
            </a:r>
            <a:r>
              <a:rPr lang="en-US" altLang="zh-TW" sz="2400" dirty="0">
                <a:sym typeface="Symbol" pitchFamily="18" charset="2"/>
              </a:rPr>
              <a:t>)  small page</a:t>
            </a:r>
          </a:p>
          <a:p>
            <a:pPr lvl="2" eaLnBrk="1" hangingPunct="1">
              <a:defRPr/>
            </a:pPr>
            <a:r>
              <a:rPr lang="en-US" altLang="zh-TW" sz="2000" dirty="0">
                <a:sym typeface="Symbol" pitchFamily="18" charset="2"/>
              </a:rPr>
              <a:t>Larger page size: some data allocated are </a:t>
            </a:r>
            <a:r>
              <a:rPr lang="en-US" altLang="zh-TW" sz="2000" b="1" dirty="0">
                <a:solidFill>
                  <a:srgbClr val="FF0000"/>
                </a:solidFill>
                <a:sym typeface="Symbol" pitchFamily="18" charset="2"/>
              </a:rPr>
              <a:t>not</a:t>
            </a:r>
            <a:r>
              <a:rPr lang="en-US" altLang="zh-TW" sz="2000" dirty="0">
                <a:sym typeface="Symbol" pitchFamily="18" charset="2"/>
              </a:rPr>
              <a:t> needed</a:t>
            </a:r>
          </a:p>
          <a:p>
            <a:pPr lvl="2" eaLnBrk="1" hangingPunct="1">
              <a:defRPr/>
            </a:pPr>
            <a:r>
              <a:rPr lang="en-US" altLang="zh-TW" sz="2000" dirty="0">
                <a:sym typeface="Symbol" pitchFamily="18" charset="2"/>
              </a:rPr>
              <a:t>Ex: a program’s locality=100 KB. If page size=200 KB </a:t>
            </a:r>
            <a:r>
              <a:rPr lang="en-US" altLang="zh-TW" sz="2000" dirty="0" smtClean="0">
                <a:sym typeface="Symbol" pitchFamily="18" charset="2"/>
              </a:rPr>
              <a:t>(bad), </a:t>
            </a:r>
            <a:r>
              <a:rPr lang="en-US" altLang="zh-TW" sz="2000" dirty="0">
                <a:sym typeface="Symbol" pitchFamily="18" charset="2"/>
              </a:rPr>
              <a:t>If page size = 100 KB (good)</a:t>
            </a:r>
          </a:p>
          <a:p>
            <a:pPr lvl="1" eaLnBrk="1" hangingPunct="1">
              <a:defRPr/>
            </a:pPr>
            <a:r>
              <a:rPr lang="en-US" altLang="zh-TW" sz="2400" dirty="0">
                <a:sym typeface="Symbol" pitchFamily="18" charset="2"/>
              </a:rPr>
              <a:t>Number of page faults  large page</a:t>
            </a:r>
          </a:p>
        </p:txBody>
      </p:sp>
    </p:spTree>
    <p:extLst>
      <p:ext uri="{BB962C8B-B14F-4D97-AF65-F5344CB8AC3E}">
        <p14:creationId xmlns:p14="http://schemas.microsoft.com/office/powerpoint/2010/main" val="412856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Paging Model of Logical and Physical Memory</a:t>
            </a:r>
            <a:endParaRPr lang="en-US" altLang="zh-TW" sz="320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1718329" y="1556792"/>
            <a:ext cx="8784976" cy="4824536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5384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所以我們希望</a:t>
            </a:r>
            <a:r>
              <a:rPr lang="en-US" altLang="zh-TW" dirty="0" smtClean="0"/>
              <a:t>page size</a:t>
            </a:r>
            <a:r>
              <a:rPr lang="zh-TW" altLang="en-US" dirty="0" smtClean="0"/>
              <a:t>大還是小呢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499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Other Issues </a:t>
            </a:r>
            <a:r>
              <a:rPr lang="en-US" altLang="zh-TW" dirty="0">
                <a:latin typeface="Helvetica"/>
              </a:rPr>
              <a:t>–</a:t>
            </a:r>
            <a:r>
              <a:rPr lang="en-US" altLang="zh-TW" dirty="0"/>
              <a:t> Page </a:t>
            </a:r>
            <a:r>
              <a:rPr lang="en-US" altLang="zh-TW" dirty="0" smtClean="0"/>
              <a:t>Size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2800" dirty="0"/>
              <a:t>Trend: </a:t>
            </a:r>
            <a:r>
              <a:rPr lang="en-US" altLang="zh-TW" sz="2800" b="1" dirty="0"/>
              <a:t>larger</a:t>
            </a:r>
          </a:p>
          <a:p>
            <a:pPr lvl="1" eaLnBrk="1" hangingPunct="1">
              <a:defRPr/>
            </a:pPr>
            <a:r>
              <a:rPr lang="en-US" altLang="zh-TW" sz="2400" dirty="0"/>
              <a:t>CPU speed/memory capacity increase faster than disks.</a:t>
            </a:r>
          </a:p>
          <a:p>
            <a:pPr lvl="1" eaLnBrk="1" hangingPunct="1">
              <a:defRPr/>
            </a:pPr>
            <a:endParaRPr lang="en-US" altLang="zh-TW" sz="2400" dirty="0" smtClean="0"/>
          </a:p>
          <a:p>
            <a:pPr lvl="1" eaLnBrk="1" hangingPunct="1">
              <a:defRPr/>
            </a:pPr>
            <a:r>
              <a:rPr lang="en-US" altLang="zh-TW" sz="2400" dirty="0" smtClean="0"/>
              <a:t>Memory</a:t>
            </a:r>
            <a:r>
              <a:rPr lang="en-US" altLang="zh-TW" sz="2400" dirty="0"/>
              <a:t>, process, data sets have become larger</a:t>
            </a:r>
          </a:p>
          <a:p>
            <a:pPr lvl="1" eaLnBrk="1" hangingPunct="1">
              <a:defRPr/>
            </a:pPr>
            <a:endParaRPr lang="en-US" altLang="zh-TW" sz="2400" dirty="0" smtClean="0"/>
          </a:p>
          <a:p>
            <a:pPr lvl="1" eaLnBrk="1" hangingPunct="1">
              <a:defRPr/>
            </a:pPr>
            <a:r>
              <a:rPr lang="en-US" altLang="zh-TW" sz="2400" dirty="0" smtClean="0"/>
              <a:t>Page </a:t>
            </a:r>
            <a:r>
              <a:rPr lang="en-US" altLang="zh-TW" sz="2400" dirty="0"/>
              <a:t>faults are more costly today</a:t>
            </a:r>
          </a:p>
          <a:p>
            <a:pPr lvl="1" eaLnBrk="1" hangingPunct="1">
              <a:defRPr/>
            </a:pPr>
            <a:endParaRPr lang="en-US" altLang="zh-TW" sz="2400" dirty="0" smtClean="0"/>
          </a:p>
          <a:p>
            <a:pPr lvl="1" eaLnBrk="1" hangingPunct="1">
              <a:defRPr/>
            </a:pPr>
            <a:r>
              <a:rPr lang="en-US" altLang="zh-TW" sz="2400" dirty="0" smtClean="0"/>
              <a:t>Ex: In x86-64, </a:t>
            </a:r>
            <a:r>
              <a:rPr lang="en-US" altLang="zh-TW" sz="2400" dirty="0"/>
              <a:t>a page can be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4KB, 2MB, or 1GB</a:t>
            </a:r>
            <a:endParaRPr lang="en-US" altLang="zh-TW" sz="2400" dirty="0" smtClean="0"/>
          </a:p>
          <a:p>
            <a:pPr marL="914400" lvl="2" indent="0" eaLnBrk="1" hangingPunct="1">
              <a:buNone/>
              <a:defRPr/>
            </a:pPr>
            <a:endParaRPr lang="en-US" altLang="zh-TW" sz="20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148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Other Considerations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/>
              <a:t>Major decisions of a paging system</a:t>
            </a:r>
          </a:p>
          <a:p>
            <a:pPr lvl="1" eaLnBrk="1" hangingPunct="1"/>
            <a:r>
              <a:rPr lang="en-US" altLang="zh-TW" sz="2400" dirty="0"/>
              <a:t>Page replacement algorithm</a:t>
            </a:r>
          </a:p>
          <a:p>
            <a:pPr lvl="1" eaLnBrk="1" hangingPunct="1"/>
            <a:r>
              <a:rPr lang="en-US" altLang="zh-TW" sz="2400" dirty="0"/>
              <a:t>Page allocation policy</a:t>
            </a:r>
          </a:p>
          <a:p>
            <a:pPr eaLnBrk="1" hangingPunct="1"/>
            <a:r>
              <a:rPr lang="en-US" altLang="zh-TW" sz="2800" dirty="0"/>
              <a:t>Other considerations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dirty="0" smtClean="0"/>
              <a:t>Pre-paging </a:t>
            </a:r>
            <a:endParaRPr lang="en-US" altLang="zh-TW" sz="2400" dirty="0"/>
          </a:p>
          <a:p>
            <a:pPr lvl="1" eaLnBrk="1" hangingPunct="1"/>
            <a:r>
              <a:rPr lang="en-US" altLang="zh-TW" sz="2400" dirty="0"/>
              <a:t>Page size </a:t>
            </a:r>
          </a:p>
          <a:p>
            <a:pPr lvl="1" eaLnBrk="1" hangingPunct="1"/>
            <a:r>
              <a:rPr lang="en-US" altLang="zh-TW" sz="2400" b="1" dirty="0">
                <a:solidFill>
                  <a:srgbClr val="FF0000"/>
                </a:solidFill>
              </a:rPr>
              <a:t>TLB Reach</a:t>
            </a:r>
          </a:p>
          <a:p>
            <a:pPr lvl="1" eaLnBrk="1" hangingPunct="1"/>
            <a:r>
              <a:rPr lang="en-US" altLang="zh-TW" sz="2400" dirty="0"/>
              <a:t>Inverted Page Tables</a:t>
            </a:r>
          </a:p>
          <a:p>
            <a:pPr lvl="1" eaLnBrk="1" hangingPunct="1"/>
            <a:r>
              <a:rPr lang="en-US" altLang="zh-TW" sz="2400" dirty="0"/>
              <a:t>Program Structure</a:t>
            </a:r>
          </a:p>
          <a:p>
            <a:pPr lvl="1" eaLnBrk="1" hangingPunct="1"/>
            <a:r>
              <a:rPr lang="en-US" altLang="zh-TW" sz="2400" dirty="0"/>
              <a:t>I/O Interlock and Page Locking</a:t>
            </a:r>
          </a:p>
        </p:txBody>
      </p:sp>
    </p:spTree>
    <p:extLst>
      <p:ext uri="{BB962C8B-B14F-4D97-AF65-F5344CB8AC3E}">
        <p14:creationId xmlns:p14="http://schemas.microsoft.com/office/powerpoint/2010/main" val="231346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Other Issues </a:t>
            </a:r>
            <a:r>
              <a:rPr lang="en-US" altLang="zh-TW" smtClean="0">
                <a:latin typeface="Helvetica"/>
              </a:rPr>
              <a:t>–</a:t>
            </a:r>
            <a:r>
              <a:rPr lang="en-US" altLang="zh-TW" smtClean="0"/>
              <a:t> TLB Reach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TLB Reach</a:t>
            </a:r>
            <a:r>
              <a:rPr lang="en-US" altLang="zh-TW" dirty="0" smtClean="0"/>
              <a:t> : </a:t>
            </a:r>
            <a:r>
              <a:rPr lang="en-US" altLang="zh-TW" b="1" dirty="0" smtClean="0"/>
              <a:t>the amount of memory </a:t>
            </a:r>
            <a:r>
              <a:rPr lang="en-US" altLang="zh-TW" dirty="0" smtClean="0"/>
              <a:t>accessible from the TLB</a:t>
            </a:r>
          </a:p>
          <a:p>
            <a:pPr lvl="1" eaLnBrk="1" hangingPunct="1"/>
            <a:r>
              <a:rPr lang="en-US" altLang="zh-TW" dirty="0" smtClean="0"/>
              <a:t>TLB Reach = (</a:t>
            </a:r>
            <a:r>
              <a:rPr lang="en-US" altLang="zh-TW" dirty="0" smtClean="0">
                <a:solidFill>
                  <a:srgbClr val="FF3300"/>
                </a:solidFill>
              </a:rPr>
              <a:t>TLB Entries</a:t>
            </a:r>
            <a:r>
              <a:rPr lang="en-US" altLang="zh-TW" dirty="0" smtClean="0"/>
              <a:t>) x (</a:t>
            </a:r>
            <a:r>
              <a:rPr lang="en-US" altLang="zh-TW" dirty="0" smtClean="0">
                <a:solidFill>
                  <a:srgbClr val="FF3300"/>
                </a:solidFill>
              </a:rPr>
              <a:t>Page Size</a:t>
            </a:r>
            <a:r>
              <a:rPr lang="en-US" altLang="zh-TW" dirty="0" smtClean="0"/>
              <a:t>)</a:t>
            </a:r>
          </a:p>
          <a:p>
            <a:pPr lvl="1" eaLnBrk="1" hangingPunct="1"/>
            <a:r>
              <a:rPr lang="en-US" altLang="zh-TW" dirty="0" smtClean="0"/>
              <a:t>See the next slide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Ideally, </a:t>
            </a:r>
            <a:r>
              <a:rPr lang="en-US" altLang="zh-TW" dirty="0" smtClean="0">
                <a:solidFill>
                  <a:srgbClr val="FF3300"/>
                </a:solidFill>
              </a:rPr>
              <a:t>the working set of each process</a:t>
            </a:r>
            <a:r>
              <a:rPr lang="en-US" altLang="zh-TW" dirty="0" smtClean="0"/>
              <a:t> is stored in the TLB</a:t>
            </a:r>
          </a:p>
          <a:p>
            <a:pPr lvl="1" eaLnBrk="1" hangingPunct="1"/>
            <a:r>
              <a:rPr lang="en-US" altLang="en-US" dirty="0" smtClean="0"/>
              <a:t>Otherwise, TLB misses and need to resolve </a:t>
            </a:r>
            <a:r>
              <a:rPr lang="en-US" altLang="en-US" b="1" dirty="0" smtClean="0">
                <a:solidFill>
                  <a:srgbClr val="0000FF"/>
                </a:solidFill>
              </a:rPr>
              <a:t>page tables</a:t>
            </a:r>
            <a:endParaRPr lang="en-US" altLang="en-US" sz="1050" b="1" dirty="0">
              <a:solidFill>
                <a:srgbClr val="0000FF"/>
              </a:solidFill>
            </a:endParaRPr>
          </a:p>
          <a:p>
            <a:pPr lvl="1"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742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TLB is the </a:t>
            </a:r>
            <a:r>
              <a:rPr lang="en-US" altLang="zh-TW" dirty="0" smtClean="0"/>
              <a:t>Cache </a:t>
            </a:r>
            <a:r>
              <a:rPr lang="en-US" altLang="zh-TW" dirty="0"/>
              <a:t>of </a:t>
            </a:r>
            <a:r>
              <a:rPr lang="en-US" altLang="zh-TW" dirty="0" smtClean="0"/>
              <a:t>Page Table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697" y="1412776"/>
            <a:ext cx="7488832" cy="5256584"/>
          </a:xfrm>
          <a:prstGeom prst="rect">
            <a:avLst/>
          </a:prstGeom>
        </p:spPr>
      </p:pic>
      <p:sp>
        <p:nvSpPr>
          <p:cNvPr id="6" name="Line 18"/>
          <p:cNvSpPr>
            <a:spLocks noChangeShapeType="1"/>
          </p:cNvSpPr>
          <p:nvPr/>
        </p:nvSpPr>
        <p:spPr bwMode="auto">
          <a:xfrm>
            <a:off x="5740431" y="5723784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20"/>
          <p:cNvSpPr>
            <a:spLocks noChangeShapeType="1"/>
          </p:cNvSpPr>
          <p:nvPr/>
        </p:nvSpPr>
        <p:spPr bwMode="auto">
          <a:xfrm>
            <a:off x="5740431" y="5939684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Line 21"/>
          <p:cNvSpPr>
            <a:spLocks noChangeShapeType="1"/>
          </p:cNvSpPr>
          <p:nvPr/>
        </p:nvSpPr>
        <p:spPr bwMode="auto">
          <a:xfrm>
            <a:off x="5756306" y="4914159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22"/>
          <p:cNvSpPr>
            <a:spLocks noChangeShapeType="1"/>
          </p:cNvSpPr>
          <p:nvPr/>
        </p:nvSpPr>
        <p:spPr bwMode="auto">
          <a:xfrm>
            <a:off x="5780119" y="5123709"/>
            <a:ext cx="1008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0" name="Rectangle 40"/>
          <p:cNvSpPr>
            <a:spLocks noChangeArrowheads="1"/>
          </p:cNvSpPr>
          <p:nvPr/>
        </p:nvSpPr>
        <p:spPr bwMode="auto">
          <a:xfrm>
            <a:off x="5740431" y="4610948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1" name="Rectangle 42"/>
          <p:cNvSpPr>
            <a:spLocks noChangeArrowheads="1"/>
          </p:cNvSpPr>
          <p:nvPr/>
        </p:nvSpPr>
        <p:spPr bwMode="auto">
          <a:xfrm>
            <a:off x="5740431" y="4898284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2" name="Rectangle 43"/>
          <p:cNvSpPr>
            <a:spLocks noChangeArrowheads="1"/>
          </p:cNvSpPr>
          <p:nvPr/>
        </p:nvSpPr>
        <p:spPr bwMode="auto">
          <a:xfrm>
            <a:off x="5740431" y="5187209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Rectangle 44"/>
          <p:cNvSpPr>
            <a:spLocks noChangeArrowheads="1"/>
          </p:cNvSpPr>
          <p:nvPr/>
        </p:nvSpPr>
        <p:spPr bwMode="auto">
          <a:xfrm>
            <a:off x="5740431" y="5476134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4" name="Rectangle 45"/>
          <p:cNvSpPr>
            <a:spLocks noChangeArrowheads="1"/>
          </p:cNvSpPr>
          <p:nvPr/>
        </p:nvSpPr>
        <p:spPr bwMode="auto">
          <a:xfrm>
            <a:off x="5740431" y="5763473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5" name="Rectangle 46"/>
          <p:cNvSpPr>
            <a:spLocks noChangeArrowheads="1"/>
          </p:cNvSpPr>
          <p:nvPr/>
        </p:nvSpPr>
        <p:spPr bwMode="auto">
          <a:xfrm>
            <a:off x="5740431" y="6052398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…..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6" name="Rectangle 47"/>
          <p:cNvSpPr>
            <a:spLocks noChangeArrowheads="1"/>
          </p:cNvSpPr>
          <p:nvPr/>
        </p:nvSpPr>
        <p:spPr bwMode="auto">
          <a:xfrm>
            <a:off x="5356256" y="4474422"/>
            <a:ext cx="360362" cy="10080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Text Box 50"/>
          <p:cNvSpPr txBox="1">
            <a:spLocks noChangeArrowheads="1"/>
          </p:cNvSpPr>
          <p:nvPr/>
        </p:nvSpPr>
        <p:spPr bwMode="auto">
          <a:xfrm>
            <a:off x="5451506" y="4539509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8" name="Text Box 51"/>
          <p:cNvSpPr txBox="1">
            <a:spLocks noChangeArrowheads="1"/>
          </p:cNvSpPr>
          <p:nvPr/>
        </p:nvSpPr>
        <p:spPr bwMode="auto">
          <a:xfrm>
            <a:off x="5451506" y="4826847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9" name="Text Box 52"/>
          <p:cNvSpPr txBox="1">
            <a:spLocks noChangeArrowheads="1"/>
          </p:cNvSpPr>
          <p:nvPr/>
        </p:nvSpPr>
        <p:spPr bwMode="auto">
          <a:xfrm>
            <a:off x="5451506" y="5180859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0" name="Text Box 53"/>
          <p:cNvSpPr txBox="1">
            <a:spLocks noChangeArrowheads="1"/>
          </p:cNvSpPr>
          <p:nvPr/>
        </p:nvSpPr>
        <p:spPr bwMode="auto">
          <a:xfrm>
            <a:off x="5451506" y="5468197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1" name="Text Box 54"/>
          <p:cNvSpPr txBox="1">
            <a:spLocks noChangeArrowheads="1"/>
          </p:cNvSpPr>
          <p:nvPr/>
        </p:nvSpPr>
        <p:spPr bwMode="auto">
          <a:xfrm>
            <a:off x="5451506" y="5757122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2" name="Text Box 55"/>
          <p:cNvSpPr txBox="1">
            <a:spLocks noChangeArrowheads="1"/>
          </p:cNvSpPr>
          <p:nvPr/>
        </p:nvSpPr>
        <p:spPr bwMode="auto">
          <a:xfrm>
            <a:off x="5451506" y="6044459"/>
            <a:ext cx="348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6099206" y="4250584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</a:t>
            </a:r>
            <a:r>
              <a:rPr kumimoji="1" lang="en-US" altLang="zh-TW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</a:t>
            </a:r>
            <a:endParaRPr kumimoji="1" lang="en-US" altLang="zh-TW" sz="1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4" name="直線單箭頭接點 23"/>
          <p:cNvCxnSpPr/>
          <p:nvPr/>
        </p:nvCxnSpPr>
        <p:spPr>
          <a:xfrm>
            <a:off x="4435428" y="5447377"/>
            <a:ext cx="1076480" cy="2240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4543425" y="2809729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5330825" y="2809729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4543425" y="2968479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5303838" y="2954192"/>
            <a:ext cx="34176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4540250" y="3111354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5303838" y="3111354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4536642" y="3296017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9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4" name="Text Box 9"/>
          <p:cNvSpPr txBox="1">
            <a:spLocks noChangeArrowheads="1"/>
          </p:cNvSpPr>
          <p:nvPr/>
        </p:nvSpPr>
        <p:spPr bwMode="auto">
          <a:xfrm>
            <a:off x="5303912" y="3296017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6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935760" y="3528053"/>
            <a:ext cx="2088232" cy="477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 flipH="1">
            <a:off x="3852566" y="3439358"/>
            <a:ext cx="227210" cy="477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93" y="3563564"/>
            <a:ext cx="514350" cy="228600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 flipH="1">
            <a:off x="4806639" y="4055454"/>
            <a:ext cx="497198" cy="477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3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如何增加</a:t>
            </a:r>
            <a:r>
              <a:rPr lang="en-US" altLang="zh-TW" dirty="0" smtClean="0"/>
              <a:t>TLB Reach?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64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Other Issues </a:t>
            </a:r>
            <a:r>
              <a:rPr lang="en-US" altLang="zh-TW" smtClean="0">
                <a:latin typeface="Helvetica"/>
              </a:rPr>
              <a:t>–</a:t>
            </a:r>
            <a:r>
              <a:rPr lang="en-US" altLang="zh-TW" smtClean="0"/>
              <a:t> TLB Reach (Cont.)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 smtClean="0"/>
              <a:t>Solution:</a:t>
            </a:r>
            <a:endParaRPr lang="en-US" altLang="zh-TW" sz="2800" dirty="0"/>
          </a:p>
          <a:p>
            <a:pPr lvl="1" eaLnBrk="1" hangingPunct="1"/>
            <a:r>
              <a:rPr lang="en-US" altLang="zh-TW" sz="2400" dirty="0"/>
              <a:t>Increase the </a:t>
            </a:r>
            <a:r>
              <a:rPr lang="en-US" altLang="zh-TW" sz="2400" dirty="0">
                <a:solidFill>
                  <a:srgbClr val="3333FF"/>
                </a:solidFill>
              </a:rPr>
              <a:t>TLB entries</a:t>
            </a:r>
          </a:p>
          <a:p>
            <a:pPr lvl="2" eaLnBrk="1" hangingPunct="1"/>
            <a:r>
              <a:rPr lang="en-US" altLang="zh-TW" sz="2000" dirty="0"/>
              <a:t>TLB is expensive and power hungry</a:t>
            </a:r>
          </a:p>
          <a:p>
            <a:pPr lvl="1" eaLnBrk="1" hangingPunct="1"/>
            <a:endParaRPr lang="en-US" altLang="zh-TW" sz="2400" dirty="0"/>
          </a:p>
          <a:p>
            <a:pPr lvl="1" eaLnBrk="1" hangingPunct="1"/>
            <a:r>
              <a:rPr lang="en-US" altLang="zh-TW" sz="2400" dirty="0"/>
              <a:t>Increase the </a:t>
            </a:r>
            <a:r>
              <a:rPr lang="en-US" altLang="zh-TW" sz="2400" dirty="0">
                <a:solidFill>
                  <a:srgbClr val="3333FF"/>
                </a:solidFill>
              </a:rPr>
              <a:t>Page Size</a:t>
            </a:r>
          </a:p>
          <a:p>
            <a:pPr lvl="2" eaLnBrk="1" hangingPunct="1"/>
            <a:r>
              <a:rPr lang="en-US" altLang="zh-TW" sz="2000" dirty="0" smtClean="0"/>
              <a:t>Hav</a:t>
            </a:r>
            <a:r>
              <a:rPr lang="en-US" altLang="zh-TW" sz="2000" dirty="0" smtClean="0"/>
              <a:t>e the disadvantages shown previously (e.g., </a:t>
            </a:r>
            <a:r>
              <a:rPr lang="en-US" altLang="zh-TW" sz="2000" dirty="0" smtClean="0"/>
              <a:t>an </a:t>
            </a:r>
            <a:r>
              <a:rPr lang="en-US" altLang="zh-TW" sz="2000" dirty="0" smtClean="0"/>
              <a:t>increase in </a:t>
            </a:r>
            <a:r>
              <a:rPr lang="en-US" altLang="zh-TW" sz="2000" dirty="0" smtClean="0"/>
              <a:t>fragmentation)</a:t>
            </a:r>
            <a:endParaRPr lang="en-US" altLang="zh-TW" sz="2000" dirty="0" smtClean="0"/>
          </a:p>
          <a:p>
            <a:pPr lvl="1" eaLnBrk="1" hangingPunct="1"/>
            <a:endParaRPr lang="en-US" altLang="zh-TW" sz="24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b="1" dirty="0">
                <a:solidFill>
                  <a:srgbClr val="FF3300"/>
                </a:solidFill>
              </a:rPr>
              <a:t>Provide Multiple Page Sizes</a:t>
            </a:r>
          </a:p>
          <a:p>
            <a:pPr lvl="2" eaLnBrk="1" hangingPunct="1"/>
            <a:r>
              <a:rPr lang="en-US" altLang="zh-TW" sz="2000" dirty="0"/>
              <a:t>Example: Solaris: a page can be 8KB, 64KB, 512KB, and 4MB</a:t>
            </a:r>
          </a:p>
          <a:p>
            <a:pPr lvl="3" eaLnBrk="1" hangingPunct="1"/>
            <a:r>
              <a:rPr lang="en-US" altLang="zh-TW" sz="1800" dirty="0"/>
              <a:t>TLB reach is </a:t>
            </a:r>
            <a:r>
              <a:rPr lang="en-US" altLang="zh-TW" sz="1800" b="1" dirty="0"/>
              <a:t>512KB</a:t>
            </a:r>
            <a:r>
              <a:rPr lang="en-US" altLang="zh-TW" sz="1800" dirty="0"/>
              <a:t> with 8KB pages or </a:t>
            </a:r>
            <a:r>
              <a:rPr lang="en-US" altLang="zh-TW" sz="1800" b="1" dirty="0"/>
              <a:t>256 MB</a:t>
            </a:r>
            <a:r>
              <a:rPr lang="en-US" altLang="zh-TW" sz="1800" dirty="0"/>
              <a:t> with 4MB pages</a:t>
            </a:r>
          </a:p>
        </p:txBody>
      </p:sp>
    </p:spTree>
    <p:extLst>
      <p:ext uri="{BB962C8B-B14F-4D97-AF65-F5344CB8AC3E}">
        <p14:creationId xmlns:p14="http://schemas.microsoft.com/office/powerpoint/2010/main" val="395292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Other Considerations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/>
              <a:t>Major decisions of a paging system</a:t>
            </a:r>
          </a:p>
          <a:p>
            <a:pPr lvl="1" eaLnBrk="1" hangingPunct="1"/>
            <a:r>
              <a:rPr lang="en-US" altLang="zh-TW" sz="2400" dirty="0"/>
              <a:t>Page replacement algorithm</a:t>
            </a:r>
          </a:p>
          <a:p>
            <a:pPr lvl="1" eaLnBrk="1" hangingPunct="1"/>
            <a:r>
              <a:rPr lang="en-US" altLang="zh-TW" sz="2400" dirty="0"/>
              <a:t>Page allocation policy</a:t>
            </a:r>
          </a:p>
          <a:p>
            <a:pPr eaLnBrk="1" hangingPunct="1"/>
            <a:r>
              <a:rPr lang="en-US" altLang="zh-TW" sz="2800" dirty="0"/>
              <a:t>Other considerations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dirty="0" smtClean="0"/>
              <a:t>Pre-paging </a:t>
            </a:r>
            <a:endParaRPr lang="en-US" altLang="zh-TW" sz="2400" dirty="0"/>
          </a:p>
          <a:p>
            <a:pPr lvl="1" eaLnBrk="1" hangingPunct="1"/>
            <a:r>
              <a:rPr lang="en-US" altLang="zh-TW" sz="2400" dirty="0"/>
              <a:t>Page size </a:t>
            </a:r>
          </a:p>
          <a:p>
            <a:pPr lvl="1" eaLnBrk="1" hangingPunct="1"/>
            <a:r>
              <a:rPr lang="en-US" altLang="zh-TW" sz="2400" dirty="0"/>
              <a:t>TLB Reach</a:t>
            </a:r>
          </a:p>
          <a:p>
            <a:pPr lvl="1" eaLnBrk="1" hangingPunct="1"/>
            <a:r>
              <a:rPr lang="en-US" altLang="zh-TW" sz="2400" b="1" dirty="0">
                <a:solidFill>
                  <a:srgbClr val="FF0000"/>
                </a:solidFill>
              </a:rPr>
              <a:t>Inverted Page Tables</a:t>
            </a:r>
          </a:p>
          <a:p>
            <a:pPr lvl="1" eaLnBrk="1" hangingPunct="1"/>
            <a:r>
              <a:rPr lang="en-US" altLang="zh-TW" sz="2400" dirty="0"/>
              <a:t>Program Structure</a:t>
            </a:r>
          </a:p>
          <a:p>
            <a:pPr lvl="1" eaLnBrk="1" hangingPunct="1"/>
            <a:r>
              <a:rPr lang="en-US" altLang="zh-TW" sz="2400" dirty="0"/>
              <a:t>I/O Interlock and Page Locking</a:t>
            </a:r>
          </a:p>
        </p:txBody>
      </p:sp>
    </p:spTree>
    <p:extLst>
      <p:ext uri="{BB962C8B-B14F-4D97-AF65-F5344CB8AC3E}">
        <p14:creationId xmlns:p14="http://schemas.microsoft.com/office/powerpoint/2010/main" val="243068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Question: in inverted page table, how do we know the disk location of a </a:t>
            </a:r>
            <a:r>
              <a:rPr lang="en-US" altLang="zh-TW" dirty="0">
                <a:solidFill>
                  <a:srgbClr val="3333FF"/>
                </a:solidFill>
              </a:rPr>
              <a:t>not-in-memory pages </a:t>
            </a:r>
            <a:r>
              <a:rPr lang="en-US" altLang="zh-TW" dirty="0" smtClean="0">
                <a:solidFill>
                  <a:srgbClr val="FF0000"/>
                </a:solidFill>
              </a:rPr>
              <a:t>page?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343472" y="115888"/>
            <a:ext cx="936104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kern="0" dirty="0"/>
              <a:t>Other Issues </a:t>
            </a:r>
            <a:r>
              <a:rPr lang="en-US" altLang="zh-TW" sz="4000" kern="0" dirty="0">
                <a:latin typeface="Helvetica"/>
              </a:rPr>
              <a:t>–</a:t>
            </a:r>
            <a:r>
              <a:rPr lang="en-US" altLang="zh-TW" sz="4000" kern="0" dirty="0"/>
              <a:t>Inverted Page </a:t>
            </a:r>
            <a:r>
              <a:rPr lang="en-US" altLang="zh-TW" sz="4000" kern="0" dirty="0" smtClean="0"/>
              <a:t>Table (Skip!)</a:t>
            </a:r>
            <a:endParaRPr lang="en-US" altLang="zh-TW" sz="4000" kern="0" dirty="0"/>
          </a:p>
        </p:txBody>
      </p:sp>
    </p:spTree>
    <p:extLst>
      <p:ext uri="{BB962C8B-B14F-4D97-AF65-F5344CB8AC3E}">
        <p14:creationId xmlns:p14="http://schemas.microsoft.com/office/powerpoint/2010/main" val="214599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Other Issues </a:t>
            </a:r>
            <a:r>
              <a:rPr lang="en-US" altLang="zh-TW" sz="4000" dirty="0">
                <a:latin typeface="Helvetica"/>
              </a:rPr>
              <a:t>–</a:t>
            </a:r>
            <a:r>
              <a:rPr lang="en-US" altLang="zh-TW" sz="4000" dirty="0"/>
              <a:t>Inverted Page Table (Skip!)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011" y="1524000"/>
            <a:ext cx="2628900" cy="5334000"/>
          </a:xfrm>
          <a:prstGeom prst="rect">
            <a:avLst/>
          </a:prstGeom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8667948" y="2031505"/>
            <a:ext cx="14414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dirty="0">
                <a:ea typeface="標楷體" pitchFamily="65" charset="-120"/>
              </a:rPr>
              <a:t>Page 3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8697813" y="3068961"/>
            <a:ext cx="1403350" cy="523875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dirty="0">
                <a:ea typeface="標楷體" pitchFamily="65" charset="-120"/>
              </a:rPr>
              <a:t>Page 2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8680648" y="4633318"/>
            <a:ext cx="14287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dirty="0">
                <a:ea typeface="標楷體" pitchFamily="65" charset="-120"/>
              </a:rPr>
              <a:t>Page 1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8688288" y="5146899"/>
            <a:ext cx="14033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dirty="0">
                <a:ea typeface="標楷體" pitchFamily="65" charset="-120"/>
              </a:rPr>
              <a:t>Page 0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111" y="1549488"/>
            <a:ext cx="1574006" cy="2318742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554" y="4446837"/>
            <a:ext cx="1674682" cy="2168698"/>
          </a:xfrm>
          <a:prstGeom prst="rect">
            <a:avLst/>
          </a:prstGeom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01139" y="1287426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ea typeface="標楷體" pitchFamily="65" charset="-120"/>
              </a:rPr>
              <a:t>(P1)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472920" y="4080125"/>
            <a:ext cx="61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ea typeface="標楷體" pitchFamily="65" charset="-120"/>
              </a:rPr>
              <a:t>(P2)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3590388" y="4873713"/>
            <a:ext cx="4749261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Calibri" panose="020F0502020204030204" pitchFamily="34" charset="0"/>
              </a:rPr>
              <a:t>Question: If accessing page 5 of P1, how do we know the location of page 5 in disks?</a:t>
            </a:r>
            <a:endParaRPr lang="zh-TW" altLang="en-US" sz="2000" b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5437436" y="1785269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0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5437436" y="2190081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ea typeface="標楷體" pitchFamily="65" charset="-120"/>
              </a:rPr>
              <a:t>1</a:t>
            </a: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5437436" y="2556794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ea typeface="標楷體" pitchFamily="65" charset="-120"/>
              </a:rPr>
              <a:t>2</a:t>
            </a: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5437436" y="2921919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3</a:t>
            </a:r>
          </a:p>
        </p:txBody>
      </p:sp>
      <p:grpSp>
        <p:nvGrpSpPr>
          <p:cNvPr id="17" name="Group 23"/>
          <p:cNvGrpSpPr>
            <a:grpSpLocks/>
          </p:cNvGrpSpPr>
          <p:nvPr/>
        </p:nvGrpSpPr>
        <p:grpSpPr bwMode="auto">
          <a:xfrm>
            <a:off x="5810498" y="1786856"/>
            <a:ext cx="363538" cy="2927350"/>
            <a:chOff x="3732" y="2317"/>
            <a:chExt cx="229" cy="1844"/>
          </a:xfrm>
        </p:grpSpPr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3732" y="2317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2</a:t>
              </a:r>
            </a:p>
          </p:txBody>
        </p:sp>
        <p:sp>
          <p:nvSpPr>
            <p:cNvPr id="19" name="Rectangle 25"/>
            <p:cNvSpPr>
              <a:spLocks noChangeArrowheads="1"/>
            </p:cNvSpPr>
            <p:nvPr/>
          </p:nvSpPr>
          <p:spPr bwMode="auto">
            <a:xfrm>
              <a:off x="3732" y="2547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1</a:t>
              </a:r>
            </a:p>
          </p:txBody>
        </p:sp>
        <p:sp>
          <p:nvSpPr>
            <p:cNvPr id="20" name="Rectangle 26"/>
            <p:cNvSpPr>
              <a:spLocks noChangeArrowheads="1"/>
            </p:cNvSpPr>
            <p:nvPr/>
          </p:nvSpPr>
          <p:spPr bwMode="auto">
            <a:xfrm>
              <a:off x="3732" y="2778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2</a:t>
              </a: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auto">
            <a:xfrm>
              <a:off x="3732" y="3008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1</a:t>
              </a:r>
            </a:p>
          </p:txBody>
        </p:sp>
        <p:sp>
          <p:nvSpPr>
            <p:cNvPr id="22" name="Rectangle 28"/>
            <p:cNvSpPr>
              <a:spLocks noChangeArrowheads="1"/>
            </p:cNvSpPr>
            <p:nvPr/>
          </p:nvSpPr>
          <p:spPr bwMode="auto">
            <a:xfrm>
              <a:off x="3732" y="3239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1</a:t>
              </a:r>
            </a:p>
          </p:txBody>
        </p:sp>
        <p:sp>
          <p:nvSpPr>
            <p:cNvPr id="23" name="Rectangle 29"/>
            <p:cNvSpPr>
              <a:spLocks noChangeArrowheads="1"/>
            </p:cNvSpPr>
            <p:nvPr/>
          </p:nvSpPr>
          <p:spPr bwMode="auto">
            <a:xfrm>
              <a:off x="3732" y="3469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2</a:t>
              </a:r>
            </a:p>
          </p:txBody>
        </p:sp>
        <p:sp>
          <p:nvSpPr>
            <p:cNvPr id="24" name="Rectangle 30"/>
            <p:cNvSpPr>
              <a:spLocks noChangeArrowheads="1"/>
            </p:cNvSpPr>
            <p:nvPr/>
          </p:nvSpPr>
          <p:spPr bwMode="auto">
            <a:xfrm>
              <a:off x="3732" y="3700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2</a:t>
              </a:r>
            </a:p>
          </p:txBody>
        </p:sp>
        <p:sp>
          <p:nvSpPr>
            <p:cNvPr id="25" name="Rectangle 31"/>
            <p:cNvSpPr>
              <a:spLocks noChangeArrowheads="1"/>
            </p:cNvSpPr>
            <p:nvPr/>
          </p:nvSpPr>
          <p:spPr bwMode="auto">
            <a:xfrm>
              <a:off x="3732" y="3930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1</a:t>
              </a:r>
            </a:p>
          </p:txBody>
        </p:sp>
      </p:grpSp>
      <p:sp>
        <p:nvSpPr>
          <p:cNvPr id="26" name="Text Box 32"/>
          <p:cNvSpPr txBox="1">
            <a:spLocks noChangeArrowheads="1"/>
          </p:cNvSpPr>
          <p:nvPr/>
        </p:nvSpPr>
        <p:spPr bwMode="auto">
          <a:xfrm>
            <a:off x="5437436" y="3248944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4</a:t>
            </a:r>
          </a:p>
        </p:txBody>
      </p:sp>
      <p:sp>
        <p:nvSpPr>
          <p:cNvPr id="27" name="Text Box 33"/>
          <p:cNvSpPr txBox="1">
            <a:spLocks noChangeArrowheads="1"/>
          </p:cNvSpPr>
          <p:nvPr/>
        </p:nvSpPr>
        <p:spPr bwMode="auto">
          <a:xfrm>
            <a:off x="5468392" y="3634706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5</a:t>
            </a:r>
          </a:p>
        </p:txBody>
      </p:sp>
      <p:sp>
        <p:nvSpPr>
          <p:cNvPr id="28" name="Text Box 34"/>
          <p:cNvSpPr txBox="1">
            <a:spLocks noChangeArrowheads="1"/>
          </p:cNvSpPr>
          <p:nvPr/>
        </p:nvSpPr>
        <p:spPr bwMode="auto">
          <a:xfrm>
            <a:off x="5437436" y="4020469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6</a:t>
            </a:r>
          </a:p>
        </p:txBody>
      </p:sp>
      <p:sp>
        <p:nvSpPr>
          <p:cNvPr id="29" name="Text Box 35"/>
          <p:cNvSpPr txBox="1">
            <a:spLocks noChangeArrowheads="1"/>
          </p:cNvSpPr>
          <p:nvPr/>
        </p:nvSpPr>
        <p:spPr bwMode="auto">
          <a:xfrm>
            <a:off x="5437436" y="4385594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7</a:t>
            </a:r>
          </a:p>
        </p:txBody>
      </p:sp>
      <p:grpSp>
        <p:nvGrpSpPr>
          <p:cNvPr id="30" name="Group 36"/>
          <p:cNvGrpSpPr>
            <a:grpSpLocks/>
          </p:cNvGrpSpPr>
          <p:nvPr/>
        </p:nvGrpSpPr>
        <p:grpSpPr bwMode="auto">
          <a:xfrm>
            <a:off x="6164512" y="1786859"/>
            <a:ext cx="363537" cy="2927352"/>
            <a:chOff x="3732" y="2317"/>
            <a:chExt cx="229" cy="1844"/>
          </a:xfrm>
        </p:grpSpPr>
        <p:sp>
          <p:nvSpPr>
            <p:cNvPr id="31" name="Rectangle 37"/>
            <p:cNvSpPr>
              <a:spLocks noChangeArrowheads="1"/>
            </p:cNvSpPr>
            <p:nvPr/>
          </p:nvSpPr>
          <p:spPr bwMode="auto">
            <a:xfrm>
              <a:off x="3732" y="2317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3</a:t>
              </a:r>
            </a:p>
          </p:txBody>
        </p:sp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3732" y="2547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dirty="0">
                  <a:ea typeface="標楷體" pitchFamily="65" charset="-120"/>
                </a:rPr>
                <a:t>0</a:t>
              </a:r>
            </a:p>
          </p:txBody>
        </p:sp>
        <p:sp>
          <p:nvSpPr>
            <p:cNvPr id="33" name="Rectangle 39"/>
            <p:cNvSpPr>
              <a:spLocks noChangeArrowheads="1"/>
            </p:cNvSpPr>
            <p:nvPr/>
          </p:nvSpPr>
          <p:spPr bwMode="auto">
            <a:xfrm>
              <a:off x="3732" y="2778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2</a:t>
              </a:r>
            </a:p>
          </p:txBody>
        </p:sp>
        <p:sp>
          <p:nvSpPr>
            <p:cNvPr id="34" name="Rectangle 40"/>
            <p:cNvSpPr>
              <a:spLocks noChangeArrowheads="1"/>
            </p:cNvSpPr>
            <p:nvPr/>
          </p:nvSpPr>
          <p:spPr bwMode="auto">
            <a:xfrm>
              <a:off x="3732" y="3008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2</a:t>
              </a:r>
            </a:p>
          </p:txBody>
        </p:sp>
        <p:sp>
          <p:nvSpPr>
            <p:cNvPr id="35" name="Rectangle 41"/>
            <p:cNvSpPr>
              <a:spLocks noChangeArrowheads="1"/>
            </p:cNvSpPr>
            <p:nvPr/>
          </p:nvSpPr>
          <p:spPr bwMode="auto">
            <a:xfrm>
              <a:off x="3732" y="3239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1</a:t>
              </a:r>
            </a:p>
          </p:txBody>
        </p:sp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3732" y="3469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1</a:t>
              </a: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3732" y="3700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0</a:t>
              </a: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3732" y="3930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>
                  <a:ea typeface="標楷體" pitchFamily="65" charset="-120"/>
                </a:rPr>
                <a:t>3</a:t>
              </a:r>
            </a:p>
          </p:txBody>
        </p:sp>
      </p:grpSp>
      <p:sp>
        <p:nvSpPr>
          <p:cNvPr id="39" name="Text Box 45"/>
          <p:cNvSpPr txBox="1">
            <a:spLocks noChangeArrowheads="1"/>
          </p:cNvSpPr>
          <p:nvPr/>
        </p:nvSpPr>
        <p:spPr bwMode="auto">
          <a:xfrm>
            <a:off x="5815261" y="1340769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FF3300"/>
                </a:solidFill>
                <a:ea typeface="標楷體" pitchFamily="65" charset="-120"/>
              </a:rPr>
              <a:t>IPT</a:t>
            </a:r>
          </a:p>
        </p:txBody>
      </p:sp>
    </p:spTree>
    <p:extLst>
      <p:ext uri="{BB962C8B-B14F-4D97-AF65-F5344CB8AC3E}">
        <p14:creationId xmlns:p14="http://schemas.microsoft.com/office/powerpoint/2010/main" val="320358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Other Issues </a:t>
            </a:r>
            <a:r>
              <a:rPr lang="en-US" altLang="zh-TW" sz="4000" dirty="0">
                <a:latin typeface="Helvetica"/>
              </a:rPr>
              <a:t>–</a:t>
            </a:r>
            <a:r>
              <a:rPr lang="en-US" altLang="zh-TW" sz="4000" dirty="0"/>
              <a:t>Inverted Page Table (Skip!)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504103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If using IPT for address translation scheme</a:t>
            </a: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 smtClean="0"/>
              <a:t>Problem</a:t>
            </a:r>
            <a:r>
              <a:rPr lang="en-US" altLang="zh-TW" sz="2800" dirty="0" smtClean="0"/>
              <a:t>: IPT </a:t>
            </a:r>
            <a:r>
              <a:rPr lang="en-US" altLang="zh-TW" sz="2800" dirty="0"/>
              <a:t>no longer contains complete information about the </a:t>
            </a:r>
            <a:r>
              <a:rPr lang="en-US" altLang="zh-TW" sz="2800" b="1" dirty="0"/>
              <a:t>logical address space </a:t>
            </a:r>
            <a:r>
              <a:rPr lang="en-US" altLang="zh-TW" sz="2800" dirty="0"/>
              <a:t>of a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No information about the </a:t>
            </a:r>
            <a:r>
              <a:rPr lang="en-US" altLang="zh-TW" sz="2400" b="1" dirty="0">
                <a:solidFill>
                  <a:srgbClr val="3333FF"/>
                </a:solidFill>
              </a:rPr>
              <a:t>not-in-memory pages</a:t>
            </a:r>
            <a:r>
              <a:rPr lang="en-US" altLang="zh-TW" sz="2400" dirty="0"/>
              <a:t>!!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Which is required to handle </a:t>
            </a:r>
            <a:r>
              <a:rPr lang="en-US" altLang="zh-TW" sz="2400" b="1" dirty="0">
                <a:solidFill>
                  <a:srgbClr val="0000FF"/>
                </a:solidFill>
              </a:rPr>
              <a:t>page fault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Sol</a:t>
            </a:r>
            <a:r>
              <a:rPr lang="en-US" altLang="zh-TW" sz="2800" dirty="0"/>
              <a:t>.: </a:t>
            </a:r>
            <a:r>
              <a:rPr lang="en-US" altLang="zh-TW" sz="2800" dirty="0" smtClean="0"/>
              <a:t>another </a:t>
            </a:r>
            <a:r>
              <a:rPr lang="en-US" altLang="zh-TW" sz="2800" dirty="0"/>
              <a:t>table </a:t>
            </a:r>
            <a:r>
              <a:rPr lang="en-US" altLang="zh-TW" sz="2800" dirty="0" smtClean="0"/>
              <a:t>(one </a:t>
            </a:r>
            <a:r>
              <a:rPr lang="en-US" altLang="zh-TW" sz="2800" dirty="0"/>
              <a:t>per process) </a:t>
            </a:r>
            <a:r>
              <a:rPr lang="en-US" altLang="zh-TW" sz="2800" dirty="0" smtClean="0"/>
              <a:t>is kept</a:t>
            </a:r>
            <a:endParaRPr lang="en-US" altLang="zh-TW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Like page table, contains </a:t>
            </a:r>
            <a:r>
              <a:rPr lang="en-US" altLang="zh-TW" sz="2400" dirty="0"/>
              <a:t>information on </a:t>
            </a:r>
            <a:r>
              <a:rPr lang="en-US" altLang="zh-TW" sz="2400" b="1" dirty="0">
                <a:solidFill>
                  <a:srgbClr val="FF3300"/>
                </a:solidFill>
              </a:rPr>
              <a:t>where each virtual page is located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But, reference </a:t>
            </a:r>
            <a:r>
              <a:rPr lang="en-US" altLang="zh-TW" sz="2400" b="1" dirty="0">
                <a:solidFill>
                  <a:srgbClr val="FF3300"/>
                </a:solidFill>
              </a:rPr>
              <a:t>only</a:t>
            </a:r>
            <a:r>
              <a:rPr lang="en-US" altLang="zh-TW" sz="2400" dirty="0"/>
              <a:t> </a:t>
            </a:r>
            <a:r>
              <a:rPr lang="en-US" altLang="zh-TW" sz="2400" b="1" dirty="0"/>
              <a:t>when a page fault </a:t>
            </a:r>
            <a:r>
              <a:rPr lang="en-US" altLang="zh-TW" sz="2400" b="1" dirty="0" smtClean="0"/>
              <a:t>occur</a:t>
            </a:r>
          </a:p>
        </p:txBody>
      </p:sp>
    </p:spTree>
    <p:extLst>
      <p:ext uri="{BB962C8B-B14F-4D97-AF65-F5344CB8AC3E}">
        <p14:creationId xmlns:p14="http://schemas.microsoft.com/office/powerpoint/2010/main" val="22610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Other Considerations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/>
              <a:t>Major decisions of a paging system</a:t>
            </a:r>
          </a:p>
          <a:p>
            <a:pPr lvl="1" eaLnBrk="1" hangingPunct="1"/>
            <a:r>
              <a:rPr lang="en-US" altLang="zh-TW" sz="2400" dirty="0"/>
              <a:t>Page replacement algorithm</a:t>
            </a:r>
          </a:p>
          <a:p>
            <a:pPr lvl="1" eaLnBrk="1" hangingPunct="1"/>
            <a:r>
              <a:rPr lang="en-US" altLang="zh-TW" sz="2400" dirty="0"/>
              <a:t>Page allocation policy</a:t>
            </a:r>
          </a:p>
          <a:p>
            <a:pPr eaLnBrk="1" hangingPunct="1"/>
            <a:r>
              <a:rPr lang="en-US" altLang="zh-TW" sz="2800" dirty="0"/>
              <a:t>Other considerations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dirty="0" smtClean="0"/>
              <a:t>Pre-paging </a:t>
            </a:r>
            <a:endParaRPr lang="en-US" altLang="zh-TW" sz="2400" dirty="0"/>
          </a:p>
          <a:p>
            <a:pPr lvl="1" eaLnBrk="1" hangingPunct="1"/>
            <a:r>
              <a:rPr lang="en-US" altLang="zh-TW" sz="2400" dirty="0"/>
              <a:t>Page size </a:t>
            </a:r>
          </a:p>
          <a:p>
            <a:pPr lvl="1" eaLnBrk="1" hangingPunct="1"/>
            <a:r>
              <a:rPr lang="en-US" altLang="zh-TW" sz="2400" dirty="0"/>
              <a:t>TLB Reach</a:t>
            </a:r>
          </a:p>
          <a:p>
            <a:pPr lvl="1" eaLnBrk="1" hangingPunct="1"/>
            <a:r>
              <a:rPr lang="en-US" altLang="zh-TW" sz="2400" dirty="0"/>
              <a:t>Inverted Page Tables</a:t>
            </a:r>
          </a:p>
          <a:p>
            <a:pPr lvl="1" eaLnBrk="1" hangingPunct="1"/>
            <a:r>
              <a:rPr lang="en-US" altLang="zh-TW" sz="2400" b="1" dirty="0">
                <a:solidFill>
                  <a:srgbClr val="FF0000"/>
                </a:solidFill>
              </a:rPr>
              <a:t>Program Structure</a:t>
            </a:r>
          </a:p>
          <a:p>
            <a:pPr lvl="1" eaLnBrk="1" hangingPunct="1"/>
            <a:r>
              <a:rPr lang="en-US" altLang="zh-TW" sz="2400" dirty="0"/>
              <a:t>I/O Interlock and Page Locking</a:t>
            </a:r>
          </a:p>
        </p:txBody>
      </p:sp>
    </p:spTree>
    <p:extLst>
      <p:ext uri="{BB962C8B-B14F-4D97-AF65-F5344CB8AC3E}">
        <p14:creationId xmlns:p14="http://schemas.microsoft.com/office/powerpoint/2010/main" val="188937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Other Issues </a:t>
            </a:r>
            <a:r>
              <a:rPr lang="en-US" altLang="zh-TW" smtClean="0">
                <a:latin typeface="Helvetica"/>
              </a:rPr>
              <a:t>–</a:t>
            </a:r>
            <a:r>
              <a:rPr lang="en-US" altLang="zh-TW" smtClean="0"/>
              <a:t> Program Structure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sz="2800" dirty="0"/>
              <a:t>Program structure </a:t>
            </a:r>
            <a:r>
              <a:rPr lang="en-US" altLang="zh-TW" sz="2800" dirty="0">
                <a:sym typeface="Symbol" pitchFamily="18" charset="2"/>
              </a:rPr>
              <a:t> </a:t>
            </a:r>
            <a:r>
              <a:rPr lang="en-US" altLang="zh-TW" sz="2800" b="1" dirty="0">
                <a:solidFill>
                  <a:srgbClr val="0000FF"/>
                </a:solidFill>
                <a:sym typeface="Symbol" pitchFamily="18" charset="2"/>
              </a:rPr>
              <a:t>How to improve locality</a:t>
            </a:r>
            <a:r>
              <a:rPr lang="en-US" altLang="zh-TW" sz="2800" b="1" dirty="0" smtClean="0">
                <a:solidFill>
                  <a:srgbClr val="0000FF"/>
                </a:solidFill>
                <a:sym typeface="Symbol" pitchFamily="18" charset="2"/>
              </a:rPr>
              <a:t>?</a:t>
            </a:r>
            <a:endParaRPr lang="en-US" altLang="zh-TW" sz="2000" dirty="0"/>
          </a:p>
          <a:p>
            <a:pPr eaLnBrk="1" hangingPunct="1"/>
            <a:r>
              <a:rPr lang="en-US" altLang="zh-TW" sz="2800" dirty="0"/>
              <a:t>Example</a:t>
            </a:r>
            <a:r>
              <a:rPr lang="en-US" altLang="zh-TW" sz="2800" dirty="0" smtClean="0"/>
              <a:t>: assume only one frame</a:t>
            </a:r>
            <a:endParaRPr lang="en-US" altLang="zh-TW" sz="2800" dirty="0"/>
          </a:p>
          <a:p>
            <a:pPr lvl="1" eaLnBrk="1" hangingPunct="1"/>
            <a:r>
              <a:rPr lang="en-US" altLang="zh-TW" sz="1800" b="1" dirty="0" err="1">
                <a:latin typeface="Courier New" pitchFamily="49" charset="0"/>
              </a:rPr>
              <a:t>int</a:t>
            </a:r>
            <a:r>
              <a:rPr lang="en-US" altLang="zh-TW" sz="1800" b="1" dirty="0">
                <a:latin typeface="Courier New" pitchFamily="49" charset="0"/>
              </a:rPr>
              <a:t>[128,128] data</a:t>
            </a:r>
            <a:r>
              <a:rPr lang="en-US" altLang="zh-TW" sz="1800" dirty="0">
                <a:latin typeface="Courier New" pitchFamily="49" charset="0"/>
              </a:rPr>
              <a:t>; //</a:t>
            </a:r>
            <a:r>
              <a:rPr lang="en-US" altLang="zh-TW" sz="1800" dirty="0"/>
              <a:t>Each row is stored in one page </a:t>
            </a:r>
          </a:p>
          <a:p>
            <a:pPr lvl="1" eaLnBrk="1" hangingPunct="1"/>
            <a:endParaRPr lang="en-US" altLang="zh-TW" sz="1800" dirty="0"/>
          </a:p>
          <a:p>
            <a:pPr lvl="1" eaLnBrk="1" hangingPunct="1"/>
            <a:r>
              <a:rPr lang="en-US" altLang="zh-TW" sz="1800" dirty="0"/>
              <a:t>Program 1 	</a:t>
            </a:r>
            <a:r>
              <a:rPr lang="en-US" altLang="zh-TW" sz="1800" dirty="0">
                <a:latin typeface="Courier New" pitchFamily="49" charset="0"/>
              </a:rPr>
              <a:t> </a:t>
            </a:r>
            <a:r>
              <a:rPr lang="en-US" altLang="zh-TW" sz="1800" b="1" dirty="0">
                <a:latin typeface="Courier New" pitchFamily="49" charset="0"/>
              </a:rPr>
              <a:t>for (j=0; j&lt;128;j++)</a:t>
            </a:r>
          </a:p>
          <a:p>
            <a:pPr marL="457200" lvl="1" indent="0" eaLnBrk="1" hangingPunct="1">
              <a:buNone/>
            </a:pPr>
            <a:r>
              <a:rPr lang="en-US" altLang="zh-TW" sz="1800" b="1" dirty="0">
                <a:latin typeface="Courier New" pitchFamily="49" charset="0"/>
              </a:rPr>
              <a:t>             for (</a:t>
            </a:r>
            <a:r>
              <a:rPr lang="en-US" altLang="zh-TW" sz="1800" b="1" dirty="0" err="1">
                <a:latin typeface="Courier New" pitchFamily="49" charset="0"/>
              </a:rPr>
              <a:t>i</a:t>
            </a:r>
            <a:r>
              <a:rPr lang="en-US" altLang="zh-TW" sz="1800" b="1" dirty="0">
                <a:latin typeface="Courier New" pitchFamily="49" charset="0"/>
              </a:rPr>
              <a:t> = 0; </a:t>
            </a:r>
            <a:r>
              <a:rPr lang="en-US" altLang="zh-TW" sz="1800" b="1" dirty="0" err="1">
                <a:latin typeface="Courier New" pitchFamily="49" charset="0"/>
              </a:rPr>
              <a:t>i</a:t>
            </a:r>
            <a:r>
              <a:rPr lang="en-US" altLang="zh-TW" sz="1800" b="1" dirty="0">
                <a:latin typeface="Courier New" pitchFamily="49" charset="0"/>
              </a:rPr>
              <a:t> &lt; 128; </a:t>
            </a:r>
            <a:r>
              <a:rPr lang="en-US" altLang="zh-TW" sz="1800" b="1" dirty="0" err="1">
                <a:latin typeface="Courier New" pitchFamily="49" charset="0"/>
              </a:rPr>
              <a:t>i</a:t>
            </a:r>
            <a:r>
              <a:rPr lang="en-US" altLang="zh-TW" sz="1800" b="1" dirty="0">
                <a:latin typeface="Courier New" pitchFamily="49" charset="0"/>
              </a:rPr>
              <a:t>++)</a:t>
            </a:r>
            <a:br>
              <a:rPr lang="en-US" altLang="zh-TW" sz="1800" b="1" dirty="0">
                <a:latin typeface="Courier New" pitchFamily="49" charset="0"/>
              </a:rPr>
            </a:br>
            <a:r>
              <a:rPr lang="en-US" altLang="zh-TW" sz="1800" b="1" dirty="0">
                <a:latin typeface="Courier New" pitchFamily="49" charset="0"/>
              </a:rPr>
              <a:t>                  data[</a:t>
            </a:r>
            <a:r>
              <a:rPr lang="en-US" altLang="zh-TW" sz="1800" b="1" dirty="0" err="1">
                <a:latin typeface="Courier New" pitchFamily="49" charset="0"/>
              </a:rPr>
              <a:t>i,j</a:t>
            </a:r>
            <a:r>
              <a:rPr lang="en-US" altLang="zh-TW" sz="1800" b="1" dirty="0">
                <a:latin typeface="Courier New" pitchFamily="49" charset="0"/>
              </a:rPr>
              <a:t>] = 0;</a:t>
            </a:r>
            <a:br>
              <a:rPr lang="en-US" altLang="zh-TW" sz="1800" b="1" dirty="0">
                <a:latin typeface="Courier New" pitchFamily="49" charset="0"/>
              </a:rPr>
            </a:br>
            <a:endParaRPr lang="en-US" altLang="zh-TW" sz="1800" b="1" dirty="0" smtClean="0">
              <a:latin typeface="Courier New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zh-TW" sz="1800" dirty="0" smtClean="0"/>
              <a:t>    			 </a:t>
            </a:r>
            <a:r>
              <a:rPr lang="en-US" altLang="zh-TW" sz="1800" dirty="0" smtClean="0">
                <a:sym typeface="Symbol" pitchFamily="18" charset="2"/>
              </a:rPr>
              <a:t> </a:t>
            </a:r>
            <a:r>
              <a:rPr lang="en-US" altLang="zh-TW" sz="1800" dirty="0" smtClean="0"/>
              <a:t>128 x 128 = 16,384 page faults </a:t>
            </a:r>
            <a:br>
              <a:rPr lang="en-US" altLang="zh-TW" sz="1800" dirty="0" smtClean="0"/>
            </a:br>
            <a:endParaRPr lang="en-US" altLang="zh-TW" sz="1800" dirty="0" smtClean="0"/>
          </a:p>
          <a:p>
            <a:pPr lvl="1" eaLnBrk="1" hangingPunct="1"/>
            <a:r>
              <a:rPr lang="en-US" altLang="zh-TW" sz="1800" dirty="0" smtClean="0"/>
              <a:t>Program </a:t>
            </a:r>
            <a:r>
              <a:rPr lang="en-US" altLang="zh-TW" sz="1800" dirty="0"/>
              <a:t>2 	</a:t>
            </a:r>
          </a:p>
          <a:p>
            <a:pPr lvl="1" eaLnBrk="1" hangingPunct="1">
              <a:buFontTx/>
              <a:buNone/>
            </a:pPr>
            <a:r>
              <a:rPr lang="en-US" altLang="zh-TW" sz="1800" dirty="0">
                <a:latin typeface="Courier New" pitchFamily="49" charset="0"/>
              </a:rPr>
              <a:t>          </a:t>
            </a:r>
            <a:r>
              <a:rPr lang="en-US" altLang="zh-TW" sz="1800" b="1" dirty="0">
                <a:latin typeface="Courier New" pitchFamily="49" charset="0"/>
              </a:rPr>
              <a:t>for (</a:t>
            </a:r>
            <a:r>
              <a:rPr lang="en-US" altLang="zh-TW" sz="1800" b="1" dirty="0" err="1">
                <a:latin typeface="Courier New" pitchFamily="49" charset="0"/>
              </a:rPr>
              <a:t>i</a:t>
            </a:r>
            <a:r>
              <a:rPr lang="en-US" altLang="zh-TW" sz="1800" b="1" dirty="0">
                <a:latin typeface="Courier New" pitchFamily="49" charset="0"/>
              </a:rPr>
              <a:t> = 0; </a:t>
            </a:r>
            <a:r>
              <a:rPr lang="en-US" altLang="zh-TW" sz="1800" b="1" dirty="0" err="1">
                <a:latin typeface="Courier New" pitchFamily="49" charset="0"/>
              </a:rPr>
              <a:t>i</a:t>
            </a:r>
            <a:r>
              <a:rPr lang="en-US" altLang="zh-TW" sz="1800" b="1" dirty="0">
                <a:latin typeface="Courier New" pitchFamily="49" charset="0"/>
              </a:rPr>
              <a:t> &lt; 128; </a:t>
            </a:r>
            <a:r>
              <a:rPr lang="en-US" altLang="zh-TW" sz="1800" b="1" dirty="0" err="1">
                <a:latin typeface="Courier New" pitchFamily="49" charset="0"/>
              </a:rPr>
              <a:t>i</a:t>
            </a:r>
            <a:r>
              <a:rPr lang="en-US" altLang="zh-TW" sz="1800" b="1" dirty="0">
                <a:latin typeface="Courier New" pitchFamily="49" charset="0"/>
              </a:rPr>
              <a:t>++)</a:t>
            </a:r>
            <a:br>
              <a:rPr lang="en-US" altLang="zh-TW" sz="1800" b="1" dirty="0">
                <a:latin typeface="Courier New" pitchFamily="49" charset="0"/>
              </a:rPr>
            </a:br>
            <a:r>
              <a:rPr lang="en-US" altLang="zh-TW" sz="1800" b="1" dirty="0">
                <a:latin typeface="Courier New" pitchFamily="49" charset="0"/>
              </a:rPr>
              <a:t>            for (j = 0; j &lt; 128; j++)</a:t>
            </a:r>
            <a:br>
              <a:rPr lang="en-US" altLang="zh-TW" sz="1800" b="1" dirty="0">
                <a:latin typeface="Courier New" pitchFamily="49" charset="0"/>
              </a:rPr>
            </a:br>
            <a:r>
              <a:rPr lang="en-US" altLang="zh-TW" sz="1800" b="1" dirty="0">
                <a:latin typeface="Courier New" pitchFamily="49" charset="0"/>
              </a:rPr>
              <a:t>                 data[</a:t>
            </a:r>
            <a:r>
              <a:rPr lang="en-US" altLang="zh-TW" sz="1800" b="1" dirty="0" err="1">
                <a:latin typeface="Courier New" pitchFamily="49" charset="0"/>
              </a:rPr>
              <a:t>i,j</a:t>
            </a:r>
            <a:r>
              <a:rPr lang="en-US" altLang="zh-TW" sz="1800" b="1" dirty="0">
                <a:latin typeface="Courier New" pitchFamily="49" charset="0"/>
              </a:rPr>
              <a:t>] = 0;</a:t>
            </a:r>
          </a:p>
          <a:p>
            <a:pPr lvl="1" eaLnBrk="1" hangingPunct="1">
              <a:buFontTx/>
              <a:buNone/>
            </a:pPr>
            <a:r>
              <a:rPr lang="en-US" altLang="zh-TW" sz="1800" dirty="0"/>
              <a:t/>
            </a:r>
            <a:br>
              <a:rPr lang="en-US" altLang="zh-TW" sz="1800" dirty="0"/>
            </a:br>
            <a:r>
              <a:rPr lang="en-US" altLang="zh-TW" sz="1800" dirty="0"/>
              <a:t>		</a:t>
            </a:r>
            <a:r>
              <a:rPr lang="en-US" altLang="zh-TW" sz="1800" dirty="0">
                <a:sym typeface="Symbol" pitchFamily="18" charset="2"/>
              </a:rPr>
              <a:t>  </a:t>
            </a:r>
            <a:r>
              <a:rPr lang="en-US" altLang="zh-TW" sz="1800" dirty="0"/>
              <a:t>128 page faults</a:t>
            </a:r>
          </a:p>
        </p:txBody>
      </p:sp>
      <p:sp>
        <p:nvSpPr>
          <p:cNvPr id="709637" name="Rectangle 5"/>
          <p:cNvSpPr>
            <a:spLocks noChangeArrowheads="1"/>
          </p:cNvSpPr>
          <p:nvPr/>
        </p:nvSpPr>
        <p:spPr bwMode="auto">
          <a:xfrm>
            <a:off x="9269636" y="1412776"/>
            <a:ext cx="1054100" cy="5198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126982" name="Rectangle 6"/>
          <p:cNvSpPr>
            <a:spLocks noChangeArrowheads="1"/>
          </p:cNvSpPr>
          <p:nvPr/>
        </p:nvSpPr>
        <p:spPr bwMode="auto">
          <a:xfrm>
            <a:off x="8328249" y="1926936"/>
            <a:ext cx="855663" cy="338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marL="285750" indent="-285750" eaLnBrk="0" hangingPunct="0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800" b="1" dirty="0">
                <a:latin typeface="Book Antiqua" pitchFamily="18" charset="0"/>
              </a:rPr>
              <a:t>Page 1</a:t>
            </a:r>
          </a:p>
        </p:txBody>
      </p:sp>
      <p:sp>
        <p:nvSpPr>
          <p:cNvPr id="126983" name="Rectangle 7"/>
          <p:cNvSpPr>
            <a:spLocks noChangeArrowheads="1"/>
          </p:cNvSpPr>
          <p:nvPr/>
        </p:nvSpPr>
        <p:spPr bwMode="auto">
          <a:xfrm>
            <a:off x="8328249" y="3292534"/>
            <a:ext cx="855663" cy="338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marL="285750" indent="-285750" eaLnBrk="0" hangingPunct="0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800" b="1" dirty="0">
                <a:latin typeface="Book Antiqua" pitchFamily="18" charset="0"/>
              </a:rPr>
              <a:t>Page 2</a:t>
            </a:r>
          </a:p>
        </p:txBody>
      </p:sp>
      <p:grpSp>
        <p:nvGrpSpPr>
          <p:cNvPr id="126984" name="Group 8"/>
          <p:cNvGrpSpPr>
            <a:grpSpLocks/>
          </p:cNvGrpSpPr>
          <p:nvPr/>
        </p:nvGrpSpPr>
        <p:grpSpPr bwMode="auto">
          <a:xfrm>
            <a:off x="9239474" y="1414276"/>
            <a:ext cx="1108075" cy="1481021"/>
            <a:chOff x="4672" y="1133"/>
            <a:chExt cx="615" cy="988"/>
          </a:xfrm>
        </p:grpSpPr>
        <p:sp>
          <p:nvSpPr>
            <p:cNvPr id="126992" name="Rectangle 9"/>
            <p:cNvSpPr>
              <a:spLocks noChangeArrowheads="1"/>
            </p:cNvSpPr>
            <p:nvPr/>
          </p:nvSpPr>
          <p:spPr bwMode="auto">
            <a:xfrm>
              <a:off x="4690" y="1133"/>
              <a:ext cx="555" cy="933"/>
            </a:xfrm>
            <a:prstGeom prst="rect">
              <a:avLst/>
            </a:prstGeom>
            <a:solidFill>
              <a:srgbClr val="ECECE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endParaRPr lang="zh-TW" altLang="zh-TW" sz="2000" b="1">
                <a:latin typeface="Times New Roman" pitchFamily="18" charset="0"/>
              </a:endParaRPr>
            </a:p>
          </p:txBody>
        </p:sp>
        <p:sp>
          <p:nvSpPr>
            <p:cNvPr id="126993" name="Text Box 10"/>
            <p:cNvSpPr txBox="1">
              <a:spLocks noChangeArrowheads="1"/>
            </p:cNvSpPr>
            <p:nvPr/>
          </p:nvSpPr>
          <p:spPr bwMode="auto">
            <a:xfrm>
              <a:off x="4672" y="1143"/>
              <a:ext cx="615" cy="9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A[0,0]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A[0,1]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.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A[0,127]</a:t>
              </a:r>
            </a:p>
          </p:txBody>
        </p:sp>
      </p:grpSp>
      <p:grpSp>
        <p:nvGrpSpPr>
          <p:cNvPr id="126985" name="Group 11"/>
          <p:cNvGrpSpPr>
            <a:grpSpLocks/>
          </p:cNvGrpSpPr>
          <p:nvPr/>
        </p:nvGrpSpPr>
        <p:grpSpPr bwMode="auto">
          <a:xfrm>
            <a:off x="9252174" y="4226418"/>
            <a:ext cx="1108075" cy="1481021"/>
            <a:chOff x="4326" y="2896"/>
            <a:chExt cx="644" cy="988"/>
          </a:xfrm>
        </p:grpSpPr>
        <p:sp>
          <p:nvSpPr>
            <p:cNvPr id="126990" name="Rectangle 12"/>
            <p:cNvSpPr>
              <a:spLocks noChangeArrowheads="1"/>
            </p:cNvSpPr>
            <p:nvPr/>
          </p:nvSpPr>
          <p:spPr bwMode="auto">
            <a:xfrm>
              <a:off x="4345" y="2896"/>
              <a:ext cx="581" cy="933"/>
            </a:xfrm>
            <a:prstGeom prst="rect">
              <a:avLst/>
            </a:prstGeom>
            <a:solidFill>
              <a:srgbClr val="ECECE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endParaRPr lang="zh-TW" altLang="zh-TW" sz="2000" b="1">
                <a:latin typeface="Times New Roman" pitchFamily="18" charset="0"/>
              </a:endParaRPr>
            </a:p>
          </p:txBody>
        </p:sp>
        <p:sp>
          <p:nvSpPr>
            <p:cNvPr id="126991" name="Text Box 13"/>
            <p:cNvSpPr txBox="1">
              <a:spLocks noChangeArrowheads="1"/>
            </p:cNvSpPr>
            <p:nvPr/>
          </p:nvSpPr>
          <p:spPr bwMode="auto">
            <a:xfrm>
              <a:off x="4326" y="2906"/>
              <a:ext cx="644" cy="9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A[2,0]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A[2,1]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.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A[2,127]</a:t>
              </a:r>
            </a:p>
          </p:txBody>
        </p:sp>
      </p:grpSp>
      <p:grpSp>
        <p:nvGrpSpPr>
          <p:cNvPr id="126986" name="Group 14"/>
          <p:cNvGrpSpPr>
            <a:grpSpLocks/>
          </p:cNvGrpSpPr>
          <p:nvPr/>
        </p:nvGrpSpPr>
        <p:grpSpPr bwMode="auto">
          <a:xfrm>
            <a:off x="9244237" y="2818848"/>
            <a:ext cx="1108075" cy="1481021"/>
            <a:chOff x="4326" y="2896"/>
            <a:chExt cx="644" cy="988"/>
          </a:xfrm>
        </p:grpSpPr>
        <p:sp>
          <p:nvSpPr>
            <p:cNvPr id="126988" name="Rectangle 15"/>
            <p:cNvSpPr>
              <a:spLocks noChangeArrowheads="1"/>
            </p:cNvSpPr>
            <p:nvPr/>
          </p:nvSpPr>
          <p:spPr bwMode="auto">
            <a:xfrm>
              <a:off x="4345" y="2896"/>
              <a:ext cx="581" cy="933"/>
            </a:xfrm>
            <a:prstGeom prst="rect">
              <a:avLst/>
            </a:prstGeom>
            <a:solidFill>
              <a:srgbClr val="ECECE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endParaRPr lang="zh-TW" altLang="zh-TW" sz="2000" b="1">
                <a:latin typeface="Times New Roman" pitchFamily="18" charset="0"/>
              </a:endParaRPr>
            </a:p>
          </p:txBody>
        </p:sp>
        <p:sp>
          <p:nvSpPr>
            <p:cNvPr id="126989" name="Text Box 16"/>
            <p:cNvSpPr txBox="1">
              <a:spLocks noChangeArrowheads="1"/>
            </p:cNvSpPr>
            <p:nvPr/>
          </p:nvSpPr>
          <p:spPr bwMode="auto">
            <a:xfrm>
              <a:off x="4326" y="2906"/>
              <a:ext cx="644" cy="9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A[1,0]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A[1,1]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.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30000"/>
                </a:spcBef>
                <a:buSzPct val="75000"/>
                <a:buFont typeface="Wingdings" pitchFamily="2" charset="2"/>
                <a:buNone/>
              </a:pPr>
              <a:r>
                <a:rPr lang="en-US" altLang="zh-TW" sz="2000" b="1" dirty="0">
                  <a:latin typeface="Calibri" panose="020F0502020204030204" pitchFamily="34" charset="0"/>
                </a:rPr>
                <a:t>A[1,127]</a:t>
              </a:r>
            </a:p>
          </p:txBody>
        </p:sp>
      </p:grpSp>
      <p:sp>
        <p:nvSpPr>
          <p:cNvPr id="126987" name="Rectangle 17"/>
          <p:cNvSpPr>
            <a:spLocks noChangeArrowheads="1"/>
          </p:cNvSpPr>
          <p:nvPr/>
        </p:nvSpPr>
        <p:spPr bwMode="auto">
          <a:xfrm>
            <a:off x="8339362" y="4779551"/>
            <a:ext cx="1109663" cy="338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marL="285750" indent="-285750" eaLnBrk="0" hangingPunct="0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800" b="1" dirty="0">
                <a:latin typeface="Book Antiqua" pitchFamily="18" charset="0"/>
              </a:rPr>
              <a:t>Page 3</a:t>
            </a:r>
          </a:p>
        </p:txBody>
      </p:sp>
    </p:spTree>
    <p:extLst>
      <p:ext uri="{BB962C8B-B14F-4D97-AF65-F5344CB8AC3E}">
        <p14:creationId xmlns:p14="http://schemas.microsoft.com/office/powerpoint/2010/main" val="163491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Other Issues </a:t>
            </a:r>
            <a:r>
              <a:rPr lang="en-US" altLang="zh-TW" sz="4000">
                <a:latin typeface="Helvetica"/>
              </a:rPr>
              <a:t>–</a:t>
            </a:r>
            <a:r>
              <a:rPr lang="en-US" altLang="zh-TW" sz="4000"/>
              <a:t> Program Structure (Cont.)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 smtClean="0"/>
              <a:t>Data structures</a:t>
            </a:r>
          </a:p>
          <a:p>
            <a:pPr lvl="1" eaLnBrk="1" hangingPunct="1"/>
            <a:r>
              <a:rPr lang="en-US" altLang="zh-TW" dirty="0" smtClean="0"/>
              <a:t>Pointers, </a:t>
            </a:r>
            <a:r>
              <a:rPr lang="en-US" altLang="zh-TW" dirty="0" smtClean="0"/>
              <a:t>hash table: </a:t>
            </a:r>
            <a:r>
              <a:rPr lang="en-US" altLang="zh-TW" dirty="0" smtClean="0"/>
              <a:t>poor locality</a:t>
            </a:r>
          </a:p>
          <a:p>
            <a:pPr lvl="1" eaLnBrk="1" hangingPunct="1"/>
            <a:r>
              <a:rPr lang="en-US" altLang="zh-TW" dirty="0" smtClean="0"/>
              <a:t>Stack: good locality</a:t>
            </a:r>
          </a:p>
          <a:p>
            <a:pPr eaLnBrk="1" hangingPunct="1"/>
            <a:endParaRPr lang="en-US" altLang="zh-TW" dirty="0" smtClean="0"/>
          </a:p>
        </p:txBody>
      </p:sp>
      <p:pic>
        <p:nvPicPr>
          <p:cNvPr id="128004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8049" y="3500438"/>
            <a:ext cx="3384302" cy="266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8005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3750" y="3295651"/>
            <a:ext cx="4032250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8941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Other Considerations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/>
              <a:t>Major decisions of a paging system</a:t>
            </a:r>
          </a:p>
          <a:p>
            <a:pPr lvl="1" eaLnBrk="1" hangingPunct="1"/>
            <a:r>
              <a:rPr lang="en-US" altLang="zh-TW" sz="2400" dirty="0"/>
              <a:t>Page replacement algorithm</a:t>
            </a:r>
          </a:p>
          <a:p>
            <a:pPr lvl="1" eaLnBrk="1" hangingPunct="1"/>
            <a:r>
              <a:rPr lang="en-US" altLang="zh-TW" sz="2400" dirty="0"/>
              <a:t>Page allocation policy</a:t>
            </a:r>
          </a:p>
          <a:p>
            <a:pPr eaLnBrk="1" hangingPunct="1"/>
            <a:r>
              <a:rPr lang="en-US" altLang="zh-TW" sz="2800" dirty="0"/>
              <a:t>Other considerations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400" dirty="0" smtClean="0"/>
              <a:t>Pre-paging </a:t>
            </a:r>
            <a:endParaRPr lang="en-US" altLang="zh-TW" sz="2400" dirty="0"/>
          </a:p>
          <a:p>
            <a:pPr lvl="1" eaLnBrk="1" hangingPunct="1"/>
            <a:r>
              <a:rPr lang="en-US" altLang="zh-TW" sz="2400" dirty="0"/>
              <a:t>Page size </a:t>
            </a:r>
          </a:p>
          <a:p>
            <a:pPr lvl="1" eaLnBrk="1" hangingPunct="1"/>
            <a:r>
              <a:rPr lang="en-US" altLang="zh-TW" sz="2400" dirty="0"/>
              <a:t>TLB Reach</a:t>
            </a:r>
          </a:p>
          <a:p>
            <a:pPr lvl="1" eaLnBrk="1" hangingPunct="1"/>
            <a:r>
              <a:rPr lang="en-US" altLang="zh-TW" sz="2400" dirty="0"/>
              <a:t>Inverted Page Tables</a:t>
            </a:r>
          </a:p>
          <a:p>
            <a:pPr lvl="1" eaLnBrk="1" hangingPunct="1"/>
            <a:r>
              <a:rPr lang="en-US" altLang="zh-TW" sz="2400" dirty="0"/>
              <a:t>Program Structure</a:t>
            </a:r>
          </a:p>
          <a:p>
            <a:pPr lvl="1" eaLnBrk="1" hangingPunct="1"/>
            <a:r>
              <a:rPr lang="en-US" altLang="zh-TW" sz="2400" b="1" dirty="0">
                <a:solidFill>
                  <a:srgbClr val="FF0000"/>
                </a:solidFill>
              </a:rPr>
              <a:t>I/O Interlock and Page Locking</a:t>
            </a:r>
          </a:p>
        </p:txBody>
      </p:sp>
    </p:spTree>
    <p:extLst>
      <p:ext uri="{BB962C8B-B14F-4D97-AF65-F5344CB8AC3E}">
        <p14:creationId xmlns:p14="http://schemas.microsoft.com/office/powerpoint/2010/main" val="32390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Other Issues </a:t>
            </a:r>
            <a:r>
              <a:rPr lang="en-US" altLang="zh-TW" sz="4000" dirty="0">
                <a:latin typeface="Helvetica"/>
              </a:rPr>
              <a:t>–</a:t>
            </a:r>
            <a:r>
              <a:rPr lang="en-US" altLang="zh-TW" sz="4000" dirty="0"/>
              <a:t> I/O Interlock and Page Locking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dirty="0"/>
              <a:t>A problem when doing I/O</a:t>
            </a:r>
          </a:p>
          <a:p>
            <a:pPr eaLnBrk="1" hangingPunct="1">
              <a:spcBef>
                <a:spcPct val="15000"/>
              </a:spcBef>
            </a:pPr>
            <a:endParaRPr lang="en-US" altLang="zh-TW" sz="2800" dirty="0"/>
          </a:p>
          <a:p>
            <a:pPr eaLnBrk="1" hangingPunct="1">
              <a:spcBef>
                <a:spcPct val="15000"/>
              </a:spcBef>
            </a:pPr>
            <a:r>
              <a:rPr lang="en-US" altLang="zh-TW" sz="2800" dirty="0"/>
              <a:t>Example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zh-TW" sz="2400" dirty="0"/>
              <a:t>Process P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prepare a page as </a:t>
            </a:r>
            <a:r>
              <a:rPr lang="en-US" altLang="zh-TW" sz="2400" b="1" dirty="0"/>
              <a:t>I/O buffer</a:t>
            </a:r>
            <a:r>
              <a:rPr lang="en-US" altLang="zh-TW" sz="2400" dirty="0"/>
              <a:t> </a:t>
            </a:r>
          </a:p>
          <a:p>
            <a:pPr lvl="2" eaLnBrk="1" hangingPunct="1">
              <a:spcBef>
                <a:spcPct val="15000"/>
              </a:spcBef>
            </a:pPr>
            <a:r>
              <a:rPr lang="en-US" altLang="zh-TW" sz="2000" dirty="0"/>
              <a:t>Wait for the I/O to complete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zh-TW" sz="2400" dirty="0"/>
              <a:t>Process P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takes the frame of P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’s I/O page</a:t>
            </a:r>
          </a:p>
          <a:p>
            <a:pPr lvl="2" eaLnBrk="1" hangingPunct="1">
              <a:spcBef>
                <a:spcPct val="15000"/>
              </a:spcBef>
            </a:pPr>
            <a:r>
              <a:rPr lang="en-US" altLang="zh-TW" sz="2000" dirty="0"/>
              <a:t>Due to page replacement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zh-TW" sz="2400" dirty="0"/>
              <a:t>I/O occurred to the specified address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zh-TW" sz="2400" dirty="0"/>
              <a:t>See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156642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>
                <a:solidFill>
                  <a:schemeClr val="tx1"/>
                </a:solidFill>
              </a:rPr>
              <a:t>Pending I/O Problem</a:t>
            </a:r>
          </a:p>
        </p:txBody>
      </p:sp>
      <p:sp>
        <p:nvSpPr>
          <p:cNvPr id="130051" name="Rectangle 3"/>
          <p:cNvSpPr>
            <a:spLocks noChangeArrowheads="1"/>
          </p:cNvSpPr>
          <p:nvPr/>
        </p:nvSpPr>
        <p:spPr bwMode="auto">
          <a:xfrm>
            <a:off x="2351089" y="1557339"/>
            <a:ext cx="1944687" cy="30956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13060" name="Rectangle 4"/>
          <p:cNvSpPr>
            <a:spLocks noChangeArrowheads="1"/>
          </p:cNvSpPr>
          <p:nvPr/>
        </p:nvSpPr>
        <p:spPr bwMode="auto">
          <a:xfrm>
            <a:off x="2351089" y="3284538"/>
            <a:ext cx="1944686" cy="7921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i="1" dirty="0">
                <a:latin typeface="Calibri" panose="020F0502020204030204" pitchFamily="34" charset="0"/>
              </a:rPr>
              <a:t>P</a:t>
            </a:r>
            <a:r>
              <a:rPr lang="en-US" altLang="zh-TW" i="1" baseline="-25000" dirty="0">
                <a:latin typeface="Calibri" panose="020F0502020204030204" pitchFamily="34" charset="0"/>
              </a:rPr>
              <a:t>1</a:t>
            </a:r>
            <a:endParaRPr lang="en-US" altLang="zh-TW" i="1" dirty="0">
              <a:latin typeface="Calibri" panose="020F0502020204030204" pitchFamily="34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11677" y="2781301"/>
            <a:ext cx="1320801" cy="792163"/>
            <a:chOff x="1927" y="1706"/>
            <a:chExt cx="832" cy="499"/>
          </a:xfrm>
        </p:grpSpPr>
        <p:sp>
          <p:nvSpPr>
            <p:cNvPr id="130064" name="AutoShape 6"/>
            <p:cNvSpPr>
              <a:spLocks noChangeArrowheads="1"/>
            </p:cNvSpPr>
            <p:nvPr/>
          </p:nvSpPr>
          <p:spPr bwMode="auto">
            <a:xfrm>
              <a:off x="2018" y="1979"/>
              <a:ext cx="615" cy="226"/>
            </a:xfrm>
            <a:prstGeom prst="rightArrow">
              <a:avLst>
                <a:gd name="adj1" fmla="val 50000"/>
                <a:gd name="adj2" fmla="val 6803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0065" name="Text Box 7"/>
            <p:cNvSpPr txBox="1">
              <a:spLocks noChangeArrowheads="1"/>
            </p:cNvSpPr>
            <p:nvPr/>
          </p:nvSpPr>
          <p:spPr bwMode="auto">
            <a:xfrm>
              <a:off x="1927" y="1706"/>
              <a:ext cx="8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page out</a:t>
              </a:r>
            </a:p>
          </p:txBody>
        </p:sp>
      </p:grpSp>
      <p:sp>
        <p:nvSpPr>
          <p:cNvPr id="130054" name="AutoShape 8"/>
          <p:cNvSpPr>
            <a:spLocks noChangeArrowheads="1"/>
          </p:cNvSpPr>
          <p:nvPr/>
        </p:nvSpPr>
        <p:spPr bwMode="auto">
          <a:xfrm>
            <a:off x="6024563" y="1484313"/>
            <a:ext cx="3960812" cy="4176712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13065" name="Rectangle 9"/>
          <p:cNvSpPr>
            <a:spLocks noChangeArrowheads="1"/>
          </p:cNvSpPr>
          <p:nvPr/>
        </p:nvSpPr>
        <p:spPr bwMode="auto">
          <a:xfrm>
            <a:off x="6719862" y="4292601"/>
            <a:ext cx="1968526" cy="792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i="1" dirty="0">
                <a:latin typeface="Calibri" panose="020F0502020204030204" pitchFamily="34" charset="0"/>
              </a:rPr>
              <a:t>P</a:t>
            </a:r>
            <a:r>
              <a:rPr lang="en-US" altLang="zh-TW" i="1" baseline="-25000" dirty="0">
                <a:latin typeface="Calibri" panose="020F0502020204030204" pitchFamily="34" charset="0"/>
              </a:rPr>
              <a:t>2</a:t>
            </a:r>
            <a:endParaRPr lang="en-US" altLang="zh-TW" i="1" dirty="0">
              <a:latin typeface="Calibri" panose="020F0502020204030204" pitchFamily="34" charset="0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656139" y="4292604"/>
            <a:ext cx="1195387" cy="677863"/>
            <a:chOff x="1973" y="2704"/>
            <a:chExt cx="753" cy="427"/>
          </a:xfrm>
        </p:grpSpPr>
        <p:sp>
          <p:nvSpPr>
            <p:cNvPr id="130062" name="AutoShape 11"/>
            <p:cNvSpPr>
              <a:spLocks noChangeArrowheads="1"/>
            </p:cNvSpPr>
            <p:nvPr/>
          </p:nvSpPr>
          <p:spPr bwMode="auto">
            <a:xfrm>
              <a:off x="1973" y="2704"/>
              <a:ext cx="615" cy="215"/>
            </a:xfrm>
            <a:prstGeom prst="leftArrow">
              <a:avLst>
                <a:gd name="adj1" fmla="val 50000"/>
                <a:gd name="adj2" fmla="val 7151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0063" name="Text Box 12"/>
            <p:cNvSpPr txBox="1">
              <a:spLocks noChangeArrowheads="1"/>
            </p:cNvSpPr>
            <p:nvPr/>
          </p:nvSpPr>
          <p:spPr bwMode="auto">
            <a:xfrm>
              <a:off x="1973" y="2840"/>
              <a:ext cx="75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page  in</a:t>
              </a:r>
            </a:p>
          </p:txBody>
        </p:sp>
      </p:grpSp>
      <p:sp>
        <p:nvSpPr>
          <p:cNvPr id="130057" name="Rectangle 13"/>
          <p:cNvSpPr>
            <a:spLocks noChangeArrowheads="1"/>
          </p:cNvSpPr>
          <p:nvPr/>
        </p:nvSpPr>
        <p:spPr bwMode="auto">
          <a:xfrm>
            <a:off x="2424113" y="6021389"/>
            <a:ext cx="1943100" cy="504825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 i="1" dirty="0">
                <a:latin typeface="Calibri" panose="020F0502020204030204" pitchFamily="34" charset="0"/>
              </a:rPr>
              <a:t>NIC</a:t>
            </a:r>
          </a:p>
        </p:txBody>
      </p:sp>
      <p:sp>
        <p:nvSpPr>
          <p:cNvPr id="813070" name="Text Box 14"/>
          <p:cNvSpPr txBox="1">
            <a:spLocks noChangeArrowheads="1"/>
          </p:cNvSpPr>
          <p:nvPr/>
        </p:nvSpPr>
        <p:spPr bwMode="auto">
          <a:xfrm>
            <a:off x="2711450" y="5084763"/>
            <a:ext cx="8890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>
                <a:latin typeface="Calibri" panose="020F0502020204030204" pitchFamily="34" charset="0"/>
              </a:rPr>
              <a:t>packet</a:t>
            </a:r>
          </a:p>
        </p:txBody>
      </p:sp>
      <p:sp>
        <p:nvSpPr>
          <p:cNvPr id="813071" name="Rectangle 15"/>
          <p:cNvSpPr>
            <a:spLocks noChangeArrowheads="1"/>
          </p:cNvSpPr>
          <p:nvPr/>
        </p:nvSpPr>
        <p:spPr bwMode="auto">
          <a:xfrm>
            <a:off x="2424113" y="5734050"/>
            <a:ext cx="647700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13072" name="AutoShape 16"/>
          <p:cNvSpPr>
            <a:spLocks noChangeArrowheads="1"/>
          </p:cNvSpPr>
          <p:nvPr/>
        </p:nvSpPr>
        <p:spPr bwMode="auto">
          <a:xfrm>
            <a:off x="2495550" y="3429000"/>
            <a:ext cx="503238" cy="431800"/>
          </a:xfrm>
          <a:prstGeom prst="irregularSeal2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30061" name="Rectangle 17"/>
          <p:cNvSpPr>
            <a:spLocks noChangeArrowheads="1"/>
          </p:cNvSpPr>
          <p:nvPr/>
        </p:nvSpPr>
        <p:spPr bwMode="auto">
          <a:xfrm>
            <a:off x="2351089" y="3284538"/>
            <a:ext cx="1944687" cy="792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13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07407E-6 L 0.35742 0.0053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65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8 -0.00532 L -0.35937 -0.1469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130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78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31" dur="2000" fill="hold"/>
                                        <p:tgtEl>
                                          <p:spTgt spid="8130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0" grpId="0" animBg="1"/>
      <p:bldP spid="813065" grpId="0" animBg="1"/>
      <p:bldP spid="813070" grpId="0"/>
      <p:bldP spid="813071" grpId="0" animBg="1"/>
      <p:bldP spid="813071" grpId="1" animBg="1"/>
      <p:bldP spid="813072" grpId="0" animBg="1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5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Other Issues </a:t>
            </a:r>
            <a:r>
              <a:rPr lang="en-US" altLang="zh-TW" sz="4000" dirty="0">
                <a:latin typeface="Helvetica"/>
              </a:rPr>
              <a:t>–</a:t>
            </a:r>
            <a:r>
              <a:rPr lang="en-US" altLang="zh-TW" sz="4000" dirty="0"/>
              <a:t> I/O Interlock and Page Locking (Cont.)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/>
              <a:t>Solution 1: never execute I/O to user memory</a:t>
            </a:r>
          </a:p>
          <a:p>
            <a:pPr lvl="1" eaLnBrk="1" hangingPunct="1"/>
            <a:r>
              <a:rPr lang="en-US" altLang="zh-TW" sz="2400" dirty="0"/>
              <a:t>I/O takes place only between </a:t>
            </a:r>
            <a:r>
              <a:rPr lang="en-US" altLang="zh-TW" sz="2400" b="1" dirty="0"/>
              <a:t>OS memory</a:t>
            </a:r>
            <a:r>
              <a:rPr lang="en-US" altLang="zh-TW" sz="2400" dirty="0"/>
              <a:t> and </a:t>
            </a:r>
            <a:r>
              <a:rPr lang="en-US" altLang="zh-TW" sz="2400" b="1" dirty="0"/>
              <a:t>I/O device</a:t>
            </a:r>
          </a:p>
          <a:p>
            <a:pPr lvl="1" eaLnBrk="1" hangingPunct="1"/>
            <a:r>
              <a:rPr lang="en-US" altLang="zh-TW" sz="2400" b="1" dirty="0">
                <a:solidFill>
                  <a:srgbClr val="0000FF"/>
                </a:solidFill>
              </a:rPr>
              <a:t>Extra copies </a:t>
            </a:r>
            <a:r>
              <a:rPr lang="en-US" altLang="zh-TW" sz="2400" dirty="0"/>
              <a:t>are needed for transferring data between OS memory and user memory</a:t>
            </a:r>
          </a:p>
          <a:p>
            <a:pPr lvl="1" eaLnBrk="1" hangingPunct="1"/>
            <a:r>
              <a:rPr lang="en-US" altLang="zh-TW" sz="2400" dirty="0"/>
              <a:t>See the next slide</a:t>
            </a:r>
          </a:p>
          <a:p>
            <a:pPr eaLnBrk="1" hangingPunct="1"/>
            <a:endParaRPr lang="en-US" altLang="zh-TW" sz="2800" dirty="0" smtClean="0"/>
          </a:p>
          <a:p>
            <a:pPr eaLnBrk="1" hangingPunct="1"/>
            <a:r>
              <a:rPr lang="en-US" altLang="zh-TW" sz="2800" dirty="0" smtClean="0"/>
              <a:t>Solution </a:t>
            </a:r>
            <a:r>
              <a:rPr lang="en-US" altLang="zh-TW" sz="2800" dirty="0"/>
              <a:t>2: allow pages to be </a:t>
            </a:r>
            <a:r>
              <a:rPr lang="en-US" altLang="zh-TW" sz="2800" b="1" dirty="0"/>
              <a:t>locked</a:t>
            </a:r>
            <a:r>
              <a:rPr lang="en-US" altLang="zh-TW" sz="2800" dirty="0"/>
              <a:t> into memory</a:t>
            </a:r>
          </a:p>
          <a:p>
            <a:pPr lvl="1" eaLnBrk="1" hangingPunct="1"/>
            <a:r>
              <a:rPr lang="en-US" altLang="zh-TW" sz="2400" b="1" dirty="0" smtClean="0">
                <a:solidFill>
                  <a:srgbClr val="FF3300"/>
                </a:solidFill>
              </a:rPr>
              <a:t>Page locking</a:t>
            </a:r>
            <a:r>
              <a:rPr lang="en-US" altLang="zh-TW" sz="2400" dirty="0" smtClean="0"/>
              <a:t> </a:t>
            </a:r>
            <a:r>
              <a:rPr lang="en-US" altLang="zh-TW" sz="2400" dirty="0">
                <a:latin typeface="Helvetica" pitchFamily="34" charset="0"/>
              </a:rPr>
              <a:t>–</a:t>
            </a:r>
            <a:r>
              <a:rPr lang="en-US" altLang="zh-TW" sz="2400" dirty="0"/>
              <a:t> pages must sometimes be </a:t>
            </a:r>
            <a:r>
              <a:rPr lang="en-US" altLang="zh-TW" sz="2400" b="1" dirty="0"/>
              <a:t>locked</a:t>
            </a:r>
            <a:r>
              <a:rPr lang="en-US" altLang="zh-TW" sz="2400" dirty="0"/>
              <a:t> into memory (using a </a:t>
            </a:r>
            <a:r>
              <a:rPr lang="en-US" altLang="zh-TW" sz="2400" b="1" dirty="0"/>
              <a:t>lock bit</a:t>
            </a:r>
            <a:r>
              <a:rPr lang="en-US" altLang="zh-TW" sz="2400" dirty="0"/>
              <a:t>) </a:t>
            </a:r>
          </a:p>
          <a:p>
            <a:pPr lvl="1" eaLnBrk="1" hangingPunct="1"/>
            <a:r>
              <a:rPr lang="en-US" altLang="zh-TW" sz="2400" dirty="0"/>
              <a:t>A </a:t>
            </a:r>
            <a:r>
              <a:rPr lang="en-US" altLang="zh-TW" sz="2400" b="1" dirty="0"/>
              <a:t>locked page </a:t>
            </a:r>
            <a:r>
              <a:rPr lang="en-US" altLang="zh-TW" sz="2400" dirty="0"/>
              <a:t>cannot be selected for </a:t>
            </a:r>
            <a:r>
              <a:rPr lang="en-US" altLang="zh-TW" sz="2400" dirty="0" smtClean="0"/>
              <a:t>replacement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03879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>
                <a:solidFill>
                  <a:schemeClr val="tx1"/>
                </a:solidFill>
              </a:rPr>
              <a:t>Solution 1:</a:t>
            </a:r>
          </a:p>
        </p:txBody>
      </p:sp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2351089" y="2420938"/>
            <a:ext cx="1944687" cy="2519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14084" name="Rectangle 4"/>
          <p:cNvSpPr>
            <a:spLocks noChangeArrowheads="1"/>
          </p:cNvSpPr>
          <p:nvPr/>
        </p:nvSpPr>
        <p:spPr bwMode="auto">
          <a:xfrm>
            <a:off x="2351089" y="3284538"/>
            <a:ext cx="1944687" cy="7921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i="1">
                <a:latin typeface="Calibri" panose="020F0502020204030204" pitchFamily="34" charset="0"/>
              </a:rPr>
              <a:t>p</a:t>
            </a:r>
            <a:r>
              <a:rPr lang="en-US" altLang="zh-TW" i="1" baseline="-25000">
                <a:latin typeface="Calibri" panose="020F0502020204030204" pitchFamily="34" charset="0"/>
              </a:rPr>
              <a:t>1</a:t>
            </a:r>
            <a:endParaRPr lang="en-US" altLang="zh-TW" i="1">
              <a:latin typeface="Calibri" panose="020F0502020204030204" pitchFamily="34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11677" y="2781301"/>
            <a:ext cx="1320801" cy="792163"/>
            <a:chOff x="1927" y="1706"/>
            <a:chExt cx="832" cy="499"/>
          </a:xfrm>
        </p:grpSpPr>
        <p:sp>
          <p:nvSpPr>
            <p:cNvPr id="132112" name="AutoShape 6"/>
            <p:cNvSpPr>
              <a:spLocks noChangeArrowheads="1"/>
            </p:cNvSpPr>
            <p:nvPr/>
          </p:nvSpPr>
          <p:spPr bwMode="auto">
            <a:xfrm>
              <a:off x="2018" y="1979"/>
              <a:ext cx="615" cy="226"/>
            </a:xfrm>
            <a:prstGeom prst="rightArrow">
              <a:avLst>
                <a:gd name="adj1" fmla="val 50000"/>
                <a:gd name="adj2" fmla="val 6803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2113" name="Text Box 7"/>
            <p:cNvSpPr txBox="1">
              <a:spLocks noChangeArrowheads="1"/>
            </p:cNvSpPr>
            <p:nvPr/>
          </p:nvSpPr>
          <p:spPr bwMode="auto">
            <a:xfrm>
              <a:off x="1927" y="1706"/>
              <a:ext cx="8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page out</a:t>
              </a:r>
            </a:p>
          </p:txBody>
        </p:sp>
      </p:grpSp>
      <p:sp>
        <p:nvSpPr>
          <p:cNvPr id="132102" name="AutoShape 8"/>
          <p:cNvSpPr>
            <a:spLocks noChangeArrowheads="1"/>
          </p:cNvSpPr>
          <p:nvPr/>
        </p:nvSpPr>
        <p:spPr bwMode="auto">
          <a:xfrm>
            <a:off x="6024563" y="1484313"/>
            <a:ext cx="3960812" cy="4176712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14089" name="Rectangle 9"/>
          <p:cNvSpPr>
            <a:spLocks noChangeArrowheads="1"/>
          </p:cNvSpPr>
          <p:nvPr/>
        </p:nvSpPr>
        <p:spPr bwMode="auto">
          <a:xfrm>
            <a:off x="6672264" y="4292601"/>
            <a:ext cx="2016125" cy="792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i="1">
                <a:latin typeface="Calibri" panose="020F0502020204030204" pitchFamily="34" charset="0"/>
              </a:rPr>
              <a:t>p</a:t>
            </a:r>
            <a:r>
              <a:rPr lang="en-US" altLang="zh-TW" i="1" baseline="-25000">
                <a:latin typeface="Calibri" panose="020F0502020204030204" pitchFamily="34" charset="0"/>
              </a:rPr>
              <a:t>2</a:t>
            </a:r>
            <a:endParaRPr lang="en-US" altLang="zh-TW" i="1">
              <a:latin typeface="Calibri" panose="020F0502020204030204" pitchFamily="34" charset="0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656137" y="4292604"/>
            <a:ext cx="1127124" cy="677863"/>
            <a:chOff x="1973" y="2704"/>
            <a:chExt cx="710" cy="427"/>
          </a:xfrm>
        </p:grpSpPr>
        <p:sp>
          <p:nvSpPr>
            <p:cNvPr id="132110" name="AutoShape 11"/>
            <p:cNvSpPr>
              <a:spLocks noChangeArrowheads="1"/>
            </p:cNvSpPr>
            <p:nvPr/>
          </p:nvSpPr>
          <p:spPr bwMode="auto">
            <a:xfrm>
              <a:off x="1973" y="2704"/>
              <a:ext cx="615" cy="215"/>
            </a:xfrm>
            <a:prstGeom prst="leftArrow">
              <a:avLst>
                <a:gd name="adj1" fmla="val 50000"/>
                <a:gd name="adj2" fmla="val 7151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2111" name="Text Box 12"/>
            <p:cNvSpPr txBox="1">
              <a:spLocks noChangeArrowheads="1"/>
            </p:cNvSpPr>
            <p:nvPr/>
          </p:nvSpPr>
          <p:spPr bwMode="auto">
            <a:xfrm>
              <a:off x="1973" y="2840"/>
              <a:ext cx="7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page in</a:t>
              </a:r>
            </a:p>
          </p:txBody>
        </p:sp>
      </p:grpSp>
      <p:sp>
        <p:nvSpPr>
          <p:cNvPr id="132105" name="Rectangle 13"/>
          <p:cNvSpPr>
            <a:spLocks noChangeArrowheads="1"/>
          </p:cNvSpPr>
          <p:nvPr/>
        </p:nvSpPr>
        <p:spPr bwMode="auto">
          <a:xfrm>
            <a:off x="2424113" y="6021389"/>
            <a:ext cx="1943100" cy="504825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 i="1">
                <a:latin typeface="Calibri" panose="020F0502020204030204" pitchFamily="34" charset="0"/>
              </a:rPr>
              <a:t>NIC</a:t>
            </a:r>
          </a:p>
        </p:txBody>
      </p:sp>
      <p:sp>
        <p:nvSpPr>
          <p:cNvPr id="814094" name="Text Box 14"/>
          <p:cNvSpPr txBox="1">
            <a:spLocks noChangeArrowheads="1"/>
          </p:cNvSpPr>
          <p:nvPr/>
        </p:nvSpPr>
        <p:spPr bwMode="auto">
          <a:xfrm>
            <a:off x="2711450" y="5084763"/>
            <a:ext cx="8890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>
                <a:latin typeface="Calibri" panose="020F0502020204030204" pitchFamily="34" charset="0"/>
              </a:rPr>
              <a:t>packet</a:t>
            </a:r>
          </a:p>
        </p:txBody>
      </p:sp>
      <p:sp>
        <p:nvSpPr>
          <p:cNvPr id="814095" name="Rectangle 15"/>
          <p:cNvSpPr>
            <a:spLocks noChangeArrowheads="1"/>
          </p:cNvSpPr>
          <p:nvPr/>
        </p:nvSpPr>
        <p:spPr bwMode="auto">
          <a:xfrm>
            <a:off x="2424113" y="5734050"/>
            <a:ext cx="647700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32108" name="Rectangle 16"/>
          <p:cNvSpPr>
            <a:spLocks noChangeArrowheads="1"/>
          </p:cNvSpPr>
          <p:nvPr/>
        </p:nvSpPr>
        <p:spPr bwMode="auto">
          <a:xfrm>
            <a:off x="2351089" y="4076700"/>
            <a:ext cx="1944687" cy="865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 i="1">
                <a:latin typeface="Calibri" panose="020F0502020204030204" pitchFamily="34" charset="0"/>
              </a:rPr>
              <a:t>OS</a:t>
            </a:r>
          </a:p>
        </p:txBody>
      </p:sp>
      <p:sp>
        <p:nvSpPr>
          <p:cNvPr id="132109" name="Rectangle 17"/>
          <p:cNvSpPr>
            <a:spLocks noChangeArrowheads="1"/>
          </p:cNvSpPr>
          <p:nvPr/>
        </p:nvSpPr>
        <p:spPr bwMode="auto">
          <a:xfrm>
            <a:off x="2351089" y="3284538"/>
            <a:ext cx="1944687" cy="792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93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07407E-6 L 0.35742 -0.0155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140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65" y="-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7 -0.00532 L -0.35742 -0.1469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14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17" y="-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42887E-7 L -1.11111E-6 -0.1887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8140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4084" grpId="0" animBg="1"/>
      <p:bldP spid="814089" grpId="0" animBg="1"/>
      <p:bldP spid="814094" grpId="0"/>
      <p:bldP spid="814095" grpId="0" animBg="1"/>
      <p:bldP spid="814095" grpId="1" animBg="1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Page Locking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有些</a:t>
            </a:r>
            <a:r>
              <a:rPr lang="en-US" altLang="zh-TW" dirty="0" smtClean="0"/>
              <a:t>OS</a:t>
            </a:r>
            <a:r>
              <a:rPr lang="zh-TW" altLang="en-US" dirty="0" smtClean="0"/>
              <a:t>的程式碼和資料也是被</a:t>
            </a:r>
            <a:r>
              <a:rPr lang="en-US" altLang="zh-TW" dirty="0" smtClean="0"/>
              <a:t>page locking</a:t>
            </a:r>
          </a:p>
          <a:p>
            <a:pPr lvl="1"/>
            <a:r>
              <a:rPr lang="zh-TW" altLang="en-US" dirty="0"/>
              <a:t>不允許</a:t>
            </a:r>
            <a:r>
              <a:rPr lang="zh-TW" altLang="en-US" dirty="0" smtClean="0"/>
              <a:t>被</a:t>
            </a:r>
            <a:r>
              <a:rPr lang="en-US" altLang="zh-TW" dirty="0" smtClean="0"/>
              <a:t>replacement algorithm</a:t>
            </a:r>
            <a:r>
              <a:rPr lang="zh-TW" altLang="en-US" dirty="0" smtClean="0"/>
              <a:t>選為</a:t>
            </a:r>
            <a:r>
              <a:rPr lang="en-US" altLang="zh-TW" dirty="0" smtClean="0"/>
              <a:t>victim</a:t>
            </a:r>
            <a:r>
              <a:rPr lang="zh-TW" altLang="en-US" dirty="0" smtClean="0"/>
              <a:t>而被</a:t>
            </a:r>
            <a:r>
              <a:rPr lang="en-US" altLang="zh-TW" dirty="0" smtClean="0"/>
              <a:t>replacement</a:t>
            </a:r>
          </a:p>
          <a:p>
            <a:pPr lvl="1"/>
            <a:r>
              <a:rPr lang="en-US" altLang="zh-TW" b="1" dirty="0" smtClean="0"/>
              <a:t>Why?</a:t>
            </a:r>
          </a:p>
          <a:p>
            <a:endParaRPr lang="en-US" altLang="zh-TW" b="1" dirty="0"/>
          </a:p>
          <a:p>
            <a:r>
              <a:rPr lang="zh-TW" altLang="en-US" dirty="0" smtClean="0"/>
              <a:t>應用程式也可以請求</a:t>
            </a:r>
            <a:r>
              <a:rPr lang="en-US" altLang="zh-TW" dirty="0" smtClean="0"/>
              <a:t>page locking</a:t>
            </a:r>
          </a:p>
          <a:p>
            <a:pPr lvl="1"/>
            <a:r>
              <a:rPr lang="en-US" altLang="zh-TW" dirty="0" err="1" smtClean="0"/>
              <a:t>mlock</a:t>
            </a:r>
            <a:r>
              <a:rPr lang="en-US" altLang="zh-TW" smtClean="0"/>
              <a:t>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451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16448</TotalTime>
  <Words>8382</Words>
  <Application>Microsoft Office PowerPoint</Application>
  <PresentationFormat>寬螢幕</PresentationFormat>
  <Paragraphs>2049</Paragraphs>
  <Slides>267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267</vt:i4>
      </vt:variant>
    </vt:vector>
  </HeadingPairs>
  <TitlesOfParts>
    <vt:vector size="286" baseType="lpstr">
      <vt:lpstr>Arial Unicode MS</vt:lpstr>
      <vt:lpstr>Iowan Old Style</vt:lpstr>
      <vt:lpstr>新細明體</vt:lpstr>
      <vt:lpstr>標楷體</vt:lpstr>
      <vt:lpstr>Arial</vt:lpstr>
      <vt:lpstr>Arial Black</vt:lpstr>
      <vt:lpstr>Bodoni MT</vt:lpstr>
      <vt:lpstr>Book Antiqua</vt:lpstr>
      <vt:lpstr>Calibri</vt:lpstr>
      <vt:lpstr>Courier New</vt:lpstr>
      <vt:lpstr>Helvetica</vt:lpstr>
      <vt:lpstr>Impact</vt:lpstr>
      <vt:lpstr>Symbol</vt:lpstr>
      <vt:lpstr>Times New Roman</vt:lpstr>
      <vt:lpstr>Verdana</vt:lpstr>
      <vt:lpstr>Wingdings</vt:lpstr>
      <vt:lpstr>osnetppt</vt:lpstr>
      <vt:lpstr>1_osnetppt</vt:lpstr>
      <vt:lpstr>2_osnetppt</vt:lpstr>
      <vt:lpstr>Chapter 10： Virtual Memory</vt:lpstr>
      <vt:lpstr>Outline</vt:lpstr>
      <vt:lpstr>Motivation</vt:lpstr>
      <vt:lpstr>Paging Model of Logical and Physical Memory</vt:lpstr>
      <vt:lpstr>Q: So, 如何利用這個特色呢?</vt:lpstr>
      <vt:lpstr>Virtual Memory</vt:lpstr>
      <vt:lpstr>Virtual Memory</vt:lpstr>
      <vt:lpstr>Q: 虛擬記憶體有什麼好處呢?</vt:lpstr>
      <vt:lpstr>Benefits</vt:lpstr>
      <vt:lpstr>Q: But, how to implement virtual memory?</vt:lpstr>
      <vt:lpstr>Outline</vt:lpstr>
      <vt:lpstr>Demand Paging</vt:lpstr>
      <vt:lpstr>Q: what is demand Paging? </vt:lpstr>
      <vt:lpstr>Demand Paging: Physical Memory is Not Full</vt:lpstr>
      <vt:lpstr>Swapper vs. Pager</vt:lpstr>
      <vt:lpstr>複習: Schematic View of Swapping</vt:lpstr>
      <vt:lpstr>所以, exec()不再將整個執行檔載入到記憶體</vt:lpstr>
      <vt:lpstr>複習: The exec() System Call</vt:lpstr>
      <vt:lpstr>Q: 那fork()呢?</vt:lpstr>
      <vt:lpstr>Q: if physical memory is full, we must select a victim for page out. Where to put the pages that are paged out ?</vt:lpstr>
      <vt:lpstr>複習: Storage-Device Hierarchy</vt:lpstr>
      <vt:lpstr>Page In and Page Out</vt:lpstr>
      <vt:lpstr>Swap Space</vt:lpstr>
      <vt:lpstr>Q: if memory is not full, where to put the pages that are paged in ?</vt:lpstr>
      <vt:lpstr>複習：Free-Frame List in Chapter 9</vt:lpstr>
      <vt:lpstr>Free-Frame List in Chapter 10: 假設程式存取page 0</vt:lpstr>
      <vt:lpstr>Q: 在demand paging, 何時會使用free-frame list?</vt:lpstr>
      <vt:lpstr>複習：Process</vt:lpstr>
      <vt:lpstr>Virtual Address Space of a Process</vt:lpstr>
      <vt:lpstr>複習：Process</vt:lpstr>
      <vt:lpstr>複習: Stack</vt:lpstr>
      <vt:lpstr>Free-frame lists are zero-fill-on-demand (Zero-out before being allocated). Why?</vt:lpstr>
      <vt:lpstr>Q: 當程式執行時, 我們必須知道存取的page是否有在記憶體當中. 誰負責偵測這件事情? </vt:lpstr>
      <vt:lpstr>複習：Demand Paging: Physical Memory is Not Full</vt:lpstr>
      <vt:lpstr>Hardware Support for Demand Paging</vt:lpstr>
      <vt:lpstr>複習: OS不知道發生記憶體存取</vt:lpstr>
      <vt:lpstr>Q: 當程式執行時, 我們必須知道存取的page是否有在記憶體當中. 如何偵測? </vt:lpstr>
      <vt:lpstr>Hardware Support for Demand Paging</vt:lpstr>
      <vt:lpstr>複習： Valid (v) or Invalid (i) Bit in a Page Table for Memory Protection</vt:lpstr>
      <vt:lpstr>Page Table When Some Pages Are Not in Main Memory</vt:lpstr>
      <vt:lpstr>Q: 當invalid時, CPU怎麼辦呢?</vt:lpstr>
      <vt:lpstr>複習: Event-Driven OS</vt:lpstr>
      <vt:lpstr>Page Table When Some Pages Are Not in Main Memory</vt:lpstr>
      <vt:lpstr>Page Table When Some Pages Are Not in Main Memory</vt:lpstr>
      <vt:lpstr>Q: Who sets the valid-invalid bit?</vt:lpstr>
      <vt:lpstr>接下來看page fault的處理流程~</vt:lpstr>
      <vt:lpstr>Page Fault Handling</vt:lpstr>
      <vt:lpstr>Steps in Handling a Page Fault</vt:lpstr>
      <vt:lpstr>Page Table in OS</vt:lpstr>
      <vt:lpstr>Q: 有沒有可能一直發生page fault? (使用者會非常不滿意)</vt:lpstr>
      <vt:lpstr>Q: 為什麼不會一直發生page fault?</vt:lpstr>
      <vt:lpstr>More about Demand Paging</vt:lpstr>
      <vt:lpstr>Locality</vt:lpstr>
      <vt:lpstr>Outline</vt:lpstr>
      <vt:lpstr>Performance of Demand Paging</vt:lpstr>
      <vt:lpstr>Page Fault Time (Skip!)</vt:lpstr>
      <vt:lpstr>複習: Summary</vt:lpstr>
      <vt:lpstr>PowerPoint 簡報</vt:lpstr>
      <vt:lpstr>Page Fault Time (Cont.) (Skip!)</vt:lpstr>
      <vt:lpstr>Example: Performance of Demand Paging</vt:lpstr>
      <vt:lpstr>複習: Effective Access Time (Cont.)</vt:lpstr>
      <vt:lpstr>Outline</vt:lpstr>
      <vt:lpstr>Motivations</vt:lpstr>
      <vt:lpstr>複習: Q: 那fork()呢?</vt:lpstr>
      <vt:lpstr>我們先看只有呼叫fork(), 沒有呼叫exec()</vt:lpstr>
      <vt:lpstr>複習: fork() System Call</vt:lpstr>
      <vt:lpstr>複習: fork() System Call</vt:lpstr>
      <vt:lpstr>觀察: 沒有呼叫exec()</vt:lpstr>
      <vt:lpstr>如果有呼叫fork()和exec()</vt:lpstr>
      <vt:lpstr>複習: fork()and exec()</vt:lpstr>
      <vt:lpstr>複習: fork()and exec()</vt:lpstr>
      <vt:lpstr>觀察: 呼叫exec()</vt:lpstr>
      <vt:lpstr>Q: 怎麼辦呢?</vt:lpstr>
      <vt:lpstr>Copy-on-Write</vt:lpstr>
      <vt:lpstr>Copy-on-Write: Before Fork()</vt:lpstr>
      <vt:lpstr>Copy-on-Write: After Fork()</vt:lpstr>
      <vt:lpstr>Copy-on-Write: Child Does not Call exec() But Performs write() to Page 2</vt:lpstr>
      <vt:lpstr>Another Example</vt:lpstr>
      <vt:lpstr>Process Creation: with Copy-on-Write</vt:lpstr>
      <vt:lpstr>Q：可以不copy而直接write嗎？</vt:lpstr>
      <vt:lpstr>Copy-on-Write</vt:lpstr>
      <vt:lpstr>The fork() System Call: With Page Sharing</vt:lpstr>
      <vt:lpstr>The exec()System Call: Load the New Image</vt:lpstr>
      <vt:lpstr>Again, loading the new image is dony by demand paging.</vt:lpstr>
      <vt:lpstr>Q: How to implement Copy-on-Write?</vt:lpstr>
      <vt:lpstr>複習: 如何讓CPU跳到OS?</vt:lpstr>
      <vt:lpstr>Q: 如何產生exception?</vt:lpstr>
      <vt:lpstr>Q: If P1 Writes to Page 3, What Happened?</vt:lpstr>
      <vt:lpstr>Copy-on-Write Example</vt:lpstr>
      <vt:lpstr>Example</vt:lpstr>
      <vt:lpstr>複習: Event-Driven OS</vt:lpstr>
      <vt:lpstr>Outline</vt:lpstr>
      <vt:lpstr>Question: upon page faults, how to do if physical memory is full (free frame list is empty) ? </vt:lpstr>
      <vt:lpstr>Demand Paging: Physical Memory is Full</vt:lpstr>
      <vt:lpstr>Question: upon page faults, how to do if physical memory is full (free frame list is empty) ? </vt:lpstr>
      <vt:lpstr>Page Replacement</vt:lpstr>
      <vt:lpstr>Page Replacement</vt:lpstr>
      <vt:lpstr>Basic Page Replacement</vt:lpstr>
      <vt:lpstr>Page Table When Some Pages Are Not in Main Memory</vt:lpstr>
      <vt:lpstr>Page Table When Some Pages Are Not in Main Memory</vt:lpstr>
      <vt:lpstr>請完成動畫: If frame 5 is Selected as Victim</vt:lpstr>
      <vt:lpstr>Reduce Page Replacement Overhead</vt:lpstr>
      <vt:lpstr>Page Table in OS</vt:lpstr>
      <vt:lpstr>Reduce Page Replacement Overhead</vt:lpstr>
      <vt:lpstr>Page Replacement with Modify Bit</vt:lpstr>
      <vt:lpstr>Outline</vt:lpstr>
      <vt:lpstr>Two Major Problems to Implement Demand Paging</vt:lpstr>
      <vt:lpstr>Page Replacement Algorithm: Which Frame is Selected as the Victim Frame? </vt:lpstr>
      <vt:lpstr>Page Replacement Algorithms</vt:lpstr>
      <vt:lpstr>FIFO Page Replacement</vt:lpstr>
      <vt:lpstr>再看一個例子</vt:lpstr>
      <vt:lpstr>First-In-First-Out (FIFO) Algorithm</vt:lpstr>
      <vt:lpstr>FIFO Page Replacement</vt:lpstr>
      <vt:lpstr>Graph of Page Faults Versus the Number of Frames: Normal Case</vt:lpstr>
      <vt:lpstr>FIFO Illustrating Belady’s Anomaly</vt:lpstr>
      <vt:lpstr>Page Replacement Algorithms</vt:lpstr>
      <vt:lpstr>Stack Algorithm</vt:lpstr>
      <vt:lpstr>Page Replacement Algorithms</vt:lpstr>
      <vt:lpstr>Q: 如何選擇victim page可以達到最佳效能?</vt:lpstr>
      <vt:lpstr>Optimal Algorithm</vt:lpstr>
      <vt:lpstr>Optimal Algorithm (Cont.)</vt:lpstr>
      <vt:lpstr>Page Replacement Algorithms</vt:lpstr>
      <vt:lpstr>Q: 所以我們必須逼近optimal. 如何逼近呢?</vt:lpstr>
      <vt:lpstr>Least Recently Used (LRU)</vt:lpstr>
      <vt:lpstr>LRU Page Replacement</vt:lpstr>
      <vt:lpstr>Q: how to implement LRU? </vt:lpstr>
      <vt:lpstr>Two LRU Implementation Schemes of LRU-Counters</vt:lpstr>
      <vt:lpstr>Time-of-Use Field in Each Page Table Entry</vt:lpstr>
      <vt:lpstr>Q: 最大的問題, 誰來寫time-of-use?</vt:lpstr>
      <vt:lpstr>複習: OS不知道發生記憶體存取</vt:lpstr>
      <vt:lpstr>Two LRU Implementation Schemes-LRU Stack</vt:lpstr>
      <vt:lpstr>LRU Stack Implementation Example</vt:lpstr>
      <vt:lpstr>LRU Stack Implementation Example</vt:lpstr>
      <vt:lpstr>Q: 同樣的問題, 誰來負責維護LRU stack呢?</vt:lpstr>
      <vt:lpstr>Two LRU Implementation Schemes</vt:lpstr>
      <vt:lpstr>Update Page Table for Each Memory Access</vt:lpstr>
      <vt:lpstr>Update LRU Stack for Each Memory Access</vt:lpstr>
      <vt:lpstr>Q: 問題是沒有硬體提供上述的支援. 怎麼辦呢?</vt:lpstr>
      <vt:lpstr>Page Replacement Algorithms</vt:lpstr>
      <vt:lpstr>LRU Approximation Algorithms</vt:lpstr>
      <vt:lpstr>Reference Bit</vt:lpstr>
      <vt:lpstr>Page Table in OS</vt:lpstr>
      <vt:lpstr>Q: When page replacement occurs, 我們要替換誰呢? </vt:lpstr>
      <vt:lpstr>Reference Bit</vt:lpstr>
      <vt:lpstr>Page Replacement Algorithms</vt:lpstr>
      <vt:lpstr>LRU Approximation Algorithms- Additional-reference-bits Algorithm</vt:lpstr>
      <vt:lpstr>Page Table and History Table in OS</vt:lpstr>
      <vt:lpstr>History by Additional Reference Bits</vt:lpstr>
      <vt:lpstr>Page Replacement Algorithms</vt:lpstr>
      <vt:lpstr>LRU Approximation Algorithms- Second chance Algorithm</vt:lpstr>
      <vt:lpstr>Second-Chance (Clock) Page-Replacement Algorithm</vt:lpstr>
      <vt:lpstr>Page Table and FIFO Queue in OS</vt:lpstr>
      <vt:lpstr>Page Replacement Algorithms</vt:lpstr>
      <vt:lpstr>之前提過MMU會設定page table中的modify bit (dirty bit), 也可以拿來利用!</vt:lpstr>
      <vt:lpstr>LRU Approximation Algorithms- Enhanced Second Chance Algorithm</vt:lpstr>
      <vt:lpstr>Enhanced Second-Chance Page-Replacement Algorithm</vt:lpstr>
      <vt:lpstr>Page Table and FIFO Queue in OS</vt:lpstr>
      <vt:lpstr>Page Replacement Algorithms</vt:lpstr>
      <vt:lpstr>Counting-Based Page Replacement Algorithms</vt:lpstr>
      <vt:lpstr>LRU Page Replacement</vt:lpstr>
      <vt:lpstr>But counting-based algorithm is uncommon Why?</vt:lpstr>
      <vt:lpstr>Outline</vt:lpstr>
      <vt:lpstr>Page Buffering Algorithms</vt:lpstr>
      <vt:lpstr>Page Buffering Algorithms</vt:lpstr>
      <vt:lpstr>Keep a Pool of Free Frames</vt:lpstr>
      <vt:lpstr>Page Replacement: Original</vt:lpstr>
      <vt:lpstr>Page Replacement-Maintain Free Frames</vt:lpstr>
      <vt:lpstr>Page Buffering Algorithms</vt:lpstr>
      <vt:lpstr>Write Back the Modified Pages to Disk When Disk is Idle</vt:lpstr>
      <vt:lpstr>Page Replacement: Original</vt:lpstr>
      <vt:lpstr>Page Replacement: New</vt:lpstr>
      <vt:lpstr>Page Buffering Algorithms</vt:lpstr>
      <vt:lpstr>Remember Which Page was in Each Free Frame </vt:lpstr>
      <vt:lpstr>Page Replacement- Remember Which Page was in Each Free Frame </vt:lpstr>
      <vt:lpstr>Outline</vt:lpstr>
      <vt:lpstr>Two Major Problems to Implement Demand Paging</vt:lpstr>
      <vt:lpstr>Outline</vt:lpstr>
      <vt:lpstr>Q: 每一個process應該分配多少記憶體空間?</vt:lpstr>
      <vt:lpstr>Allocation Algorithms</vt:lpstr>
      <vt:lpstr>但是兩種方法都不好! 應該要動態調整~</vt:lpstr>
      <vt:lpstr>Outline</vt:lpstr>
      <vt:lpstr>Global v.s. Local Allocation</vt:lpstr>
      <vt:lpstr> Global Replacement or Local Replacement?</vt:lpstr>
      <vt:lpstr>Global Replacement就是一種動態調整機制</vt:lpstr>
      <vt:lpstr>A Example Global Page Replacement Policy</vt:lpstr>
      <vt:lpstr>Reclaiming Pages Example  </vt:lpstr>
      <vt:lpstr>Outline</vt:lpstr>
      <vt:lpstr>因此, 在某些情況下, 有可能某些process被分配到的記憶體空間太少了</vt:lpstr>
      <vt:lpstr>Outline</vt:lpstr>
      <vt:lpstr>Allocation Algorithms</vt:lpstr>
      <vt:lpstr>Thrashing</vt:lpstr>
      <vt:lpstr>Locality of References</vt:lpstr>
      <vt:lpstr>Locality of References</vt:lpstr>
      <vt:lpstr>Locality in a Memory-Reference Pattern</vt:lpstr>
      <vt:lpstr>Q: 如何知道要分配多少的記憶體空間給process以避免thrashing呢?</vt:lpstr>
      <vt:lpstr>Thrashing (Cont.)</vt:lpstr>
      <vt:lpstr>Outline</vt:lpstr>
      <vt:lpstr>Working-Set Model</vt:lpstr>
      <vt:lpstr>Working-Set Model</vt:lpstr>
      <vt:lpstr>如何紀錄working set?</vt:lpstr>
      <vt:lpstr>Working-Set Model (Cont.)</vt:lpstr>
      <vt:lpstr>如果由OS紀錄WSS?</vt:lpstr>
      <vt:lpstr>Q: 怎麼辦呢?⇨逼近</vt:lpstr>
      <vt:lpstr>Approximate Working Set </vt:lpstr>
      <vt:lpstr>Example</vt:lpstr>
      <vt:lpstr>Example</vt:lpstr>
      <vt:lpstr>Example</vt:lpstr>
      <vt:lpstr>Example (Cont.)</vt:lpstr>
      <vt:lpstr>Page Table and In-Memory Bits in OS</vt:lpstr>
      <vt:lpstr>Working-Set Model (Cont.)</vt:lpstr>
      <vt:lpstr>Outline</vt:lpstr>
      <vt:lpstr>Page-Fault Frequency Scheme</vt:lpstr>
      <vt:lpstr>Page-Fault Frequency Scheme</vt:lpstr>
      <vt:lpstr>Q: 如果記憶體空間就是真的不夠呢?怎麼辦呢?</vt:lpstr>
      <vt:lpstr>Swapping</vt:lpstr>
      <vt:lpstr>Outline</vt:lpstr>
      <vt:lpstr>Memory Compression</vt:lpstr>
      <vt:lpstr>Example: Paging Version</vt:lpstr>
      <vt:lpstr>Example: Memory Compression Version</vt:lpstr>
      <vt:lpstr>Memory Compression (Cont.) (Skip!)</vt:lpstr>
      <vt:lpstr>Outline</vt:lpstr>
      <vt:lpstr>Q: 使用者程式如何動態配置(allocate)新的記憶體空間?</vt:lpstr>
      <vt:lpstr>Q: 呼叫malloc(), OS如何配置記憶體空間給應用程式?</vt:lpstr>
      <vt:lpstr>複習: Allocating Frames to a Process</vt:lpstr>
      <vt:lpstr>Q: 這樣分配到的記憶體有什麼特色?</vt:lpstr>
      <vt:lpstr>Allocating Kernel Memory</vt:lpstr>
      <vt:lpstr>OS也會動態配置記憶體. 例如?</vt:lpstr>
      <vt:lpstr>但是, 從free frame list拿的特性不適合OS. Why?</vt:lpstr>
      <vt:lpstr>Allocating Kernel Memory (Cont.)</vt:lpstr>
      <vt:lpstr>複習: A Computer System</vt:lpstr>
      <vt:lpstr>所以, Kernel動態要記憶體會有不同的做法</vt:lpstr>
      <vt:lpstr>Allocating Kernel Memory (Cont.)</vt:lpstr>
      <vt:lpstr>Buddy System</vt:lpstr>
      <vt:lpstr>PowerPoint 簡報</vt:lpstr>
      <vt:lpstr>Buddy System (Cont.)</vt:lpstr>
      <vt:lpstr>Slab Allocation</vt:lpstr>
      <vt:lpstr>Slab Allocation</vt:lpstr>
      <vt:lpstr>Slab Allocation</vt:lpstr>
      <vt:lpstr>Outline</vt:lpstr>
      <vt:lpstr>Other Considerations</vt:lpstr>
      <vt:lpstr>Other Considerations</vt:lpstr>
      <vt:lpstr>Other Issues – Pre-paging</vt:lpstr>
      <vt:lpstr>Other Issues – Pre-paging</vt:lpstr>
      <vt:lpstr>Other Considerations</vt:lpstr>
      <vt:lpstr>Other Issues – Page Size</vt:lpstr>
      <vt:lpstr>Paging Model of Logical and Physical Memory</vt:lpstr>
      <vt:lpstr>Q: 所以我們希望page size大還是小呢?</vt:lpstr>
      <vt:lpstr>Other Issues – Page Size (Cont.)</vt:lpstr>
      <vt:lpstr>Other Considerations</vt:lpstr>
      <vt:lpstr>Other Issues – TLB Reach</vt:lpstr>
      <vt:lpstr>TLB is the Cache of Page Table</vt:lpstr>
      <vt:lpstr>Q: 如何增加TLB Reach?</vt:lpstr>
      <vt:lpstr>Other Issues – TLB Reach (Cont.)</vt:lpstr>
      <vt:lpstr>Other Considerations</vt:lpstr>
      <vt:lpstr>Question: in inverted page table, how do we know the disk location of a not-in-memory pages page?</vt:lpstr>
      <vt:lpstr>Other Issues –Inverted Page Table (Skip!)</vt:lpstr>
      <vt:lpstr>Other Issues –Inverted Page Table (Skip!)</vt:lpstr>
      <vt:lpstr>Other Considerations</vt:lpstr>
      <vt:lpstr>Other Issues – Program Structure</vt:lpstr>
      <vt:lpstr>Other Issues – Program Structure (Cont.)</vt:lpstr>
      <vt:lpstr>Other Considerations</vt:lpstr>
      <vt:lpstr>Other Issues – I/O Interlock and Page Locking</vt:lpstr>
      <vt:lpstr>Pending I/O Problem</vt:lpstr>
      <vt:lpstr>Q: 怎麼辦呢?</vt:lpstr>
      <vt:lpstr>Other Issues – I/O Interlock and Page Locking (Cont.)</vt:lpstr>
      <vt:lpstr>Solution 1:</vt:lpstr>
      <vt:lpstr>Page Locking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2332</cp:revision>
  <dcterms:created xsi:type="dcterms:W3CDTF">2007-09-05T09:28:55Z</dcterms:created>
  <dcterms:modified xsi:type="dcterms:W3CDTF">2025-12-13T09:15:55Z</dcterms:modified>
</cp:coreProperties>
</file>