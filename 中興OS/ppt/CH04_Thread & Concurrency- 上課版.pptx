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89" r:id="rId2"/>
  </p:sldMasterIdLst>
  <p:notesMasterIdLst>
    <p:notesMasterId r:id="rId182"/>
  </p:notesMasterIdLst>
  <p:sldIdLst>
    <p:sldId id="280" r:id="rId3"/>
    <p:sldId id="368" r:id="rId4"/>
    <p:sldId id="638" r:id="rId5"/>
    <p:sldId id="486" r:id="rId6"/>
    <p:sldId id="540" r:id="rId7"/>
    <p:sldId id="640" r:id="rId8"/>
    <p:sldId id="541" r:id="rId9"/>
    <p:sldId id="639" r:id="rId10"/>
    <p:sldId id="479" r:id="rId11"/>
    <p:sldId id="583" r:id="rId12"/>
    <p:sldId id="363" r:id="rId13"/>
    <p:sldId id="641" r:id="rId14"/>
    <p:sldId id="548" r:id="rId15"/>
    <p:sldId id="678" r:id="rId16"/>
    <p:sldId id="677" r:id="rId17"/>
    <p:sldId id="593" r:id="rId18"/>
    <p:sldId id="594" r:id="rId19"/>
    <p:sldId id="587" r:id="rId20"/>
    <p:sldId id="595" r:id="rId21"/>
    <p:sldId id="596" r:id="rId22"/>
    <p:sldId id="646" r:id="rId23"/>
    <p:sldId id="591" r:id="rId24"/>
    <p:sldId id="679" r:id="rId25"/>
    <p:sldId id="642" r:id="rId26"/>
    <p:sldId id="643" r:id="rId27"/>
    <p:sldId id="644" r:id="rId28"/>
    <p:sldId id="672" r:id="rId29"/>
    <p:sldId id="585" r:id="rId30"/>
    <p:sldId id="673" r:id="rId31"/>
    <p:sldId id="602" r:id="rId32"/>
    <p:sldId id="648" r:id="rId33"/>
    <p:sldId id="649" r:id="rId34"/>
    <p:sldId id="603" r:id="rId35"/>
    <p:sldId id="650" r:id="rId36"/>
    <p:sldId id="651" r:id="rId37"/>
    <p:sldId id="592" r:id="rId38"/>
    <p:sldId id="544" r:id="rId39"/>
    <p:sldId id="671" r:id="rId40"/>
    <p:sldId id="598" r:id="rId41"/>
    <p:sldId id="476" r:id="rId42"/>
    <p:sldId id="655" r:id="rId43"/>
    <p:sldId id="599" r:id="rId44"/>
    <p:sldId id="282" r:id="rId45"/>
    <p:sldId id="481" r:id="rId46"/>
    <p:sldId id="676" r:id="rId47"/>
    <p:sldId id="604" r:id="rId48"/>
    <p:sldId id="283" r:id="rId49"/>
    <p:sldId id="652" r:id="rId50"/>
    <p:sldId id="310" r:id="rId51"/>
    <p:sldId id="600" r:id="rId52"/>
    <p:sldId id="493" r:id="rId53"/>
    <p:sldId id="653" r:id="rId54"/>
    <p:sldId id="656" r:id="rId55"/>
    <p:sldId id="657" r:id="rId56"/>
    <p:sldId id="369" r:id="rId57"/>
    <p:sldId id="396" r:id="rId58"/>
    <p:sldId id="386" r:id="rId59"/>
    <p:sldId id="545" r:id="rId60"/>
    <p:sldId id="561" r:id="rId61"/>
    <p:sldId id="400" r:id="rId62"/>
    <p:sldId id="427" r:id="rId63"/>
    <p:sldId id="605" r:id="rId64"/>
    <p:sldId id="575" r:id="rId65"/>
    <p:sldId id="546" r:id="rId66"/>
    <p:sldId id="497" r:id="rId67"/>
    <p:sldId id="399" r:id="rId68"/>
    <p:sldId id="483" r:id="rId69"/>
    <p:sldId id="536" r:id="rId70"/>
    <p:sldId id="320" r:id="rId71"/>
    <p:sldId id="313" r:id="rId72"/>
    <p:sldId id="661" r:id="rId73"/>
    <p:sldId id="537" r:id="rId74"/>
    <p:sldId id="288" r:id="rId75"/>
    <p:sldId id="424" r:id="rId76"/>
    <p:sldId id="547" r:id="rId77"/>
    <p:sldId id="674" r:id="rId78"/>
    <p:sldId id="538" r:id="rId79"/>
    <p:sldId id="659" r:id="rId80"/>
    <p:sldId id="658" r:id="rId81"/>
    <p:sldId id="662" r:id="rId82"/>
    <p:sldId id="498" r:id="rId83"/>
    <p:sldId id="290" r:id="rId84"/>
    <p:sldId id="425" r:id="rId85"/>
    <p:sldId id="485" r:id="rId86"/>
    <p:sldId id="660" r:id="rId87"/>
    <p:sldId id="607" r:id="rId88"/>
    <p:sldId id="609" r:id="rId89"/>
    <p:sldId id="608" r:id="rId90"/>
    <p:sldId id="550" r:id="rId91"/>
    <p:sldId id="675" r:id="rId92"/>
    <p:sldId id="606" r:id="rId93"/>
    <p:sldId id="663" r:id="rId94"/>
    <p:sldId id="484" r:id="rId95"/>
    <p:sldId id="292" r:id="rId96"/>
    <p:sldId id="549" r:id="rId97"/>
    <p:sldId id="366" r:id="rId98"/>
    <p:sldId id="294" r:id="rId99"/>
    <p:sldId id="664" r:id="rId100"/>
    <p:sldId id="376" r:id="rId101"/>
    <p:sldId id="377" r:id="rId102"/>
    <p:sldId id="367" r:id="rId103"/>
    <p:sldId id="326" r:id="rId104"/>
    <p:sldId id="401" r:id="rId105"/>
    <p:sldId id="610" r:id="rId106"/>
    <p:sldId id="666" r:id="rId107"/>
    <p:sldId id="402" r:id="rId108"/>
    <p:sldId id="499" r:id="rId109"/>
    <p:sldId id="665" r:id="rId110"/>
    <p:sldId id="428" r:id="rId111"/>
    <p:sldId id="334" r:id="rId112"/>
    <p:sldId id="336" r:id="rId113"/>
    <p:sldId id="370" r:id="rId114"/>
    <p:sldId id="335" r:id="rId115"/>
    <p:sldId id="429" r:id="rId116"/>
    <p:sldId id="581" r:id="rId117"/>
    <p:sldId id="406" r:id="rId118"/>
    <p:sldId id="616" r:id="rId119"/>
    <p:sldId id="407" r:id="rId120"/>
    <p:sldId id="570" r:id="rId121"/>
    <p:sldId id="571" r:id="rId122"/>
    <p:sldId id="618" r:id="rId123"/>
    <p:sldId id="617" r:id="rId124"/>
    <p:sldId id="619" r:id="rId125"/>
    <p:sldId id="409" r:id="rId126"/>
    <p:sldId id="611" r:id="rId127"/>
    <p:sldId id="517" r:id="rId128"/>
    <p:sldId id="612" r:id="rId129"/>
    <p:sldId id="613" r:id="rId130"/>
    <p:sldId id="614" r:id="rId131"/>
    <p:sldId id="667" r:id="rId132"/>
    <p:sldId id="410" r:id="rId133"/>
    <p:sldId id="518" r:id="rId134"/>
    <p:sldId id="456" r:id="rId135"/>
    <p:sldId id="506" r:id="rId136"/>
    <p:sldId id="457" r:id="rId137"/>
    <p:sldId id="620" r:id="rId138"/>
    <p:sldId id="478" r:id="rId139"/>
    <p:sldId id="371" r:id="rId140"/>
    <p:sldId id="615" r:id="rId141"/>
    <p:sldId id="632" r:id="rId142"/>
    <p:sldId id="500" r:id="rId143"/>
    <p:sldId id="622" r:id="rId144"/>
    <p:sldId id="621" r:id="rId145"/>
    <p:sldId id="533" r:id="rId146"/>
    <p:sldId id="551" r:id="rId147"/>
    <p:sldId id="564" r:id="rId148"/>
    <p:sldId id="633" r:id="rId149"/>
    <p:sldId id="623" r:id="rId150"/>
    <p:sldId id="624" r:id="rId151"/>
    <p:sldId id="296" r:id="rId152"/>
    <p:sldId id="670" r:id="rId153"/>
    <p:sldId id="668" r:id="rId154"/>
    <p:sldId id="626" r:id="rId155"/>
    <p:sldId id="625" r:id="rId156"/>
    <p:sldId id="634" r:id="rId157"/>
    <p:sldId id="578" r:id="rId158"/>
    <p:sldId id="565" r:id="rId159"/>
    <p:sldId id="413" r:id="rId160"/>
    <p:sldId id="414" r:id="rId161"/>
    <p:sldId id="490" r:id="rId162"/>
    <p:sldId id="415" r:id="rId163"/>
    <p:sldId id="627" r:id="rId164"/>
    <p:sldId id="635" r:id="rId165"/>
    <p:sldId id="343" r:id="rId166"/>
    <p:sldId id="628" r:id="rId167"/>
    <p:sldId id="629" r:id="rId168"/>
    <p:sldId id="373" r:id="rId169"/>
    <p:sldId id="568" r:id="rId170"/>
    <p:sldId id="569" r:id="rId171"/>
    <p:sldId id="567" r:id="rId172"/>
    <p:sldId id="579" r:id="rId173"/>
    <p:sldId id="636" r:id="rId174"/>
    <p:sldId id="350" r:id="rId175"/>
    <p:sldId id="379" r:id="rId176"/>
    <p:sldId id="580" r:id="rId177"/>
    <p:sldId id="372" r:id="rId178"/>
    <p:sldId id="356" r:id="rId179"/>
    <p:sldId id="357" r:id="rId180"/>
    <p:sldId id="637" r:id="rId181"/>
  </p:sldIdLst>
  <p:sldSz cx="12192000" cy="6858000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0000FF"/>
    <a:srgbClr val="00CC00"/>
    <a:srgbClr val="00FF00"/>
    <a:srgbClr val="FFCC00"/>
    <a:srgbClr val="0066FF"/>
    <a:srgbClr val="99FF66"/>
    <a:srgbClr val="CCECFF"/>
    <a:srgbClr val="66CC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67" autoAdjust="0"/>
    <p:restoredTop sz="94660"/>
  </p:normalViewPr>
  <p:slideViewPr>
    <p:cSldViewPr>
      <p:cViewPr varScale="1">
        <p:scale>
          <a:sx n="70" d="100"/>
          <a:sy n="70" d="100"/>
        </p:scale>
        <p:origin x="19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18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viewProps" Target="viewProp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tableStyles" Target="tableStyles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6476" cy="511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29" y="0"/>
            <a:ext cx="3076476" cy="511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22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609" y="4861359"/>
            <a:ext cx="5678083" cy="4605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222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055"/>
            <a:ext cx="3076476" cy="511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22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29" y="9721055"/>
            <a:ext cx="3076476" cy="511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CDA87176-53A5-4BE2-BB36-44550B8BFC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912847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A87176-53A5-4BE2-BB36-44550B8BFC75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232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A87176-53A5-4BE2-BB36-44550B8BFC75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706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A87176-53A5-4BE2-BB36-44550B8BFC75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79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461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A87176-53A5-4BE2-BB36-44550B8BFC75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83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453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A87176-53A5-4BE2-BB36-44550B8BFC75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84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529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D4BB2-6766-4561-BC06-F552BFADA6F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54202-1D94-4F40-BF1C-2B28CDC5AFA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59911-C564-410A-B93B-2F735A8FE35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E878F-EED9-40BE-A34B-8E294055A8D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458FE-58C5-40CD-A089-063BEF5C9E9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FF96D-3F97-4EED-A2CE-E2DD9497B7B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90473-F383-46E9-847B-A62E2A0F4CB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9CC5E8-09D8-49E9-851F-C2B04BD1C92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291F42-F963-425A-8513-31CE11AA8D4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15889"/>
            <a:ext cx="2745317" cy="60102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15889"/>
            <a:ext cx="8039100" cy="60102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E3674-CDC6-4F01-8D00-CCBFD24D340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971455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0A2B1-AD20-4166-B6D5-5B145BA6031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593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385228-623B-4451-AE5F-DC9B995EBC9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4925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39481-F962-4F85-9E1B-554F3CA4721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32678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4DE2E-C83E-4954-B893-149E183B01F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2243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632AD-9D6A-45CC-A1CF-8EF7EBEC225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9153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03F6A1-8A0B-4905-8C4D-A2A89273829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2161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8101C-A27A-4027-B24D-6AD0C5A416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1630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310DE6-F0B5-4BB5-93AA-2CCD573E1E0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31208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5A9B3-FB01-4448-ABE2-4F80DA56BB6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58224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47625"/>
            <a:ext cx="2745317" cy="60785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47625"/>
            <a:ext cx="8039100" cy="60785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3A3035-2733-4190-AD0D-DBCC8048BE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7673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16C360E-DEBE-4CF7-8E6B-B96E06B1CFE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3"/>
            <a:ext cx="109728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itchFamily="18" charset="-120"/>
              </a:defRPr>
            </a:lvl1pPr>
          </a:lstStyle>
          <a:p>
            <a:pPr>
              <a:defRPr/>
            </a:pPr>
            <a:fld id="{06FB7576-D5A1-4124-A8A2-2098A4E88BC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929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23780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/>
              <a:t>Chapter 4</a:t>
            </a:r>
            <a:br>
              <a:rPr lang="en-US" altLang="zh-TW" dirty="0"/>
            </a:br>
            <a:r>
              <a:rPr lang="en-US" altLang="zh-TW" dirty="0"/>
              <a:t>  </a:t>
            </a:r>
            <a:br>
              <a:rPr lang="en-US" altLang="zh-TW" dirty="0"/>
            </a:br>
            <a:r>
              <a:rPr lang="en-US" altLang="zh-TW" dirty="0"/>
              <a:t>Thread &amp; Concurrency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dirty="0"/>
              <a:t>Threading Issues</a:t>
            </a:r>
          </a:p>
          <a:p>
            <a:pPr eaLnBrk="1" hangingPunct="1"/>
            <a:r>
              <a:rPr lang="en-US" altLang="zh-TW" dirty="0"/>
              <a:t>Operating-System Examples</a:t>
            </a:r>
          </a:p>
          <a:p>
            <a:pPr eaLnBrk="1" hangingPunct="1"/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請寫一個計算</a:t>
            </a:r>
            <a:r>
              <a:rPr lang="zh-TW" altLang="en-US" dirty="0" smtClean="0">
                <a:solidFill>
                  <a:srgbClr val="FF0000"/>
                </a:solidFill>
              </a:rPr>
              <a:t>矩陣相乘</a:t>
            </a:r>
            <a:r>
              <a:rPr lang="zh-TW" altLang="en-US" dirty="0" smtClean="0"/>
              <a:t>的程式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你要怎麼寫呢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250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/>
              <a:t>Solution 1:  Single </a:t>
            </a:r>
            <a:r>
              <a:rPr lang="en-US" altLang="zh-TW" sz="4000" dirty="0"/>
              <a:t>Process Solution</a:t>
            </a:r>
            <a:endParaRPr lang="en-US" altLang="zh-TW" sz="3200" dirty="0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4798691" y="1844824"/>
            <a:ext cx="1655763" cy="46085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4798776" y="1407934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>
                <a:latin typeface="Calibri" panose="020F0502020204030204" pitchFamily="34" charset="0"/>
              </a:rPr>
              <a:t>memory</a:t>
            </a:r>
          </a:p>
        </p:txBody>
      </p:sp>
      <p:grpSp>
        <p:nvGrpSpPr>
          <p:cNvPr id="7173" name="Group 27"/>
          <p:cNvGrpSpPr>
            <a:grpSpLocks/>
          </p:cNvGrpSpPr>
          <p:nvPr/>
        </p:nvGrpSpPr>
        <p:grpSpPr bwMode="auto">
          <a:xfrm>
            <a:off x="4798690" y="2133749"/>
            <a:ext cx="1657350" cy="1727200"/>
            <a:chOff x="1066" y="1253"/>
            <a:chExt cx="1044" cy="1088"/>
          </a:xfrm>
        </p:grpSpPr>
        <p:sp>
          <p:nvSpPr>
            <p:cNvPr id="7194" name="Rectangle 7"/>
            <p:cNvSpPr>
              <a:spLocks noChangeArrowheads="1"/>
            </p:cNvSpPr>
            <p:nvPr/>
          </p:nvSpPr>
          <p:spPr bwMode="auto">
            <a:xfrm>
              <a:off x="1066" y="1253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>
                  <a:latin typeface="Calibri" panose="020F0502020204030204" pitchFamily="34" charset="0"/>
                </a:rPr>
                <a:t>code</a:t>
              </a:r>
            </a:p>
          </p:txBody>
        </p:sp>
        <p:sp>
          <p:nvSpPr>
            <p:cNvPr id="7195" name="Rectangle 8"/>
            <p:cNvSpPr>
              <a:spLocks noChangeArrowheads="1"/>
            </p:cNvSpPr>
            <p:nvPr/>
          </p:nvSpPr>
          <p:spPr bwMode="auto">
            <a:xfrm>
              <a:off x="1066" y="1525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7196" name="Rectangle 9"/>
            <p:cNvSpPr>
              <a:spLocks noChangeArrowheads="1"/>
            </p:cNvSpPr>
            <p:nvPr/>
          </p:nvSpPr>
          <p:spPr bwMode="auto">
            <a:xfrm>
              <a:off x="1066" y="1797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>
                  <a:latin typeface="Calibri" panose="020F0502020204030204" pitchFamily="34" charset="0"/>
                </a:rPr>
                <a:t>stack</a:t>
              </a:r>
            </a:p>
          </p:txBody>
        </p:sp>
        <p:sp>
          <p:nvSpPr>
            <p:cNvPr id="7197" name="Rectangle 10"/>
            <p:cNvSpPr>
              <a:spLocks noChangeArrowheads="1"/>
            </p:cNvSpPr>
            <p:nvPr/>
          </p:nvSpPr>
          <p:spPr bwMode="auto">
            <a:xfrm>
              <a:off x="1066" y="2069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>
                  <a:latin typeface="Calibri" panose="020F0502020204030204" pitchFamily="34" charset="0"/>
                </a:rPr>
                <a:t>…..</a:t>
              </a:r>
            </a:p>
          </p:txBody>
        </p:sp>
      </p:grpSp>
      <p:sp>
        <p:nvSpPr>
          <p:cNvPr id="2" name="流程圖: 替代處理程序 1"/>
          <p:cNvSpPr/>
          <p:nvPr/>
        </p:nvSpPr>
        <p:spPr>
          <a:xfrm>
            <a:off x="2927648" y="1916261"/>
            <a:ext cx="986408" cy="612648"/>
          </a:xfrm>
          <a:prstGeom prst="flowChartAlternateProcess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1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流程圖: 替代處理程序 30"/>
          <p:cNvSpPr/>
          <p:nvPr/>
        </p:nvSpPr>
        <p:spPr>
          <a:xfrm>
            <a:off x="2927648" y="2888955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2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流程圖: 替代處理程序 31"/>
          <p:cNvSpPr/>
          <p:nvPr/>
        </p:nvSpPr>
        <p:spPr>
          <a:xfrm>
            <a:off x="2927648" y="3825059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3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流程圖: 替代處理程序 32"/>
          <p:cNvSpPr/>
          <p:nvPr/>
        </p:nvSpPr>
        <p:spPr>
          <a:xfrm>
            <a:off x="2927648" y="4833171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4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cxnSp>
        <p:nvCxnSpPr>
          <p:cNvPr id="8" name="直線單箭頭接點 7"/>
          <p:cNvCxnSpPr>
            <a:stCxn id="2" idx="3"/>
            <a:endCxn id="7194" idx="1"/>
          </p:cNvCxnSpPr>
          <p:nvPr/>
        </p:nvCxnSpPr>
        <p:spPr>
          <a:xfrm>
            <a:off x="3914056" y="2222585"/>
            <a:ext cx="884634" cy="127064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流程圖: 替代處理程序 9"/>
          <p:cNvSpPr/>
          <p:nvPr/>
        </p:nvSpPr>
        <p:spPr>
          <a:xfrm>
            <a:off x="6960096" y="1718852"/>
            <a:ext cx="3096344" cy="100746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</a:rPr>
              <a:t>Assume </a:t>
            </a:r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four</a:t>
            </a:r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</a:rPr>
              <a:t> CPU cores are available</a:t>
            </a:r>
            <a:endParaRPr lang="zh-TW" altLang="en-US" sz="2400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向下箭號 10"/>
          <p:cNvSpPr/>
          <p:nvPr/>
        </p:nvSpPr>
        <p:spPr>
          <a:xfrm>
            <a:off x="8265952" y="2997349"/>
            <a:ext cx="484632" cy="978408"/>
          </a:xfrm>
          <a:prstGeom prst="downArrow">
            <a:avLst/>
          </a:prstGeom>
          <a:solidFill>
            <a:srgbClr val="3333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流程圖: 替代處理程序 39"/>
          <p:cNvSpPr/>
          <p:nvPr/>
        </p:nvSpPr>
        <p:spPr>
          <a:xfrm>
            <a:off x="6575680" y="4272684"/>
            <a:ext cx="3865176" cy="1342452"/>
          </a:xfrm>
          <a:prstGeom prst="flowChartAlternate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1. Three CPU cores are idle</a:t>
            </a:r>
          </a:p>
          <a:p>
            <a:pPr algn="ctr"/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2. This process has long execution time</a:t>
            </a:r>
            <a:endParaRPr lang="zh-TW" altLang="en-US" sz="24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17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Your </a:t>
            </a:r>
            <a:r>
              <a:rPr lang="en-US" altLang="zh-TW" dirty="0"/>
              <a:t>Solutions?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77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Solution 2: Multiple Processes Solution</a:t>
            </a:r>
            <a:endParaRPr lang="zh-TW" altLang="en-US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067589" y="1268760"/>
            <a:ext cx="1655763" cy="547260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dirty="0">
              <a:latin typeface="Calibri" panose="020F0502020204030204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4067588" y="1557685"/>
            <a:ext cx="1657350" cy="1727200"/>
            <a:chOff x="1066" y="1253"/>
            <a:chExt cx="1044" cy="1088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1066" y="1253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code</a:t>
              </a: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1066" y="1525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1066" y="1797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stack</a:t>
              </a: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1066" y="2069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…</a:t>
              </a:r>
            </a:p>
          </p:txBody>
        </p:sp>
      </p:grpSp>
      <p:sp>
        <p:nvSpPr>
          <p:cNvPr id="9" name="流程圖: 替代處理程序 1"/>
          <p:cNvSpPr/>
          <p:nvPr/>
        </p:nvSpPr>
        <p:spPr>
          <a:xfrm>
            <a:off x="2267388" y="1844253"/>
            <a:ext cx="986408" cy="612648"/>
          </a:xfrm>
          <a:prstGeom prst="flowChartAlternateProcess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1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流程圖: 替代處理程序 30"/>
          <p:cNvSpPr/>
          <p:nvPr/>
        </p:nvSpPr>
        <p:spPr>
          <a:xfrm>
            <a:off x="2267388" y="2816947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2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流程圖: 替代處理程序 31"/>
          <p:cNvSpPr/>
          <p:nvPr/>
        </p:nvSpPr>
        <p:spPr>
          <a:xfrm>
            <a:off x="2267388" y="3753051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3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流程圖: 替代處理程序 32"/>
          <p:cNvSpPr/>
          <p:nvPr/>
        </p:nvSpPr>
        <p:spPr>
          <a:xfrm>
            <a:off x="2267388" y="4761163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4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cxnSp>
        <p:nvCxnSpPr>
          <p:cNvPr id="13" name="直線單箭頭接點 12"/>
          <p:cNvCxnSpPr>
            <a:stCxn id="9" idx="3"/>
            <a:endCxn id="5" idx="1"/>
          </p:cNvCxnSpPr>
          <p:nvPr/>
        </p:nvCxnSpPr>
        <p:spPr>
          <a:xfrm flipV="1">
            <a:off x="3253796" y="1773585"/>
            <a:ext cx="813792" cy="376992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流程圖: 替代處理程序 9"/>
          <p:cNvSpPr/>
          <p:nvPr/>
        </p:nvSpPr>
        <p:spPr>
          <a:xfrm>
            <a:off x="6708068" y="1646844"/>
            <a:ext cx="3096344" cy="100746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</a:rPr>
              <a:t>Assume </a:t>
            </a:r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four</a:t>
            </a:r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</a:rPr>
              <a:t> CPU cores are available</a:t>
            </a:r>
            <a:endParaRPr lang="zh-TW" altLang="en-US" sz="2400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向下箭號 14"/>
          <p:cNvSpPr/>
          <p:nvPr/>
        </p:nvSpPr>
        <p:spPr>
          <a:xfrm>
            <a:off x="8013924" y="2925341"/>
            <a:ext cx="484632" cy="978408"/>
          </a:xfrm>
          <a:prstGeom prst="downArrow">
            <a:avLst/>
          </a:prstGeom>
          <a:solidFill>
            <a:srgbClr val="3333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替代處理程序 39"/>
          <p:cNvSpPr/>
          <p:nvPr/>
        </p:nvSpPr>
        <p:spPr>
          <a:xfrm>
            <a:off x="5807968" y="3978772"/>
            <a:ext cx="4896544" cy="2075367"/>
          </a:xfrm>
          <a:prstGeom prst="flowChartAlternate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AutoNum type="arabicPeriod"/>
            </a:pPr>
            <a:r>
              <a:rPr lang="en-US" altLang="zh-TW" sz="2400" b="1" dirty="0" smtClean="0">
                <a:solidFill>
                  <a:srgbClr val="3333FF"/>
                </a:solidFill>
                <a:latin typeface="Calibri" panose="020F0502020204030204" pitchFamily="34" charset="0"/>
              </a:rPr>
              <a:t>All </a:t>
            </a:r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of the four CPUs are used</a:t>
            </a:r>
            <a:r>
              <a:rPr lang="en-US" altLang="zh-TW" sz="2400" b="1" dirty="0" smtClean="0">
                <a:solidFill>
                  <a:srgbClr val="3333FF"/>
                </a:solidFill>
                <a:latin typeface="Calibri" panose="020F0502020204030204" pitchFamily="34" charset="0"/>
              </a:rPr>
              <a:t>.</a:t>
            </a:r>
          </a:p>
          <a:p>
            <a:pPr marL="457200" indent="-457200" algn="ctr">
              <a:buAutoNum type="arabicPeriod"/>
            </a:pPr>
            <a:r>
              <a:rPr lang="en-US" altLang="zh-TW" sz="2400" b="1" dirty="0" smtClean="0">
                <a:solidFill>
                  <a:srgbClr val="3333FF"/>
                </a:solidFill>
                <a:latin typeface="Calibri" panose="020F0502020204030204" pitchFamily="34" charset="0"/>
              </a:rPr>
              <a:t>Execution time is reduced.</a:t>
            </a:r>
            <a:endParaRPr lang="en-US" altLang="zh-TW" sz="2400" b="1" dirty="0">
              <a:solidFill>
                <a:srgbClr val="3333FF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3. </a:t>
            </a:r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But, the code and data sections of these four processes are all the same (memory wastage)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5372976" y="2098082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>
                <a:solidFill>
                  <a:srgbClr val="3333CC"/>
                </a:solidFill>
                <a:latin typeface="Calibri" panose="020F0502020204030204" pitchFamily="34" charset="0"/>
              </a:rPr>
              <a:t>fork()</a:t>
            </a:r>
          </a:p>
        </p:txBody>
      </p:sp>
      <p:grpSp>
        <p:nvGrpSpPr>
          <p:cNvPr id="18" name="Group 41"/>
          <p:cNvGrpSpPr>
            <a:grpSpLocks/>
          </p:cNvGrpSpPr>
          <p:nvPr/>
        </p:nvGrpSpPr>
        <p:grpSpPr bwMode="auto">
          <a:xfrm>
            <a:off x="4067588" y="3556125"/>
            <a:ext cx="1657350" cy="1727200"/>
            <a:chOff x="2290" y="1525"/>
            <a:chExt cx="1044" cy="1088"/>
          </a:xfrm>
        </p:grpSpPr>
        <p:sp>
          <p:nvSpPr>
            <p:cNvPr id="19" name="Rectangle 42"/>
            <p:cNvSpPr>
              <a:spLocks noChangeArrowheads="1"/>
            </p:cNvSpPr>
            <p:nvPr/>
          </p:nvSpPr>
          <p:spPr bwMode="auto">
            <a:xfrm>
              <a:off x="2290" y="1525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code</a:t>
              </a:r>
            </a:p>
          </p:txBody>
        </p:sp>
        <p:sp>
          <p:nvSpPr>
            <p:cNvPr id="20" name="Rectangle 43"/>
            <p:cNvSpPr>
              <a:spLocks noChangeArrowheads="1"/>
            </p:cNvSpPr>
            <p:nvPr/>
          </p:nvSpPr>
          <p:spPr bwMode="auto">
            <a:xfrm>
              <a:off x="2290" y="1797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21" name="Rectangle 44"/>
            <p:cNvSpPr>
              <a:spLocks noChangeArrowheads="1"/>
            </p:cNvSpPr>
            <p:nvPr/>
          </p:nvSpPr>
          <p:spPr bwMode="auto">
            <a:xfrm>
              <a:off x="2290" y="2069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stack</a:t>
              </a:r>
            </a:p>
          </p:txBody>
        </p:sp>
        <p:sp>
          <p:nvSpPr>
            <p:cNvPr id="22" name="Rectangle 45"/>
            <p:cNvSpPr>
              <a:spLocks noChangeArrowheads="1"/>
            </p:cNvSpPr>
            <p:nvPr/>
          </p:nvSpPr>
          <p:spPr bwMode="auto">
            <a:xfrm>
              <a:off x="2290" y="2341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…</a:t>
              </a:r>
            </a:p>
          </p:txBody>
        </p:sp>
      </p:grpSp>
      <p:cxnSp>
        <p:nvCxnSpPr>
          <p:cNvPr id="23" name="直線單箭頭接點 22"/>
          <p:cNvCxnSpPr>
            <a:endCxn id="19" idx="1"/>
          </p:cNvCxnSpPr>
          <p:nvPr/>
        </p:nvCxnSpPr>
        <p:spPr>
          <a:xfrm>
            <a:off x="3286566" y="3149553"/>
            <a:ext cx="781023" cy="622473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3274397" y="4176421"/>
            <a:ext cx="800913" cy="1538704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3308950" y="5119453"/>
            <a:ext cx="800913" cy="1538704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5363732" y="2323728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>
                <a:solidFill>
                  <a:srgbClr val="3333CC"/>
                </a:solidFill>
                <a:latin typeface="Calibri" panose="020F0502020204030204" pitchFamily="34" charset="0"/>
              </a:rPr>
              <a:t>fork()</a:t>
            </a:r>
          </a:p>
        </p:txBody>
      </p:sp>
      <p:sp>
        <p:nvSpPr>
          <p:cNvPr id="27" name="Text Box 12"/>
          <p:cNvSpPr txBox="1">
            <a:spLocks noChangeArrowheads="1"/>
          </p:cNvSpPr>
          <p:nvPr/>
        </p:nvSpPr>
        <p:spPr bwMode="auto">
          <a:xfrm>
            <a:off x="5363732" y="2539752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>
                <a:solidFill>
                  <a:srgbClr val="3333CC"/>
                </a:solidFill>
                <a:latin typeface="Calibri" panose="020F0502020204030204" pitchFamily="34" charset="0"/>
              </a:rPr>
              <a:t>fork()</a:t>
            </a:r>
          </a:p>
        </p:txBody>
      </p:sp>
      <p:sp>
        <p:nvSpPr>
          <p:cNvPr id="28" name="Rectangle 42"/>
          <p:cNvSpPr>
            <a:spLocks noChangeArrowheads="1"/>
          </p:cNvSpPr>
          <p:nvPr/>
        </p:nvSpPr>
        <p:spPr bwMode="auto">
          <a:xfrm>
            <a:off x="4075309" y="5511578"/>
            <a:ext cx="1657350" cy="4318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400" b="1" dirty="0"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29" name="Rectangle 42"/>
          <p:cNvSpPr>
            <a:spLocks noChangeArrowheads="1"/>
          </p:cNvSpPr>
          <p:nvPr/>
        </p:nvSpPr>
        <p:spPr bwMode="auto">
          <a:xfrm>
            <a:off x="4066001" y="6286651"/>
            <a:ext cx="1657350" cy="4318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400" b="1" dirty="0">
                <a:latin typeface="Calibri" panose="020F050202020403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9710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7" grpId="1"/>
      <p:bldP spid="26" grpId="0"/>
      <p:bldP spid="26" grpId="1"/>
      <p:bldP spid="27" grpId="0"/>
      <p:bldP spid="27" grpId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Your </a:t>
            </a:r>
            <a:r>
              <a:rPr lang="en-US" altLang="zh-TW" dirty="0"/>
              <a:t>Solutions?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499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/>
              <a:t>Solution 3: Multiple </a:t>
            </a:r>
            <a:r>
              <a:rPr lang="en-US" altLang="zh-TW" sz="4000" dirty="0">
                <a:solidFill>
                  <a:srgbClr val="FF0000"/>
                </a:solidFill>
              </a:rPr>
              <a:t>Threads</a:t>
            </a:r>
            <a:r>
              <a:rPr lang="en-US" altLang="zh-TW" sz="4000" dirty="0"/>
              <a:t> Solution</a:t>
            </a:r>
            <a:endParaRPr lang="zh-TW" altLang="en-US" sz="4000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791745" y="2060848"/>
            <a:ext cx="1655763" cy="40324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914985" y="1628800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>
                <a:latin typeface="Calibri" panose="020F0502020204030204" pitchFamily="34" charset="0"/>
              </a:rPr>
              <a:t>memory</a:t>
            </a: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3791744" y="2349773"/>
            <a:ext cx="1657350" cy="1295400"/>
            <a:chOff x="1066" y="1253"/>
            <a:chExt cx="1044" cy="816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066" y="1253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code</a:t>
              </a: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1066" y="1525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066" y="1797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>
                  <a:latin typeface="Calibri" panose="020F0502020204030204" pitchFamily="34" charset="0"/>
                </a:rPr>
                <a:t>stack</a:t>
              </a:r>
              <a:endParaRPr lang="en-US" altLang="zh-TW" sz="2000" b="1" dirty="0">
                <a:latin typeface="Calibri" panose="020F0502020204030204" pitchFamily="34" charset="0"/>
              </a:endParaRPr>
            </a:p>
          </p:txBody>
        </p:sp>
      </p:grpSp>
      <p:sp>
        <p:nvSpPr>
          <p:cNvPr id="9" name="流程圖: 替代處理程序 1"/>
          <p:cNvSpPr/>
          <p:nvPr/>
        </p:nvSpPr>
        <p:spPr>
          <a:xfrm>
            <a:off x="1991544" y="2636341"/>
            <a:ext cx="986408" cy="612648"/>
          </a:xfrm>
          <a:prstGeom prst="flowChartAlternateProcess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1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流程圖: 替代處理程序 30"/>
          <p:cNvSpPr/>
          <p:nvPr/>
        </p:nvSpPr>
        <p:spPr>
          <a:xfrm>
            <a:off x="1991544" y="3609035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2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流程圖: 替代處理程序 31"/>
          <p:cNvSpPr/>
          <p:nvPr/>
        </p:nvSpPr>
        <p:spPr>
          <a:xfrm>
            <a:off x="1991544" y="4545139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3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流程圖: 替代處理程序 32"/>
          <p:cNvSpPr/>
          <p:nvPr/>
        </p:nvSpPr>
        <p:spPr>
          <a:xfrm>
            <a:off x="1991544" y="5553251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4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cxnSp>
        <p:nvCxnSpPr>
          <p:cNvPr id="13" name="直線單箭頭接點 12"/>
          <p:cNvCxnSpPr>
            <a:stCxn id="9" idx="3"/>
            <a:endCxn id="6" idx="1"/>
          </p:cNvCxnSpPr>
          <p:nvPr/>
        </p:nvCxnSpPr>
        <p:spPr>
          <a:xfrm flipV="1">
            <a:off x="2977952" y="2565673"/>
            <a:ext cx="813792" cy="376992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流程圖: 替代處理程序 9"/>
          <p:cNvSpPr/>
          <p:nvPr/>
        </p:nvSpPr>
        <p:spPr>
          <a:xfrm>
            <a:off x="6847092" y="1732142"/>
            <a:ext cx="3096344" cy="100746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</a:rPr>
              <a:t>Assume </a:t>
            </a:r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four</a:t>
            </a:r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</a:rPr>
              <a:t> CPU cores are available</a:t>
            </a:r>
            <a:endParaRPr lang="zh-TW" altLang="en-US" sz="2400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向下箭號 14"/>
          <p:cNvSpPr/>
          <p:nvPr/>
        </p:nvSpPr>
        <p:spPr>
          <a:xfrm>
            <a:off x="7738080" y="2853928"/>
            <a:ext cx="484632" cy="978408"/>
          </a:xfrm>
          <a:prstGeom prst="downArrow">
            <a:avLst/>
          </a:prstGeom>
          <a:solidFill>
            <a:srgbClr val="3333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替代處理程序 39"/>
          <p:cNvSpPr/>
          <p:nvPr/>
        </p:nvSpPr>
        <p:spPr>
          <a:xfrm>
            <a:off x="5663952" y="3946657"/>
            <a:ext cx="5141756" cy="1571311"/>
          </a:xfrm>
          <a:prstGeom prst="flowChartAlternate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AutoNum type="arabicPeriod"/>
            </a:pPr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All CPU Cores are busy</a:t>
            </a:r>
          </a:p>
          <a:p>
            <a:pPr marL="457200" indent="-457200" algn="ctr">
              <a:buAutoNum type="arabicPeriod"/>
            </a:pPr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Memory usage is economic</a:t>
            </a:r>
          </a:p>
          <a:p>
            <a:pPr marL="457200" indent="-457200" algn="ctr">
              <a:buAutoNum type="arabicPeriod"/>
            </a:pPr>
            <a:r>
              <a:rPr lang="en-US" altLang="zh-TW" sz="2400" b="1" dirty="0" smtClean="0">
                <a:solidFill>
                  <a:srgbClr val="3333FF"/>
                </a:solidFill>
                <a:latin typeface="Calibri" panose="020F0502020204030204" pitchFamily="34" charset="0"/>
              </a:rPr>
              <a:t>The execution time is minimizing</a:t>
            </a:r>
            <a:endParaRPr lang="zh-TW" altLang="en-US" sz="24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5381288" y="2666116"/>
            <a:ext cx="24720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 err="1" smtClean="0">
                <a:solidFill>
                  <a:srgbClr val="3333CC"/>
                </a:solidFill>
                <a:latin typeface="Calibri" panose="020F0502020204030204" pitchFamily="34" charset="0"/>
              </a:rPr>
              <a:t>create_thread</a:t>
            </a:r>
            <a:r>
              <a:rPr lang="en-US" altLang="zh-TW" sz="2400" b="1" dirty="0" smtClean="0">
                <a:solidFill>
                  <a:srgbClr val="3333CC"/>
                </a:solidFill>
                <a:latin typeface="Calibri" panose="020F0502020204030204" pitchFamily="34" charset="0"/>
              </a:rPr>
              <a:t>()</a:t>
            </a:r>
            <a:endParaRPr lang="en-US" altLang="zh-TW" sz="2400" b="1" dirty="0">
              <a:solidFill>
                <a:srgbClr val="3333CC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44"/>
          <p:cNvSpPr>
            <a:spLocks noChangeArrowheads="1"/>
          </p:cNvSpPr>
          <p:nvPr/>
        </p:nvSpPr>
        <p:spPr bwMode="auto">
          <a:xfrm>
            <a:off x="3790578" y="3645173"/>
            <a:ext cx="1657350" cy="4318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latin typeface="Calibri" panose="020F0502020204030204" pitchFamily="34" charset="0"/>
              </a:rPr>
              <a:t>stack</a:t>
            </a:r>
          </a:p>
        </p:txBody>
      </p:sp>
      <p:cxnSp>
        <p:nvCxnSpPr>
          <p:cNvPr id="19" name="直線單箭頭接點 18"/>
          <p:cNvCxnSpPr/>
          <p:nvPr/>
        </p:nvCxnSpPr>
        <p:spPr>
          <a:xfrm flipV="1">
            <a:off x="3010722" y="2730500"/>
            <a:ext cx="711819" cy="1211140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2998552" y="2964523"/>
            <a:ext cx="723988" cy="2003987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3019152" y="3168970"/>
            <a:ext cx="703388" cy="2757060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5369224" y="2984773"/>
            <a:ext cx="24841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 err="1" smtClean="0">
                <a:solidFill>
                  <a:srgbClr val="3333CC"/>
                </a:solidFill>
                <a:latin typeface="Calibri" panose="020F0502020204030204" pitchFamily="34" charset="0"/>
              </a:rPr>
              <a:t>create_thread</a:t>
            </a:r>
            <a:r>
              <a:rPr lang="en-US" altLang="zh-TW" sz="2400" b="1" dirty="0" smtClean="0">
                <a:solidFill>
                  <a:srgbClr val="3333CC"/>
                </a:solidFill>
                <a:latin typeface="Calibri" panose="020F0502020204030204" pitchFamily="34" charset="0"/>
              </a:rPr>
              <a:t>()</a:t>
            </a:r>
            <a:endParaRPr lang="en-US" altLang="zh-TW" sz="2400" b="1" dirty="0">
              <a:solidFill>
                <a:srgbClr val="3333CC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5407572" y="3285797"/>
            <a:ext cx="24458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 err="1" smtClean="0">
                <a:solidFill>
                  <a:srgbClr val="3333CC"/>
                </a:solidFill>
                <a:latin typeface="Calibri" panose="020F0502020204030204" pitchFamily="34" charset="0"/>
              </a:rPr>
              <a:t>create_thread</a:t>
            </a:r>
            <a:r>
              <a:rPr lang="en-US" altLang="zh-TW" sz="2400" b="1" dirty="0" smtClean="0">
                <a:solidFill>
                  <a:srgbClr val="3333CC"/>
                </a:solidFill>
                <a:latin typeface="Calibri" panose="020F0502020204030204" pitchFamily="34" charset="0"/>
              </a:rPr>
              <a:t>()</a:t>
            </a:r>
            <a:endParaRPr lang="en-US" altLang="zh-TW" sz="2400" b="1" dirty="0">
              <a:solidFill>
                <a:srgbClr val="3333CC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angle 44"/>
          <p:cNvSpPr>
            <a:spLocks noChangeArrowheads="1"/>
          </p:cNvSpPr>
          <p:nvPr/>
        </p:nvSpPr>
        <p:spPr bwMode="auto">
          <a:xfrm>
            <a:off x="3790157" y="4073534"/>
            <a:ext cx="1657350" cy="4318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25" name="Rectangle 44"/>
          <p:cNvSpPr>
            <a:spLocks noChangeArrowheads="1"/>
          </p:cNvSpPr>
          <p:nvPr/>
        </p:nvSpPr>
        <p:spPr bwMode="auto">
          <a:xfrm>
            <a:off x="3790578" y="4509120"/>
            <a:ext cx="1657350" cy="4318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latin typeface="Calibri" panose="020F0502020204030204" pitchFamily="34" charset="0"/>
              </a:rPr>
              <a:t>stack</a:t>
            </a:r>
          </a:p>
        </p:txBody>
      </p:sp>
      <p:cxnSp>
        <p:nvCxnSpPr>
          <p:cNvPr id="26" name="直線單箭頭接點 25"/>
          <p:cNvCxnSpPr>
            <a:endCxn id="18" idx="1"/>
          </p:cNvCxnSpPr>
          <p:nvPr/>
        </p:nvCxnSpPr>
        <p:spPr>
          <a:xfrm flipV="1">
            <a:off x="3010722" y="3861073"/>
            <a:ext cx="779857" cy="80568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endCxn id="24" idx="1"/>
          </p:cNvCxnSpPr>
          <p:nvPr/>
        </p:nvCxnSpPr>
        <p:spPr>
          <a:xfrm flipV="1">
            <a:off x="2989045" y="4289434"/>
            <a:ext cx="801112" cy="634084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endCxn id="25" idx="1"/>
          </p:cNvCxnSpPr>
          <p:nvPr/>
        </p:nvCxnSpPr>
        <p:spPr>
          <a:xfrm flipV="1">
            <a:off x="2992782" y="4725020"/>
            <a:ext cx="797797" cy="1173108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流程圖: 程序 28"/>
          <p:cNvSpPr/>
          <p:nvPr/>
        </p:nvSpPr>
        <p:spPr>
          <a:xfrm>
            <a:off x="3722541" y="2276872"/>
            <a:ext cx="1776769" cy="2691638"/>
          </a:xfrm>
          <a:prstGeom prst="flowChartProcess">
            <a:avLst/>
          </a:prstGeom>
          <a:noFill/>
          <a:ln w="38100">
            <a:solidFill>
              <a:srgbClr val="0066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圓角矩形圖說文字 29"/>
          <p:cNvSpPr/>
          <p:nvPr/>
        </p:nvSpPr>
        <p:spPr>
          <a:xfrm>
            <a:off x="1703512" y="1628800"/>
            <a:ext cx="1368152" cy="612648"/>
          </a:xfrm>
          <a:prstGeom prst="wedgeRoundRectCallout">
            <a:avLst>
              <a:gd name="adj1" fmla="val 90558"/>
              <a:gd name="adj2" fmla="val 54208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one process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6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7" grpId="1"/>
      <p:bldP spid="18" grpId="0" animBg="1"/>
      <p:bldP spid="22" grpId="0"/>
      <p:bldP spid="22" grpId="1"/>
      <p:bldP spid="23" grpId="0"/>
      <p:bldP spid="23" grpId="1"/>
      <p:bldP spid="24" grpId="0" animBg="1"/>
      <p:bldP spid="25" grpId="0" animBg="1"/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Motivations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Problem: global warming (</a:t>
            </a:r>
            <a:r>
              <a:rPr lang="zh-TW" altLang="en-US" b="1" dirty="0"/>
              <a:t>全球暖化</a:t>
            </a:r>
            <a:r>
              <a:rPr lang="en-US" altLang="zh-TW" b="1" dirty="0"/>
              <a:t>)</a:t>
            </a:r>
          </a:p>
          <a:p>
            <a:r>
              <a:rPr lang="en-US" altLang="zh-TW" dirty="0"/>
              <a:t>Solutions</a:t>
            </a:r>
          </a:p>
          <a:p>
            <a:pPr lvl="1"/>
            <a:r>
              <a:rPr lang="en-US" altLang="zh-TW" dirty="0"/>
              <a:t>1. Reduces personal desires</a:t>
            </a:r>
          </a:p>
          <a:p>
            <a:pPr lvl="1"/>
            <a:r>
              <a:rPr lang="en-US" altLang="zh-TW" dirty="0"/>
              <a:t>2. </a:t>
            </a:r>
            <a:r>
              <a:rPr lang="en-US" altLang="zh-TW" b="1" dirty="0"/>
              <a:t>Resource sharing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Problem</a:t>
            </a:r>
            <a:r>
              <a:rPr lang="en-US" altLang="zh-TW" dirty="0"/>
              <a:t>: process is high </a:t>
            </a:r>
            <a:r>
              <a:rPr lang="en-US" altLang="zh-TW" dirty="0" smtClean="0"/>
              <a:t>overhead. </a:t>
            </a:r>
            <a:r>
              <a:rPr lang="en-US" altLang="zh-TW" b="1" dirty="0" smtClean="0">
                <a:solidFill>
                  <a:srgbClr val="FF0000"/>
                </a:solidFill>
              </a:rPr>
              <a:t>Why?</a:t>
            </a:r>
            <a:r>
              <a:rPr lang="zh-TW" altLang="en-US" b="1" dirty="0" smtClean="0">
                <a:solidFill>
                  <a:srgbClr val="FF0000"/>
                </a:solidFill>
              </a:rPr>
              <a:t> 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en-US" altLang="zh-TW" dirty="0"/>
              <a:t>Solutions</a:t>
            </a:r>
          </a:p>
          <a:p>
            <a:pPr lvl="1"/>
            <a:r>
              <a:rPr lang="en-US" altLang="zh-TW" dirty="0"/>
              <a:t>1. Reduces personal desires: minimize code size </a:t>
            </a:r>
            <a:r>
              <a:rPr lang="en-US" altLang="zh-TW" dirty="0" smtClean="0"/>
              <a:t>or shorten execution time</a:t>
            </a:r>
            <a:endParaRPr lang="en-US" altLang="zh-TW" dirty="0"/>
          </a:p>
          <a:p>
            <a:pPr lvl="1"/>
            <a:r>
              <a:rPr lang="en-US" altLang="zh-TW" dirty="0"/>
              <a:t>2. Resource sharing: </a:t>
            </a:r>
            <a:r>
              <a:rPr lang="en-US" altLang="zh-TW" b="1" dirty="0" smtClean="0"/>
              <a:t>threads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8293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/>
              <a:t>問題</a:t>
            </a:r>
            <a:r>
              <a:rPr lang="en-US" altLang="zh-TW" sz="4000" dirty="0" smtClean="0"/>
              <a:t>:</a:t>
            </a:r>
            <a:r>
              <a:rPr lang="zh-TW" altLang="en-US" sz="4000" dirty="0" smtClean="0"/>
              <a:t>什麼是</a:t>
            </a:r>
            <a:r>
              <a:rPr lang="en-US" altLang="zh-TW" sz="4000" dirty="0" smtClean="0"/>
              <a:t>Threads?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150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Thread Overview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IE" altLang="zh-TW" dirty="0" smtClean="0"/>
              <a:t>Problem: Process is an </a:t>
            </a:r>
            <a:r>
              <a:rPr lang="en-US" altLang="zh-TW" sz="2800" b="1" dirty="0" smtClean="0">
                <a:solidFill>
                  <a:srgbClr val="3333FF"/>
                </a:solidFill>
              </a:rPr>
              <a:t>high </a:t>
            </a:r>
            <a:r>
              <a:rPr lang="en-US" altLang="zh-TW" sz="2800" b="1" dirty="0">
                <a:solidFill>
                  <a:srgbClr val="3333FF"/>
                </a:solidFill>
              </a:rPr>
              <a:t>overhead</a:t>
            </a:r>
            <a:r>
              <a:rPr lang="en-US" altLang="zh-TW" sz="2800" i="1" dirty="0"/>
              <a:t> </a:t>
            </a:r>
            <a:r>
              <a:rPr lang="en-US" altLang="zh-TW" sz="2800" dirty="0" smtClean="0"/>
              <a:t>abstraction</a:t>
            </a:r>
            <a:endParaRPr lang="en-US" altLang="zh-TW" sz="2800" dirty="0"/>
          </a:p>
          <a:p>
            <a:pPr lvl="1" eaLnBrk="1" hangingPunct="1"/>
            <a:r>
              <a:rPr lang="en-US" altLang="zh-TW" dirty="0"/>
              <a:t>E.g., </a:t>
            </a:r>
            <a:r>
              <a:rPr lang="en-IE" altLang="zh-TW" dirty="0"/>
              <a:t>creating process is </a:t>
            </a:r>
            <a:r>
              <a:rPr lang="en-IE" altLang="zh-TW" dirty="0" smtClean="0"/>
              <a:t>as an </a:t>
            </a:r>
            <a:r>
              <a:rPr lang="en-IE" altLang="zh-TW" i="1" dirty="0" smtClean="0"/>
              <a:t>expensive</a:t>
            </a:r>
            <a:r>
              <a:rPr lang="en-IE" altLang="zh-TW" dirty="0" smtClean="0"/>
              <a:t> </a:t>
            </a:r>
            <a:r>
              <a:rPr lang="en-IE" altLang="zh-TW" dirty="0"/>
              <a:t>operation.</a:t>
            </a:r>
            <a:r>
              <a:rPr lang="en-US" altLang="zh-TW" dirty="0"/>
              <a:t> </a:t>
            </a:r>
          </a:p>
          <a:p>
            <a:pPr lvl="2" eaLnBrk="1" hangingPunct="1"/>
            <a:r>
              <a:rPr lang="en-US" altLang="zh-TW" dirty="0"/>
              <a:t>Each process have its own code, data, heap, and stack segments</a:t>
            </a:r>
            <a:endParaRPr lang="en-US" altLang="zh-TW" sz="2800" dirty="0"/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Solutions</a:t>
            </a:r>
            <a:r>
              <a:rPr lang="en-US" altLang="zh-TW" dirty="0"/>
              <a:t>: </a:t>
            </a:r>
            <a:r>
              <a:rPr lang="en-US" altLang="zh-TW" b="1" dirty="0">
                <a:solidFill>
                  <a:srgbClr val="FF3300"/>
                </a:solidFill>
              </a:rPr>
              <a:t>thread</a:t>
            </a:r>
          </a:p>
          <a:p>
            <a:pPr lvl="1" eaLnBrk="1" hangingPunct="1"/>
            <a:r>
              <a:rPr lang="en-US" altLang="zh-TW" dirty="0"/>
              <a:t>A basic unit of CPU </a:t>
            </a:r>
            <a:r>
              <a:rPr lang="en-US" altLang="zh-TW" dirty="0" smtClean="0"/>
              <a:t>utilization</a:t>
            </a:r>
          </a:p>
          <a:p>
            <a:pPr lvl="1" eaLnBrk="1" hangingPunct="1"/>
            <a:endParaRPr lang="en-US" altLang="zh-TW" dirty="0" smtClean="0"/>
          </a:p>
          <a:p>
            <a:pPr lvl="1" eaLnBrk="1" hangingPunct="1"/>
            <a:r>
              <a:rPr lang="en-US" altLang="zh-TW" dirty="0"/>
              <a:t>Thread</a:t>
            </a:r>
            <a:r>
              <a:rPr lang="zh-TW" altLang="en-US" dirty="0"/>
              <a:t>可</a:t>
            </a:r>
            <a:r>
              <a:rPr lang="zh-TW" altLang="en-US" dirty="0" smtClean="0"/>
              <a:t>視為</a:t>
            </a:r>
            <a:r>
              <a:rPr lang="zh-TW" altLang="en-US" dirty="0"/>
              <a:t>一種特殊</a:t>
            </a:r>
            <a:r>
              <a:rPr lang="zh-TW" altLang="en-US" dirty="0" smtClean="0"/>
              <a:t>的</a:t>
            </a:r>
            <a:r>
              <a:rPr lang="en-US" altLang="zh-TW" dirty="0" smtClean="0"/>
              <a:t>process (</a:t>
            </a:r>
            <a:r>
              <a:rPr lang="zh-TW" altLang="en-US" dirty="0" smtClean="0"/>
              <a:t>藉由共享的輕量化</a:t>
            </a:r>
            <a:r>
              <a:rPr lang="en-US" altLang="zh-TW" dirty="0" smtClean="0"/>
              <a:t>process)</a:t>
            </a:r>
          </a:p>
          <a:p>
            <a:pPr lvl="1" eaLnBrk="1" hangingPunct="1"/>
            <a:r>
              <a:rPr lang="zh-TW" altLang="en-US" dirty="0" smtClean="0"/>
              <a:t>執行</a:t>
            </a:r>
            <a:r>
              <a:rPr lang="en-US" altLang="zh-TW" dirty="0" smtClean="0"/>
              <a:t>process</a:t>
            </a:r>
            <a:r>
              <a:rPr lang="zh-TW" altLang="en-US" dirty="0"/>
              <a:t>內部的一段程式碼</a:t>
            </a:r>
            <a:endParaRPr lang="en-US" altLang="zh-TW" dirty="0" smtClean="0"/>
          </a:p>
          <a:p>
            <a:pPr lvl="1" eaLnBrk="1" hangingPunct="1"/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OS</a:t>
            </a:r>
            <a:r>
              <a:rPr lang="zh-TW" altLang="en-US" dirty="0" smtClean="0"/>
              <a:t>會</a:t>
            </a:r>
            <a:r>
              <a:rPr lang="zh-TW" altLang="en-US" dirty="0"/>
              <a:t>分配</a:t>
            </a:r>
            <a:r>
              <a:rPr lang="en-US" altLang="zh-TW" dirty="0"/>
              <a:t>CPU</a:t>
            </a:r>
            <a:r>
              <a:rPr lang="zh-TW" altLang="en-US" dirty="0" smtClean="0"/>
              <a:t>執行</a:t>
            </a:r>
            <a:r>
              <a:rPr lang="en-US" altLang="zh-TW" dirty="0" smtClean="0"/>
              <a:t>thread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See the following slide</a:t>
            </a:r>
          </a:p>
          <a:p>
            <a:endParaRPr lang="en-US" altLang="zh-TW" dirty="0" smtClean="0"/>
          </a:p>
          <a:p>
            <a:r>
              <a:rPr lang="en-US" altLang="zh-TW" sz="2800" dirty="0" smtClean="0"/>
              <a:t>(</a:t>
            </a:r>
            <a:r>
              <a:rPr lang="zh-TW" altLang="en-US" sz="2800" dirty="0" smtClean="0"/>
              <a:t>以下討論我們都假設是</a:t>
            </a:r>
            <a:r>
              <a:rPr lang="en-US" altLang="zh-TW" sz="2800" dirty="0" smtClean="0"/>
              <a:t>one-to-one model)(shown later)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134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50929" y="1082067"/>
            <a:ext cx="3312368" cy="4085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087376" y="19944"/>
            <a:ext cx="8229600" cy="844956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dirty="0">
                <a:solidFill>
                  <a:srgbClr val="000000"/>
                </a:solidFill>
              </a:rPr>
              <a:t>If Three CPU Cores are Available</a:t>
            </a:r>
            <a:endParaRPr lang="en-US" altLang="zh-TW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511824" y="1003951"/>
            <a:ext cx="30243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main() 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(runner());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x = x +1;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y = y + 1;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runner() 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readrun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=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+ 6;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j = j * 8;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readrun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c = c + 2;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d = 10 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  <a:endParaRPr lang="zh-TW" alt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59" name="直線單箭頭接點 58"/>
          <p:cNvCxnSpPr/>
          <p:nvPr/>
        </p:nvCxnSpPr>
        <p:spPr>
          <a:xfrm>
            <a:off x="3499381" y="1806060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3431704" y="1484784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7" name="直線單箭頭接點 66"/>
          <p:cNvCxnSpPr/>
          <p:nvPr/>
        </p:nvCxnSpPr>
        <p:spPr>
          <a:xfrm flipH="1">
            <a:off x="7942093" y="3501008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7896200" y="3225672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3440156" y="4249377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5" name="直線單箭頭接點 74"/>
          <p:cNvCxnSpPr/>
          <p:nvPr/>
        </p:nvCxnSpPr>
        <p:spPr>
          <a:xfrm>
            <a:off x="3499381" y="4524713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3494495" y="4807312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文字方塊 76"/>
          <p:cNvSpPr txBox="1"/>
          <p:nvPr/>
        </p:nvSpPr>
        <p:spPr>
          <a:xfrm>
            <a:off x="3428180" y="4593824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343731" y="1003951"/>
            <a:ext cx="3598362" cy="4369265"/>
          </a:xfrm>
          <a:prstGeom prst="rect">
            <a:avLst/>
          </a:prstGeom>
          <a:noFill/>
          <a:ln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圓角矩形圖說文字 19"/>
          <p:cNvSpPr/>
          <p:nvPr/>
        </p:nvSpPr>
        <p:spPr>
          <a:xfrm>
            <a:off x="8209969" y="890967"/>
            <a:ext cx="1295351" cy="427982"/>
          </a:xfrm>
          <a:prstGeom prst="wedgeRoundRectCallout">
            <a:avLst>
              <a:gd name="adj1" fmla="val -66324"/>
              <a:gd name="adj2" fmla="val 164580"/>
              <a:gd name="adj3" fmla="val 16667"/>
            </a:avLst>
          </a:pr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a process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3431704" y="1890764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45" name="直線單箭頭接點 44"/>
          <p:cNvCxnSpPr/>
          <p:nvPr/>
        </p:nvCxnSpPr>
        <p:spPr>
          <a:xfrm>
            <a:off x="3513872" y="2108438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H="1">
            <a:off x="7967798" y="3138943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7896200" y="2865632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圓角矩形 50"/>
          <p:cNvSpPr/>
          <p:nvPr/>
        </p:nvSpPr>
        <p:spPr>
          <a:xfrm>
            <a:off x="1645724" y="2489315"/>
            <a:ext cx="2470870" cy="1595575"/>
          </a:xfrm>
          <a:prstGeom prst="round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  <a:latin typeface="Calibri" panose="020F0502020204030204" pitchFamily="34" charset="0"/>
              </a:rPr>
              <a:t>If three CPU cores are available, these three threads can run </a:t>
            </a:r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in parallel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1928365" y="5822625"/>
            <a:ext cx="855593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>
                <a:latin typeface="Calibri" panose="020F0502020204030204" pitchFamily="34" charset="0"/>
              </a:rPr>
              <a:t>Multithreaded Process: an application can have </a:t>
            </a:r>
          </a:p>
          <a:p>
            <a:pPr algn="ctr"/>
            <a:r>
              <a:rPr lang="en-US" altLang="zh-TW" sz="2400" b="1" i="1" dirty="0">
                <a:solidFill>
                  <a:srgbClr val="FF3300"/>
                </a:solidFill>
                <a:latin typeface="Calibri" panose="020F0502020204030204" pitchFamily="34" charset="0"/>
              </a:rPr>
              <a:t>several different threads of activity</a:t>
            </a:r>
            <a:r>
              <a:rPr lang="en-US" altLang="zh-TW" sz="2400" dirty="0">
                <a:latin typeface="Calibri" panose="020F0502020204030204" pitchFamily="34" charset="0"/>
              </a:rPr>
              <a:t> within the same address space</a:t>
            </a:r>
          </a:p>
        </p:txBody>
      </p:sp>
    </p:spTree>
    <p:extLst>
      <p:ext uri="{BB962C8B-B14F-4D97-AF65-F5344CB8AC3E}">
        <p14:creationId xmlns:p14="http://schemas.microsoft.com/office/powerpoint/2010/main" val="335243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2" grpId="1"/>
      <p:bldP spid="69" grpId="0"/>
      <p:bldP spid="74" grpId="0"/>
      <p:bldP spid="74" grpId="1"/>
      <p:bldP spid="77" grpId="0"/>
      <p:bldP spid="44" grpId="0"/>
      <p:bldP spid="47" grpId="0"/>
      <p:bldP spid="47" grpId="1"/>
      <p:bldP spid="5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我們比較一下</a:t>
            </a:r>
            <a:r>
              <a:rPr lang="en-US" altLang="zh-TW" dirty="0" smtClean="0"/>
              <a:t>processes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z="2800" dirty="0" smtClean="0"/>
              <a:t>See the next slide </a:t>
            </a:r>
          </a:p>
          <a:p>
            <a:r>
              <a:rPr lang="en-US" altLang="zh-TW" sz="2800" dirty="0" smtClean="0"/>
              <a:t>(</a:t>
            </a:r>
            <a:r>
              <a:rPr lang="zh-TW" altLang="en-US" sz="2800" dirty="0" smtClean="0"/>
              <a:t>假設有兩個</a:t>
            </a:r>
            <a:r>
              <a:rPr lang="en-US" altLang="zh-TW" sz="2800" dirty="0" smtClean="0"/>
              <a:t>CPU cores;</a:t>
            </a:r>
            <a:r>
              <a:rPr lang="zh-TW" altLang="en-US" sz="2800" dirty="0" smtClean="0"/>
              <a:t>兩個</a:t>
            </a:r>
            <a:r>
              <a:rPr lang="en-US" altLang="zh-TW" sz="2800" dirty="0" smtClean="0"/>
              <a:t>processes</a:t>
            </a:r>
            <a:r>
              <a:rPr lang="zh-TW" altLang="en-US" sz="2800" dirty="0" smtClean="0"/>
              <a:t>同時執行不同的</a:t>
            </a:r>
            <a:r>
              <a:rPr lang="en-US" altLang="zh-TW" sz="2800" dirty="0" smtClean="0"/>
              <a:t>code sections, </a:t>
            </a:r>
            <a:r>
              <a:rPr lang="zh-TW" altLang="en-US" sz="2800" dirty="0" smtClean="0"/>
              <a:t>但是兩個</a:t>
            </a:r>
            <a:r>
              <a:rPr lang="en-US" altLang="zh-TW" sz="2800" smtClean="0"/>
              <a:t>code sections</a:t>
            </a:r>
            <a:r>
              <a:rPr lang="zh-TW" altLang="en-US" sz="2800" smtClean="0"/>
              <a:t>的</a:t>
            </a:r>
            <a:r>
              <a:rPr lang="zh-TW" altLang="en-US" sz="2800" dirty="0" smtClean="0"/>
              <a:t>內容都相同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2461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ChangeArrowheads="1"/>
          </p:cNvSpPr>
          <p:nvPr/>
        </p:nvSpPr>
        <p:spPr bwMode="auto">
          <a:xfrm>
            <a:off x="3575051" y="0"/>
            <a:ext cx="4968875" cy="6376343"/>
          </a:xfrm>
          <a:prstGeom prst="rect">
            <a:avLst/>
          </a:prstGeom>
          <a:solidFill>
            <a:srgbClr val="FFFF00"/>
          </a:solidFill>
          <a:ln w="9525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06503" name="Line 7"/>
          <p:cNvSpPr>
            <a:spLocks noChangeShapeType="1"/>
          </p:cNvSpPr>
          <p:nvPr/>
        </p:nvSpPr>
        <p:spPr bwMode="auto">
          <a:xfrm>
            <a:off x="3575051" y="260350"/>
            <a:ext cx="4968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pic>
        <p:nvPicPr>
          <p:cNvPr id="106505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5051" y="3140968"/>
            <a:ext cx="4968875" cy="317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8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5051" y="116632"/>
            <a:ext cx="4968875" cy="280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11" name="AutoShape 15"/>
          <p:cNvSpPr>
            <a:spLocks noChangeArrowheads="1"/>
          </p:cNvSpPr>
          <p:nvPr/>
        </p:nvSpPr>
        <p:spPr bwMode="auto">
          <a:xfrm>
            <a:off x="8759826" y="404813"/>
            <a:ext cx="1439863" cy="609600"/>
          </a:xfrm>
          <a:prstGeom prst="wedgeRoundRectCallout">
            <a:avLst>
              <a:gd name="adj1" fmla="val -100495"/>
              <a:gd name="adj2" fmla="val -10052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 algn="ctr">
              <a:defRPr/>
            </a:pPr>
            <a:r>
              <a:rPr lang="en-US" altLang="zh-TW" sz="2400" b="1">
                <a:latin typeface="Calibri" panose="020F0502020204030204" pitchFamily="34" charset="0"/>
                <a:ea typeface="新細明體" pitchFamily="18" charset="-120"/>
              </a:rPr>
              <a:t>memory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  <p:cxnSp>
        <p:nvCxnSpPr>
          <p:cNvPr id="23" name="直線單箭頭接點 22"/>
          <p:cNvCxnSpPr/>
          <p:nvPr/>
        </p:nvCxnSpPr>
        <p:spPr>
          <a:xfrm>
            <a:off x="2814726" y="404664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2814726" y="764704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2783632" y="3429000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2783632" y="3861048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圓角矩形 2"/>
          <p:cNvSpPr/>
          <p:nvPr/>
        </p:nvSpPr>
        <p:spPr>
          <a:xfrm>
            <a:off x="3863752" y="4991480"/>
            <a:ext cx="3384376" cy="23772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800" b="1" dirty="0" err="1" smtClean="0">
                <a:solidFill>
                  <a:schemeClr val="tx1"/>
                </a:solidFill>
                <a:latin typeface="Agency FB" panose="020B0503020202020204" pitchFamily="34" charset="0"/>
              </a:rPr>
              <a:t>printf</a:t>
            </a:r>
            <a:r>
              <a:rPr lang="en-US" altLang="zh-TW" sz="1800" b="1" dirty="0" smtClean="0">
                <a:solidFill>
                  <a:schemeClr val="tx1"/>
                </a:solidFill>
                <a:latin typeface="Agency FB" panose="020B0503020202020204" pitchFamily="34" charset="0"/>
              </a:rPr>
              <a:t>(“hello\n”);</a:t>
            </a:r>
            <a:endParaRPr lang="zh-TW" altLang="en-US" sz="1800" b="1" dirty="0">
              <a:solidFill>
                <a:schemeClr val="tx1"/>
              </a:solidFill>
              <a:latin typeface="Agency FB" panose="020B0503020202020204" pitchFamily="34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2460317" y="6376343"/>
            <a:ext cx="73080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TW" altLang="en-US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假設子承父業</a:t>
            </a:r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, child</a:t>
            </a:r>
            <a:r>
              <a:rPr lang="zh-TW" altLang="en-US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沒有呼叫</a:t>
            </a:r>
            <a:r>
              <a:rPr lang="en-US" altLang="zh-TW" sz="2800" dirty="0" smtClean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exec() system calls</a:t>
            </a:r>
            <a:endParaRPr lang="en-US" altLang="zh-TW" sz="2800" dirty="0">
              <a:solidFill>
                <a:srgbClr val="FF0000"/>
              </a:solidFill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230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在第三章提到如何讓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順利執行呢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給它需要的資源</a:t>
            </a:r>
            <a:endParaRPr lang="en-US" altLang="zh-TW" dirty="0" smtClean="0"/>
          </a:p>
          <a:p>
            <a:r>
              <a:rPr lang="zh-TW" altLang="en-US" dirty="0" smtClean="0"/>
              <a:t>例如</a:t>
            </a:r>
            <a:r>
              <a:rPr lang="en-US" altLang="zh-TW" dirty="0" smtClean="0"/>
              <a:t>: CPU, </a:t>
            </a:r>
            <a:r>
              <a:rPr lang="zh-TW" altLang="en-US" dirty="0" smtClean="0"/>
              <a:t>記憶體</a:t>
            </a:r>
            <a:r>
              <a:rPr lang="en-US" altLang="zh-TW" dirty="0" smtClean="0"/>
              <a:t>(code section, data section, heap section and stack section)…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228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同理</a:t>
            </a:r>
            <a:r>
              <a:rPr lang="en-US" altLang="zh-TW" dirty="0" smtClean="0"/>
              <a:t>, thread</a:t>
            </a:r>
            <a:r>
              <a:rPr lang="zh-TW" altLang="en-US" dirty="0" smtClean="0"/>
              <a:t>也需要資源</a:t>
            </a:r>
            <a:r>
              <a:rPr lang="en-US" altLang="zh-TW" dirty="0" smtClean="0"/>
              <a:t>, </a:t>
            </a:r>
            <a:r>
              <a:rPr lang="zh-TW" altLang="en-US" dirty="0" smtClean="0"/>
              <a:t>例如</a:t>
            </a:r>
            <a:r>
              <a:rPr lang="en-US" altLang="zh-TW" dirty="0" smtClean="0"/>
              <a:t>: CPU</a:t>
            </a:r>
            <a:r>
              <a:rPr lang="zh-TW" altLang="en-US" dirty="0" smtClean="0"/>
              <a:t>和記憶體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只是</a:t>
            </a:r>
            <a:r>
              <a:rPr lang="en-US" altLang="zh-TW" dirty="0" smtClean="0"/>
              <a:t>threads</a:t>
            </a:r>
            <a:r>
              <a:rPr lang="zh-TW" altLang="en-US" dirty="0" smtClean="0"/>
              <a:t>彼此之間會</a:t>
            </a:r>
            <a:r>
              <a:rPr lang="zh-TW" altLang="en-US" b="1" dirty="0" smtClean="0"/>
              <a:t>共享資源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846012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 smtClean="0"/>
              <a:t>同樣的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在</a:t>
            </a:r>
            <a:r>
              <a:rPr lang="en-US" altLang="zh-TW" sz="4000" dirty="0" smtClean="0"/>
              <a:t>thread</a:t>
            </a:r>
            <a:r>
              <a:rPr lang="zh-TW" altLang="en-US" sz="4000" dirty="0" smtClean="0"/>
              <a:t>執行的過程中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也會有狀態的變化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b="1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  <a:ea typeface="標楷體" panose="03000509000000000000" pitchFamily="65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3278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Diagram </a:t>
            </a:r>
            <a:r>
              <a:rPr lang="en-US" altLang="zh-TW" dirty="0"/>
              <a:t>of Process State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1484784"/>
            <a:ext cx="7689354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8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 smtClean="0"/>
              <a:t>同理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我們也必須記錄</a:t>
            </a:r>
            <a:r>
              <a:rPr lang="en-US" altLang="zh-TW" sz="4000" dirty="0" smtClean="0"/>
              <a:t>thread</a:t>
            </a:r>
            <a:r>
              <a:rPr lang="zh-TW" altLang="en-US" sz="4000" dirty="0" smtClean="0"/>
              <a:t>執行時的相關資訊</a:t>
            </a:r>
            <a:r>
              <a:rPr lang="en-US" altLang="zh-TW" sz="4000" dirty="0" smtClean="0"/>
              <a:t>! 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24744" y="3789040"/>
            <a:ext cx="10099848" cy="1752600"/>
          </a:xfrm>
        </p:spPr>
        <p:txBody>
          <a:bodyPr/>
          <a:lstStyle/>
          <a:p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0528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Process </a:t>
            </a:r>
            <a:r>
              <a:rPr lang="en-US" altLang="zh-TW" dirty="0"/>
              <a:t>Control Block (PCB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sz="2800" b="1" dirty="0">
                <a:solidFill>
                  <a:srgbClr val="0000FF"/>
                </a:solidFill>
              </a:rPr>
              <a:t>Keep information associated with each process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Process state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Program counter: </a:t>
            </a:r>
            <a:r>
              <a:rPr lang="en-US" altLang="zh-TW" sz="2400" b="1" dirty="0">
                <a:solidFill>
                  <a:srgbClr val="0000FF"/>
                </a:solidFill>
              </a:rPr>
              <a:t>address of the next instruction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sz="2000" dirty="0"/>
              <a:t>Saved when an </a:t>
            </a:r>
            <a:r>
              <a:rPr lang="en-US" altLang="zh-TW" sz="2000" b="1" dirty="0">
                <a:solidFill>
                  <a:srgbClr val="FF0000"/>
                </a:solidFill>
              </a:rPr>
              <a:t>interrupt</a:t>
            </a:r>
            <a:r>
              <a:rPr lang="en-US" altLang="zh-TW" sz="2000" dirty="0"/>
              <a:t> occurs or </a:t>
            </a:r>
            <a:r>
              <a:rPr lang="en-US" altLang="zh-TW" sz="2000" b="1" dirty="0">
                <a:solidFill>
                  <a:srgbClr val="FF0000"/>
                </a:solidFill>
              </a:rPr>
              <a:t>context switches</a:t>
            </a:r>
            <a:r>
              <a:rPr lang="en-US" altLang="zh-TW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/>
              <a:t>occurs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CPU registers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sz="2000" dirty="0"/>
              <a:t>Saved when an </a:t>
            </a:r>
            <a:r>
              <a:rPr lang="en-US" altLang="zh-TW" sz="2000" b="1" dirty="0">
                <a:solidFill>
                  <a:srgbClr val="FF3300"/>
                </a:solidFill>
              </a:rPr>
              <a:t>interrupt</a:t>
            </a:r>
            <a:r>
              <a:rPr lang="en-US" altLang="zh-TW" sz="2000" dirty="0"/>
              <a:t> or </a:t>
            </a:r>
            <a:r>
              <a:rPr lang="en-US" altLang="zh-TW" sz="2000" b="1" dirty="0">
                <a:solidFill>
                  <a:srgbClr val="FF3300"/>
                </a:solidFill>
              </a:rPr>
              <a:t>context switches</a:t>
            </a:r>
            <a:r>
              <a:rPr lang="en-US" altLang="zh-TW" sz="2000" dirty="0"/>
              <a:t> occurs (</a:t>
            </a:r>
            <a:r>
              <a:rPr lang="en-US" altLang="zh-TW" sz="2000" b="1" dirty="0"/>
              <a:t>introduce later</a:t>
            </a:r>
            <a:r>
              <a:rPr lang="en-US" altLang="zh-TW" sz="2000" dirty="0"/>
              <a:t>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CPU scheduling information: process priority……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Memory-management information: </a:t>
            </a:r>
            <a:r>
              <a:rPr lang="en-US" altLang="zh-TW" sz="2000" dirty="0"/>
              <a:t>will be introduced later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Accounting information: </a:t>
            </a:r>
            <a:r>
              <a:rPr lang="en-US" altLang="zh-TW" sz="2000" dirty="0"/>
              <a:t>CPU time and real time used…..(see following slide)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I/O status information:  </a:t>
            </a:r>
            <a:r>
              <a:rPr lang="en-US" altLang="zh-TW" sz="2000" dirty="0"/>
              <a:t>Open files and devices…</a:t>
            </a:r>
          </a:p>
          <a:p>
            <a:pPr>
              <a:spcBef>
                <a:spcPts val="600"/>
              </a:spcBef>
            </a:pP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8118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Thread Control Block (or </a:t>
            </a:r>
            <a:r>
              <a:rPr lang="en-US" altLang="zh-TW" dirty="0">
                <a:solidFill>
                  <a:srgbClr val="FF0000"/>
                </a:solidFill>
              </a:rPr>
              <a:t>Thread Descriptor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Each thread has its own TCB, like each process has its PCB</a:t>
            </a:r>
            <a:endParaRPr lang="zh-TW" altLang="en-US" dirty="0"/>
          </a:p>
          <a:p>
            <a:endParaRPr lang="zh-TW" altLang="en-US" dirty="0"/>
          </a:p>
        </p:txBody>
      </p:sp>
      <p:graphicFrame>
        <p:nvGraphicFramePr>
          <p:cNvPr id="4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074235"/>
              </p:ext>
            </p:extLst>
          </p:nvPr>
        </p:nvGraphicFramePr>
        <p:xfrm>
          <a:off x="3071813" y="2687489"/>
          <a:ext cx="6096000" cy="3117775"/>
        </p:xfrm>
        <a:graphic>
          <a:graphicData uri="http://schemas.openxmlformats.org/drawingml/2006/table">
            <a:tbl>
              <a:tblPr/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7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Thread 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Thread State (Run, Waiting…)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Program Counter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Registers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……</a:t>
                      </a:r>
                      <a:endParaRPr kumimoji="1" lang="en-US" altLang="zh-TW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94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Thread Control Block (TCB)</a:t>
            </a:r>
          </a:p>
        </p:txBody>
      </p:sp>
      <p:grpSp>
        <p:nvGrpSpPr>
          <p:cNvPr id="6" name="群組 5"/>
          <p:cNvGrpSpPr/>
          <p:nvPr/>
        </p:nvGrpSpPr>
        <p:grpSpPr>
          <a:xfrm>
            <a:off x="2054168" y="1196752"/>
            <a:ext cx="7282192" cy="5112568"/>
            <a:chOff x="2566989" y="1340768"/>
            <a:chExt cx="7282192" cy="5112568"/>
          </a:xfrm>
        </p:grpSpPr>
        <p:sp>
          <p:nvSpPr>
            <p:cNvPr id="282627" name="Rectangle 4"/>
            <p:cNvSpPr>
              <a:spLocks noChangeArrowheads="1"/>
            </p:cNvSpPr>
            <p:nvPr/>
          </p:nvSpPr>
          <p:spPr bwMode="auto">
            <a:xfrm>
              <a:off x="6307138" y="1484314"/>
              <a:ext cx="2265362" cy="2664765"/>
            </a:xfrm>
            <a:prstGeom prst="rect">
              <a:avLst/>
            </a:prstGeom>
            <a:solidFill>
              <a:srgbClr val="99FFCC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out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eax</a:t>
              </a: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, 0x60;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add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eax</a:t>
              </a:r>
              <a:r>
                <a:rPr kumimoji="0" lang="en-US" altLang="zh-TW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, </a:t>
              </a:r>
              <a:r>
                <a:rPr kumimoji="0" lang="en-US" altLang="zh-TW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ebx</a:t>
              </a:r>
              <a:r>
                <a:rPr kumimoji="0" lang="en-US" altLang="zh-TW" sz="2000" b="1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;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endParaRPr>
            </a:p>
            <a:p>
              <a:pPr lvl="0" eaLnBrk="0" hangingPunct="0">
                <a:spcBef>
                  <a:spcPct val="0"/>
                </a:spcBef>
                <a:buNone/>
                <a:defRPr/>
              </a:pPr>
              <a:r>
                <a:rPr kumimoji="0" lang="en-US" altLang="zh-TW" sz="2000" dirty="0">
                  <a:solidFill>
                    <a:srgbClr val="000000"/>
                  </a:solidFill>
                  <a:ea typeface="新細明體" panose="02020500000000000000" pitchFamily="18" charset="-120"/>
                </a:rPr>
                <a:t>…</a:t>
              </a:r>
            </a:p>
            <a:p>
              <a:pPr lvl="0" eaLnBrk="0" hangingPunct="0">
                <a:spcBef>
                  <a:spcPct val="0"/>
                </a:spcBef>
                <a:buNone/>
                <a:defRPr/>
              </a:pPr>
              <a:r>
                <a:rPr kumimoji="0" lang="en-US" altLang="zh-TW" sz="2000" b="1" i="1" dirty="0">
                  <a:solidFill>
                    <a:srgbClr val="FF3300"/>
                  </a:solidFill>
                  <a:ea typeface="新細明體" panose="02020500000000000000" pitchFamily="18" charset="-120"/>
                </a:rPr>
                <a:t>add </a:t>
              </a:r>
              <a:r>
                <a:rPr kumimoji="0" lang="en-US" altLang="zh-TW" sz="2000" b="1" i="1" dirty="0" err="1">
                  <a:solidFill>
                    <a:srgbClr val="FF3300"/>
                  </a:solidFill>
                  <a:ea typeface="新細明體" panose="02020500000000000000" pitchFamily="18" charset="-120"/>
                </a:rPr>
                <a:t>eax</a:t>
              </a:r>
              <a:r>
                <a:rPr kumimoji="0" lang="en-US" altLang="zh-TW" sz="2000" b="1" i="1" dirty="0">
                  <a:solidFill>
                    <a:srgbClr val="FF3300"/>
                  </a:solidFill>
                  <a:ea typeface="新細明體" panose="02020500000000000000" pitchFamily="18" charset="-120"/>
                </a:rPr>
                <a:t>, 0x30; </a:t>
              </a:r>
            </a:p>
            <a:p>
              <a:pPr lvl="0" eaLnBrk="0" hangingPunct="0">
                <a:spcBef>
                  <a:spcPct val="0"/>
                </a:spcBef>
                <a:buNone/>
                <a:defRPr/>
              </a:pPr>
              <a:r>
                <a:rPr kumimoji="0" lang="en-US" altLang="zh-TW" sz="2000" b="1" i="1" dirty="0">
                  <a:solidFill>
                    <a:srgbClr val="FF3300"/>
                  </a:solidFill>
                  <a:ea typeface="新細明體" panose="02020500000000000000" pitchFamily="18" charset="-120"/>
                </a:rPr>
                <a:t>add </a:t>
              </a:r>
              <a:r>
                <a:rPr kumimoji="0" lang="en-US" altLang="zh-TW" sz="2000" b="1" i="1" dirty="0" err="1">
                  <a:solidFill>
                    <a:srgbClr val="FF3300"/>
                  </a:solidFill>
                  <a:ea typeface="新細明體" panose="02020500000000000000" pitchFamily="18" charset="-120"/>
                </a:rPr>
                <a:t>ebx</a:t>
              </a:r>
              <a:r>
                <a:rPr kumimoji="0" lang="en-US" altLang="zh-TW" sz="2000" b="1" i="1" dirty="0">
                  <a:solidFill>
                    <a:srgbClr val="FF3300"/>
                  </a:solidFill>
                  <a:ea typeface="新細明體" panose="02020500000000000000" pitchFamily="18" charset="-120"/>
                </a:rPr>
                <a:t>, </a:t>
              </a:r>
              <a:r>
                <a:rPr kumimoji="0" lang="en-US" altLang="zh-TW" sz="2000" b="1" i="1" dirty="0" err="1">
                  <a:solidFill>
                    <a:srgbClr val="FF3300"/>
                  </a:solidFill>
                  <a:ea typeface="新細明體" panose="02020500000000000000" pitchFamily="18" charset="-120"/>
                </a:rPr>
                <a:t>eax</a:t>
              </a:r>
              <a:r>
                <a:rPr kumimoji="0" lang="en-US" altLang="zh-TW" sz="2000" b="1" i="1" dirty="0">
                  <a:solidFill>
                    <a:srgbClr val="FF3300"/>
                  </a:solidFill>
                  <a:ea typeface="新細明體" panose="02020500000000000000" pitchFamily="18" charset="-120"/>
                </a:rPr>
                <a:t>;</a:t>
              </a:r>
            </a:p>
            <a:p>
              <a:pPr lvl="0" eaLnBrk="0" hangingPunct="0">
                <a:spcBef>
                  <a:spcPct val="0"/>
                </a:spcBef>
                <a:buNone/>
                <a:defRPr/>
              </a:pPr>
              <a:r>
                <a:rPr kumimoji="0" lang="en-US" altLang="zh-TW" sz="2000" dirty="0" smtClean="0">
                  <a:solidFill>
                    <a:srgbClr val="000000"/>
                  </a:solidFill>
                  <a:ea typeface="新細明體" panose="02020500000000000000" pitchFamily="18" charset="-120"/>
                </a:rPr>
                <a:t>…</a:t>
              </a:r>
              <a:r>
                <a:rPr kumimoji="0" lang="en-US" altLang="zh-TW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</a:t>
              </a:r>
              <a:endPara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82628" name="Rectangle 4"/>
            <p:cNvSpPr>
              <a:spLocks noChangeArrowheads="1"/>
            </p:cNvSpPr>
            <p:nvPr/>
          </p:nvSpPr>
          <p:spPr bwMode="auto">
            <a:xfrm>
              <a:off x="6311900" y="5445224"/>
              <a:ext cx="2260600" cy="995264"/>
            </a:xfrm>
            <a:prstGeom prst="rect">
              <a:avLst/>
            </a:prstGeom>
            <a:solidFill>
              <a:srgbClr val="CCFF33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OS</a:t>
              </a:r>
            </a:p>
          </p:txBody>
        </p:sp>
        <p:sp>
          <p:nvSpPr>
            <p:cNvPr id="282629" name="Rectangle 4"/>
            <p:cNvSpPr>
              <a:spLocks noChangeArrowheads="1"/>
            </p:cNvSpPr>
            <p:nvPr/>
          </p:nvSpPr>
          <p:spPr bwMode="auto">
            <a:xfrm>
              <a:off x="6311900" y="4161854"/>
              <a:ext cx="2260600" cy="128337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…..</a:t>
              </a:r>
            </a:p>
          </p:txBody>
        </p:sp>
        <p:sp>
          <p:nvSpPr>
            <p:cNvPr id="282630" name="Rectangle 6"/>
            <p:cNvSpPr>
              <a:spLocks noChangeArrowheads="1"/>
            </p:cNvSpPr>
            <p:nvPr/>
          </p:nvSpPr>
          <p:spPr bwMode="auto">
            <a:xfrm>
              <a:off x="2566989" y="2189163"/>
              <a:ext cx="1870075" cy="1274762"/>
            </a:xfrm>
            <a:prstGeom prst="rect">
              <a:avLst/>
            </a:prstGeom>
            <a:solidFill>
              <a:srgbClr val="5B9BD5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CPU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8544272" y="1340768"/>
              <a:ext cx="13049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 smtClean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Thread 1</a:t>
              </a:r>
              <a:endParaRPr lang="zh-TW" alt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8544272" y="2751311"/>
              <a:ext cx="13049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 smtClean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Thread 2</a:t>
              </a:r>
              <a:endParaRPr lang="zh-TW" alt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6318050" y="4521348"/>
              <a:ext cx="2260600" cy="1931988"/>
            </a:xfrm>
            <a:prstGeom prst="rect">
              <a:avLst/>
            </a:prstGeom>
            <a:solidFill>
              <a:srgbClr val="CCFF33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OS</a:t>
              </a:r>
              <a:endPara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3" name="Rectangle 4"/>
            <p:cNvSpPr>
              <a:spLocks noChangeArrowheads="1"/>
            </p:cNvSpPr>
            <p:nvPr/>
          </p:nvSpPr>
          <p:spPr bwMode="auto">
            <a:xfrm>
              <a:off x="6322811" y="4514293"/>
              <a:ext cx="2260600" cy="705486"/>
            </a:xfrm>
            <a:prstGeom prst="rect">
              <a:avLst/>
            </a:prstGeom>
            <a:solidFill>
              <a:srgbClr val="00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T1 TCB </a:t>
              </a:r>
              <a:endPara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pc = x, </a:t>
              </a:r>
              <a:r>
                <a:rPr kumimoji="0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eax</a:t>
              </a:r>
              <a:r>
                <a:rPr kumimoji="0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=y, …..,</a:t>
              </a:r>
            </a:p>
          </p:txBody>
        </p:sp>
        <p:sp>
          <p:nvSpPr>
            <p:cNvPr id="24" name="Rectangle 4"/>
            <p:cNvSpPr>
              <a:spLocks noChangeArrowheads="1"/>
            </p:cNvSpPr>
            <p:nvPr/>
          </p:nvSpPr>
          <p:spPr bwMode="auto">
            <a:xfrm>
              <a:off x="6325192" y="5187899"/>
              <a:ext cx="2260600" cy="705486"/>
            </a:xfrm>
            <a:prstGeom prst="rect">
              <a:avLst/>
            </a:prstGeom>
            <a:solidFill>
              <a:srgbClr val="00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Calibri" panose="020F0502020204030204" pitchFamily="34" charset="0"/>
                  <a:ea typeface="標楷體" panose="03000509000000000000" pitchFamily="65" charset="-120"/>
                </a:defRPr>
              </a:lvl9pPr>
            </a:lstStyle>
            <a:p>
              <a:pPr lvl="0" algn="ctr" eaLnBrk="0" hangingPunct="0">
                <a:spcBef>
                  <a:spcPct val="0"/>
                </a:spcBef>
                <a:buNone/>
                <a:defRPr/>
              </a:pPr>
              <a:r>
                <a:rPr kumimoji="0" lang="en-US" altLang="zh-TW" sz="2000" b="1" dirty="0" smtClean="0">
                  <a:solidFill>
                    <a:srgbClr val="FF0000"/>
                  </a:solidFill>
                  <a:ea typeface="新細明體" panose="02020500000000000000" pitchFamily="18" charset="-120"/>
                </a:rPr>
                <a:t>T2 TCB </a:t>
              </a:r>
              <a:endParaRPr kumimoji="0"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endParaRPr>
            </a:p>
            <a:p>
              <a:pPr lvl="0" algn="ctr" eaLnBrk="0" hangingPunct="0">
                <a:spcBef>
                  <a:spcPct val="0"/>
                </a:spcBef>
                <a:buNone/>
                <a:defRPr/>
              </a:pPr>
              <a:r>
                <a:rPr kumimoji="0" lang="en-US" altLang="zh-TW" sz="2000" b="1" dirty="0">
                  <a:solidFill>
                    <a:srgbClr val="000000"/>
                  </a:solidFill>
                  <a:ea typeface="新細明體" panose="02020500000000000000" pitchFamily="18" charset="-120"/>
                </a:rPr>
                <a:t>pc = </a:t>
              </a:r>
              <a:r>
                <a:rPr kumimoji="0" lang="en-US" altLang="zh-TW" sz="2000" b="1" dirty="0" err="1">
                  <a:solidFill>
                    <a:srgbClr val="000000"/>
                  </a:solidFill>
                  <a:ea typeface="新細明體" panose="02020500000000000000" pitchFamily="18" charset="-120"/>
                </a:rPr>
                <a:t>i</a:t>
              </a:r>
              <a:r>
                <a:rPr kumimoji="0" lang="en-US" altLang="zh-TW" sz="2000" b="1" dirty="0">
                  <a:solidFill>
                    <a:srgbClr val="000000"/>
                  </a:solidFill>
                  <a:ea typeface="新細明體" panose="02020500000000000000" pitchFamily="18" charset="-120"/>
                </a:rPr>
                <a:t>, </a:t>
              </a:r>
              <a:r>
                <a:rPr kumimoji="0" lang="en-US" altLang="zh-TW" sz="2000" b="1" dirty="0" err="1">
                  <a:solidFill>
                    <a:srgbClr val="000000"/>
                  </a:solidFill>
                  <a:ea typeface="新細明體" panose="02020500000000000000" pitchFamily="18" charset="-120"/>
                </a:rPr>
                <a:t>eax</a:t>
              </a:r>
              <a:r>
                <a:rPr kumimoji="0" lang="en-US" altLang="zh-TW" sz="2000" b="1" dirty="0">
                  <a:solidFill>
                    <a:srgbClr val="000000"/>
                  </a:solidFill>
                  <a:ea typeface="新細明體" panose="02020500000000000000" pitchFamily="18" charset="-120"/>
                </a:rPr>
                <a:t>=j, …..,</a:t>
              </a:r>
              <a:r>
                <a:rPr kumimoji="0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 </a:t>
              </a:r>
            </a:p>
          </p:txBody>
        </p:sp>
        <p:sp>
          <p:nvSpPr>
            <p:cNvPr id="25" name="右大括弧 24"/>
            <p:cNvSpPr/>
            <p:nvPr/>
          </p:nvSpPr>
          <p:spPr>
            <a:xfrm>
              <a:off x="8894956" y="4549414"/>
              <a:ext cx="87515" cy="1903922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8982470" y="5314056"/>
              <a:ext cx="4796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charset="-120"/>
                  <a:cs typeface="+mn-cs"/>
                </a:rPr>
                <a:t>OS</a:t>
              </a:r>
              <a:endParaRPr kumimoji="1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947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/>
              <a:t>如</a:t>
            </a:r>
            <a:r>
              <a:rPr lang="zh-TW" altLang="en-US" dirty="0" smtClean="0"/>
              <a:t>前述</a:t>
            </a:r>
            <a:r>
              <a:rPr lang="en-US" altLang="zh-TW" dirty="0" smtClean="0"/>
              <a:t>, threads</a:t>
            </a:r>
            <a:r>
              <a:rPr lang="zh-TW" altLang="en-US" dirty="0" smtClean="0"/>
              <a:t>之間會共享資源</a:t>
            </a:r>
            <a:r>
              <a:rPr lang="en-US" altLang="zh-TW" dirty="0" smtClean="0"/>
              <a:t>, thread</a:t>
            </a:r>
            <a:r>
              <a:rPr lang="zh-TW" altLang="en-US" dirty="0" smtClean="0"/>
              <a:t>和</a:t>
            </a:r>
            <a:r>
              <a:rPr lang="zh-TW" altLang="en-US" dirty="0"/>
              <a:t>誰</a:t>
            </a:r>
            <a:r>
              <a:rPr lang="zh-TW" altLang="en-US" dirty="0" smtClean="0"/>
              <a:t>共享資源</a:t>
            </a:r>
            <a:r>
              <a:rPr lang="en-US" altLang="zh-TW" dirty="0" smtClean="0"/>
              <a:t>?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Ans</a:t>
            </a:r>
            <a:r>
              <a:rPr lang="en-US" altLang="zh-TW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: </a:t>
            </a:r>
            <a:r>
              <a:rPr lang="zh-TW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同一</a:t>
            </a:r>
            <a:r>
              <a:rPr lang="zh-TW" alt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個</a:t>
            </a: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process</a:t>
            </a:r>
            <a:r>
              <a:rPr lang="zh-TW" alt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下的其他</a:t>
            </a: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threads. </a:t>
            </a:r>
          </a:p>
          <a:p>
            <a:r>
              <a:rPr lang="zh-TW" alt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例如前面投影片的三個</a:t>
            </a: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threads</a:t>
            </a:r>
            <a:r>
              <a:rPr lang="zh-TW" alt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彼此共享資源</a:t>
            </a: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(</a:t>
            </a:r>
            <a:r>
              <a:rPr lang="zh-TW" alt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如</a:t>
            </a: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:</a:t>
            </a:r>
            <a:r>
              <a:rPr lang="zh-TW" alt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 </a:t>
            </a:r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code section)</a:t>
            </a:r>
            <a:endParaRPr lang="zh-TW" altLang="en-US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  <a:ea typeface="標楷體" panose="03000509000000000000" pitchFamily="65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0627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</a:t>
            </a:r>
            <a:r>
              <a:rPr lang="zh-TW" altLang="en-US" dirty="0" smtClean="0"/>
              <a:t>那些資源可以共享</a:t>
            </a:r>
            <a:r>
              <a:rPr lang="en-US" altLang="zh-TW" dirty="0" smtClean="0"/>
              <a:t>?</a:t>
            </a:r>
            <a:r>
              <a:rPr lang="zh-TW" altLang="en-US" dirty="0" smtClean="0">
                <a:solidFill>
                  <a:srgbClr val="FF0000"/>
                </a:solidFill>
              </a:rPr>
              <a:t>那些不行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CPU? Code Section? Data Section? Heap Section? Stack Section?......</a:t>
            </a:r>
            <a:endParaRPr lang="zh-TW" altLang="en-US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  <a:ea typeface="標楷體" panose="03000509000000000000" pitchFamily="65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423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Thread Overview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b="1" dirty="0"/>
              <a:t>不可共享</a:t>
            </a:r>
            <a:endParaRPr lang="en-US" altLang="zh-TW" b="1" dirty="0" smtClean="0"/>
          </a:p>
          <a:p>
            <a:pPr lvl="1" eaLnBrk="1" hangingPunct="1"/>
            <a:r>
              <a:rPr lang="en-US" altLang="zh-TW" dirty="0" smtClean="0"/>
              <a:t>Thread need resources like </a:t>
            </a:r>
            <a:r>
              <a:rPr lang="en-US" altLang="zh-TW" b="1" dirty="0" smtClean="0">
                <a:solidFill>
                  <a:srgbClr val="FF0000"/>
                </a:solidFill>
              </a:rPr>
              <a:t>thread ID</a:t>
            </a:r>
            <a:r>
              <a:rPr lang="en-US" altLang="zh-TW" dirty="0" smtClean="0"/>
              <a:t>, </a:t>
            </a:r>
            <a:r>
              <a:rPr lang="en-US" altLang="zh-TW" b="1" dirty="0" smtClean="0">
                <a:solidFill>
                  <a:srgbClr val="FF0000"/>
                </a:solidFill>
              </a:rPr>
              <a:t>program counter</a:t>
            </a:r>
            <a:r>
              <a:rPr lang="en-US" altLang="zh-TW" dirty="0" smtClean="0">
                <a:solidFill>
                  <a:srgbClr val="FF0000"/>
                </a:solidFill>
              </a:rPr>
              <a:t>,</a:t>
            </a:r>
            <a:r>
              <a:rPr lang="en-US" altLang="zh-TW" b="1" dirty="0" smtClean="0">
                <a:solidFill>
                  <a:srgbClr val="FF0000"/>
                </a:solidFill>
              </a:rPr>
              <a:t> register set</a:t>
            </a:r>
            <a:r>
              <a:rPr lang="en-US" altLang="zh-TW" dirty="0" smtClean="0"/>
              <a:t>, and</a:t>
            </a:r>
            <a:r>
              <a:rPr lang="en-US" altLang="zh-TW" b="1" dirty="0" smtClean="0"/>
              <a:t> </a:t>
            </a:r>
            <a:r>
              <a:rPr lang="en-US" altLang="zh-TW" b="1" dirty="0" smtClean="0">
                <a:solidFill>
                  <a:srgbClr val="FF0000"/>
                </a:solidFill>
              </a:rPr>
              <a:t>stack section</a:t>
            </a:r>
          </a:p>
          <a:p>
            <a:pPr lvl="1" eaLnBrk="1" hangingPunct="1"/>
            <a:r>
              <a:rPr lang="zh-TW" altLang="en-US" b="1" dirty="0" smtClean="0">
                <a:solidFill>
                  <a:srgbClr val="0000FF"/>
                </a:solidFill>
              </a:rPr>
              <a:t>為什麼這些資源不可共享</a:t>
            </a:r>
            <a:r>
              <a:rPr lang="en-US" altLang="zh-TW" b="1" dirty="0" smtClean="0">
                <a:solidFill>
                  <a:srgbClr val="0000FF"/>
                </a:solidFill>
              </a:rPr>
              <a:t>? </a:t>
            </a:r>
            <a:endParaRPr lang="en-US" altLang="zh-TW" b="1" dirty="0">
              <a:solidFill>
                <a:srgbClr val="0000FF"/>
              </a:solidFill>
            </a:endParaRPr>
          </a:p>
          <a:p>
            <a:pPr eaLnBrk="1" hangingPunct="1"/>
            <a:r>
              <a:rPr lang="zh-TW" altLang="en-US" b="1" dirty="0" smtClean="0"/>
              <a:t>可共享</a:t>
            </a:r>
            <a:endParaRPr lang="en-US" altLang="zh-TW" b="1" dirty="0" smtClean="0"/>
          </a:p>
          <a:p>
            <a:pPr lvl="1" eaLnBrk="1" hangingPunct="1"/>
            <a:r>
              <a:rPr lang="en-US" altLang="zh-TW" b="1" dirty="0" smtClean="0">
                <a:solidFill>
                  <a:srgbClr val="FF3300"/>
                </a:solidFill>
              </a:rPr>
              <a:t>Other </a:t>
            </a:r>
            <a:r>
              <a:rPr lang="en-US" altLang="zh-TW" b="1" dirty="0">
                <a:solidFill>
                  <a:srgbClr val="FF3300"/>
                </a:solidFill>
              </a:rPr>
              <a:t>resources are shared</a:t>
            </a:r>
            <a:r>
              <a:rPr lang="en-US" altLang="zh-TW" dirty="0"/>
              <a:t> with other threads belonging to </a:t>
            </a:r>
            <a:r>
              <a:rPr lang="en-US" altLang="zh-TW" b="1" dirty="0">
                <a:solidFill>
                  <a:srgbClr val="3333FF"/>
                </a:solidFill>
              </a:rPr>
              <a:t>the same </a:t>
            </a:r>
            <a:r>
              <a:rPr lang="en-US" altLang="zh-TW" b="1" dirty="0"/>
              <a:t>process</a:t>
            </a:r>
          </a:p>
          <a:p>
            <a:pPr lvl="1" eaLnBrk="1" hangingPunct="1"/>
            <a:r>
              <a:rPr lang="en-US" altLang="zh-TW" dirty="0">
                <a:solidFill>
                  <a:srgbClr val="FF3300"/>
                </a:solidFill>
              </a:rPr>
              <a:t>Code section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3300"/>
                </a:solidFill>
              </a:rPr>
              <a:t>data </a:t>
            </a:r>
            <a:r>
              <a:rPr lang="en-US" altLang="zh-TW" dirty="0" smtClean="0">
                <a:solidFill>
                  <a:srgbClr val="FF3300"/>
                </a:solidFill>
              </a:rPr>
              <a:t>section, heap section</a:t>
            </a:r>
            <a:r>
              <a:rPr lang="en-US" altLang="zh-TW" dirty="0" smtClean="0"/>
              <a:t>, </a:t>
            </a:r>
            <a:r>
              <a:rPr lang="en-US" altLang="zh-TW" dirty="0"/>
              <a:t>and other resources, such as open files and signals</a:t>
            </a:r>
          </a:p>
        </p:txBody>
      </p:sp>
    </p:spTree>
    <p:extLst>
      <p:ext uri="{BB962C8B-B14F-4D97-AF65-F5344CB8AC3E}">
        <p14:creationId xmlns:p14="http://schemas.microsoft.com/office/powerpoint/2010/main" val="25576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Thread </a:t>
            </a:r>
            <a:r>
              <a:rPr lang="en-US" altLang="zh-TW" dirty="0"/>
              <a:t>Overview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b="1" dirty="0"/>
              <a:t>不可共享</a:t>
            </a:r>
            <a:endParaRPr lang="en-US" altLang="zh-TW" b="1" dirty="0" smtClean="0"/>
          </a:p>
          <a:p>
            <a:pPr lvl="1" eaLnBrk="1" hangingPunct="1"/>
            <a:r>
              <a:rPr lang="en-US" altLang="zh-TW" dirty="0" smtClean="0"/>
              <a:t>Thread need resources like </a:t>
            </a:r>
            <a:r>
              <a:rPr lang="en-US" altLang="zh-TW" b="1" dirty="0" smtClean="0">
                <a:solidFill>
                  <a:srgbClr val="FF0000"/>
                </a:solidFill>
              </a:rPr>
              <a:t>thread ID</a:t>
            </a:r>
            <a:r>
              <a:rPr lang="en-US" altLang="zh-TW" dirty="0" smtClean="0"/>
              <a:t>, program counter, register set, and stack section</a:t>
            </a:r>
          </a:p>
          <a:p>
            <a:pPr lvl="1" eaLnBrk="1" hangingPunct="1"/>
            <a:endParaRPr lang="en-US" altLang="zh-TW" b="1" dirty="0" smtClean="0">
              <a:solidFill>
                <a:srgbClr val="0000FF"/>
              </a:solidFill>
            </a:endParaRPr>
          </a:p>
          <a:p>
            <a:pPr lvl="1" eaLnBrk="1" hangingPunct="1"/>
            <a:r>
              <a:rPr lang="zh-TW" altLang="en-US" b="1" dirty="0" smtClean="0">
                <a:solidFill>
                  <a:srgbClr val="0000FF"/>
                </a:solidFill>
              </a:rPr>
              <a:t>為什麼這些資源不可共享</a:t>
            </a:r>
            <a:r>
              <a:rPr lang="en-US" altLang="zh-TW" b="1" dirty="0" smtClean="0">
                <a:solidFill>
                  <a:srgbClr val="0000FF"/>
                </a:solidFill>
              </a:rPr>
              <a:t>? </a:t>
            </a:r>
            <a:endParaRPr lang="en-US" altLang="zh-TW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54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Question: </a:t>
            </a:r>
            <a:r>
              <a:rPr lang="zh-TW" altLang="en-US" dirty="0" smtClean="0"/>
              <a:t>為甚麼</a:t>
            </a:r>
            <a:r>
              <a:rPr lang="en-US" altLang="zh-TW" dirty="0">
                <a:solidFill>
                  <a:srgbClr val="FF0000"/>
                </a:solidFill>
              </a:rPr>
              <a:t>thread ID</a:t>
            </a:r>
            <a:r>
              <a:rPr lang="zh-TW" altLang="en-US" dirty="0" smtClean="0"/>
              <a:t>不能共享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Hint: </a:t>
            </a:r>
            <a:r>
              <a:rPr lang="zh-TW" altLang="en-US" dirty="0" smtClean="0"/>
              <a:t>舉個例子說明</a:t>
            </a:r>
            <a:r>
              <a:rPr lang="en-US" altLang="zh-TW" dirty="0" smtClean="0"/>
              <a:t>thread ID</a:t>
            </a:r>
            <a:r>
              <a:rPr lang="zh-TW" altLang="en-US" dirty="0" smtClean="0"/>
              <a:t>相同會有什麼問題</a:t>
            </a:r>
            <a:r>
              <a:rPr lang="en-US" altLang="zh-TW" dirty="0" smtClean="0"/>
              <a:t>?</a:t>
            </a:r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en-US" altLang="zh-TW" dirty="0" err="1"/>
              <a:t>setpriority</a:t>
            </a:r>
            <a:r>
              <a:rPr lang="en-US" altLang="zh-TW" dirty="0"/>
              <a:t>(PRIO_PROCESS, </a:t>
            </a:r>
            <a:r>
              <a:rPr lang="en-US" altLang="zh-TW" dirty="0" err="1"/>
              <a:t>tid</a:t>
            </a:r>
            <a:r>
              <a:rPr lang="en-US" altLang="zh-TW" dirty="0"/>
              <a:t>, </a:t>
            </a:r>
            <a:r>
              <a:rPr lang="en-US" altLang="zh-TW" dirty="0" err="1"/>
              <a:t>prio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306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/>
              <a:t>複習</a:t>
            </a:r>
            <a:r>
              <a:rPr lang="en-US" altLang="zh-TW" dirty="0"/>
              <a:t>: Thread Overview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b="1" dirty="0"/>
              <a:t>不可共享</a:t>
            </a:r>
            <a:endParaRPr lang="en-US" altLang="zh-TW" b="1" dirty="0" smtClean="0"/>
          </a:p>
          <a:p>
            <a:pPr lvl="1" eaLnBrk="1" hangingPunct="1"/>
            <a:r>
              <a:rPr lang="en-US" altLang="zh-TW" dirty="0" smtClean="0"/>
              <a:t>Thread need resources like thread ID, </a:t>
            </a:r>
            <a:r>
              <a:rPr lang="en-US" altLang="zh-TW" b="1" dirty="0" smtClean="0">
                <a:solidFill>
                  <a:srgbClr val="FF0000"/>
                </a:solidFill>
              </a:rPr>
              <a:t>program counter</a:t>
            </a:r>
            <a:r>
              <a:rPr lang="en-US" altLang="zh-TW" dirty="0" smtClean="0">
                <a:solidFill>
                  <a:srgbClr val="FF0000"/>
                </a:solidFill>
              </a:rPr>
              <a:t>,</a:t>
            </a:r>
            <a:r>
              <a:rPr lang="en-US" altLang="zh-TW" b="1" dirty="0" smtClean="0">
                <a:solidFill>
                  <a:srgbClr val="FF0000"/>
                </a:solidFill>
              </a:rPr>
              <a:t> register set</a:t>
            </a:r>
            <a:r>
              <a:rPr lang="en-US" altLang="zh-TW" dirty="0" smtClean="0"/>
              <a:t>, </a:t>
            </a:r>
            <a:r>
              <a:rPr lang="en-US" altLang="zh-TW" b="1" dirty="0" smtClean="0"/>
              <a:t>and stack section</a:t>
            </a:r>
          </a:p>
          <a:p>
            <a:pPr lvl="1" eaLnBrk="1" hangingPunct="1"/>
            <a:endParaRPr lang="en-US" altLang="zh-TW" b="1" dirty="0" smtClean="0">
              <a:solidFill>
                <a:srgbClr val="0000FF"/>
              </a:solidFill>
            </a:endParaRPr>
          </a:p>
          <a:p>
            <a:pPr lvl="1" eaLnBrk="1" hangingPunct="1"/>
            <a:r>
              <a:rPr lang="zh-TW" altLang="en-US" b="1" dirty="0" smtClean="0">
                <a:solidFill>
                  <a:srgbClr val="0000FF"/>
                </a:solidFill>
              </a:rPr>
              <a:t>為什麼這些資源不可共享</a:t>
            </a:r>
            <a:r>
              <a:rPr lang="en-US" altLang="zh-TW" b="1" dirty="0" smtClean="0">
                <a:solidFill>
                  <a:srgbClr val="0000FF"/>
                </a:solidFill>
              </a:rPr>
              <a:t>? </a:t>
            </a:r>
            <a:endParaRPr lang="en-US" altLang="zh-TW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35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問題：為什麼同一個</a:t>
            </a:r>
            <a:r>
              <a:rPr lang="en-US" altLang="zh-TW" dirty="0"/>
              <a:t>Process</a:t>
            </a:r>
            <a:r>
              <a:rPr lang="zh-TW" altLang="en-US" dirty="0"/>
              <a:t>下的</a:t>
            </a:r>
            <a:r>
              <a:rPr lang="en-US" altLang="zh-TW" dirty="0"/>
              <a:t>Threads</a:t>
            </a:r>
            <a:r>
              <a:rPr lang="zh-TW" altLang="en-US" dirty="0"/>
              <a:t>不共享</a:t>
            </a:r>
            <a:r>
              <a:rPr lang="en-US" altLang="zh-TW" dirty="0">
                <a:solidFill>
                  <a:srgbClr val="FF0000"/>
                </a:solidFill>
              </a:rPr>
              <a:t>Program Counters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FF0000"/>
                </a:solidFill>
              </a:rPr>
              <a:t>Register </a:t>
            </a:r>
            <a:r>
              <a:rPr lang="en-US" altLang="zh-TW" dirty="0" smtClean="0">
                <a:solidFill>
                  <a:srgbClr val="FF0000"/>
                </a:solidFill>
              </a:rPr>
              <a:t>Set?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  <a:ea typeface="標楷體" panose="03000509000000000000" pitchFamily="65" charset="-120"/>
              <a:cs typeface="+mj-cs"/>
            </a:endParaRPr>
          </a:p>
          <a:p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Hint: program counter</a:t>
            </a:r>
            <a:r>
              <a:rPr lang="zh-TW" alt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也是</a:t>
            </a: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register. </a:t>
            </a:r>
            <a:r>
              <a:rPr lang="zh-TW" alt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所以上述問題就是為什麼同一個</a:t>
            </a: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process</a:t>
            </a:r>
            <a:r>
              <a:rPr lang="zh-TW" alt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內部的</a:t>
            </a: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threads</a:t>
            </a:r>
            <a:r>
              <a:rPr lang="zh-TW" alt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rPr>
              <a:t>不能共享暫存器</a:t>
            </a:r>
            <a:endParaRPr lang="en-US" altLang="zh-TW" sz="2800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  <a:ea typeface="標楷體" panose="03000509000000000000" pitchFamily="65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351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Q: </a:t>
            </a:r>
            <a:r>
              <a:rPr lang="zh-TW" altLang="en-US" dirty="0"/>
              <a:t>我們先問一個問題</a:t>
            </a:r>
            <a:r>
              <a:rPr lang="en-US" altLang="zh-TW" dirty="0"/>
              <a:t>, </a:t>
            </a:r>
            <a:r>
              <a:rPr lang="zh-TW" altLang="en-US" dirty="0"/>
              <a:t>何謂共享暫存器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Hint: </a:t>
            </a:r>
            <a:r>
              <a:rPr lang="zh-TW" altLang="en-US" dirty="0" smtClean="0"/>
              <a:t>事實上</a:t>
            </a:r>
            <a:r>
              <a:rPr lang="en-US" altLang="zh-TW" dirty="0" smtClean="0"/>
              <a:t>,</a:t>
            </a:r>
            <a:r>
              <a:rPr lang="zh-TW" altLang="en-US" dirty="0" smtClean="0"/>
              <a:t>暫存器的本質就是共享的</a:t>
            </a:r>
            <a:endParaRPr lang="en-US" altLang="zh-TW" dirty="0" smtClean="0"/>
          </a:p>
          <a:p>
            <a:r>
              <a:rPr lang="en-US" altLang="zh-TW" dirty="0" smtClean="0"/>
              <a:t>Thread A</a:t>
            </a:r>
            <a:r>
              <a:rPr lang="zh-TW" altLang="en-US" dirty="0" smtClean="0"/>
              <a:t>執行時使用暫存器</a:t>
            </a:r>
            <a:r>
              <a:rPr lang="en-US" altLang="zh-TW" dirty="0" smtClean="0"/>
              <a:t>, context switch, </a:t>
            </a:r>
            <a:r>
              <a:rPr lang="zh-TW" altLang="en-US" dirty="0" smtClean="0"/>
              <a:t>然後</a:t>
            </a:r>
            <a:r>
              <a:rPr lang="en-US" altLang="zh-TW" dirty="0" smtClean="0"/>
              <a:t>thread B</a:t>
            </a:r>
            <a:r>
              <a:rPr lang="zh-TW" altLang="en-US" dirty="0" smtClean="0"/>
              <a:t>執行也使用同樣的暫存器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751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可是直接共享會有什麼問題呢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第三章我們看過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423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>
                <a:solidFill>
                  <a:schemeClr val="tx1"/>
                </a:solidFill>
              </a:rPr>
              <a:t>如果直接共享暫存器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266476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1" dirty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0x30; 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lvl="0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 smtClean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5445224"/>
            <a:ext cx="2260600" cy="995264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4161854"/>
            <a:ext cx="2260600" cy="128337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>
            <a:endCxn id="282630" idx="3"/>
          </p:cNvCxnSpPr>
          <p:nvPr/>
        </p:nvCxnSpPr>
        <p:spPr>
          <a:xfrm flipH="1">
            <a:off x="4437064" y="1988840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 flipV="1">
            <a:off x="4475713" y="2852936"/>
            <a:ext cx="1730446" cy="562147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07494" y="262074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812007" y="2620744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59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25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H="1">
            <a:off x="4475712" y="2336205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箭號 (左彎) 7"/>
          <p:cNvSpPr/>
          <p:nvPr/>
        </p:nvSpPr>
        <p:spPr>
          <a:xfrm flipV="1">
            <a:off x="8673479" y="1916832"/>
            <a:ext cx="731520" cy="172819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" name="乘號 2"/>
          <p:cNvSpPr/>
          <p:nvPr/>
        </p:nvSpPr>
        <p:spPr>
          <a:xfrm>
            <a:off x="3474635" y="2549525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9" name="弧形箭號 (左彎) 18"/>
          <p:cNvSpPr/>
          <p:nvPr/>
        </p:nvSpPr>
        <p:spPr>
          <a:xfrm>
            <a:off x="8687898" y="1972174"/>
            <a:ext cx="731520" cy="183018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2" name="直線單箭頭接點 21"/>
          <p:cNvCxnSpPr/>
          <p:nvPr/>
        </p:nvCxnSpPr>
        <p:spPr>
          <a:xfrm flipH="1" flipV="1">
            <a:off x="4412088" y="3140968"/>
            <a:ext cx="1865243" cy="61216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8544272" y="1340768"/>
            <a:ext cx="130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 1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8544272" y="2751311"/>
            <a:ext cx="130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 2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07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19" grpId="0" animBg="1"/>
      <p:bldP spid="19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問題：怎麼辦呢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654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1628800"/>
            <a:ext cx="10363200" cy="3384376"/>
          </a:xfrm>
        </p:spPr>
        <p:txBody>
          <a:bodyPr/>
          <a:lstStyle/>
          <a:p>
            <a:r>
              <a:rPr lang="en-US" altLang="zh-TW" sz="3200" dirty="0"/>
              <a:t>Answer: </a:t>
            </a:r>
            <a:r>
              <a:rPr lang="zh-TW" altLang="en-US" sz="3200" dirty="0" smtClean="0"/>
              <a:t>目標，我們必須讓</a:t>
            </a:r>
            <a:r>
              <a:rPr lang="en-US" altLang="zh-TW" sz="3200" dirty="0" smtClean="0"/>
              <a:t>threads(</a:t>
            </a:r>
            <a:r>
              <a:rPr lang="zh-TW" altLang="en-US" sz="3200" dirty="0" smtClean="0"/>
              <a:t>邏輯上</a:t>
            </a:r>
            <a:r>
              <a:rPr lang="en-US" altLang="zh-TW" sz="3200" dirty="0" smtClean="0"/>
              <a:t>)</a:t>
            </a:r>
            <a:r>
              <a:rPr lang="zh-TW" altLang="en-US" sz="3200" dirty="0" smtClean="0"/>
              <a:t>不共享暫存器</a:t>
            </a:r>
            <a:r>
              <a:rPr lang="en-US" altLang="zh-TW" sz="3200" dirty="0" smtClean="0"/>
              <a:t>, </a:t>
            </a:r>
            <a:br>
              <a:rPr lang="en-US" altLang="zh-TW" sz="3200" dirty="0" smtClean="0"/>
            </a:br>
            <a:r>
              <a:rPr lang="en-US" altLang="zh-TW" sz="3200" dirty="0"/>
              <a:t/>
            </a:r>
            <a:br>
              <a:rPr lang="en-US" altLang="zh-TW" sz="3200" dirty="0"/>
            </a:br>
            <a:r>
              <a:rPr lang="zh-TW" altLang="en-US" sz="3200" dirty="0" smtClean="0"/>
              <a:t>因此</a:t>
            </a:r>
            <a:r>
              <a:rPr lang="en-US" altLang="zh-TW" sz="3200" dirty="0" smtClean="0"/>
              <a:t>, context </a:t>
            </a:r>
            <a:r>
              <a:rPr lang="en-US" altLang="zh-TW" sz="3200" dirty="0"/>
              <a:t>Switch</a:t>
            </a:r>
            <a:r>
              <a:rPr lang="zh-TW" altLang="en-US" sz="3200" dirty="0"/>
              <a:t>時必須</a:t>
            </a:r>
            <a:r>
              <a:rPr lang="en-US" altLang="zh-TW" sz="3200" dirty="0"/>
              <a:t/>
            </a:r>
            <a:br>
              <a:rPr lang="en-US" altLang="zh-TW" sz="3200" dirty="0"/>
            </a:br>
            <a:r>
              <a:rPr lang="en-US" altLang="zh-TW" sz="3200" dirty="0"/>
              <a:t>(1)</a:t>
            </a:r>
            <a:r>
              <a:rPr lang="zh-TW" altLang="en-US" sz="3200" dirty="0"/>
              <a:t>將目前正在執行</a:t>
            </a:r>
            <a:r>
              <a:rPr lang="en-US" altLang="zh-TW" sz="3200" dirty="0"/>
              <a:t>Thread</a:t>
            </a:r>
            <a:r>
              <a:rPr lang="zh-TW" altLang="en-US" sz="3200" dirty="0" smtClean="0"/>
              <a:t>的</a:t>
            </a:r>
            <a:r>
              <a:rPr lang="en-US" altLang="zh-TW" sz="3200" dirty="0" smtClean="0"/>
              <a:t>CPU</a:t>
            </a:r>
            <a:r>
              <a:rPr lang="zh-TW" altLang="en-US" sz="3200" dirty="0" smtClean="0"/>
              <a:t>暫存器的值儲存</a:t>
            </a:r>
            <a:r>
              <a:rPr lang="zh-TW" altLang="en-US" sz="3200" dirty="0"/>
              <a:t>到</a:t>
            </a:r>
            <a:r>
              <a:rPr lang="en-US" altLang="zh-TW" sz="3200" dirty="0"/>
              <a:t>TCB</a:t>
            </a:r>
            <a:br>
              <a:rPr lang="en-US" altLang="zh-TW" sz="3200" dirty="0"/>
            </a:br>
            <a:r>
              <a:rPr lang="en-US" altLang="zh-TW" sz="3200" dirty="0"/>
              <a:t>(2)</a:t>
            </a:r>
            <a:r>
              <a:rPr lang="zh-TW" altLang="en-US" sz="3200" dirty="0"/>
              <a:t>復原接下來要執行</a:t>
            </a:r>
            <a:r>
              <a:rPr lang="en-US" altLang="zh-TW" sz="3200" dirty="0"/>
              <a:t>Thread</a:t>
            </a:r>
            <a:r>
              <a:rPr lang="zh-TW" altLang="en-US" sz="3200" dirty="0" smtClean="0"/>
              <a:t>的</a:t>
            </a:r>
            <a:r>
              <a:rPr lang="en-US" altLang="zh-TW" sz="3200" dirty="0"/>
              <a:t>CPU</a:t>
            </a:r>
            <a:r>
              <a:rPr lang="zh-TW" altLang="en-US" sz="3200" dirty="0"/>
              <a:t>暫存器的</a:t>
            </a:r>
            <a:r>
              <a:rPr lang="zh-TW" altLang="en-US" sz="3200" dirty="0" smtClean="0"/>
              <a:t>值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4764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5911888" y="1763279"/>
            <a:ext cx="3080388" cy="42315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sz="3600" dirty="0">
                <a:effectLst/>
              </a:rPr>
              <a:t>Context Switches between Threads </a:t>
            </a:r>
            <a:br>
              <a:rPr lang="en-US" altLang="zh-TW" sz="3600" dirty="0">
                <a:effectLst/>
              </a:rPr>
            </a:br>
            <a:r>
              <a:rPr lang="en-US" altLang="zh-TW" sz="3600" dirty="0">
                <a:effectLst/>
              </a:rPr>
              <a:t>- Similar to Context Switch between Processes</a:t>
            </a:r>
            <a:endParaRPr lang="zh-TW" altLang="en-US" sz="3600" dirty="0">
              <a:effectLst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19821" y="4466729"/>
            <a:ext cx="1728192" cy="1536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487488" y="4869161"/>
            <a:ext cx="1403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TCB </a:t>
            </a:r>
          </a:p>
          <a:p>
            <a:pPr algn="ctr"/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(in memory)</a:t>
            </a:r>
            <a:endParaRPr lang="zh-TW" altLang="en-US" sz="18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cxnSp>
        <p:nvCxnSpPr>
          <p:cNvPr id="11" name="直線接點 10"/>
          <p:cNvCxnSpPr/>
          <p:nvPr/>
        </p:nvCxnSpPr>
        <p:spPr>
          <a:xfrm>
            <a:off x="2819821" y="4466729"/>
            <a:ext cx="17281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2812560" y="5229200"/>
            <a:ext cx="17281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2819821" y="6002841"/>
            <a:ext cx="17281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5951984" y="1762938"/>
            <a:ext cx="30243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main()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{</a:t>
            </a:r>
          </a:p>
          <a:p>
            <a:r>
              <a:rPr lang="en-US" altLang="zh-TW" sz="1800">
                <a:solidFill>
                  <a:srgbClr val="000000"/>
                </a:solidFill>
                <a:latin typeface="Calibri" pitchFamily="34" charset="0"/>
              </a:rPr>
              <a:t>    </a:t>
            </a:r>
            <a:endParaRPr lang="en-US" altLang="zh-TW" sz="1800" dirty="0">
              <a:solidFill>
                <a:srgbClr val="000000"/>
              </a:solidFill>
              <a:latin typeface="Calibri" pitchFamily="34" charset="0"/>
            </a:endParaRP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a = a +1;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(..runner());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}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runner()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b = b + 5;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c = b * 10;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}</a:t>
            </a:r>
            <a:endParaRPr lang="zh-TW" altLang="en-US" sz="180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5171009" y="189507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5031836" y="1607688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56" name="直線單箭頭接點 55"/>
          <p:cNvCxnSpPr/>
          <p:nvPr/>
        </p:nvCxnSpPr>
        <p:spPr>
          <a:xfrm>
            <a:off x="5171009" y="2964489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5171009" y="328498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5031836" y="2656362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5031836" y="2986073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341325" y="3296394"/>
            <a:ext cx="1128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rgbClr val="FF0000"/>
                </a:solidFill>
                <a:latin typeface="Calibri" pitchFamily="34" charset="0"/>
              </a:rPr>
              <a:t>Context switch</a:t>
            </a:r>
            <a:endParaRPr lang="zh-TW" altLang="en-US" sz="12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cxnSp>
        <p:nvCxnSpPr>
          <p:cNvPr id="63" name="直線單箭頭接點 62"/>
          <p:cNvCxnSpPr/>
          <p:nvPr/>
        </p:nvCxnSpPr>
        <p:spPr>
          <a:xfrm flipH="1">
            <a:off x="9161672" y="3879061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 flipH="1">
            <a:off x="9223501" y="496528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 flipH="1">
            <a:off x="9223501" y="532279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字方塊 65"/>
          <p:cNvSpPr txBox="1"/>
          <p:nvPr/>
        </p:nvSpPr>
        <p:spPr>
          <a:xfrm>
            <a:off x="9048328" y="3562640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9134151" y="4660680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9143224" y="5018187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9192345" y="5343600"/>
            <a:ext cx="1425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rgbClr val="FF0000"/>
                </a:solidFill>
                <a:latin typeface="Calibri" pitchFamily="34" charset="0"/>
              </a:rPr>
              <a:t>Context switch</a:t>
            </a:r>
          </a:p>
          <a:p>
            <a:r>
              <a:rPr lang="en-US" altLang="zh-TW" sz="1200" b="1" dirty="0">
                <a:solidFill>
                  <a:srgbClr val="FF0000"/>
                </a:solidFill>
                <a:latin typeface="Calibri" pitchFamily="34" charset="0"/>
              </a:rPr>
              <a:t>Change to Thread 1</a:t>
            </a:r>
            <a:endParaRPr lang="zh-TW" altLang="en-US" sz="12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639617" y="1384458"/>
            <a:ext cx="2088599" cy="1271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400" b="1" dirty="0">
              <a:solidFill>
                <a:srgbClr val="FF0000"/>
              </a:solidFill>
              <a:latin typeface="Calibri" pitchFamily="34" charset="0"/>
            </a:endParaRPr>
          </a:p>
          <a:p>
            <a:pPr algn="ctr"/>
            <a:endParaRPr lang="en-US" altLang="zh-TW" sz="2800" b="1" dirty="0">
              <a:solidFill>
                <a:srgbClr val="FF0000"/>
              </a:solidFill>
              <a:latin typeface="Calibri" pitchFamily="34" charset="0"/>
            </a:endParaRPr>
          </a:p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</a:rPr>
              <a:t>CPU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eax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8 ; 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ebx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11;</a:t>
            </a:r>
            <a:endParaRPr lang="zh-TW" altLang="en-US" sz="1800" b="1" dirty="0">
              <a:solidFill>
                <a:srgbClr val="FF0000"/>
              </a:solidFill>
              <a:latin typeface="Calibri" pitchFamily="34" charset="0"/>
            </a:endParaRPr>
          </a:p>
          <a:p>
            <a:pPr algn="ctr"/>
            <a:endParaRPr lang="en-US" altLang="zh-TW" sz="1600" b="1" dirty="0">
              <a:solidFill>
                <a:srgbClr val="FF0000"/>
              </a:solidFill>
              <a:latin typeface="Calibri" pitchFamily="34" charset="0"/>
            </a:endParaRPr>
          </a:p>
          <a:p>
            <a:pPr algn="ctr"/>
            <a:endParaRPr lang="en-US" altLang="zh-TW" sz="24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2817962" y="4716434"/>
            <a:ext cx="1693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b="1" dirty="0" err="1">
                <a:solidFill>
                  <a:srgbClr val="FF0000"/>
                </a:solidFill>
                <a:latin typeface="Calibri" pitchFamily="34" charset="0"/>
              </a:rPr>
              <a:t>eax</a:t>
            </a: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</a:rPr>
              <a:t> = 8 ; </a:t>
            </a:r>
            <a:r>
              <a:rPr lang="en-US" altLang="zh-TW" sz="1600" b="1" dirty="0" err="1">
                <a:solidFill>
                  <a:srgbClr val="FF0000"/>
                </a:solidFill>
                <a:latin typeface="Calibri" pitchFamily="34" charset="0"/>
              </a:rPr>
              <a:t>ebx</a:t>
            </a: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</a:rPr>
              <a:t> = 11;</a:t>
            </a:r>
            <a:endParaRPr lang="zh-TW" altLang="en-US" sz="1600" b="1" dirty="0">
              <a:solidFill>
                <a:srgbClr val="FF0000"/>
              </a:solidFill>
              <a:latin typeface="Calibri" pitchFamily="34" charset="0"/>
            </a:endParaRPr>
          </a:p>
          <a:p>
            <a:endParaRPr lang="zh-TW" altLang="en-US" sz="16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772674" y="5604620"/>
            <a:ext cx="1822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b="1" dirty="0" err="1">
                <a:solidFill>
                  <a:srgbClr val="FF0000"/>
                </a:solidFill>
                <a:latin typeface="Calibri" pitchFamily="34" charset="0"/>
              </a:rPr>
              <a:t>eax</a:t>
            </a: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</a:rPr>
              <a:t> = 3 ; </a:t>
            </a:r>
            <a:r>
              <a:rPr lang="en-US" altLang="zh-TW" sz="1600" b="1" dirty="0" err="1">
                <a:solidFill>
                  <a:srgbClr val="FF0000"/>
                </a:solidFill>
                <a:latin typeface="Calibri" pitchFamily="34" charset="0"/>
              </a:rPr>
              <a:t>ebx</a:t>
            </a: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</a:rPr>
              <a:t> = 19;</a:t>
            </a:r>
            <a:endParaRPr lang="zh-TW" altLang="en-US" sz="1600" b="1" dirty="0">
              <a:solidFill>
                <a:srgbClr val="FF0000"/>
              </a:solidFill>
              <a:latin typeface="Calibri" pitchFamily="34" charset="0"/>
            </a:endParaRPr>
          </a:p>
          <a:p>
            <a:endParaRPr lang="zh-TW" altLang="en-US" sz="160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3" name="直線單箭頭接點 2"/>
          <p:cNvCxnSpPr/>
          <p:nvPr/>
        </p:nvCxnSpPr>
        <p:spPr>
          <a:xfrm>
            <a:off x="3160837" y="2730214"/>
            <a:ext cx="19024" cy="20681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>
            <a:off x="4079776" y="2636619"/>
            <a:ext cx="0" cy="28788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160837" y="1994755"/>
            <a:ext cx="10081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eax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3; 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ebx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19;</a:t>
            </a:r>
            <a:endParaRPr lang="zh-TW" altLang="en-US" sz="18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511824" y="4715852"/>
            <a:ext cx="61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TCB</a:t>
            </a:r>
            <a:r>
              <a:rPr lang="en-US" altLang="zh-TW" sz="1800" b="1" baseline="-25000" dirty="0">
                <a:latin typeface="Calibri" panose="020F0502020204030204" pitchFamily="34" charset="0"/>
              </a:rPr>
              <a:t>1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511824" y="5435932"/>
            <a:ext cx="61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TCB</a:t>
            </a:r>
            <a:r>
              <a:rPr lang="en-US" altLang="zh-TW" sz="1800" b="1" baseline="-25000" dirty="0">
                <a:latin typeface="Calibri" panose="020F0502020204030204" pitchFamily="34" charset="0"/>
              </a:rPr>
              <a:t>2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cxnSp>
        <p:nvCxnSpPr>
          <p:cNvPr id="32" name="直線單箭頭接點 31"/>
          <p:cNvCxnSpPr/>
          <p:nvPr/>
        </p:nvCxnSpPr>
        <p:spPr>
          <a:xfrm flipH="1" flipV="1">
            <a:off x="3424813" y="2656364"/>
            <a:ext cx="6891" cy="2059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160837" y="2012266"/>
            <a:ext cx="10160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eax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8; 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ebx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11;</a:t>
            </a:r>
            <a:endParaRPr lang="zh-TW" altLang="en-US" sz="1800" b="1" dirty="0">
              <a:solidFill>
                <a:srgbClr val="FF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62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61" grpId="0"/>
      <p:bldP spid="61" grpId="1"/>
      <p:bldP spid="62" grpId="0"/>
      <p:bldP spid="47" grpId="0"/>
      <p:bldP spid="66" grpId="0"/>
      <p:bldP spid="66" grpId="1"/>
      <p:bldP spid="68" grpId="0"/>
      <p:bldP spid="68" grpId="1"/>
      <p:bldP spid="69" grpId="0"/>
      <p:bldP spid="70" grpId="0"/>
      <p:bldP spid="55" grpId="0"/>
      <p:bldP spid="75" grpId="0"/>
      <p:bldP spid="34" grpId="0"/>
      <p:bldP spid="34" grpId="1"/>
      <p:bldP spid="3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向右箭號 2"/>
          <p:cNvSpPr/>
          <p:nvPr/>
        </p:nvSpPr>
        <p:spPr>
          <a:xfrm>
            <a:off x="1055440" y="2224288"/>
            <a:ext cx="223224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向右箭號 3"/>
          <p:cNvSpPr/>
          <p:nvPr/>
        </p:nvSpPr>
        <p:spPr>
          <a:xfrm>
            <a:off x="3359696" y="3118001"/>
            <a:ext cx="3979316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向右箭號 4"/>
          <p:cNvSpPr/>
          <p:nvPr/>
        </p:nvSpPr>
        <p:spPr>
          <a:xfrm>
            <a:off x="7339012" y="2306489"/>
            <a:ext cx="401357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487488" y="2594521"/>
            <a:ext cx="1260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altLang="zh-TW" sz="2400" b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hread 1</a:t>
            </a:r>
            <a:endParaRPr lang="zh-TW" altLang="en-US" sz="2400" b="1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832304" y="2636912"/>
            <a:ext cx="1260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altLang="zh-TW" sz="2400" b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hread 1</a:t>
            </a:r>
            <a:endParaRPr lang="zh-TW" altLang="en-US" sz="2400" b="1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151784" y="3501008"/>
            <a:ext cx="1260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altLang="zh-TW" sz="2400" b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hread 2</a:t>
            </a:r>
            <a:endParaRPr lang="zh-TW" altLang="en-US" sz="2400" b="1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124796" y="1484784"/>
            <a:ext cx="1543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err="1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zh-TW" sz="2400" b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8</a:t>
            </a:r>
          </a:p>
          <a:p>
            <a:r>
              <a:rPr lang="en-US" altLang="zh-TW" sz="2400" b="1" dirty="0" err="1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ebx</a:t>
            </a:r>
            <a:r>
              <a:rPr lang="en-US" altLang="zh-TW" sz="2400" b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11,…</a:t>
            </a:r>
            <a:endParaRPr lang="zh-TW" altLang="en-US" sz="2400" b="1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248128" y="1556792"/>
            <a:ext cx="1543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err="1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zh-TW" sz="2400" b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8</a:t>
            </a:r>
          </a:p>
          <a:p>
            <a:r>
              <a:rPr lang="en-US" altLang="zh-TW" sz="2400" b="1" dirty="0" err="1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ebx</a:t>
            </a:r>
            <a:r>
              <a:rPr lang="en-US" altLang="zh-TW" sz="2400" b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11,…</a:t>
            </a:r>
            <a:endParaRPr lang="zh-TW" altLang="en-US" sz="2400" b="1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289061" y="3429000"/>
            <a:ext cx="1543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err="1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eax</a:t>
            </a:r>
            <a:r>
              <a:rPr lang="en-US" altLang="zh-TW" sz="2400" b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3 </a:t>
            </a:r>
          </a:p>
          <a:p>
            <a:r>
              <a:rPr lang="en-US" altLang="zh-TW" sz="2400" b="1" dirty="0" err="1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ebx</a:t>
            </a:r>
            <a:r>
              <a:rPr lang="en-US" altLang="zh-TW" sz="2400" b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19,…</a:t>
            </a:r>
            <a:endParaRPr lang="zh-TW" altLang="en-US" sz="2400" b="1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標題 12"/>
          <p:cNvSpPr>
            <a:spLocks noGrp="1"/>
          </p:cNvSpPr>
          <p:nvPr>
            <p:ph type="ctrTitle"/>
          </p:nvPr>
        </p:nvSpPr>
        <p:spPr>
          <a:xfrm>
            <a:off x="983432" y="4767287"/>
            <a:ext cx="10363200" cy="1470025"/>
          </a:xfrm>
        </p:spPr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 thread</a:t>
            </a:r>
            <a:r>
              <a:rPr lang="zh-TW" altLang="en-US" dirty="0" smtClean="0"/>
              <a:t>就好像有自己專屬的暫存器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517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  <p:bldP spid="9" grpId="0"/>
      <p:bldP spid="10" grpId="0"/>
      <p:bldP spid="11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Thread </a:t>
            </a:r>
            <a:r>
              <a:rPr lang="en-US" altLang="zh-TW" dirty="0"/>
              <a:t>Overview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b="1" dirty="0"/>
              <a:t>不可共享</a:t>
            </a:r>
            <a:endParaRPr lang="en-US" altLang="zh-TW" b="1" dirty="0" smtClean="0"/>
          </a:p>
          <a:p>
            <a:pPr lvl="1" eaLnBrk="1" hangingPunct="1"/>
            <a:r>
              <a:rPr lang="en-US" altLang="zh-TW" dirty="0" smtClean="0"/>
              <a:t>Thread need resources like thread ID, program counter, register set, and</a:t>
            </a:r>
            <a:r>
              <a:rPr lang="en-US" altLang="zh-TW" b="1" dirty="0" smtClean="0"/>
              <a:t> </a:t>
            </a:r>
            <a:r>
              <a:rPr lang="en-US" altLang="zh-TW" b="1" dirty="0" smtClean="0">
                <a:solidFill>
                  <a:srgbClr val="FF0000"/>
                </a:solidFill>
              </a:rPr>
              <a:t>stack section</a:t>
            </a:r>
          </a:p>
          <a:p>
            <a:pPr lvl="1" eaLnBrk="1" hangingPunct="1"/>
            <a:endParaRPr lang="en-US" altLang="zh-TW" b="1" dirty="0" smtClean="0">
              <a:solidFill>
                <a:srgbClr val="0000FF"/>
              </a:solidFill>
            </a:endParaRPr>
          </a:p>
          <a:p>
            <a:pPr lvl="1" eaLnBrk="1" hangingPunct="1"/>
            <a:r>
              <a:rPr lang="zh-TW" altLang="en-US" b="1" dirty="0" smtClean="0">
                <a:solidFill>
                  <a:srgbClr val="0000FF"/>
                </a:solidFill>
              </a:rPr>
              <a:t>為什麼這些資源不可共享</a:t>
            </a:r>
            <a:r>
              <a:rPr lang="en-US" altLang="zh-TW" b="1" dirty="0" smtClean="0">
                <a:solidFill>
                  <a:srgbClr val="0000FF"/>
                </a:solidFill>
              </a:rPr>
              <a:t>? </a:t>
            </a:r>
            <a:endParaRPr lang="en-US" altLang="zh-TW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59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1268760"/>
            <a:ext cx="10363200" cy="3096344"/>
          </a:xfrm>
        </p:spPr>
        <p:txBody>
          <a:bodyPr/>
          <a:lstStyle/>
          <a:p>
            <a:r>
              <a:rPr lang="zh-TW" altLang="en-US" sz="4000" dirty="0"/>
              <a:t>問題</a:t>
            </a:r>
            <a:r>
              <a:rPr lang="zh-TW" altLang="en-US" sz="4000" dirty="0" smtClean="0"/>
              <a:t>：</a:t>
            </a:r>
            <a:r>
              <a:rPr lang="zh-TW" altLang="en-US" sz="3600" dirty="0" smtClean="0"/>
              <a:t>為什麼</a:t>
            </a:r>
            <a:r>
              <a:rPr lang="zh-TW" altLang="en-US" sz="3600" dirty="0"/>
              <a:t>同一個</a:t>
            </a:r>
            <a:r>
              <a:rPr lang="en-US" altLang="zh-TW" sz="3600" dirty="0"/>
              <a:t>Process</a:t>
            </a:r>
            <a:r>
              <a:rPr lang="zh-TW" altLang="en-US" sz="3600" dirty="0"/>
              <a:t>下的</a:t>
            </a:r>
            <a:r>
              <a:rPr lang="en-US" altLang="zh-TW" sz="3600" dirty="0"/>
              <a:t>Threads</a:t>
            </a:r>
            <a:r>
              <a:rPr lang="zh-TW" altLang="en-US" sz="3600" dirty="0"/>
              <a:t>不</a:t>
            </a:r>
            <a:r>
              <a:rPr lang="zh-TW" altLang="en-US" sz="3600" dirty="0" smtClean="0"/>
              <a:t>共享</a:t>
            </a:r>
            <a:r>
              <a:rPr lang="en-US" altLang="zh-TW" sz="3600" dirty="0" smtClean="0">
                <a:solidFill>
                  <a:srgbClr val="FF0000"/>
                </a:solidFill>
              </a:rPr>
              <a:t>stack Section ?</a:t>
            </a:r>
            <a:r>
              <a:rPr lang="en-US" altLang="zh-TW" sz="1800" dirty="0" smtClean="0"/>
              <a:t>(</a:t>
            </a:r>
            <a:r>
              <a:rPr lang="en-US" altLang="zh-TW" sz="1800" dirty="0"/>
              <a:t>see the following slide)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84783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5911888" y="1268760"/>
            <a:ext cx="3080388" cy="5589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1755" y="115888"/>
            <a:ext cx="8726733" cy="1143000"/>
          </a:xfrm>
          <a:noFill/>
        </p:spPr>
        <p:txBody>
          <a:bodyPr/>
          <a:lstStyle/>
          <a:p>
            <a:r>
              <a:rPr lang="en-US" altLang="zh-TW" dirty="0">
                <a:effectLst/>
              </a:rPr>
              <a:t>Why Can’t Share the Same</a:t>
            </a:r>
            <a:r>
              <a:rPr lang="en-US" altLang="zh-TW" dirty="0"/>
              <a:t> </a:t>
            </a:r>
            <a:r>
              <a:rPr lang="en-US" altLang="zh-TW" dirty="0" smtClean="0"/>
              <a:t>Stack?</a:t>
            </a:r>
            <a:endParaRPr lang="zh-TW" altLang="en-US" dirty="0">
              <a:effectLst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898224" y="1515462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5951984" y="1268760"/>
            <a:ext cx="302433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main()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a = a + 1;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function_1(…);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exit(1);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}</a:t>
            </a:r>
          </a:p>
          <a:p>
            <a:endParaRPr lang="en-US" altLang="zh-TW" sz="1800" dirty="0">
              <a:solidFill>
                <a:srgbClr val="000000"/>
              </a:solidFill>
              <a:latin typeface="Calibri" pitchFamily="34" charset="0"/>
            </a:endParaRP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function_1()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b = b - 1;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function_2(…);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return;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}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function_2()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 …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 return;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}</a:t>
            </a:r>
            <a:endParaRPr lang="zh-TW" altLang="en-US" sz="1800" dirty="0">
              <a:solidFill>
                <a:srgbClr val="000000"/>
              </a:solidFill>
              <a:latin typeface="Calibri" pitchFamily="34" charset="0"/>
            </a:endParaRPr>
          </a:p>
          <a:p>
            <a:endParaRPr lang="zh-TW" altLang="en-US" sz="180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5171009" y="148413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5171009" y="2553553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5171009" y="2845473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H="1">
            <a:off x="9161672" y="3879061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 flipH="1">
            <a:off x="9192344" y="443711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231904" y="555533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2423243" y="1972468"/>
            <a:ext cx="1737537" cy="73866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arugment</a:t>
            </a:r>
            <a:endParaRPr lang="en-US" altLang="zh-TW" sz="14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return address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local variables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2423244" y="2650672"/>
            <a:ext cx="1737537" cy="73866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argument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return address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local variables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2423243" y="3389336"/>
            <a:ext cx="1737537" cy="73866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argument</a:t>
            </a:r>
            <a:endParaRPr lang="zh-TW" altLang="en-US" sz="14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return address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local variables</a:t>
            </a:r>
          </a:p>
        </p:txBody>
      </p:sp>
      <p:cxnSp>
        <p:nvCxnSpPr>
          <p:cNvPr id="39" name="直線單箭頭接點 38"/>
          <p:cNvCxnSpPr/>
          <p:nvPr/>
        </p:nvCxnSpPr>
        <p:spPr>
          <a:xfrm>
            <a:off x="1753570" y="2608885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1718881" y="2073706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</a:rPr>
              <a:t>ESP</a:t>
            </a:r>
            <a:endParaRPr lang="zh-TW" altLang="en-US" sz="28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cxnSp>
        <p:nvCxnSpPr>
          <p:cNvPr id="43" name="直線單箭頭接點 42"/>
          <p:cNvCxnSpPr/>
          <p:nvPr/>
        </p:nvCxnSpPr>
        <p:spPr>
          <a:xfrm>
            <a:off x="1761754" y="319572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1718881" y="2655793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</a:rPr>
              <a:t>ESP</a:t>
            </a:r>
            <a:endParaRPr lang="zh-TW" altLang="en-US" sz="28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cxnSp>
        <p:nvCxnSpPr>
          <p:cNvPr id="48" name="直線單箭頭接點 47"/>
          <p:cNvCxnSpPr/>
          <p:nvPr/>
        </p:nvCxnSpPr>
        <p:spPr>
          <a:xfrm>
            <a:off x="1761754" y="373961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1718881" y="3265820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</a:rPr>
              <a:t>ESP</a:t>
            </a:r>
            <a:endParaRPr lang="zh-TW" altLang="en-US" sz="28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cxnSp>
        <p:nvCxnSpPr>
          <p:cNvPr id="50" name="直線單箭頭接點 49"/>
          <p:cNvCxnSpPr/>
          <p:nvPr/>
        </p:nvCxnSpPr>
        <p:spPr>
          <a:xfrm>
            <a:off x="5231904" y="638132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>
            <a:off x="9192344" y="5013176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5231904" y="616530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5159896" y="3146301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83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mph" presetSubtype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68" dur="indefinite"/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9" dur="indefinite"/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0" dur="indefinite"/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7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" presetClass="emph" presetSubtype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147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48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9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53" dur="indefinite"/>
                                        <p:tgtEl>
                                          <p:spTgt spid="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78" dur="indefinite"/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7" grpId="0" animBg="1"/>
      <p:bldP spid="37" grpId="1" animBg="1"/>
      <p:bldP spid="38" grpId="0" animBg="1"/>
      <p:bldP spid="38" grpId="1" animBg="1"/>
      <p:bldP spid="40" grpId="0"/>
      <p:bldP spid="46" grpId="0"/>
      <p:bldP spid="46" grpId="1"/>
      <p:bldP spid="46" grpId="2"/>
      <p:bldP spid="46" grpId="3"/>
      <p:bldP spid="49" grpId="0"/>
      <p:bldP spid="49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從上圖</a:t>
            </a:r>
            <a:r>
              <a:rPr lang="en-US" altLang="zh-TW" dirty="0" smtClean="0"/>
              <a:t>, </a:t>
            </a:r>
            <a:r>
              <a:rPr lang="zh-TW" altLang="en-US" dirty="0" smtClean="0"/>
              <a:t>你知道為何同一個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內的</a:t>
            </a:r>
            <a:r>
              <a:rPr lang="en-US" altLang="zh-TW" dirty="0" smtClean="0"/>
              <a:t>threads</a:t>
            </a:r>
            <a:r>
              <a:rPr lang="zh-TW" altLang="en-US" dirty="0" smtClean="0"/>
              <a:t>不共享</a:t>
            </a:r>
            <a:r>
              <a:rPr lang="en-US" altLang="zh-TW" dirty="0" smtClean="0"/>
              <a:t>stack</a:t>
            </a:r>
            <a:r>
              <a:rPr lang="zh-TW" altLang="en-US" dirty="0" smtClean="0"/>
              <a:t>嗎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931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以下兩張圖顯示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和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的差異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636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>
                <a:latin typeface="Calibri" panose="020F0502020204030204" pitchFamily="34" charset="0"/>
              </a:rPr>
              <a:t>Single and Multithreaded Processes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69" y="1628800"/>
            <a:ext cx="9865096" cy="4608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Create a Process v.s Create a Thread</a:t>
            </a: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3216276" y="1700213"/>
            <a:ext cx="1655763" cy="46085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3287714" y="1125538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>
                <a:latin typeface="Calibri" panose="020F0502020204030204" pitchFamily="34" charset="0"/>
              </a:rPr>
              <a:t>memory</a:t>
            </a:r>
          </a:p>
        </p:txBody>
      </p:sp>
      <p:grpSp>
        <p:nvGrpSpPr>
          <p:cNvPr id="7173" name="Group 27"/>
          <p:cNvGrpSpPr>
            <a:grpSpLocks/>
          </p:cNvGrpSpPr>
          <p:nvPr/>
        </p:nvGrpSpPr>
        <p:grpSpPr bwMode="auto">
          <a:xfrm>
            <a:off x="3216275" y="1989138"/>
            <a:ext cx="1657350" cy="1727200"/>
            <a:chOff x="1066" y="1253"/>
            <a:chExt cx="1044" cy="1088"/>
          </a:xfrm>
        </p:grpSpPr>
        <p:sp>
          <p:nvSpPr>
            <p:cNvPr id="7194" name="Rectangle 7"/>
            <p:cNvSpPr>
              <a:spLocks noChangeArrowheads="1"/>
            </p:cNvSpPr>
            <p:nvPr/>
          </p:nvSpPr>
          <p:spPr bwMode="auto">
            <a:xfrm>
              <a:off x="1066" y="1253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>
                  <a:latin typeface="Calibri" panose="020F0502020204030204" pitchFamily="34" charset="0"/>
                </a:rPr>
                <a:t>code</a:t>
              </a:r>
            </a:p>
          </p:txBody>
        </p:sp>
        <p:sp>
          <p:nvSpPr>
            <p:cNvPr id="7195" name="Rectangle 8"/>
            <p:cNvSpPr>
              <a:spLocks noChangeArrowheads="1"/>
            </p:cNvSpPr>
            <p:nvPr/>
          </p:nvSpPr>
          <p:spPr bwMode="auto">
            <a:xfrm>
              <a:off x="1066" y="1525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7196" name="Rectangle 9"/>
            <p:cNvSpPr>
              <a:spLocks noChangeArrowheads="1"/>
            </p:cNvSpPr>
            <p:nvPr/>
          </p:nvSpPr>
          <p:spPr bwMode="auto">
            <a:xfrm>
              <a:off x="1066" y="1797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 dirty="0">
                  <a:latin typeface="Calibri" panose="020F0502020204030204" pitchFamily="34" charset="0"/>
                </a:rPr>
                <a:t>stack</a:t>
              </a:r>
            </a:p>
          </p:txBody>
        </p:sp>
        <p:sp>
          <p:nvSpPr>
            <p:cNvPr id="7197" name="Rectangle 10"/>
            <p:cNvSpPr>
              <a:spLocks noChangeArrowheads="1"/>
            </p:cNvSpPr>
            <p:nvPr/>
          </p:nvSpPr>
          <p:spPr bwMode="auto">
            <a:xfrm>
              <a:off x="1066" y="2069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 dirty="0">
                  <a:latin typeface="Calibri" panose="020F0502020204030204" pitchFamily="34" charset="0"/>
                </a:rPr>
                <a:t>…</a:t>
              </a:r>
            </a:p>
          </p:txBody>
        </p:sp>
      </p:grpSp>
      <p:sp>
        <p:nvSpPr>
          <p:cNvPr id="308236" name="Text Box 12"/>
          <p:cNvSpPr txBox="1">
            <a:spLocks noChangeArrowheads="1"/>
          </p:cNvSpPr>
          <p:nvPr/>
        </p:nvSpPr>
        <p:spPr bwMode="auto">
          <a:xfrm>
            <a:off x="4511824" y="2565400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>
                <a:solidFill>
                  <a:srgbClr val="3333CC"/>
                </a:solidFill>
                <a:latin typeface="Calibri" panose="020F0502020204030204" pitchFamily="34" charset="0"/>
              </a:rPr>
              <a:t>fork()</a:t>
            </a:r>
          </a:p>
        </p:txBody>
      </p:sp>
      <p:sp>
        <p:nvSpPr>
          <p:cNvPr id="308242" name="Text Box 18"/>
          <p:cNvSpPr txBox="1">
            <a:spLocks noChangeArrowheads="1"/>
          </p:cNvSpPr>
          <p:nvPr/>
        </p:nvSpPr>
        <p:spPr bwMode="auto">
          <a:xfrm>
            <a:off x="1992314" y="4724400"/>
            <a:ext cx="13684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solidFill>
                  <a:srgbClr val="3333FF"/>
                </a:solidFill>
                <a:latin typeface="Calibri" panose="020F0502020204030204" pitchFamily="34" charset="0"/>
              </a:rPr>
              <a:t>New process</a:t>
            </a: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6527800" y="1196975"/>
            <a:ext cx="1657350" cy="5183188"/>
            <a:chOff x="3696" y="709"/>
            <a:chExt cx="1044" cy="3265"/>
          </a:xfrm>
        </p:grpSpPr>
        <p:sp>
          <p:nvSpPr>
            <p:cNvPr id="7187" name="Rectangle 19"/>
            <p:cNvSpPr>
              <a:spLocks noChangeArrowheads="1"/>
            </p:cNvSpPr>
            <p:nvPr/>
          </p:nvSpPr>
          <p:spPr bwMode="auto">
            <a:xfrm>
              <a:off x="3696" y="1071"/>
              <a:ext cx="1043" cy="290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7188" name="Text Box 20"/>
            <p:cNvSpPr txBox="1">
              <a:spLocks noChangeArrowheads="1"/>
            </p:cNvSpPr>
            <p:nvPr/>
          </p:nvSpPr>
          <p:spPr bwMode="auto">
            <a:xfrm>
              <a:off x="3696" y="709"/>
              <a:ext cx="9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2400" b="1">
                  <a:latin typeface="Calibri" panose="020F0502020204030204" pitchFamily="34" charset="0"/>
                </a:rPr>
                <a:t>memory</a:t>
              </a:r>
            </a:p>
          </p:txBody>
        </p:sp>
        <p:grpSp>
          <p:nvGrpSpPr>
            <p:cNvPr id="7189" name="Group 21"/>
            <p:cNvGrpSpPr>
              <a:grpSpLocks/>
            </p:cNvGrpSpPr>
            <p:nvPr/>
          </p:nvGrpSpPr>
          <p:grpSpPr bwMode="auto">
            <a:xfrm>
              <a:off x="3696" y="1298"/>
              <a:ext cx="1044" cy="1088"/>
              <a:chOff x="2290" y="1525"/>
              <a:chExt cx="1044" cy="1088"/>
            </a:xfrm>
          </p:grpSpPr>
          <p:sp>
            <p:nvSpPr>
              <p:cNvPr id="7190" name="Rectangle 22"/>
              <p:cNvSpPr>
                <a:spLocks noChangeArrowheads="1"/>
              </p:cNvSpPr>
              <p:nvPr/>
            </p:nvSpPr>
            <p:spPr bwMode="auto">
              <a:xfrm>
                <a:off x="2290" y="1525"/>
                <a:ext cx="1044" cy="27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TW" sz="2400" b="1">
                    <a:latin typeface="Calibri" panose="020F0502020204030204" pitchFamily="34" charset="0"/>
                  </a:rPr>
                  <a:t>code</a:t>
                </a:r>
              </a:p>
            </p:txBody>
          </p:sp>
          <p:sp>
            <p:nvSpPr>
              <p:cNvPr id="7191" name="Rectangle 23"/>
              <p:cNvSpPr>
                <a:spLocks noChangeArrowheads="1"/>
              </p:cNvSpPr>
              <p:nvPr/>
            </p:nvSpPr>
            <p:spPr bwMode="auto">
              <a:xfrm>
                <a:off x="2290" y="1797"/>
                <a:ext cx="1044" cy="27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TW" sz="2400" b="1">
                    <a:latin typeface="Calibri" panose="020F0502020204030204" pitchFamily="34" charset="0"/>
                  </a:rPr>
                  <a:t>data</a:t>
                </a:r>
              </a:p>
            </p:txBody>
          </p:sp>
          <p:sp>
            <p:nvSpPr>
              <p:cNvPr id="7192" name="Rectangle 24"/>
              <p:cNvSpPr>
                <a:spLocks noChangeArrowheads="1"/>
              </p:cNvSpPr>
              <p:nvPr/>
            </p:nvSpPr>
            <p:spPr bwMode="auto">
              <a:xfrm>
                <a:off x="2290" y="2069"/>
                <a:ext cx="1044" cy="27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TW" sz="2400" b="1" dirty="0">
                    <a:latin typeface="Calibri" panose="020F0502020204030204" pitchFamily="34" charset="0"/>
                  </a:rPr>
                  <a:t>stack</a:t>
                </a:r>
              </a:p>
            </p:txBody>
          </p:sp>
          <p:sp>
            <p:nvSpPr>
              <p:cNvPr id="7193" name="Rectangle 25"/>
              <p:cNvSpPr>
                <a:spLocks noChangeArrowheads="1"/>
              </p:cNvSpPr>
              <p:nvPr/>
            </p:nvSpPr>
            <p:spPr bwMode="auto">
              <a:xfrm>
                <a:off x="2290" y="2341"/>
                <a:ext cx="1044" cy="272"/>
              </a:xfrm>
              <a:prstGeom prst="rect">
                <a:avLst/>
              </a:prstGeom>
              <a:solidFill>
                <a:srgbClr val="CC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TW" sz="2400" b="1" dirty="0">
                    <a:latin typeface="Calibri" panose="020F0502020204030204" pitchFamily="34" charset="0"/>
                  </a:rPr>
                  <a:t>…</a:t>
                </a:r>
              </a:p>
            </p:txBody>
          </p:sp>
        </p:grpSp>
      </p:grp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3216275" y="4292600"/>
            <a:ext cx="1657350" cy="1727200"/>
            <a:chOff x="2290" y="1525"/>
            <a:chExt cx="1044" cy="1088"/>
          </a:xfrm>
        </p:grpSpPr>
        <p:sp>
          <p:nvSpPr>
            <p:cNvPr id="7183" name="Rectangle 42"/>
            <p:cNvSpPr>
              <a:spLocks noChangeArrowheads="1"/>
            </p:cNvSpPr>
            <p:nvPr/>
          </p:nvSpPr>
          <p:spPr bwMode="auto">
            <a:xfrm>
              <a:off x="2290" y="1525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>
                  <a:latin typeface="Calibri" panose="020F0502020204030204" pitchFamily="34" charset="0"/>
                </a:rPr>
                <a:t>code</a:t>
              </a:r>
            </a:p>
          </p:txBody>
        </p:sp>
        <p:sp>
          <p:nvSpPr>
            <p:cNvPr id="7184" name="Rectangle 43"/>
            <p:cNvSpPr>
              <a:spLocks noChangeArrowheads="1"/>
            </p:cNvSpPr>
            <p:nvPr/>
          </p:nvSpPr>
          <p:spPr bwMode="auto">
            <a:xfrm>
              <a:off x="2290" y="1797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7185" name="Rectangle 44"/>
            <p:cNvSpPr>
              <a:spLocks noChangeArrowheads="1"/>
            </p:cNvSpPr>
            <p:nvPr/>
          </p:nvSpPr>
          <p:spPr bwMode="auto">
            <a:xfrm>
              <a:off x="2290" y="2069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>
                  <a:latin typeface="Calibri" panose="020F0502020204030204" pitchFamily="34" charset="0"/>
                </a:rPr>
                <a:t>stack</a:t>
              </a:r>
            </a:p>
          </p:txBody>
        </p:sp>
        <p:sp>
          <p:nvSpPr>
            <p:cNvPr id="7186" name="Rectangle 45"/>
            <p:cNvSpPr>
              <a:spLocks noChangeArrowheads="1"/>
            </p:cNvSpPr>
            <p:nvPr/>
          </p:nvSpPr>
          <p:spPr bwMode="auto">
            <a:xfrm>
              <a:off x="2290" y="2341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 dirty="0">
                  <a:latin typeface="Calibri" panose="020F0502020204030204" pitchFamily="34" charset="0"/>
                </a:rPr>
                <a:t>…</a:t>
              </a:r>
            </a:p>
          </p:txBody>
        </p:sp>
      </p:grpSp>
      <p:sp>
        <p:nvSpPr>
          <p:cNvPr id="308270" name="Text Box 46"/>
          <p:cNvSpPr txBox="1">
            <a:spLocks noChangeArrowheads="1"/>
          </p:cNvSpPr>
          <p:nvPr/>
        </p:nvSpPr>
        <p:spPr bwMode="auto">
          <a:xfrm>
            <a:off x="8256240" y="2650270"/>
            <a:ext cx="21796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 err="1">
                <a:solidFill>
                  <a:srgbClr val="3333FF"/>
                </a:solidFill>
                <a:latin typeface="Calibri" panose="020F0502020204030204" pitchFamily="34" charset="0"/>
              </a:rPr>
              <a:t>thread_create</a:t>
            </a:r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()</a:t>
            </a:r>
          </a:p>
        </p:txBody>
      </p:sp>
      <p:grpSp>
        <p:nvGrpSpPr>
          <p:cNvPr id="6" name="Group 53"/>
          <p:cNvGrpSpPr>
            <a:grpSpLocks/>
          </p:cNvGrpSpPr>
          <p:nvPr/>
        </p:nvGrpSpPr>
        <p:grpSpPr bwMode="auto">
          <a:xfrm>
            <a:off x="6527800" y="3860800"/>
            <a:ext cx="1657350" cy="863600"/>
            <a:chOff x="3152" y="2704"/>
            <a:chExt cx="1044" cy="544"/>
          </a:xfrm>
        </p:grpSpPr>
        <p:sp>
          <p:nvSpPr>
            <p:cNvPr id="7181" name="Rectangle 50"/>
            <p:cNvSpPr>
              <a:spLocks noChangeArrowheads="1"/>
            </p:cNvSpPr>
            <p:nvPr/>
          </p:nvSpPr>
          <p:spPr bwMode="auto">
            <a:xfrm>
              <a:off x="3152" y="2704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 dirty="0">
                  <a:latin typeface="Calibri" panose="020F0502020204030204" pitchFamily="34" charset="0"/>
                </a:rPr>
                <a:t>stack</a:t>
              </a:r>
            </a:p>
          </p:txBody>
        </p:sp>
        <p:sp>
          <p:nvSpPr>
            <p:cNvPr id="7182" name="Rectangle 51"/>
            <p:cNvSpPr>
              <a:spLocks noChangeArrowheads="1"/>
            </p:cNvSpPr>
            <p:nvPr/>
          </p:nvSpPr>
          <p:spPr bwMode="auto">
            <a:xfrm>
              <a:off x="3152" y="2976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b="1" dirty="0">
                  <a:latin typeface="Calibri" panose="020F0502020204030204" pitchFamily="34" charset="0"/>
                </a:rPr>
                <a:t>…</a:t>
              </a:r>
            </a:p>
          </p:txBody>
        </p:sp>
      </p:grpSp>
      <p:sp>
        <p:nvSpPr>
          <p:cNvPr id="308276" name="Text Box 52"/>
          <p:cNvSpPr txBox="1">
            <a:spLocks noChangeArrowheads="1"/>
          </p:cNvSpPr>
          <p:nvPr/>
        </p:nvSpPr>
        <p:spPr bwMode="auto">
          <a:xfrm>
            <a:off x="8183563" y="4004469"/>
            <a:ext cx="13684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 dirty="0">
                <a:solidFill>
                  <a:srgbClr val="3333FF"/>
                </a:solidFill>
                <a:latin typeface="Calibri" panose="020F0502020204030204" pitchFamily="34" charset="0"/>
              </a:rPr>
              <a:t>New thread</a:t>
            </a:r>
          </a:p>
        </p:txBody>
      </p:sp>
      <p:sp>
        <p:nvSpPr>
          <p:cNvPr id="30" name="流程圖: 程序 29"/>
          <p:cNvSpPr/>
          <p:nvPr/>
        </p:nvSpPr>
        <p:spPr>
          <a:xfrm>
            <a:off x="6466768" y="2103080"/>
            <a:ext cx="1776769" cy="2691638"/>
          </a:xfrm>
          <a:prstGeom prst="flowChartProcess">
            <a:avLst/>
          </a:prstGeom>
          <a:noFill/>
          <a:ln w="38100">
            <a:solidFill>
              <a:srgbClr val="0066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圓角矩形圖說文字 30"/>
          <p:cNvSpPr/>
          <p:nvPr/>
        </p:nvSpPr>
        <p:spPr>
          <a:xfrm>
            <a:off x="8616280" y="1700212"/>
            <a:ext cx="1512168" cy="402867"/>
          </a:xfrm>
          <a:prstGeom prst="wedgeRoundRectCallout">
            <a:avLst>
              <a:gd name="adj1" fmla="val -76169"/>
              <a:gd name="adj2" fmla="val 68016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one process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96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0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0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36" grpId="0"/>
      <p:bldP spid="308242" grpId="0"/>
      <p:bldP spid="308270" grpId="0"/>
      <p:bldP spid="308276" grpId="0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但是</a:t>
            </a:r>
            <a:r>
              <a:rPr lang="en-US" altLang="zh-TW" dirty="0" smtClean="0"/>
              <a:t>, </a:t>
            </a:r>
            <a:r>
              <a:rPr lang="zh-TW" altLang="en-US" dirty="0" smtClean="0"/>
              <a:t>共享</a:t>
            </a:r>
            <a:r>
              <a:rPr lang="en-US" altLang="zh-TW" dirty="0" smtClean="0"/>
              <a:t>data section</a:t>
            </a:r>
            <a:r>
              <a:rPr lang="zh-TW" altLang="en-US" dirty="0" smtClean="0"/>
              <a:t>有時候會出問題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第六章會介紹</a:t>
            </a:r>
          </a:p>
        </p:txBody>
      </p:sp>
    </p:spTree>
    <p:extLst>
      <p:ext uri="{BB962C8B-B14F-4D97-AF65-F5344CB8AC3E}">
        <p14:creationId xmlns:p14="http://schemas.microsoft.com/office/powerpoint/2010/main" val="36272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結論</a:t>
            </a:r>
            <a:r>
              <a:rPr lang="en-US" altLang="zh-TW" dirty="0" smtClean="0"/>
              <a:t>, thread</a:t>
            </a:r>
            <a:r>
              <a:rPr lang="zh-TW" altLang="en-US" dirty="0" smtClean="0"/>
              <a:t>有那些優點呢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16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Benefits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sz="2800" b="1" dirty="0"/>
              <a:t>Responsiveness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If one thread is </a:t>
            </a:r>
            <a:r>
              <a:rPr lang="en-US" altLang="zh-TW" sz="2400" dirty="0" smtClean="0"/>
              <a:t>blocked, </a:t>
            </a:r>
            <a:r>
              <a:rPr lang="en-US" altLang="zh-TW" sz="2400" dirty="0"/>
              <a:t>other threads can continue running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sz="2800" b="1" dirty="0"/>
              <a:t>Resource Sharing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Threads share the memory (code and data) and resources of the process to which they belong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sz="2800" b="1" dirty="0"/>
              <a:t>Economy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i="1" dirty="0">
                <a:solidFill>
                  <a:srgbClr val="FF3300"/>
                </a:solidFill>
              </a:rPr>
              <a:t>Create</a:t>
            </a:r>
            <a:r>
              <a:rPr lang="en-US" altLang="zh-TW" sz="2400" b="1" dirty="0"/>
              <a:t> </a:t>
            </a:r>
            <a:r>
              <a:rPr lang="en-US" altLang="zh-TW" sz="2400" dirty="0"/>
              <a:t>and </a:t>
            </a:r>
            <a:r>
              <a:rPr lang="en-US" altLang="zh-TW" sz="2400" i="1" dirty="0">
                <a:solidFill>
                  <a:srgbClr val="FF3300"/>
                </a:solidFill>
              </a:rPr>
              <a:t>context-switch</a:t>
            </a:r>
            <a:r>
              <a:rPr lang="en-US" altLang="zh-TW" sz="2400" dirty="0"/>
              <a:t> thread is much quickly than processes</a:t>
            </a:r>
            <a:endParaRPr lang="en-US" altLang="zh-TW" b="1" dirty="0"/>
          </a:p>
          <a:p>
            <a:pPr eaLnBrk="1" hangingPunct="1">
              <a:spcBef>
                <a:spcPts val="600"/>
              </a:spcBef>
            </a:pPr>
            <a:r>
              <a:rPr lang="en-US" altLang="zh-TW" sz="2800" b="1" dirty="0"/>
              <a:t>Scalability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Multithreading on a multi-CPU machine increases concurrency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Each thread may be running in parallel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946400" y="165100"/>
            <a:ext cx="3100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endParaRPr lang="zh-TW" altLang="zh-TW" sz="3200" b="1">
              <a:solidFill>
                <a:schemeClr val="tx2"/>
              </a:solidFill>
              <a:latin typeface="Helvetic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現在許多應用程式都是</a:t>
            </a:r>
            <a:r>
              <a:rPr lang="en-US" altLang="zh-TW" dirty="0" smtClean="0"/>
              <a:t>multi-threading~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069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Examples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10972800" cy="492514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TW" sz="2800" dirty="0" smtClean="0"/>
              <a:t>Example 1: File </a:t>
            </a:r>
            <a:r>
              <a:rPr lang="en-US" altLang="zh-TW" sz="2800" dirty="0"/>
              <a:t>servers or web </a:t>
            </a:r>
            <a:r>
              <a:rPr lang="en-US" altLang="zh-TW" sz="2800" dirty="0" smtClean="0"/>
              <a:t>servers: </a:t>
            </a:r>
            <a:r>
              <a:rPr lang="en-US" altLang="zh-TW" sz="2800" dirty="0"/>
              <a:t>needs to handle several requests over a short </a:t>
            </a:r>
            <a:r>
              <a:rPr lang="en-US" altLang="zh-TW" sz="2800" dirty="0" smtClean="0"/>
              <a:t>period. </a:t>
            </a:r>
            <a:r>
              <a:rPr lang="zh-TW" altLang="en-US" sz="2800" dirty="0" smtClean="0"/>
              <a:t>怎麼辦呢</a:t>
            </a:r>
            <a:r>
              <a:rPr lang="en-US" altLang="zh-TW" sz="2800" dirty="0" smtClean="0"/>
              <a:t>?</a:t>
            </a:r>
            <a:endParaRPr lang="en-US" altLang="zh-TW" sz="2800" dirty="0"/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TW" sz="2600" dirty="0" smtClean="0"/>
              <a:t>1</a:t>
            </a:r>
            <a:r>
              <a:rPr lang="en-US" altLang="zh-TW" sz="2600" dirty="0"/>
              <a:t>. Process sequentially: bad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TW" sz="2600" dirty="0"/>
              <a:t>2. Create a single process for each request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TW" sz="2200" dirty="0"/>
              <a:t>Process creation is </a:t>
            </a:r>
            <a:r>
              <a:rPr lang="en-US" altLang="zh-TW" sz="2200" i="1" dirty="0">
                <a:solidFill>
                  <a:srgbClr val="FF3300"/>
                </a:solidFill>
              </a:rPr>
              <a:t>time consuming</a:t>
            </a:r>
            <a:r>
              <a:rPr lang="en-US" altLang="zh-TW" sz="2200" dirty="0"/>
              <a:t> and </a:t>
            </a:r>
            <a:r>
              <a:rPr lang="en-US" altLang="zh-TW" sz="2200" i="1" dirty="0">
                <a:solidFill>
                  <a:srgbClr val="FF3300"/>
                </a:solidFill>
              </a:rPr>
              <a:t>resource intensive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TW" sz="2600" dirty="0"/>
              <a:t>3. Create a single thread for each </a:t>
            </a:r>
            <a:r>
              <a:rPr lang="en-US" altLang="zh-TW" sz="2600" dirty="0" smtClean="0"/>
              <a:t>request:</a:t>
            </a:r>
            <a:r>
              <a:rPr lang="zh-TW" altLang="en-US" sz="2600" dirty="0" smtClean="0"/>
              <a:t> </a:t>
            </a:r>
            <a:r>
              <a:rPr lang="en-US" altLang="zh-TW" sz="2600" dirty="0" smtClean="0"/>
              <a:t>m</a:t>
            </a:r>
            <a:r>
              <a:rPr lang="en-US" altLang="zh-TW" sz="2200" dirty="0" smtClean="0"/>
              <a:t>ore </a:t>
            </a:r>
            <a:r>
              <a:rPr lang="en-US" altLang="zh-TW" sz="2200" dirty="0"/>
              <a:t>efficient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TW" sz="2800" dirty="0" smtClean="0"/>
              <a:t>Example 2: Matrix </a:t>
            </a:r>
            <a:r>
              <a:rPr lang="en-US" altLang="zh-TW" sz="2800" dirty="0"/>
              <a:t>multiplication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TW" sz="2800" dirty="0" smtClean="0"/>
              <a:t>Example 3: Web </a:t>
            </a:r>
            <a:r>
              <a:rPr lang="en-US" altLang="zh-TW" sz="2800" dirty="0"/>
              <a:t>browser: 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TW" sz="2400" dirty="0"/>
              <a:t>One thread: display images or text, one thread: retrieve data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TW" sz="2800" dirty="0" smtClean="0"/>
              <a:t>……</a:t>
            </a:r>
            <a:endParaRPr lang="en-US" altLang="zh-TW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Example </a:t>
            </a:r>
            <a:r>
              <a:rPr lang="en-US" altLang="zh-TW" sz="4000" dirty="0" smtClean="0"/>
              <a:t>1: </a:t>
            </a:r>
            <a:r>
              <a:rPr lang="en-US" altLang="zh-TW" sz="4000" dirty="0"/>
              <a:t>File </a:t>
            </a:r>
            <a:r>
              <a:rPr lang="en-US" altLang="zh-TW" sz="4000" dirty="0" smtClean="0"/>
              <a:t>Server: Multi-Process </a:t>
            </a:r>
            <a:r>
              <a:rPr lang="en-US" altLang="zh-TW" sz="4000" dirty="0"/>
              <a:t>I/O </a:t>
            </a:r>
            <a:r>
              <a:rPr lang="en-US" altLang="zh-TW" sz="4000" dirty="0" smtClean="0"/>
              <a:t>Model</a:t>
            </a:r>
            <a:endParaRPr lang="zh-TW" altLang="en-US" sz="4000" dirty="0"/>
          </a:p>
        </p:txBody>
      </p:sp>
      <p:grpSp>
        <p:nvGrpSpPr>
          <p:cNvPr id="4" name="群組 3"/>
          <p:cNvGrpSpPr/>
          <p:nvPr/>
        </p:nvGrpSpPr>
        <p:grpSpPr>
          <a:xfrm>
            <a:off x="1773195" y="1412776"/>
            <a:ext cx="8787301" cy="4474368"/>
            <a:chOff x="179512" y="1052736"/>
            <a:chExt cx="8787301" cy="4474368"/>
          </a:xfrm>
        </p:grpSpPr>
        <p:pic>
          <p:nvPicPr>
            <p:cNvPr id="5" name="Picture 2" descr="https://www.rubyraptor.org/img/multi-process-io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313" y="1052736"/>
              <a:ext cx="8498500" cy="4474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圓角矩形 5"/>
            <p:cNvSpPr/>
            <p:nvPr/>
          </p:nvSpPr>
          <p:spPr>
            <a:xfrm>
              <a:off x="5436096" y="3356992"/>
              <a:ext cx="2880320" cy="5760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3851920" y="3609020"/>
              <a:ext cx="1941641" cy="648072"/>
            </a:xfrm>
            <a:prstGeom prst="roundRect">
              <a:avLst/>
            </a:prstGeom>
            <a:solidFill>
              <a:srgbClr val="99FF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Dispatcher process</a:t>
              </a:r>
              <a:endParaRPr lang="zh-TW" altLang="en-US" sz="18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" name="圓角矩形圖說文字 7"/>
            <p:cNvSpPr/>
            <p:nvPr/>
          </p:nvSpPr>
          <p:spPr>
            <a:xfrm>
              <a:off x="179512" y="3429000"/>
              <a:ext cx="3384376" cy="1512168"/>
            </a:xfrm>
            <a:prstGeom prst="wedgeRoundRectCallout">
              <a:avLst>
                <a:gd name="adj1" fmla="val 58598"/>
                <a:gd name="adj2" fmla="val -11145"/>
                <a:gd name="adj3" fmla="val 16667"/>
              </a:avLst>
            </a:prstGeom>
            <a:solidFill>
              <a:srgbClr val="CCEC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1. Receive requests</a:t>
              </a:r>
            </a:p>
            <a:p>
              <a:pPr algn="ctr"/>
              <a:r>
                <a:rPr lang="en-US" altLang="zh-TW" sz="24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2. create a </a:t>
              </a:r>
              <a:r>
                <a:rPr lang="en-US" altLang="zh-TW" sz="2400" b="1" dirty="0">
                  <a:solidFill>
                    <a:srgbClr val="0066FF"/>
                  </a:solidFill>
                  <a:latin typeface="Calibri" panose="020F0502020204030204" pitchFamily="34" charset="0"/>
                </a:rPr>
                <a:t>process</a:t>
              </a:r>
              <a:r>
                <a:rPr lang="en-US" altLang="zh-TW" sz="24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 to service the request</a:t>
              </a:r>
              <a:endParaRPr lang="zh-TW" altLang="en-US" sz="24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9" name="文字方塊 8"/>
          <p:cNvSpPr txBox="1"/>
          <p:nvPr/>
        </p:nvSpPr>
        <p:spPr>
          <a:xfrm>
            <a:off x="1415480" y="5877272"/>
            <a:ext cx="9864327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2000" b="1" dirty="0"/>
              <a:t>Multi-process I/O model. Each process handles 1 client at a time. </a:t>
            </a:r>
          </a:p>
          <a:p>
            <a:pPr algn="ctr">
              <a:lnSpc>
                <a:spcPct val="150000"/>
              </a:lnSpc>
            </a:pPr>
            <a:endParaRPr lang="zh-TW" altLang="en-US" sz="2000" b="1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777749" y="6550224"/>
            <a:ext cx="9438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https://www.rubyraptor.org/how-we-made-raptor-up-to-4x-faster-than-unicorn-and-up-to-2x-faster-than-puma-torquebox/</a:t>
            </a:r>
            <a:endParaRPr lang="zh-TW" altLang="en-US" sz="1400" b="1" i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6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Example 1: File Server: </a:t>
            </a:r>
            <a:r>
              <a:rPr lang="en-US" altLang="zh-TW" sz="4000" dirty="0" smtClean="0"/>
              <a:t>Multi-Thread </a:t>
            </a:r>
            <a:r>
              <a:rPr lang="en-US" altLang="zh-TW" sz="4000" dirty="0"/>
              <a:t>I/O Model</a:t>
            </a:r>
            <a:endParaRPr lang="zh-TW" altLang="en-US" sz="4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631504" y="5734997"/>
            <a:ext cx="939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2400" b="1" dirty="0">
                <a:solidFill>
                  <a:srgbClr val="FF0000"/>
                </a:solidFill>
              </a:rPr>
              <a:t>Multi-thread I/O model. Each thread handles 1 client at a time. 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2849757" y="6550224"/>
            <a:ext cx="9438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https://www.rubyraptor.org/how-we-made-raptor-up-to-4x-faster-than-unicorn-and-up-to-2x-faster-than-puma-torquebox/</a:t>
            </a:r>
            <a:endParaRPr lang="zh-TW" altLang="en-US" sz="1400" b="1" i="1" dirty="0">
              <a:latin typeface="Calibri" panose="020F0502020204030204" pitchFamily="34" charset="0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2031870" y="1129896"/>
            <a:ext cx="8498500" cy="4474368"/>
            <a:chOff x="186359" y="1484784"/>
            <a:chExt cx="8498500" cy="4474368"/>
          </a:xfrm>
        </p:grpSpPr>
        <p:pic>
          <p:nvPicPr>
            <p:cNvPr id="5" name="Picture 2" descr="https://www.rubyraptor.org/img/multi-process-io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359" y="1484784"/>
              <a:ext cx="8498500" cy="4474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圓角矩形 5"/>
            <p:cNvSpPr/>
            <p:nvPr/>
          </p:nvSpPr>
          <p:spPr>
            <a:xfrm>
              <a:off x="683568" y="2348880"/>
              <a:ext cx="864096" cy="288032"/>
            </a:xfrm>
            <a:prstGeom prst="roundRect">
              <a:avLst/>
            </a:prstGeom>
            <a:solidFill>
              <a:srgbClr val="99FF66"/>
            </a:solidFill>
            <a:ln>
              <a:solidFill>
                <a:srgbClr val="99FF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thread</a:t>
              </a:r>
              <a:endParaRPr lang="zh-TW" altLang="en-US" sz="18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2843808" y="2348880"/>
              <a:ext cx="864096" cy="288032"/>
            </a:xfrm>
            <a:prstGeom prst="roundRect">
              <a:avLst/>
            </a:prstGeom>
            <a:solidFill>
              <a:srgbClr val="99FF66"/>
            </a:solidFill>
            <a:ln>
              <a:solidFill>
                <a:srgbClr val="99FF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thread</a:t>
              </a:r>
              <a:endParaRPr lang="zh-TW" altLang="en-US" sz="18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4900237" y="2354215"/>
              <a:ext cx="864096" cy="288032"/>
            </a:xfrm>
            <a:prstGeom prst="roundRect">
              <a:avLst/>
            </a:prstGeom>
            <a:solidFill>
              <a:srgbClr val="99FF66"/>
            </a:solidFill>
            <a:ln>
              <a:solidFill>
                <a:srgbClr val="99FF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thread</a:t>
              </a:r>
              <a:endParaRPr lang="zh-TW" altLang="en-US" sz="18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7074309" y="2348880"/>
              <a:ext cx="864096" cy="288032"/>
            </a:xfrm>
            <a:prstGeom prst="roundRect">
              <a:avLst/>
            </a:prstGeom>
            <a:solidFill>
              <a:srgbClr val="99FF66"/>
            </a:solidFill>
            <a:ln>
              <a:solidFill>
                <a:srgbClr val="99FF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thread</a:t>
              </a:r>
              <a:endParaRPr lang="zh-TW" altLang="en-US" sz="18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5" name="圓角矩形 14"/>
          <p:cNvSpPr/>
          <p:nvPr/>
        </p:nvSpPr>
        <p:spPr>
          <a:xfrm>
            <a:off x="6988013" y="3391192"/>
            <a:ext cx="2880320" cy="5760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圓角矩形 2"/>
          <p:cNvSpPr/>
          <p:nvPr/>
        </p:nvSpPr>
        <p:spPr>
          <a:xfrm>
            <a:off x="5553416" y="3611305"/>
            <a:ext cx="1622705" cy="711903"/>
          </a:xfrm>
          <a:prstGeom prst="roundRect">
            <a:avLst/>
          </a:prstGeom>
          <a:solidFill>
            <a:srgbClr val="99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Dispatcher thread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圓角矩形圖說文字 15"/>
          <p:cNvSpPr/>
          <p:nvPr/>
        </p:nvSpPr>
        <p:spPr>
          <a:xfrm>
            <a:off x="1703512" y="3429000"/>
            <a:ext cx="3384376" cy="1512168"/>
          </a:xfrm>
          <a:prstGeom prst="wedgeRoundRectCallout">
            <a:avLst>
              <a:gd name="adj1" fmla="val 58598"/>
              <a:gd name="adj2" fmla="val -11145"/>
              <a:gd name="adj3" fmla="val 16667"/>
            </a:avLst>
          </a:prstGeom>
          <a:solidFill>
            <a:srgbClr val="CCE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1. Receive requests</a:t>
            </a:r>
          </a:p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2. create a </a:t>
            </a:r>
            <a:r>
              <a:rPr lang="en-US" altLang="zh-TW" sz="2400" b="1" dirty="0">
                <a:solidFill>
                  <a:srgbClr val="0066FF"/>
                </a:solidFill>
                <a:latin typeface="Calibri" panose="020F0502020204030204" pitchFamily="34" charset="0"/>
              </a:rPr>
              <a:t>thread</a:t>
            </a:r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to service the request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11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/>
              <a:t>Solution 2: Multiple </a:t>
            </a:r>
            <a:r>
              <a:rPr lang="en-US" altLang="zh-TW" sz="4000" dirty="0">
                <a:solidFill>
                  <a:srgbClr val="FF0000"/>
                </a:solidFill>
              </a:rPr>
              <a:t>Threads</a:t>
            </a:r>
            <a:r>
              <a:rPr lang="en-US" altLang="zh-TW" sz="4000" dirty="0"/>
              <a:t> Solution</a:t>
            </a:r>
            <a:endParaRPr lang="zh-TW" altLang="en-US" sz="4000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791745" y="2060848"/>
            <a:ext cx="1655763" cy="40324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dirty="0">
              <a:latin typeface="Calibri" panose="020F0502020204030204" pitchFamily="34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914985" y="1628800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>
                <a:latin typeface="Calibri" panose="020F0502020204030204" pitchFamily="34" charset="0"/>
              </a:rPr>
              <a:t>memory</a:t>
            </a: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3791744" y="2349773"/>
            <a:ext cx="1657350" cy="1295400"/>
            <a:chOff x="1066" y="1253"/>
            <a:chExt cx="1044" cy="816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066" y="1253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code</a:t>
              </a: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1066" y="1525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 dirty="0">
                  <a:latin typeface="Calibri" panose="020F0502020204030204" pitchFamily="34" charset="0"/>
                </a:rPr>
                <a:t>data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066" y="1797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b="1">
                  <a:latin typeface="Calibri" panose="020F0502020204030204" pitchFamily="34" charset="0"/>
                </a:rPr>
                <a:t>stack</a:t>
              </a:r>
              <a:endParaRPr lang="en-US" altLang="zh-TW" sz="2000" b="1" dirty="0">
                <a:latin typeface="Calibri" panose="020F0502020204030204" pitchFamily="34" charset="0"/>
              </a:endParaRPr>
            </a:p>
          </p:txBody>
        </p:sp>
      </p:grpSp>
      <p:sp>
        <p:nvSpPr>
          <p:cNvPr id="9" name="流程圖: 替代處理程序 1"/>
          <p:cNvSpPr/>
          <p:nvPr/>
        </p:nvSpPr>
        <p:spPr>
          <a:xfrm>
            <a:off x="1991544" y="2636341"/>
            <a:ext cx="986408" cy="612648"/>
          </a:xfrm>
          <a:prstGeom prst="flowChartAlternateProcess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1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流程圖: 替代處理程序 30"/>
          <p:cNvSpPr/>
          <p:nvPr/>
        </p:nvSpPr>
        <p:spPr>
          <a:xfrm>
            <a:off x="1991544" y="3609035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2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流程圖: 替代處理程序 31"/>
          <p:cNvSpPr/>
          <p:nvPr/>
        </p:nvSpPr>
        <p:spPr>
          <a:xfrm>
            <a:off x="1991544" y="4545139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3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流程圖: 替代處理程序 32"/>
          <p:cNvSpPr/>
          <p:nvPr/>
        </p:nvSpPr>
        <p:spPr>
          <a:xfrm>
            <a:off x="1991544" y="5553251"/>
            <a:ext cx="986408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3333FF"/>
                </a:solidFill>
                <a:latin typeface="Calibri" panose="020F0502020204030204" pitchFamily="34" charset="0"/>
              </a:rPr>
              <a:t>Core 4</a:t>
            </a:r>
            <a:endParaRPr lang="zh-TW" altLang="en-US" sz="20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cxnSp>
        <p:nvCxnSpPr>
          <p:cNvPr id="13" name="直線單箭頭接點 12"/>
          <p:cNvCxnSpPr>
            <a:stCxn id="9" idx="3"/>
            <a:endCxn id="6" idx="1"/>
          </p:cNvCxnSpPr>
          <p:nvPr/>
        </p:nvCxnSpPr>
        <p:spPr>
          <a:xfrm flipV="1">
            <a:off x="2977952" y="2565673"/>
            <a:ext cx="813792" cy="376992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流程圖: 替代處理程序 9"/>
          <p:cNvSpPr/>
          <p:nvPr/>
        </p:nvSpPr>
        <p:spPr>
          <a:xfrm>
            <a:off x="6847092" y="1732142"/>
            <a:ext cx="3096344" cy="100746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</a:rPr>
              <a:t>Assume </a:t>
            </a:r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four</a:t>
            </a:r>
            <a:r>
              <a:rPr lang="en-US" altLang="zh-TW" sz="2400" dirty="0">
                <a:solidFill>
                  <a:srgbClr val="3333FF"/>
                </a:solidFill>
                <a:latin typeface="Calibri" panose="020F0502020204030204" pitchFamily="34" charset="0"/>
              </a:rPr>
              <a:t> CPU cores are available</a:t>
            </a:r>
            <a:endParaRPr lang="zh-TW" altLang="en-US" sz="2400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向下箭號 14"/>
          <p:cNvSpPr/>
          <p:nvPr/>
        </p:nvSpPr>
        <p:spPr>
          <a:xfrm>
            <a:off x="7738080" y="2853928"/>
            <a:ext cx="484632" cy="978408"/>
          </a:xfrm>
          <a:prstGeom prst="downArrow">
            <a:avLst/>
          </a:prstGeom>
          <a:solidFill>
            <a:srgbClr val="3333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替代處理程序 39"/>
          <p:cNvSpPr/>
          <p:nvPr/>
        </p:nvSpPr>
        <p:spPr>
          <a:xfrm>
            <a:off x="5663952" y="3946657"/>
            <a:ext cx="5141756" cy="1571311"/>
          </a:xfrm>
          <a:prstGeom prst="flowChartAlternate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AutoNum type="arabicPeriod"/>
            </a:pPr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All CPU Cores are busy</a:t>
            </a:r>
          </a:p>
          <a:p>
            <a:pPr marL="457200" indent="-457200" algn="ctr">
              <a:buAutoNum type="arabicPeriod"/>
            </a:pPr>
            <a:r>
              <a:rPr lang="en-US" altLang="zh-TW" sz="2400" b="1" dirty="0">
                <a:solidFill>
                  <a:srgbClr val="3333FF"/>
                </a:solidFill>
                <a:latin typeface="Calibri" panose="020F0502020204030204" pitchFamily="34" charset="0"/>
              </a:rPr>
              <a:t>Memory usage is economic</a:t>
            </a:r>
          </a:p>
          <a:p>
            <a:pPr marL="457200" indent="-457200" algn="ctr">
              <a:buAutoNum type="arabicPeriod"/>
            </a:pPr>
            <a:r>
              <a:rPr lang="en-US" altLang="zh-TW" sz="2400" b="1" dirty="0" smtClean="0">
                <a:solidFill>
                  <a:srgbClr val="3333FF"/>
                </a:solidFill>
                <a:latin typeface="Calibri" panose="020F0502020204030204" pitchFamily="34" charset="0"/>
              </a:rPr>
              <a:t>The execution time is minimizing</a:t>
            </a:r>
            <a:endParaRPr lang="zh-TW" altLang="en-US" sz="2400" b="1" dirty="0">
              <a:solidFill>
                <a:srgbClr val="3333FF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5381288" y="2666116"/>
            <a:ext cx="24720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 err="1" smtClean="0">
                <a:solidFill>
                  <a:srgbClr val="3333CC"/>
                </a:solidFill>
                <a:latin typeface="Calibri" panose="020F0502020204030204" pitchFamily="34" charset="0"/>
              </a:rPr>
              <a:t>create_thread</a:t>
            </a:r>
            <a:r>
              <a:rPr lang="en-US" altLang="zh-TW" sz="2400" b="1" dirty="0" smtClean="0">
                <a:solidFill>
                  <a:srgbClr val="3333CC"/>
                </a:solidFill>
                <a:latin typeface="Calibri" panose="020F0502020204030204" pitchFamily="34" charset="0"/>
              </a:rPr>
              <a:t>()</a:t>
            </a:r>
            <a:endParaRPr lang="en-US" altLang="zh-TW" sz="2400" b="1" dirty="0">
              <a:solidFill>
                <a:srgbClr val="3333CC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44"/>
          <p:cNvSpPr>
            <a:spLocks noChangeArrowheads="1"/>
          </p:cNvSpPr>
          <p:nvPr/>
        </p:nvSpPr>
        <p:spPr bwMode="auto">
          <a:xfrm>
            <a:off x="3790578" y="3645173"/>
            <a:ext cx="1657350" cy="4318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latin typeface="Calibri" panose="020F0502020204030204" pitchFamily="34" charset="0"/>
              </a:rPr>
              <a:t>stack</a:t>
            </a:r>
          </a:p>
        </p:txBody>
      </p:sp>
      <p:cxnSp>
        <p:nvCxnSpPr>
          <p:cNvPr id="19" name="直線單箭頭接點 18"/>
          <p:cNvCxnSpPr/>
          <p:nvPr/>
        </p:nvCxnSpPr>
        <p:spPr>
          <a:xfrm flipV="1">
            <a:off x="3010722" y="2730500"/>
            <a:ext cx="711819" cy="1211140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2998552" y="2964523"/>
            <a:ext cx="723988" cy="2003987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3019152" y="3168970"/>
            <a:ext cx="703388" cy="2757060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5369224" y="2984773"/>
            <a:ext cx="24841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 err="1" smtClean="0">
                <a:solidFill>
                  <a:srgbClr val="3333CC"/>
                </a:solidFill>
                <a:latin typeface="Calibri" panose="020F0502020204030204" pitchFamily="34" charset="0"/>
              </a:rPr>
              <a:t>create_thread</a:t>
            </a:r>
            <a:r>
              <a:rPr lang="en-US" altLang="zh-TW" sz="2400" b="1" dirty="0" smtClean="0">
                <a:solidFill>
                  <a:srgbClr val="3333CC"/>
                </a:solidFill>
                <a:latin typeface="Calibri" panose="020F0502020204030204" pitchFamily="34" charset="0"/>
              </a:rPr>
              <a:t>()</a:t>
            </a:r>
            <a:endParaRPr lang="en-US" altLang="zh-TW" sz="2400" b="1" dirty="0">
              <a:solidFill>
                <a:srgbClr val="3333CC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5407572" y="3285797"/>
            <a:ext cx="24458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 dirty="0" err="1" smtClean="0">
                <a:solidFill>
                  <a:srgbClr val="3333CC"/>
                </a:solidFill>
                <a:latin typeface="Calibri" panose="020F0502020204030204" pitchFamily="34" charset="0"/>
              </a:rPr>
              <a:t>create_thread</a:t>
            </a:r>
            <a:r>
              <a:rPr lang="en-US" altLang="zh-TW" sz="2400" b="1" dirty="0" smtClean="0">
                <a:solidFill>
                  <a:srgbClr val="3333CC"/>
                </a:solidFill>
                <a:latin typeface="Calibri" panose="020F0502020204030204" pitchFamily="34" charset="0"/>
              </a:rPr>
              <a:t>()</a:t>
            </a:r>
            <a:endParaRPr lang="en-US" altLang="zh-TW" sz="2400" b="1" dirty="0">
              <a:solidFill>
                <a:srgbClr val="3333CC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angle 44"/>
          <p:cNvSpPr>
            <a:spLocks noChangeArrowheads="1"/>
          </p:cNvSpPr>
          <p:nvPr/>
        </p:nvSpPr>
        <p:spPr bwMode="auto">
          <a:xfrm>
            <a:off x="3790157" y="4073534"/>
            <a:ext cx="1657350" cy="4318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25" name="Rectangle 44"/>
          <p:cNvSpPr>
            <a:spLocks noChangeArrowheads="1"/>
          </p:cNvSpPr>
          <p:nvPr/>
        </p:nvSpPr>
        <p:spPr bwMode="auto">
          <a:xfrm>
            <a:off x="3790578" y="4509120"/>
            <a:ext cx="1657350" cy="4318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000" b="1" dirty="0">
                <a:latin typeface="Calibri" panose="020F0502020204030204" pitchFamily="34" charset="0"/>
              </a:rPr>
              <a:t>stack</a:t>
            </a:r>
          </a:p>
        </p:txBody>
      </p:sp>
      <p:cxnSp>
        <p:nvCxnSpPr>
          <p:cNvPr id="26" name="直線單箭頭接點 25"/>
          <p:cNvCxnSpPr>
            <a:endCxn id="18" idx="1"/>
          </p:cNvCxnSpPr>
          <p:nvPr/>
        </p:nvCxnSpPr>
        <p:spPr>
          <a:xfrm flipV="1">
            <a:off x="3010722" y="3861073"/>
            <a:ext cx="779857" cy="80568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endCxn id="24" idx="1"/>
          </p:cNvCxnSpPr>
          <p:nvPr/>
        </p:nvCxnSpPr>
        <p:spPr>
          <a:xfrm flipV="1">
            <a:off x="2989045" y="4289434"/>
            <a:ext cx="801112" cy="634084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endCxn id="25" idx="1"/>
          </p:cNvCxnSpPr>
          <p:nvPr/>
        </p:nvCxnSpPr>
        <p:spPr>
          <a:xfrm flipV="1">
            <a:off x="2992782" y="4725020"/>
            <a:ext cx="797797" cy="1173108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流程圖: 程序 28"/>
          <p:cNvSpPr/>
          <p:nvPr/>
        </p:nvSpPr>
        <p:spPr>
          <a:xfrm>
            <a:off x="3722541" y="2276872"/>
            <a:ext cx="1776769" cy="2691638"/>
          </a:xfrm>
          <a:prstGeom prst="flowChartProcess">
            <a:avLst/>
          </a:prstGeom>
          <a:noFill/>
          <a:ln w="38100">
            <a:solidFill>
              <a:srgbClr val="0066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圓角矩形圖說文字 29"/>
          <p:cNvSpPr/>
          <p:nvPr/>
        </p:nvSpPr>
        <p:spPr>
          <a:xfrm>
            <a:off x="1703512" y="1628800"/>
            <a:ext cx="1368152" cy="612648"/>
          </a:xfrm>
          <a:prstGeom prst="wedgeRoundRectCallout">
            <a:avLst>
              <a:gd name="adj1" fmla="val 90558"/>
              <a:gd name="adj2" fmla="val 54208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one process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88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7" grpId="1"/>
      <p:bldP spid="18" grpId="0" animBg="1"/>
      <p:bldP spid="22" grpId="0"/>
      <p:bldP spid="22" grpId="1"/>
      <p:bldP spid="23" grpId="0"/>
      <p:bldP spid="23" grpId="1"/>
      <p:bldP spid="24" grpId="0" animBg="1"/>
      <p:bldP spid="25" grpId="0" animBg="1"/>
      <p:bldP spid="29" grpId="0" animBg="1"/>
      <p:bldP spid="3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Multicore Programming</a:t>
            </a:r>
          </a:p>
          <a:p>
            <a:pPr eaLnBrk="1" hangingPunct="1"/>
            <a:r>
              <a:rPr lang="en-US" altLang="zh-TW" dirty="0" smtClean="0"/>
              <a:t>Multithreading </a:t>
            </a:r>
            <a:r>
              <a:rPr lang="en-US" altLang="zh-TW" dirty="0"/>
              <a:t>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dirty="0"/>
              <a:t>Threading Issues</a:t>
            </a:r>
          </a:p>
          <a:p>
            <a:pPr eaLnBrk="1" hangingPunct="1"/>
            <a:r>
              <a:rPr lang="en-US" altLang="zh-TW" dirty="0"/>
              <a:t>Operating-System Examples</a:t>
            </a:r>
          </a:p>
          <a:p>
            <a:pPr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8393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今日的電腦都是多核心</a:t>
            </a:r>
            <a:r>
              <a:rPr lang="en-US" altLang="zh-TW" dirty="0" smtClean="0"/>
              <a:t>, </a:t>
            </a:r>
            <a:r>
              <a:rPr lang="zh-TW" altLang="en-US" dirty="0" smtClean="0"/>
              <a:t>所以寫程式</a:t>
            </a:r>
            <a:r>
              <a:rPr lang="zh-TW" altLang="en-US" dirty="0"/>
              <a:t>時</a:t>
            </a:r>
            <a:r>
              <a:rPr lang="zh-TW" altLang="en-US" dirty="0" smtClean="0"/>
              <a:t>如何</a:t>
            </a:r>
            <a:r>
              <a:rPr lang="zh-TW" altLang="en-US" dirty="0"/>
              <a:t>充分</a:t>
            </a:r>
            <a:r>
              <a:rPr lang="zh-TW" altLang="en-US" dirty="0" smtClean="0"/>
              <a:t>利用所有的核心呢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541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Multicore Programming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Concurrency </a:t>
            </a:r>
            <a:r>
              <a:rPr lang="en-US" altLang="zh-TW" b="1" dirty="0" err="1">
                <a:solidFill>
                  <a:srgbClr val="FF0000"/>
                </a:solidFill>
              </a:rPr>
              <a:t>v.s</a:t>
            </a:r>
            <a:r>
              <a:rPr lang="en-US" altLang="zh-TW" b="1" dirty="0">
                <a:solidFill>
                  <a:srgbClr val="FF0000"/>
                </a:solidFill>
              </a:rPr>
              <a:t>. Parallelism</a:t>
            </a:r>
          </a:p>
          <a:p>
            <a:pPr lvl="1" eaLnBrk="1" hangingPunct="1"/>
            <a:r>
              <a:rPr lang="en-US" altLang="zh-TW" dirty="0"/>
              <a:t>Types of Parallelism</a:t>
            </a:r>
          </a:p>
          <a:p>
            <a:pPr lvl="1" eaLnBrk="1" hangingPunct="1"/>
            <a:r>
              <a:rPr lang="en-US" altLang="zh-TW" dirty="0"/>
              <a:t>Multi-Core Programming Challenges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dirty="0"/>
              <a:t>Threading Issues</a:t>
            </a:r>
          </a:p>
          <a:p>
            <a:pPr eaLnBrk="1" hangingPunct="1"/>
            <a:r>
              <a:rPr lang="en-US" altLang="zh-TW" dirty="0"/>
              <a:t>Operating-System Examples</a:t>
            </a:r>
          </a:p>
          <a:p>
            <a:pPr eaLnBrk="1" hangingPunct="1"/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Concurrency </a:t>
            </a:r>
            <a:r>
              <a:rPr lang="en-US" altLang="zh-TW" dirty="0" err="1"/>
              <a:t>v.s</a:t>
            </a:r>
            <a:r>
              <a:rPr lang="en-US" altLang="zh-TW" dirty="0"/>
              <a:t>. Parallelism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On a single-processor system, processes were running </a:t>
            </a:r>
            <a:r>
              <a:rPr lang="en-US" altLang="zh-TW" b="1" dirty="0">
                <a:solidFill>
                  <a:srgbClr val="FF0000"/>
                </a:solidFill>
              </a:rPr>
              <a:t>concurrently</a:t>
            </a:r>
            <a:r>
              <a:rPr lang="en-US" altLang="zh-TW" dirty="0"/>
              <a:t>, but not in parallel</a:t>
            </a:r>
          </a:p>
          <a:p>
            <a:pPr lvl="1"/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However, with multicore systems, processes can run </a:t>
            </a:r>
            <a:r>
              <a:rPr lang="en-US" altLang="zh-TW" b="1" dirty="0">
                <a:solidFill>
                  <a:srgbClr val="FF0000"/>
                </a:solidFill>
              </a:rPr>
              <a:t>in parallel</a:t>
            </a:r>
          </a:p>
          <a:p>
            <a:pPr lvl="1"/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</a:t>
            </a:r>
            <a:r>
              <a:rPr lang="en-US" altLang="en-US" b="1" dirty="0">
                <a:solidFill>
                  <a:srgbClr val="3333FF"/>
                </a:solidFill>
              </a:rPr>
              <a:t>simultaneously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>
                <a:solidFill>
                  <a:srgbClr val="006699"/>
                </a:solidFill>
              </a:rPr>
              <a:t>Concurrency vs. Parallelism</a:t>
            </a:r>
            <a:r>
              <a:rPr lang="en-US" altLang="zh-TW" sz="4000" dirty="0"/>
              <a:t/>
            </a:r>
            <a:br>
              <a:rPr lang="en-US" altLang="zh-TW" sz="4000" dirty="0"/>
            </a:br>
            <a:r>
              <a:rPr kumimoji="0" lang="en-US" altLang="zh-TW" sz="4000" dirty="0">
                <a:solidFill>
                  <a:srgbClr val="006699"/>
                </a:solidFill>
                <a:effectLst/>
              </a:rPr>
              <a:t>Four Threads: T1, T2, T3, T4</a:t>
            </a:r>
          </a:p>
        </p:txBody>
      </p:sp>
      <p:pic>
        <p:nvPicPr>
          <p:cNvPr id="13315" name="Picture 4" descr="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1504" y="1708150"/>
            <a:ext cx="8856984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3268541" y="2611439"/>
            <a:ext cx="60787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zh-TW" sz="2400" b="1" dirty="0">
                <a:solidFill>
                  <a:srgbClr val="006699"/>
                </a:solidFill>
                <a:latin typeface="Calibri" panose="020F0502020204030204" pitchFamily="34" charset="0"/>
              </a:rPr>
              <a:t>Concurrent Execution on a Single-core System </a:t>
            </a:r>
          </a:p>
        </p:txBody>
      </p:sp>
      <p:pic>
        <p:nvPicPr>
          <p:cNvPr id="13317" name="Picture 4" descr="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9496" y="3500439"/>
            <a:ext cx="8928992" cy="213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3503614" y="5734050"/>
            <a:ext cx="5572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zh-TW" sz="2400" b="1" dirty="0">
                <a:solidFill>
                  <a:srgbClr val="006699"/>
                </a:solidFill>
                <a:latin typeface="Calibri" panose="020F0502020204030204" pitchFamily="34" charset="0"/>
              </a:rPr>
              <a:t>Parallel Execution on a Multi-core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Multicore Programming</a:t>
            </a:r>
          </a:p>
          <a:p>
            <a:pPr lvl="1" eaLnBrk="1" hangingPunct="1"/>
            <a:r>
              <a:rPr lang="en-US" altLang="zh-TW" dirty="0"/>
              <a:t>Concurrency </a:t>
            </a:r>
            <a:r>
              <a:rPr lang="en-US" altLang="zh-TW" dirty="0" err="1"/>
              <a:t>v.s</a:t>
            </a:r>
            <a:r>
              <a:rPr lang="en-US" altLang="zh-TW" dirty="0"/>
              <a:t>. Parallelism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Types of Parallelism</a:t>
            </a:r>
          </a:p>
          <a:p>
            <a:pPr lvl="1" eaLnBrk="1" hangingPunct="1"/>
            <a:r>
              <a:rPr lang="en-US" altLang="zh-TW" dirty="0"/>
              <a:t>Multi-Core Programming Challenges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dirty="0"/>
              <a:t>Threading Issues</a:t>
            </a:r>
          </a:p>
          <a:p>
            <a:pPr eaLnBrk="1" hangingPunct="1"/>
            <a:r>
              <a:rPr lang="en-US" altLang="zh-TW" dirty="0"/>
              <a:t>Operating-System Examples</a:t>
            </a:r>
          </a:p>
          <a:p>
            <a:pPr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0801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03512" y="1556793"/>
            <a:ext cx="8278688" cy="2043658"/>
          </a:xfrm>
        </p:spPr>
        <p:txBody>
          <a:bodyPr/>
          <a:lstStyle/>
          <a:p>
            <a:r>
              <a:rPr lang="zh-TW" altLang="en-US" sz="3600" dirty="0">
                <a:solidFill>
                  <a:schemeClr val="tx1"/>
                </a:solidFill>
              </a:rPr>
              <a:t>今日的電腦都</a:t>
            </a:r>
            <a:r>
              <a:rPr lang="zh-TW" altLang="en-US" sz="3600" dirty="0" smtClean="0">
                <a:solidFill>
                  <a:schemeClr val="tx1"/>
                </a:solidFill>
              </a:rPr>
              <a:t>是多核心，</a:t>
            </a:r>
            <a:r>
              <a:rPr lang="zh-TW" altLang="en-US" sz="3600" dirty="0">
                <a:solidFill>
                  <a:schemeClr val="tx1"/>
                </a:solidFill>
              </a:rPr>
              <a:t>所以</a:t>
            </a:r>
            <a:r>
              <a:rPr lang="zh-TW" altLang="en-US" sz="3600" dirty="0" smtClean="0">
                <a:solidFill>
                  <a:schemeClr val="tx1"/>
                </a:solidFill>
              </a:rPr>
              <a:t>我們寫程式可以使用</a:t>
            </a:r>
            <a:r>
              <a:rPr lang="en-US" altLang="zh-TW" sz="3600" dirty="0" smtClean="0">
                <a:solidFill>
                  <a:schemeClr val="tx1"/>
                </a:solidFill>
              </a:rPr>
              <a:t>multi-threading</a:t>
            </a:r>
            <a:r>
              <a:rPr lang="zh-TW" altLang="en-US" sz="3600" dirty="0" smtClean="0">
                <a:solidFill>
                  <a:schemeClr val="tx1"/>
                </a:solidFill>
              </a:rPr>
              <a:t>來實現</a:t>
            </a:r>
            <a:r>
              <a:rPr lang="en-US" altLang="zh-TW" sz="3600" dirty="0" smtClean="0">
                <a:solidFill>
                  <a:schemeClr val="tx1"/>
                </a:solidFill>
              </a:rPr>
              <a:t>Parallel </a:t>
            </a:r>
            <a:r>
              <a:rPr lang="en-US" altLang="zh-TW" sz="3600" dirty="0">
                <a:solidFill>
                  <a:schemeClr val="tx1"/>
                </a:solidFill>
              </a:rPr>
              <a:t>Execution</a:t>
            </a:r>
            <a:r>
              <a:rPr lang="zh-TW" altLang="en-US" sz="3600" dirty="0">
                <a:solidFill>
                  <a:schemeClr val="tx1"/>
                </a:solidFill>
              </a:rPr>
              <a:t>，以充分利用每一個</a:t>
            </a:r>
            <a:r>
              <a:rPr lang="en-US" altLang="zh-TW" sz="3600" dirty="0">
                <a:solidFill>
                  <a:schemeClr val="tx1"/>
                </a:solidFill>
              </a:rPr>
              <a:t>Core</a:t>
            </a:r>
            <a:r>
              <a:rPr lang="zh-TW" altLang="en-US" sz="3600" dirty="0">
                <a:solidFill>
                  <a:schemeClr val="tx1"/>
                </a:solidFill>
              </a:rPr>
              <a:t>！</a:t>
            </a:r>
          </a:p>
        </p:txBody>
      </p:sp>
      <p:sp>
        <p:nvSpPr>
          <p:cNvPr id="3" name="標題 1"/>
          <p:cNvSpPr txBox="1">
            <a:spLocks/>
          </p:cNvSpPr>
          <p:nvPr/>
        </p:nvSpPr>
        <p:spPr bwMode="auto">
          <a:xfrm>
            <a:off x="1705744" y="3905622"/>
            <a:ext cx="8278688" cy="204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en-US" altLang="zh-TW" sz="4000" kern="0" dirty="0" smtClean="0">
                <a:solidFill>
                  <a:schemeClr val="tx1"/>
                </a:solidFill>
              </a:rPr>
              <a:t>Q: </a:t>
            </a:r>
            <a:r>
              <a:rPr lang="en-US" altLang="zh-TW" sz="4000" kern="0" dirty="0">
                <a:solidFill>
                  <a:schemeClr val="tx1"/>
                </a:solidFill>
              </a:rPr>
              <a:t>How to make your program multi-threading </a:t>
            </a:r>
            <a:r>
              <a:rPr lang="en-US" altLang="zh-TW" sz="4000" kern="0" dirty="0" smtClean="0">
                <a:solidFill>
                  <a:schemeClr val="tx1"/>
                </a:solidFill>
              </a:rPr>
              <a:t>(i.e., parallel execution)?</a:t>
            </a:r>
            <a:endParaRPr lang="zh-TW" altLang="en-US" sz="40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77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Types of Parallelism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Two types of parallelism: </a:t>
            </a:r>
            <a:r>
              <a:rPr lang="en-US" altLang="zh-TW" b="1" i="1" dirty="0"/>
              <a:t>data parallelism </a:t>
            </a:r>
            <a:r>
              <a:rPr lang="en-US" altLang="zh-TW" b="1" i="1" dirty="0" err="1"/>
              <a:t>v.s</a:t>
            </a:r>
            <a:r>
              <a:rPr lang="en-US" altLang="zh-TW" b="1" i="1" dirty="0"/>
              <a:t>. task parallelism</a:t>
            </a:r>
          </a:p>
          <a:p>
            <a:pPr>
              <a:lnSpc>
                <a:spcPct val="12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Data parallelism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Running </a:t>
            </a:r>
            <a:r>
              <a:rPr lang="en-US" altLang="zh-TW" b="1" dirty="0"/>
              <a:t>the same task </a:t>
            </a:r>
            <a:r>
              <a:rPr lang="en-US" altLang="zh-TW" dirty="0"/>
              <a:t>on different components of data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Ex: summing an array of size 1000 (if two cores)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Thread A on one core sums the element [0]…[499] 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Thread B on another core sum the element [500]…..[999]</a:t>
            </a:r>
          </a:p>
          <a:p>
            <a:pPr>
              <a:lnSpc>
                <a:spcPct val="12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Task parallelism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Running many tasks </a:t>
            </a:r>
            <a:r>
              <a:rPr lang="en-US" altLang="zh-TW" b="1" dirty="0"/>
              <a:t>on the same data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Ex: summing and multiplying an array of size 1000 (if two cores)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Thread A on one core sums the element [0]…[999] 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Thread B on another core performs element [0]x [1]x…x[999] </a:t>
            </a:r>
          </a:p>
          <a:p>
            <a:pPr lvl="2">
              <a:lnSpc>
                <a:spcPct val="120000"/>
              </a:lnSpc>
            </a:pPr>
            <a:endParaRPr lang="en-US" altLang="zh-TW" b="1" dirty="0"/>
          </a:p>
          <a:p>
            <a:pPr lvl="1">
              <a:lnSpc>
                <a:spcPct val="120000"/>
              </a:lnSpc>
            </a:pP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Data Parallelism and Task Parallelism</a:t>
            </a:r>
            <a:endParaRPr lang="zh-TW" altLang="en-US" sz="40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340768"/>
            <a:ext cx="9361040" cy="461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上述</a:t>
            </a:r>
            <a:r>
              <a:rPr lang="en-US" altLang="zh-TW" dirty="0" smtClean="0"/>
              <a:t>task parallelism</a:t>
            </a:r>
            <a:r>
              <a:rPr lang="zh-TW" altLang="en-US" dirty="0" smtClean="0"/>
              <a:t>的例子會有</a:t>
            </a:r>
            <a:r>
              <a:rPr lang="en-US" altLang="zh-TW" dirty="0" smtClean="0"/>
              <a:t>load imbalance</a:t>
            </a:r>
            <a:r>
              <a:rPr lang="zh-TW" altLang="en-US" dirty="0" smtClean="0"/>
              <a:t>的問題</a:t>
            </a:r>
            <a:r>
              <a:rPr lang="en-US" altLang="zh-TW" dirty="0" smtClean="0"/>
              <a:t>. Why?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07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Types of Parallelism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637111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b="1" dirty="0">
                <a:solidFill>
                  <a:srgbClr val="3333FF"/>
                </a:solidFill>
              </a:rPr>
              <a:t>Hybrid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Most applications use </a:t>
            </a:r>
            <a:r>
              <a:rPr lang="en-US" altLang="zh-TW" b="1" dirty="0"/>
              <a:t>data parallelism + task parallelism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Ex: summing and multiplying an array of size 1000 (if four cores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2">
              <a:lnSpc>
                <a:spcPct val="120000"/>
              </a:lnSpc>
            </a:pPr>
            <a:r>
              <a:rPr lang="en-US" altLang="zh-TW" dirty="0"/>
              <a:t>Thread A on one core sums the element [0]…[999] 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Thread B on another core performs </a:t>
            </a:r>
            <a:r>
              <a:rPr lang="en-US" altLang="zh-TW" dirty="0" smtClean="0"/>
              <a:t>[</a:t>
            </a:r>
            <a:r>
              <a:rPr lang="en-US" altLang="zh-TW" dirty="0"/>
              <a:t>0]x [1]x…x[333] 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Thread C on another core performs </a:t>
            </a:r>
            <a:r>
              <a:rPr lang="en-US" altLang="zh-TW" dirty="0" smtClean="0"/>
              <a:t>[</a:t>
            </a:r>
            <a:r>
              <a:rPr lang="en-US" altLang="zh-TW" dirty="0"/>
              <a:t>334]x [335]x…x[666] 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Thread D on another core performs </a:t>
            </a:r>
            <a:r>
              <a:rPr lang="en-US" altLang="zh-TW" dirty="0" smtClean="0"/>
              <a:t>[</a:t>
            </a:r>
            <a:r>
              <a:rPr lang="en-US" altLang="zh-TW" dirty="0"/>
              <a:t>667]x [668]x…x[999] </a:t>
            </a:r>
            <a:endParaRPr lang="en-US" altLang="zh-TW" dirty="0" smtClean="0"/>
          </a:p>
          <a:p>
            <a:pPr lvl="2">
              <a:lnSpc>
                <a:spcPct val="120000"/>
              </a:lnSpc>
            </a:pPr>
            <a:r>
              <a:rPr lang="en-US" altLang="zh-TW" dirty="0" smtClean="0"/>
              <a:t>Threads B, C, D</a:t>
            </a:r>
            <a:r>
              <a:rPr lang="zh-TW" altLang="en-US" dirty="0" smtClean="0"/>
              <a:t>是</a:t>
            </a:r>
            <a:r>
              <a:rPr lang="en-US" altLang="zh-TW" dirty="0" smtClean="0"/>
              <a:t>data parallelism</a:t>
            </a:r>
          </a:p>
          <a:p>
            <a:pPr lvl="2">
              <a:lnSpc>
                <a:spcPct val="120000"/>
              </a:lnSpc>
            </a:pPr>
            <a:r>
              <a:rPr lang="en-US" altLang="zh-TW" dirty="0" smtClean="0"/>
              <a:t>Threads A, (B, C, D)</a:t>
            </a:r>
            <a:r>
              <a:rPr lang="zh-TW" altLang="en-US" dirty="0" smtClean="0"/>
              <a:t>是</a:t>
            </a:r>
            <a:r>
              <a:rPr lang="en-US" altLang="zh-TW" dirty="0" smtClean="0"/>
              <a:t>task parallelism</a:t>
            </a:r>
            <a:endParaRPr lang="en-US" altLang="zh-TW" dirty="0"/>
          </a:p>
          <a:p>
            <a:pPr lvl="2">
              <a:lnSpc>
                <a:spcPct val="120000"/>
              </a:lnSpc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5736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Multicore Programming</a:t>
            </a:r>
          </a:p>
          <a:p>
            <a:pPr lvl="1" eaLnBrk="1" hangingPunct="1"/>
            <a:r>
              <a:rPr lang="en-US" altLang="zh-TW" dirty="0"/>
              <a:t>Concurrency </a:t>
            </a:r>
            <a:r>
              <a:rPr lang="en-US" altLang="zh-TW" dirty="0" err="1"/>
              <a:t>v.s</a:t>
            </a:r>
            <a:r>
              <a:rPr lang="en-US" altLang="zh-TW" dirty="0"/>
              <a:t>. Parallelism</a:t>
            </a:r>
          </a:p>
          <a:p>
            <a:pPr lvl="1" eaLnBrk="1" hangingPunct="1"/>
            <a:r>
              <a:rPr lang="en-US" altLang="zh-TW" dirty="0"/>
              <a:t>Types of Parallelism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Multi-Core Programming Challenges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dirty="0"/>
              <a:t>Threading Issues</a:t>
            </a:r>
          </a:p>
          <a:p>
            <a:pPr eaLnBrk="1" hangingPunct="1"/>
            <a:r>
              <a:rPr lang="en-US" altLang="zh-TW" dirty="0"/>
              <a:t>Operating-System Examples</a:t>
            </a:r>
          </a:p>
          <a:p>
            <a:pPr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9954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Multi-Core Programming Challenges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Multicore programming is challenge</a:t>
            </a:r>
          </a:p>
          <a:p>
            <a:pPr lvl="1"/>
            <a:r>
              <a:rPr lang="en-US" altLang="zh-TW" b="1" dirty="0"/>
              <a:t>Divide activities</a:t>
            </a:r>
          </a:p>
          <a:p>
            <a:pPr lvl="2"/>
            <a:r>
              <a:rPr lang="en-US" altLang="zh-TW" dirty="0"/>
              <a:t>Divide an application into separate threads</a:t>
            </a:r>
          </a:p>
          <a:p>
            <a:pPr lvl="1"/>
            <a:r>
              <a:rPr lang="en-US" altLang="zh-TW" b="1" dirty="0"/>
              <a:t>Balance</a:t>
            </a:r>
          </a:p>
          <a:p>
            <a:pPr lvl="2"/>
            <a:r>
              <a:rPr lang="en-US" altLang="zh-TW" dirty="0"/>
              <a:t>Each thread perform equal work of equal value</a:t>
            </a:r>
          </a:p>
          <a:p>
            <a:pPr lvl="1"/>
            <a:r>
              <a:rPr lang="en-US" altLang="zh-TW" b="1" dirty="0"/>
              <a:t>Data splitting</a:t>
            </a:r>
          </a:p>
          <a:p>
            <a:pPr lvl="2"/>
            <a:r>
              <a:rPr lang="en-US" altLang="zh-TW" dirty="0"/>
              <a:t>Data accessed by each thread must be divided to run on each core</a:t>
            </a:r>
          </a:p>
          <a:p>
            <a:pPr lvl="1"/>
            <a:r>
              <a:rPr lang="en-US" altLang="zh-TW" b="1" dirty="0"/>
              <a:t>Data dependency</a:t>
            </a:r>
          </a:p>
          <a:p>
            <a:pPr lvl="2"/>
            <a:r>
              <a:rPr lang="en-US" altLang="zh-TW" dirty="0"/>
              <a:t>Discussed in Chapter 6</a:t>
            </a:r>
          </a:p>
          <a:p>
            <a:pPr lvl="1"/>
            <a:r>
              <a:rPr lang="en-US" altLang="zh-TW" b="1" dirty="0"/>
              <a:t>Testing and debugging</a:t>
            </a:r>
          </a:p>
          <a:p>
            <a:pPr lvl="2"/>
            <a:r>
              <a:rPr lang="en-US" altLang="zh-TW" dirty="0"/>
              <a:t>More difficult than single-threaded applications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650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dirty="0"/>
              <a:t>Threading Issues</a:t>
            </a:r>
          </a:p>
          <a:p>
            <a:pPr eaLnBrk="1" hangingPunct="1"/>
            <a:r>
              <a:rPr lang="en-US" altLang="zh-TW" dirty="0"/>
              <a:t>Operating-System Examples</a:t>
            </a:r>
          </a:p>
          <a:p>
            <a:pPr eaLnBrk="1" hangingPunct="1"/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919536" y="2132856"/>
            <a:ext cx="8422704" cy="2522711"/>
          </a:xfrm>
        </p:spPr>
        <p:txBody>
          <a:bodyPr/>
          <a:lstStyle/>
          <a:p>
            <a:r>
              <a:rPr lang="en-US" altLang="zh-TW" sz="4000" dirty="0" smtClean="0">
                <a:solidFill>
                  <a:srgbClr val="FF0000"/>
                </a:solidFill>
              </a:rPr>
              <a:t>Q: </a:t>
            </a:r>
            <a:r>
              <a:rPr lang="en-US" altLang="zh-TW" sz="4000" dirty="0">
                <a:solidFill>
                  <a:srgbClr val="FF0000"/>
                </a:solidFill>
              </a:rPr>
              <a:t>How to Support </a:t>
            </a:r>
            <a:r>
              <a:rPr lang="en-US" altLang="zh-TW" sz="4000" dirty="0" smtClean="0">
                <a:solidFill>
                  <a:srgbClr val="FF0000"/>
                </a:solidFill>
              </a:rPr>
              <a:t>Threads? </a:t>
            </a:r>
            <a:endParaRPr lang="zh-TW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01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Supporting Threads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思考 </a:t>
            </a:r>
            <a:r>
              <a:rPr lang="en-US" altLang="zh-TW" dirty="0"/>
              <a:t>1:</a:t>
            </a:r>
          </a:p>
          <a:p>
            <a:pPr lvl="1"/>
            <a:r>
              <a:rPr lang="en-US" altLang="zh-TW" dirty="0"/>
              <a:t>fork() is used to create process.</a:t>
            </a:r>
          </a:p>
          <a:p>
            <a:pPr lvl="1"/>
            <a:r>
              <a:rPr lang="zh-TW" altLang="en-US" dirty="0"/>
              <a:t>所以，程式設計師需要一個</a:t>
            </a:r>
            <a:r>
              <a:rPr lang="en-US" altLang="zh-TW" dirty="0"/>
              <a:t>function</a:t>
            </a:r>
            <a:r>
              <a:rPr lang="zh-TW" altLang="en-US" dirty="0"/>
              <a:t>來</a:t>
            </a:r>
            <a:r>
              <a:rPr lang="en-US" altLang="zh-TW" dirty="0"/>
              <a:t>create thread, </a:t>
            </a:r>
            <a:r>
              <a:rPr lang="zh-TW" altLang="en-US" dirty="0"/>
              <a:t>假設此一</a:t>
            </a:r>
            <a:r>
              <a:rPr lang="en-US" altLang="zh-TW" dirty="0"/>
              <a:t>function </a:t>
            </a:r>
            <a:r>
              <a:rPr lang="zh-TW" altLang="en-US" dirty="0"/>
              <a:t>為 </a:t>
            </a:r>
            <a:r>
              <a:rPr lang="en-US" altLang="zh-TW" dirty="0" err="1">
                <a:solidFill>
                  <a:srgbClr val="000000"/>
                </a:solidFill>
              </a:rPr>
              <a:t>pthread_create</a:t>
            </a:r>
            <a:r>
              <a:rPr lang="en-US" altLang="zh-TW" dirty="0">
                <a:solidFill>
                  <a:srgbClr val="000000"/>
                </a:solidFill>
              </a:rPr>
              <a:t>()</a:t>
            </a:r>
          </a:p>
          <a:p>
            <a:endParaRPr lang="en-US" altLang="zh-TW" dirty="0"/>
          </a:p>
          <a:p>
            <a:r>
              <a:rPr lang="zh-TW" altLang="en-US" dirty="0"/>
              <a:t>思考 </a:t>
            </a:r>
            <a:r>
              <a:rPr lang="en-US" altLang="zh-TW" dirty="0"/>
              <a:t>2:</a:t>
            </a:r>
          </a:p>
          <a:p>
            <a:pPr lvl="1"/>
            <a:r>
              <a:rPr lang="en-US" altLang="zh-TW" dirty="0"/>
              <a:t>fork() function is provided by OS        // calling fork() calls OS’s function</a:t>
            </a:r>
          </a:p>
          <a:p>
            <a:pPr lvl="1"/>
            <a:r>
              <a:rPr lang="en-US" altLang="zh-TW" dirty="0">
                <a:solidFill>
                  <a:srgbClr val="000000"/>
                </a:solidFill>
              </a:rPr>
              <a:t>So, </a:t>
            </a:r>
            <a:r>
              <a:rPr lang="en-US" altLang="zh-TW" dirty="0" err="1">
                <a:solidFill>
                  <a:srgbClr val="000000"/>
                </a:solidFill>
              </a:rPr>
              <a:t>pthread_create</a:t>
            </a:r>
            <a:r>
              <a:rPr lang="en-US" altLang="zh-TW" dirty="0">
                <a:solidFill>
                  <a:srgbClr val="000000"/>
                </a:solidFill>
              </a:rPr>
              <a:t>() is provided by ?</a:t>
            </a:r>
          </a:p>
          <a:p>
            <a:pPr lvl="2"/>
            <a:r>
              <a:rPr lang="en-US" altLang="zh-TW" dirty="0">
                <a:solidFill>
                  <a:srgbClr val="000000"/>
                </a:solidFill>
              </a:rPr>
              <a:t>OS</a:t>
            </a:r>
          </a:p>
          <a:p>
            <a:pPr lvl="2"/>
            <a:r>
              <a:rPr lang="en-US" altLang="zh-TW" dirty="0">
                <a:solidFill>
                  <a:srgbClr val="000000"/>
                </a:solidFill>
              </a:rPr>
              <a:t>User-level library</a:t>
            </a:r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7813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ffectLst/>
              </a:rPr>
              <a:t>Thread Types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User threads</a:t>
            </a:r>
          </a:p>
          <a:p>
            <a:pPr lvl="1" eaLnBrk="1" hangingPunct="1"/>
            <a:r>
              <a:rPr lang="en-US" altLang="zh-TW" dirty="0"/>
              <a:t>Support for thread is provided at the </a:t>
            </a:r>
            <a:r>
              <a:rPr lang="en-US" altLang="zh-TW" b="1" dirty="0"/>
              <a:t>user level</a:t>
            </a:r>
          </a:p>
          <a:p>
            <a:pPr lvl="1" eaLnBrk="1" hangingPunct="1"/>
            <a:r>
              <a:rPr lang="en-US" altLang="zh-TW" dirty="0"/>
              <a:t>Usually by </a:t>
            </a:r>
            <a:r>
              <a:rPr lang="en-US" altLang="zh-TW" b="1" dirty="0"/>
              <a:t>user-level library</a:t>
            </a:r>
          </a:p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Kernel threads</a:t>
            </a:r>
          </a:p>
          <a:p>
            <a:pPr lvl="1" eaLnBrk="1" hangingPunct="1"/>
            <a:r>
              <a:rPr lang="en-US" altLang="zh-TW" dirty="0"/>
              <a:t>Support for thread is provided at the </a:t>
            </a:r>
            <a:r>
              <a:rPr lang="en-US" altLang="zh-TW" b="1" dirty="0"/>
              <a:t>kernel level </a:t>
            </a:r>
          </a:p>
          <a:p>
            <a:pPr lvl="1" eaLnBrk="1" hangingPunct="1"/>
            <a:r>
              <a:rPr lang="en-US" altLang="zh-TW" dirty="0"/>
              <a:t>Usually by </a:t>
            </a:r>
            <a:r>
              <a:rPr lang="en-US" altLang="zh-TW" b="1" dirty="0"/>
              <a:t>OS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952" y="4581129"/>
            <a:ext cx="4762872" cy="2030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Multithreading Models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dirty="0"/>
              <a:t>Many-to-One Model</a:t>
            </a:r>
          </a:p>
          <a:p>
            <a:pPr eaLnBrk="1" hangingPunct="1">
              <a:lnSpc>
                <a:spcPct val="80000"/>
              </a:lnSpc>
            </a:pPr>
            <a:endParaRPr lang="en-US" altLang="zh-TW" dirty="0"/>
          </a:p>
          <a:p>
            <a:pPr eaLnBrk="1" hangingPunct="1">
              <a:lnSpc>
                <a:spcPct val="80000"/>
              </a:lnSpc>
            </a:pPr>
            <a:r>
              <a:rPr lang="en-US" altLang="zh-TW" dirty="0"/>
              <a:t>One-to-One Model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dirty="0"/>
          </a:p>
          <a:p>
            <a:pPr eaLnBrk="1" hangingPunct="1">
              <a:lnSpc>
                <a:spcPct val="80000"/>
              </a:lnSpc>
            </a:pPr>
            <a:r>
              <a:rPr lang="en-US" altLang="zh-TW" dirty="0"/>
              <a:t>Many-to-Many Model</a:t>
            </a:r>
          </a:p>
          <a:p>
            <a:pPr lvl="1" eaLnBrk="1" hangingPunct="1"/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Multithreading Models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Many-to-One Model</a:t>
            </a:r>
          </a:p>
          <a:p>
            <a:pPr eaLnBrk="1" hangingPunct="1">
              <a:lnSpc>
                <a:spcPct val="80000"/>
              </a:lnSpc>
            </a:pPr>
            <a:endParaRPr lang="en-US" altLang="zh-TW" dirty="0"/>
          </a:p>
          <a:p>
            <a:pPr eaLnBrk="1" hangingPunct="1">
              <a:lnSpc>
                <a:spcPct val="80000"/>
              </a:lnSpc>
            </a:pPr>
            <a:r>
              <a:rPr lang="en-US" altLang="zh-TW" dirty="0"/>
              <a:t>One-to-One Model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dirty="0"/>
          </a:p>
          <a:p>
            <a:pPr eaLnBrk="1" hangingPunct="1">
              <a:lnSpc>
                <a:spcPct val="80000"/>
              </a:lnSpc>
            </a:pPr>
            <a:r>
              <a:rPr lang="en-US" altLang="zh-TW" dirty="0"/>
              <a:t>Many-to-Many Model</a:t>
            </a:r>
          </a:p>
          <a:p>
            <a:pPr lvl="1"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0362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Many-to-One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99715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Used on systems that </a:t>
            </a:r>
            <a:r>
              <a:rPr lang="en-US" altLang="zh-TW" b="1" dirty="0"/>
              <a:t>do not </a:t>
            </a:r>
            <a:r>
              <a:rPr lang="en-US" altLang="zh-TW" dirty="0"/>
              <a:t>support kernel threads.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Thread management is done by </a:t>
            </a:r>
            <a:r>
              <a:rPr lang="en-US" altLang="zh-TW" b="1" dirty="0">
                <a:solidFill>
                  <a:srgbClr val="0000FF"/>
                </a:solidFill>
              </a:rPr>
              <a:t>thread library in user </a:t>
            </a:r>
            <a:r>
              <a:rPr lang="en-US" altLang="zh-TW" b="1" dirty="0" smtClean="0">
                <a:solidFill>
                  <a:srgbClr val="0000FF"/>
                </a:solidFill>
              </a:rPr>
              <a:t>space</a:t>
            </a:r>
            <a:r>
              <a:rPr lang="en-US" altLang="zh-TW" dirty="0" smtClean="0"/>
              <a:t>:</a:t>
            </a:r>
          </a:p>
          <a:p>
            <a:pPr>
              <a:lnSpc>
                <a:spcPct val="120000"/>
              </a:lnSpc>
            </a:pPr>
            <a:r>
              <a:rPr lang="en-US" altLang="zh-TW" b="1" dirty="0" smtClean="0"/>
              <a:t>Many-to-One</a:t>
            </a:r>
            <a:r>
              <a:rPr lang="en-US" altLang="zh-TW" dirty="0" smtClean="0"/>
              <a:t>: many user-level threads mapped to single kernel thread, i.e., kernel process</a:t>
            </a:r>
          </a:p>
          <a:p>
            <a:pPr lvl="1">
              <a:lnSpc>
                <a:spcPct val="120000"/>
              </a:lnSpc>
            </a:pPr>
            <a:r>
              <a:rPr lang="zh-TW" altLang="en-US" dirty="0" smtClean="0"/>
              <a:t>傳統</a:t>
            </a:r>
            <a:r>
              <a:rPr lang="zh-TW" altLang="en-US" dirty="0"/>
              <a:t>沒有使用</a:t>
            </a:r>
            <a:r>
              <a:rPr lang="en-US" altLang="zh-TW" dirty="0"/>
              <a:t>thread</a:t>
            </a:r>
            <a:r>
              <a:rPr lang="zh-TW" altLang="en-US" dirty="0"/>
              <a:t>的</a:t>
            </a:r>
            <a:r>
              <a:rPr lang="en-US" altLang="zh-TW" dirty="0"/>
              <a:t>processes</a:t>
            </a:r>
            <a:r>
              <a:rPr lang="zh-TW" altLang="en-US" dirty="0"/>
              <a:t>我們視為</a:t>
            </a:r>
            <a:r>
              <a:rPr lang="en-US" altLang="zh-TW" dirty="0"/>
              <a:t>single thread process</a:t>
            </a:r>
          </a:p>
          <a:p>
            <a:pPr>
              <a:lnSpc>
                <a:spcPct val="120000"/>
              </a:lnSpc>
            </a:pPr>
            <a:r>
              <a:rPr lang="en-US" altLang="zh-TW" b="1" dirty="0" smtClean="0"/>
              <a:t>Good:</a:t>
            </a:r>
            <a:r>
              <a:rPr lang="en-US" altLang="zh-TW" dirty="0" smtClean="0"/>
              <a:t> </a:t>
            </a:r>
            <a:r>
              <a:rPr lang="en-US" altLang="zh-TW" b="1" dirty="0" smtClean="0">
                <a:solidFill>
                  <a:srgbClr val="FF0000"/>
                </a:solidFill>
              </a:rPr>
              <a:t>efficient 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Why?</a:t>
            </a:r>
            <a:r>
              <a:rPr lang="en-US" altLang="zh-TW" dirty="0"/>
              <a:t> (shown later</a:t>
            </a:r>
            <a:r>
              <a:rPr lang="en-US" altLang="zh-TW" dirty="0" smtClean="0"/>
              <a:t>)</a:t>
            </a:r>
          </a:p>
          <a:p>
            <a:pPr>
              <a:lnSpc>
                <a:spcPct val="120000"/>
              </a:lnSpc>
            </a:pPr>
            <a:r>
              <a:rPr lang="en-US" altLang="zh-TW" b="1" dirty="0" smtClean="0"/>
              <a:t>Bad: 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 smtClean="0"/>
              <a:t>Blocking </a:t>
            </a:r>
            <a:r>
              <a:rPr lang="en-US" altLang="zh-TW" b="1" dirty="0"/>
              <a:t>problem</a:t>
            </a:r>
            <a:r>
              <a:rPr lang="en-US" altLang="zh-TW" dirty="0"/>
              <a:t>: entire process is blocked if a thread makes a blocking system call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/>
              <a:t>No support for running in parallel on MP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Since the kernel only sees a single thread (process)</a:t>
            </a:r>
          </a:p>
          <a:p>
            <a:pPr>
              <a:lnSpc>
                <a:spcPct val="120000"/>
              </a:lnSpc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267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Many-to-One Model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27800" y="1484314"/>
            <a:ext cx="3790950" cy="453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7751764" y="5805488"/>
            <a:ext cx="178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>
                <a:latin typeface="Times New Roman" pitchFamily="18" charset="0"/>
              </a:rPr>
              <a:t>kernel thread</a:t>
            </a: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5" y="2492896"/>
            <a:ext cx="3959225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7099596" y="5928225"/>
            <a:ext cx="1202700" cy="3231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50929" y="650019"/>
            <a:ext cx="3312368" cy="40606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9456" y="19944"/>
            <a:ext cx="9337216" cy="3508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Many-to-One Model </a:t>
            </a:r>
            <a:r>
              <a:rPr lang="en-US" altLang="zh-TW" sz="2400" dirty="0" smtClean="0">
                <a:solidFill>
                  <a:srgbClr val="000000"/>
                </a:solidFill>
              </a:rPr>
              <a:t>(Assume only </a:t>
            </a:r>
            <a:r>
              <a:rPr lang="en-US" altLang="zh-TW" sz="2400" dirty="0">
                <a:solidFill>
                  <a:srgbClr val="000000"/>
                </a:solidFill>
              </a:rPr>
              <a:t>One </a:t>
            </a:r>
            <a:r>
              <a:rPr lang="en-US" altLang="zh-TW" sz="2400" dirty="0" smtClean="0">
                <a:solidFill>
                  <a:srgbClr val="000000"/>
                </a:solidFill>
              </a:rPr>
              <a:t>Processor)</a:t>
            </a:r>
            <a:endParaRPr lang="en-US" altLang="zh-TW" sz="3200" dirty="0"/>
          </a:p>
        </p:txBody>
      </p:sp>
      <p:sp>
        <p:nvSpPr>
          <p:cNvPr id="19459" name="Line 8"/>
          <p:cNvSpPr>
            <a:spLocks noChangeShapeType="1"/>
          </p:cNvSpPr>
          <p:nvPr/>
        </p:nvSpPr>
        <p:spPr bwMode="auto">
          <a:xfrm>
            <a:off x="2191904" y="5763736"/>
            <a:ext cx="7345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460" name="Rectangle 9"/>
          <p:cNvSpPr>
            <a:spLocks noChangeArrowheads="1"/>
          </p:cNvSpPr>
          <p:nvPr/>
        </p:nvSpPr>
        <p:spPr bwMode="auto">
          <a:xfrm>
            <a:off x="4654550" y="5804631"/>
            <a:ext cx="2305050" cy="5771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PCB </a:t>
            </a:r>
          </a:p>
          <a:p>
            <a:pPr algn="ctr"/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(process control block)</a:t>
            </a:r>
          </a:p>
        </p:txBody>
      </p:sp>
      <p:sp>
        <p:nvSpPr>
          <p:cNvPr id="19464" name="Text Box 17"/>
          <p:cNvSpPr txBox="1">
            <a:spLocks noChangeArrowheads="1"/>
          </p:cNvSpPr>
          <p:nvPr/>
        </p:nvSpPr>
        <p:spPr bwMode="auto">
          <a:xfrm>
            <a:off x="3935413" y="6304899"/>
            <a:ext cx="4465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kernel thread (or kernel process)</a:t>
            </a:r>
          </a:p>
        </p:txBody>
      </p:sp>
      <p:sp>
        <p:nvSpPr>
          <p:cNvPr id="19465" name="Text Box 18"/>
          <p:cNvSpPr txBox="1">
            <a:spLocks noChangeArrowheads="1"/>
          </p:cNvSpPr>
          <p:nvPr/>
        </p:nvSpPr>
        <p:spPr bwMode="auto">
          <a:xfrm>
            <a:off x="2352243" y="5276056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user level</a:t>
            </a:r>
          </a:p>
        </p:txBody>
      </p:sp>
      <p:sp>
        <p:nvSpPr>
          <p:cNvPr id="19466" name="Text Box 19"/>
          <p:cNvSpPr txBox="1">
            <a:spLocks noChangeArrowheads="1"/>
          </p:cNvSpPr>
          <p:nvPr/>
        </p:nvSpPr>
        <p:spPr bwMode="auto">
          <a:xfrm>
            <a:off x="2228634" y="5636096"/>
            <a:ext cx="1679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kernel level</a:t>
            </a:r>
          </a:p>
        </p:txBody>
      </p:sp>
      <p:sp>
        <p:nvSpPr>
          <p:cNvPr id="312346" name="Text Box 26"/>
          <p:cNvSpPr txBox="1">
            <a:spLocks noChangeArrowheads="1"/>
          </p:cNvSpPr>
          <p:nvPr/>
        </p:nvSpPr>
        <p:spPr bwMode="auto">
          <a:xfrm>
            <a:off x="7087823" y="5846207"/>
            <a:ext cx="1200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</a:t>
            </a:r>
          </a:p>
        </p:txBody>
      </p:sp>
      <p:sp>
        <p:nvSpPr>
          <p:cNvPr id="19473" name="Text Box 6"/>
          <p:cNvSpPr txBox="1">
            <a:spLocks noChangeArrowheads="1"/>
          </p:cNvSpPr>
          <p:nvPr/>
        </p:nvSpPr>
        <p:spPr bwMode="auto">
          <a:xfrm>
            <a:off x="5151890" y="315136"/>
            <a:ext cx="14253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Code Section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4511824" y="571903"/>
            <a:ext cx="30243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main()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a = a +1;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(runner());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runner()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b = b + 5;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readrun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readrun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c = c + 2;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read();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  <a:endParaRPr lang="zh-TW" alt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44389" y="4731929"/>
            <a:ext cx="3318908" cy="96398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Thread Library</a:t>
            </a:r>
            <a:endParaRPr lang="en-US" altLang="zh-TW" sz="2000" b="1" dirty="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</a:pPr>
            <a:endParaRPr lang="zh-TW" altLang="en-US" sz="20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464936" y="5000257"/>
            <a:ext cx="1086066" cy="266181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48" name="矩形 47"/>
          <p:cNvSpPr/>
          <p:nvPr/>
        </p:nvSpPr>
        <p:spPr>
          <a:xfrm>
            <a:off x="4450207" y="5269840"/>
            <a:ext cx="1086066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562691" y="5000257"/>
            <a:ext cx="1086066" cy="266181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55" name="矩形 54"/>
          <p:cNvSpPr/>
          <p:nvPr/>
        </p:nvSpPr>
        <p:spPr>
          <a:xfrm>
            <a:off x="6660445" y="4992857"/>
            <a:ext cx="1086066" cy="266181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56" name="矩形 55"/>
          <p:cNvSpPr/>
          <p:nvPr/>
        </p:nvSpPr>
        <p:spPr>
          <a:xfrm>
            <a:off x="5553832" y="5290115"/>
            <a:ext cx="1086066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647196" y="5280888"/>
            <a:ext cx="1086066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3499381" y="781726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3499381" y="1285782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3499381" y="1573814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文字方塊 59"/>
          <p:cNvSpPr txBox="1"/>
          <p:nvPr/>
        </p:nvSpPr>
        <p:spPr>
          <a:xfrm>
            <a:off x="3444444" y="499802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444444" y="997751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3407627" y="1307524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618174" y="1626078"/>
            <a:ext cx="1282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Context switch</a:t>
            </a:r>
            <a:endParaRPr lang="zh-TW" altLang="en-US" sz="1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4" name="直線單箭頭接點 63"/>
          <p:cNvCxnSpPr/>
          <p:nvPr/>
        </p:nvCxnSpPr>
        <p:spPr>
          <a:xfrm flipH="1">
            <a:off x="7942093" y="2221886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7870495" y="1948057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>
            <a:off x="7942093" y="2759589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7942093" y="3085982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7891814" y="2449198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7870495" y="2812671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8596299" y="2965717"/>
            <a:ext cx="1282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Context switch</a:t>
            </a:r>
            <a:endParaRPr lang="zh-TW" altLang="en-US" sz="1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1" name="直線單箭頭接點 70"/>
          <p:cNvCxnSpPr/>
          <p:nvPr/>
        </p:nvCxnSpPr>
        <p:spPr>
          <a:xfrm>
            <a:off x="3503299" y="3597299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3448362" y="3315375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3440156" y="3817329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5" name="直線單箭頭接點 74"/>
          <p:cNvCxnSpPr/>
          <p:nvPr/>
        </p:nvCxnSpPr>
        <p:spPr>
          <a:xfrm>
            <a:off x="3499381" y="4092665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3494495" y="4375264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文字方塊 76"/>
          <p:cNvSpPr txBox="1"/>
          <p:nvPr/>
        </p:nvSpPr>
        <p:spPr>
          <a:xfrm>
            <a:off x="3428180" y="4143101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5531358" y="4351578"/>
            <a:ext cx="27552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8261652" y="4341418"/>
            <a:ext cx="19699" cy="157664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343731" y="571902"/>
            <a:ext cx="3598362" cy="5191834"/>
          </a:xfrm>
          <a:prstGeom prst="rect">
            <a:avLst/>
          </a:prstGeom>
          <a:noFill/>
          <a:ln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圓角矩形圖說文字 19"/>
          <p:cNvSpPr/>
          <p:nvPr/>
        </p:nvSpPr>
        <p:spPr>
          <a:xfrm>
            <a:off x="8209969" y="458919"/>
            <a:ext cx="1295351" cy="427982"/>
          </a:xfrm>
          <a:prstGeom prst="wedgeRoundRectCallout">
            <a:avLst>
              <a:gd name="adj1" fmla="val -66324"/>
              <a:gd name="adj2" fmla="val 164580"/>
              <a:gd name="adj3" fmla="val 16667"/>
            </a:avLst>
          </a:pr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a process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14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1" dur="indefinite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" presetClass="emph" presetSubtype="0" autoRev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5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8" dur="indefinite"/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1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7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6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9" dur="2000" fill="hold"/>
                                        <p:tgtEl>
                                          <p:spTgt spid="31234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500"/>
                            </p:stCondLst>
                            <p:childTnLst>
                              <p:par>
                                <p:cTn id="171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2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4" dur="2000" fill="hold"/>
                                        <p:tgtEl>
                                          <p:spTgt spid="312346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312346" grpId="0"/>
      <p:bldP spid="312346" grpId="1"/>
      <p:bldP spid="312346" grpId="2"/>
      <p:bldP spid="4" grpId="0" animBg="1"/>
      <p:bldP spid="4" grpId="1" animBg="1"/>
      <p:bldP spid="54" grpId="0" animBg="1"/>
      <p:bldP spid="55" grpId="0" animBg="1"/>
      <p:bldP spid="56" grpId="0" animBg="1"/>
      <p:bldP spid="57" grpId="0" animBg="1"/>
      <p:bldP spid="60" grpId="0"/>
      <p:bldP spid="61" grpId="0"/>
      <p:bldP spid="61" grpId="1"/>
      <p:bldP spid="62" grpId="0"/>
      <p:bldP spid="63" grpId="0"/>
      <p:bldP spid="65" grpId="0"/>
      <p:bldP spid="65" grpId="1"/>
      <p:bldP spid="68" grpId="0"/>
      <p:bldP spid="68" grpId="1"/>
      <p:bldP spid="69" grpId="0"/>
      <p:bldP spid="70" grpId="0"/>
      <p:bldP spid="72" grpId="0"/>
      <p:bldP spid="72" grpId="1"/>
      <p:bldP spid="74" grpId="0"/>
      <p:bldP spid="74" grpId="1"/>
      <p:bldP spid="7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919536" y="2132856"/>
            <a:ext cx="8422704" cy="2522711"/>
          </a:xfrm>
        </p:spPr>
        <p:txBody>
          <a:bodyPr/>
          <a:lstStyle/>
          <a:p>
            <a:r>
              <a:rPr lang="en-US" altLang="zh-TW" sz="4000" dirty="0">
                <a:solidFill>
                  <a:schemeClr val="tx1"/>
                </a:solidFill>
              </a:rPr>
              <a:t>Another Example: </a:t>
            </a:r>
            <a:r>
              <a:rPr lang="zh-TW" altLang="en-US" sz="4000" dirty="0" smtClean="0">
                <a:solidFill>
                  <a:schemeClr val="tx1"/>
                </a:solidFill>
              </a:rPr>
              <a:t>汽車出租</a:t>
            </a:r>
            <a:endParaRPr lang="zh-TW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63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600" dirty="0" smtClean="0"/>
              <a:t>所以</a:t>
            </a:r>
            <a:r>
              <a:rPr lang="en-US" altLang="zh-TW" sz="3600" dirty="0" smtClean="0"/>
              <a:t>, thread</a:t>
            </a:r>
            <a:r>
              <a:rPr lang="zh-TW" altLang="en-US" sz="3600" dirty="0" smtClean="0"/>
              <a:t>的管理都是由</a:t>
            </a:r>
            <a:r>
              <a:rPr lang="en-US" altLang="zh-TW" sz="3600" dirty="0" smtClean="0"/>
              <a:t>Library</a:t>
            </a:r>
            <a:r>
              <a:rPr lang="zh-TW" altLang="en-US" sz="3600" dirty="0" smtClean="0"/>
              <a:t>提供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的管理有哪些</a:t>
            </a:r>
            <a:r>
              <a:rPr lang="en-US" altLang="zh-TW" dirty="0" smtClean="0"/>
              <a:t>?</a:t>
            </a:r>
          </a:p>
          <a:p>
            <a:r>
              <a:rPr lang="en-US" altLang="zh-TW" sz="2800" dirty="0" err="1" smtClean="0"/>
              <a:t>Ans</a:t>
            </a:r>
            <a:r>
              <a:rPr lang="en-US" altLang="zh-TW" sz="2800" dirty="0" smtClean="0"/>
              <a:t>:</a:t>
            </a:r>
            <a:r>
              <a:rPr lang="zh-TW" altLang="en-US" sz="2800" dirty="0" smtClean="0"/>
              <a:t>分配</a:t>
            </a:r>
            <a:r>
              <a:rPr lang="en-US" altLang="zh-TW" sz="2800" dirty="0" smtClean="0"/>
              <a:t>stack</a:t>
            </a:r>
            <a:r>
              <a:rPr lang="zh-TW" altLang="en-US" sz="2800" dirty="0" smtClean="0"/>
              <a:t>空間</a:t>
            </a:r>
            <a:r>
              <a:rPr lang="en-US" altLang="zh-TW" sz="2800" dirty="0" smtClean="0"/>
              <a:t>, </a:t>
            </a:r>
            <a:r>
              <a:rPr lang="zh-TW" altLang="en-US" sz="2800" dirty="0" smtClean="0"/>
              <a:t>建立</a:t>
            </a:r>
            <a:r>
              <a:rPr lang="zh-TW" altLang="en-US" sz="2800" dirty="0"/>
              <a:t>和維護</a:t>
            </a:r>
            <a:r>
              <a:rPr lang="en-US" altLang="zh-TW" sz="2800" dirty="0"/>
              <a:t>TCB, </a:t>
            </a:r>
            <a:r>
              <a:rPr lang="zh-TW" altLang="en-US" sz="2800" dirty="0"/>
              <a:t>紀錄</a:t>
            </a:r>
            <a:r>
              <a:rPr lang="en-US" altLang="zh-TW" sz="2800" dirty="0"/>
              <a:t>thread</a:t>
            </a:r>
            <a:r>
              <a:rPr lang="zh-TW" altLang="en-US" sz="2800" dirty="0"/>
              <a:t>的狀態</a:t>
            </a:r>
            <a:r>
              <a:rPr lang="en-US" altLang="zh-TW" sz="2800" dirty="0"/>
              <a:t>, </a:t>
            </a:r>
            <a:r>
              <a:rPr lang="en-US" altLang="zh-TW" sz="2800" dirty="0" smtClean="0"/>
              <a:t>thread</a:t>
            </a:r>
            <a:r>
              <a:rPr lang="zh-TW" altLang="en-US" sz="2800" dirty="0" smtClean="0"/>
              <a:t>間的</a:t>
            </a:r>
            <a:r>
              <a:rPr lang="en-US" altLang="zh-TW" sz="2800" dirty="0" smtClean="0"/>
              <a:t>context switch, </a:t>
            </a:r>
            <a:r>
              <a:rPr lang="zh-TW" altLang="en-US" sz="2800" dirty="0" smtClean="0"/>
              <a:t>排</a:t>
            </a:r>
            <a:r>
              <a:rPr lang="zh-TW" altLang="en-US" sz="2800" dirty="0"/>
              <a:t>程</a:t>
            </a:r>
            <a:r>
              <a:rPr lang="en-US" altLang="zh-TW" sz="2800" dirty="0"/>
              <a:t>thread…</a:t>
            </a:r>
            <a:r>
              <a:rPr lang="zh-TW" altLang="en-US" sz="2800" dirty="0" smtClean="0"/>
              <a:t>等等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0177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Many-to-One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當呼叫</a:t>
            </a:r>
            <a:r>
              <a:rPr lang="en-US" altLang="zh-TW" dirty="0" err="1" smtClean="0"/>
              <a:t>pthread_create</a:t>
            </a:r>
            <a:r>
              <a:rPr lang="en-US" altLang="zh-TW" dirty="0" smtClean="0"/>
              <a:t>()</a:t>
            </a:r>
            <a:r>
              <a:rPr lang="zh-TW" altLang="en-US" dirty="0" smtClean="0"/>
              <a:t>時</a:t>
            </a:r>
            <a:r>
              <a:rPr lang="en-US" altLang="zh-TW" dirty="0" smtClean="0"/>
              <a:t>, </a:t>
            </a:r>
            <a:r>
              <a:rPr lang="en-US" altLang="zh-TW" dirty="0"/>
              <a:t>library</a:t>
            </a:r>
            <a:r>
              <a:rPr lang="zh-TW" altLang="en-US" dirty="0"/>
              <a:t>會</a:t>
            </a:r>
            <a:r>
              <a:rPr lang="zh-TW" altLang="en-US" dirty="0" smtClean="0"/>
              <a:t>知道有一個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產生</a:t>
            </a:r>
            <a:r>
              <a:rPr lang="en-US" altLang="zh-TW" dirty="0" smtClean="0"/>
              <a:t>, </a:t>
            </a:r>
            <a:r>
              <a:rPr lang="zh-TW" altLang="en-US" dirty="0" smtClean="0"/>
              <a:t>然後</a:t>
            </a:r>
            <a:r>
              <a:rPr lang="en-US" altLang="zh-TW" dirty="0" smtClean="0"/>
              <a:t>library</a:t>
            </a:r>
            <a:r>
              <a:rPr lang="zh-TW" altLang="en-US" dirty="0" smtClean="0"/>
              <a:t>會管理</a:t>
            </a:r>
            <a:r>
              <a:rPr lang="en-US" altLang="zh-TW" dirty="0" smtClean="0"/>
              <a:t>(</a:t>
            </a:r>
            <a:r>
              <a:rPr lang="zh-TW" altLang="en-US" dirty="0" smtClean="0"/>
              <a:t>例如產生</a:t>
            </a:r>
            <a:r>
              <a:rPr lang="en-US" altLang="zh-TW" dirty="0" smtClean="0"/>
              <a:t>TCB, </a:t>
            </a:r>
            <a:r>
              <a:rPr lang="zh-TW" altLang="en-US" dirty="0" smtClean="0"/>
              <a:t>分配記憶體並記錄其</a:t>
            </a:r>
            <a:r>
              <a:rPr lang="en-US" altLang="zh-TW" dirty="0" smtClean="0"/>
              <a:t>state)</a:t>
            </a:r>
            <a:r>
              <a:rPr lang="zh-TW" altLang="en-US" dirty="0" smtClean="0"/>
              <a:t>並執行這個</a:t>
            </a:r>
            <a:r>
              <a:rPr lang="en-US" altLang="zh-TW" dirty="0" smtClean="0"/>
              <a:t>thread(</a:t>
            </a:r>
            <a:r>
              <a:rPr lang="zh-TW" altLang="en-US" dirty="0" smtClean="0"/>
              <a:t>例如週期性執行</a:t>
            </a:r>
            <a:r>
              <a:rPr lang="en-US" altLang="zh-TW" dirty="0" smtClean="0"/>
              <a:t>)</a:t>
            </a:r>
          </a:p>
          <a:p>
            <a:pPr lvl="1"/>
            <a:endParaRPr lang="en-US" altLang="zh-TW" dirty="0"/>
          </a:p>
          <a:p>
            <a:r>
              <a:rPr lang="zh-TW" altLang="en-US" dirty="0" smtClean="0"/>
              <a:t>但是</a:t>
            </a:r>
            <a:r>
              <a:rPr lang="en-US" altLang="zh-TW" dirty="0" smtClean="0"/>
              <a:t>, OS</a:t>
            </a:r>
            <a:r>
              <a:rPr lang="zh-TW" altLang="en-US" dirty="0" smtClean="0"/>
              <a:t>只知道</a:t>
            </a:r>
            <a:r>
              <a:rPr lang="zh-TW" altLang="en-US" dirty="0"/>
              <a:t>有</a:t>
            </a:r>
            <a:r>
              <a:rPr lang="zh-TW" altLang="en-US" dirty="0" smtClean="0"/>
              <a:t>一個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存在</a:t>
            </a:r>
            <a:r>
              <a:rPr lang="en-US" altLang="zh-TW" dirty="0" smtClean="0"/>
              <a:t>(</a:t>
            </a:r>
            <a:r>
              <a:rPr lang="zh-TW" altLang="en-US" dirty="0" smtClean="0"/>
              <a:t>因為</a:t>
            </a:r>
            <a:r>
              <a:rPr lang="en-US" altLang="zh-TW" dirty="0" err="1" smtClean="0"/>
              <a:t>pthread_create</a:t>
            </a:r>
            <a:r>
              <a:rPr lang="en-US" altLang="zh-TW" dirty="0" smtClean="0"/>
              <a:t>()</a:t>
            </a:r>
            <a:r>
              <a:rPr lang="zh-TW" altLang="en-US" dirty="0" smtClean="0"/>
              <a:t>只呼叫到</a:t>
            </a:r>
            <a:r>
              <a:rPr lang="en-US" altLang="zh-TW" dirty="0" smtClean="0"/>
              <a:t>library, OS</a:t>
            </a:r>
            <a:r>
              <a:rPr lang="zh-TW" altLang="en-US" dirty="0" smtClean="0"/>
              <a:t>不知道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836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Many-to-One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However</a:t>
            </a:r>
            <a:r>
              <a:rPr lang="en-US" altLang="zh-TW" dirty="0"/>
              <a:t>, very few systems continues to use this model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Cannot </a:t>
            </a:r>
            <a:r>
              <a:rPr lang="en-US" altLang="zh-TW" dirty="0"/>
              <a:t>take advantages of multiple </a:t>
            </a:r>
            <a:r>
              <a:rPr lang="en-US" altLang="zh-TW" dirty="0" smtClean="0"/>
              <a:t>cores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Why?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 (see the following slide)</a:t>
            </a:r>
            <a:endParaRPr lang="en-US" altLang="zh-TW" b="1" dirty="0">
              <a:solidFill>
                <a:srgbClr val="FF0000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496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7099596" y="5928225"/>
            <a:ext cx="1202700" cy="3231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50929" y="650019"/>
            <a:ext cx="3312368" cy="40606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9456" y="19944"/>
            <a:ext cx="9337216" cy="3508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Many-to-One Model </a:t>
            </a:r>
            <a:r>
              <a:rPr lang="en-US" altLang="zh-TW" sz="2400" dirty="0" smtClean="0">
                <a:solidFill>
                  <a:srgbClr val="000000"/>
                </a:solidFill>
              </a:rPr>
              <a:t>(Assume Three Processors</a:t>
            </a:r>
            <a:r>
              <a:rPr lang="en-US" altLang="zh-TW" sz="2400" dirty="0">
                <a:solidFill>
                  <a:srgbClr val="000000"/>
                </a:solidFill>
              </a:rPr>
              <a:t>)</a:t>
            </a:r>
            <a:endParaRPr lang="en-US" altLang="zh-TW" sz="3200" dirty="0"/>
          </a:p>
        </p:txBody>
      </p:sp>
      <p:sp>
        <p:nvSpPr>
          <p:cNvPr id="19459" name="Line 8"/>
          <p:cNvSpPr>
            <a:spLocks noChangeShapeType="1"/>
          </p:cNvSpPr>
          <p:nvPr/>
        </p:nvSpPr>
        <p:spPr bwMode="auto">
          <a:xfrm>
            <a:off x="2191904" y="5763736"/>
            <a:ext cx="7345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460" name="Rectangle 9"/>
          <p:cNvSpPr>
            <a:spLocks noChangeArrowheads="1"/>
          </p:cNvSpPr>
          <p:nvPr/>
        </p:nvSpPr>
        <p:spPr bwMode="auto">
          <a:xfrm>
            <a:off x="4511824" y="5804632"/>
            <a:ext cx="2447776" cy="41849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PCB </a:t>
            </a:r>
          </a:p>
        </p:txBody>
      </p:sp>
      <p:sp>
        <p:nvSpPr>
          <p:cNvPr id="19465" name="Text Box 18"/>
          <p:cNvSpPr txBox="1">
            <a:spLocks noChangeArrowheads="1"/>
          </p:cNvSpPr>
          <p:nvPr/>
        </p:nvSpPr>
        <p:spPr bwMode="auto">
          <a:xfrm>
            <a:off x="2352243" y="5276056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user level</a:t>
            </a:r>
          </a:p>
        </p:txBody>
      </p:sp>
      <p:sp>
        <p:nvSpPr>
          <p:cNvPr id="19466" name="Text Box 19"/>
          <p:cNvSpPr txBox="1">
            <a:spLocks noChangeArrowheads="1"/>
          </p:cNvSpPr>
          <p:nvPr/>
        </p:nvSpPr>
        <p:spPr bwMode="auto">
          <a:xfrm>
            <a:off x="2228634" y="5636096"/>
            <a:ext cx="1679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kernel level</a:t>
            </a:r>
          </a:p>
        </p:txBody>
      </p:sp>
      <p:sp>
        <p:nvSpPr>
          <p:cNvPr id="312346" name="Text Box 26"/>
          <p:cNvSpPr txBox="1">
            <a:spLocks noChangeArrowheads="1"/>
          </p:cNvSpPr>
          <p:nvPr/>
        </p:nvSpPr>
        <p:spPr bwMode="auto">
          <a:xfrm>
            <a:off x="7087823" y="5846207"/>
            <a:ext cx="1200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blocked</a:t>
            </a:r>
          </a:p>
        </p:txBody>
      </p:sp>
      <p:sp>
        <p:nvSpPr>
          <p:cNvPr id="19473" name="Text Box 6"/>
          <p:cNvSpPr txBox="1">
            <a:spLocks noChangeArrowheads="1"/>
          </p:cNvSpPr>
          <p:nvPr/>
        </p:nvSpPr>
        <p:spPr bwMode="auto">
          <a:xfrm>
            <a:off x="5151890" y="315136"/>
            <a:ext cx="14253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Code Section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4511824" y="571903"/>
            <a:ext cx="30243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main()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a = a +1;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(runner());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runner()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b = b + 5;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readrun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readrun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c = c + 2;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read();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  <a:endParaRPr lang="zh-TW" alt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44389" y="4731929"/>
            <a:ext cx="3318908" cy="96398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Thread Library</a:t>
            </a:r>
            <a:endParaRPr lang="en-US" altLang="zh-TW" sz="2000" b="1" dirty="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pPr algn="ctr">
              <a:spcBef>
                <a:spcPts val="1200"/>
              </a:spcBef>
              <a:spcAft>
                <a:spcPts val="600"/>
              </a:spcAft>
            </a:pPr>
            <a:endParaRPr lang="zh-TW" altLang="en-US" sz="20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464936" y="5000257"/>
            <a:ext cx="1086066" cy="266181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48" name="矩形 47"/>
          <p:cNvSpPr/>
          <p:nvPr/>
        </p:nvSpPr>
        <p:spPr>
          <a:xfrm>
            <a:off x="4450207" y="5269840"/>
            <a:ext cx="1086066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562691" y="5000257"/>
            <a:ext cx="1086066" cy="266181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55" name="矩形 54"/>
          <p:cNvSpPr/>
          <p:nvPr/>
        </p:nvSpPr>
        <p:spPr>
          <a:xfrm>
            <a:off x="6660445" y="4992857"/>
            <a:ext cx="1086066" cy="266181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56" name="矩形 55"/>
          <p:cNvSpPr/>
          <p:nvPr/>
        </p:nvSpPr>
        <p:spPr>
          <a:xfrm>
            <a:off x="5553832" y="5290115"/>
            <a:ext cx="1086066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647196" y="5280888"/>
            <a:ext cx="1086066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3499381" y="781726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3499381" y="1285782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3499381" y="1573814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文字方塊 59"/>
          <p:cNvSpPr txBox="1"/>
          <p:nvPr/>
        </p:nvSpPr>
        <p:spPr>
          <a:xfrm>
            <a:off x="3444444" y="499802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444444" y="997751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3407627" y="1307524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618174" y="1626078"/>
            <a:ext cx="1282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Context switch</a:t>
            </a:r>
            <a:endParaRPr lang="zh-TW" altLang="en-US" sz="1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4" name="直線單箭頭接點 63"/>
          <p:cNvCxnSpPr/>
          <p:nvPr/>
        </p:nvCxnSpPr>
        <p:spPr>
          <a:xfrm flipH="1">
            <a:off x="7942093" y="2221886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7870495" y="1948057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>
            <a:off x="7942093" y="2759589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7942093" y="3085982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7891814" y="2449198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7870495" y="2812671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8596299" y="2965717"/>
            <a:ext cx="1282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</a:rPr>
              <a:t>Context switch</a:t>
            </a:r>
            <a:endParaRPr lang="zh-TW" altLang="en-US" sz="1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1" name="直線單箭頭接點 70"/>
          <p:cNvCxnSpPr/>
          <p:nvPr/>
        </p:nvCxnSpPr>
        <p:spPr>
          <a:xfrm>
            <a:off x="3503299" y="3597299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3448362" y="3315375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3440156" y="3817329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5" name="直線單箭頭接點 74"/>
          <p:cNvCxnSpPr/>
          <p:nvPr/>
        </p:nvCxnSpPr>
        <p:spPr>
          <a:xfrm>
            <a:off x="3499381" y="4092665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3494495" y="4375264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文字方塊 76"/>
          <p:cNvSpPr txBox="1"/>
          <p:nvPr/>
        </p:nvSpPr>
        <p:spPr>
          <a:xfrm>
            <a:off x="3428180" y="4143101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5531358" y="4351578"/>
            <a:ext cx="27552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8261652" y="4341418"/>
            <a:ext cx="19699" cy="157664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343731" y="571902"/>
            <a:ext cx="3598362" cy="5191834"/>
          </a:xfrm>
          <a:prstGeom prst="rect">
            <a:avLst/>
          </a:prstGeom>
          <a:noFill/>
          <a:ln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圓角矩形圖說文字 19"/>
          <p:cNvSpPr/>
          <p:nvPr/>
        </p:nvSpPr>
        <p:spPr>
          <a:xfrm>
            <a:off x="8209969" y="458919"/>
            <a:ext cx="1295351" cy="427982"/>
          </a:xfrm>
          <a:prstGeom prst="wedgeRoundRectCallout">
            <a:avLst>
              <a:gd name="adj1" fmla="val -66324"/>
              <a:gd name="adj2" fmla="val 164580"/>
              <a:gd name="adj3" fmla="val 16667"/>
            </a:avLst>
          </a:pr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a process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Rectangle 9"/>
          <p:cNvSpPr>
            <a:spLocks noChangeArrowheads="1"/>
          </p:cNvSpPr>
          <p:nvPr/>
        </p:nvSpPr>
        <p:spPr bwMode="auto">
          <a:xfrm>
            <a:off x="4511824" y="6381328"/>
            <a:ext cx="2447776" cy="41849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CPU</a:t>
            </a:r>
            <a:endParaRPr lang="en-US" altLang="zh-TW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7320136" y="6381328"/>
            <a:ext cx="2447776" cy="41849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CPU</a:t>
            </a:r>
            <a:endParaRPr lang="en-US" altLang="zh-TW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Rectangle 9"/>
          <p:cNvSpPr>
            <a:spLocks noChangeArrowheads="1"/>
          </p:cNvSpPr>
          <p:nvPr/>
        </p:nvSpPr>
        <p:spPr bwMode="auto">
          <a:xfrm>
            <a:off x="1704008" y="6381328"/>
            <a:ext cx="2447776" cy="41849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CPU</a:t>
            </a:r>
            <a:endParaRPr lang="en-US" altLang="zh-TW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向下箭號 2"/>
          <p:cNvSpPr/>
          <p:nvPr/>
        </p:nvSpPr>
        <p:spPr>
          <a:xfrm>
            <a:off x="5591944" y="6165304"/>
            <a:ext cx="250915" cy="30222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Rectangle 9"/>
          <p:cNvSpPr>
            <a:spLocks noChangeArrowheads="1"/>
          </p:cNvSpPr>
          <p:nvPr/>
        </p:nvSpPr>
        <p:spPr bwMode="auto">
          <a:xfrm>
            <a:off x="8472760" y="5828761"/>
            <a:ext cx="2447776" cy="41849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PCB </a:t>
            </a:r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5807969" y="6091701"/>
            <a:ext cx="3384375" cy="30381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13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5" dur="indefinite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mph" presetSubtype="0" autoRev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9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52" dur="indefinite"/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1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1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72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3" dur="2000" fill="hold"/>
                                        <p:tgtEl>
                                          <p:spTgt spid="31234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500"/>
                            </p:stCondLst>
                            <p:childTnLst>
                              <p:par>
                                <p:cTn id="175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6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77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8" dur="2000" fill="hold"/>
                                        <p:tgtEl>
                                          <p:spTgt spid="312346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312346" grpId="0"/>
      <p:bldP spid="312346" grpId="1"/>
      <p:bldP spid="312346" grpId="2"/>
      <p:bldP spid="4" grpId="0" animBg="1"/>
      <p:bldP spid="4" grpId="1" animBg="1"/>
      <p:bldP spid="54" grpId="0" animBg="1"/>
      <p:bldP spid="55" grpId="0" animBg="1"/>
      <p:bldP spid="56" grpId="0" animBg="1"/>
      <p:bldP spid="57" grpId="0" animBg="1"/>
      <p:bldP spid="60" grpId="0"/>
      <p:bldP spid="61" grpId="0"/>
      <p:bldP spid="61" grpId="1"/>
      <p:bldP spid="62" grpId="0"/>
      <p:bldP spid="63" grpId="0"/>
      <p:bldP spid="65" grpId="0"/>
      <p:bldP spid="65" grpId="1"/>
      <p:bldP spid="68" grpId="0"/>
      <p:bldP spid="68" grpId="1"/>
      <p:bldP spid="69" grpId="0"/>
      <p:bldP spid="70" grpId="0"/>
      <p:bldP spid="72" grpId="0"/>
      <p:bldP spid="72" grpId="1"/>
      <p:bldP spid="74" grpId="0"/>
      <p:bldP spid="74" grpId="1"/>
      <p:bldP spid="77" grpId="0"/>
      <p:bldP spid="3" grpId="0" animBg="1"/>
      <p:bldP spid="3" grpId="1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Multithreading Models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dirty="0"/>
              <a:t>Many-to-One Model</a:t>
            </a:r>
          </a:p>
          <a:p>
            <a:pPr eaLnBrk="1" hangingPunct="1">
              <a:lnSpc>
                <a:spcPct val="80000"/>
              </a:lnSpc>
            </a:pPr>
            <a:endParaRPr lang="en-US" altLang="zh-TW" dirty="0"/>
          </a:p>
          <a:p>
            <a:pPr eaLnBrk="1" hangingPunct="1">
              <a:lnSpc>
                <a:spcPct val="8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One-to-One Model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dirty="0"/>
          </a:p>
          <a:p>
            <a:pPr eaLnBrk="1" hangingPunct="1">
              <a:lnSpc>
                <a:spcPct val="80000"/>
              </a:lnSpc>
            </a:pPr>
            <a:r>
              <a:rPr lang="en-US" altLang="zh-TW" dirty="0"/>
              <a:t>Many-to-Many Model</a:t>
            </a:r>
          </a:p>
          <a:p>
            <a:pPr lvl="1"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7040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One-to-One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Used on systems that support kernel threads.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Each user-level thread maps to a kernel thread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Good: more concurrency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No blocking system call problem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If a thread makes a blocking system call, kernel can run another thread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Allow multiple threads to run in parallel on multiprocessors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Bad: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Creating a user thread requires </a:t>
            </a:r>
            <a:r>
              <a:rPr lang="en-US" altLang="zh-TW" dirty="0">
                <a:solidFill>
                  <a:srgbClr val="FF0000"/>
                </a:solidFill>
              </a:rPr>
              <a:t>creating a kernel thread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Besides, high overhead if there are many kernel threads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Thus, OS may restrict the number of user threads to be created</a:t>
            </a:r>
          </a:p>
          <a:p>
            <a:pPr>
              <a:lnSpc>
                <a:spcPct val="12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614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One-to-one Model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0" y="1844824"/>
            <a:ext cx="6696744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9"/>
          <p:cNvSpPr>
            <a:spLocks noChangeArrowheads="1"/>
          </p:cNvSpPr>
          <p:nvPr/>
        </p:nvSpPr>
        <p:spPr bwMode="auto">
          <a:xfrm>
            <a:off x="1959301" y="5960314"/>
            <a:ext cx="2305050" cy="6483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PCB </a:t>
            </a:r>
          </a:p>
          <a:p>
            <a:pPr algn="ctr"/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(process control block)</a:t>
            </a:r>
          </a:p>
        </p:txBody>
      </p:sp>
      <p:sp>
        <p:nvSpPr>
          <p:cNvPr id="2" name="矩形 1"/>
          <p:cNvSpPr/>
          <p:nvPr/>
        </p:nvSpPr>
        <p:spPr>
          <a:xfrm>
            <a:off x="4738168" y="445082"/>
            <a:ext cx="3312368" cy="41061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41563" y="-223"/>
            <a:ext cx="8229600" cy="453774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One-to-One Model (If Only One CPU is Available)</a:t>
            </a:r>
            <a:endParaRPr lang="en-US" altLang="zh-TW" sz="3200" dirty="0"/>
          </a:p>
        </p:txBody>
      </p:sp>
      <p:sp>
        <p:nvSpPr>
          <p:cNvPr id="19459" name="Line 8"/>
          <p:cNvSpPr>
            <a:spLocks noChangeShapeType="1"/>
          </p:cNvSpPr>
          <p:nvPr/>
        </p:nvSpPr>
        <p:spPr bwMode="auto">
          <a:xfrm>
            <a:off x="1559760" y="5412751"/>
            <a:ext cx="7345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466" name="Text Box 19"/>
          <p:cNvSpPr txBox="1">
            <a:spLocks noChangeArrowheads="1"/>
          </p:cNvSpPr>
          <p:nvPr/>
        </p:nvSpPr>
        <p:spPr bwMode="auto">
          <a:xfrm>
            <a:off x="2228634" y="5357664"/>
            <a:ext cx="1679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kernel level</a:t>
            </a:r>
          </a:p>
        </p:txBody>
      </p:sp>
      <p:sp>
        <p:nvSpPr>
          <p:cNvPr id="312346" name="Text Box 26"/>
          <p:cNvSpPr txBox="1">
            <a:spLocks noChangeArrowheads="1"/>
          </p:cNvSpPr>
          <p:nvPr/>
        </p:nvSpPr>
        <p:spPr bwMode="auto">
          <a:xfrm>
            <a:off x="7039799" y="6467867"/>
            <a:ext cx="11319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waiting</a:t>
            </a:r>
          </a:p>
        </p:txBody>
      </p:sp>
      <p:sp>
        <p:nvSpPr>
          <p:cNvPr id="19473" name="Text Box 6"/>
          <p:cNvSpPr txBox="1">
            <a:spLocks noChangeArrowheads="1"/>
          </p:cNvSpPr>
          <p:nvPr/>
        </p:nvSpPr>
        <p:spPr bwMode="auto">
          <a:xfrm>
            <a:off x="8113761" y="840413"/>
            <a:ext cx="14782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 Code Section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4727848" y="445083"/>
            <a:ext cx="30243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main()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a = a +1;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(runner());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runner()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b = b + 5;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readrun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readrun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c = c + 2;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read();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  <a:endParaRPr lang="zh-TW" alt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27848" y="4557747"/>
            <a:ext cx="3322836" cy="75284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Thread Library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altLang="zh-TW" sz="1800" b="1" dirty="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endParaRPr lang="zh-TW" altLang="en-US" sz="18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18555" y="5531328"/>
            <a:ext cx="971261" cy="266181"/>
          </a:xfrm>
          <a:prstGeom prst="rect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48" name="矩形 47"/>
          <p:cNvSpPr/>
          <p:nvPr/>
        </p:nvSpPr>
        <p:spPr>
          <a:xfrm>
            <a:off x="4738169" y="4885838"/>
            <a:ext cx="1141807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972223" y="5536045"/>
            <a:ext cx="971261" cy="266181"/>
          </a:xfrm>
          <a:prstGeom prst="rect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55" name="矩形 54"/>
          <p:cNvSpPr/>
          <p:nvPr/>
        </p:nvSpPr>
        <p:spPr>
          <a:xfrm>
            <a:off x="7079276" y="5522227"/>
            <a:ext cx="971261" cy="266181"/>
          </a:xfrm>
          <a:prstGeom prst="rect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56" name="矩形 55"/>
          <p:cNvSpPr/>
          <p:nvPr/>
        </p:nvSpPr>
        <p:spPr>
          <a:xfrm>
            <a:off x="5879976" y="4885838"/>
            <a:ext cx="1108848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009539" y="4885838"/>
            <a:ext cx="1065835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3786768" y="637710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3786768" y="1141766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3786768" y="1429798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文字方塊 59"/>
          <p:cNvSpPr txBox="1"/>
          <p:nvPr/>
        </p:nvSpPr>
        <p:spPr>
          <a:xfrm>
            <a:off x="3731831" y="355786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731831" y="853735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3695014" y="1163508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905561" y="1482061"/>
            <a:ext cx="1567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context switch</a:t>
            </a:r>
            <a:endParaRPr lang="zh-TW" altLang="en-US" sz="1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4" name="直線單箭頭接點 63"/>
          <p:cNvCxnSpPr/>
          <p:nvPr/>
        </p:nvCxnSpPr>
        <p:spPr>
          <a:xfrm flipH="1">
            <a:off x="8239948" y="1974637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8168350" y="1700808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>
            <a:off x="8239948" y="2512340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8225794" y="2838733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8189669" y="2201949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8194700" y="2565422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8905122" y="2622709"/>
            <a:ext cx="1593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context switch</a:t>
            </a:r>
            <a:endParaRPr lang="zh-TW" altLang="en-US" sz="1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1" name="直線單箭頭接點 70"/>
          <p:cNvCxnSpPr/>
          <p:nvPr/>
        </p:nvCxnSpPr>
        <p:spPr>
          <a:xfrm>
            <a:off x="3790686" y="3453283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3735749" y="3171359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3727543" y="3673313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5" name="直線單箭頭接點 74"/>
          <p:cNvCxnSpPr/>
          <p:nvPr/>
        </p:nvCxnSpPr>
        <p:spPr>
          <a:xfrm>
            <a:off x="3786768" y="3948649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3781882" y="4278176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文字方塊 76"/>
          <p:cNvSpPr txBox="1"/>
          <p:nvPr/>
        </p:nvSpPr>
        <p:spPr>
          <a:xfrm>
            <a:off x="3715567" y="3999085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4783872" y="5880190"/>
            <a:ext cx="991234" cy="717163"/>
          </a:xfrm>
          <a:prstGeom prst="roundRect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Kernel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thread 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descriptor</a:t>
            </a:r>
            <a:endParaRPr lang="zh-TW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4" name="直線單箭頭接點 43"/>
          <p:cNvCxnSpPr>
            <a:endCxn id="54" idx="0"/>
          </p:cNvCxnSpPr>
          <p:nvPr/>
        </p:nvCxnSpPr>
        <p:spPr>
          <a:xfrm>
            <a:off x="6457853" y="5301208"/>
            <a:ext cx="1" cy="234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圓角矩形 44"/>
          <p:cNvSpPr/>
          <p:nvPr/>
        </p:nvSpPr>
        <p:spPr>
          <a:xfrm>
            <a:off x="5960754" y="5874603"/>
            <a:ext cx="96582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Kernel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Thread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descriptor</a:t>
            </a:r>
            <a:endParaRPr lang="zh-TW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6" name="直線單箭頭接點 45"/>
          <p:cNvCxnSpPr>
            <a:endCxn id="55" idx="0"/>
          </p:cNvCxnSpPr>
          <p:nvPr/>
        </p:nvCxnSpPr>
        <p:spPr>
          <a:xfrm>
            <a:off x="7555492" y="5327340"/>
            <a:ext cx="9414" cy="194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圓角矩形 46"/>
          <p:cNvSpPr/>
          <p:nvPr/>
        </p:nvSpPr>
        <p:spPr>
          <a:xfrm>
            <a:off x="7080476" y="5874604"/>
            <a:ext cx="1031748" cy="7171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Kernel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Thread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descriptor</a:t>
            </a:r>
            <a:endParaRPr lang="zh-TW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966330" y="6465636"/>
            <a:ext cx="725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run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6122273" y="6465642"/>
            <a:ext cx="725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run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7309909" y="6465635"/>
            <a:ext cx="725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run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812908" y="6468436"/>
            <a:ext cx="977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70C0"/>
                </a:solidFill>
              </a:rPr>
              <a:t>ready</a:t>
            </a:r>
            <a:endParaRPr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6016078" y="6469713"/>
            <a:ext cx="1262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70C0"/>
                </a:solidFill>
              </a:rPr>
              <a:t>ready</a:t>
            </a:r>
            <a:endParaRPr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7078916" y="4501350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latin typeface="Calibri" pitchFamily="34" charset="0"/>
              </a:rPr>
              <a:t>clone()</a:t>
            </a:r>
            <a:endParaRPr lang="zh-TW" altLang="en-US" sz="1800" dirty="0">
              <a:latin typeface="Calibri" pitchFamily="34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7078916" y="4507834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latin typeface="Calibri" pitchFamily="34" charset="0"/>
              </a:rPr>
              <a:t>clone()</a:t>
            </a:r>
            <a:endParaRPr lang="zh-TW" altLang="en-US" sz="1800" dirty="0">
              <a:latin typeface="Calibri" pitchFamily="34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2855640" y="4310118"/>
            <a:ext cx="1593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context switch</a:t>
            </a:r>
            <a:endParaRPr lang="zh-TW" altLang="en-US" sz="1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9" name="直線單箭頭接點 78"/>
          <p:cNvCxnSpPr/>
          <p:nvPr/>
        </p:nvCxnSpPr>
        <p:spPr>
          <a:xfrm>
            <a:off x="5303912" y="5301208"/>
            <a:ext cx="1" cy="234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4585870" y="355786"/>
            <a:ext cx="3598362" cy="5096696"/>
          </a:xfrm>
          <a:prstGeom prst="rect">
            <a:avLst/>
          </a:prstGeom>
          <a:noFill/>
          <a:ln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圓角矩形圖說文字 80"/>
          <p:cNvSpPr/>
          <p:nvPr/>
        </p:nvSpPr>
        <p:spPr>
          <a:xfrm>
            <a:off x="8657722" y="3658427"/>
            <a:ext cx="1295351" cy="427982"/>
          </a:xfrm>
          <a:prstGeom prst="wedgeRoundRectCallout">
            <a:avLst>
              <a:gd name="adj1" fmla="val -83580"/>
              <a:gd name="adj2" fmla="val -22961"/>
              <a:gd name="adj3" fmla="val 16667"/>
            </a:avLst>
          </a:pr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a process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19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autoRev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26" dur="indefinite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0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" presetClass="exit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15" dur="indefinite"/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31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6" presetClass="emph" presetSubtype="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5" dur="1000" fill="hold"/>
                                        <p:tgtEl>
                                          <p:spTgt spid="31234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00"/>
                            </p:stCondLst>
                            <p:childTnLst>
                              <p:par>
                                <p:cTn id="237" presetID="4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46" grpId="0"/>
      <p:bldP spid="312346" grpId="1"/>
      <p:bldP spid="4" grpId="0" animBg="1"/>
      <p:bldP spid="4" grpId="1" animBg="1"/>
      <p:bldP spid="54" grpId="0" animBg="1"/>
      <p:bldP spid="55" grpId="0" animBg="1"/>
      <p:bldP spid="56" grpId="0" animBg="1"/>
      <p:bldP spid="57" grpId="0" animBg="1"/>
      <p:bldP spid="60" grpId="0"/>
      <p:bldP spid="61" grpId="0"/>
      <p:bldP spid="61" grpId="1"/>
      <p:bldP spid="62" grpId="0"/>
      <p:bldP spid="63" grpId="0"/>
      <p:bldP spid="65" grpId="0"/>
      <p:bldP spid="65" grpId="1"/>
      <p:bldP spid="68" grpId="0"/>
      <p:bldP spid="68" grpId="1"/>
      <p:bldP spid="69" grpId="0"/>
      <p:bldP spid="70" grpId="0"/>
      <p:bldP spid="72" grpId="0"/>
      <p:bldP spid="72" grpId="1"/>
      <p:bldP spid="74" grpId="0"/>
      <p:bldP spid="74" grpId="1"/>
      <p:bldP spid="77" grpId="0"/>
      <p:bldP spid="45" grpId="0" animBg="1"/>
      <p:bldP spid="47" grpId="0" animBg="1"/>
      <p:bldP spid="7" grpId="0"/>
      <p:bldP spid="49" grpId="0"/>
      <p:bldP spid="49" grpId="1"/>
      <p:bldP spid="49" grpId="2"/>
      <p:bldP spid="50" grpId="0"/>
      <p:bldP spid="50" grpId="1"/>
      <p:bldP spid="8" grpId="0"/>
      <p:bldP spid="52" grpId="0"/>
      <p:bldP spid="52" grpId="1"/>
      <p:bldP spid="51" grpId="0"/>
      <p:bldP spid="51" grpId="1"/>
      <p:bldP spid="53" grpId="2"/>
      <p:bldP spid="53" grpId="3"/>
      <p:bldP spid="73" grpId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50929" y="650019"/>
            <a:ext cx="3312368" cy="40855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087376" y="19944"/>
            <a:ext cx="8229600" cy="340704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400">
                <a:solidFill>
                  <a:srgbClr val="000000"/>
                </a:solidFill>
              </a:rPr>
              <a:t>One-to-One </a:t>
            </a:r>
            <a:r>
              <a:rPr lang="en-US" altLang="zh-TW" sz="2400" dirty="0">
                <a:solidFill>
                  <a:srgbClr val="000000"/>
                </a:solidFill>
              </a:rPr>
              <a:t>Model (If Three CPU Cores are Available)</a:t>
            </a:r>
            <a:endParaRPr lang="en-US" altLang="zh-TW" sz="3200" dirty="0"/>
          </a:p>
        </p:txBody>
      </p:sp>
      <p:sp>
        <p:nvSpPr>
          <p:cNvPr id="19459" name="Line 8"/>
          <p:cNvSpPr>
            <a:spLocks noChangeShapeType="1"/>
          </p:cNvSpPr>
          <p:nvPr/>
        </p:nvSpPr>
        <p:spPr bwMode="auto">
          <a:xfrm>
            <a:off x="2191904" y="5661248"/>
            <a:ext cx="7345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460" name="Rectangle 9"/>
          <p:cNvSpPr>
            <a:spLocks noChangeArrowheads="1"/>
          </p:cNvSpPr>
          <p:nvPr/>
        </p:nvSpPr>
        <p:spPr bwMode="auto">
          <a:xfrm>
            <a:off x="1811544" y="6091761"/>
            <a:ext cx="2305050" cy="5771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PCB </a:t>
            </a:r>
          </a:p>
          <a:p>
            <a:pPr algn="ctr"/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(process control block)</a:t>
            </a:r>
          </a:p>
        </p:txBody>
      </p:sp>
      <p:sp>
        <p:nvSpPr>
          <p:cNvPr id="19465" name="Text Box 18"/>
          <p:cNvSpPr txBox="1">
            <a:spLocks noChangeArrowheads="1"/>
          </p:cNvSpPr>
          <p:nvPr/>
        </p:nvSpPr>
        <p:spPr bwMode="auto">
          <a:xfrm>
            <a:off x="2352243" y="5204048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user level</a:t>
            </a:r>
          </a:p>
        </p:txBody>
      </p:sp>
      <p:sp>
        <p:nvSpPr>
          <p:cNvPr id="19466" name="Text Box 19"/>
          <p:cNvSpPr txBox="1">
            <a:spLocks noChangeArrowheads="1"/>
          </p:cNvSpPr>
          <p:nvPr/>
        </p:nvSpPr>
        <p:spPr bwMode="auto">
          <a:xfrm>
            <a:off x="2228634" y="5636096"/>
            <a:ext cx="1679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kernel level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4511824" y="571903"/>
            <a:ext cx="30243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main() 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(runner());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x = x +1;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y = y + 1;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runner() 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readrun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= </a:t>
            </a:r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i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+ 6;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j = j * 8;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en-US" altLang="zh-TW" sz="1800" dirty="0" err="1">
                <a:solidFill>
                  <a:srgbClr val="000000"/>
                </a:solidFill>
                <a:latin typeface="Calibri" panose="020F0502020204030204" pitchFamily="34" charset="0"/>
              </a:rPr>
              <a:t>readrun</a:t>
            </a:r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c = c + 2;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    d = 10 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anose="020F0502020204030204" pitchFamily="34" charset="0"/>
              </a:rPr>
              <a:t>}</a:t>
            </a:r>
            <a:endParaRPr lang="zh-TW" alt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44389" y="4725144"/>
            <a:ext cx="3318908" cy="7490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Thread Library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zh-TW" altLang="en-US" sz="20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450207" y="5048125"/>
            <a:ext cx="1086066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553832" y="5068400"/>
            <a:ext cx="1086066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647196" y="5059173"/>
            <a:ext cx="1086066" cy="41537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</a:rPr>
              <a:t>thread descriptor</a:t>
            </a:r>
            <a:endParaRPr lang="zh-TW" alt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59" name="直線單箭頭接點 58"/>
          <p:cNvCxnSpPr/>
          <p:nvPr/>
        </p:nvCxnSpPr>
        <p:spPr>
          <a:xfrm>
            <a:off x="3499381" y="1374012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3431704" y="1124744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7" name="直線單箭頭接點 66"/>
          <p:cNvCxnSpPr/>
          <p:nvPr/>
        </p:nvCxnSpPr>
        <p:spPr>
          <a:xfrm flipH="1">
            <a:off x="7942093" y="3068960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7896200" y="2793624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3440156" y="3817329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5" name="直線單箭頭接點 74"/>
          <p:cNvCxnSpPr/>
          <p:nvPr/>
        </p:nvCxnSpPr>
        <p:spPr>
          <a:xfrm>
            <a:off x="3499381" y="4092665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3494495" y="4375264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文字方塊 76"/>
          <p:cNvSpPr txBox="1"/>
          <p:nvPr/>
        </p:nvSpPr>
        <p:spPr>
          <a:xfrm>
            <a:off x="3428180" y="4143101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3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343731" y="571903"/>
            <a:ext cx="3598362" cy="4989401"/>
          </a:xfrm>
          <a:prstGeom prst="rect">
            <a:avLst/>
          </a:prstGeom>
          <a:noFill/>
          <a:ln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圓角矩形圖說文字 19"/>
          <p:cNvSpPr/>
          <p:nvPr/>
        </p:nvSpPr>
        <p:spPr>
          <a:xfrm>
            <a:off x="8209969" y="458919"/>
            <a:ext cx="1295351" cy="427982"/>
          </a:xfrm>
          <a:prstGeom prst="wedgeRoundRectCallout">
            <a:avLst>
              <a:gd name="adj1" fmla="val -66324"/>
              <a:gd name="adj2" fmla="val 164580"/>
              <a:gd name="adj3" fmla="val 16667"/>
            </a:avLst>
          </a:pr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a process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3431704" y="1458716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45" name="直線單箭頭接點 44"/>
          <p:cNvCxnSpPr/>
          <p:nvPr/>
        </p:nvCxnSpPr>
        <p:spPr>
          <a:xfrm>
            <a:off x="3513872" y="1676390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H="1">
            <a:off x="7967798" y="2706895"/>
            <a:ext cx="6889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7896200" y="2433584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圓角矩形 50"/>
          <p:cNvSpPr/>
          <p:nvPr/>
        </p:nvSpPr>
        <p:spPr>
          <a:xfrm>
            <a:off x="1645724" y="2057267"/>
            <a:ext cx="2470870" cy="1595575"/>
          </a:xfrm>
          <a:prstGeom prst="round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  <a:latin typeface="Calibri" panose="020F0502020204030204" pitchFamily="34" charset="0"/>
              </a:rPr>
              <a:t>If three CPU cores are available, these three threads can run </a:t>
            </a:r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in parallel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474499" y="5747352"/>
            <a:ext cx="971261" cy="266181"/>
          </a:xfrm>
          <a:prstGeom prst="rect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36" name="矩形 35"/>
          <p:cNvSpPr/>
          <p:nvPr/>
        </p:nvSpPr>
        <p:spPr>
          <a:xfrm>
            <a:off x="5628167" y="5752069"/>
            <a:ext cx="971261" cy="266181"/>
          </a:xfrm>
          <a:prstGeom prst="rect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37" name="矩形 36"/>
          <p:cNvSpPr/>
          <p:nvPr/>
        </p:nvSpPr>
        <p:spPr>
          <a:xfrm>
            <a:off x="6735220" y="5738251"/>
            <a:ext cx="971261" cy="266181"/>
          </a:xfrm>
          <a:prstGeom prst="rect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rgbClr val="000000"/>
                </a:solidFill>
                <a:latin typeface="Calibri" panose="020F0502020204030204" pitchFamily="34" charset="0"/>
              </a:rPr>
              <a:t>Stack</a:t>
            </a:r>
          </a:p>
        </p:txBody>
      </p:sp>
      <p:sp>
        <p:nvSpPr>
          <p:cNvPr id="38" name="圓角矩形 37"/>
          <p:cNvSpPr/>
          <p:nvPr/>
        </p:nvSpPr>
        <p:spPr>
          <a:xfrm>
            <a:off x="4439816" y="6096214"/>
            <a:ext cx="991234" cy="717163"/>
          </a:xfrm>
          <a:prstGeom prst="roundRect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Kernel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thread 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descriptor</a:t>
            </a:r>
            <a:endParaRPr lang="zh-TW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9" name="直線單箭頭接點 38"/>
          <p:cNvCxnSpPr/>
          <p:nvPr/>
        </p:nvCxnSpPr>
        <p:spPr>
          <a:xfrm>
            <a:off x="6113797" y="5498420"/>
            <a:ext cx="1" cy="234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圓角矩形 39"/>
          <p:cNvSpPr/>
          <p:nvPr/>
        </p:nvSpPr>
        <p:spPr>
          <a:xfrm>
            <a:off x="5616698" y="6090627"/>
            <a:ext cx="96582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Kernel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Thread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descriptor</a:t>
            </a:r>
            <a:endParaRPr lang="zh-TW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1" name="直線單箭頭接點 40"/>
          <p:cNvCxnSpPr/>
          <p:nvPr/>
        </p:nvCxnSpPr>
        <p:spPr>
          <a:xfrm>
            <a:off x="7211436" y="5538370"/>
            <a:ext cx="9414" cy="194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圓角矩形 41"/>
          <p:cNvSpPr/>
          <p:nvPr/>
        </p:nvSpPr>
        <p:spPr>
          <a:xfrm>
            <a:off x="6736420" y="6090628"/>
            <a:ext cx="1031748" cy="7171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Kernel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Thread</a:t>
            </a:r>
          </a:p>
          <a:p>
            <a:pPr algn="ctr"/>
            <a:r>
              <a:rPr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descriptor</a:t>
            </a:r>
            <a:endParaRPr lang="zh-TW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3" name="直線單箭頭接點 42"/>
          <p:cNvCxnSpPr/>
          <p:nvPr/>
        </p:nvCxnSpPr>
        <p:spPr>
          <a:xfrm>
            <a:off x="4959856" y="5498420"/>
            <a:ext cx="1" cy="234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98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2" grpId="1"/>
      <p:bldP spid="69" grpId="0"/>
      <p:bldP spid="74" grpId="0"/>
      <p:bldP spid="74" grpId="1"/>
      <p:bldP spid="77" grpId="0"/>
      <p:bldP spid="44" grpId="0"/>
      <p:bldP spid="47" grpId="0"/>
      <p:bldP spid="47" grpId="1"/>
      <p:bldP spid="5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 smtClean="0"/>
              <a:t>當程式呼叫</a:t>
            </a:r>
            <a:r>
              <a:rPr lang="en-US" altLang="zh-TW" sz="4000" dirty="0" err="1" smtClean="0"/>
              <a:t>pthread_create</a:t>
            </a:r>
            <a:r>
              <a:rPr lang="en-US" altLang="zh-TW" sz="4000" dirty="0" smtClean="0"/>
              <a:t>(), </a:t>
            </a:r>
            <a:r>
              <a:rPr lang="zh-TW" altLang="en-US" sz="4000" dirty="0" smtClean="0"/>
              <a:t>最終會呼叫到</a:t>
            </a:r>
            <a:r>
              <a:rPr lang="en-US" altLang="zh-TW" sz="4000" dirty="0" smtClean="0"/>
              <a:t>clone() system call, </a:t>
            </a:r>
            <a:r>
              <a:rPr lang="zh-TW" altLang="en-US" sz="4000" dirty="0"/>
              <a:t>所以</a:t>
            </a:r>
            <a:r>
              <a:rPr lang="en-US" altLang="zh-TW" sz="4000" dirty="0" smtClean="0"/>
              <a:t>OS</a:t>
            </a:r>
            <a:r>
              <a:rPr lang="zh-TW" altLang="en-US" sz="4000" dirty="0" smtClean="0"/>
              <a:t>會知道有一個</a:t>
            </a:r>
            <a:r>
              <a:rPr lang="en-US" altLang="zh-TW" sz="4000" dirty="0" smtClean="0"/>
              <a:t>thread</a:t>
            </a:r>
            <a:r>
              <a:rPr lang="zh-TW" altLang="en-US" sz="4000" dirty="0" smtClean="0"/>
              <a:t>的存在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同理</a:t>
            </a:r>
            <a:r>
              <a:rPr lang="en-US" altLang="zh-TW" dirty="0" smtClean="0"/>
              <a:t>, OS</a:t>
            </a:r>
            <a:r>
              <a:rPr lang="zh-TW" altLang="en-US" dirty="0" smtClean="0"/>
              <a:t>會分配資源給這個</a:t>
            </a:r>
            <a:r>
              <a:rPr lang="en-US" altLang="zh-TW" dirty="0" smtClean="0"/>
              <a:t>thread,</a:t>
            </a:r>
            <a:r>
              <a:rPr lang="zh-TW" altLang="en-US" dirty="0" smtClean="0"/>
              <a:t>產生</a:t>
            </a:r>
            <a:r>
              <a:rPr lang="en-US" altLang="zh-TW" dirty="0" smtClean="0"/>
              <a:t>TCB, </a:t>
            </a:r>
            <a:r>
              <a:rPr lang="zh-TW" altLang="en-US" dirty="0" smtClean="0"/>
              <a:t>並分配</a:t>
            </a:r>
            <a:r>
              <a:rPr lang="en-US" altLang="zh-TW" dirty="0" smtClean="0"/>
              <a:t>CPU</a:t>
            </a:r>
            <a:r>
              <a:rPr lang="zh-TW" altLang="en-US" dirty="0" smtClean="0"/>
              <a:t>執行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275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 smtClean="0"/>
              <a:t>Q:</a:t>
            </a:r>
            <a:r>
              <a:rPr lang="zh-TW" altLang="en-US" sz="4000" dirty="0" smtClean="0"/>
              <a:t> </a:t>
            </a:r>
            <a:r>
              <a:rPr lang="zh-TW" altLang="en-US" sz="4000" dirty="0"/>
              <a:t>在上圖的例子</a:t>
            </a:r>
            <a:r>
              <a:rPr lang="zh-TW" altLang="en-US" sz="4000" dirty="0" smtClean="0"/>
              <a:t>中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如果其中一個</a:t>
            </a:r>
            <a:r>
              <a:rPr lang="en-US" altLang="zh-TW" sz="4000" dirty="0" smtClean="0"/>
              <a:t>thread</a:t>
            </a:r>
            <a:r>
              <a:rPr lang="zh-TW" altLang="en-US" sz="4000" dirty="0" smtClean="0"/>
              <a:t>做</a:t>
            </a:r>
            <a:r>
              <a:rPr lang="en-US" altLang="zh-TW" sz="4000" dirty="0" smtClean="0"/>
              <a:t>blocking</a:t>
            </a:r>
            <a:r>
              <a:rPr lang="zh-TW" altLang="en-US" sz="4000" dirty="0" smtClean="0"/>
              <a:t>的</a:t>
            </a:r>
            <a:r>
              <a:rPr lang="en-US" altLang="zh-TW" sz="4000" dirty="0" smtClean="0"/>
              <a:t>system call(</a:t>
            </a:r>
            <a:r>
              <a:rPr lang="zh-TW" altLang="en-US" sz="4000" dirty="0" smtClean="0"/>
              <a:t>例如</a:t>
            </a:r>
            <a:r>
              <a:rPr lang="en-US" altLang="zh-TW" sz="4000" dirty="0" smtClean="0"/>
              <a:t>:</a:t>
            </a:r>
            <a:r>
              <a:rPr lang="zh-TW" altLang="en-US" sz="4000" dirty="0" smtClean="0"/>
              <a:t> </a:t>
            </a:r>
            <a:r>
              <a:rPr lang="en-US" altLang="zh-TW" sz="4000" dirty="0" smtClean="0"/>
              <a:t>read()), </a:t>
            </a:r>
            <a:r>
              <a:rPr lang="zh-TW" altLang="en-US" sz="4000" dirty="0" smtClean="0"/>
              <a:t>會發生什麼事呢</a:t>
            </a:r>
            <a:r>
              <a:rPr lang="en-US" altLang="zh-TW" sz="4000" dirty="0" smtClean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452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 smtClean="0"/>
              <a:t>Q:  </a:t>
            </a:r>
            <a:r>
              <a:rPr lang="zh-TW" altLang="en-US" sz="4000" dirty="0" smtClean="0"/>
              <a:t>在之前</a:t>
            </a:r>
            <a:r>
              <a:rPr lang="en-US" altLang="zh-TW" sz="4000" dirty="0" smtClean="0"/>
              <a:t>many-to-one model, </a:t>
            </a:r>
            <a:r>
              <a:rPr lang="zh-TW" altLang="en-US" sz="4000" dirty="0" smtClean="0"/>
              <a:t>我們提到其優點為</a:t>
            </a:r>
            <a:r>
              <a:rPr lang="en-US" altLang="zh-TW" sz="4000" dirty="0" smtClean="0">
                <a:solidFill>
                  <a:srgbClr val="FF0000"/>
                </a:solidFill>
              </a:rPr>
              <a:t>efficiency</a:t>
            </a:r>
            <a:r>
              <a:rPr lang="en-US" altLang="zh-TW" sz="4000" dirty="0" smtClean="0"/>
              <a:t>. Why?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 smtClean="0"/>
              <a:t>Hint: </a:t>
            </a:r>
            <a:r>
              <a:rPr lang="zh-TW" altLang="en-US" b="1" dirty="0" smtClean="0"/>
              <a:t>也就是</a:t>
            </a:r>
            <a:r>
              <a:rPr lang="en-US" altLang="zh-TW" b="1" dirty="0" smtClean="0"/>
              <a:t>many-to-one </a:t>
            </a:r>
            <a:r>
              <a:rPr lang="en-US" altLang="zh-TW" b="1" dirty="0"/>
              <a:t>model</a:t>
            </a:r>
            <a:r>
              <a:rPr lang="zh-TW" altLang="en-US" b="1" dirty="0" smtClean="0"/>
              <a:t>比</a:t>
            </a:r>
            <a:r>
              <a:rPr lang="en-US" altLang="zh-TW" b="1" dirty="0" smtClean="0"/>
              <a:t>one-to-one model efficient. Why?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902598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3600" dirty="0"/>
              <a:t>複習：</a:t>
            </a:r>
            <a:r>
              <a:rPr lang="en-US" altLang="zh-TW" sz="3600" dirty="0"/>
              <a:t>System Call Overhead &gt; Library Call Overhead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911424" y="1341363"/>
            <a:ext cx="10225136" cy="5039965"/>
            <a:chOff x="911424" y="1268760"/>
            <a:chExt cx="10225136" cy="5039965"/>
          </a:xfrm>
        </p:grpSpPr>
        <p:pic>
          <p:nvPicPr>
            <p:cNvPr id="28675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03512" y="1306513"/>
              <a:ext cx="8928991" cy="5002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" name="矩形 1"/>
            <p:cNvSpPr/>
            <p:nvPr/>
          </p:nvSpPr>
          <p:spPr>
            <a:xfrm>
              <a:off x="2351584" y="1268760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847528" y="2152734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911424" y="3789040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9336360" y="4365104"/>
              <a:ext cx="1800200" cy="1440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4655840" y="5363277"/>
              <a:ext cx="3744416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979778" y="3635085"/>
              <a:ext cx="720080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746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補充：</a:t>
            </a:r>
            <a:r>
              <a:rPr lang="en-US" altLang="zh-TW" dirty="0"/>
              <a:t>System Call Overhead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System call overhead (skip!)</a:t>
            </a:r>
          </a:p>
          <a:p>
            <a:pPr lvl="1"/>
            <a:r>
              <a:rPr lang="en-US" altLang="zh-TW" dirty="0"/>
              <a:t>Mode switch cost</a:t>
            </a:r>
          </a:p>
          <a:p>
            <a:pPr lvl="1"/>
            <a:r>
              <a:rPr lang="en-US" altLang="zh-TW" dirty="0"/>
              <a:t>State save</a:t>
            </a:r>
          </a:p>
          <a:p>
            <a:pPr lvl="1"/>
            <a:r>
              <a:rPr lang="en-US" altLang="zh-TW" dirty="0"/>
              <a:t>System call table lookup</a:t>
            </a:r>
          </a:p>
          <a:p>
            <a:pPr lvl="1"/>
            <a:r>
              <a:rPr lang="en-US" altLang="zh-TW" dirty="0"/>
              <a:t>...</a:t>
            </a:r>
          </a:p>
          <a:p>
            <a:pPr lvl="1"/>
            <a:r>
              <a:rPr lang="en-US" altLang="zh-TW" dirty="0" err="1" smtClean="0"/>
              <a:t>FlexSC</a:t>
            </a:r>
            <a:r>
              <a:rPr lang="en-US" altLang="zh-TW" dirty="0"/>
              <a:t>: Flexible System Call Scheduling with Exception-Less System Calls</a:t>
            </a:r>
          </a:p>
          <a:p>
            <a:r>
              <a:rPr lang="en-US" altLang="zh-TW" dirty="0"/>
              <a:t>Summary: 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System calls incur quite a large overhead compared to </a:t>
            </a:r>
            <a:r>
              <a:rPr lang="en-US" altLang="zh-TW" b="1" dirty="0" smtClean="0">
                <a:solidFill>
                  <a:srgbClr val="FF0000"/>
                </a:solidFill>
              </a:rPr>
              <a:t>function </a:t>
            </a:r>
            <a:r>
              <a:rPr lang="en-US" altLang="zh-TW" b="1" dirty="0">
                <a:solidFill>
                  <a:srgbClr val="FF0000"/>
                </a:solidFill>
              </a:rPr>
              <a:t>calls.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5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600" dirty="0" smtClean="0"/>
              <a:t>所以</a:t>
            </a:r>
            <a:r>
              <a:rPr lang="en-US" altLang="zh-TW" sz="3600" dirty="0" smtClean="0"/>
              <a:t>, thread</a:t>
            </a:r>
            <a:r>
              <a:rPr lang="zh-TW" altLang="en-US" sz="3600" dirty="0" smtClean="0"/>
              <a:t>的管理都是由</a:t>
            </a:r>
            <a:r>
              <a:rPr lang="en-US" altLang="zh-TW" sz="3600" dirty="0" smtClean="0"/>
              <a:t>OS</a:t>
            </a:r>
            <a:r>
              <a:rPr lang="zh-TW" altLang="en-US" sz="3600" dirty="0" smtClean="0"/>
              <a:t>提供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18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One-to-One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TW" dirty="0"/>
              <a:t>Current OS use this model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Windows, </a:t>
            </a:r>
            <a:r>
              <a:rPr lang="en-US" altLang="zh-TW" dirty="0"/>
              <a:t>Linux, Solaris 9 and later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844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Multithreading Models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dirty="0"/>
              <a:t>Many-to-One Model</a:t>
            </a:r>
          </a:p>
          <a:p>
            <a:pPr eaLnBrk="1" hangingPunct="1">
              <a:lnSpc>
                <a:spcPct val="80000"/>
              </a:lnSpc>
            </a:pPr>
            <a:endParaRPr lang="en-US" altLang="zh-TW" dirty="0"/>
          </a:p>
          <a:p>
            <a:pPr eaLnBrk="1" hangingPunct="1">
              <a:lnSpc>
                <a:spcPct val="80000"/>
              </a:lnSpc>
            </a:pPr>
            <a:r>
              <a:rPr lang="en-US" altLang="zh-TW" dirty="0"/>
              <a:t>One-to-One Model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dirty="0"/>
          </a:p>
          <a:p>
            <a:pPr eaLnBrk="1" hangingPunct="1">
              <a:lnSpc>
                <a:spcPct val="80000"/>
              </a:lnSpc>
            </a:pPr>
            <a:r>
              <a:rPr lang="en-US" altLang="zh-TW" b="1" dirty="0">
                <a:solidFill>
                  <a:srgbClr val="FF0000"/>
                </a:solidFill>
              </a:rPr>
              <a:t>Many-to-Many Model</a:t>
            </a:r>
          </a:p>
          <a:p>
            <a:pPr lvl="1"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7470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Many-to-Many Model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Problems of previous two models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Many-to-one: true concurrency is not gained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One-to-one: cannot create too many user threads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Many-to-many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Allows </a:t>
            </a:r>
            <a:r>
              <a:rPr lang="en-US" altLang="zh-TW" sz="2400" dirty="0">
                <a:solidFill>
                  <a:srgbClr val="FF3300"/>
                </a:solidFill>
              </a:rPr>
              <a:t>M</a:t>
            </a:r>
            <a:r>
              <a:rPr lang="en-US" altLang="zh-TW" sz="2400" dirty="0"/>
              <a:t> user level threads to be mapped to </a:t>
            </a:r>
            <a:r>
              <a:rPr lang="en-US" altLang="zh-TW" sz="2400" dirty="0">
                <a:solidFill>
                  <a:srgbClr val="FF3300"/>
                </a:solidFill>
              </a:rPr>
              <a:t>N</a:t>
            </a:r>
            <a:r>
              <a:rPr lang="en-US" altLang="zh-TW" sz="2400" dirty="0"/>
              <a:t> kernel threads, where </a:t>
            </a:r>
            <a:r>
              <a:rPr lang="en-US" altLang="zh-TW" sz="2400" dirty="0">
                <a:solidFill>
                  <a:srgbClr val="FF3300"/>
                </a:solidFill>
              </a:rPr>
              <a:t>N</a:t>
            </a:r>
            <a:r>
              <a:rPr lang="en-US" altLang="zh-TW" sz="2400" dirty="0"/>
              <a:t> &lt;= </a:t>
            </a:r>
            <a:r>
              <a:rPr lang="en-US" altLang="zh-TW" sz="2400" dirty="0">
                <a:solidFill>
                  <a:srgbClr val="FF3300"/>
                </a:solidFill>
              </a:rPr>
              <a:t>M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Many-to-many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True concurrency is guaranteed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dirty="0"/>
              <a:t>Kernel thread can run in parallel on a multiprocessor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dirty="0"/>
              <a:t>No blocking system call problem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Unlimited number of user threads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sz="2000" dirty="0"/>
              <a:t>User can create as many user threads as possible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70055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Many-to-Many Model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5" y="1412776"/>
            <a:ext cx="7322077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圖說文字 1"/>
          <p:cNvSpPr/>
          <p:nvPr/>
        </p:nvSpPr>
        <p:spPr>
          <a:xfrm>
            <a:off x="839416" y="5805264"/>
            <a:ext cx="11089232" cy="900680"/>
          </a:xfrm>
          <a:prstGeom prst="wedgeRectCallout">
            <a:avLst>
              <a:gd name="adj1" fmla="val -12471"/>
              <a:gd name="adj2" fmla="val -96880"/>
            </a:avLst>
          </a:prstGeom>
          <a:solidFill>
            <a:srgbClr val="CCE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The number of user threads and kernel threads may vary with time. But the maximum number of kernel thread is limited to 3, no matter how many user threads. 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919536" y="2132856"/>
            <a:ext cx="8422704" cy="2522711"/>
          </a:xfrm>
        </p:spPr>
        <p:txBody>
          <a:bodyPr/>
          <a:lstStyle/>
          <a:p>
            <a:r>
              <a:rPr lang="zh-TW" altLang="en-US" sz="4000" dirty="0">
                <a:solidFill>
                  <a:schemeClr val="tx1"/>
                </a:solidFill>
              </a:rPr>
              <a:t>你可以自己畫</a:t>
            </a:r>
            <a:r>
              <a:rPr lang="zh-TW" altLang="en-US" sz="4000" dirty="0" smtClean="0">
                <a:solidFill>
                  <a:schemeClr val="tx1"/>
                </a:solidFill>
              </a:rPr>
              <a:t>類似前面</a:t>
            </a:r>
            <a:r>
              <a:rPr lang="en-US" altLang="zh-TW" sz="4000" dirty="0" smtClean="0">
                <a:solidFill>
                  <a:schemeClr val="tx1"/>
                </a:solidFill>
              </a:rPr>
              <a:t>Pages</a:t>
            </a:r>
            <a:r>
              <a:rPr lang="zh-TW" altLang="en-US" sz="4000" dirty="0" smtClean="0">
                <a:solidFill>
                  <a:schemeClr val="tx1"/>
                </a:solidFill>
              </a:rPr>
              <a:t>的</a:t>
            </a:r>
            <a:r>
              <a:rPr lang="zh-TW" altLang="en-US" sz="4000" dirty="0">
                <a:solidFill>
                  <a:schemeClr val="tx1"/>
                </a:solidFill>
              </a:rPr>
              <a:t>動畫嗎？</a:t>
            </a:r>
          </a:p>
        </p:txBody>
      </p:sp>
    </p:spTree>
    <p:extLst>
      <p:ext uri="{BB962C8B-B14F-4D97-AF65-F5344CB8AC3E}">
        <p14:creationId xmlns:p14="http://schemas.microsoft.com/office/powerpoint/2010/main" val="175321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Many-to-Many Model (Cont.)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dirty="0"/>
              <a:t>Two-level Model: one variation on many-to-many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>
                <a:solidFill>
                  <a:srgbClr val="FF0000"/>
                </a:solidFill>
              </a:rPr>
              <a:t>Two-level model </a:t>
            </a:r>
            <a:r>
              <a:rPr lang="en-US" altLang="zh-TW" dirty="0"/>
              <a:t>= many-to-many + one-to-one models</a:t>
            </a:r>
          </a:p>
          <a:p>
            <a:pPr eaLnBrk="1" hangingPunct="1">
              <a:lnSpc>
                <a:spcPct val="120000"/>
              </a:lnSpc>
            </a:pPr>
            <a:endParaRPr lang="en-US" altLang="zh-TW" dirty="0"/>
          </a:p>
          <a:p>
            <a:pPr eaLnBrk="1" hangingPunct="1">
              <a:lnSpc>
                <a:spcPct val="120000"/>
              </a:lnSpc>
            </a:pPr>
            <a:r>
              <a:rPr lang="en-US" altLang="zh-TW" dirty="0"/>
              <a:t>Although many-to-many is the most flexible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Difficult to implement </a:t>
            </a:r>
            <a:r>
              <a:rPr lang="en-US" altLang="zh-TW" sz="1900" dirty="0"/>
              <a:t>(addressed in Section 4.6.5)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Limit the number of kernel threads is becoming less important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dirty="0"/>
              <a:t>Since there is an increasing number of processing core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Thus, most OS use one-to-one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Two-level Model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0" y="1988840"/>
            <a:ext cx="6768752" cy="3540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結論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M-to-1(user thread)</a:t>
            </a:r>
            <a:r>
              <a:rPr lang="zh-TW" altLang="en-US" dirty="0" smtClean="0"/>
              <a:t>和</a:t>
            </a:r>
            <a:r>
              <a:rPr lang="en-US" altLang="zh-TW" dirty="0" smtClean="0"/>
              <a:t>1-to-1(kernel thread)</a:t>
            </a:r>
            <a:r>
              <a:rPr lang="zh-TW" altLang="en-US" dirty="0" smtClean="0"/>
              <a:t>的優缺點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5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Summary:</a:t>
            </a:r>
            <a:br>
              <a:rPr lang="en-US" altLang="zh-TW" sz="4000" dirty="0"/>
            </a:br>
            <a:r>
              <a:rPr lang="en-US" altLang="zh-TW" sz="4000" dirty="0"/>
              <a:t>User Thread vs. Kernel Thread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User thread (many-to-one model)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Thread management done by </a:t>
            </a:r>
            <a:r>
              <a:rPr lang="en-US" altLang="zh-TW" sz="2400" b="1" dirty="0">
                <a:solidFill>
                  <a:srgbClr val="FF3300"/>
                </a:solidFill>
              </a:rPr>
              <a:t>user-level threads library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200" dirty="0"/>
              <a:t>The kernel is not aware of the existence of threads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Fast to create and manage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Invoke a function in the library is a </a:t>
            </a:r>
            <a:r>
              <a:rPr lang="en-US" altLang="zh-TW" sz="2000" b="1" i="1" dirty="0">
                <a:solidFill>
                  <a:srgbClr val="FF0000"/>
                </a:solidFill>
              </a:rPr>
              <a:t>local function call</a:t>
            </a:r>
            <a:r>
              <a:rPr lang="en-US" altLang="zh-TW" sz="2000" b="1" dirty="0"/>
              <a:t> </a:t>
            </a:r>
            <a:r>
              <a:rPr lang="en-US" altLang="zh-TW" sz="2000" dirty="0"/>
              <a:t>in user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Block all threads for </a:t>
            </a:r>
            <a:r>
              <a:rPr lang="en-US" altLang="zh-TW" sz="2400" b="1" dirty="0"/>
              <a:t>a blocking system call</a:t>
            </a:r>
            <a:endParaRPr lang="en-US" altLang="zh-TW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Cannot take advantage of multi-processors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POSIX </a:t>
            </a:r>
            <a:r>
              <a:rPr lang="en-US" altLang="zh-TW" sz="2400" dirty="0" err="1"/>
              <a:t>Pthreads</a:t>
            </a:r>
            <a:endParaRPr lang="en-US" altLang="zh-TW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Win32 threads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Java threads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Summary:</a:t>
            </a:r>
            <a:br>
              <a:rPr lang="en-US" altLang="zh-TW" sz="4000" dirty="0"/>
            </a:br>
            <a:r>
              <a:rPr lang="en-US" altLang="zh-TW" sz="4000" dirty="0"/>
              <a:t>User Thread vs. Kernel Thread (Cont.)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dirty="0"/>
              <a:t>Kernel thread (one-to-one model)</a:t>
            </a:r>
          </a:p>
          <a:p>
            <a:pPr lvl="1" eaLnBrk="1" hangingPunct="1"/>
            <a:r>
              <a:rPr lang="en-US" altLang="zh-TW" sz="2400" dirty="0"/>
              <a:t>Supported by the kernel</a:t>
            </a:r>
          </a:p>
          <a:p>
            <a:pPr lvl="1" eaLnBrk="1" hangingPunct="1"/>
            <a:r>
              <a:rPr lang="en-US" altLang="zh-TW" sz="2400" dirty="0"/>
              <a:t>Slower to create and manage</a:t>
            </a:r>
          </a:p>
          <a:p>
            <a:pPr lvl="2" eaLnBrk="1" hangingPunct="1"/>
            <a:r>
              <a:rPr lang="en-US" altLang="zh-TW" sz="2000" dirty="0"/>
              <a:t>Invoke a function in the library is a </a:t>
            </a:r>
            <a:r>
              <a:rPr lang="en-US" altLang="zh-TW" sz="2000" b="1" i="1" dirty="0">
                <a:solidFill>
                  <a:srgbClr val="FF0000"/>
                </a:solidFill>
              </a:rPr>
              <a:t>system call</a:t>
            </a:r>
            <a:r>
              <a:rPr lang="en-US" altLang="zh-TW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/>
              <a:t>to the kernel</a:t>
            </a:r>
          </a:p>
          <a:p>
            <a:pPr lvl="1" eaLnBrk="1" hangingPunct="1"/>
            <a:r>
              <a:rPr lang="en-US" altLang="zh-TW" sz="2400" dirty="0"/>
              <a:t>No blocking system call problem</a:t>
            </a:r>
            <a:endParaRPr lang="en-US" altLang="zh-TW" sz="2000" dirty="0"/>
          </a:p>
          <a:p>
            <a:pPr lvl="1" eaLnBrk="1" hangingPunct="1"/>
            <a:r>
              <a:rPr lang="en-US" altLang="zh-TW" sz="2400" dirty="0"/>
              <a:t>Can take advantage of a multi-processor environment</a:t>
            </a:r>
          </a:p>
          <a:p>
            <a:pPr eaLnBrk="1" hangingPunct="1"/>
            <a:r>
              <a:rPr lang="en-US" altLang="zh-TW" sz="2800" dirty="0"/>
              <a:t>Examples</a:t>
            </a:r>
          </a:p>
          <a:p>
            <a:pPr lvl="1" eaLnBrk="1" hangingPunct="1"/>
            <a:r>
              <a:rPr lang="en-US" altLang="zh-TW" sz="2400" dirty="0"/>
              <a:t>Windows </a:t>
            </a:r>
          </a:p>
          <a:p>
            <a:pPr lvl="1" eaLnBrk="1" hangingPunct="1"/>
            <a:r>
              <a:rPr lang="en-US" altLang="zh-TW" sz="2400" dirty="0"/>
              <a:t>Solaris</a:t>
            </a:r>
          </a:p>
          <a:p>
            <a:pPr lvl="1" eaLnBrk="1" hangingPunct="1"/>
            <a:r>
              <a:rPr lang="en-US" altLang="zh-TW" sz="2400" dirty="0"/>
              <a:t>Linux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dirty="0"/>
              <a:t>Threading Issues</a:t>
            </a:r>
          </a:p>
          <a:p>
            <a:pPr eaLnBrk="1" hangingPunct="1"/>
            <a:r>
              <a:rPr lang="en-US" altLang="zh-TW" dirty="0"/>
              <a:t>Operating-System Examples</a:t>
            </a:r>
          </a:p>
          <a:p>
            <a:pPr eaLnBrk="1" hangingPunct="1"/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Thread Library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Provide an </a:t>
            </a:r>
            <a:r>
              <a:rPr lang="en-US" altLang="zh-TW" b="1" dirty="0">
                <a:solidFill>
                  <a:srgbClr val="FF3300"/>
                </a:solidFill>
              </a:rPr>
              <a:t>APIs</a:t>
            </a:r>
            <a:r>
              <a:rPr lang="en-US" altLang="zh-TW" dirty="0"/>
              <a:t> for </a:t>
            </a:r>
            <a:r>
              <a:rPr lang="en-US" altLang="zh-TW" b="1" i="1" dirty="0">
                <a:solidFill>
                  <a:srgbClr val="0066FF"/>
                </a:solidFill>
              </a:rPr>
              <a:t>creating and managing </a:t>
            </a:r>
            <a:r>
              <a:rPr lang="en-US" altLang="zh-TW" b="1" i="1" dirty="0" smtClean="0">
                <a:solidFill>
                  <a:srgbClr val="0066FF"/>
                </a:solidFill>
              </a:rPr>
              <a:t>threads</a:t>
            </a:r>
            <a:endParaRPr lang="en-US" altLang="zh-TW" b="1" i="1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Strategies for Creating Threads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476871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Strategies for Creating Threads</a:t>
            </a:r>
          </a:p>
          <a:p>
            <a:pPr lvl="1"/>
            <a:r>
              <a:rPr lang="en-US" altLang="zh-TW" sz="3200" b="1" i="1" dirty="0">
                <a:solidFill>
                  <a:srgbClr val="FF0000"/>
                </a:solidFill>
              </a:rPr>
              <a:t>Asynchronous threading </a:t>
            </a:r>
            <a:r>
              <a:rPr lang="en-US" altLang="zh-TW" sz="3200" dirty="0" err="1"/>
              <a:t>v.s</a:t>
            </a:r>
            <a:r>
              <a:rPr lang="en-US" altLang="zh-TW" sz="3200" dirty="0"/>
              <a:t>. </a:t>
            </a:r>
            <a:r>
              <a:rPr lang="en-US" altLang="zh-TW" sz="3200" b="1" i="1" dirty="0">
                <a:solidFill>
                  <a:srgbClr val="FF0000"/>
                </a:solidFill>
              </a:rPr>
              <a:t>synchronous threading</a:t>
            </a:r>
          </a:p>
          <a:p>
            <a:pPr lvl="1"/>
            <a:endParaRPr lang="en-US" altLang="zh-TW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Asynchronous threading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Asynchronous threading </a:t>
            </a:r>
          </a:p>
          <a:p>
            <a:pPr lvl="1"/>
            <a:r>
              <a:rPr lang="en-US" altLang="zh-TW" dirty="0"/>
              <a:t>After creating child thread, parent thread </a:t>
            </a:r>
            <a:r>
              <a:rPr lang="en-US" altLang="zh-TW" b="1" dirty="0"/>
              <a:t>resumes</a:t>
            </a:r>
            <a:r>
              <a:rPr lang="en-US" altLang="zh-TW" dirty="0"/>
              <a:t> its execution</a:t>
            </a:r>
          </a:p>
          <a:p>
            <a:pPr lvl="1"/>
            <a:r>
              <a:rPr lang="en-US" altLang="zh-TW" dirty="0"/>
              <a:t>Parent thread and children threads run concurrently</a:t>
            </a:r>
          </a:p>
          <a:p>
            <a:endParaRPr lang="zh-TW" altLang="en-US" dirty="0"/>
          </a:p>
        </p:txBody>
      </p:sp>
      <p:pic>
        <p:nvPicPr>
          <p:cNvPr id="4" name="Picture 1" descr="4_02.pd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9496" y="3429000"/>
            <a:ext cx="8712968" cy="2337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3287688" y="5981218"/>
            <a:ext cx="5756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Calibri" pitchFamily="34" charset="0"/>
              </a:rPr>
              <a:t>Multithreaded Server using asynchronous threading </a:t>
            </a:r>
            <a:endParaRPr lang="zh-TW" altLang="en-US" sz="2000" b="1" i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1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/>
              <a:t>Asynchronous Threading Example: Multi-Threaded </a:t>
            </a:r>
            <a:r>
              <a:rPr lang="en-US" altLang="zh-TW" sz="3200" dirty="0"/>
              <a:t>File </a:t>
            </a:r>
            <a:r>
              <a:rPr lang="en-US" altLang="zh-TW" sz="3200" dirty="0" smtClean="0"/>
              <a:t>Server </a:t>
            </a:r>
            <a:endParaRPr lang="zh-TW" altLang="en-US" sz="3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631504" y="5734997"/>
            <a:ext cx="939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t>Multi-thread I/O model. Each thread handles 1 client at a time. 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2849757" y="6550224"/>
            <a:ext cx="9438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https://www.rubyraptor.org/how-we-made-raptor-up-to-4x-faster-than-unicorn-and-up-to-2x-faster-than-puma-torquebox/</a:t>
            </a:r>
            <a:endParaRPr kumimoji="1" lang="zh-TW" altLang="en-US" sz="1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2031870" y="1129896"/>
            <a:ext cx="8498500" cy="4474368"/>
            <a:chOff x="186359" y="1484784"/>
            <a:chExt cx="8498500" cy="4474368"/>
          </a:xfrm>
        </p:grpSpPr>
        <p:pic>
          <p:nvPicPr>
            <p:cNvPr id="5" name="Picture 2" descr="https://www.rubyraptor.org/img/multi-process-io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359" y="1484784"/>
              <a:ext cx="8498500" cy="4474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圓角矩形 5"/>
            <p:cNvSpPr/>
            <p:nvPr/>
          </p:nvSpPr>
          <p:spPr>
            <a:xfrm>
              <a:off x="683568" y="2348880"/>
              <a:ext cx="864096" cy="288032"/>
            </a:xfrm>
            <a:prstGeom prst="roundRect">
              <a:avLst/>
            </a:prstGeom>
            <a:solidFill>
              <a:srgbClr val="99FF66"/>
            </a:solidFill>
            <a:ln>
              <a:solidFill>
                <a:srgbClr val="99FF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/>
                  <a:cs typeface="+mn-cs"/>
                </a:rPr>
                <a:t>thread</a:t>
              </a: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endParaRPr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2843808" y="2348880"/>
              <a:ext cx="864096" cy="288032"/>
            </a:xfrm>
            <a:prstGeom prst="roundRect">
              <a:avLst/>
            </a:prstGeom>
            <a:solidFill>
              <a:srgbClr val="99FF66"/>
            </a:solidFill>
            <a:ln>
              <a:solidFill>
                <a:srgbClr val="99FF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/>
                  <a:cs typeface="+mn-cs"/>
                </a:rPr>
                <a:t>thread</a:t>
              </a: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endParaRPr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4900237" y="2354215"/>
              <a:ext cx="864096" cy="288032"/>
            </a:xfrm>
            <a:prstGeom prst="roundRect">
              <a:avLst/>
            </a:prstGeom>
            <a:solidFill>
              <a:srgbClr val="99FF66"/>
            </a:solidFill>
            <a:ln>
              <a:solidFill>
                <a:srgbClr val="99FF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/>
                  <a:cs typeface="+mn-cs"/>
                </a:rPr>
                <a:t>thread</a:t>
              </a: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endParaRP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7074309" y="2348880"/>
              <a:ext cx="864096" cy="288032"/>
            </a:xfrm>
            <a:prstGeom prst="roundRect">
              <a:avLst/>
            </a:prstGeom>
            <a:solidFill>
              <a:srgbClr val="99FF66"/>
            </a:solidFill>
            <a:ln>
              <a:solidFill>
                <a:srgbClr val="99FF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/>
                  <a:cs typeface="+mn-cs"/>
                </a:rPr>
                <a:t>thread</a:t>
              </a: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endParaRPr>
            </a:p>
          </p:txBody>
        </p:sp>
      </p:grpSp>
      <p:sp>
        <p:nvSpPr>
          <p:cNvPr id="15" name="圓角矩形 14"/>
          <p:cNvSpPr/>
          <p:nvPr/>
        </p:nvSpPr>
        <p:spPr>
          <a:xfrm>
            <a:off x="6988013" y="3391192"/>
            <a:ext cx="2880320" cy="5760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" name="圓角矩形 2"/>
          <p:cNvSpPr/>
          <p:nvPr/>
        </p:nvSpPr>
        <p:spPr>
          <a:xfrm>
            <a:off x="5553416" y="3611305"/>
            <a:ext cx="1622705" cy="711903"/>
          </a:xfrm>
          <a:prstGeom prst="roundRect">
            <a:avLst/>
          </a:prstGeom>
          <a:solidFill>
            <a:srgbClr val="99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Dispatcher thread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sp>
        <p:nvSpPr>
          <p:cNvPr id="16" name="圓角矩形圖說文字 15"/>
          <p:cNvSpPr/>
          <p:nvPr/>
        </p:nvSpPr>
        <p:spPr>
          <a:xfrm>
            <a:off x="1703512" y="3429000"/>
            <a:ext cx="3384376" cy="1512168"/>
          </a:xfrm>
          <a:prstGeom prst="wedgeRoundRectCallout">
            <a:avLst>
              <a:gd name="adj1" fmla="val 58598"/>
              <a:gd name="adj2" fmla="val -11145"/>
              <a:gd name="adj3" fmla="val 16667"/>
            </a:avLst>
          </a:prstGeom>
          <a:solidFill>
            <a:srgbClr val="CCE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1. Receive requests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2. create a 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thread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 to service the </a:t>
            </a:r>
            <a:r>
              <a:rPr kumimoji="1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request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新細明體"/>
              </a:rPr>
              <a:t>3. And so on…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51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Synchronous Threading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Synchronous Threading</a:t>
            </a:r>
          </a:p>
          <a:p>
            <a:pPr lvl="1"/>
            <a:r>
              <a:rPr lang="en-US" altLang="zh-TW" dirty="0"/>
              <a:t>After creating child thread, parent thread </a:t>
            </a:r>
            <a:r>
              <a:rPr lang="en-US" altLang="zh-TW" b="1" dirty="0"/>
              <a:t>waits</a:t>
            </a:r>
            <a:r>
              <a:rPr lang="en-US" altLang="zh-TW" dirty="0"/>
              <a:t> for all children threads to terminate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 smtClean="0"/>
              <a:t>For </a:t>
            </a:r>
            <a:r>
              <a:rPr lang="en-US" altLang="zh-TW" dirty="0"/>
              <a:t>example, in an array summation example</a:t>
            </a:r>
            <a:r>
              <a:rPr lang="en-US" altLang="zh-TW" sz="1600" dirty="0"/>
              <a:t> (see the following slide)</a:t>
            </a:r>
            <a:endParaRPr lang="en-US" altLang="zh-TW" dirty="0"/>
          </a:p>
          <a:p>
            <a:pPr lvl="2"/>
            <a:r>
              <a:rPr lang="en-US" altLang="zh-TW" dirty="0"/>
              <a:t>Parent thread must wait until all children threads calculate the partial sums</a:t>
            </a:r>
          </a:p>
          <a:p>
            <a:pPr lvl="2"/>
            <a:r>
              <a:rPr lang="en-US" altLang="zh-TW" dirty="0"/>
              <a:t>Then, parent thread calculate the final sum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Synchronous </a:t>
            </a:r>
            <a:r>
              <a:rPr lang="en-US" altLang="zh-TW" sz="3600" dirty="0" smtClean="0"/>
              <a:t>Threading Example: </a:t>
            </a:r>
            <a:r>
              <a:rPr lang="en-US" altLang="zh-TW" sz="3600" dirty="0"/>
              <a:t>Array </a:t>
            </a:r>
            <a:r>
              <a:rPr lang="en-US" altLang="zh-TW" sz="3600" dirty="0" smtClean="0"/>
              <a:t>Summation</a:t>
            </a:r>
            <a:endParaRPr lang="zh-TW" altLang="en-US" sz="3600" dirty="0"/>
          </a:p>
        </p:txBody>
      </p:sp>
      <p:grpSp>
        <p:nvGrpSpPr>
          <p:cNvPr id="5" name="群組 4"/>
          <p:cNvGrpSpPr/>
          <p:nvPr/>
        </p:nvGrpSpPr>
        <p:grpSpPr>
          <a:xfrm>
            <a:off x="1847528" y="2771896"/>
            <a:ext cx="8064896" cy="3358158"/>
            <a:chOff x="323528" y="1484784"/>
            <a:chExt cx="8064896" cy="5086350"/>
          </a:xfrm>
        </p:grpSpPr>
        <p:pic>
          <p:nvPicPr>
            <p:cNvPr id="4" name="Picture 2" descr="When to Use a Parallel Stream in Java | Baeldu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484784"/>
              <a:ext cx="8064896" cy="5086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圓角矩形 2"/>
            <p:cNvSpPr/>
            <p:nvPr/>
          </p:nvSpPr>
          <p:spPr>
            <a:xfrm>
              <a:off x="611560" y="2276872"/>
              <a:ext cx="1080120" cy="93610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5220072" y="2276872"/>
              <a:ext cx="1080120" cy="93610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4883151" y="1340768"/>
            <a:ext cx="2447925" cy="1009650"/>
            <a:chOff x="3359150" y="1781848"/>
            <a:chExt cx="2447925" cy="1009650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9150" y="1781848"/>
              <a:ext cx="2447925" cy="1009650"/>
            </a:xfrm>
            <a:prstGeom prst="rect">
              <a:avLst/>
            </a:prstGeom>
          </p:spPr>
        </p:pic>
        <p:sp>
          <p:nvSpPr>
            <p:cNvPr id="8" name="圓角矩形 7"/>
            <p:cNvSpPr/>
            <p:nvPr/>
          </p:nvSpPr>
          <p:spPr>
            <a:xfrm>
              <a:off x="3779912" y="2132856"/>
              <a:ext cx="288032" cy="31381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3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5076056" y="2127136"/>
              <a:ext cx="288032" cy="31381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7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文字方塊 8"/>
          <p:cNvSpPr txBox="1"/>
          <p:nvPr/>
        </p:nvSpPr>
        <p:spPr>
          <a:xfrm>
            <a:off x="3863753" y="1619768"/>
            <a:ext cx="108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thread 0</a:t>
            </a:r>
            <a:endParaRPr lang="zh-TW" altLang="en-US" sz="2000" dirty="0">
              <a:latin typeface="Calibri" panose="020F0502020204030204" pitchFamily="34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883151" y="2875842"/>
            <a:ext cx="108106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thread 1</a:t>
            </a:r>
            <a:endParaRPr lang="zh-TW" altLang="en-US" sz="2000" dirty="0">
              <a:latin typeface="Calibri" panose="020F0502020204030204" pitchFamily="34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059524" y="2858830"/>
            <a:ext cx="108106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thread 2</a:t>
            </a:r>
            <a:endParaRPr lang="zh-TW" altLang="en-US" sz="2000" dirty="0">
              <a:latin typeface="Calibri" panose="020F0502020204030204" pitchFamily="34" charset="0"/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291" y="5081670"/>
            <a:ext cx="4176464" cy="930586"/>
          </a:xfrm>
          <a:prstGeom prst="rect">
            <a:avLst/>
          </a:prstGeom>
        </p:spPr>
      </p:pic>
      <p:sp>
        <p:nvSpPr>
          <p:cNvPr id="17" name="圓角矩形 16"/>
          <p:cNvSpPr/>
          <p:nvPr/>
        </p:nvSpPr>
        <p:spPr>
          <a:xfrm>
            <a:off x="2135560" y="6127065"/>
            <a:ext cx="8352928" cy="67645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  <a:latin typeface="Calibri" panose="020F0502020204030204" pitchFamily="34" charset="0"/>
              </a:rPr>
              <a:t>Thread 0 creates threads 1 and 2 and waits for their execution </a:t>
            </a:r>
            <a:endParaRPr lang="zh-TW" altLang="en-US" sz="25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29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 animBg="1"/>
      <p:bldP spid="16" grpId="0" animBg="1"/>
      <p:bldP spid="17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Thread Library (Cont.)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Three main thread libraries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POSIX </a:t>
            </a:r>
            <a:r>
              <a:rPr lang="en-US" altLang="zh-TW" dirty="0" err="1"/>
              <a:t>Pthreads</a:t>
            </a:r>
            <a:r>
              <a:rPr lang="en-US" altLang="zh-TW" dirty="0"/>
              <a:t> (</a:t>
            </a:r>
            <a:r>
              <a:rPr lang="en-US" altLang="zh-TW" dirty="0" err="1"/>
              <a:t>Pthreads</a:t>
            </a:r>
            <a:r>
              <a:rPr lang="en-US" altLang="zh-TW" dirty="0"/>
              <a:t>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Can be provided as a user- or kernel-level library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Win32 </a:t>
            </a:r>
            <a:r>
              <a:rPr lang="en-US" altLang="zh-TW" dirty="0" smtClean="0"/>
              <a:t>threads (skip!)</a:t>
            </a:r>
            <a:endParaRPr lang="en-US" altLang="zh-TW" dirty="0"/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Kernel-level library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Java </a:t>
            </a:r>
            <a:r>
              <a:rPr lang="en-US" altLang="zh-TW" dirty="0" smtClean="0"/>
              <a:t>threads (skip!)</a:t>
            </a:r>
            <a:endParaRPr lang="en-US" altLang="zh-TW" dirty="0"/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Use</a:t>
            </a:r>
            <a:r>
              <a:rPr lang="en-US" altLang="zh-TW" b="1" dirty="0">
                <a:solidFill>
                  <a:srgbClr val="FF0000"/>
                </a:solidFill>
              </a:rPr>
              <a:t> thread library </a:t>
            </a:r>
            <a:r>
              <a:rPr lang="en-US" altLang="zh-TW" dirty="0"/>
              <a:t>available on the host system, typically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dirty="0"/>
              <a:t>Use Win32 threads in Windows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dirty="0"/>
              <a:t>Use POSIX </a:t>
            </a:r>
            <a:r>
              <a:rPr lang="en-US" altLang="zh-TW" dirty="0" err="1"/>
              <a:t>Pthreads</a:t>
            </a:r>
            <a:r>
              <a:rPr lang="en-US" altLang="zh-TW" dirty="0"/>
              <a:t> in UNIX or Linux</a:t>
            </a:r>
          </a:p>
        </p:txBody>
      </p:sp>
    </p:spTree>
    <p:extLst>
      <p:ext uri="{BB962C8B-B14F-4D97-AF65-F5344CB8AC3E}">
        <p14:creationId xmlns:p14="http://schemas.microsoft.com/office/powerpoint/2010/main" val="188349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Thread Library</a:t>
            </a:r>
          </a:p>
          <a:p>
            <a:pPr lvl="1" eaLnBrk="1" hangingPunct="1"/>
            <a:r>
              <a:rPr lang="en-US" altLang="zh-TW" b="1" dirty="0" err="1">
                <a:solidFill>
                  <a:srgbClr val="FF0000"/>
                </a:solidFill>
              </a:rPr>
              <a:t>Pthreads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TW" dirty="0"/>
              <a:t>Windows Threads</a:t>
            </a:r>
          </a:p>
          <a:p>
            <a:pPr lvl="1" eaLnBrk="1" hangingPunct="1"/>
            <a:r>
              <a:rPr lang="en-US" altLang="zh-TW" dirty="0"/>
              <a:t>Java Threads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dirty="0"/>
              <a:t>Threading Issues</a:t>
            </a:r>
          </a:p>
          <a:p>
            <a:pPr eaLnBrk="1" hangingPunct="1"/>
            <a:r>
              <a:rPr lang="en-US" altLang="zh-TW" dirty="0"/>
              <a:t>Operating-System Examples</a:t>
            </a:r>
          </a:p>
          <a:p>
            <a:pPr eaLnBrk="1" hangingPunct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8928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Pthreads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A POSIX standard (IEEE 1003.1c) API 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Common in UNIX operating systems </a:t>
            </a:r>
          </a:p>
          <a:p>
            <a:pPr lvl="1" eaLnBrk="1" hangingPunct="1"/>
            <a:r>
              <a:rPr lang="en-US" altLang="zh-TW" dirty="0"/>
              <a:t>Solaris, Linux, Mac OS 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>
                <a:latin typeface="Calibri" panose="020F0502020204030204" pitchFamily="34" charset="0"/>
              </a:rPr>
              <a:t>The </a:t>
            </a:r>
            <a:r>
              <a:rPr lang="en-US" altLang="zh-TW" dirty="0" err="1">
                <a:latin typeface="Calibri" panose="020F0502020204030204" pitchFamily="34" charset="0"/>
              </a:rPr>
              <a:t>Pthreads</a:t>
            </a:r>
            <a:r>
              <a:rPr lang="en-US" altLang="zh-TW" dirty="0">
                <a:latin typeface="Calibri" panose="020F0502020204030204" pitchFamily="34" charset="0"/>
              </a:rPr>
              <a:t> API (Incomplete)</a:t>
            </a:r>
          </a:p>
        </p:txBody>
      </p:sp>
      <p:pic>
        <p:nvPicPr>
          <p:cNvPr id="3379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9456" y="1412875"/>
            <a:ext cx="9865096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2806874" y="6159500"/>
            <a:ext cx="67687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000" dirty="0">
                <a:latin typeface="Calibri" panose="020F0502020204030204" pitchFamily="34" charset="0"/>
              </a:rPr>
              <a:t>Table 1. POSIX thread management functions (incomplete).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248616" y="6128722"/>
            <a:ext cx="9766776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marL="0" lvl="1"/>
            <a:r>
              <a:rPr lang="en-US" altLang="zh-TW" sz="2400" b="1" dirty="0">
                <a:latin typeface="Bodoni MT" panose="02070603080606020203" pitchFamily="18" charset="0"/>
              </a:rPr>
              <a:t>Implementation, e.g., </a:t>
            </a:r>
            <a:r>
              <a:rPr lang="en-US" altLang="zh-TW" sz="2400" b="1" dirty="0" err="1">
                <a:latin typeface="Bodoni MT" panose="02070603080606020203" pitchFamily="18" charset="0"/>
              </a:rPr>
              <a:t>pthread_create</a:t>
            </a:r>
            <a:r>
              <a:rPr lang="en-US" altLang="zh-TW" sz="2400" b="1" dirty="0">
                <a:latin typeface="Bodoni MT" panose="02070603080606020203" pitchFamily="18" charset="0"/>
              </a:rPr>
              <a:t>(),</a:t>
            </a:r>
            <a:r>
              <a:rPr lang="en-US" altLang="zh-TW" sz="2400" dirty="0">
                <a:latin typeface="Bodoni MT" panose="02070603080606020203" pitchFamily="18" charset="0"/>
              </a:rPr>
              <a:t> is up to development of the library</a:t>
            </a:r>
            <a:endParaRPr lang="zh-TW" altLang="en-US" sz="2400" dirty="0">
              <a:latin typeface="Bodoni MT" panose="020706030806060202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Example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368" y="1600201"/>
            <a:ext cx="11463064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 dirty="0"/>
              <a:t>A </a:t>
            </a:r>
            <a:r>
              <a:rPr lang="en-US" altLang="zh-TW" sz="3600" dirty="0" err="1"/>
              <a:t>Pthreads</a:t>
            </a:r>
            <a:r>
              <a:rPr lang="en-US" altLang="zh-TW" sz="3600" dirty="0"/>
              <a:t> example</a:t>
            </a:r>
          </a:p>
          <a:p>
            <a:pPr lvl="1" eaLnBrk="1" hangingPunct="1"/>
            <a:r>
              <a:rPr lang="en-US" altLang="zh-TW" sz="3200" dirty="0"/>
              <a:t>A thread begins with main()</a:t>
            </a:r>
          </a:p>
          <a:p>
            <a:pPr lvl="1" eaLnBrk="1" hangingPunct="1"/>
            <a:endParaRPr lang="en-US" altLang="zh-TW" sz="3200" dirty="0" smtClean="0"/>
          </a:p>
          <a:p>
            <a:pPr lvl="1" eaLnBrk="1" hangingPunct="1"/>
            <a:r>
              <a:rPr lang="en-US" altLang="zh-TW" sz="3200" dirty="0" smtClean="0"/>
              <a:t>main</a:t>
            </a:r>
            <a:r>
              <a:rPr lang="en-US" altLang="zh-TW" sz="3200" dirty="0"/>
              <a:t>() creates a second thread by calling </a:t>
            </a:r>
            <a:r>
              <a:rPr lang="en-US" altLang="zh-TW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zh-TW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 eaLnBrk="1" hangingPunct="1"/>
            <a:endParaRPr lang="en-US" altLang="zh-TW" sz="3200" dirty="0" smtClean="0"/>
          </a:p>
          <a:p>
            <a:pPr lvl="1" eaLnBrk="1" hangingPunct="1"/>
            <a:r>
              <a:rPr lang="en-US" altLang="zh-TW" sz="3200" dirty="0" smtClean="0"/>
              <a:t>Wait </a:t>
            </a:r>
            <a:r>
              <a:rPr lang="en-US" altLang="zh-TW" sz="3200" dirty="0"/>
              <a:t>for a thread to terminate by calling </a:t>
            </a:r>
            <a:r>
              <a:rPr lang="en-US" altLang="zh-TW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lang="en-US" altLang="zh-TW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 eaLnBrk="1" hangingPunct="1"/>
            <a:r>
              <a:rPr lang="en-US" altLang="zh-TW" sz="3200" dirty="0"/>
              <a:t>This example uses asynchronous threading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0"/>
            <a:ext cx="8229600" cy="764704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200" dirty="0"/>
              <a:t>Example 1</a:t>
            </a:r>
          </a:p>
        </p:txBody>
      </p:sp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1956223" y="733246"/>
            <a:ext cx="8198172" cy="612475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1400" b="1" dirty="0">
                <a:latin typeface="Courier New" pitchFamily="49" charset="0"/>
              </a:rPr>
              <a:t>#include &lt;</a:t>
            </a:r>
            <a:r>
              <a:rPr lang="en-US" altLang="zh-TW" sz="1400" b="1" dirty="0" err="1">
                <a:latin typeface="Courier New" pitchFamily="49" charset="0"/>
              </a:rPr>
              <a:t>pthread.h</a:t>
            </a:r>
            <a:r>
              <a:rPr lang="en-US" altLang="zh-TW" sz="1400" b="1" dirty="0">
                <a:latin typeface="Courier New" pitchFamily="49" charset="0"/>
              </a:rPr>
              <a:t>&gt;</a:t>
            </a:r>
          </a:p>
          <a:p>
            <a:r>
              <a:rPr lang="en-US" altLang="zh-TW" sz="1400" b="1" dirty="0">
                <a:latin typeface="Courier New" pitchFamily="49" charset="0"/>
              </a:rPr>
              <a:t>#include &lt;</a:t>
            </a:r>
            <a:r>
              <a:rPr lang="en-US" altLang="zh-TW" sz="1400" b="1" dirty="0" err="1">
                <a:latin typeface="Courier New" pitchFamily="49" charset="0"/>
              </a:rPr>
              <a:t>stdio.h</a:t>
            </a:r>
            <a:r>
              <a:rPr lang="en-US" altLang="zh-TW" sz="1400" b="1" dirty="0">
                <a:latin typeface="Courier New" pitchFamily="49" charset="0"/>
              </a:rPr>
              <a:t>&gt;</a:t>
            </a:r>
          </a:p>
          <a:p>
            <a:endParaRPr lang="en-US" altLang="zh-TW" sz="1400" b="1" dirty="0">
              <a:latin typeface="Courier New" pitchFamily="49" charset="0"/>
            </a:endParaRPr>
          </a:p>
          <a:p>
            <a:r>
              <a:rPr lang="en-US" altLang="zh-TW" sz="1400" b="1" dirty="0" err="1">
                <a:latin typeface="Courier New" pitchFamily="49" charset="0"/>
              </a:rPr>
              <a:t>int</a:t>
            </a:r>
            <a:r>
              <a:rPr lang="en-US" altLang="zh-TW" sz="1400" b="1" dirty="0">
                <a:latin typeface="Courier New" pitchFamily="49" charset="0"/>
              </a:rPr>
              <a:t> sum;</a:t>
            </a:r>
          </a:p>
          <a:p>
            <a:r>
              <a:rPr lang="en-US" altLang="zh-TW" sz="1400" b="1" dirty="0">
                <a:latin typeface="Courier New" pitchFamily="49" charset="0"/>
              </a:rPr>
              <a:t>Void   *runner(void *</a:t>
            </a:r>
            <a:r>
              <a:rPr lang="en-US" altLang="zh-TW" sz="1400" b="1" dirty="0" err="1">
                <a:latin typeface="Courier New" pitchFamily="49" charset="0"/>
              </a:rPr>
              <a:t>param</a:t>
            </a:r>
            <a:r>
              <a:rPr lang="en-US" altLang="zh-TW" sz="1400" b="1" dirty="0">
                <a:latin typeface="Courier New" pitchFamily="49" charset="0"/>
              </a:rPr>
              <a:t>)</a:t>
            </a:r>
          </a:p>
          <a:p>
            <a:r>
              <a:rPr lang="en-US" altLang="zh-TW" sz="1400" b="1" dirty="0" err="1">
                <a:latin typeface="Courier New" pitchFamily="49" charset="0"/>
              </a:rPr>
              <a:t>int</a:t>
            </a:r>
            <a:r>
              <a:rPr lang="en-US" altLang="zh-TW" sz="1400" b="1" dirty="0">
                <a:latin typeface="Courier New" pitchFamily="49" charset="0"/>
              </a:rPr>
              <a:t> main (</a:t>
            </a:r>
            <a:r>
              <a:rPr lang="en-US" altLang="zh-TW" sz="1400" b="1" dirty="0" err="1">
                <a:latin typeface="Courier New" pitchFamily="49" charset="0"/>
              </a:rPr>
              <a:t>int</a:t>
            </a:r>
            <a:r>
              <a:rPr lang="en-US" altLang="zh-TW" sz="1400" b="1" dirty="0">
                <a:latin typeface="Courier New" pitchFamily="49" charset="0"/>
              </a:rPr>
              <a:t> </a:t>
            </a:r>
            <a:r>
              <a:rPr lang="en-US" altLang="zh-TW" sz="1400" b="1" dirty="0" err="1">
                <a:latin typeface="Courier New" pitchFamily="49" charset="0"/>
              </a:rPr>
              <a:t>argc</a:t>
            </a:r>
            <a:r>
              <a:rPr lang="en-US" altLang="zh-TW" sz="1400" b="1" dirty="0">
                <a:latin typeface="Courier New" pitchFamily="49" charset="0"/>
              </a:rPr>
              <a:t>, char *</a:t>
            </a:r>
            <a:r>
              <a:rPr lang="en-US" altLang="zh-TW" sz="1400" b="1" dirty="0" err="1">
                <a:latin typeface="Courier New" pitchFamily="49" charset="0"/>
              </a:rPr>
              <a:t>argv</a:t>
            </a:r>
            <a:r>
              <a:rPr lang="en-US" altLang="zh-TW" sz="1400" b="1" dirty="0">
                <a:latin typeface="Courier New" pitchFamily="49" charset="0"/>
              </a:rPr>
              <a:t>[])</a:t>
            </a:r>
          </a:p>
          <a:p>
            <a:r>
              <a:rPr lang="en-US" altLang="zh-TW" sz="1400" b="1" dirty="0">
                <a:latin typeface="Courier New" pitchFamily="49" charset="0"/>
              </a:rPr>
              <a:t>{</a:t>
            </a:r>
          </a:p>
          <a:p>
            <a:r>
              <a:rPr lang="en-US" altLang="zh-TW" sz="1400" b="1" dirty="0">
                <a:latin typeface="Courier New" pitchFamily="49" charset="0"/>
              </a:rPr>
              <a:t>   </a:t>
            </a:r>
            <a:r>
              <a:rPr lang="en-US" altLang="zh-TW" sz="1400" b="1" dirty="0" err="1">
                <a:latin typeface="Courier New" pitchFamily="49" charset="0"/>
              </a:rPr>
              <a:t>pthread_t</a:t>
            </a:r>
            <a:r>
              <a:rPr lang="en-US" altLang="zh-TW" sz="1400" b="1" dirty="0">
                <a:latin typeface="Courier New" pitchFamily="49" charset="0"/>
              </a:rPr>
              <a:t> </a:t>
            </a:r>
            <a:r>
              <a:rPr lang="en-US" altLang="zh-TW" sz="1400" b="1" dirty="0" err="1">
                <a:latin typeface="Courier New" pitchFamily="49" charset="0"/>
              </a:rPr>
              <a:t>tid</a:t>
            </a:r>
            <a:r>
              <a:rPr lang="en-US" altLang="zh-TW" sz="1400" b="1" dirty="0">
                <a:latin typeface="Courier New" pitchFamily="49" charset="0"/>
              </a:rPr>
              <a:t>;			/* the thread identifier */</a:t>
            </a:r>
          </a:p>
          <a:p>
            <a:r>
              <a:rPr lang="en-US" altLang="zh-TW" sz="1400" b="1" dirty="0">
                <a:latin typeface="Courier New" pitchFamily="49" charset="0"/>
              </a:rPr>
              <a:t>   </a:t>
            </a:r>
            <a:r>
              <a:rPr lang="en-US" altLang="zh-TW" sz="1400" b="1" dirty="0" err="1">
                <a:latin typeface="Courier New" pitchFamily="49" charset="0"/>
              </a:rPr>
              <a:t>pthread_attr_t</a:t>
            </a:r>
            <a:r>
              <a:rPr lang="en-US" altLang="zh-TW" sz="1400" b="1" dirty="0">
                <a:latin typeface="Courier New" pitchFamily="49" charset="0"/>
              </a:rPr>
              <a:t>   </a:t>
            </a:r>
            <a:r>
              <a:rPr lang="en-US" altLang="zh-TW" sz="1400" b="1" dirty="0" err="1">
                <a:latin typeface="Courier New" pitchFamily="49" charset="0"/>
              </a:rPr>
              <a:t>attr</a:t>
            </a:r>
            <a:r>
              <a:rPr lang="en-US" altLang="zh-TW" sz="1400" b="1" dirty="0">
                <a:latin typeface="Courier New" pitchFamily="49" charset="0"/>
              </a:rPr>
              <a:t>; 	/* set of thread attributes */</a:t>
            </a:r>
          </a:p>
          <a:p>
            <a:endParaRPr lang="en-US" altLang="zh-TW" sz="1400" b="1" dirty="0">
              <a:latin typeface="Courier New" pitchFamily="49" charset="0"/>
            </a:endParaRPr>
          </a:p>
          <a:p>
            <a:r>
              <a:rPr lang="en-US" altLang="zh-TW" sz="1400" b="1" dirty="0">
                <a:latin typeface="Courier New" pitchFamily="49" charset="0"/>
              </a:rPr>
              <a:t>   // set default thread attributes, e.g. stack size, scheduling info.       </a:t>
            </a:r>
          </a:p>
          <a:p>
            <a:r>
              <a:rPr lang="en-US" altLang="zh-TW" sz="1400" b="1" dirty="0">
                <a:latin typeface="Courier New" pitchFamily="49" charset="0"/>
              </a:rPr>
              <a:t>   </a:t>
            </a:r>
            <a:r>
              <a:rPr lang="en-US" altLang="zh-TW" sz="1400" b="1" dirty="0" err="1">
                <a:latin typeface="Courier New" pitchFamily="49" charset="0"/>
              </a:rPr>
              <a:t>pthread_attr_init</a:t>
            </a:r>
            <a:r>
              <a:rPr lang="en-US" altLang="zh-TW" sz="1400" b="1" dirty="0">
                <a:latin typeface="Courier New" pitchFamily="49" charset="0"/>
              </a:rPr>
              <a:t>(&amp;</a:t>
            </a:r>
            <a:r>
              <a:rPr lang="en-US" altLang="zh-TW" sz="1400" b="1" dirty="0" err="1">
                <a:latin typeface="Courier New" pitchFamily="49" charset="0"/>
              </a:rPr>
              <a:t>attr</a:t>
            </a:r>
            <a:r>
              <a:rPr lang="en-US" altLang="zh-TW" sz="1400" b="1" dirty="0">
                <a:latin typeface="Courier New" pitchFamily="49" charset="0"/>
              </a:rPr>
              <a:t>);	</a:t>
            </a:r>
          </a:p>
          <a:p>
            <a:r>
              <a:rPr lang="en-US" altLang="zh-TW" sz="1400" b="1" dirty="0">
                <a:latin typeface="Courier New" pitchFamily="49" charset="0"/>
              </a:rPr>
              <a:t>   // create the thread, using the default attributes</a:t>
            </a:r>
          </a:p>
          <a:p>
            <a:r>
              <a:rPr lang="en-US" altLang="zh-TW" sz="1400" b="1" dirty="0">
                <a:latin typeface="Courier New" pitchFamily="49" charset="0"/>
              </a:rPr>
              <a:t>   </a:t>
            </a:r>
            <a:r>
              <a:rPr lang="en-US" altLang="zh-TW" sz="1400" b="1" dirty="0" err="1">
                <a:latin typeface="Courier New" pitchFamily="49" charset="0"/>
              </a:rPr>
              <a:t>pthread_create</a:t>
            </a:r>
            <a:r>
              <a:rPr lang="en-US" altLang="zh-TW" sz="1400" b="1" dirty="0">
                <a:latin typeface="Courier New" pitchFamily="49" charset="0"/>
              </a:rPr>
              <a:t>(&amp;</a:t>
            </a:r>
            <a:r>
              <a:rPr lang="en-US" altLang="zh-TW" sz="1400" b="1" dirty="0" err="1">
                <a:latin typeface="Courier New" pitchFamily="49" charset="0"/>
              </a:rPr>
              <a:t>tid</a:t>
            </a:r>
            <a:r>
              <a:rPr lang="en-US" altLang="zh-TW" sz="1400" b="1" dirty="0">
                <a:latin typeface="Courier New" pitchFamily="49" charset="0"/>
              </a:rPr>
              <a:t>, &amp;</a:t>
            </a:r>
            <a:r>
              <a:rPr lang="en-US" altLang="zh-TW" sz="1400" b="1" dirty="0" err="1">
                <a:latin typeface="Courier New" pitchFamily="49" charset="0"/>
              </a:rPr>
              <a:t>attr</a:t>
            </a:r>
            <a:r>
              <a:rPr lang="en-US" altLang="zh-TW" sz="1400" b="1" dirty="0">
                <a:latin typeface="Courier New" pitchFamily="49" charset="0"/>
              </a:rPr>
              <a:t>, runner, </a:t>
            </a:r>
            <a:r>
              <a:rPr lang="en-US" altLang="zh-TW" sz="1400" b="1" dirty="0" err="1">
                <a:latin typeface="Courier New" pitchFamily="49" charset="0"/>
              </a:rPr>
              <a:t>argv</a:t>
            </a:r>
            <a:r>
              <a:rPr lang="en-US" altLang="zh-TW" sz="1400" b="1" dirty="0">
                <a:latin typeface="Courier New" pitchFamily="49" charset="0"/>
              </a:rPr>
              <a:t>[1]);</a:t>
            </a:r>
          </a:p>
          <a:p>
            <a:r>
              <a:rPr lang="en-US" altLang="zh-TW" sz="1400" b="1" dirty="0">
                <a:latin typeface="Courier New" pitchFamily="49" charset="0"/>
              </a:rPr>
              <a:t>   // wait for the thread to exit</a:t>
            </a:r>
          </a:p>
          <a:p>
            <a:r>
              <a:rPr lang="en-US" altLang="zh-TW" sz="1400" b="1" dirty="0">
                <a:latin typeface="Courier New" pitchFamily="49" charset="0"/>
              </a:rPr>
              <a:t>   </a:t>
            </a:r>
            <a:r>
              <a:rPr lang="en-US" altLang="zh-TW" sz="1400" b="1" dirty="0" err="1">
                <a:latin typeface="Courier New" pitchFamily="49" charset="0"/>
              </a:rPr>
              <a:t>pthread_join</a:t>
            </a:r>
            <a:r>
              <a:rPr lang="en-US" altLang="zh-TW" sz="1400" b="1" dirty="0">
                <a:latin typeface="Courier New" pitchFamily="49" charset="0"/>
              </a:rPr>
              <a:t>(</a:t>
            </a:r>
            <a:r>
              <a:rPr lang="en-US" altLang="zh-TW" sz="1400" b="1" dirty="0" err="1">
                <a:latin typeface="Courier New" pitchFamily="49" charset="0"/>
              </a:rPr>
              <a:t>tid</a:t>
            </a:r>
            <a:r>
              <a:rPr lang="en-US" altLang="zh-TW" sz="1400" b="1" dirty="0">
                <a:latin typeface="Courier New" pitchFamily="49" charset="0"/>
              </a:rPr>
              <a:t>, NULL);</a:t>
            </a:r>
          </a:p>
          <a:p>
            <a:endParaRPr lang="en-US" altLang="zh-TW" sz="1400" b="1" dirty="0">
              <a:latin typeface="Courier New" pitchFamily="49" charset="0"/>
            </a:endParaRPr>
          </a:p>
          <a:p>
            <a:r>
              <a:rPr lang="en-US" altLang="zh-TW" sz="1400" b="1" dirty="0">
                <a:latin typeface="Courier New" pitchFamily="49" charset="0"/>
              </a:rPr>
              <a:t>   </a:t>
            </a:r>
            <a:r>
              <a:rPr lang="en-US" altLang="zh-TW" sz="1400" b="1" dirty="0" err="1">
                <a:latin typeface="Courier New" pitchFamily="49" charset="0"/>
              </a:rPr>
              <a:t>printf</a:t>
            </a:r>
            <a:r>
              <a:rPr lang="en-US" altLang="zh-TW" sz="1400" b="1" dirty="0">
                <a:latin typeface="Courier New" pitchFamily="49" charset="0"/>
              </a:rPr>
              <a:t>(“sum = %d\n”, sum);</a:t>
            </a:r>
          </a:p>
          <a:p>
            <a:r>
              <a:rPr lang="en-US" altLang="zh-TW" sz="1400" b="1" dirty="0">
                <a:latin typeface="Courier New" pitchFamily="49" charset="0"/>
              </a:rPr>
              <a:t>} </a:t>
            </a:r>
          </a:p>
          <a:p>
            <a:r>
              <a:rPr lang="en-US" altLang="zh-TW" sz="1400" b="1" dirty="0">
                <a:latin typeface="Courier New" pitchFamily="49" charset="0"/>
              </a:rPr>
              <a:t>void *runner (void *</a:t>
            </a:r>
            <a:r>
              <a:rPr lang="en-US" altLang="zh-TW" sz="1400" b="1" dirty="0" err="1">
                <a:latin typeface="Courier New" pitchFamily="49" charset="0"/>
              </a:rPr>
              <a:t>param</a:t>
            </a:r>
            <a:r>
              <a:rPr lang="en-US" altLang="zh-TW" sz="1400" b="1" dirty="0">
                <a:latin typeface="Courier New" pitchFamily="49" charset="0"/>
              </a:rPr>
              <a:t>)</a:t>
            </a:r>
          </a:p>
          <a:p>
            <a:r>
              <a:rPr lang="en-US" altLang="zh-TW" sz="1400" b="1" dirty="0">
                <a:latin typeface="Courier New" pitchFamily="49" charset="0"/>
              </a:rPr>
              <a:t>{</a:t>
            </a:r>
          </a:p>
          <a:p>
            <a:r>
              <a:rPr lang="en-US" altLang="zh-TW" sz="1400" b="1" dirty="0">
                <a:latin typeface="Courier New" pitchFamily="49" charset="0"/>
              </a:rPr>
              <a:t>   </a:t>
            </a:r>
            <a:r>
              <a:rPr lang="en-US" altLang="zh-TW" sz="1400" b="1" dirty="0" err="1">
                <a:latin typeface="Courier New" pitchFamily="49" charset="0"/>
              </a:rPr>
              <a:t>int</a:t>
            </a:r>
            <a:r>
              <a:rPr lang="en-US" altLang="zh-TW" sz="1400" b="1" dirty="0">
                <a:latin typeface="Courier New" pitchFamily="49" charset="0"/>
              </a:rPr>
              <a:t> </a:t>
            </a:r>
            <a:r>
              <a:rPr lang="en-US" altLang="zh-TW" sz="1400" b="1" dirty="0" err="1">
                <a:latin typeface="Courier New" pitchFamily="49" charset="0"/>
              </a:rPr>
              <a:t>i</a:t>
            </a:r>
            <a:r>
              <a:rPr lang="en-US" altLang="zh-TW" sz="1400" b="1" dirty="0">
                <a:latin typeface="Courier New" pitchFamily="49" charset="0"/>
              </a:rPr>
              <a:t>, upper = </a:t>
            </a:r>
            <a:r>
              <a:rPr lang="en-US" altLang="zh-TW" sz="1400" b="1" dirty="0" err="1">
                <a:latin typeface="Courier New" pitchFamily="49" charset="0"/>
              </a:rPr>
              <a:t>atoi</a:t>
            </a:r>
            <a:r>
              <a:rPr lang="en-US" altLang="zh-TW" sz="1400" b="1" dirty="0">
                <a:latin typeface="Courier New" pitchFamily="49" charset="0"/>
              </a:rPr>
              <a:t>(</a:t>
            </a:r>
            <a:r>
              <a:rPr lang="en-US" altLang="zh-TW" sz="1400" b="1" dirty="0" err="1">
                <a:latin typeface="Courier New" pitchFamily="49" charset="0"/>
              </a:rPr>
              <a:t>param</a:t>
            </a:r>
            <a:r>
              <a:rPr lang="en-US" altLang="zh-TW" sz="1400" b="1" dirty="0">
                <a:latin typeface="Courier New" pitchFamily="49" charset="0"/>
              </a:rPr>
              <a:t>); //converts the string </a:t>
            </a:r>
            <a:r>
              <a:rPr lang="en-US" altLang="zh-TW" sz="1400" b="1" dirty="0" err="1">
                <a:latin typeface="Courier New" pitchFamily="49" charset="0"/>
              </a:rPr>
              <a:t>param</a:t>
            </a:r>
            <a:r>
              <a:rPr lang="en-US" altLang="zh-TW" sz="1400" b="1" dirty="0">
                <a:latin typeface="Courier New" pitchFamily="49" charset="0"/>
              </a:rPr>
              <a:t> to an integer</a:t>
            </a:r>
          </a:p>
          <a:p>
            <a:r>
              <a:rPr lang="en-US" altLang="zh-TW" sz="1400" b="1" dirty="0">
                <a:latin typeface="Courier New" pitchFamily="49" charset="0"/>
              </a:rPr>
              <a:t>   sum=0;</a:t>
            </a:r>
          </a:p>
          <a:p>
            <a:r>
              <a:rPr lang="en-US" altLang="zh-TW" sz="1400" b="1" dirty="0">
                <a:latin typeface="Courier New" pitchFamily="49" charset="0"/>
              </a:rPr>
              <a:t>   for (</a:t>
            </a:r>
            <a:r>
              <a:rPr lang="en-US" altLang="zh-TW" sz="1400" b="1" dirty="0" err="1">
                <a:latin typeface="Courier New" pitchFamily="49" charset="0"/>
              </a:rPr>
              <a:t>i</a:t>
            </a:r>
            <a:r>
              <a:rPr lang="en-US" altLang="zh-TW" sz="1400" b="1" dirty="0">
                <a:latin typeface="Courier New" pitchFamily="49" charset="0"/>
              </a:rPr>
              <a:t> = 1; </a:t>
            </a:r>
            <a:r>
              <a:rPr lang="en-US" altLang="zh-TW" sz="1400" b="1" dirty="0" err="1">
                <a:latin typeface="Courier New" pitchFamily="49" charset="0"/>
              </a:rPr>
              <a:t>i</a:t>
            </a:r>
            <a:r>
              <a:rPr lang="en-US" altLang="zh-TW" sz="1400" b="1" dirty="0">
                <a:latin typeface="Courier New" pitchFamily="49" charset="0"/>
              </a:rPr>
              <a:t> &lt;= upper; </a:t>
            </a:r>
            <a:r>
              <a:rPr lang="en-US" altLang="zh-TW" sz="1400" b="1" dirty="0" err="1">
                <a:latin typeface="Courier New" pitchFamily="49" charset="0"/>
              </a:rPr>
              <a:t>i</a:t>
            </a:r>
            <a:r>
              <a:rPr lang="en-US" altLang="zh-TW" sz="1400" b="1" dirty="0">
                <a:latin typeface="Courier New" pitchFamily="49" charset="0"/>
              </a:rPr>
              <a:t>++)</a:t>
            </a:r>
          </a:p>
          <a:p>
            <a:r>
              <a:rPr lang="en-US" altLang="zh-TW" sz="1400" b="1" dirty="0">
                <a:latin typeface="Courier New" pitchFamily="49" charset="0"/>
              </a:rPr>
              <a:t>      sum += </a:t>
            </a:r>
            <a:r>
              <a:rPr lang="en-US" altLang="zh-TW" sz="1400" b="1" dirty="0" err="1">
                <a:latin typeface="Courier New" pitchFamily="49" charset="0"/>
              </a:rPr>
              <a:t>i</a:t>
            </a:r>
            <a:r>
              <a:rPr lang="en-US" altLang="zh-TW" sz="1400" b="1" dirty="0">
                <a:latin typeface="Courier New" pitchFamily="49" charset="0"/>
              </a:rPr>
              <a:t>;</a:t>
            </a:r>
          </a:p>
          <a:p>
            <a:r>
              <a:rPr lang="en-US" altLang="zh-TW" sz="1400" b="1" dirty="0">
                <a:latin typeface="Courier New" pitchFamily="49" charset="0"/>
              </a:rPr>
              <a:t>   </a:t>
            </a:r>
            <a:r>
              <a:rPr lang="en-US" altLang="zh-TW" sz="1400" b="1" dirty="0" err="1">
                <a:latin typeface="Courier New" pitchFamily="49" charset="0"/>
              </a:rPr>
              <a:t>pthread_exit</a:t>
            </a:r>
            <a:r>
              <a:rPr lang="en-US" altLang="zh-TW" sz="1400" b="1" dirty="0">
                <a:latin typeface="Courier New" pitchFamily="49" charset="0"/>
              </a:rPr>
              <a:t>(0);</a:t>
            </a:r>
          </a:p>
          <a:p>
            <a:r>
              <a:rPr lang="en-US" altLang="zh-TW" sz="1400" b="1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 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3000" dirty="0"/>
              <a:t>Above example creates only one thread</a:t>
            </a:r>
          </a:p>
          <a:p>
            <a:r>
              <a:rPr lang="en-US" altLang="en-US" sz="3000" dirty="0"/>
              <a:t>If several threads are created</a:t>
            </a:r>
          </a:p>
          <a:p>
            <a:pPr lvl="1"/>
            <a:r>
              <a:rPr lang="en-US" altLang="en-US" sz="2600" dirty="0"/>
              <a:t>Calling </a:t>
            </a:r>
            <a:r>
              <a:rPr lang="en-US" alt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lang="en-US" alt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600" dirty="0"/>
              <a:t>10 (=NUM_THREADS) times</a:t>
            </a:r>
            <a:endParaRPr lang="zh-TW" altLang="en-US" sz="2600" dirty="0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3737135"/>
            <a:ext cx="612068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3215680" y="5373216"/>
            <a:ext cx="4320480" cy="360040"/>
          </a:xfrm>
          <a:prstGeom prst="roundRect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79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 dirty="0" err="1" smtClean="0"/>
              <a:t>Pthread</a:t>
            </a:r>
            <a:r>
              <a:rPr lang="en-US" altLang="zh-TW" dirty="0" smtClean="0"/>
              <a:t> Programming</a:t>
            </a:r>
            <a:r>
              <a:rPr lang="zh-TW" altLang="en-US" dirty="0" smtClean="0"/>
              <a:t>的實驗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214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Implicit Threading</a:t>
            </a:r>
          </a:p>
          <a:p>
            <a:pPr eaLnBrk="1" hangingPunct="1"/>
            <a:r>
              <a:rPr lang="en-US" altLang="zh-TW" dirty="0"/>
              <a:t>Threading Issues</a:t>
            </a:r>
          </a:p>
          <a:p>
            <a:pPr eaLnBrk="1" hangingPunct="1"/>
            <a:r>
              <a:rPr lang="en-US" altLang="zh-TW" dirty="0"/>
              <a:t>Operating-System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Implicit Threading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Due to multicore computers, applications may contains hundreds, or even thousands, of threads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But, design such an multi-threading application is </a:t>
            </a:r>
            <a:r>
              <a:rPr lang="en-US" altLang="zh-TW" b="1" dirty="0"/>
              <a:t>not easy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Address the challenges in page </a:t>
            </a:r>
            <a:r>
              <a:rPr lang="en-US" altLang="zh-TW" dirty="0" smtClean="0"/>
              <a:t>34</a:t>
            </a:r>
            <a:endParaRPr lang="en-US" altLang="zh-TW" dirty="0"/>
          </a:p>
          <a:p>
            <a:pPr lvl="1">
              <a:lnSpc>
                <a:spcPct val="120000"/>
              </a:lnSpc>
            </a:pPr>
            <a:r>
              <a:rPr lang="en-US" altLang="zh-TW" dirty="0"/>
              <a:t>Synchronous and deadlock issue (chapter 6 and 7)</a:t>
            </a:r>
          </a:p>
          <a:p>
            <a:pPr>
              <a:lnSpc>
                <a:spcPct val="120000"/>
              </a:lnSpc>
            </a:pPr>
            <a:r>
              <a:rPr lang="en-US" altLang="zh-TW" dirty="0" smtClean="0"/>
              <a:t>Your solution?</a:t>
            </a:r>
            <a:endParaRPr lang="en-US" altLang="zh-TW" dirty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Hint: </a:t>
            </a:r>
            <a:r>
              <a:rPr lang="zh-TW" altLang="en-US" dirty="0" smtClean="0"/>
              <a:t>減少程式設計師的負擔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72299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Implicit Threading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Solutions</a:t>
            </a:r>
            <a:r>
              <a:rPr lang="en-US" altLang="zh-TW" dirty="0"/>
              <a:t>: </a:t>
            </a:r>
            <a:r>
              <a:rPr lang="en-US" altLang="zh-TW" b="1" dirty="0">
                <a:solidFill>
                  <a:srgbClr val="FF0000"/>
                </a:solidFill>
              </a:rPr>
              <a:t>implicit threading</a:t>
            </a:r>
          </a:p>
          <a:p>
            <a:pPr>
              <a:lnSpc>
                <a:spcPct val="120000"/>
              </a:lnSpc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dirty="0"/>
              <a:t>複習：</a:t>
            </a:r>
            <a:r>
              <a:rPr lang="en-US" altLang="zh-TW" dirty="0"/>
              <a:t> Explicit Threading</a:t>
            </a:r>
          </a:p>
        </p:txBody>
      </p:sp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2208214" y="1196976"/>
            <a:ext cx="7775575" cy="526297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#include &lt;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pthread.h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#include &lt;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stdio.h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int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sum;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Void   *runner(void *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param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int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main (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int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argc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, char *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argv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[])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pthread_t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tid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;			/* the thread identifier */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pthread_attr_t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attr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; 	/* set of thread attributes */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新細明體" pitchFamily="18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// set default thread attributes, e.g. stack size, scheduling info.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pthread_attr_init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(&amp;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attr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);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// create the thread, using the default attributes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pthread_create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(&amp;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tid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, &amp;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attr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, runner,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argv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[1]);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// wait for the thread to exit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pthread_join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(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tid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, NULL)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printf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(“sum = %d\n”, sum);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}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void *runner (void *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param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printf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("Hello World! It's me, thread #%d!\n",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tid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   </a:t>
            </a:r>
            <a:r>
              <a:rPr kumimoji="1" lang="en-US" altLang="zh-TW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pthread_exit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(NULL);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新細明體" pitchFamily="18" charset="-120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95600" y="4005064"/>
            <a:ext cx="511256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2495600" y="4437112"/>
            <a:ext cx="511256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611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Implicit Threading Example </a:t>
            </a:r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2063553" y="1772816"/>
            <a:ext cx="8158361" cy="3816424"/>
            <a:chOff x="539552" y="1258888"/>
            <a:chExt cx="8158361" cy="5338464"/>
          </a:xfrm>
        </p:grpSpPr>
        <p:pic>
          <p:nvPicPr>
            <p:cNvPr id="10" name="Picture 2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9552" y="1412776"/>
              <a:ext cx="7704856" cy="51125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圓角矩形 14"/>
            <p:cNvSpPr/>
            <p:nvPr/>
          </p:nvSpPr>
          <p:spPr>
            <a:xfrm>
              <a:off x="611560" y="1258888"/>
              <a:ext cx="8086353" cy="5338464"/>
            </a:xfrm>
            <a:prstGeom prst="roundRect">
              <a:avLst/>
            </a:prstGeom>
            <a:noFill/>
            <a:ln w="38100"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709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問題</a:t>
            </a:r>
            <a:r>
              <a:rPr lang="en-US" altLang="zh-TW" dirty="0" smtClean="0"/>
              <a:t>:</a:t>
            </a:r>
            <a:r>
              <a:rPr lang="zh-TW" altLang="en-US" dirty="0" smtClean="0"/>
              <a:t>在前一頁</a:t>
            </a:r>
            <a:r>
              <a:rPr lang="en-US" altLang="zh-TW" dirty="0" smtClean="0"/>
              <a:t>implicit threading</a:t>
            </a:r>
            <a:r>
              <a:rPr lang="zh-TW" altLang="en-US" dirty="0" smtClean="0"/>
              <a:t>的例子中</a:t>
            </a:r>
            <a:r>
              <a:rPr lang="en-US" altLang="zh-TW" dirty="0" smtClean="0"/>
              <a:t>,</a:t>
            </a:r>
            <a:r>
              <a:rPr lang="zh-TW" altLang="en-US" dirty="0" smtClean="0"/>
              <a:t>如何產生</a:t>
            </a:r>
            <a:r>
              <a:rPr lang="en-US" altLang="zh-TW" dirty="0" smtClean="0"/>
              <a:t>threads</a:t>
            </a:r>
            <a:r>
              <a:rPr lang="zh-TW" altLang="en-US" dirty="0" smtClean="0"/>
              <a:t>和管理</a:t>
            </a:r>
            <a:r>
              <a:rPr lang="en-US" altLang="zh-TW" dirty="0" smtClean="0"/>
              <a:t>threads?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程式設計師不做</a:t>
            </a:r>
            <a:r>
              <a:rPr lang="en-US" altLang="zh-TW" dirty="0" smtClean="0"/>
              <a:t>, </a:t>
            </a:r>
            <a:r>
              <a:rPr lang="zh-TW" altLang="en-US" dirty="0" smtClean="0"/>
              <a:t>代表有其他人必須處理</a:t>
            </a:r>
            <a:endParaRPr lang="en-US" altLang="zh-TW" dirty="0" smtClean="0"/>
          </a:p>
          <a:p>
            <a:r>
              <a:rPr lang="zh-TW" altLang="en-US" dirty="0"/>
              <a:t>其他人是</a:t>
            </a:r>
            <a:r>
              <a:rPr lang="zh-TW" altLang="en-US" dirty="0" smtClean="0"/>
              <a:t>誰</a:t>
            </a:r>
            <a:r>
              <a:rPr lang="en-US" altLang="zh-TW" dirty="0" smtClean="0"/>
              <a:t>?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486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Implicit Threading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Implicit </a:t>
            </a:r>
            <a:r>
              <a:rPr lang="en-US" altLang="zh-TW" b="1" dirty="0">
                <a:solidFill>
                  <a:srgbClr val="FF0000"/>
                </a:solidFill>
              </a:rPr>
              <a:t>threading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/>
              <a:t>Creation and management of threads </a:t>
            </a:r>
            <a:r>
              <a:rPr lang="en-US" altLang="zh-TW" dirty="0"/>
              <a:t>are done by </a:t>
            </a:r>
            <a:r>
              <a:rPr lang="en-US" altLang="zh-TW" b="1" i="1" dirty="0">
                <a:solidFill>
                  <a:srgbClr val="0066FF"/>
                </a:solidFill>
              </a:rPr>
              <a:t>compilers</a:t>
            </a:r>
            <a:r>
              <a:rPr lang="en-US" altLang="zh-TW" dirty="0"/>
              <a:t> and </a:t>
            </a:r>
            <a:r>
              <a:rPr lang="en-US" altLang="zh-TW" b="1" i="1" dirty="0">
                <a:solidFill>
                  <a:srgbClr val="0066FF"/>
                </a:solidFill>
              </a:rPr>
              <a:t>libraries</a:t>
            </a:r>
            <a:r>
              <a:rPr lang="en-US" altLang="zh-TW" sz="900" b="1" i="1" dirty="0">
                <a:solidFill>
                  <a:srgbClr val="0066FF"/>
                </a:solidFill>
              </a:rPr>
              <a:t> </a:t>
            </a:r>
            <a:r>
              <a:rPr lang="en-US" altLang="zh-TW" sz="2100" b="1" i="1" dirty="0">
                <a:solidFill>
                  <a:srgbClr val="0066FF"/>
                </a:solidFill>
              </a:rPr>
              <a:t>(shown later)</a:t>
            </a:r>
            <a:r>
              <a:rPr lang="en-US" altLang="zh-TW" i="1" dirty="0"/>
              <a:t>, </a:t>
            </a:r>
            <a:r>
              <a:rPr lang="en-US" altLang="zh-TW" dirty="0"/>
              <a:t>rather than programmers</a:t>
            </a:r>
          </a:p>
          <a:p>
            <a:pPr>
              <a:lnSpc>
                <a:spcPct val="120000"/>
              </a:lnSpc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9045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Implicit Threading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err="1" smtClean="0">
                <a:solidFill>
                  <a:srgbClr val="FF0000"/>
                </a:solidFill>
              </a:rPr>
              <a:t>OpenMP</a:t>
            </a:r>
            <a:r>
              <a:rPr lang="en-US" altLang="zh-TW" b="1" dirty="0" smtClean="0">
                <a:solidFill>
                  <a:srgbClr val="FF0000"/>
                </a:solidFill>
              </a:rPr>
              <a:t> in C and C++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en-US" altLang="zh-TW" dirty="0"/>
              <a:t>Grand Central Dispatch in Mac OS and </a:t>
            </a:r>
            <a:r>
              <a:rPr lang="en-US" altLang="zh-TW" dirty="0" smtClean="0"/>
              <a:t>iOS</a:t>
            </a:r>
          </a:p>
          <a:p>
            <a:r>
              <a:rPr lang="en-US" altLang="zh-TW" dirty="0" smtClean="0"/>
              <a:t>Thread </a:t>
            </a:r>
            <a:r>
              <a:rPr lang="en-US" altLang="zh-TW" dirty="0"/>
              <a:t>Building Blocks by </a:t>
            </a:r>
            <a:r>
              <a:rPr lang="en-US" altLang="zh-TW" dirty="0" smtClean="0"/>
              <a:t>Intel</a:t>
            </a:r>
            <a:endParaRPr lang="en-US" altLang="zh-TW" dirty="0"/>
          </a:p>
          <a:p>
            <a:r>
              <a:rPr lang="en-US" altLang="zh-TW" dirty="0"/>
              <a:t>Fork Join in </a:t>
            </a:r>
            <a:r>
              <a:rPr lang="en-US" altLang="zh-TW" dirty="0" smtClean="0"/>
              <a:t>Java</a:t>
            </a:r>
            <a:endParaRPr lang="en-US" altLang="zh-TW" dirty="0"/>
          </a:p>
          <a:p>
            <a:r>
              <a:rPr lang="en-US" altLang="zh-TW" dirty="0"/>
              <a:t>Summary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7942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Consists of </a:t>
            </a:r>
            <a:r>
              <a:rPr lang="en-US" altLang="zh-TW" b="1" dirty="0"/>
              <a:t>compiler directives </a:t>
            </a:r>
            <a:r>
              <a:rPr lang="en-US" altLang="zh-TW" dirty="0"/>
              <a:t>and </a:t>
            </a:r>
            <a:r>
              <a:rPr lang="en-US" altLang="zh-TW" b="1" dirty="0"/>
              <a:t>APIs</a:t>
            </a:r>
            <a:r>
              <a:rPr lang="en-US" altLang="zh-TW" dirty="0"/>
              <a:t> for C, C++, or FORTRAN</a:t>
            </a:r>
          </a:p>
          <a:p>
            <a:pPr>
              <a:lnSpc>
                <a:spcPct val="120000"/>
              </a:lnSpc>
            </a:pPr>
            <a:r>
              <a:rPr lang="en-US" altLang="zh-TW" dirty="0" smtClean="0"/>
              <a:t>What </a:t>
            </a:r>
            <a:r>
              <a:rPr lang="en-US" altLang="zh-TW" dirty="0"/>
              <a:t>is </a:t>
            </a:r>
            <a:r>
              <a:rPr lang="en-US" altLang="zh-TW" b="1" dirty="0">
                <a:solidFill>
                  <a:srgbClr val="FF0000"/>
                </a:solidFill>
              </a:rPr>
              <a:t>compiler directives? </a:t>
            </a:r>
            <a:r>
              <a:rPr lang="en-US" altLang="zh-TW" sz="2300" dirty="0"/>
              <a:t>(shown </a:t>
            </a:r>
            <a:r>
              <a:rPr lang="en-US" altLang="zh-TW" sz="2300" dirty="0" smtClean="0"/>
              <a:t>later)</a:t>
            </a:r>
            <a:endParaRPr lang="en-US" altLang="zh-TW" sz="2300" dirty="0"/>
          </a:p>
          <a:p>
            <a:pPr>
              <a:lnSpc>
                <a:spcPct val="120000"/>
              </a:lnSpc>
            </a:pPr>
            <a:r>
              <a:rPr lang="en-US" altLang="zh-TW" dirty="0" smtClean="0"/>
              <a:t>Define </a:t>
            </a:r>
            <a:r>
              <a:rPr lang="en-US" altLang="zh-TW" b="1" dirty="0">
                <a:solidFill>
                  <a:srgbClr val="FF0000"/>
                </a:solidFill>
              </a:rPr>
              <a:t>parallel regions 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Blocks of code that can run in parallel</a:t>
            </a:r>
          </a:p>
          <a:p>
            <a:pPr>
              <a:lnSpc>
                <a:spcPct val="120000"/>
              </a:lnSpc>
            </a:pPr>
            <a:r>
              <a:rPr lang="en-US" altLang="zh-TW" dirty="0" smtClean="0"/>
              <a:t>Programmers </a:t>
            </a:r>
            <a:r>
              <a:rPr lang="en-US" altLang="zh-TW" dirty="0"/>
              <a:t>only insert </a:t>
            </a:r>
            <a:r>
              <a:rPr lang="en-US" altLang="zh-TW" b="1" dirty="0"/>
              <a:t>compiler directives </a:t>
            </a:r>
            <a:r>
              <a:rPr lang="en-US" altLang="zh-TW" dirty="0"/>
              <a:t>to identify </a:t>
            </a:r>
            <a:r>
              <a:rPr lang="en-US" altLang="zh-TW" b="1" dirty="0"/>
              <a:t>parallel regions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Then </a:t>
            </a:r>
            <a:r>
              <a:rPr lang="en-US" altLang="zh-TW" i="1" dirty="0" err="1"/>
              <a:t>OpenMP</a:t>
            </a:r>
            <a:r>
              <a:rPr lang="en-US" altLang="zh-TW" i="1" dirty="0"/>
              <a:t> </a:t>
            </a:r>
            <a:r>
              <a:rPr lang="en-US" altLang="zh-TW" b="1" i="1" dirty="0"/>
              <a:t>library</a:t>
            </a:r>
            <a:r>
              <a:rPr lang="en-US" altLang="zh-TW" i="1" dirty="0"/>
              <a:t> </a:t>
            </a:r>
            <a:r>
              <a:rPr lang="en-US" altLang="zh-TW" dirty="0" smtClean="0"/>
              <a:t>executes </a:t>
            </a:r>
            <a:r>
              <a:rPr lang="en-US" altLang="zh-TW" dirty="0"/>
              <a:t>the region in parallel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What is a directive?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Hint: </a:t>
            </a:r>
            <a:r>
              <a:rPr lang="en-US" altLang="zh-TW" b="1" dirty="0" smtClean="0">
                <a:solidFill>
                  <a:srgbClr val="FF0000"/>
                </a:solidFill>
              </a:rPr>
              <a:t>compiler directive</a:t>
            </a:r>
            <a:r>
              <a:rPr lang="en-US" altLang="zh-TW" dirty="0" smtClean="0"/>
              <a:t> and </a:t>
            </a:r>
            <a:r>
              <a:rPr lang="en-US" altLang="zh-TW" b="1" dirty="0" smtClean="0">
                <a:solidFill>
                  <a:srgbClr val="FF0000"/>
                </a:solidFill>
              </a:rPr>
              <a:t>assembler directive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9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 smtClean="0"/>
              <a:t>複習：</a:t>
            </a:r>
            <a:r>
              <a:rPr lang="en-US" altLang="zh-TW" sz="4000" dirty="0"/>
              <a:t>Compiler and Compiler Directive</a:t>
            </a:r>
            <a:endParaRPr lang="zh-TW" altLang="en-US" sz="4000" dirty="0"/>
          </a:p>
        </p:txBody>
      </p:sp>
      <p:pic>
        <p:nvPicPr>
          <p:cNvPr id="1026" name="Picture 2" descr="Compiler - HPC Wik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010" y="1772816"/>
            <a:ext cx="8986478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圓角矩形 2"/>
          <p:cNvSpPr/>
          <p:nvPr/>
        </p:nvSpPr>
        <p:spPr>
          <a:xfrm>
            <a:off x="2025524" y="5301208"/>
            <a:ext cx="1656184" cy="3600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Source file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8400256" y="5481228"/>
            <a:ext cx="1656184" cy="3600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Object file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圓角矩形圖說文字 5"/>
          <p:cNvSpPr/>
          <p:nvPr/>
        </p:nvSpPr>
        <p:spPr>
          <a:xfrm>
            <a:off x="1629480" y="1592797"/>
            <a:ext cx="2448272" cy="612067"/>
          </a:xfrm>
          <a:prstGeom prst="wedgeRoundRectCallout">
            <a:avLst>
              <a:gd name="adj1" fmla="val -22262"/>
              <a:gd name="adj2" fmla="val 1158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Compiler directive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23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TW" altLang="en-US" dirty="0" smtClean="0">
                <a:effectLst/>
              </a:rPr>
              <a:t>複習：</a:t>
            </a:r>
            <a:r>
              <a:rPr lang="en-US" altLang="zh-TW" dirty="0" smtClean="0">
                <a:effectLst/>
              </a:rPr>
              <a:t>Assembler Directives</a:t>
            </a:r>
            <a:endParaRPr lang="zh-TW" altLang="en-US" dirty="0" smtClean="0">
              <a:effectLst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b="1" dirty="0" smtClean="0">
                <a:solidFill>
                  <a:srgbClr val="FF3300"/>
                </a:solidFill>
              </a:rPr>
              <a:t>Directives</a:t>
            </a:r>
            <a:r>
              <a:rPr lang="en-US" altLang="zh-TW" dirty="0" smtClean="0"/>
              <a:t>: </a:t>
            </a:r>
            <a:r>
              <a:rPr lang="en-US" altLang="zh-TW" b="1" dirty="0" smtClean="0"/>
              <a:t>commands</a:t>
            </a:r>
            <a:r>
              <a:rPr lang="en-US" altLang="zh-TW" dirty="0" smtClean="0"/>
              <a:t> that are recognized and </a:t>
            </a:r>
            <a:r>
              <a:rPr lang="en-US" altLang="zh-TW" b="1" dirty="0" smtClean="0"/>
              <a:t>acted upon </a:t>
            </a:r>
            <a:r>
              <a:rPr lang="en-US" altLang="zh-TW" dirty="0" smtClean="0"/>
              <a:t>by the </a:t>
            </a:r>
            <a:r>
              <a:rPr lang="en-US" altLang="zh-TW" b="1" dirty="0" smtClean="0"/>
              <a:t>assembler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/>
              <a:t>Command understood only by the assembler</a:t>
            </a:r>
          </a:p>
          <a:p>
            <a:pPr lvl="1">
              <a:lnSpc>
                <a:spcPct val="90000"/>
              </a:lnSpc>
            </a:pPr>
            <a:endParaRPr lang="en-US" altLang="zh-TW" b="1" dirty="0" smtClean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TW" b="1" dirty="0" smtClean="0">
                <a:solidFill>
                  <a:srgbClr val="0000FF"/>
                </a:solidFill>
              </a:rPr>
              <a:t>Not</a:t>
            </a:r>
            <a:r>
              <a:rPr lang="en-US" altLang="zh-TW" dirty="0" smtClean="0"/>
              <a:t> part of Intel instruction set</a:t>
            </a:r>
          </a:p>
          <a:p>
            <a:pPr lvl="1">
              <a:lnSpc>
                <a:spcPct val="90000"/>
              </a:lnSpc>
            </a:pPr>
            <a:endParaRPr lang="en-US" altLang="zh-TW" dirty="0" smtClean="0"/>
          </a:p>
          <a:p>
            <a:pPr lvl="1">
              <a:lnSpc>
                <a:spcPct val="90000"/>
              </a:lnSpc>
            </a:pPr>
            <a:r>
              <a:rPr lang="en-US" altLang="zh-TW" dirty="0" smtClean="0"/>
              <a:t>Do no execute at run time (since not instruction)</a:t>
            </a:r>
          </a:p>
          <a:p>
            <a:pPr>
              <a:lnSpc>
                <a:spcPct val="90000"/>
              </a:lnSpc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34922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TW" altLang="en-US" dirty="0" smtClean="0">
                <a:effectLst/>
              </a:rPr>
              <a:t>複習： </a:t>
            </a:r>
            <a:r>
              <a:rPr lang="en-US" altLang="zh-TW" dirty="0" smtClean="0">
                <a:effectLst/>
              </a:rPr>
              <a:t>Outline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7051" y="1412875"/>
            <a:ext cx="10972800" cy="5040461"/>
          </a:xfrm>
        </p:spPr>
        <p:txBody>
          <a:bodyPr>
            <a:normAutofit lnSpcReduction="10000"/>
          </a:bodyPr>
          <a:lstStyle/>
          <a:p>
            <a:r>
              <a:rPr lang="en-US" altLang="zh-TW" sz="2800" dirty="0"/>
              <a:t>Data Transfer Instructions</a:t>
            </a:r>
          </a:p>
          <a:p>
            <a:r>
              <a:rPr lang="en-US" altLang="zh-TW" sz="2800" dirty="0" smtClean="0"/>
              <a:t>Addition </a:t>
            </a:r>
            <a:r>
              <a:rPr lang="en-US" altLang="zh-TW" sz="2800" dirty="0"/>
              <a:t>and Subtraction</a:t>
            </a:r>
          </a:p>
          <a:p>
            <a:endParaRPr lang="en-US" altLang="zh-TW" sz="2800" b="1" dirty="0" smtClean="0">
              <a:solidFill>
                <a:srgbClr val="FF3300"/>
              </a:solidFill>
            </a:endParaRPr>
          </a:p>
          <a:p>
            <a:r>
              <a:rPr lang="en-US" altLang="zh-TW" sz="2800" b="1" dirty="0" smtClean="0">
                <a:solidFill>
                  <a:srgbClr val="FF3300"/>
                </a:solidFill>
              </a:rPr>
              <a:t>Data-Related </a:t>
            </a:r>
            <a:r>
              <a:rPr lang="en-US" altLang="zh-TW" sz="2800" b="1" dirty="0">
                <a:solidFill>
                  <a:srgbClr val="FF3300"/>
                </a:solidFill>
              </a:rPr>
              <a:t>Operators and </a:t>
            </a:r>
            <a:r>
              <a:rPr lang="en-US" altLang="zh-TW" sz="2800" b="1" dirty="0" smtClean="0">
                <a:solidFill>
                  <a:srgbClr val="FF3300"/>
                </a:solidFill>
              </a:rPr>
              <a:t>Directives</a:t>
            </a:r>
          </a:p>
          <a:p>
            <a:pPr lvl="1"/>
            <a:r>
              <a:rPr lang="en-US" altLang="zh-TW" dirty="0" smtClean="0"/>
              <a:t>ALIGN </a:t>
            </a:r>
            <a:r>
              <a:rPr lang="en-US" altLang="zh-TW" dirty="0"/>
              <a:t>Directive</a:t>
            </a:r>
          </a:p>
          <a:p>
            <a:pPr lvl="1"/>
            <a:r>
              <a:rPr lang="en-US" altLang="zh-TW" dirty="0" smtClean="0"/>
              <a:t>LABEL Directive</a:t>
            </a:r>
            <a:endParaRPr lang="en-US" altLang="zh-TW" sz="2000" b="1" dirty="0">
              <a:solidFill>
                <a:srgbClr val="FF3300"/>
              </a:solidFill>
            </a:endParaRP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Indirect </a:t>
            </a:r>
            <a:r>
              <a:rPr lang="en-US" altLang="zh-TW" sz="2800" dirty="0"/>
              <a:t>Addressing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JMP </a:t>
            </a:r>
            <a:r>
              <a:rPr lang="en-US" altLang="zh-TW" sz="2800" dirty="0"/>
              <a:t>and LOOP Instructions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2087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ffectLst/>
              </a:rPr>
              <a:t>ALIGN Directive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To align a variable on a byte, word, </a:t>
            </a:r>
            <a:r>
              <a:rPr lang="en-US" altLang="zh-TW" sz="2800" dirty="0" err="1"/>
              <a:t>doubleword</a:t>
            </a:r>
            <a:r>
              <a:rPr lang="en-US" altLang="zh-TW" sz="2800" dirty="0"/>
              <a:t> boundary</a:t>
            </a:r>
          </a:p>
          <a:p>
            <a:r>
              <a:rPr lang="en-US" altLang="zh-TW" sz="2800" dirty="0"/>
              <a:t>Why alignment? </a:t>
            </a:r>
          </a:p>
          <a:p>
            <a:pPr lvl="1"/>
            <a:r>
              <a:rPr lang="en-US" altLang="zh-TW" sz="2400" dirty="0"/>
              <a:t>CPU can process data stored at </a:t>
            </a:r>
            <a:r>
              <a:rPr lang="en-US" altLang="zh-TW" sz="2400" b="1" dirty="0">
                <a:solidFill>
                  <a:srgbClr val="FF0000"/>
                </a:solidFill>
              </a:rPr>
              <a:t>even-numbered addresses </a:t>
            </a:r>
            <a:r>
              <a:rPr lang="en-US" altLang="zh-TW" sz="2400" dirty="0"/>
              <a:t>more quickly than those at odd-numbered addresses.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129</a:t>
            </a:fld>
            <a:endParaRPr lang="en-US" altLang="zh-TW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393951" y="3573016"/>
            <a:ext cx="72390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37160" bIns="228600"/>
          <a:lstStyle>
            <a:lvl1pPr>
              <a:spcBef>
                <a:spcPct val="20000"/>
              </a:spcBef>
              <a:buChar char="•"/>
              <a:tabLst>
                <a:tab pos="457200" algn="l"/>
                <a:tab pos="3657600" algn="l"/>
                <a:tab pos="41148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3657600" algn="l"/>
                <a:tab pos="41148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3657600" algn="l"/>
                <a:tab pos="41148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000" b="1" dirty="0" err="1">
                <a:latin typeface="Courier New" panose="02070309020205020404" pitchFamily="49" charset="0"/>
              </a:rPr>
              <a:t>bVal</a:t>
            </a:r>
            <a:r>
              <a:rPr kumimoji="0" lang="en-US" altLang="zh-TW" sz="2000" b="1" dirty="0">
                <a:latin typeface="Courier New" panose="02070309020205020404" pitchFamily="49" charset="0"/>
              </a:rPr>
              <a:t> 	BYTE ? 	; 00404000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ALIGN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000" b="1" dirty="0" err="1">
                <a:latin typeface="Courier New" panose="02070309020205020404" pitchFamily="49" charset="0"/>
              </a:rPr>
              <a:t>wVal</a:t>
            </a:r>
            <a:r>
              <a:rPr kumimoji="0" lang="en-US" altLang="zh-TW" sz="2000" b="1" dirty="0">
                <a:latin typeface="Courier New" panose="02070309020205020404" pitchFamily="49" charset="0"/>
              </a:rPr>
              <a:t> 	WORD ? 	; 00404002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000" b="1" dirty="0">
                <a:latin typeface="Courier New" panose="02070309020205020404" pitchFamily="49" charset="0"/>
              </a:rPr>
              <a:t>bVal2 	BYTE ? 	; 00404004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ALIGN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000" b="1" dirty="0" err="1">
                <a:latin typeface="Courier New" panose="02070309020205020404" pitchFamily="49" charset="0"/>
              </a:rPr>
              <a:t>dVal</a:t>
            </a:r>
            <a:r>
              <a:rPr kumimoji="0" lang="en-US" altLang="zh-TW" sz="2000" b="1" dirty="0">
                <a:latin typeface="Courier New" panose="02070309020205020404" pitchFamily="49" charset="0"/>
              </a:rPr>
              <a:t> 	DWORD ? 	; 00404008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000" b="1" dirty="0">
                <a:latin typeface="Courier New" panose="02070309020205020404" pitchFamily="49" charset="0"/>
              </a:rPr>
              <a:t>dVal2 	DWORD ? 	; 0040400C</a:t>
            </a:r>
          </a:p>
        </p:txBody>
      </p:sp>
    </p:spTree>
    <p:extLst>
      <p:ext uri="{BB962C8B-B14F-4D97-AF65-F5344CB8AC3E}">
        <p14:creationId xmlns:p14="http://schemas.microsoft.com/office/powerpoint/2010/main" val="385724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複習結束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005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Ex1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altLang="zh-TW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TW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pragma</a:t>
            </a:r>
            <a:r>
              <a:rPr lang="en-US" altLang="zh-TW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omp</a:t>
            </a:r>
            <a:r>
              <a:rPr lang="en-US" altLang="zh-TW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parallel 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zh-TW" dirty="0"/>
              <a:t>Create as many threads as there are CPU </a:t>
            </a:r>
            <a:r>
              <a:rPr lang="en-US" altLang="zh-TW" b="1" dirty="0"/>
              <a:t>cores</a:t>
            </a:r>
          </a:p>
          <a:p>
            <a:pPr lvl="1">
              <a:buNone/>
            </a:pPr>
            <a:endParaRPr lang="en-US" altLang="zh-TW" dirty="0"/>
          </a:p>
        </p:txBody>
      </p:sp>
      <p:grpSp>
        <p:nvGrpSpPr>
          <p:cNvPr id="9" name="群組 8"/>
          <p:cNvGrpSpPr/>
          <p:nvPr/>
        </p:nvGrpSpPr>
        <p:grpSpPr>
          <a:xfrm>
            <a:off x="2063553" y="2780928"/>
            <a:ext cx="8158361" cy="3816424"/>
            <a:chOff x="539552" y="1258888"/>
            <a:chExt cx="8158361" cy="5338464"/>
          </a:xfrm>
        </p:grpSpPr>
        <p:pic>
          <p:nvPicPr>
            <p:cNvPr id="10" name="Picture 2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9552" y="1412776"/>
              <a:ext cx="7704856" cy="51125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右大括弧 10"/>
            <p:cNvSpPr/>
            <p:nvPr/>
          </p:nvSpPr>
          <p:spPr>
            <a:xfrm>
              <a:off x="7596336" y="3789040"/>
              <a:ext cx="155448" cy="914400"/>
            </a:xfrm>
            <a:prstGeom prst="rightBrace">
              <a:avLst/>
            </a:prstGeom>
            <a:ln w="571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7717439" y="3676306"/>
              <a:ext cx="914033" cy="9040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800" b="1" i="1" dirty="0">
                  <a:latin typeface="Calibri" pitchFamily="34" charset="0"/>
                </a:rPr>
                <a:t>parallel</a:t>
              </a:r>
            </a:p>
            <a:p>
              <a:r>
                <a:rPr lang="en-US" altLang="zh-TW" sz="1800" b="1" i="1" dirty="0">
                  <a:latin typeface="Calibri" pitchFamily="34" charset="0"/>
                </a:rPr>
                <a:t>region </a:t>
              </a:r>
              <a:endParaRPr lang="zh-TW" altLang="en-US" sz="1800" b="1" i="1" dirty="0">
                <a:latin typeface="Calibri" pitchFamily="34" charset="0"/>
              </a:endParaRPr>
            </a:p>
          </p:txBody>
        </p:sp>
        <p:cxnSp>
          <p:nvCxnSpPr>
            <p:cNvPr id="13" name="直線接點 12"/>
            <p:cNvCxnSpPr/>
            <p:nvPr/>
          </p:nvCxnSpPr>
          <p:spPr>
            <a:xfrm>
              <a:off x="1331640" y="3927723"/>
              <a:ext cx="3312368" cy="0"/>
            </a:xfrm>
            <a:prstGeom prst="line">
              <a:avLst/>
            </a:prstGeom>
            <a:ln w="3810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4788024" y="3573016"/>
              <a:ext cx="2109873" cy="559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FF0000"/>
                  </a:solidFill>
                  <a:latin typeface="Calibri" pitchFamily="34" charset="0"/>
                </a:rPr>
                <a:t>Compiler directive</a:t>
              </a:r>
              <a:endParaRPr lang="zh-TW" altLang="en-US" sz="2000" b="1" i="1" dirty="0">
                <a:solidFill>
                  <a:srgbClr val="FF0000"/>
                </a:solidFill>
                <a:latin typeface="Calibri" pitchFamily="34" charset="0"/>
              </a:endParaRPr>
            </a:p>
          </p:txBody>
        </p:sp>
        <p:sp>
          <p:nvSpPr>
            <p:cNvPr id="15" name="圓角矩形 14"/>
            <p:cNvSpPr/>
            <p:nvPr/>
          </p:nvSpPr>
          <p:spPr>
            <a:xfrm>
              <a:off x="611560" y="1258888"/>
              <a:ext cx="8086353" cy="5338464"/>
            </a:xfrm>
            <a:prstGeom prst="roundRect">
              <a:avLst/>
            </a:prstGeom>
            <a:noFill/>
            <a:ln w="38100"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圓角矩形 15"/>
          <p:cNvSpPr/>
          <p:nvPr/>
        </p:nvSpPr>
        <p:spPr>
          <a:xfrm>
            <a:off x="6600056" y="3906344"/>
            <a:ext cx="2808312" cy="4409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…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a = a + 1;</a:t>
            </a:r>
          </a:p>
        </p:txBody>
      </p:sp>
      <p:sp>
        <p:nvSpPr>
          <p:cNvPr id="17" name="圓角矩形 16"/>
          <p:cNvSpPr/>
          <p:nvPr/>
        </p:nvSpPr>
        <p:spPr>
          <a:xfrm>
            <a:off x="6600056" y="5457615"/>
            <a:ext cx="2808312" cy="5078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x = x + 1;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/>
          <p:cNvSpPr/>
          <p:nvPr/>
        </p:nvSpPr>
        <p:spPr>
          <a:xfrm>
            <a:off x="5317633" y="1234034"/>
            <a:ext cx="2808312" cy="25895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a </a:t>
            </a: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= a + 1;</a:t>
            </a:r>
          </a:p>
        </p:txBody>
      </p:sp>
      <p:cxnSp>
        <p:nvCxnSpPr>
          <p:cNvPr id="171" name="直線接點 170"/>
          <p:cNvCxnSpPr/>
          <p:nvPr/>
        </p:nvCxnSpPr>
        <p:spPr>
          <a:xfrm>
            <a:off x="2570121" y="5473596"/>
            <a:ext cx="779742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/>
          <p:cNvSpPr txBox="1"/>
          <p:nvPr/>
        </p:nvSpPr>
        <p:spPr>
          <a:xfrm>
            <a:off x="6785866" y="548644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prstClr val="black"/>
                </a:solidFill>
                <a:latin typeface="Calibri" panose="020F0502020204030204"/>
              </a:rPr>
              <a:t>clone()……</a:t>
            </a:r>
            <a:endParaRPr kumimoji="0" lang="zh-TW" altLang="en-US" sz="18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圓角矩形 48"/>
          <p:cNvSpPr/>
          <p:nvPr/>
        </p:nvSpPr>
        <p:spPr>
          <a:xfrm>
            <a:off x="5461650" y="5868836"/>
            <a:ext cx="2578567" cy="944540"/>
          </a:xfrm>
          <a:prstGeom prst="roundRect">
            <a:avLst/>
          </a:prstGeom>
          <a:solidFill>
            <a:srgbClr val="9FFD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OS</a:t>
            </a:r>
          </a:p>
        </p:txBody>
      </p:sp>
      <p:cxnSp>
        <p:nvCxnSpPr>
          <p:cNvPr id="65" name="直線接點 23"/>
          <p:cNvCxnSpPr/>
          <p:nvPr/>
        </p:nvCxnSpPr>
        <p:spPr>
          <a:xfrm flipV="1">
            <a:off x="6743990" y="5106850"/>
            <a:ext cx="83" cy="826517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標題 1"/>
          <p:cNvSpPr txBox="1">
            <a:spLocks/>
          </p:cNvSpPr>
          <p:nvPr/>
        </p:nvSpPr>
        <p:spPr>
          <a:xfrm>
            <a:off x="1992313" y="44624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defRPr/>
            </a:pPr>
            <a:r>
              <a:rPr lang="en-US" altLang="zh-TW" sz="2800" kern="0" dirty="0">
                <a:solidFill>
                  <a:srgbClr val="000000"/>
                </a:solidFill>
                <a:latin typeface="Calibri" panose="020F0502020204030204" pitchFamily="34" charset="0"/>
                <a:ea typeface="新細明體"/>
              </a:rPr>
              <a:t>Creation and Management of Threads are Done by </a:t>
            </a:r>
            <a:r>
              <a:rPr lang="en-US" altLang="zh-TW" sz="2800" i="1" kern="0" dirty="0">
                <a:solidFill>
                  <a:srgbClr val="0066FF"/>
                </a:solidFill>
                <a:latin typeface="Calibri" panose="020F0502020204030204" pitchFamily="34" charset="0"/>
                <a:ea typeface="新細明體"/>
              </a:rPr>
              <a:t>Compilers</a:t>
            </a:r>
            <a:r>
              <a:rPr lang="en-US" altLang="zh-TW" sz="2800" kern="0" dirty="0">
                <a:solidFill>
                  <a:srgbClr val="000000"/>
                </a:solidFill>
                <a:latin typeface="Calibri" panose="020F0502020204030204" pitchFamily="34" charset="0"/>
                <a:ea typeface="新細明體"/>
              </a:rPr>
              <a:t> and </a:t>
            </a:r>
            <a:r>
              <a:rPr lang="en-US" altLang="zh-TW" sz="2800" i="1" kern="0" dirty="0">
                <a:solidFill>
                  <a:srgbClr val="0066FF"/>
                </a:solidFill>
                <a:latin typeface="Calibri" panose="020F0502020204030204" pitchFamily="34" charset="0"/>
                <a:ea typeface="新細明體"/>
              </a:rPr>
              <a:t>Libraries</a:t>
            </a:r>
            <a:endParaRPr lang="zh-TW" altLang="en-US" sz="2800" kern="0" dirty="0">
              <a:solidFill>
                <a:srgbClr val="000000"/>
              </a:solidFill>
              <a:latin typeface="Calibri" panose="020F0502020204030204" pitchFamily="34" charset="0"/>
              <a:ea typeface="新細明體"/>
            </a:endParaRPr>
          </a:p>
        </p:txBody>
      </p:sp>
      <p:sp>
        <p:nvSpPr>
          <p:cNvPr id="22" name="圓角矩形圖說文字 21"/>
          <p:cNvSpPr/>
          <p:nvPr/>
        </p:nvSpPr>
        <p:spPr>
          <a:xfrm>
            <a:off x="8864628" y="764704"/>
            <a:ext cx="1335828" cy="697075"/>
          </a:xfrm>
          <a:prstGeom prst="wedgeRoundRectCallout">
            <a:avLst>
              <a:gd name="adj1" fmla="val -85785"/>
              <a:gd name="adj2" fmla="val -2214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TW" sz="2000" b="1" kern="0" dirty="0">
                <a:solidFill>
                  <a:srgbClr val="000000"/>
                </a:solidFill>
                <a:latin typeface="Calibri" panose="020F0502020204030204" pitchFamily="34" charset="0"/>
                <a:ea typeface="新細明體" pitchFamily="18" charset="-120"/>
              </a:rPr>
              <a:t>Execution</a:t>
            </a:r>
          </a:p>
          <a:p>
            <a:pPr algn="ctr">
              <a:defRPr/>
            </a:pPr>
            <a:r>
              <a:rPr lang="en-US" altLang="zh-TW" sz="2000" b="1" kern="0" dirty="0">
                <a:solidFill>
                  <a:srgbClr val="000000"/>
                </a:solidFill>
                <a:latin typeface="Calibri" panose="020F0502020204030204" pitchFamily="34" charset="0"/>
                <a:ea typeface="新細明體" pitchFamily="18" charset="-120"/>
              </a:rPr>
              <a:t> file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  <a:ea typeface="新細明體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33124" y="1124744"/>
            <a:ext cx="3095125" cy="410445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圓角矩形 22"/>
          <p:cNvSpPr/>
          <p:nvPr/>
        </p:nvSpPr>
        <p:spPr>
          <a:xfrm>
            <a:off x="1024412" y="908720"/>
            <a:ext cx="3199380" cy="184971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a</a:t>
            </a:r>
            <a:r>
              <a:rPr kumimoji="0" lang="zh-TW" altLang="en-US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</a:t>
            </a: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=</a:t>
            </a:r>
            <a:r>
              <a:rPr kumimoji="0" lang="zh-TW" altLang="en-US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</a:t>
            </a: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a</a:t>
            </a:r>
            <a:r>
              <a:rPr kumimoji="0" lang="zh-TW" altLang="en-US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</a:t>
            </a: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+</a:t>
            </a:r>
            <a:r>
              <a:rPr kumimoji="0" lang="zh-TW" altLang="en-US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</a:t>
            </a: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1</a:t>
            </a: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#pragma </a:t>
            </a:r>
            <a:r>
              <a:rPr kumimoji="0" lang="en-US" altLang="zh-TW" sz="1800" b="1" dirty="0" err="1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omp</a:t>
            </a: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parallel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   </a:t>
            </a:r>
            <a:r>
              <a:rPr kumimoji="0" lang="en-US" altLang="zh-TW" sz="1800" b="1" dirty="0" err="1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printf</a:t>
            </a: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(“Parallel region.”);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x</a:t>
            </a:r>
            <a:r>
              <a:rPr kumimoji="0" lang="zh-TW" altLang="en-US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</a:t>
            </a: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=</a:t>
            </a:r>
            <a:r>
              <a:rPr kumimoji="0" lang="zh-TW" altLang="en-US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</a:t>
            </a: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x</a:t>
            </a:r>
            <a:r>
              <a:rPr kumimoji="0" lang="zh-TW" altLang="en-US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</a:t>
            </a: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+</a:t>
            </a:r>
            <a:r>
              <a:rPr kumimoji="0" lang="zh-TW" altLang="en-US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</a:t>
            </a:r>
            <a:r>
              <a:rPr kumimoji="0"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2</a:t>
            </a: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;</a:t>
            </a:r>
          </a:p>
        </p:txBody>
      </p:sp>
      <p:sp>
        <p:nvSpPr>
          <p:cNvPr id="10" name="向右箭號 9"/>
          <p:cNvSpPr/>
          <p:nvPr/>
        </p:nvSpPr>
        <p:spPr>
          <a:xfrm>
            <a:off x="4359151" y="1519692"/>
            <a:ext cx="854806" cy="484632"/>
          </a:xfrm>
          <a:prstGeom prst="rightArrow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4221548" y="1888224"/>
            <a:ext cx="1340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compiler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圓角矩形圖說文字 10"/>
          <p:cNvSpPr/>
          <p:nvPr/>
        </p:nvSpPr>
        <p:spPr>
          <a:xfrm>
            <a:off x="2294726" y="2929313"/>
            <a:ext cx="2609104" cy="614264"/>
          </a:xfrm>
          <a:prstGeom prst="wedgeRoundRectCallout">
            <a:avLst>
              <a:gd name="adj1" fmla="val 40970"/>
              <a:gd name="adj2" fmla="val -15389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must recognize the directive (parallel region)</a:t>
            </a:r>
            <a:endParaRPr lang="zh-TW" altLang="en-US" sz="1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圓角矩形圖說文字 17"/>
          <p:cNvSpPr/>
          <p:nvPr/>
        </p:nvSpPr>
        <p:spPr>
          <a:xfrm>
            <a:off x="8705670" y="1556792"/>
            <a:ext cx="2934946" cy="697075"/>
          </a:xfrm>
          <a:prstGeom prst="wedgeRoundRectCallout">
            <a:avLst>
              <a:gd name="adj1" fmla="val -67264"/>
              <a:gd name="adj2" fmla="val 5074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Compiler-generated </a:t>
            </a:r>
            <a:r>
              <a:rPr kumimoji="0" lang="en-US" altLang="zh-TW" sz="20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code</a:t>
            </a:r>
            <a:endParaRPr kumimoji="0" lang="zh-TW" altLang="en-US" sz="2000" b="1" dirty="0">
              <a:solidFill>
                <a:sysClr val="windowText" lastClr="000000"/>
              </a:solidFill>
              <a:latin typeface="Calibri" panose="020F0502020204030204"/>
              <a:ea typeface="微軟正黑體" pitchFamily="34" charset="-120"/>
            </a:endParaRPr>
          </a:p>
        </p:txBody>
      </p:sp>
      <p:sp>
        <p:nvSpPr>
          <p:cNvPr id="19" name="圓角矩形 18"/>
          <p:cNvSpPr/>
          <p:nvPr/>
        </p:nvSpPr>
        <p:spPr>
          <a:xfrm>
            <a:off x="5332729" y="2060848"/>
            <a:ext cx="2808312" cy="59253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x = x + 2;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b="1" dirty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……</a:t>
            </a:r>
          </a:p>
        </p:txBody>
      </p:sp>
      <p:sp>
        <p:nvSpPr>
          <p:cNvPr id="2" name="矩形 1"/>
          <p:cNvSpPr/>
          <p:nvPr/>
        </p:nvSpPr>
        <p:spPr>
          <a:xfrm>
            <a:off x="5363419" y="2856197"/>
            <a:ext cx="2892821" cy="23009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000" b="1" dirty="0" err="1" smtClean="0">
                <a:solidFill>
                  <a:srgbClr val="FF0000"/>
                </a:solidFill>
                <a:latin typeface="Agency FB" panose="020B0503020202020204" pitchFamily="34" charset="0"/>
              </a:rPr>
              <a:t>my_library_for_thread</a:t>
            </a:r>
            <a:r>
              <a:rPr lang="en-US" altLang="zh-TW" sz="20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()</a:t>
            </a:r>
          </a:p>
          <a:p>
            <a:r>
              <a:rPr lang="en-US" altLang="zh-TW" sz="20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{</a:t>
            </a:r>
          </a:p>
          <a:p>
            <a:pPr eaLnBrk="0" hangingPunct="0">
              <a:defRPr/>
            </a:pPr>
            <a:r>
              <a:rPr lang="en-US" altLang="zh-TW" sz="20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      </a:t>
            </a:r>
            <a:r>
              <a:rPr lang="en-US" altLang="zh-TW" sz="2000" b="1" dirty="0" err="1" smtClean="0">
                <a:solidFill>
                  <a:srgbClr val="FF0000"/>
                </a:solidFill>
                <a:latin typeface="Agency FB" panose="020B0503020202020204" pitchFamily="34" charset="0"/>
              </a:rPr>
              <a:t>mythread_create</a:t>
            </a:r>
            <a:r>
              <a:rPr lang="en-US" altLang="zh-TW" sz="2000" b="1" dirty="0">
                <a:solidFill>
                  <a:srgbClr val="FF0000"/>
                </a:solidFill>
                <a:latin typeface="Agency FB" panose="020B0503020202020204" pitchFamily="34" charset="0"/>
              </a:rPr>
              <a:t>(); </a:t>
            </a:r>
          </a:p>
          <a:p>
            <a:pPr eaLnBrk="0" hangingPunct="0">
              <a:defRPr/>
            </a:pPr>
            <a:r>
              <a:rPr lang="en-US" altLang="zh-TW" sz="20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      </a:t>
            </a:r>
            <a:r>
              <a:rPr lang="en-US" altLang="zh-TW" sz="2000" b="1" dirty="0" err="1" smtClean="0">
                <a:solidFill>
                  <a:srgbClr val="FF0000"/>
                </a:solidFill>
                <a:latin typeface="Agency FB" panose="020B0503020202020204" pitchFamily="34" charset="0"/>
              </a:rPr>
              <a:t>mythread_create</a:t>
            </a:r>
            <a:r>
              <a:rPr lang="en-US" altLang="zh-TW" sz="2000" b="1" dirty="0">
                <a:solidFill>
                  <a:srgbClr val="FF0000"/>
                </a:solidFill>
                <a:latin typeface="Agency FB" panose="020B0503020202020204" pitchFamily="34" charset="0"/>
              </a:rPr>
              <a:t>();</a:t>
            </a:r>
          </a:p>
          <a:p>
            <a:pPr eaLnBrk="0" hangingPunct="0">
              <a:defRPr/>
            </a:pPr>
            <a:r>
              <a:rPr lang="en-US" altLang="zh-TW" sz="20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      …</a:t>
            </a:r>
          </a:p>
          <a:p>
            <a:pPr eaLnBrk="0" hangingPunct="0">
              <a:defRPr/>
            </a:pPr>
            <a:r>
              <a:rPr lang="en-US" altLang="zh-TW" sz="20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      </a:t>
            </a:r>
            <a:r>
              <a:rPr lang="en-US" altLang="zh-TW" sz="2000" b="1" dirty="0" err="1" smtClean="0">
                <a:solidFill>
                  <a:srgbClr val="FF0000"/>
                </a:solidFill>
                <a:latin typeface="Agency FB" panose="020B0503020202020204" pitchFamily="34" charset="0"/>
              </a:rPr>
              <a:t>mythread_join</a:t>
            </a:r>
            <a:r>
              <a:rPr lang="en-US" altLang="zh-TW" sz="2000" b="1" dirty="0">
                <a:solidFill>
                  <a:srgbClr val="FF0000"/>
                </a:solidFill>
                <a:latin typeface="Agency FB" panose="020B0503020202020204" pitchFamily="34" charset="0"/>
              </a:rPr>
              <a:t>(); </a:t>
            </a:r>
          </a:p>
          <a:p>
            <a:pPr eaLnBrk="0" hangingPunct="0">
              <a:defRPr/>
            </a:pPr>
            <a:r>
              <a:rPr lang="en-US" altLang="zh-TW" sz="2000" b="1" dirty="0" smtClean="0">
                <a:solidFill>
                  <a:srgbClr val="FF0000"/>
                </a:solidFill>
                <a:latin typeface="Agency FB" panose="020B0503020202020204" pitchFamily="34" charset="0"/>
              </a:rPr>
              <a:t>      </a:t>
            </a:r>
            <a:r>
              <a:rPr lang="en-US" altLang="zh-TW" sz="2000" b="1" dirty="0" err="1" smtClean="0">
                <a:solidFill>
                  <a:srgbClr val="FF0000"/>
                </a:solidFill>
                <a:latin typeface="Agency FB" panose="020B0503020202020204" pitchFamily="34" charset="0"/>
              </a:rPr>
              <a:t>mythread_join</a:t>
            </a:r>
            <a:r>
              <a:rPr lang="en-US" altLang="zh-TW" sz="2000" b="1" dirty="0">
                <a:solidFill>
                  <a:srgbClr val="FF0000"/>
                </a:solidFill>
                <a:latin typeface="Agency FB" panose="020B0503020202020204" pitchFamily="34" charset="0"/>
              </a:rPr>
              <a:t>();</a:t>
            </a:r>
            <a:endParaRPr lang="zh-TW" altLang="en-US" sz="2000" b="1" dirty="0">
              <a:solidFill>
                <a:srgbClr val="FF0000"/>
              </a:solidFill>
              <a:latin typeface="Agency FB" panose="020B0503020202020204" pitchFamily="34" charset="0"/>
            </a:endParaRPr>
          </a:p>
          <a:p>
            <a:r>
              <a:rPr lang="en-US" altLang="zh-TW" sz="2000" b="1" dirty="0">
                <a:solidFill>
                  <a:srgbClr val="FF0000"/>
                </a:solidFill>
                <a:latin typeface="Agency FB" panose="020B0503020202020204" pitchFamily="34" charset="0"/>
              </a:rPr>
              <a:t>}</a:t>
            </a:r>
            <a:endParaRPr lang="zh-TW" altLang="en-US" sz="20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cxnSp>
        <p:nvCxnSpPr>
          <p:cNvPr id="27" name="直線接點 23"/>
          <p:cNvCxnSpPr>
            <a:stCxn id="2" idx="0"/>
          </p:cNvCxnSpPr>
          <p:nvPr/>
        </p:nvCxnSpPr>
        <p:spPr>
          <a:xfrm flipH="1" flipV="1">
            <a:off x="6780686" y="1870671"/>
            <a:ext cx="29144" cy="985526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圓角矩形圖說文字 28"/>
          <p:cNvSpPr/>
          <p:nvPr/>
        </p:nvSpPr>
        <p:spPr>
          <a:xfrm>
            <a:off x="8970631" y="3284984"/>
            <a:ext cx="1445849" cy="697075"/>
          </a:xfrm>
          <a:prstGeom prst="wedgeRoundRectCallout">
            <a:avLst>
              <a:gd name="adj1" fmla="val -95448"/>
              <a:gd name="adj2" fmla="val -16314"/>
              <a:gd name="adj3" fmla="val 16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library</a:t>
            </a:r>
            <a:endParaRPr kumimoji="0" lang="zh-TW" altLang="en-US" sz="2400" b="1" dirty="0">
              <a:solidFill>
                <a:sysClr val="windowText" lastClr="000000"/>
              </a:solidFill>
              <a:latin typeface="Calibri" panose="020F0502020204030204"/>
              <a:ea typeface="微軟正黑體" pitchFamily="34" charset="-120"/>
            </a:endParaRPr>
          </a:p>
        </p:txBody>
      </p:sp>
      <p:sp>
        <p:nvSpPr>
          <p:cNvPr id="25" name="圓角矩形 24"/>
          <p:cNvSpPr/>
          <p:nvPr/>
        </p:nvSpPr>
        <p:spPr>
          <a:xfrm>
            <a:off x="5303912" y="1556792"/>
            <a:ext cx="2808312" cy="44372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altLang="zh-TW" sz="1800" b="1" dirty="0" err="1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my_library_for_thread</a:t>
            </a:r>
            <a:r>
              <a:rPr lang="en-US" altLang="zh-TW" sz="1800" b="1" dirty="0" smtClean="0">
                <a:solidFill>
                  <a:sysClr val="windowText" lastClr="000000"/>
                </a:solidFill>
                <a:latin typeface="Calibri" panose="020F0502020204030204"/>
                <a:ea typeface="微軟正黑體" pitchFamily="34" charset="-120"/>
              </a:rPr>
              <a:t> (); </a:t>
            </a:r>
            <a:endParaRPr lang="en-US" altLang="zh-TW" sz="1800" b="1" dirty="0">
              <a:solidFill>
                <a:sysClr val="windowText" lastClr="000000"/>
              </a:solidFill>
              <a:latin typeface="Calibri" panose="020F0502020204030204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020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1" grpId="0" animBg="1"/>
      <p:bldP spid="18" grpId="0" animBg="1"/>
      <p:bldP spid="29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u"/>
            </a:pPr>
            <a:r>
              <a:rPr lang="da-DK" altLang="zh-TW" b="1" dirty="0">
                <a:latin typeface="Courier New" pitchFamily="49" charset="0"/>
                <a:cs typeface="Courier New" pitchFamily="49" charset="0"/>
              </a:rPr>
              <a:t>Ex2: </a:t>
            </a:r>
            <a:r>
              <a:rPr lang="da-DK" altLang="zh-TW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#pragma omp parallel for </a:t>
            </a:r>
          </a:p>
          <a:p>
            <a:pPr>
              <a:buNone/>
            </a:pPr>
            <a:r>
              <a:rPr lang="da-DK" altLang="zh-TW" b="1" dirty="0">
                <a:latin typeface="Courier New" pitchFamily="49" charset="0"/>
                <a:cs typeface="Courier New" pitchFamily="49" charset="0"/>
              </a:rPr>
              <a:t>  for(i=0;i&lt;N;i++) { </a:t>
            </a:r>
          </a:p>
          <a:p>
            <a:pPr>
              <a:buFont typeface="Monotype Sorts" pitchFamily="-84" charset="2"/>
              <a:buNone/>
            </a:pPr>
            <a:r>
              <a:rPr lang="da-DK" altLang="zh-TW" b="1" dirty="0">
                <a:latin typeface="Courier New" pitchFamily="49" charset="0"/>
                <a:cs typeface="Courier New" pitchFamily="49" charset="0"/>
              </a:rPr>
              <a:t>    c[i] = a[i] + b[i]; </a:t>
            </a:r>
          </a:p>
          <a:p>
            <a:pPr>
              <a:buFont typeface="Monotype Sorts" pitchFamily="-84" charset="2"/>
              <a:buNone/>
            </a:pPr>
            <a:r>
              <a:rPr lang="da-DK" altLang="zh-TW" b="1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342900" lvl="1" indent="-342900">
              <a:buFont typeface="Wingdings" panose="05000000000000000000" pitchFamily="2" charset="2"/>
              <a:buChar char="ü"/>
            </a:pPr>
            <a:r>
              <a:rPr lang="en-US" altLang="zh-TW" dirty="0"/>
              <a:t>Run the </a:t>
            </a:r>
            <a:r>
              <a:rPr lang="en-US" altLang="zh-TW" b="1" dirty="0"/>
              <a:t>for loop</a:t>
            </a:r>
            <a:r>
              <a:rPr lang="en-US" altLang="zh-TW" dirty="0"/>
              <a:t> in parallel</a:t>
            </a:r>
          </a:p>
          <a:p>
            <a:pPr marL="342900" lvl="1" indent="-342900">
              <a:buFont typeface="Wingdings" panose="05000000000000000000" pitchFamily="2" charset="2"/>
              <a:buChar char="ü"/>
            </a:pPr>
            <a:r>
              <a:rPr lang="en-US" altLang="zh-TW" dirty="0" err="1"/>
              <a:t>OpenMP</a:t>
            </a:r>
            <a:r>
              <a:rPr lang="en-US" altLang="zh-TW" dirty="0"/>
              <a:t> divides the work in the </a:t>
            </a:r>
            <a:r>
              <a:rPr lang="en-US" altLang="zh-TW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loop </a:t>
            </a:r>
            <a:r>
              <a:rPr lang="en-US" altLang="zh-TW" dirty="0"/>
              <a:t>among the threads that it creates </a:t>
            </a:r>
            <a:r>
              <a:rPr lang="en-US" altLang="zh-TW" sz="1800" dirty="0"/>
              <a:t>(shown in the following slide)</a:t>
            </a:r>
          </a:p>
          <a:p>
            <a:pPr>
              <a:buFont typeface="Wingdings" panose="05000000000000000000" pitchFamily="2" charset="2"/>
              <a:buChar char="ü"/>
            </a:pPr>
            <a:endParaRPr lang="da-DK" altLang="zh-TW" b="1" dirty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" pitchFamily="2" charset="2"/>
              <a:buChar char="ü"/>
            </a:pPr>
            <a:endParaRPr lang="en-US" altLang="zh-TW" dirty="0"/>
          </a:p>
          <a:p>
            <a:pPr lvl="1">
              <a:buFont typeface="Wingdings" pitchFamily="2" charset="2"/>
              <a:buChar char="ü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722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Transfer to </a:t>
            </a:r>
            <a:r>
              <a:rPr lang="en-US" altLang="zh-TW" sz="4000" dirty="0" err="1"/>
              <a:t>Pthreads</a:t>
            </a:r>
            <a:r>
              <a:rPr lang="en-US" altLang="zh-TW" sz="4000" dirty="0"/>
              <a:t> by </a:t>
            </a:r>
            <a:r>
              <a:rPr lang="en-US" altLang="zh-TW" sz="4000" dirty="0" err="1"/>
              <a:t>OpenMP</a:t>
            </a:r>
            <a:r>
              <a:rPr lang="en-US" altLang="zh-TW" sz="4000" dirty="0"/>
              <a:t> </a:t>
            </a:r>
            <a:r>
              <a:rPr lang="en-US" altLang="zh-TW" sz="4000" dirty="0" smtClean="0"/>
              <a:t>Library</a:t>
            </a:r>
            <a:endParaRPr lang="zh-TW" altLang="en-US" sz="4000" dirty="0"/>
          </a:p>
        </p:txBody>
      </p:sp>
      <p:pic>
        <p:nvPicPr>
          <p:cNvPr id="2050" name="Picture 2" descr="http://2.bp.blogspot.com/-L7Lc0rOtQcg/TZxhPZTSolI/AAAAAAAAAGI/-Ky8lnyvQ80/s1600/loop_construct_596x34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669" y="980728"/>
            <a:ext cx="7992888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3431705" y="6488668"/>
            <a:ext cx="733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i="1" dirty="0">
                <a:latin typeface="Calibri" panose="020F0502020204030204" pitchFamily="34" charset="0"/>
              </a:rPr>
              <a:t>http://aaz-blogger.blogspot.com/2011/03/openmp-parallel-construct.html</a:t>
            </a:r>
            <a:endParaRPr lang="zh-TW" altLang="en-US" sz="1800" b="1" i="1" dirty="0">
              <a:latin typeface="Calibri" panose="020F0502020204030204" pitchFamily="34" charset="0"/>
            </a:endParaRPr>
          </a:p>
        </p:txBody>
      </p:sp>
      <p:sp>
        <p:nvSpPr>
          <p:cNvPr id="5" name="圓角矩形圖說文字 4"/>
          <p:cNvSpPr/>
          <p:nvPr/>
        </p:nvSpPr>
        <p:spPr>
          <a:xfrm>
            <a:off x="3287688" y="5589240"/>
            <a:ext cx="6408712" cy="792088"/>
          </a:xfrm>
          <a:prstGeom prst="wedgeRoundRectCallout">
            <a:avLst>
              <a:gd name="adj1" fmla="val 17079"/>
              <a:gd name="adj2" fmla="val -9489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These three for loops (determined by library)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are </a:t>
            </a:r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then executed by </a:t>
            </a:r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three threads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4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Implicit Threading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OpenMP</a:t>
            </a:r>
            <a:endParaRPr lang="en-US" altLang="zh-TW" dirty="0"/>
          </a:p>
          <a:p>
            <a:r>
              <a:rPr lang="en-US" altLang="zh-TW" b="1" dirty="0" smtClean="0">
                <a:solidFill>
                  <a:srgbClr val="FF0000"/>
                </a:solidFill>
              </a:rPr>
              <a:t>Grand </a:t>
            </a:r>
            <a:r>
              <a:rPr lang="en-US" altLang="zh-TW" b="1" dirty="0">
                <a:solidFill>
                  <a:srgbClr val="FF0000"/>
                </a:solidFill>
              </a:rPr>
              <a:t>Central Dispatch </a:t>
            </a:r>
            <a:r>
              <a:rPr lang="en-US" altLang="zh-TW" b="1" dirty="0" smtClean="0">
                <a:solidFill>
                  <a:srgbClr val="FF0000"/>
                </a:solidFill>
              </a:rPr>
              <a:t>in Mac OS and iOS (Skip</a:t>
            </a:r>
            <a:r>
              <a:rPr lang="en-US" altLang="zh-TW" b="1" dirty="0">
                <a:solidFill>
                  <a:srgbClr val="FF0000"/>
                </a:solidFill>
              </a:rPr>
              <a:t>!)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Thread Building Blocks by Intel (Skip!)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Fork Join in </a:t>
            </a:r>
            <a:r>
              <a:rPr lang="en-US" altLang="zh-TW" b="1" dirty="0" smtClean="0">
                <a:solidFill>
                  <a:srgbClr val="FF0000"/>
                </a:solidFill>
              </a:rPr>
              <a:t>Java (Skip!)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en-US" altLang="zh-TW" dirty="0"/>
              <a:t>Summary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093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Implicit Threading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OpenMP</a:t>
            </a:r>
            <a:endParaRPr lang="en-US" altLang="zh-TW" dirty="0"/>
          </a:p>
          <a:p>
            <a:r>
              <a:rPr lang="en-US" altLang="zh-TW" dirty="0"/>
              <a:t>Grand Central Dispatch in Mac OS and iOS (Skip!)</a:t>
            </a:r>
          </a:p>
          <a:p>
            <a:r>
              <a:rPr lang="en-US" altLang="zh-TW" dirty="0"/>
              <a:t>Thread Building Blocks by Intel (Skip!)</a:t>
            </a:r>
          </a:p>
          <a:p>
            <a:r>
              <a:rPr lang="en-US" altLang="zh-TW" dirty="0"/>
              <a:t>Fork Join in Java (Skip!)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Summary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870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b="1" dirty="0"/>
              <a:t>Implicit Threading</a:t>
            </a:r>
          </a:p>
          <a:p>
            <a:pPr lvl="1"/>
            <a:r>
              <a:rPr lang="en-US" altLang="zh-TW" dirty="0"/>
              <a:t>Application developers only needs to identify </a:t>
            </a:r>
            <a:r>
              <a:rPr lang="en-US" altLang="zh-TW" b="1" dirty="0"/>
              <a:t>tasks</a:t>
            </a:r>
            <a:r>
              <a:rPr lang="en-US" altLang="zh-TW" dirty="0"/>
              <a:t>—not threads—that can run in parallel. </a:t>
            </a:r>
          </a:p>
          <a:p>
            <a:pPr lvl="1"/>
            <a:r>
              <a:rPr lang="en-US" altLang="zh-TW" dirty="0"/>
              <a:t>Then </a:t>
            </a:r>
            <a:r>
              <a:rPr lang="en-US" altLang="zh-TW" b="1" dirty="0">
                <a:solidFill>
                  <a:srgbClr val="FF0000"/>
                </a:solidFill>
              </a:rPr>
              <a:t>run-time library/compiler </a:t>
            </a:r>
            <a:r>
              <a:rPr lang="en-US" altLang="zh-TW" dirty="0"/>
              <a:t>maps tasks to threads, and </a:t>
            </a:r>
            <a:r>
              <a:rPr lang="en-US" altLang="zh-TW" dirty="0" smtClean="0"/>
              <a:t>perform </a:t>
            </a:r>
            <a:r>
              <a:rPr lang="en-US" altLang="zh-TW" b="1" dirty="0"/>
              <a:t>the thread creation and management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Advantages</a:t>
            </a:r>
            <a:endParaRPr lang="en-US" altLang="zh-TW" dirty="0"/>
          </a:p>
          <a:p>
            <a:pPr lvl="2"/>
            <a:r>
              <a:rPr lang="en-US" altLang="zh-TW" dirty="0"/>
              <a:t>Developers only needs to identify </a:t>
            </a:r>
            <a:r>
              <a:rPr lang="en-US" altLang="zh-TW" b="1" dirty="0"/>
              <a:t>what operations </a:t>
            </a:r>
            <a:r>
              <a:rPr lang="en-US" altLang="zh-TW" dirty="0"/>
              <a:t>can run in parallel</a:t>
            </a:r>
          </a:p>
          <a:p>
            <a:pPr lvl="2"/>
            <a:r>
              <a:rPr lang="en-US" altLang="zh-TW" dirty="0"/>
              <a:t>The </a:t>
            </a:r>
            <a:r>
              <a:rPr lang="en-US" altLang="zh-TW" b="1" dirty="0" smtClean="0"/>
              <a:t>compiler/library</a:t>
            </a:r>
            <a:r>
              <a:rPr lang="en-US" altLang="zh-TW" dirty="0" smtClean="0"/>
              <a:t> </a:t>
            </a:r>
            <a:r>
              <a:rPr lang="en-US" altLang="zh-TW" dirty="0"/>
              <a:t>manages the details</a:t>
            </a:r>
            <a:endParaRPr lang="zh-TW" altLang="en-US" dirty="0"/>
          </a:p>
          <a:p>
            <a:pPr lvl="1"/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24678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Threading Issues</a:t>
            </a:r>
          </a:p>
          <a:p>
            <a:pPr eaLnBrk="1" hangingPunct="1"/>
            <a:r>
              <a:rPr lang="en-US" altLang="zh-TW" dirty="0"/>
              <a:t>Operating-System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Thread</a:t>
            </a:r>
            <a:r>
              <a:rPr lang="zh-TW" altLang="en-US" dirty="0" smtClean="0"/>
              <a:t>雖然有許多優點</a:t>
            </a:r>
            <a:r>
              <a:rPr lang="en-US" altLang="zh-TW" dirty="0" smtClean="0"/>
              <a:t>, </a:t>
            </a:r>
            <a:r>
              <a:rPr lang="zh-TW" altLang="en-US" dirty="0" smtClean="0"/>
              <a:t>但也有一些議題需要解決</a:t>
            </a:r>
            <a:r>
              <a:rPr lang="en-US" altLang="zh-TW" dirty="0" smtClean="0"/>
              <a:t>~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821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12776"/>
            <a:ext cx="10972800" cy="4853135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Threading </a:t>
            </a:r>
            <a:r>
              <a:rPr lang="en-US" altLang="zh-TW" b="1" dirty="0" smtClean="0">
                <a:solidFill>
                  <a:srgbClr val="FF0000"/>
                </a:solidFill>
              </a:rPr>
              <a:t>Issues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Thread Pools</a:t>
            </a:r>
          </a:p>
          <a:p>
            <a:pPr lvl="1" eaLnBrk="1" hangingPunct="1"/>
            <a:r>
              <a:rPr lang="en-US" altLang="zh-TW" dirty="0"/>
              <a:t>Semantics of fork() and exec() system calls</a:t>
            </a:r>
          </a:p>
          <a:p>
            <a:pPr lvl="1" eaLnBrk="1" hangingPunct="1"/>
            <a:r>
              <a:rPr lang="en-US" altLang="zh-TW" dirty="0"/>
              <a:t>Signal handling</a:t>
            </a:r>
          </a:p>
          <a:p>
            <a:pPr lvl="1" eaLnBrk="1" hangingPunct="1"/>
            <a:r>
              <a:rPr lang="en-US" altLang="zh-TW" dirty="0"/>
              <a:t>Thread cancellation</a:t>
            </a:r>
          </a:p>
          <a:p>
            <a:pPr lvl="1" eaLnBrk="1" hangingPunct="1"/>
            <a:r>
              <a:rPr lang="en-US" altLang="zh-TW" dirty="0"/>
              <a:t>Thread-Local Storage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42213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Thread Pools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雖然</a:t>
            </a:r>
            <a:r>
              <a:rPr lang="en-US" altLang="zh-TW" dirty="0" smtClean="0"/>
              <a:t>threads</a:t>
            </a:r>
            <a:r>
              <a:rPr lang="zh-TW" altLang="en-US" dirty="0" smtClean="0"/>
              <a:t>比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節省資源</a:t>
            </a:r>
            <a:r>
              <a:rPr lang="en-US" altLang="zh-TW" dirty="0" smtClean="0"/>
              <a:t>…</a:t>
            </a:r>
            <a:r>
              <a:rPr lang="zh-TW" altLang="en-US" dirty="0" smtClean="0"/>
              <a:t>但還是需要資源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Example: consider </a:t>
            </a:r>
            <a:r>
              <a:rPr lang="en-US" altLang="zh-TW" dirty="0"/>
              <a:t>a web server that service each request with a thread</a:t>
            </a:r>
          </a:p>
          <a:p>
            <a:pPr lvl="1"/>
            <a:r>
              <a:rPr lang="en-US" altLang="zh-TW" dirty="0"/>
              <a:t>Creating and destroy threads dynamically – </a:t>
            </a:r>
            <a:r>
              <a:rPr lang="en-US" altLang="zh-TW" b="1" dirty="0"/>
              <a:t>time consuming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Unlimited </a:t>
            </a:r>
            <a:r>
              <a:rPr lang="en-US" altLang="zh-TW" dirty="0"/>
              <a:t>number of threads – </a:t>
            </a:r>
            <a:r>
              <a:rPr lang="en-US" altLang="zh-TW" b="1" dirty="0"/>
              <a:t>exhaust system resources</a:t>
            </a:r>
          </a:p>
          <a:p>
            <a:pPr marL="457200" lvl="1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1900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Your solution?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956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Thread Pools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Sol</a:t>
            </a:r>
            <a:r>
              <a:rPr lang="en-US" altLang="zh-TW" dirty="0"/>
              <a:t>.: </a:t>
            </a:r>
            <a:r>
              <a:rPr lang="en-US" altLang="zh-TW" b="1" dirty="0">
                <a:solidFill>
                  <a:srgbClr val="FF3300"/>
                </a:solidFill>
              </a:rPr>
              <a:t>Thread Pools</a:t>
            </a:r>
          </a:p>
          <a:p>
            <a:pPr lvl="1"/>
            <a:r>
              <a:rPr lang="en-US" altLang="zh-TW" dirty="0"/>
              <a:t>Create a number of threads in a pool in advance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Receiving </a:t>
            </a:r>
            <a:r>
              <a:rPr lang="en-US" altLang="zh-TW" dirty="0"/>
              <a:t>a request → awaken a thread from the pool → pass it the request to service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Once </a:t>
            </a:r>
            <a:r>
              <a:rPr lang="en-US" altLang="zh-TW" dirty="0"/>
              <a:t>the thread completes its service → return to the pool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no available thread → server </a:t>
            </a:r>
            <a:r>
              <a:rPr lang="en-US" altLang="zh-TW" b="1" dirty="0"/>
              <a:t>waits</a:t>
            </a:r>
            <a:r>
              <a:rPr lang="en-US" altLang="zh-TW" dirty="0"/>
              <a:t> until one becomes free</a:t>
            </a:r>
          </a:p>
        </p:txBody>
      </p:sp>
    </p:spTree>
    <p:extLst>
      <p:ext uri="{BB962C8B-B14F-4D97-AF65-F5344CB8AC3E}">
        <p14:creationId xmlns:p14="http://schemas.microsoft.com/office/powerpoint/2010/main" val="136730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Thread Pools: Before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1484784"/>
            <a:ext cx="8229600" cy="496855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993911" y="6550224"/>
            <a:ext cx="26642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https://iter01.com/29330.html</a:t>
            </a:r>
            <a:endParaRPr lang="zh-TW" altLang="en-US" sz="1400" b="1" i="1" dirty="0">
              <a:latin typeface="Calibri" panose="020F0502020204030204" pitchFamily="34" charset="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3575720" y="2636912"/>
            <a:ext cx="1440160" cy="36004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rgbClr val="FF0000"/>
                </a:solidFill>
              </a:rPr>
              <a:t>Task Queue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634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Thread Pools: After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1484784"/>
            <a:ext cx="8229600" cy="496855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993911" y="6550224"/>
            <a:ext cx="26642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https://iter01.com/29330.html</a:t>
            </a:r>
            <a:endParaRPr lang="zh-TW" altLang="en-US" sz="1400" b="1" i="1" dirty="0">
              <a:latin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6200" y="2708920"/>
            <a:ext cx="1728192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Running task 1</a:t>
            </a:r>
            <a:endParaRPr lang="zh-TW" altLang="en-US" sz="16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06322" y="3861048"/>
            <a:ext cx="1728192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Running task 2</a:t>
            </a:r>
            <a:endParaRPr lang="zh-TW" altLang="en-US" sz="16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96200" y="5134344"/>
            <a:ext cx="1728192" cy="2880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Running task 3</a:t>
            </a:r>
            <a:endParaRPr lang="zh-TW" altLang="en-US" sz="16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79576" y="3068960"/>
            <a:ext cx="57606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071664" y="3068960"/>
            <a:ext cx="57606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935760" y="3068960"/>
            <a:ext cx="57606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5519936" y="3068960"/>
            <a:ext cx="648072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00CC00"/>
                </a:solidFill>
                <a:latin typeface="Calibri" panose="020F0502020204030204" pitchFamily="34" charset="0"/>
              </a:rPr>
              <a:t>Task 4</a:t>
            </a:r>
            <a:endParaRPr lang="zh-TW" altLang="en-US" sz="1400" b="1" dirty="0">
              <a:solidFill>
                <a:srgbClr val="00CC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27848" y="3068960"/>
            <a:ext cx="648072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rgbClr val="00CC00"/>
                </a:solidFill>
                <a:latin typeface="Calibri" panose="020F0502020204030204" pitchFamily="34" charset="0"/>
              </a:rPr>
              <a:t>Task 5</a:t>
            </a:r>
            <a:endParaRPr lang="zh-TW" altLang="en-US" sz="1400" b="1" dirty="0">
              <a:solidFill>
                <a:srgbClr val="00CC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3575720" y="2636912"/>
            <a:ext cx="1440160" cy="36004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rgbClr val="FF0000"/>
                </a:solidFill>
              </a:rPr>
              <a:t>Task Queue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16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Thread Pools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Advantages:</a:t>
            </a:r>
          </a:p>
          <a:p>
            <a:pPr lvl="1"/>
            <a:r>
              <a:rPr lang="en-US" altLang="zh-TW" dirty="0"/>
              <a:t>Faster to service a request </a:t>
            </a:r>
          </a:p>
          <a:p>
            <a:pPr lvl="2"/>
            <a:r>
              <a:rPr lang="en-US" altLang="zh-TW" dirty="0"/>
              <a:t>By an </a:t>
            </a:r>
            <a:r>
              <a:rPr lang="en-US" altLang="zh-TW" b="1" dirty="0">
                <a:solidFill>
                  <a:srgbClr val="FF0000"/>
                </a:solidFill>
              </a:rPr>
              <a:t>existing thread</a:t>
            </a:r>
            <a:r>
              <a:rPr lang="en-US" altLang="zh-TW" dirty="0"/>
              <a:t> rather than creating a new thread</a:t>
            </a:r>
          </a:p>
          <a:p>
            <a:endParaRPr lang="en-US" altLang="zh-TW" dirty="0"/>
          </a:p>
          <a:p>
            <a:pPr lvl="1"/>
            <a:r>
              <a:rPr lang="en-US" altLang="zh-TW" dirty="0"/>
              <a:t>Allow the number of threads in the application(s) to be bound to the size of the pool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030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12776"/>
            <a:ext cx="10972800" cy="4853135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Threading </a:t>
            </a:r>
            <a:r>
              <a:rPr lang="en-US" altLang="zh-TW" b="1" dirty="0" smtClean="0">
                <a:solidFill>
                  <a:srgbClr val="FF0000"/>
                </a:solidFill>
              </a:rPr>
              <a:t>Issues</a:t>
            </a:r>
          </a:p>
          <a:p>
            <a:pPr lvl="1" eaLnBrk="1" hangingPunct="1"/>
            <a:r>
              <a:rPr lang="en-US" altLang="zh-TW" dirty="0"/>
              <a:t>Thread Pools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Semantics of fork() and exec() system calls</a:t>
            </a:r>
          </a:p>
          <a:p>
            <a:pPr lvl="1" eaLnBrk="1" hangingPunct="1"/>
            <a:r>
              <a:rPr lang="en-US" altLang="zh-TW" dirty="0"/>
              <a:t>Signal handling</a:t>
            </a:r>
          </a:p>
          <a:p>
            <a:pPr lvl="1" eaLnBrk="1" hangingPunct="1"/>
            <a:r>
              <a:rPr lang="en-US" altLang="zh-TW" dirty="0"/>
              <a:t>Thread cancellation</a:t>
            </a:r>
          </a:p>
          <a:p>
            <a:pPr lvl="1" eaLnBrk="1" hangingPunct="1"/>
            <a:r>
              <a:rPr lang="en-US" altLang="zh-TW" dirty="0"/>
              <a:t>Thread-Local Storage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12066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What is syntax? What is semantics?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959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如果一個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呼叫</a:t>
            </a:r>
            <a:r>
              <a:rPr lang="en-US" altLang="zh-TW" dirty="0" smtClean="0"/>
              <a:t>fork(),</a:t>
            </a:r>
            <a:r>
              <a:rPr lang="zh-TW" altLang="en-US" dirty="0" smtClean="0"/>
              <a:t>會發生什麼事呢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329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Semantics of fork</a:t>
            </a:r>
            <a:r>
              <a:rPr lang="en-US" altLang="zh-TW" dirty="0" smtClean="0"/>
              <a:t>()</a:t>
            </a:r>
            <a:endParaRPr lang="en-US" altLang="zh-TW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latin typeface="Garamond" pitchFamily="18" charset="0"/>
              </a:rPr>
              <a:t>fork()</a:t>
            </a:r>
            <a:r>
              <a:rPr lang="en-US" altLang="zh-TW" dirty="0"/>
              <a:t> in a multi-thread application?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If </a:t>
            </a:r>
            <a:r>
              <a:rPr lang="en-US" altLang="zh-TW" dirty="0"/>
              <a:t>one thread calls </a:t>
            </a:r>
            <a:r>
              <a:rPr lang="en-US" altLang="zh-TW" b="1" dirty="0">
                <a:solidFill>
                  <a:srgbClr val="0000CC"/>
                </a:solidFill>
                <a:latin typeface="Garamond" pitchFamily="18" charset="0"/>
              </a:rPr>
              <a:t>fork()</a:t>
            </a:r>
            <a:endParaRPr lang="en-US" altLang="zh-TW" dirty="0">
              <a:latin typeface="Garamond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Duplicate all threads or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Duplicate only the thread that invoked </a:t>
            </a:r>
            <a:r>
              <a:rPr lang="en-US" altLang="zh-TW" b="1" dirty="0">
                <a:latin typeface="Garamond" pitchFamily="18" charset="0"/>
              </a:rPr>
              <a:t>fork()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Some </a:t>
            </a:r>
            <a:r>
              <a:rPr lang="en-US" altLang="zh-TW" dirty="0"/>
              <a:t>UNIX system supports two versions of </a:t>
            </a:r>
            <a:r>
              <a:rPr lang="en-US" altLang="zh-TW" b="1" dirty="0">
                <a:solidFill>
                  <a:srgbClr val="FF3300"/>
                </a:solidFill>
                <a:latin typeface="Garamond" pitchFamily="18" charset="0"/>
              </a:rPr>
              <a:t>fork()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Semantics of fork</a:t>
            </a:r>
            <a:r>
              <a:rPr lang="en-US" altLang="zh-TW" dirty="0" smtClean="0"/>
              <a:t>()</a:t>
            </a:r>
            <a:endParaRPr lang="en-US" altLang="zh-TW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Q: </a:t>
            </a:r>
            <a:r>
              <a:rPr lang="zh-TW" altLang="en-US" dirty="0" smtClean="0"/>
              <a:t>以下頁為</a:t>
            </a:r>
            <a:r>
              <a:rPr lang="zh-TW" altLang="en-US" dirty="0"/>
              <a:t>例</a:t>
            </a:r>
            <a:r>
              <a:rPr lang="en-US" altLang="zh-TW" dirty="0"/>
              <a:t>, </a:t>
            </a:r>
            <a:r>
              <a:rPr lang="zh-TW" altLang="en-US" dirty="0"/>
              <a:t>如果</a:t>
            </a:r>
            <a:r>
              <a:rPr lang="en-US" altLang="zh-TW" dirty="0"/>
              <a:t>T2</a:t>
            </a:r>
            <a:r>
              <a:rPr lang="zh-TW" altLang="en-US" dirty="0"/>
              <a:t>呼叫</a:t>
            </a:r>
            <a:r>
              <a:rPr lang="en-US" altLang="zh-TW" dirty="0"/>
              <a:t>fork()</a:t>
            </a:r>
            <a:endParaRPr lang="en-US" altLang="zh-TW" dirty="0" smtClean="0"/>
          </a:p>
          <a:p>
            <a:pPr eaLnBrk="1" hangingPunct="1">
              <a:lnSpc>
                <a:spcPct val="90000"/>
              </a:lnSpc>
            </a:pPr>
            <a:endParaRPr lang="en-US" altLang="zh-TW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Duplicate </a:t>
            </a:r>
            <a:r>
              <a:rPr lang="en-US" altLang="zh-TW" dirty="0"/>
              <a:t>all </a:t>
            </a:r>
            <a:r>
              <a:rPr lang="en-US" altLang="zh-TW" dirty="0" smtClean="0"/>
              <a:t>threads</a:t>
            </a:r>
            <a:r>
              <a:rPr lang="zh-TW" altLang="en-US" dirty="0" smtClean="0"/>
              <a:t>會發生什麼事</a:t>
            </a:r>
            <a:r>
              <a:rPr lang="en-US" altLang="zh-TW" dirty="0" smtClean="0"/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zh-TW" altLang="en-US" dirty="0" smtClean="0"/>
              <a:t>產生一個新的</a:t>
            </a:r>
            <a:r>
              <a:rPr lang="en-US" altLang="zh-TW" dirty="0" smtClean="0"/>
              <a:t>process, </a:t>
            </a:r>
            <a:r>
              <a:rPr lang="zh-TW" altLang="en-US" dirty="0" smtClean="0"/>
              <a:t>包含</a:t>
            </a:r>
            <a:r>
              <a:rPr lang="en-US" altLang="zh-TW" dirty="0" smtClean="0"/>
              <a:t>T2</a:t>
            </a:r>
            <a:r>
              <a:rPr lang="zh-TW" altLang="en-US" dirty="0" smtClean="0"/>
              <a:t>一個</a:t>
            </a:r>
            <a:r>
              <a:rPr lang="en-US" altLang="zh-TW" dirty="0" smtClean="0"/>
              <a:t>threads</a:t>
            </a:r>
            <a:endParaRPr lang="en-US" altLang="zh-TW" dirty="0"/>
          </a:p>
          <a:p>
            <a:pPr eaLnBrk="1" hangingPunct="1">
              <a:lnSpc>
                <a:spcPct val="90000"/>
              </a:lnSpc>
            </a:pPr>
            <a:endParaRPr lang="en-US" altLang="zh-TW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Duplicate </a:t>
            </a:r>
            <a:r>
              <a:rPr lang="en-US" altLang="zh-TW" dirty="0"/>
              <a:t>only the thread that invoked </a:t>
            </a:r>
            <a:r>
              <a:rPr lang="en-US" altLang="zh-TW" b="1" dirty="0">
                <a:latin typeface="Garamond" pitchFamily="18" charset="0"/>
              </a:rPr>
              <a:t>fork</a:t>
            </a:r>
            <a:r>
              <a:rPr lang="en-US" altLang="zh-TW" b="1" dirty="0" smtClean="0">
                <a:latin typeface="Garamond" pitchFamily="18" charset="0"/>
              </a:rPr>
              <a:t>()</a:t>
            </a:r>
            <a:r>
              <a:rPr lang="zh-TW" altLang="en-US" b="1" dirty="0" smtClean="0">
                <a:latin typeface="Garamond" pitchFamily="18" charset="0"/>
              </a:rPr>
              <a:t>會發生什麼事</a:t>
            </a:r>
            <a:r>
              <a:rPr lang="en-US" altLang="zh-TW" b="1" dirty="0" smtClean="0">
                <a:latin typeface="Garamond" pitchFamily="18" charset="0"/>
              </a:rPr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zh-TW" altLang="en-US" dirty="0"/>
              <a:t>產生一個新的</a:t>
            </a:r>
            <a:r>
              <a:rPr lang="en-US" altLang="zh-TW" dirty="0"/>
              <a:t>process, </a:t>
            </a:r>
            <a:r>
              <a:rPr lang="zh-TW" altLang="en-US" dirty="0" smtClean="0"/>
              <a:t>包含所有三個</a:t>
            </a:r>
            <a:r>
              <a:rPr lang="en-US" altLang="zh-TW" dirty="0"/>
              <a:t>threads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b="1" dirty="0">
              <a:latin typeface="Garamond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dirty="0" smtClean="0"/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6838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solidFill>
                  <a:srgbClr val="FF0000"/>
                </a:solidFill>
              </a:rPr>
              <a:t>One Process</a:t>
            </a:r>
            <a:r>
              <a:rPr lang="en-US" altLang="zh-TW" dirty="0"/>
              <a:t> </a:t>
            </a:r>
            <a:r>
              <a:rPr lang="en-US" altLang="zh-TW" dirty="0" smtClean="0"/>
              <a:t>with Three </a:t>
            </a:r>
            <a:r>
              <a:rPr lang="en-US" altLang="zh-TW" dirty="0">
                <a:solidFill>
                  <a:srgbClr val="FF0000"/>
                </a:solidFill>
              </a:rPr>
              <a:t>Threads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4675392" y="1268761"/>
            <a:ext cx="2265362" cy="526176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4680154" y="4292946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4680154" y="2503834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684915" y="4285891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T1 TCB 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pc = x, </a:t>
            </a: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=y, …..,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682534" y="1772817"/>
            <a:ext cx="2265362" cy="731018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4687296" y="4959497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lvl="0"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T2 TCB </a:t>
            </a:r>
            <a:endParaRPr kumimoji="0" lang="en-US" altLang="zh-TW" sz="2000" b="1" dirty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lvl="0"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pc =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i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=j, …..,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</a:p>
        </p:txBody>
      </p:sp>
      <p:sp>
        <p:nvSpPr>
          <p:cNvPr id="14" name="右大括弧 13"/>
          <p:cNvSpPr/>
          <p:nvPr/>
        </p:nvSpPr>
        <p:spPr>
          <a:xfrm>
            <a:off x="7257060" y="4321012"/>
            <a:ext cx="87515" cy="190392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344574" y="5085654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OS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+mn-cs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655840" y="2492896"/>
            <a:ext cx="2265362" cy="731018"/>
          </a:xfrm>
          <a:prstGeom prst="rect">
            <a:avLst/>
          </a:prstGeom>
          <a:solidFill>
            <a:srgbClr val="33CC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4655840" y="5661248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lvl="0"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smtClean="0">
                <a:solidFill>
                  <a:srgbClr val="FF0000"/>
                </a:solidFill>
                <a:ea typeface="新細明體" panose="02020500000000000000" pitchFamily="18" charset="-120"/>
              </a:rPr>
              <a:t>T3 TCB </a:t>
            </a:r>
            <a:endParaRPr kumimoji="0" lang="en-US" altLang="zh-TW" sz="2000" b="1" dirty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 lvl="0"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pc =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i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=j, …..,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344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如果一個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呼叫</a:t>
            </a:r>
            <a:r>
              <a:rPr lang="en-US" altLang="zh-TW" dirty="0" smtClean="0"/>
              <a:t>exec(),</a:t>
            </a:r>
            <a:r>
              <a:rPr lang="zh-TW" altLang="en-US" dirty="0" smtClean="0"/>
              <a:t>會發生什麼事呢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712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Semantics of </a:t>
            </a:r>
            <a:r>
              <a:rPr lang="en-US" altLang="zh-TW" dirty="0" smtClean="0"/>
              <a:t>exec</a:t>
            </a:r>
            <a:r>
              <a:rPr lang="en-US" altLang="zh-TW" dirty="0"/>
              <a:t>()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How </a:t>
            </a:r>
            <a:r>
              <a:rPr lang="en-US" altLang="zh-TW" dirty="0"/>
              <a:t>about </a:t>
            </a:r>
            <a:r>
              <a:rPr lang="en-US" altLang="zh-TW" b="1" dirty="0">
                <a:latin typeface="Garamond" pitchFamily="18" charset="0"/>
              </a:rPr>
              <a:t>exec()</a:t>
            </a:r>
            <a:r>
              <a:rPr lang="en-US" altLang="zh-TW" dirty="0"/>
              <a:t>? 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Upon </a:t>
            </a:r>
            <a:r>
              <a:rPr lang="en-US" altLang="zh-TW" dirty="0"/>
              <a:t>a thread invokes the </a:t>
            </a:r>
            <a:r>
              <a:rPr lang="en-US" altLang="zh-TW" b="1" dirty="0">
                <a:solidFill>
                  <a:srgbClr val="0000CC"/>
                </a:solidFill>
                <a:latin typeface="Garamond" pitchFamily="18" charset="0"/>
              </a:rPr>
              <a:t>exec()</a:t>
            </a:r>
            <a:r>
              <a:rPr lang="en-US" altLang="zh-TW" dirty="0"/>
              <a:t> system call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Replace </a:t>
            </a:r>
            <a:r>
              <a:rPr lang="en-US" altLang="zh-TW" dirty="0"/>
              <a:t>the </a:t>
            </a:r>
            <a:r>
              <a:rPr lang="en-US" altLang="zh-TW" b="1" dirty="0">
                <a:solidFill>
                  <a:srgbClr val="FF3300"/>
                </a:solidFill>
              </a:rPr>
              <a:t>entire</a:t>
            </a:r>
            <a:r>
              <a:rPr lang="en-US" altLang="zh-TW" dirty="0"/>
              <a:t> process – including </a:t>
            </a:r>
            <a:r>
              <a:rPr lang="en-US" altLang="zh-TW" b="1" i="1" dirty="0">
                <a:solidFill>
                  <a:srgbClr val="FF3300"/>
                </a:solidFill>
              </a:rPr>
              <a:t>all</a:t>
            </a:r>
            <a:r>
              <a:rPr lang="en-US" altLang="zh-TW" i="1" dirty="0">
                <a:solidFill>
                  <a:srgbClr val="FF3300"/>
                </a:solidFill>
              </a:rPr>
              <a:t> threads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i="1" dirty="0" smtClean="0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i="1" dirty="0" smtClean="0">
                <a:solidFill>
                  <a:srgbClr val="FF3300"/>
                </a:solidFill>
              </a:rPr>
              <a:t>Why</a:t>
            </a:r>
            <a:r>
              <a:rPr lang="en-US" altLang="zh-TW" i="1" dirty="0">
                <a:solidFill>
                  <a:srgbClr val="FF3300"/>
                </a:solidFill>
              </a:rPr>
              <a:t>? </a:t>
            </a:r>
            <a:endParaRPr lang="en-US" altLang="zh-TW" i="1" dirty="0" smtClean="0">
              <a:solidFill>
                <a:srgbClr val="FF33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i="1" dirty="0" smtClean="0">
                <a:solidFill>
                  <a:srgbClr val="FF3300"/>
                </a:solidFill>
              </a:rPr>
              <a:t>Threads </a:t>
            </a:r>
            <a:r>
              <a:rPr lang="en-US" altLang="zh-TW" i="1" dirty="0">
                <a:solidFill>
                  <a:srgbClr val="FF3300"/>
                </a:solidFill>
              </a:rPr>
              <a:t>share the .code section</a:t>
            </a:r>
          </a:p>
        </p:txBody>
      </p:sp>
    </p:spTree>
    <p:extLst>
      <p:ext uri="{BB962C8B-B14F-4D97-AF65-F5344CB8AC3E}">
        <p14:creationId xmlns:p14="http://schemas.microsoft.com/office/powerpoint/2010/main" val="23082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12776"/>
            <a:ext cx="10972800" cy="4853135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Threading </a:t>
            </a:r>
            <a:r>
              <a:rPr lang="en-US" altLang="zh-TW" b="1" dirty="0" smtClean="0">
                <a:solidFill>
                  <a:srgbClr val="FF0000"/>
                </a:solidFill>
              </a:rPr>
              <a:t>Issues</a:t>
            </a:r>
          </a:p>
          <a:p>
            <a:pPr lvl="1" eaLnBrk="1" hangingPunct="1"/>
            <a:r>
              <a:rPr lang="en-US" altLang="zh-TW" dirty="0"/>
              <a:t>Thread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Pools</a:t>
            </a:r>
          </a:p>
          <a:p>
            <a:pPr lvl="1" eaLnBrk="1" hangingPunct="1"/>
            <a:r>
              <a:rPr lang="en-US" altLang="zh-TW" dirty="0"/>
              <a:t>Semantics of fork() and exec() system calls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Signal handling</a:t>
            </a:r>
          </a:p>
          <a:p>
            <a:pPr lvl="1" eaLnBrk="1" hangingPunct="1"/>
            <a:r>
              <a:rPr lang="en-US" altLang="zh-TW" dirty="0"/>
              <a:t>Thread cancellation</a:t>
            </a:r>
          </a:p>
          <a:p>
            <a:pPr lvl="1" eaLnBrk="1" hangingPunct="1"/>
            <a:r>
              <a:rPr lang="en-US" altLang="zh-TW" dirty="0"/>
              <a:t>Thread-Local Storage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27699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 dirty="0" smtClean="0"/>
              <a:t>Signal Handling</a:t>
            </a:r>
            <a:r>
              <a:rPr lang="zh-TW" altLang="en-US" dirty="0" smtClean="0"/>
              <a:t>的實驗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195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複習：</a:t>
            </a:r>
            <a:r>
              <a:rPr lang="en-US" altLang="zh-TW" dirty="0"/>
              <a:t>Event-Driven OS: </a:t>
            </a:r>
            <a:r>
              <a:rPr lang="en-US" altLang="zh-TW" dirty="0">
                <a:solidFill>
                  <a:srgbClr val="0033CC"/>
                </a:solidFill>
              </a:rPr>
              <a:t>Trap (Error)</a:t>
            </a:r>
            <a:endParaRPr lang="zh-TW" altLang="en-US" dirty="0">
              <a:solidFill>
                <a:srgbClr val="0033CC"/>
              </a:solidFill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312024" y="1484785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  <a:p>
            <a:pPr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latin typeface="Calibri" panose="020F0502020204030204" pitchFamily="34" charset="0"/>
              </a:rPr>
              <a:t>a = b/0; </a:t>
            </a:r>
          </a:p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12024" y="4509122"/>
            <a:ext cx="2260600" cy="1931595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OS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312024" y="2719859"/>
            <a:ext cx="2260600" cy="178926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Calibri" panose="020F0502020204030204" pitchFamily="34" charset="0"/>
              </a:rPr>
              <a:t>…..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67609" y="2188803"/>
            <a:ext cx="1869455" cy="1274514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CPU</a:t>
            </a:r>
          </a:p>
        </p:txBody>
      </p:sp>
      <p:cxnSp>
        <p:nvCxnSpPr>
          <p:cNvPr id="9" name="直線單箭頭接點 8"/>
          <p:cNvCxnSpPr>
            <a:stCxn id="3" idx="1"/>
            <a:endCxn id="7" idx="3"/>
          </p:cNvCxnSpPr>
          <p:nvPr/>
        </p:nvCxnSpPr>
        <p:spPr>
          <a:xfrm flipH="1">
            <a:off x="4437064" y="2102322"/>
            <a:ext cx="1874961" cy="723738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7" idx="3"/>
            <a:endCxn id="5" idx="1"/>
          </p:cNvCxnSpPr>
          <p:nvPr/>
        </p:nvCxnSpPr>
        <p:spPr>
          <a:xfrm>
            <a:off x="4437064" y="2826061"/>
            <a:ext cx="1874961" cy="264885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488788" y="4005065"/>
            <a:ext cx="885756" cy="58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0" lang="en-US" altLang="zh-TW" sz="3200" b="1" dirty="0">
                <a:solidFill>
                  <a:srgbClr val="FF0000"/>
                </a:solidFill>
                <a:latin typeface="Calibri" panose="020F0502020204030204" pitchFamily="34" charset="0"/>
              </a:rPr>
              <a:t>trap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8572624" y="5244086"/>
            <a:ext cx="2375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OS</a:t>
            </a:r>
            <a:r>
              <a:rPr lang="zh-TW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該怎麼辦呢？</a:t>
            </a:r>
          </a:p>
        </p:txBody>
      </p:sp>
    </p:spTree>
    <p:extLst>
      <p:ext uri="{BB962C8B-B14F-4D97-AF65-F5344CB8AC3E}">
        <p14:creationId xmlns:p14="http://schemas.microsoft.com/office/powerpoint/2010/main" val="127279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Signal Handling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b="1" dirty="0">
                <a:solidFill>
                  <a:srgbClr val="FF3300"/>
                </a:solidFill>
              </a:rPr>
              <a:t>Signals</a:t>
            </a:r>
            <a:r>
              <a:rPr lang="en-US" altLang="zh-TW" dirty="0"/>
              <a:t> are used in UNIX systems to notify a process that an event has occurred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Events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Illegal memory access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Divided by zero…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Ctrl-C to terminate a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Timer expires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Signal Handling (Cont.)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All signals follow the same pattern</a:t>
            </a:r>
          </a:p>
          <a:p>
            <a:pPr lvl="1" eaLnBrk="1" hangingPunct="1">
              <a:buFontTx/>
              <a:buNone/>
            </a:pPr>
            <a:r>
              <a:rPr lang="en-US" altLang="zh-TW" dirty="0"/>
              <a:t>1. Signal is </a:t>
            </a:r>
            <a:r>
              <a:rPr lang="en-US" altLang="zh-TW" b="1" dirty="0">
                <a:solidFill>
                  <a:srgbClr val="3333FF"/>
                </a:solidFill>
              </a:rPr>
              <a:t>generated</a:t>
            </a:r>
            <a:r>
              <a:rPr lang="en-US" altLang="zh-TW" dirty="0"/>
              <a:t> by a particular event</a:t>
            </a:r>
          </a:p>
          <a:p>
            <a:pPr lvl="1" eaLnBrk="1" hangingPunct="1">
              <a:buFontTx/>
              <a:buNone/>
            </a:pPr>
            <a:r>
              <a:rPr lang="en-US" altLang="zh-TW" dirty="0"/>
              <a:t>2. Signal is </a:t>
            </a:r>
            <a:r>
              <a:rPr lang="en-US" altLang="zh-TW" b="1" dirty="0">
                <a:solidFill>
                  <a:srgbClr val="3333FF"/>
                </a:solidFill>
              </a:rPr>
              <a:t>delivered</a:t>
            </a:r>
            <a:r>
              <a:rPr lang="en-US" altLang="zh-TW" dirty="0">
                <a:solidFill>
                  <a:srgbClr val="3333FF"/>
                </a:solidFill>
              </a:rPr>
              <a:t> </a:t>
            </a:r>
            <a:r>
              <a:rPr lang="en-US" altLang="zh-TW" dirty="0"/>
              <a:t>to a process</a:t>
            </a:r>
          </a:p>
          <a:p>
            <a:pPr lvl="1" eaLnBrk="1" hangingPunct="1">
              <a:buFontTx/>
              <a:buNone/>
            </a:pPr>
            <a:r>
              <a:rPr lang="en-US" altLang="zh-TW" dirty="0"/>
              <a:t>3. Signal is </a:t>
            </a:r>
            <a:r>
              <a:rPr lang="en-US" altLang="zh-TW" b="1" dirty="0">
                <a:solidFill>
                  <a:srgbClr val="3333FF"/>
                </a:solidFill>
              </a:rPr>
              <a:t>handled</a:t>
            </a:r>
            <a:r>
              <a:rPr lang="en-US" altLang="zh-TW" dirty="0">
                <a:solidFill>
                  <a:srgbClr val="3333FF"/>
                </a:solidFill>
              </a:rPr>
              <a:t> </a:t>
            </a:r>
            <a:r>
              <a:rPr lang="en-US" altLang="zh-TW" dirty="0"/>
              <a:t>by the process’s </a:t>
            </a:r>
            <a:r>
              <a:rPr lang="en-US" altLang="zh-TW" b="1" dirty="0">
                <a:solidFill>
                  <a:srgbClr val="FF3300"/>
                </a:solidFill>
              </a:rPr>
              <a:t>signal hander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Each signal is handled by one of two handlers</a:t>
            </a:r>
          </a:p>
          <a:p>
            <a:pPr lvl="1" eaLnBrk="1" hangingPunct="1"/>
            <a:r>
              <a:rPr lang="en-US" altLang="zh-TW" dirty="0"/>
              <a:t>A </a:t>
            </a:r>
            <a:r>
              <a:rPr lang="en-US" altLang="zh-TW" b="1" dirty="0"/>
              <a:t>user-defined signal handler </a:t>
            </a:r>
            <a:r>
              <a:rPr lang="en-US" altLang="zh-TW" dirty="0"/>
              <a:t>in the user program</a:t>
            </a:r>
          </a:p>
          <a:p>
            <a:pPr lvl="1" eaLnBrk="1" hangingPunct="1"/>
            <a:r>
              <a:rPr lang="en-US" altLang="zh-TW" dirty="0" smtClean="0"/>
              <a:t>A </a:t>
            </a:r>
            <a:r>
              <a:rPr lang="en-US" altLang="zh-TW" b="1" dirty="0"/>
              <a:t>default signal handler</a:t>
            </a:r>
            <a:r>
              <a:rPr lang="en-US" altLang="zh-TW" dirty="0"/>
              <a:t> in the </a:t>
            </a:r>
            <a:r>
              <a:rPr lang="en-US" altLang="zh-TW" dirty="0" smtClean="0"/>
              <a:t>kernel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/>
              <a:t>Signal </a:t>
            </a:r>
            <a:r>
              <a:rPr lang="en-US" altLang="zh-TW" sz="3600" dirty="0"/>
              <a:t>Types and Default Actions</a:t>
            </a:r>
            <a:endParaRPr lang="zh-TW" altLang="en-US" sz="3600" dirty="0"/>
          </a:p>
        </p:txBody>
      </p:sp>
      <p:grpSp>
        <p:nvGrpSpPr>
          <p:cNvPr id="3" name="群組 2"/>
          <p:cNvGrpSpPr/>
          <p:nvPr/>
        </p:nvGrpSpPr>
        <p:grpSpPr>
          <a:xfrm>
            <a:off x="1932620" y="1052736"/>
            <a:ext cx="8424936" cy="5616624"/>
            <a:chOff x="827584" y="702712"/>
            <a:chExt cx="7272808" cy="6165304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27584" y="702712"/>
              <a:ext cx="7272808" cy="6165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矩形 4"/>
            <p:cNvSpPr/>
            <p:nvPr/>
          </p:nvSpPr>
          <p:spPr>
            <a:xfrm>
              <a:off x="7164288" y="980728"/>
              <a:ext cx="432048" cy="1440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7164288" y="1173384"/>
              <a:ext cx="432048" cy="1440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164288" y="1523696"/>
              <a:ext cx="523512" cy="1771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164288" y="4322280"/>
              <a:ext cx="432048" cy="1440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7164288" y="1700808"/>
              <a:ext cx="432048" cy="1440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834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Signal Handling (Cont.)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In single-threaded </a:t>
            </a:r>
            <a:r>
              <a:rPr lang="en-US" altLang="zh-TW" dirty="0" smtClean="0"/>
              <a:t>programs, signals </a:t>
            </a:r>
            <a:r>
              <a:rPr lang="en-US" altLang="zh-TW" dirty="0"/>
              <a:t>are delivered to a process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endParaRPr lang="en-US" altLang="zh-TW" b="1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b="1" dirty="0" smtClean="0"/>
              <a:t>Q: in a multi-threaded programs, signal</a:t>
            </a:r>
            <a:r>
              <a:rPr lang="zh-TW" altLang="en-US" b="1" dirty="0" smtClean="0"/>
              <a:t>要送給哪一個</a:t>
            </a:r>
            <a:r>
              <a:rPr lang="en-US" altLang="zh-TW" b="1" dirty="0" smtClean="0"/>
              <a:t>thread?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Signal Handling (Cont.)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3600" dirty="0" smtClean="0"/>
              <a:t>Sol.: In </a:t>
            </a:r>
            <a:r>
              <a:rPr lang="en-US" altLang="zh-TW" sz="3600" dirty="0"/>
              <a:t>a multi-threaded programs (skip!)</a:t>
            </a:r>
            <a:endParaRPr lang="en-US" altLang="zh-TW" sz="3600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Deliver the signal to the thread to which </a:t>
            </a:r>
            <a:r>
              <a:rPr lang="en-US" altLang="zh-TW" sz="3200" b="1" dirty="0">
                <a:solidFill>
                  <a:srgbClr val="FF3300"/>
                </a:solidFill>
              </a:rPr>
              <a:t>the signal applies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800" dirty="0"/>
              <a:t>Example: Illegal memory access, divided by zero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Deliver the signal to </a:t>
            </a:r>
            <a:r>
              <a:rPr lang="en-US" altLang="zh-TW" sz="3200" b="1" dirty="0">
                <a:solidFill>
                  <a:srgbClr val="FF3300"/>
                </a:solidFill>
              </a:rPr>
              <a:t>every thread</a:t>
            </a:r>
            <a:r>
              <a:rPr lang="en-US" altLang="zh-TW" sz="3200" dirty="0"/>
              <a:t> in the process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800" dirty="0"/>
              <a:t>Example: a Ctrl-C asynchronous signal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Deliver the signal to </a:t>
            </a:r>
            <a:r>
              <a:rPr lang="en-US" altLang="zh-TW" sz="3200" b="1" dirty="0">
                <a:solidFill>
                  <a:srgbClr val="FF3300"/>
                </a:solidFill>
              </a:rPr>
              <a:t>certain threads</a:t>
            </a:r>
            <a:r>
              <a:rPr lang="en-US" altLang="zh-TW" sz="3200" dirty="0"/>
              <a:t> in the process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800" dirty="0" err="1">
                <a:latin typeface="Garamond" pitchFamily="18" charset="0"/>
              </a:rPr>
              <a:t>pthread_kill</a:t>
            </a:r>
            <a:r>
              <a:rPr lang="en-US" altLang="zh-TW" sz="2800" dirty="0">
                <a:latin typeface="Garamond" pitchFamily="18" charset="0"/>
              </a:rPr>
              <a:t>( </a:t>
            </a:r>
            <a:r>
              <a:rPr lang="en-US" altLang="zh-TW" sz="2800" dirty="0" err="1">
                <a:solidFill>
                  <a:srgbClr val="3333FF"/>
                </a:solidFill>
                <a:latin typeface="Garamond" pitchFamily="18" charset="0"/>
              </a:rPr>
              <a:t>pthread_t</a:t>
            </a:r>
            <a:r>
              <a:rPr lang="en-US" altLang="zh-TW" sz="2800" dirty="0">
                <a:solidFill>
                  <a:srgbClr val="3333FF"/>
                </a:solidFill>
                <a:latin typeface="Garamond" pitchFamily="18" charset="0"/>
              </a:rPr>
              <a:t> </a:t>
            </a:r>
            <a:r>
              <a:rPr lang="en-US" altLang="zh-TW" sz="2800" dirty="0" err="1">
                <a:solidFill>
                  <a:srgbClr val="3333FF"/>
                </a:solidFill>
                <a:latin typeface="Garamond" pitchFamily="18" charset="0"/>
              </a:rPr>
              <a:t>tid</a:t>
            </a:r>
            <a:r>
              <a:rPr lang="en-US" altLang="zh-TW" sz="2800" dirty="0">
                <a:latin typeface="Garamond" pitchFamily="18" charset="0"/>
              </a:rPr>
              <a:t>, </a:t>
            </a:r>
            <a:r>
              <a:rPr lang="en-US" altLang="zh-TW" sz="2800" dirty="0" err="1">
                <a:latin typeface="Garamond" pitchFamily="18" charset="0"/>
              </a:rPr>
              <a:t>int</a:t>
            </a:r>
            <a:r>
              <a:rPr lang="en-US" altLang="zh-TW" sz="2800" dirty="0">
                <a:latin typeface="Garamond" pitchFamily="18" charset="0"/>
              </a:rPr>
              <a:t> signal)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/>
              <a:t>Assign a </a:t>
            </a:r>
            <a:r>
              <a:rPr lang="en-US" altLang="zh-TW" sz="3200" b="1" dirty="0">
                <a:solidFill>
                  <a:srgbClr val="FF3300"/>
                </a:solidFill>
              </a:rPr>
              <a:t>specific thread</a:t>
            </a:r>
            <a:r>
              <a:rPr lang="en-US" altLang="zh-TW" sz="3200" dirty="0"/>
              <a:t> to receive all signals for the process</a:t>
            </a:r>
          </a:p>
        </p:txBody>
      </p:sp>
    </p:spTree>
    <p:extLst>
      <p:ext uri="{BB962C8B-B14F-4D97-AF65-F5344CB8AC3E}">
        <p14:creationId xmlns:p14="http://schemas.microsoft.com/office/powerpoint/2010/main" val="105079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12776"/>
            <a:ext cx="10972800" cy="4853135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Threading </a:t>
            </a:r>
            <a:r>
              <a:rPr lang="en-US" altLang="zh-TW" b="1" dirty="0" smtClean="0">
                <a:solidFill>
                  <a:srgbClr val="FF0000"/>
                </a:solidFill>
              </a:rPr>
              <a:t>Issues</a:t>
            </a:r>
          </a:p>
          <a:p>
            <a:pPr lvl="1" eaLnBrk="1" hangingPunct="1"/>
            <a:r>
              <a:rPr lang="en-US" altLang="zh-TW" dirty="0"/>
              <a:t>Thread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Pools</a:t>
            </a:r>
          </a:p>
          <a:p>
            <a:pPr lvl="1" eaLnBrk="1" hangingPunct="1"/>
            <a:r>
              <a:rPr lang="en-US" altLang="zh-TW" dirty="0"/>
              <a:t>Semantics of fork() and exec() system calls</a:t>
            </a:r>
          </a:p>
          <a:p>
            <a:pPr lvl="1" eaLnBrk="1" hangingPunct="1"/>
            <a:r>
              <a:rPr lang="en-US" altLang="zh-TW" dirty="0"/>
              <a:t>Signal handling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Thread</a:t>
            </a:r>
            <a:r>
              <a:rPr lang="en-US" altLang="zh-TW" dirty="0"/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cancellation</a:t>
            </a:r>
          </a:p>
          <a:p>
            <a:pPr lvl="1" eaLnBrk="1" hangingPunct="1"/>
            <a:r>
              <a:rPr lang="en-US" altLang="zh-TW" dirty="0"/>
              <a:t>Thread-Local Storage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39485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Thread Cancellation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Thread </a:t>
            </a:r>
            <a:r>
              <a:rPr lang="en-US" altLang="zh-TW" b="1" dirty="0" smtClean="0">
                <a:solidFill>
                  <a:srgbClr val="FF3300"/>
                </a:solidFill>
              </a:rPr>
              <a:t>Cancellation (</a:t>
            </a:r>
            <a:r>
              <a:rPr lang="zh-TW" altLang="en-US" b="1" dirty="0" smtClean="0">
                <a:solidFill>
                  <a:srgbClr val="FF3300"/>
                </a:solidFill>
              </a:rPr>
              <a:t>取消</a:t>
            </a:r>
            <a:r>
              <a:rPr lang="en-US" altLang="zh-TW" b="1" dirty="0" smtClean="0">
                <a:solidFill>
                  <a:srgbClr val="FF3300"/>
                </a:solidFill>
              </a:rPr>
              <a:t>)</a:t>
            </a:r>
            <a:endParaRPr lang="en-US" altLang="zh-TW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dirty="0"/>
              <a:t>Terminate a thread </a:t>
            </a:r>
            <a:r>
              <a:rPr lang="en-US" altLang="zh-TW" b="1" dirty="0">
                <a:solidFill>
                  <a:srgbClr val="3333FF"/>
                </a:solidFill>
              </a:rPr>
              <a:t>before</a:t>
            </a:r>
            <a:r>
              <a:rPr lang="en-US" altLang="zh-TW" dirty="0"/>
              <a:t> it has completed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Example: </a:t>
            </a:r>
          </a:p>
          <a:p>
            <a:pPr lvl="1" eaLnBrk="1" hangingPunct="1"/>
            <a:r>
              <a:rPr lang="en-US" altLang="zh-TW" dirty="0"/>
              <a:t>Searching a database using multiple threads</a:t>
            </a:r>
          </a:p>
          <a:p>
            <a:pPr lvl="2" eaLnBrk="1" hangingPunct="1"/>
            <a:r>
              <a:rPr lang="en-US" altLang="zh-TW" dirty="0"/>
              <a:t> If one thread finds the result, cancel other threads</a:t>
            </a:r>
          </a:p>
          <a:p>
            <a:pPr lvl="1" eaLnBrk="1" hangingPunct="1"/>
            <a:r>
              <a:rPr lang="zh-TW" altLang="en-US" dirty="0"/>
              <a:t>猜密碼</a:t>
            </a:r>
            <a:endParaRPr lang="en-US" altLang="zh-TW" dirty="0"/>
          </a:p>
          <a:p>
            <a:pPr lvl="2" eaLnBrk="1" hangingPunct="1"/>
            <a:r>
              <a:rPr lang="en-US" altLang="zh-TW" dirty="0"/>
              <a:t>If one thread </a:t>
            </a:r>
            <a:r>
              <a:rPr lang="zh-TW" altLang="en-US" dirty="0"/>
              <a:t>猜到密碼，</a:t>
            </a:r>
            <a:r>
              <a:rPr lang="en-US" altLang="zh-TW" dirty="0"/>
              <a:t>cancel other threads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突然取消一個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的執行可能會發生什麼問題呢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473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Thread Cancellation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Target thread</a:t>
            </a:r>
            <a:r>
              <a:rPr lang="en-US" altLang="zh-TW" dirty="0"/>
              <a:t>: the thread to be canceled</a:t>
            </a:r>
          </a:p>
          <a:p>
            <a:r>
              <a:rPr lang="en-US" altLang="zh-TW" dirty="0" smtClean="0"/>
              <a:t>However, terminates </a:t>
            </a:r>
            <a:r>
              <a:rPr lang="en-US" altLang="zh-TW" dirty="0"/>
              <a:t>the target thread </a:t>
            </a:r>
            <a:r>
              <a:rPr lang="en-US" altLang="zh-TW" b="1" dirty="0" smtClean="0">
                <a:solidFill>
                  <a:srgbClr val="0000FF"/>
                </a:solidFill>
              </a:rPr>
              <a:t>immediately</a:t>
            </a:r>
            <a:r>
              <a:rPr lang="en-US" altLang="zh-TW" dirty="0" smtClean="0"/>
              <a:t> may </a:t>
            </a:r>
            <a:r>
              <a:rPr lang="en-US" altLang="zh-TW" dirty="0"/>
              <a:t>have problems in </a:t>
            </a:r>
            <a:r>
              <a:rPr lang="en-US" altLang="zh-TW" b="1" dirty="0">
                <a:solidFill>
                  <a:srgbClr val="FF0000"/>
                </a:solidFill>
              </a:rPr>
              <a:t>resource </a:t>
            </a:r>
            <a:r>
              <a:rPr lang="en-US" altLang="zh-TW" b="1" dirty="0" smtClean="0">
                <a:solidFill>
                  <a:srgbClr val="FF0000"/>
                </a:solidFill>
              </a:rPr>
              <a:t>reclaim (</a:t>
            </a:r>
            <a:r>
              <a:rPr lang="zh-TW" altLang="en-US" b="1" dirty="0" smtClean="0">
                <a:solidFill>
                  <a:srgbClr val="FF0000"/>
                </a:solidFill>
              </a:rPr>
              <a:t>資源回收利用</a:t>
            </a:r>
            <a:r>
              <a:rPr lang="en-US" altLang="zh-TW" b="1" dirty="0" smtClean="0">
                <a:solidFill>
                  <a:srgbClr val="FF0000"/>
                </a:solidFill>
              </a:rPr>
              <a:t>)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zh-TW" altLang="en-US" dirty="0" smtClean="0"/>
              <a:t>例如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the </a:t>
            </a:r>
            <a:r>
              <a:rPr lang="en-US" altLang="zh-TW" dirty="0"/>
              <a:t>target thread is in the midst of updating a shared </a:t>
            </a:r>
            <a:r>
              <a:rPr lang="en-US" altLang="zh-TW" dirty="0" smtClean="0"/>
              <a:t>data (e.g., inserting an element into a doubly linking list)</a:t>
            </a:r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例如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smtClean="0"/>
              <a:t>the </a:t>
            </a:r>
            <a:r>
              <a:rPr lang="en-US" altLang="zh-TW" dirty="0"/>
              <a:t>target thread is holding </a:t>
            </a:r>
            <a:r>
              <a:rPr lang="en-US" altLang="zh-TW" dirty="0" smtClean="0"/>
              <a:t>resources (e.g., mutex)(shown later)</a:t>
            </a:r>
            <a:endParaRPr lang="en-US" altLang="zh-TW" dirty="0"/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3983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Thread Cancellation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Two </a:t>
            </a:r>
            <a:r>
              <a:rPr lang="en-US" altLang="zh-TW" dirty="0"/>
              <a:t>approaches for thread cancellation:</a:t>
            </a:r>
          </a:p>
          <a:p>
            <a:pPr lvl="1" eaLnBrk="1" hangingPunct="1"/>
            <a:r>
              <a:rPr lang="en-US" altLang="zh-TW" b="1" dirty="0"/>
              <a:t>Asynchronous cancellation </a:t>
            </a:r>
          </a:p>
          <a:p>
            <a:pPr lvl="2" eaLnBrk="1" hangingPunct="1"/>
            <a:r>
              <a:rPr lang="en-US" altLang="zh-TW" dirty="0"/>
              <a:t>Terminates the target thread </a:t>
            </a:r>
            <a:r>
              <a:rPr lang="en-US" altLang="zh-TW" b="1" dirty="0"/>
              <a:t>immediately</a:t>
            </a:r>
          </a:p>
          <a:p>
            <a:pPr lvl="2" eaLnBrk="1" hangingPunct="1"/>
            <a:r>
              <a:rPr lang="en-US" altLang="zh-TW" dirty="0"/>
              <a:t>May have problems </a:t>
            </a:r>
            <a:r>
              <a:rPr lang="en-US" altLang="zh-TW" dirty="0" smtClean="0"/>
              <a:t>addressed in previous slide</a:t>
            </a:r>
            <a:endParaRPr lang="en-US" altLang="zh-TW" sz="2800" b="1" dirty="0">
              <a:solidFill>
                <a:srgbClr val="FF3300"/>
              </a:solidFill>
            </a:endParaRPr>
          </a:p>
          <a:p>
            <a:pPr lvl="1" eaLnBrk="1" hangingPunct="1"/>
            <a:endParaRPr lang="en-US" altLang="zh-TW" b="1" dirty="0" smtClean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TW" b="1" dirty="0" smtClean="0">
                <a:solidFill>
                  <a:srgbClr val="FF3300"/>
                </a:solidFill>
              </a:rPr>
              <a:t>Deferred cancellation (default in POSIX)</a:t>
            </a:r>
            <a:endParaRPr lang="en-US" altLang="zh-TW" b="1" dirty="0"/>
          </a:p>
          <a:p>
            <a:pPr lvl="2" eaLnBrk="1" hangingPunct="1"/>
            <a:r>
              <a:rPr lang="en-US" altLang="zh-TW" dirty="0" smtClean="0"/>
              <a:t>Target </a:t>
            </a:r>
            <a:r>
              <a:rPr lang="en-US" altLang="zh-TW" dirty="0"/>
              <a:t>thread </a:t>
            </a:r>
            <a:r>
              <a:rPr lang="en-US" altLang="zh-TW" b="1" dirty="0"/>
              <a:t>periodically</a:t>
            </a:r>
            <a:r>
              <a:rPr lang="en-US" altLang="zh-TW" dirty="0"/>
              <a:t> check if it should terminate</a:t>
            </a:r>
          </a:p>
          <a:p>
            <a:pPr lvl="2" eaLnBrk="1" hangingPunct="1"/>
            <a:r>
              <a:rPr lang="en-US" altLang="zh-TW" dirty="0"/>
              <a:t>Allow the target thread to terminate itself in </a:t>
            </a:r>
            <a:r>
              <a:rPr lang="en-US" altLang="en-US" dirty="0"/>
              <a:t>a </a:t>
            </a:r>
            <a:r>
              <a:rPr lang="en-US" altLang="en-US" b="1" dirty="0"/>
              <a:t>safe point</a:t>
            </a:r>
            <a:r>
              <a:rPr lang="en-US" altLang="zh-TW" dirty="0"/>
              <a:t>, called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3333FF"/>
                </a:solidFill>
              </a:rPr>
              <a:t>cancellation point</a:t>
            </a:r>
            <a:endParaRPr lang="en-US" altLang="zh-TW" dirty="0">
              <a:solidFill>
                <a:srgbClr val="3333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Example: </a:t>
            </a:r>
            <a:r>
              <a:rPr lang="en-US" altLang="zh-TW" sz="4000" dirty="0" err="1"/>
              <a:t>Pthread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Calibri" pitchFamily="34" charset="0"/>
              </a:rPr>
              <a:t>Cancel a target thread: call </a:t>
            </a:r>
            <a:r>
              <a:rPr lang="en-US" altLang="zh-TW" b="1" dirty="0" err="1">
                <a:latin typeface="Garamond" panose="02020404030301010803" pitchFamily="18" charset="0"/>
              </a:rPr>
              <a:t>pthread_cancel</a:t>
            </a:r>
            <a:r>
              <a:rPr lang="en-US" altLang="zh-TW" b="1" dirty="0">
                <a:latin typeface="Garamond" panose="02020404030301010803" pitchFamily="18" charset="0"/>
              </a:rPr>
              <a:t>()</a:t>
            </a:r>
          </a:p>
          <a:p>
            <a:r>
              <a:rPr lang="en-US" altLang="zh-TW" dirty="0">
                <a:latin typeface="Calibri" pitchFamily="34" charset="0"/>
              </a:rPr>
              <a:t>Example:</a:t>
            </a:r>
            <a:endParaRPr lang="zh-TW" altLang="en-US" dirty="0">
              <a:latin typeface="Calibri" pitchFamily="34" charset="0"/>
            </a:endParaRP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9" y="2348880"/>
            <a:ext cx="7560839" cy="397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線接點 6"/>
          <p:cNvCxnSpPr/>
          <p:nvPr/>
        </p:nvCxnSpPr>
        <p:spPr>
          <a:xfrm>
            <a:off x="3167555" y="5229200"/>
            <a:ext cx="2880320" cy="0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64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 err="1"/>
              <a:t>Pthread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Invoking </a:t>
            </a:r>
            <a:r>
              <a:rPr lang="en-US" altLang="zh-TW" b="1" dirty="0" err="1">
                <a:latin typeface="Garamond" panose="02020404030301010803" pitchFamily="18" charset="0"/>
              </a:rPr>
              <a:t>pthread_cancel</a:t>
            </a:r>
            <a:r>
              <a:rPr lang="en-US" altLang="zh-TW" b="1" dirty="0">
                <a:latin typeface="Garamond" panose="02020404030301010803" pitchFamily="18" charset="0"/>
              </a:rPr>
              <a:t>() </a:t>
            </a:r>
            <a:r>
              <a:rPr lang="en-US" altLang="zh-TW" dirty="0"/>
              <a:t>indicates only a </a:t>
            </a:r>
            <a:r>
              <a:rPr lang="en-US" altLang="zh-TW" b="1" dirty="0"/>
              <a:t>request </a:t>
            </a:r>
            <a:r>
              <a:rPr lang="en-US" altLang="zh-TW" dirty="0"/>
              <a:t>to cancel the </a:t>
            </a:r>
            <a:r>
              <a:rPr lang="en-US" altLang="zh-TW" b="1" dirty="0"/>
              <a:t>target thread </a:t>
            </a:r>
          </a:p>
          <a:p>
            <a:pPr lvl="1"/>
            <a:r>
              <a:rPr lang="en-US" altLang="zh-TW" dirty="0"/>
              <a:t>But actual cancellation depends on the setting of the target thread </a:t>
            </a:r>
          </a:p>
          <a:p>
            <a:pPr>
              <a:lnSpc>
                <a:spcPct val="110000"/>
              </a:lnSpc>
            </a:pPr>
            <a:r>
              <a:rPr lang="en-US" altLang="zh-TW" dirty="0"/>
              <a:t>Default type is </a:t>
            </a:r>
            <a:r>
              <a:rPr lang="en-US" altLang="zh-TW" b="1" dirty="0"/>
              <a:t>deferred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Upon receiving a cancellation request, cancellation </a:t>
            </a:r>
            <a:r>
              <a:rPr lang="en-US" altLang="zh-TW" b="1" dirty="0"/>
              <a:t>only</a:t>
            </a:r>
            <a:r>
              <a:rPr lang="en-US" altLang="zh-TW" dirty="0"/>
              <a:t> occurs when thread reaches </a:t>
            </a:r>
            <a:r>
              <a:rPr lang="en-US" altLang="zh-TW" b="1" dirty="0">
                <a:solidFill>
                  <a:srgbClr val="3366FF"/>
                </a:solidFill>
              </a:rPr>
              <a:t>cancellation points</a:t>
            </a:r>
          </a:p>
          <a:p>
            <a:pPr lvl="2">
              <a:lnSpc>
                <a:spcPct val="110000"/>
              </a:lnSpc>
            </a:pPr>
            <a:r>
              <a:rPr lang="en-US" altLang="zh-TW" dirty="0" err="1"/>
              <a:t>e.g</a:t>
            </a:r>
            <a:r>
              <a:rPr lang="en-US" altLang="zh-TW" dirty="0"/>
              <a:t>, calling 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pthread_testcancel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/>
            <a:r>
              <a:rPr lang="en-US" altLang="zh-TW" dirty="0"/>
              <a:t>See the following slide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121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r>
              <a:rPr lang="zh-TW" altLang="en-US" dirty="0"/>
              <a:t>：</a:t>
            </a:r>
            <a:r>
              <a:rPr lang="en-US" altLang="zh-TW" dirty="0" err="1">
                <a:latin typeface="Garamond" panose="02020404030301010803" pitchFamily="18" charset="0"/>
              </a:rPr>
              <a:t>Pthread_testcancel</a:t>
            </a:r>
            <a:r>
              <a:rPr lang="en-US" altLang="zh-TW" dirty="0">
                <a:latin typeface="Garamond" panose="02020404030301010803" pitchFamily="18" charset="0"/>
              </a:rPr>
              <a:t>()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484784"/>
            <a:ext cx="7486650" cy="403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5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 dirty="0" smtClean="0"/>
              <a:t>Thread Cancellation</a:t>
            </a:r>
            <a:r>
              <a:rPr lang="zh-TW" altLang="en-US" dirty="0" smtClean="0"/>
              <a:t>的實驗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881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12776"/>
            <a:ext cx="10972800" cy="4853135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Threading </a:t>
            </a:r>
            <a:r>
              <a:rPr lang="en-US" altLang="zh-TW" b="1" dirty="0" smtClean="0">
                <a:solidFill>
                  <a:srgbClr val="FF0000"/>
                </a:solidFill>
              </a:rPr>
              <a:t>Issues</a:t>
            </a:r>
          </a:p>
          <a:p>
            <a:pPr lvl="1" eaLnBrk="1" hangingPunct="1"/>
            <a:r>
              <a:rPr lang="en-US" altLang="zh-TW" dirty="0"/>
              <a:t>Thread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Pools</a:t>
            </a:r>
          </a:p>
          <a:p>
            <a:pPr lvl="1" eaLnBrk="1" hangingPunct="1"/>
            <a:r>
              <a:rPr lang="en-US" altLang="zh-TW" dirty="0"/>
              <a:t>Semantics of fork() and exec() system calls</a:t>
            </a:r>
          </a:p>
          <a:p>
            <a:pPr lvl="1" eaLnBrk="1" hangingPunct="1"/>
            <a:r>
              <a:rPr lang="en-US" altLang="zh-TW" dirty="0"/>
              <a:t>Signal handling</a:t>
            </a:r>
          </a:p>
          <a:p>
            <a:pPr lvl="1" eaLnBrk="1" hangingPunct="1"/>
            <a:r>
              <a:rPr lang="en-US" altLang="zh-TW" dirty="0"/>
              <a:t>Thread cancellation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Thread-Local</a:t>
            </a:r>
            <a:r>
              <a:rPr lang="en-US" altLang="zh-TW" dirty="0"/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Storage</a:t>
            </a:r>
          </a:p>
          <a:p>
            <a:pPr eaLnBrk="1" hangingPunct="1"/>
            <a:r>
              <a:rPr lang="en-US" altLang="zh-TW" dirty="0" smtClean="0"/>
              <a:t>Operating-System </a:t>
            </a:r>
            <a:r>
              <a:rPr lang="en-US" altLang="zh-TW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9691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Thread-Local Storage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dirty="0"/>
              <a:t>Although threads belonging to the same process </a:t>
            </a:r>
            <a:r>
              <a:rPr lang="en-US" altLang="zh-TW" b="1" dirty="0"/>
              <a:t>share</a:t>
            </a:r>
            <a:r>
              <a:rPr lang="en-US" altLang="zh-TW" dirty="0"/>
              <a:t> the data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Sometimes, each thread might need its own copy of certain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b="1" dirty="0"/>
              <a:t>Solution:</a:t>
            </a:r>
            <a:r>
              <a:rPr lang="en-US" altLang="zh-TW" b="1" dirty="0">
                <a:solidFill>
                  <a:srgbClr val="FF3300"/>
                </a:solidFill>
              </a:rPr>
              <a:t> Thread-local Storage (TLS)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Allows each thread to have its own copy of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dirty="0"/>
              <a:t>Different from local variables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Local variables visible only during the closing function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b="1" dirty="0"/>
              <a:t>TLS visible across function invocations </a:t>
            </a:r>
          </a:p>
          <a:p>
            <a:pPr lvl="1" eaLnBrk="1" hangingPunct="1">
              <a:lnSpc>
                <a:spcPct val="120000"/>
              </a:lnSpc>
            </a:pPr>
            <a:endParaRPr lang="en-US" altLang="zh-TW" dirty="0"/>
          </a:p>
          <a:p>
            <a:pPr eaLnBrk="1" hangingPunct="1">
              <a:lnSpc>
                <a:spcPct val="120000"/>
              </a:lnSpc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>
                <a:latin typeface="Calibri" panose="020F0502020204030204" pitchFamily="34" charset="0"/>
              </a:rPr>
              <a:t>Single and Multithreaded Processes</a:t>
            </a:r>
          </a:p>
        </p:txBody>
      </p:sp>
      <p:pic>
        <p:nvPicPr>
          <p:cNvPr id="50180" name="Picture 3"/>
          <p:cNvPicPr>
            <a:picLocks noChangeAspect="1" noChangeArrowheads="1"/>
          </p:cNvPicPr>
          <p:nvPr/>
        </p:nvPicPr>
        <p:blipFill>
          <a:blip r:embed="rId2" cstate="print"/>
          <a:srcRect l="392" t="11746" r="392" b="11746"/>
          <a:stretch>
            <a:fillRect/>
          </a:stretch>
        </p:blipFill>
        <p:spPr bwMode="auto">
          <a:xfrm>
            <a:off x="2711450" y="1628776"/>
            <a:ext cx="7132638" cy="47021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6183314" y="5405439"/>
            <a:ext cx="992187" cy="5048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400" b="1" dirty="0">
                <a:latin typeface="Calibri" panose="020F0502020204030204" pitchFamily="34" charset="0"/>
              </a:rPr>
              <a:t>thread-local </a:t>
            </a:r>
          </a:p>
          <a:p>
            <a:pPr algn="ctr"/>
            <a:r>
              <a:rPr lang="en-US" altLang="zh-TW" sz="1400" b="1" dirty="0">
                <a:latin typeface="Calibri" panose="020F0502020204030204" pitchFamily="34" charset="0"/>
              </a:rPr>
              <a:t>storage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 dirty="0"/>
              <a:t>Thread-Local Storage</a:t>
            </a:r>
            <a:r>
              <a:rPr lang="zh-TW" altLang="en-US" dirty="0" smtClean="0"/>
              <a:t>的實驗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895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Overview</a:t>
            </a:r>
          </a:p>
          <a:p>
            <a:pPr eaLnBrk="1" hangingPunct="1"/>
            <a:r>
              <a:rPr lang="en-US" altLang="zh-TW" dirty="0" err="1"/>
              <a:t>Multicore</a:t>
            </a:r>
            <a:r>
              <a:rPr lang="en-US" altLang="zh-TW" dirty="0"/>
              <a:t> Programming</a:t>
            </a:r>
          </a:p>
          <a:p>
            <a:pPr eaLnBrk="1" hangingPunct="1"/>
            <a:r>
              <a:rPr lang="en-US" altLang="zh-TW" dirty="0"/>
              <a:t>Multithreading Models</a:t>
            </a:r>
          </a:p>
          <a:p>
            <a:pPr eaLnBrk="1" hangingPunct="1"/>
            <a:r>
              <a:rPr lang="en-US" altLang="zh-TW" dirty="0"/>
              <a:t>Thread Library</a:t>
            </a:r>
          </a:p>
          <a:p>
            <a:pPr eaLnBrk="1" hangingPunct="1"/>
            <a:r>
              <a:rPr lang="en-US" altLang="zh-TW" dirty="0"/>
              <a:t>Implicit Threading</a:t>
            </a:r>
          </a:p>
          <a:p>
            <a:pPr eaLnBrk="1" hangingPunct="1"/>
            <a:r>
              <a:rPr lang="en-US" altLang="zh-TW" dirty="0"/>
              <a:t>Threading Issues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Operating-System Examples</a:t>
            </a:r>
          </a:p>
          <a:p>
            <a:pPr eaLnBrk="1" hangingPunct="1"/>
            <a:endParaRPr lang="en-US" altLang="zh-TW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Linux Threads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Linux refers to them as </a:t>
            </a:r>
            <a:r>
              <a:rPr lang="en-US" altLang="zh-TW" sz="2400" i="1" dirty="0">
                <a:solidFill>
                  <a:srgbClr val="FF3300"/>
                </a:solidFill>
              </a:rPr>
              <a:t>tasks</a:t>
            </a:r>
            <a:r>
              <a:rPr lang="en-US" altLang="zh-TW" sz="2400" dirty="0"/>
              <a:t> rather than </a:t>
            </a:r>
            <a:r>
              <a:rPr lang="en-US" altLang="zh-TW" sz="2400" i="1" dirty="0"/>
              <a:t>threads</a:t>
            </a: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Thread creation is done through </a:t>
            </a:r>
            <a:r>
              <a:rPr lang="en-US" altLang="zh-TW" sz="2400" b="1" dirty="0">
                <a:solidFill>
                  <a:srgbClr val="0000FF"/>
                </a:solidFill>
                <a:latin typeface="Garamond" pitchFamily="18" charset="0"/>
              </a:rPr>
              <a:t>clone()</a:t>
            </a:r>
            <a:r>
              <a:rPr lang="en-US" altLang="zh-TW" sz="2400" dirty="0">
                <a:solidFill>
                  <a:srgbClr val="0000FF"/>
                </a:solidFill>
              </a:rPr>
              <a:t> </a:t>
            </a:r>
            <a:r>
              <a:rPr lang="en-US" altLang="zh-TW" sz="2400" dirty="0"/>
              <a:t>system call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b="1" dirty="0">
                <a:latin typeface="Garamond" pitchFamily="18" charset="0"/>
              </a:rPr>
              <a:t>clone()</a:t>
            </a:r>
            <a:r>
              <a:rPr lang="en-US" altLang="zh-TW" sz="2400" dirty="0"/>
              <a:t> allows how much sharing between parent and child tasks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CLONE_FS: share the same file-system information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CLONE_VM: share the same memory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CLONE_SIGHAND: share the same signal handler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CLONE_FILES: share the same set of open files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If all above flags are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latin typeface="Garamond" pitchFamily="18" charset="0"/>
              </a:rPr>
              <a:t>clone()</a:t>
            </a:r>
            <a:r>
              <a:rPr lang="en-US" altLang="zh-TW" sz="2000" dirty="0"/>
              <a:t> is similar to create a thread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If none of flags are given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latin typeface="Garamond" pitchFamily="18" charset="0"/>
              </a:rPr>
              <a:t>clone()</a:t>
            </a:r>
            <a:r>
              <a:rPr lang="en-US" altLang="zh-TW" sz="2000" dirty="0"/>
              <a:t> is similar to the </a:t>
            </a:r>
            <a:r>
              <a:rPr lang="en-US" altLang="zh-TW" sz="2000" dirty="0">
                <a:latin typeface="Garamond" pitchFamily="18" charset="0"/>
              </a:rPr>
              <a:t>fork()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A Sets of Flags to clone()</a:t>
            </a:r>
          </a:p>
        </p:txBody>
      </p:sp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2" cstate="print"/>
          <a:srcRect l="421" t="25842" r="632" b="26123"/>
          <a:stretch>
            <a:fillRect/>
          </a:stretch>
        </p:blipFill>
        <p:spPr bwMode="auto">
          <a:xfrm>
            <a:off x="1847528" y="1772816"/>
            <a:ext cx="7920880" cy="403244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程式呼叫</a:t>
            </a:r>
            <a:r>
              <a:rPr lang="en-US" altLang="zh-TW" dirty="0" err="1" smtClean="0"/>
              <a:t>pthread_create</a:t>
            </a:r>
            <a:r>
              <a:rPr lang="en-US" altLang="zh-TW" dirty="0" smtClean="0"/>
              <a:t>(), library</a:t>
            </a:r>
            <a:r>
              <a:rPr lang="zh-TW" altLang="en-US" dirty="0" smtClean="0"/>
              <a:t>會再呼叫</a:t>
            </a:r>
            <a:r>
              <a:rPr lang="en-US" altLang="zh-TW" dirty="0" smtClean="0"/>
              <a:t>clone() system call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OS</a:t>
            </a:r>
            <a:r>
              <a:rPr lang="zh-TW" altLang="en-US" dirty="0" smtClean="0"/>
              <a:t>就會知道有一個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的存在</a:t>
            </a:r>
            <a:r>
              <a:rPr lang="en-US" altLang="zh-TW" dirty="0" smtClean="0"/>
              <a:t>, </a:t>
            </a:r>
            <a:r>
              <a:rPr lang="zh-TW" altLang="en-US" dirty="0" smtClean="0"/>
              <a:t>為此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建立資源</a:t>
            </a:r>
            <a:r>
              <a:rPr lang="en-US" altLang="zh-TW" dirty="0" smtClean="0"/>
              <a:t>(TCB, </a:t>
            </a:r>
            <a:r>
              <a:rPr lang="zh-TW" altLang="en-US" smtClean="0"/>
              <a:t>記憶體</a:t>
            </a:r>
            <a:r>
              <a:rPr lang="en-US" altLang="zh-TW" smtClean="0"/>
              <a:t>…)</a:t>
            </a:r>
            <a:r>
              <a:rPr lang="zh-TW" altLang="en-US" dirty="0" smtClean="0"/>
              <a:t>並分配</a:t>
            </a:r>
            <a:r>
              <a:rPr lang="en-US" altLang="zh-TW" dirty="0" smtClean="0"/>
              <a:t>CPU</a:t>
            </a:r>
            <a:r>
              <a:rPr lang="zh-TW" altLang="en-US" dirty="0" smtClean="0"/>
              <a:t>執行這個</a:t>
            </a:r>
            <a:r>
              <a:rPr lang="en-US" altLang="zh-TW" dirty="0" smtClean="0"/>
              <a:t>thread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439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12009</TotalTime>
  <Words>6060</Words>
  <Application>Microsoft Office PowerPoint</Application>
  <PresentationFormat>寬螢幕</PresentationFormat>
  <Paragraphs>1406</Paragraphs>
  <Slides>179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179</vt:i4>
      </vt:variant>
    </vt:vector>
  </HeadingPairs>
  <TitlesOfParts>
    <vt:vector size="194" baseType="lpstr">
      <vt:lpstr>Monotype Sorts</vt:lpstr>
      <vt:lpstr>微軟正黑體</vt:lpstr>
      <vt:lpstr>新細明體</vt:lpstr>
      <vt:lpstr>標楷體</vt:lpstr>
      <vt:lpstr>Agency FB</vt:lpstr>
      <vt:lpstr>Arial</vt:lpstr>
      <vt:lpstr>Bodoni MT</vt:lpstr>
      <vt:lpstr>Calibri</vt:lpstr>
      <vt:lpstr>Courier New</vt:lpstr>
      <vt:lpstr>Garamond</vt:lpstr>
      <vt:lpstr>Helvetica</vt:lpstr>
      <vt:lpstr>Times New Roman</vt:lpstr>
      <vt:lpstr>Wingdings</vt:lpstr>
      <vt:lpstr>osnetppt</vt:lpstr>
      <vt:lpstr>1_osnetppt</vt:lpstr>
      <vt:lpstr>Chapter 4    Thread &amp; Concurrency</vt:lpstr>
      <vt:lpstr>Outline</vt:lpstr>
      <vt:lpstr>請寫一個計算矩陣相乘的程式</vt:lpstr>
      <vt:lpstr>Solution 1:  Single Process Solution</vt:lpstr>
      <vt:lpstr>Q: Your Solutions?</vt:lpstr>
      <vt:lpstr>Solution 2: Multiple Processes Solution</vt:lpstr>
      <vt:lpstr>Q: Your Solutions?</vt:lpstr>
      <vt:lpstr>Solution 3: Multiple Threads Solution</vt:lpstr>
      <vt:lpstr>Motivations</vt:lpstr>
      <vt:lpstr>問題:什麼是Threads?</vt:lpstr>
      <vt:lpstr>Thread Overview</vt:lpstr>
      <vt:lpstr>OS會分配CPU執行thread</vt:lpstr>
      <vt:lpstr>If Three CPU Cores are Available</vt:lpstr>
      <vt:lpstr>我們比較一下processes</vt:lpstr>
      <vt:lpstr>PowerPoint 簡報</vt:lpstr>
      <vt:lpstr>複習: 在第三章提到如何讓Process順利執行呢?</vt:lpstr>
      <vt:lpstr>同理, thread也需要資源, 例如: CPU和記憶體</vt:lpstr>
      <vt:lpstr>同樣的, 在thread執行的過程中, 也會有狀態的變化</vt:lpstr>
      <vt:lpstr>複習: Diagram of Process State</vt:lpstr>
      <vt:lpstr>同理, 我們也必須記錄thread執行時的相關資訊! </vt:lpstr>
      <vt:lpstr>複習: Process Control Block (PCB)</vt:lpstr>
      <vt:lpstr>Thread Control Block (or Thread Descriptor)</vt:lpstr>
      <vt:lpstr>Thread Control Block (TCB)</vt:lpstr>
      <vt:lpstr>Question: 如前述, threads之間會共享資源, thread和誰共享資源? </vt:lpstr>
      <vt:lpstr>Question: 那些資源可以共享?那些不行?</vt:lpstr>
      <vt:lpstr>Thread Overview</vt:lpstr>
      <vt:lpstr>複習: Thread Overview</vt:lpstr>
      <vt:lpstr>Question: 為甚麼thread ID不能共享?</vt:lpstr>
      <vt:lpstr>複習: Thread Overview</vt:lpstr>
      <vt:lpstr>問題：為什麼同一個Process下的Threads不共享Program Counters和Register Set?</vt:lpstr>
      <vt:lpstr>Q: 我們先問一個問題, 何謂共享暫存器?</vt:lpstr>
      <vt:lpstr>可是直接共享會有什麼問題呢?</vt:lpstr>
      <vt:lpstr>如果直接共享暫存器</vt:lpstr>
      <vt:lpstr>問題：怎麼辦呢?</vt:lpstr>
      <vt:lpstr>Answer: 目標，我們必須讓threads(邏輯上)不共享暫存器,   因此, context Switch時必須 (1)將目前正在執行Thread的CPU暫存器的值儲存到TCB (2)復原接下來要執行Thread的CPU暫存器的值</vt:lpstr>
      <vt:lpstr>Context Switches between Threads  - Similar to Context Switch between Processes</vt:lpstr>
      <vt:lpstr>所以, thread就好像有自己專屬的暫存器</vt:lpstr>
      <vt:lpstr>複習: Thread Overview</vt:lpstr>
      <vt:lpstr>問題：為什麼同一個Process下的Threads不共享stack Section ?(see the following slide)</vt:lpstr>
      <vt:lpstr>Why Can’t Share the Same Stack?</vt:lpstr>
      <vt:lpstr>從上圖, 你知道為何同一個process內的threads不共享stack嗎?</vt:lpstr>
      <vt:lpstr>所以, 以下兩張圖顯示process和thread的差異</vt:lpstr>
      <vt:lpstr>Single and Multithreaded Processes</vt:lpstr>
      <vt:lpstr>Create a Process v.s Create a Thread</vt:lpstr>
      <vt:lpstr>但是, 共享data section有時候會出問題</vt:lpstr>
      <vt:lpstr>結論, thread有那些優點呢?</vt:lpstr>
      <vt:lpstr>Benefits</vt:lpstr>
      <vt:lpstr>所以, 現在許多應用程式都是multi-threading~</vt:lpstr>
      <vt:lpstr>Examples</vt:lpstr>
      <vt:lpstr>Example 1: File Server: Multi-Process I/O Model</vt:lpstr>
      <vt:lpstr>Example 1: File Server: Multi-Thread I/O Model</vt:lpstr>
      <vt:lpstr>Solution 2: Multiple Threads Solution</vt:lpstr>
      <vt:lpstr>Outline</vt:lpstr>
      <vt:lpstr>今日的電腦都是多核心, 所以寫程式時如何充分利用所有的核心呢?</vt:lpstr>
      <vt:lpstr>Outline</vt:lpstr>
      <vt:lpstr>Concurrency v.s. Parallelism</vt:lpstr>
      <vt:lpstr>Concurrency vs. Parallelism Four Threads: T1, T2, T3, T4</vt:lpstr>
      <vt:lpstr>Outline</vt:lpstr>
      <vt:lpstr>今日的電腦都是多核心，所以我們寫程式可以使用multi-threading來實現Parallel Execution，以充分利用每一個Core！</vt:lpstr>
      <vt:lpstr>Types of Parallelism</vt:lpstr>
      <vt:lpstr>Data Parallelism and Task Parallelism</vt:lpstr>
      <vt:lpstr>Q: 上述task parallelism的例子會有load imbalance的問題. Why?</vt:lpstr>
      <vt:lpstr>Types of Parallelism (Cont.)</vt:lpstr>
      <vt:lpstr>Outline</vt:lpstr>
      <vt:lpstr>Multi-Core Programming Challenges</vt:lpstr>
      <vt:lpstr>Outline</vt:lpstr>
      <vt:lpstr>Q: How to Support Threads? </vt:lpstr>
      <vt:lpstr>Supporting Threads</vt:lpstr>
      <vt:lpstr>Thread Types</vt:lpstr>
      <vt:lpstr>Multithreading Models</vt:lpstr>
      <vt:lpstr>Multithreading Models</vt:lpstr>
      <vt:lpstr>Many-to-One</vt:lpstr>
      <vt:lpstr>Many-to-One Model</vt:lpstr>
      <vt:lpstr>Many-to-One Model (Assume only One Processor)</vt:lpstr>
      <vt:lpstr>Another Example: 汽車出租</vt:lpstr>
      <vt:lpstr>所以, thread的管理都是由Library提供</vt:lpstr>
      <vt:lpstr>Many-to-One Model</vt:lpstr>
      <vt:lpstr>Many-to-One Model</vt:lpstr>
      <vt:lpstr>Many-to-One Model (Assume Three Processors)</vt:lpstr>
      <vt:lpstr>Multithreading Models</vt:lpstr>
      <vt:lpstr>One-to-One</vt:lpstr>
      <vt:lpstr>One-to-one Model</vt:lpstr>
      <vt:lpstr>One-to-One Model (If Only One CPU is Available)</vt:lpstr>
      <vt:lpstr>One-to-One Model (If Three CPU Cores are Available)</vt:lpstr>
      <vt:lpstr>當程式呼叫pthread_create(), 最終會呼叫到clone() system call, 所以OS會知道有一個thread的存在</vt:lpstr>
      <vt:lpstr>Q: 在上圖的例子中, 如果其中一個thread做blocking的system call(例如: read()), 會發生什麼事呢?</vt:lpstr>
      <vt:lpstr>Q:  在之前many-to-one model, 我們提到其優點為efficiency. Why?</vt:lpstr>
      <vt:lpstr>複習：System Call Overhead &gt; Library Call Overhead</vt:lpstr>
      <vt:lpstr>補充：System Call Overhead</vt:lpstr>
      <vt:lpstr>所以, thread的管理都是由OS提供</vt:lpstr>
      <vt:lpstr>One-to-One</vt:lpstr>
      <vt:lpstr>Multithreading Models</vt:lpstr>
      <vt:lpstr>Many-to-Many Model</vt:lpstr>
      <vt:lpstr>Many-to-Many Model</vt:lpstr>
      <vt:lpstr>你可以自己畫類似前面Pages的動畫嗎？</vt:lpstr>
      <vt:lpstr>Many-to-Many Model (Cont.)</vt:lpstr>
      <vt:lpstr>Two-level Model</vt:lpstr>
      <vt:lpstr>結論: M-to-1(user thread)和1-to-1(kernel thread)的優缺點?</vt:lpstr>
      <vt:lpstr>Summary: User Thread vs. Kernel Thread</vt:lpstr>
      <vt:lpstr>Summary: User Thread vs. Kernel Thread (Cont.)</vt:lpstr>
      <vt:lpstr>Outline</vt:lpstr>
      <vt:lpstr>Thread Library</vt:lpstr>
      <vt:lpstr>Strategies for Creating Threads</vt:lpstr>
      <vt:lpstr>Asynchronous threading </vt:lpstr>
      <vt:lpstr>Asynchronous Threading Example: Multi-Threaded File Server </vt:lpstr>
      <vt:lpstr>Synchronous Threading</vt:lpstr>
      <vt:lpstr>Synchronous Threading Example: Array Summation</vt:lpstr>
      <vt:lpstr>Thread Library (Cont.)</vt:lpstr>
      <vt:lpstr>Outline</vt:lpstr>
      <vt:lpstr>Pthreads</vt:lpstr>
      <vt:lpstr>The Pthreads API (Incomplete)</vt:lpstr>
      <vt:lpstr>Example</vt:lpstr>
      <vt:lpstr>Example 1</vt:lpstr>
      <vt:lpstr>Example 2</vt:lpstr>
      <vt:lpstr>作業系統實驗會有一個Pthread Programming的實驗</vt:lpstr>
      <vt:lpstr>Outline</vt:lpstr>
      <vt:lpstr> Implicit Threading</vt:lpstr>
      <vt:lpstr> Implicit Threading</vt:lpstr>
      <vt:lpstr>複習： Explicit Threading</vt:lpstr>
      <vt:lpstr> Implicit Threading Example </vt:lpstr>
      <vt:lpstr>問題:在前一頁implicit threading的例子中,如何產生threads和管理threads? </vt:lpstr>
      <vt:lpstr> Implicit Threading</vt:lpstr>
      <vt:lpstr>Implicit Threading</vt:lpstr>
      <vt:lpstr>OpenMP</vt:lpstr>
      <vt:lpstr>Q: What is a directive?</vt:lpstr>
      <vt:lpstr>複習：Compiler and Compiler Directive</vt:lpstr>
      <vt:lpstr>複習：Assembler Directives</vt:lpstr>
      <vt:lpstr>複習： Outline</vt:lpstr>
      <vt:lpstr>ALIGN Directive</vt:lpstr>
      <vt:lpstr>複習結束</vt:lpstr>
      <vt:lpstr>Example 1</vt:lpstr>
      <vt:lpstr>PowerPoint 簡報</vt:lpstr>
      <vt:lpstr>Example 2</vt:lpstr>
      <vt:lpstr>Transfer to Pthreads by OpenMP Library</vt:lpstr>
      <vt:lpstr>Implicit Threading</vt:lpstr>
      <vt:lpstr>Implicit Threading</vt:lpstr>
      <vt:lpstr>Summary</vt:lpstr>
      <vt:lpstr>Outline</vt:lpstr>
      <vt:lpstr>Thread雖然有許多優點, 但也有一些議題需要解決~</vt:lpstr>
      <vt:lpstr>Outline</vt:lpstr>
      <vt:lpstr>Thread Pools</vt:lpstr>
      <vt:lpstr>Q: Your solution?</vt:lpstr>
      <vt:lpstr>Thread Pools</vt:lpstr>
      <vt:lpstr>Thread Pools: Before</vt:lpstr>
      <vt:lpstr>Thread Pools: After</vt:lpstr>
      <vt:lpstr>Thread Pools (Cont.)</vt:lpstr>
      <vt:lpstr>Outline</vt:lpstr>
      <vt:lpstr>Q: What is syntax? What is semantics? </vt:lpstr>
      <vt:lpstr>Q: 如果一個thread呼叫fork(),會發生什麼事呢?</vt:lpstr>
      <vt:lpstr>Semantics of fork()</vt:lpstr>
      <vt:lpstr>Semantics of fork()</vt:lpstr>
      <vt:lpstr>One Process with Three Threads</vt:lpstr>
      <vt:lpstr>Q: 如果一個thread呼叫exec(),會發生什麼事呢?</vt:lpstr>
      <vt:lpstr>Semantics of exec()</vt:lpstr>
      <vt:lpstr>Outline</vt:lpstr>
      <vt:lpstr>作業系統實驗會有一個Signal Handling的實驗</vt:lpstr>
      <vt:lpstr>複習：Event-Driven OS: Trap (Error)</vt:lpstr>
      <vt:lpstr>Signal Handling</vt:lpstr>
      <vt:lpstr>Signal Handling (Cont.)</vt:lpstr>
      <vt:lpstr>Signal Types and Default Actions</vt:lpstr>
      <vt:lpstr>Signal Handling (Cont.)</vt:lpstr>
      <vt:lpstr>Signal Handling (Cont.)</vt:lpstr>
      <vt:lpstr>Outline</vt:lpstr>
      <vt:lpstr>Thread Cancellation</vt:lpstr>
      <vt:lpstr>Q: 突然取消一個thread的執行可能會發生什麼問題呢?</vt:lpstr>
      <vt:lpstr>Thread Cancellation (Cont.)</vt:lpstr>
      <vt:lpstr>Thread Cancellation (Cont.)</vt:lpstr>
      <vt:lpstr>Example: Pthread</vt:lpstr>
      <vt:lpstr>Example: Pthread</vt:lpstr>
      <vt:lpstr>Example：Pthread_testcancel()</vt:lpstr>
      <vt:lpstr>作業系統實驗會有一個Thread Cancellation的實驗</vt:lpstr>
      <vt:lpstr>Outline</vt:lpstr>
      <vt:lpstr>Thread-Local Storage</vt:lpstr>
      <vt:lpstr>Single and Multithreaded Processes</vt:lpstr>
      <vt:lpstr>作業系統實驗會有一個Thread-Local Storage的實驗</vt:lpstr>
      <vt:lpstr>Outline</vt:lpstr>
      <vt:lpstr>Linux Threads</vt:lpstr>
      <vt:lpstr>A Sets of Flags to clone()</vt:lpstr>
      <vt:lpstr>所以, 程式呼叫pthread_create(), library會再呼叫clone() system call</vt:lpstr>
    </vt:vector>
  </TitlesOfParts>
  <Company>NCHU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CJSREX</dc:creator>
  <cp:lastModifiedBy>hpchang</cp:lastModifiedBy>
  <cp:revision>2438</cp:revision>
  <dcterms:created xsi:type="dcterms:W3CDTF">2007-09-05T09:28:55Z</dcterms:created>
  <dcterms:modified xsi:type="dcterms:W3CDTF">2025-10-08T10:38:12Z</dcterms:modified>
</cp:coreProperties>
</file>