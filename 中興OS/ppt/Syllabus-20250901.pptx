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sldIdLst>
    <p:sldId id="286" r:id="rId2"/>
    <p:sldId id="281" r:id="rId3"/>
    <p:sldId id="313" r:id="rId4"/>
    <p:sldId id="308" r:id="rId5"/>
    <p:sldId id="312" r:id="rId6"/>
    <p:sldId id="292" r:id="rId7"/>
    <p:sldId id="288" r:id="rId8"/>
    <p:sldId id="289" r:id="rId9"/>
    <p:sldId id="293" r:id="rId10"/>
    <p:sldId id="305" r:id="rId11"/>
  </p:sldIdLst>
  <p:sldSz cx="12192000" cy="6858000"/>
  <p:notesSz cx="6645275" cy="97758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4" autoAdjust="0"/>
    <p:restoredTop sz="94660"/>
  </p:normalViewPr>
  <p:slideViewPr>
    <p:cSldViewPr>
      <p:cViewPr varScale="1">
        <p:scale>
          <a:sx n="64" d="100"/>
          <a:sy n="64" d="100"/>
        </p:scale>
        <p:origin x="528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51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2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3438"/>
            <a:ext cx="5314950" cy="439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192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2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EA50FAC4-6B44-4C78-861B-32A6457826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85137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BB7FD-110C-4100-AE8D-6F0954D0038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DDA95-ED1E-4EAB-AD49-86AB041C0DE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5CBD2-AEB3-464C-9867-F5A8A97B1F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4AEC8-91AA-4C46-81F4-5509ECD9DA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AC4BE7-2F6C-4783-939F-8BBC0AF2F8D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E14DB-7DF1-4914-9820-A972A20A8C6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0DF3E-6B50-48A9-9BB6-181D25F5E6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9B386-A619-49FE-8C7B-BCC08ABC7D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EB467-17D5-4A63-945B-893D746724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C951D-8461-4130-B741-5A0D1CEEB8C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1BF31-67C3-4190-8785-F20B3E3120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3085" y="6453188"/>
            <a:ext cx="518583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aseline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r>
              <a:rPr lang="en-US" altLang="zh-TW" smtClean="0"/>
              <a:t>NCHU System &amp; Network Lab</a:t>
            </a:r>
            <a:endParaRPr lang="en-US" altLang="zh-TW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9FEC9923-1232-4505-A997-7653EC36AF1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hpchang@cs.nchu.edu.tw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a1247852@gmail.com" TargetMode="External"/><Relationship Id="rId2" Type="http://schemas.openxmlformats.org/officeDocument/2006/relationships/hyperlink" Target="mailto:b10900032@gemail.yuntech.edu.tw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wwiillllyy0207@gmail.c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channel/UCh1ctBhUGQ7mOh5rfq-Ydiw/playlists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919536" y="1988840"/>
            <a:ext cx="8458200" cy="1143000"/>
          </a:xfrm>
        </p:spPr>
        <p:txBody>
          <a:bodyPr anchor="b"/>
          <a:lstStyle/>
          <a:p>
            <a:pPr eaLnBrk="1" hangingPunct="1">
              <a:defRPr/>
            </a:pPr>
            <a:r>
              <a:rPr lang="en-US" altLang="zh-TW" dirty="0" smtClean="0"/>
              <a:t>Operating Systems</a:t>
            </a:r>
            <a:endParaRPr lang="en-US" altLang="zh-TW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pPr eaLnBrk="1" hangingPunct="1"/>
            <a:r>
              <a:rPr lang="en-US" altLang="zh-TW" dirty="0" smtClean="0">
                <a:effectLst/>
              </a:rPr>
              <a:t>Course Syllabus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sz="2800" dirty="0"/>
              <a:t>Text Book:</a:t>
            </a:r>
          </a:p>
          <a:p>
            <a:pPr lvl="1">
              <a:lnSpc>
                <a:spcPct val="90000"/>
              </a:lnSpc>
              <a:defRPr/>
            </a:pPr>
            <a:r>
              <a:rPr kumimoji="0" lang="en-US" altLang="zh-TW" sz="2400" dirty="0"/>
              <a:t>Abraham </a:t>
            </a:r>
            <a:r>
              <a:rPr kumimoji="0" lang="en-US" altLang="zh-TW" sz="2400" dirty="0" err="1"/>
              <a:t>Silberscharz</a:t>
            </a:r>
            <a:r>
              <a:rPr kumimoji="0" lang="en-US" altLang="zh-TW" sz="2400" dirty="0"/>
              <a:t>, Peter Baer Galvin, and Greg Gagne, “Operating System Concepts,” 10</a:t>
            </a:r>
            <a:r>
              <a:rPr kumimoji="0" lang="en-US" altLang="zh-TW" sz="2400" baseline="30000" dirty="0"/>
              <a:t>th</a:t>
            </a:r>
            <a:r>
              <a:rPr kumimoji="0" lang="en-US" altLang="zh-TW" sz="2400" dirty="0"/>
              <a:t> Edition</a:t>
            </a:r>
          </a:p>
          <a:p>
            <a:pPr lvl="1">
              <a:lnSpc>
                <a:spcPct val="90000"/>
              </a:lnSpc>
              <a:defRPr/>
            </a:pPr>
            <a:r>
              <a:rPr kumimoji="0" lang="zh-TW" altLang="en-US" sz="2400" dirty="0"/>
              <a:t>新月圖書，東華書局代理</a:t>
            </a:r>
          </a:p>
          <a:p>
            <a:pPr>
              <a:lnSpc>
                <a:spcPct val="90000"/>
              </a:lnSpc>
              <a:defRPr/>
            </a:pPr>
            <a:endParaRPr lang="en-US" altLang="zh-TW" sz="2800" dirty="0" smtClean="0"/>
          </a:p>
          <a:p>
            <a:pPr>
              <a:lnSpc>
                <a:spcPct val="90000"/>
              </a:lnSpc>
              <a:defRPr/>
            </a:pPr>
            <a:r>
              <a:rPr lang="en-US" altLang="zh-TW" sz="2800" dirty="0" smtClean="0"/>
              <a:t>Instructor</a:t>
            </a:r>
            <a:endParaRPr lang="en-US" altLang="zh-TW" sz="2800" dirty="0"/>
          </a:p>
          <a:p>
            <a:pPr lvl="1">
              <a:lnSpc>
                <a:spcPct val="90000"/>
              </a:lnSpc>
              <a:defRPr/>
            </a:pPr>
            <a:r>
              <a:rPr lang="zh-TW" altLang="en-US" sz="2400" dirty="0"/>
              <a:t>張軒彬</a:t>
            </a:r>
            <a:r>
              <a:rPr lang="en-US" altLang="zh-TW" sz="2400" dirty="0"/>
              <a:t>, </a:t>
            </a:r>
            <a:r>
              <a:rPr lang="en-US" altLang="zh-TW" sz="2400" dirty="0">
                <a:hlinkClick r:id="rId2"/>
              </a:rPr>
              <a:t>hpchang@cs.nchu.edu.tw</a:t>
            </a:r>
            <a:r>
              <a:rPr lang="en-US" altLang="zh-TW" sz="2400" dirty="0"/>
              <a:t>, Office Number: 808</a:t>
            </a:r>
          </a:p>
          <a:p>
            <a:pPr marL="342900" lvl="1" indent="-342900">
              <a:lnSpc>
                <a:spcPct val="90000"/>
              </a:lnSpc>
              <a:buFontTx/>
              <a:buChar char="•"/>
              <a:defRPr/>
            </a:pPr>
            <a:endParaRPr lang="en-US" altLang="zh-TW" dirty="0" smtClean="0">
              <a:latin typeface="Calibri" panose="020F0502020204030204" pitchFamily="34" charset="0"/>
              <a:ea typeface="標楷體" panose="03000509000000000000" pitchFamily="65" charset="-120"/>
            </a:endParaRPr>
          </a:p>
          <a:p>
            <a:pPr marL="457200" lvl="1" indent="0">
              <a:lnSpc>
                <a:spcPct val="90000"/>
              </a:lnSpc>
              <a:buNone/>
              <a:defRPr/>
            </a:pPr>
            <a:endParaRPr lang="en-US" altLang="zh-TW" sz="2400" dirty="0" smtClean="0"/>
          </a:p>
        </p:txBody>
      </p:sp>
      <p:sp>
        <p:nvSpPr>
          <p:cNvPr id="4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280" y="2780928"/>
            <a:ext cx="2411761" cy="30147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pPr eaLnBrk="1" hangingPunct="1"/>
            <a:r>
              <a:rPr lang="en-US" altLang="zh-TW" dirty="0" smtClean="0">
                <a:effectLst/>
              </a:rPr>
              <a:t>Course Syllabus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lnSpc>
                <a:spcPct val="90000"/>
              </a:lnSpc>
              <a:buFontTx/>
              <a:buChar char="•"/>
              <a:defRPr/>
            </a:pPr>
            <a:r>
              <a:rPr lang="en-US" altLang="zh-TW" sz="3600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TA:  Office Number: 1001A</a:t>
            </a:r>
          </a:p>
          <a:p>
            <a:pPr lvl="1">
              <a:lnSpc>
                <a:spcPct val="90000"/>
              </a:lnSpc>
              <a:defRPr/>
            </a:pPr>
            <a:r>
              <a:rPr lang="zh-TW" altLang="en-US" sz="3200" dirty="0" smtClean="0"/>
              <a:t>陳柏彥</a:t>
            </a:r>
            <a:r>
              <a:rPr lang="en-US" altLang="zh-TW" sz="3200" dirty="0"/>
              <a:t>, </a:t>
            </a:r>
            <a:r>
              <a:rPr lang="en-US" altLang="zh-TW" sz="3200" dirty="0" smtClean="0">
                <a:hlinkClick r:id="rId2"/>
              </a:rPr>
              <a:t>b10900032@gemail.yuntech.edu.tw</a:t>
            </a:r>
            <a:endParaRPr lang="en-US" altLang="zh-TW" sz="3200" dirty="0" smtClean="0"/>
          </a:p>
          <a:p>
            <a:pPr lvl="1">
              <a:lnSpc>
                <a:spcPct val="90000"/>
              </a:lnSpc>
              <a:defRPr/>
            </a:pPr>
            <a:r>
              <a:rPr lang="zh-TW" altLang="en-US" sz="3200" dirty="0" smtClean="0"/>
              <a:t>張家展</a:t>
            </a:r>
            <a:r>
              <a:rPr lang="en-US" altLang="zh-TW" sz="3200" dirty="0"/>
              <a:t>, </a:t>
            </a:r>
            <a:r>
              <a:rPr lang="en-US" altLang="zh-TW" sz="3200" dirty="0" smtClean="0">
                <a:hlinkClick r:id="rId3"/>
              </a:rPr>
              <a:t>aa1247852@gmail.com</a:t>
            </a:r>
            <a:endParaRPr lang="en-US" altLang="zh-TW" sz="3200" dirty="0" smtClean="0"/>
          </a:p>
          <a:p>
            <a:pPr lvl="1">
              <a:lnSpc>
                <a:spcPct val="90000"/>
              </a:lnSpc>
              <a:defRPr/>
            </a:pPr>
            <a:r>
              <a:rPr lang="zh-TW" altLang="en-US" sz="3200" dirty="0"/>
              <a:t>陳立崴</a:t>
            </a:r>
            <a:r>
              <a:rPr lang="en-US" altLang="zh-TW" sz="3200" dirty="0"/>
              <a:t>, </a:t>
            </a:r>
            <a:r>
              <a:rPr lang="en-US" altLang="zh-TW" sz="3200" dirty="0" smtClean="0">
                <a:hlinkClick r:id="rId4"/>
              </a:rPr>
              <a:t>wwiillllyy0207@gmail.com</a:t>
            </a:r>
            <a:endParaRPr lang="en-US" altLang="zh-TW" sz="3200" dirty="0" smtClean="0"/>
          </a:p>
          <a:p>
            <a:pPr lvl="1">
              <a:lnSpc>
                <a:spcPct val="90000"/>
              </a:lnSpc>
              <a:defRPr/>
            </a:pPr>
            <a:r>
              <a:rPr lang="zh-TW" altLang="en-US" sz="3200" dirty="0" smtClean="0"/>
              <a:t>吳宥德</a:t>
            </a:r>
            <a:r>
              <a:rPr lang="en-US" altLang="zh-TW" sz="3200" dirty="0" smtClean="0"/>
              <a:t>, wuyodi@gmail.com</a:t>
            </a:r>
            <a:endParaRPr lang="en-US" altLang="zh-TW" sz="3200" dirty="0"/>
          </a:p>
          <a:p>
            <a:pPr lvl="1">
              <a:lnSpc>
                <a:spcPct val="90000"/>
              </a:lnSpc>
              <a:defRPr/>
            </a:pPr>
            <a:r>
              <a:rPr lang="zh-TW" altLang="en-US" sz="3200" dirty="0" smtClean="0"/>
              <a:t>侯</a:t>
            </a:r>
            <a:r>
              <a:rPr lang="zh-TW" altLang="en-US" sz="3200" dirty="0"/>
              <a:t>佳</a:t>
            </a:r>
            <a:r>
              <a:rPr lang="zh-TW" altLang="en-US" sz="3200" dirty="0" smtClean="0"/>
              <a:t>旻</a:t>
            </a:r>
            <a:r>
              <a:rPr lang="en-US" altLang="zh-TW" sz="3200" dirty="0" smtClean="0"/>
              <a:t>, </a:t>
            </a:r>
            <a:r>
              <a:rPr lang="en-US" altLang="zh-TW" sz="3200" dirty="0"/>
              <a:t>acs109113@gm.ntcu.edu.tw</a:t>
            </a:r>
            <a:endParaRPr lang="zh-TW" altLang="en-US" sz="3200" dirty="0"/>
          </a:p>
          <a:p>
            <a:pPr lvl="1">
              <a:lnSpc>
                <a:spcPct val="90000"/>
              </a:lnSpc>
              <a:defRPr/>
            </a:pPr>
            <a:r>
              <a:rPr lang="zh-TW" altLang="en-US" sz="3200" dirty="0"/>
              <a:t>陳威</a:t>
            </a:r>
            <a:r>
              <a:rPr lang="zh-TW" altLang="en-US" sz="3200" dirty="0" smtClean="0"/>
              <a:t>碩</a:t>
            </a:r>
            <a:r>
              <a:rPr lang="en-US" altLang="zh-TW" sz="3200" dirty="0" smtClean="0"/>
              <a:t>, </a:t>
            </a:r>
            <a:r>
              <a:rPr lang="en-US" altLang="zh-TW" sz="3200" dirty="0"/>
              <a:t>tavhadia@gmail.com</a:t>
            </a:r>
            <a:endParaRPr lang="zh-TW" altLang="en-US" sz="3200" dirty="0"/>
          </a:p>
          <a:p>
            <a:pPr lvl="1">
              <a:lnSpc>
                <a:spcPct val="90000"/>
              </a:lnSpc>
              <a:defRPr/>
            </a:pPr>
            <a:r>
              <a:rPr lang="zh-TW" altLang="en-US" sz="3200" dirty="0"/>
              <a:t>倪偉</a:t>
            </a:r>
            <a:r>
              <a:rPr lang="zh-TW" altLang="en-US" sz="3200" dirty="0" smtClean="0"/>
              <a:t>軒</a:t>
            </a:r>
            <a:r>
              <a:rPr lang="en-US" altLang="zh-TW" sz="3200" dirty="0" smtClean="0"/>
              <a:t>, </a:t>
            </a:r>
            <a:r>
              <a:rPr lang="en-US" altLang="zh-TW" sz="3200" dirty="0"/>
              <a:t>niweixuan0418@gmail.com</a:t>
            </a:r>
            <a:endParaRPr lang="zh-TW" altLang="en-US" sz="3200" dirty="0"/>
          </a:p>
          <a:p>
            <a:pPr lvl="1">
              <a:lnSpc>
                <a:spcPct val="90000"/>
              </a:lnSpc>
              <a:defRPr/>
            </a:pPr>
            <a:endParaRPr lang="en-US" altLang="zh-TW" sz="3200" dirty="0" smtClean="0"/>
          </a:p>
          <a:p>
            <a:pPr lvl="1">
              <a:lnSpc>
                <a:spcPct val="90000"/>
              </a:lnSpc>
              <a:defRPr/>
            </a:pPr>
            <a:endParaRPr lang="en-US" altLang="zh-TW" sz="3200" dirty="0" smtClean="0"/>
          </a:p>
          <a:p>
            <a:pPr marL="457200" lvl="1" indent="0">
              <a:lnSpc>
                <a:spcPct val="90000"/>
              </a:lnSpc>
              <a:buNone/>
              <a:defRPr/>
            </a:pPr>
            <a:endParaRPr lang="en-US" altLang="zh-TW" sz="3200" dirty="0" smtClean="0"/>
          </a:p>
        </p:txBody>
      </p:sp>
      <p:sp>
        <p:nvSpPr>
          <p:cNvPr id="4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NCHU System &amp; Network Lab</a:t>
            </a:r>
          </a:p>
        </p:txBody>
      </p:sp>
    </p:spTree>
    <p:extLst>
      <p:ext uri="{BB962C8B-B14F-4D97-AF65-F5344CB8AC3E}">
        <p14:creationId xmlns:p14="http://schemas.microsoft.com/office/powerpoint/2010/main" val="417169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Course Syllabus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All slides are available in </a:t>
            </a:r>
            <a:r>
              <a:rPr lang="en-US" altLang="zh-TW" dirty="0" err="1">
                <a:solidFill>
                  <a:srgbClr val="FF0000"/>
                </a:solidFill>
              </a:rPr>
              <a:t>i</a:t>
            </a:r>
            <a:r>
              <a:rPr lang="en-US" altLang="zh-TW" dirty="0">
                <a:solidFill>
                  <a:srgbClr val="FF0000"/>
                </a:solidFill>
              </a:rPr>
              <a:t>-learning</a:t>
            </a:r>
          </a:p>
          <a:p>
            <a:r>
              <a:rPr lang="en-US" altLang="zh-TW" dirty="0" smtClean="0"/>
              <a:t>Videos </a:t>
            </a:r>
            <a:r>
              <a:rPr lang="en-US" altLang="zh-TW" dirty="0"/>
              <a:t>are available in </a:t>
            </a:r>
            <a:r>
              <a:rPr lang="en-US" altLang="zh-TW" dirty="0">
                <a:solidFill>
                  <a:srgbClr val="FF0000"/>
                </a:solidFill>
              </a:rPr>
              <a:t>YouTube</a:t>
            </a:r>
          </a:p>
          <a:p>
            <a:pPr lvl="1"/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www.youtube.com/channel/UCh1ctBhUGQ7mOh5rfq-Ydiw/playlists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But may be obsolete~(</a:t>
            </a:r>
            <a:r>
              <a:rPr lang="zh-TW" altLang="en-US" dirty="0" smtClean="0"/>
              <a:t>來上課比較安全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r>
              <a:rPr lang="en-US" altLang="zh-TW" dirty="0"/>
              <a:t>Requirements</a:t>
            </a: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期中考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期末考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Programming homework (</a:t>
            </a:r>
            <a:r>
              <a:rPr lang="en-US" altLang="zh-TW" dirty="0" smtClean="0"/>
              <a:t>3~5)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NCHU System &amp; Network Lab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088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Course Syllabus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電資學士</a:t>
            </a:r>
            <a:r>
              <a:rPr lang="zh-TW" altLang="en-US" dirty="0"/>
              <a:t>班</a:t>
            </a:r>
            <a:r>
              <a:rPr lang="zh-TW" altLang="en-US" dirty="0" smtClean="0"/>
              <a:t>、資工系碩士班</a:t>
            </a:r>
            <a:r>
              <a:rPr lang="zh-TW" altLang="en-US" dirty="0"/>
              <a:t>、資工系博士</a:t>
            </a:r>
            <a:r>
              <a:rPr lang="zh-TW" altLang="en-US" dirty="0" smtClean="0"/>
              <a:t>班欲加選的同學請到資工系辦</a:t>
            </a:r>
            <a:r>
              <a:rPr lang="zh-TW" altLang="en-US" dirty="0"/>
              <a:t>找嘉</a:t>
            </a:r>
            <a:r>
              <a:rPr lang="zh-TW" altLang="en-US" dirty="0" smtClean="0"/>
              <a:t>儷加選</a:t>
            </a:r>
            <a:endParaRPr lang="en-US" altLang="zh-TW" dirty="0" smtClean="0"/>
          </a:p>
          <a:p>
            <a:r>
              <a:rPr lang="zh-TW" altLang="en-US" dirty="0" smtClean="0"/>
              <a:t>外</a:t>
            </a:r>
            <a:r>
              <a:rPr lang="zh-TW" altLang="en-US" dirty="0"/>
              <a:t>系欲加選的同學</a:t>
            </a:r>
            <a:r>
              <a:rPr lang="zh-TW" altLang="en-US" dirty="0" smtClean="0"/>
              <a:t>請詢問資工</a:t>
            </a:r>
            <a:r>
              <a:rPr lang="zh-TW" altLang="en-US" dirty="0"/>
              <a:t>系</a:t>
            </a:r>
            <a:r>
              <a:rPr lang="zh-TW" altLang="en-US" dirty="0" smtClean="0"/>
              <a:t>辦嘉儷</a:t>
            </a:r>
            <a:r>
              <a:rPr lang="en-US" altLang="zh-TW" dirty="0" smtClean="0"/>
              <a:t>, </a:t>
            </a:r>
            <a:r>
              <a:rPr lang="zh-TW" altLang="en-US" dirty="0" smtClean="0"/>
              <a:t>如果還有空缺即可加選</a:t>
            </a:r>
            <a:endParaRPr lang="en-US" altLang="zh-TW" dirty="0" smtClean="0"/>
          </a:p>
          <a:p>
            <a:r>
              <a:rPr lang="zh-TW" altLang="en-US" dirty="0"/>
              <a:t>電資學士班、資工系碩士班、資工系博士</a:t>
            </a:r>
            <a:r>
              <a:rPr lang="zh-TW" altLang="en-US" dirty="0" smtClean="0"/>
              <a:t>班、外系的學生可以自行決定是否選修</a:t>
            </a:r>
            <a:r>
              <a:rPr lang="zh-TW" altLang="en-US" b="1" dirty="0" smtClean="0"/>
              <a:t>作業系統實驗</a:t>
            </a:r>
            <a:endParaRPr lang="en-US" altLang="zh-TW" b="1" dirty="0" smtClean="0"/>
          </a:p>
          <a:p>
            <a:pPr lvl="1"/>
            <a:r>
              <a:rPr lang="zh-TW" altLang="en-US" dirty="0" smtClean="0"/>
              <a:t>資工系為必修課！</a:t>
            </a:r>
            <a:endParaRPr lang="en-US" altLang="zh-TW" dirty="0"/>
          </a:p>
          <a:p>
            <a:r>
              <a:rPr lang="zh-TW" altLang="en-US" dirty="0" smtClean="0"/>
              <a:t>建議先修課程</a:t>
            </a:r>
            <a:endParaRPr lang="en-US" altLang="zh-TW" dirty="0" smtClean="0"/>
          </a:p>
          <a:p>
            <a:pPr lvl="1"/>
            <a:r>
              <a:rPr lang="zh-TW" altLang="en-US" b="1" dirty="0" smtClean="0">
                <a:solidFill>
                  <a:srgbClr val="FF0000"/>
                </a:solidFill>
              </a:rPr>
              <a:t>程式設計</a:t>
            </a:r>
            <a:r>
              <a:rPr lang="en-US" altLang="zh-TW" b="1" dirty="0" smtClean="0">
                <a:solidFill>
                  <a:srgbClr val="FF0000"/>
                </a:solidFill>
              </a:rPr>
              <a:t>(C</a:t>
            </a:r>
            <a:r>
              <a:rPr lang="zh-TW" altLang="en-US" b="1" dirty="0" smtClean="0">
                <a:solidFill>
                  <a:srgbClr val="FF0000"/>
                </a:solidFill>
              </a:rPr>
              <a:t>語言</a:t>
            </a:r>
            <a:r>
              <a:rPr lang="en-US" altLang="zh-TW" b="1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zh-TW" altLang="en-US" b="1" dirty="0" smtClean="0">
                <a:solidFill>
                  <a:srgbClr val="FF0000"/>
                </a:solidFill>
              </a:rPr>
              <a:t>組合語言</a:t>
            </a:r>
            <a:r>
              <a:rPr lang="zh-TW" altLang="en-US" b="1" dirty="0">
                <a:solidFill>
                  <a:srgbClr val="FF0000"/>
                </a:solidFill>
              </a:rPr>
              <a:t>與系統程式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NCHU System &amp; Network Lab</a:t>
            </a:r>
            <a:endParaRPr kumimoji="1" lang="en-US" altLang="zh-TW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96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 smtClean="0">
                <a:effectLst/>
              </a:rPr>
              <a:t>Outline</a:t>
            </a:r>
            <a:endParaRPr lang="zh-TW" altLang="en-US" dirty="0" smtClean="0">
              <a:effectLst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PART ONE: Overview</a:t>
            </a:r>
          </a:p>
          <a:p>
            <a:pPr lvl="1"/>
            <a:r>
              <a:rPr lang="en-US" altLang="zh-TW" dirty="0" smtClean="0"/>
              <a:t>Chapter 1: Introduction</a:t>
            </a:r>
          </a:p>
          <a:p>
            <a:pPr lvl="1"/>
            <a:r>
              <a:rPr lang="en-US" altLang="zh-TW" dirty="0" smtClean="0"/>
              <a:t>Chapter 2: Operating-System Structures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PART TWO: Process Management</a:t>
            </a:r>
          </a:p>
          <a:p>
            <a:pPr lvl="1"/>
            <a:r>
              <a:rPr lang="en-US" altLang="zh-TW" dirty="0" smtClean="0"/>
              <a:t>Chapter 3: Process</a:t>
            </a:r>
          </a:p>
          <a:p>
            <a:pPr lvl="1"/>
            <a:r>
              <a:rPr lang="en-US" altLang="zh-TW" dirty="0" smtClean="0"/>
              <a:t>Chapter 4: Thread &amp; Concurrency</a:t>
            </a:r>
          </a:p>
          <a:p>
            <a:pPr lvl="1"/>
            <a:r>
              <a:rPr lang="en-US" altLang="zh-TW" dirty="0" smtClean="0"/>
              <a:t>Chapter 5: CPU Scheduling</a:t>
            </a:r>
          </a:p>
        </p:txBody>
      </p:sp>
    </p:spTree>
    <p:extLst>
      <p:ext uri="{BB962C8B-B14F-4D97-AF65-F5344CB8AC3E}">
        <p14:creationId xmlns:p14="http://schemas.microsoft.com/office/powerpoint/2010/main" val="143855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>
                <a:effectLst/>
              </a:rPr>
              <a:t>Outline (Cont.)</a:t>
            </a:r>
            <a:endParaRPr lang="zh-TW" altLang="en-US" dirty="0" smtClean="0">
              <a:effectLst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PART THREE: Process Synchronization</a:t>
            </a:r>
          </a:p>
          <a:p>
            <a:pPr lvl="1"/>
            <a:r>
              <a:rPr lang="en-US" altLang="zh-TW" dirty="0" smtClean="0"/>
              <a:t>Chapter 6: Synchronization Tools</a:t>
            </a:r>
          </a:p>
          <a:p>
            <a:pPr lvl="1"/>
            <a:r>
              <a:rPr lang="en-US" altLang="zh-TW" dirty="0" smtClean="0"/>
              <a:t>Chapter 7: Synchronization Examples</a:t>
            </a:r>
          </a:p>
          <a:p>
            <a:pPr lvl="1"/>
            <a:r>
              <a:rPr lang="en-US" altLang="zh-TW" dirty="0" smtClean="0"/>
              <a:t>Chapter 8: Deadlocks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PART FOUR: Memory Management</a:t>
            </a:r>
          </a:p>
          <a:p>
            <a:pPr lvl="1"/>
            <a:r>
              <a:rPr lang="en-US" altLang="zh-TW" dirty="0" smtClean="0"/>
              <a:t>Chapter 9: Main Memory</a:t>
            </a:r>
          </a:p>
          <a:p>
            <a:pPr lvl="1"/>
            <a:r>
              <a:rPr lang="en-US" altLang="zh-TW" dirty="0" smtClean="0"/>
              <a:t>Chapter 10: Virtual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 smtClean="0">
                <a:effectLst/>
              </a:rPr>
              <a:t>Outline (Cont.)</a:t>
            </a:r>
            <a:endParaRPr lang="zh-TW" altLang="en-US" dirty="0" smtClean="0"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PART FIVE: Storage Management</a:t>
            </a:r>
          </a:p>
          <a:p>
            <a:pPr lvl="1"/>
            <a:r>
              <a:rPr lang="en-US" altLang="zh-TW" dirty="0" smtClean="0"/>
              <a:t>Chapter 11: Mass-Storage Structure</a:t>
            </a:r>
          </a:p>
          <a:p>
            <a:pPr lvl="1"/>
            <a:r>
              <a:rPr lang="en-US" altLang="zh-TW" dirty="0" smtClean="0"/>
              <a:t>Chapter 12</a:t>
            </a:r>
            <a:r>
              <a:rPr lang="en-US" altLang="zh-TW" dirty="0"/>
              <a:t>: I/O Systems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PART FIVE: File System</a:t>
            </a:r>
          </a:p>
          <a:p>
            <a:pPr lvl="1"/>
            <a:r>
              <a:rPr lang="en-US" altLang="zh-TW" dirty="0" smtClean="0"/>
              <a:t>Chapter 13: File-System Interface</a:t>
            </a:r>
          </a:p>
          <a:p>
            <a:pPr lvl="1"/>
            <a:r>
              <a:rPr lang="en-US" altLang="zh-TW" dirty="0" smtClean="0"/>
              <a:t>Chapter 14: File-System Implementation</a:t>
            </a:r>
          </a:p>
          <a:p>
            <a:pPr lvl="1"/>
            <a:r>
              <a:rPr lang="en-US" altLang="zh-TW" dirty="0" smtClean="0"/>
              <a:t>Chapter 15: </a:t>
            </a:r>
            <a:r>
              <a:rPr lang="en-US" altLang="zh-TW" dirty="0"/>
              <a:t>File-System </a:t>
            </a:r>
            <a:r>
              <a:rPr lang="en-US" altLang="zh-TW" dirty="0" smtClean="0"/>
              <a:t>Internals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sz="4000" dirty="0">
                <a:effectLst/>
              </a:rPr>
              <a:t>Another Course: Operating System Lab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Programming Labs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Operating </a:t>
            </a:r>
            <a:r>
              <a:rPr lang="en-US" altLang="zh-TW" sz="3200" dirty="0"/>
              <a:t>System </a:t>
            </a:r>
            <a:r>
              <a:rPr lang="en-US" altLang="zh-TW" sz="3200" dirty="0" smtClean="0"/>
              <a:t>Experiment</a:t>
            </a:r>
          </a:p>
          <a:p>
            <a:pPr lvl="1"/>
            <a:endParaRPr lang="en-US" altLang="zh-TW" sz="3200" dirty="0"/>
          </a:p>
          <a:p>
            <a:pPr lvl="1"/>
            <a:r>
              <a:rPr lang="en-US" altLang="zh-TW" sz="3200" dirty="0" smtClean="0"/>
              <a:t>Help you to learn the OS and to write advanced programs</a:t>
            </a:r>
            <a:endParaRPr lang="en-US" altLang="zh-TW" sz="3200" dirty="0"/>
          </a:p>
          <a:p>
            <a:pPr lvl="1"/>
            <a:endParaRPr lang="en-US" altLang="zh-TW" sz="3200" dirty="0"/>
          </a:p>
          <a:p>
            <a:pPr lvl="1"/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6697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Some Tips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Study Tips: </a:t>
            </a:r>
            <a:r>
              <a:rPr lang="zh-TW" altLang="en-US" sz="3600" b="1" dirty="0" smtClean="0">
                <a:solidFill>
                  <a:srgbClr val="FF0000"/>
                </a:solidFill>
              </a:rPr>
              <a:t>好奇心</a:t>
            </a:r>
            <a:endParaRPr lang="en-US" altLang="zh-TW" sz="3600" b="1" dirty="0">
              <a:solidFill>
                <a:srgbClr val="FF0000"/>
              </a:solidFill>
            </a:endParaRPr>
          </a:p>
          <a:p>
            <a:pPr lvl="1"/>
            <a:r>
              <a:rPr lang="zh-TW" altLang="en-US" sz="3200" dirty="0" smtClean="0"/>
              <a:t>明白</a:t>
            </a:r>
            <a:r>
              <a:rPr lang="zh-TW" altLang="en-US" sz="3200" dirty="0"/>
              <a:t>名詞的意義</a:t>
            </a:r>
            <a:endParaRPr lang="en-US" altLang="zh-TW" sz="3200" dirty="0"/>
          </a:p>
          <a:p>
            <a:pPr lvl="2"/>
            <a:r>
              <a:rPr lang="zh-TW" altLang="en-US" sz="2800" dirty="0"/>
              <a:t>訓練對於英文單字的敏銳度</a:t>
            </a:r>
            <a:endParaRPr lang="en-US" altLang="zh-TW" sz="2800" dirty="0"/>
          </a:p>
          <a:p>
            <a:pPr lvl="1"/>
            <a:r>
              <a:rPr lang="zh-TW" altLang="en-US" sz="3200" dirty="0" smtClean="0"/>
              <a:t>思考理解</a:t>
            </a:r>
            <a:r>
              <a:rPr lang="zh-TW" altLang="en-US" sz="3200" dirty="0"/>
              <a:t>電腦</a:t>
            </a:r>
            <a:r>
              <a:rPr lang="en-US" altLang="zh-TW" sz="3200" dirty="0" smtClean="0"/>
              <a:t>(</a:t>
            </a:r>
            <a:r>
              <a:rPr lang="zh-TW" altLang="en-US" sz="3200" dirty="0" smtClean="0"/>
              <a:t>包含應用程式</a:t>
            </a:r>
            <a:r>
              <a:rPr lang="zh-TW" altLang="en-US" sz="3200" dirty="0"/>
              <a:t>、</a:t>
            </a:r>
            <a:r>
              <a:rPr lang="en-US" altLang="zh-TW" sz="3200" dirty="0"/>
              <a:t>OS</a:t>
            </a:r>
            <a:r>
              <a:rPr lang="zh-TW" altLang="en-US" sz="3200" dirty="0" smtClean="0"/>
              <a:t>、硬體</a:t>
            </a:r>
            <a:r>
              <a:rPr lang="en-US" altLang="zh-TW" sz="3200" dirty="0" smtClean="0"/>
              <a:t>)</a:t>
            </a:r>
            <a:r>
              <a:rPr lang="zh-TW" altLang="en-US" sz="3200" dirty="0" smtClean="0"/>
              <a:t>的整體運作</a:t>
            </a:r>
            <a:endParaRPr lang="en-US" altLang="zh-TW" sz="3200" dirty="0"/>
          </a:p>
          <a:p>
            <a:pPr lvl="2"/>
            <a:r>
              <a:rPr lang="zh-TW" altLang="en-US" sz="2800" dirty="0" smtClean="0"/>
              <a:t>嘗試思考如何畫圖表示甚至動畫表示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加上時間軸</a:t>
            </a:r>
            <a:r>
              <a:rPr lang="en-US" altLang="zh-TW" sz="2800" dirty="0" smtClean="0"/>
              <a:t> t=1</a:t>
            </a:r>
            <a:r>
              <a:rPr lang="en-US" altLang="zh-TW" sz="2800" dirty="0"/>
              <a:t>, 2, 3</a:t>
            </a:r>
            <a:r>
              <a:rPr lang="en-US" altLang="zh-TW" sz="2800" dirty="0" smtClean="0"/>
              <a:t>,…)</a:t>
            </a:r>
            <a:endParaRPr lang="en-US" altLang="zh-TW" sz="2800" dirty="0"/>
          </a:p>
          <a:p>
            <a:endParaRPr lang="en-US" altLang="zh-TW" sz="3600" dirty="0" smtClean="0"/>
          </a:p>
          <a:p>
            <a:r>
              <a:rPr lang="en-US" altLang="zh-TW" sz="3600" dirty="0" smtClean="0"/>
              <a:t>Answer </a:t>
            </a:r>
            <a:r>
              <a:rPr lang="en-US" altLang="zh-TW" sz="3600" dirty="0"/>
              <a:t>Tips: </a:t>
            </a:r>
            <a:r>
              <a:rPr lang="zh-TW" altLang="en-US" sz="3600" dirty="0"/>
              <a:t>考試答題</a:t>
            </a:r>
            <a:endParaRPr lang="en-US" altLang="zh-TW" sz="3600" dirty="0"/>
          </a:p>
          <a:p>
            <a:pPr lvl="1"/>
            <a:r>
              <a:rPr lang="zh-TW" altLang="en-US" sz="3200" dirty="0"/>
              <a:t>講清楚、說明白 </a:t>
            </a:r>
            <a:r>
              <a:rPr lang="en-US" altLang="zh-TW" sz="3200" dirty="0"/>
              <a:t>: </a:t>
            </a:r>
            <a:r>
              <a:rPr lang="en-US" altLang="zh-TW" sz="3200" b="1" dirty="0"/>
              <a:t>an important skill for </a:t>
            </a:r>
            <a:r>
              <a:rPr lang="en-US" altLang="zh-TW" sz="3200" b="1" dirty="0" smtClean="0"/>
              <a:t>you</a:t>
            </a:r>
            <a:endParaRPr lang="en-US" altLang="zh-TW" sz="3200" b="1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NCHU System &amp; Network Lab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3592942"/>
      </p:ext>
    </p:extLst>
  </p:cSld>
  <p:clrMapOvr>
    <a:masterClrMapping/>
  </p:clrMapOvr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5295</TotalTime>
  <Words>443</Words>
  <Application>Microsoft Office PowerPoint</Application>
  <PresentationFormat>寬螢幕</PresentationFormat>
  <Paragraphs>82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新細明體</vt:lpstr>
      <vt:lpstr>標楷體</vt:lpstr>
      <vt:lpstr>Arial</vt:lpstr>
      <vt:lpstr>Calibri</vt:lpstr>
      <vt:lpstr>Times New Roman</vt:lpstr>
      <vt:lpstr>osnetppt</vt:lpstr>
      <vt:lpstr>Operating Systems</vt:lpstr>
      <vt:lpstr>Course Syllabus</vt:lpstr>
      <vt:lpstr>Course Syllabus</vt:lpstr>
      <vt:lpstr>Course Syllabus (Cont.)</vt:lpstr>
      <vt:lpstr>Course Syllabus (Cont.)</vt:lpstr>
      <vt:lpstr>Outline</vt:lpstr>
      <vt:lpstr>Outline (Cont.)</vt:lpstr>
      <vt:lpstr>Outline (Cont.)</vt:lpstr>
      <vt:lpstr>Another Course: Operating System Lab</vt:lpstr>
      <vt:lpstr>Some Tips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1008</cp:revision>
  <dcterms:created xsi:type="dcterms:W3CDTF">2007-09-05T09:28:55Z</dcterms:created>
  <dcterms:modified xsi:type="dcterms:W3CDTF">2025-09-02T06:21:10Z</dcterms:modified>
</cp:coreProperties>
</file>