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73"/>
  </p:notesMasterIdLst>
  <p:sldIdLst>
    <p:sldId id="280" r:id="rId2"/>
    <p:sldId id="523" r:id="rId3"/>
    <p:sldId id="588" r:id="rId4"/>
    <p:sldId id="584" r:id="rId5"/>
    <p:sldId id="587" r:id="rId6"/>
    <p:sldId id="598" r:id="rId7"/>
    <p:sldId id="623" r:id="rId8"/>
    <p:sldId id="624" r:id="rId9"/>
    <p:sldId id="621" r:id="rId10"/>
    <p:sldId id="301" r:id="rId11"/>
    <p:sldId id="600" r:id="rId12"/>
    <p:sldId id="385" r:id="rId13"/>
    <p:sldId id="601" r:id="rId14"/>
    <p:sldId id="522" r:id="rId15"/>
    <p:sldId id="602" r:id="rId16"/>
    <p:sldId id="590" r:id="rId17"/>
    <p:sldId id="603" r:id="rId18"/>
    <p:sldId id="589" r:id="rId19"/>
    <p:sldId id="604" r:id="rId20"/>
    <p:sldId id="591" r:id="rId21"/>
    <p:sldId id="524" r:id="rId22"/>
    <p:sldId id="387" r:id="rId23"/>
    <p:sldId id="464" r:id="rId24"/>
    <p:sldId id="606" r:id="rId25"/>
    <p:sldId id="605" r:id="rId26"/>
    <p:sldId id="608" r:id="rId27"/>
    <p:sldId id="607" r:id="rId28"/>
    <p:sldId id="609" r:id="rId29"/>
    <p:sldId id="610" r:id="rId30"/>
    <p:sldId id="526" r:id="rId31"/>
    <p:sldId id="611" r:id="rId32"/>
    <p:sldId id="527" r:id="rId33"/>
    <p:sldId id="625" r:id="rId34"/>
    <p:sldId id="612" r:id="rId35"/>
    <p:sldId id="592" r:id="rId36"/>
    <p:sldId id="595" r:id="rId37"/>
    <p:sldId id="615" r:id="rId38"/>
    <p:sldId id="613" r:id="rId39"/>
    <p:sldId id="518" r:id="rId40"/>
    <p:sldId id="614" r:id="rId41"/>
    <p:sldId id="594" r:id="rId42"/>
    <p:sldId id="454" r:id="rId43"/>
    <p:sldId id="616" r:id="rId44"/>
    <p:sldId id="525" r:id="rId45"/>
    <p:sldId id="389" r:id="rId46"/>
    <p:sldId id="626" r:id="rId47"/>
    <p:sldId id="628" r:id="rId48"/>
    <p:sldId id="618" r:id="rId49"/>
    <p:sldId id="528" r:id="rId50"/>
    <p:sldId id="619" r:id="rId51"/>
    <p:sldId id="391" r:id="rId52"/>
    <p:sldId id="597" r:id="rId53"/>
    <p:sldId id="620" r:id="rId54"/>
    <p:sldId id="529" r:id="rId55"/>
    <p:sldId id="530" r:id="rId56"/>
    <p:sldId id="535" r:id="rId57"/>
    <p:sldId id="536" r:id="rId58"/>
    <p:sldId id="533" r:id="rId59"/>
    <p:sldId id="534" r:id="rId60"/>
    <p:sldId id="596" r:id="rId61"/>
    <p:sldId id="540" r:id="rId62"/>
    <p:sldId id="543" r:id="rId63"/>
    <p:sldId id="545" r:id="rId64"/>
    <p:sldId id="547" r:id="rId65"/>
    <p:sldId id="548" r:id="rId66"/>
    <p:sldId id="549" r:id="rId67"/>
    <p:sldId id="550" r:id="rId68"/>
    <p:sldId id="551" r:id="rId69"/>
    <p:sldId id="552" r:id="rId70"/>
    <p:sldId id="553" r:id="rId71"/>
    <p:sldId id="554" r:id="rId72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0000FF"/>
    <a:srgbClr val="FF3300"/>
    <a:srgbClr val="0066FF"/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660"/>
  </p:normalViewPr>
  <p:slideViewPr>
    <p:cSldViewPr>
      <p:cViewPr varScale="1">
        <p:scale>
          <a:sx n="70" d="100"/>
          <a:sy n="70" d="100"/>
        </p:scale>
        <p:origin x="26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1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5F437E7-E8DA-489A-8E5A-16B9A4E6AFD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11705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7EDD7-EE19-449C-94A9-7F4AB4F873DB}" type="slidenum">
              <a:rPr lang="en-US" altLang="zh-TW" smtClean="0">
                <a:latin typeface="Arial" pitchFamily="34" charset="0"/>
              </a:rPr>
              <a:pPr/>
              <a:t>1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631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B648DE-90D1-49E2-84DB-8BFB85D890B1}" type="slidenum">
              <a:rPr lang="en-US" altLang="zh-TW" smtClean="0">
                <a:latin typeface="Arial" pitchFamily="34" charset="0"/>
              </a:rPr>
              <a:pPr/>
              <a:t>10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956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02CD63-8237-4293-9B1F-5D29750900E8}" type="slidenum">
              <a:rPr lang="en-US" altLang="zh-TW" smtClean="0">
                <a:latin typeface="Arial" pitchFamily="34" charset="0"/>
              </a:rPr>
              <a:pPr/>
              <a:t>56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766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141E25-231D-436B-B1D2-81CD87D0221D}" type="slidenum">
              <a:rPr lang="en-US" altLang="zh-TW" smtClean="0">
                <a:latin typeface="Arial" pitchFamily="34" charset="0"/>
              </a:rPr>
              <a:pPr/>
              <a:t>57</a:t>
            </a:fld>
            <a:endParaRPr lang="en-US" altLang="zh-TW" smtClean="0">
              <a:latin typeface="Arial" pitchFamily="3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4800"/>
          </a:xfrm>
          <a:noFill/>
          <a:ln/>
        </p:spPr>
        <p:txBody>
          <a:bodyPr/>
          <a:lstStyle/>
          <a:p>
            <a:pPr eaLnBrk="1" hangingPunct="1"/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692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F437E7-E8DA-489A-8E5A-16B9A4E6AFD4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4876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F437E7-E8DA-489A-8E5A-16B9A4E6AFD4}" type="slidenum">
              <a:rPr lang="en-US" altLang="zh-TW" smtClean="0"/>
              <a:pPr>
                <a:defRPr/>
              </a:pPr>
              <a:t>66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838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8332E-BC01-4448-8CFF-D9751CFACD8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14477-DA9E-4870-BC56-0B13F1877D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8A350-744B-49DF-B28E-7549FE7B03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0BBE9-14F4-495D-A35C-6E2A18F094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1F6B2-21FE-4301-92EC-4E744D63E10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4B064-C74B-42FA-86F4-1FAA1C9E77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5BB6D-4B8F-4480-8C03-916AD761FC8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6411F-0E6B-46A7-B6C8-FFFEDD49D6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9D127-2E37-46B1-B3F2-6448B64FFB6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A7B10-8818-449E-B827-E1B57F6D44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9C6BA-2156-453B-83C6-37E2004EA5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標題，文字及美工圖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美工圖案版面配置區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C9406-70A7-40B1-B969-BB3EF1835D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DE9D4-AF82-415F-B680-2811F45E4A7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A3E44CE7-679C-49BB-85DA-7B576899980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2090663"/>
          </a:xfrm>
        </p:spPr>
        <p:txBody>
          <a:bodyPr>
            <a:normAutofit fontScale="90000"/>
          </a:bodyPr>
          <a:lstStyle/>
          <a:p>
            <a:pPr eaLnBrk="1" hangingPunct="1">
              <a:spcBef>
                <a:spcPts val="1800"/>
              </a:spcBef>
              <a:defRPr/>
            </a:pPr>
            <a:r>
              <a:rPr lang="en-US" altLang="zh-TW" dirty="0" smtClean="0"/>
              <a:t>Chapter 7  </a:t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Synchronization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Classic Problems of Synchronization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Bounded-Buffer Problem</a:t>
            </a:r>
          </a:p>
          <a:p>
            <a:pPr lvl="1"/>
            <a:r>
              <a:rPr lang="en-US" altLang="zh-TW" dirty="0" smtClean="0"/>
              <a:t>Readers </a:t>
            </a:r>
            <a:r>
              <a:rPr lang="en-US" altLang="zh-TW" dirty="0"/>
              <a:t>and Writers Problem</a:t>
            </a:r>
          </a:p>
          <a:p>
            <a:pPr lvl="1"/>
            <a:r>
              <a:rPr lang="en-US" altLang="zh-TW" dirty="0" smtClean="0"/>
              <a:t>Dining-Philosophers Problem</a:t>
            </a:r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POSIX </a:t>
            </a:r>
            <a:r>
              <a:rPr lang="en-US" altLang="zh-TW" sz="3600" dirty="0"/>
              <a:t>Synchronization</a:t>
            </a:r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9990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有</a:t>
            </a:r>
            <a:r>
              <a:rPr lang="en-US" altLang="zh-TW" dirty="0" smtClean="0"/>
              <a:t>Race Condition</a:t>
            </a:r>
            <a:r>
              <a:rPr lang="zh-TW" altLang="en-US" dirty="0" smtClean="0"/>
              <a:t>的版本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071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Example: Producer-Consumer Problem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4785"/>
            <a:ext cx="10972800" cy="187220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i="1" dirty="0" smtClean="0"/>
              <a:t>Producer</a:t>
            </a:r>
            <a:r>
              <a:rPr lang="en-US" altLang="zh-TW" dirty="0" smtClean="0"/>
              <a:t> </a:t>
            </a:r>
            <a:r>
              <a:rPr lang="en-US" altLang="zh-TW" dirty="0"/>
              <a:t>produces data </a:t>
            </a:r>
            <a:r>
              <a:rPr lang="en-US" altLang="zh-TW" dirty="0" smtClean="0"/>
              <a:t>item in a buffer that is consumed by a </a:t>
            </a:r>
            <a:r>
              <a:rPr lang="en-US" altLang="zh-TW" i="1" dirty="0" smtClean="0"/>
              <a:t>consumer</a:t>
            </a:r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0000FF"/>
                </a:solidFill>
              </a:rPr>
              <a:t>buffer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0000FF"/>
                </a:solidFill>
              </a:rPr>
              <a:t>in</a:t>
            </a:r>
            <a:r>
              <a:rPr lang="en-US" altLang="zh-TW" dirty="0" smtClean="0"/>
              <a:t>, and </a:t>
            </a:r>
            <a:r>
              <a:rPr lang="en-US" altLang="zh-TW" dirty="0" smtClean="0">
                <a:solidFill>
                  <a:srgbClr val="0000FF"/>
                </a:solidFill>
              </a:rPr>
              <a:t>out</a:t>
            </a:r>
            <a:r>
              <a:rPr lang="en-US" altLang="zh-TW" dirty="0" smtClean="0"/>
              <a:t> stored in the </a:t>
            </a:r>
            <a:r>
              <a:rPr lang="en-US" altLang="zh-TW" b="1" dirty="0" smtClean="0"/>
              <a:t>shared memory</a:t>
            </a:r>
            <a:r>
              <a:rPr lang="en-US" altLang="zh-TW" dirty="0" smtClean="0"/>
              <a:t> </a:t>
            </a:r>
          </a:p>
          <a:p>
            <a:pPr eaLnBrk="1" hangingPunct="1"/>
            <a:endParaRPr lang="en-US" altLang="zh-TW" dirty="0" smtClean="0"/>
          </a:p>
          <a:p>
            <a:pPr eaLnBrk="1" hangingPunct="1">
              <a:buFontTx/>
              <a:buNone/>
            </a:pPr>
            <a:endParaRPr lang="en-US" altLang="zh-TW" dirty="0" smtClean="0"/>
          </a:p>
        </p:txBody>
      </p:sp>
      <p:grpSp>
        <p:nvGrpSpPr>
          <p:cNvPr id="3" name="群組 2"/>
          <p:cNvGrpSpPr/>
          <p:nvPr/>
        </p:nvGrpSpPr>
        <p:grpSpPr>
          <a:xfrm>
            <a:off x="-168696" y="3425686"/>
            <a:ext cx="7344817" cy="2883634"/>
            <a:chOff x="2351585" y="4149080"/>
            <a:chExt cx="7344817" cy="2883634"/>
          </a:xfrm>
        </p:grpSpPr>
        <p:sp>
          <p:nvSpPr>
            <p:cNvPr id="4" name="Rectangle 3"/>
            <p:cNvSpPr txBox="1">
              <a:spLocks noChangeArrowheads="1"/>
            </p:cNvSpPr>
            <p:nvPr/>
          </p:nvSpPr>
          <p:spPr bwMode="auto">
            <a:xfrm>
              <a:off x="2351585" y="4149080"/>
              <a:ext cx="7344817" cy="2883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baseline="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baseline="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aseline="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baseline="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aseline="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1598613" lvl="3">
                <a:buNone/>
              </a:pPr>
              <a:r>
                <a:rPr lang="en-US" altLang="zh-TW" sz="1600" b="1" kern="0" dirty="0">
                  <a:latin typeface="Courier New" panose="02070309020205020404" pitchFamily="49" charset="0"/>
                </a:rPr>
                <a:t>#define BUFFER_SIZE 10</a:t>
              </a:r>
            </a:p>
            <a:p>
              <a:pPr marL="1598613" lvl="3">
                <a:buNone/>
              </a:pPr>
              <a:r>
                <a:rPr lang="en-US" altLang="zh-TW" sz="1600" b="1" kern="0" dirty="0" err="1">
                  <a:latin typeface="Courier New" panose="02070309020205020404" pitchFamily="49" charset="0"/>
                </a:rPr>
                <a:t>typedef</a:t>
              </a:r>
              <a:r>
                <a:rPr lang="en-US" altLang="zh-TW" sz="1600" b="1" kern="0" dirty="0">
                  <a:latin typeface="Courier New" panose="02070309020205020404" pitchFamily="49" charset="0"/>
                </a:rPr>
                <a:t> </a:t>
              </a:r>
              <a:r>
                <a:rPr lang="en-US" altLang="zh-TW" sz="1600" b="1" kern="0" dirty="0" err="1">
                  <a:latin typeface="Courier New" panose="02070309020205020404" pitchFamily="49" charset="0"/>
                </a:rPr>
                <a:t>struct</a:t>
              </a:r>
              <a:r>
                <a:rPr lang="en-US" altLang="zh-TW" sz="1600" b="1" kern="0" dirty="0">
                  <a:latin typeface="Courier New" panose="02070309020205020404" pitchFamily="49" charset="0"/>
                </a:rPr>
                <a:t> {</a:t>
              </a:r>
            </a:p>
            <a:p>
              <a:pPr marL="1598613" lvl="3">
                <a:buNone/>
              </a:pPr>
              <a:r>
                <a:rPr lang="en-US" altLang="zh-TW" sz="1600" b="1" kern="0" dirty="0">
                  <a:latin typeface="Courier New" panose="02070309020205020404" pitchFamily="49" charset="0"/>
                </a:rPr>
                <a:t>	. . .</a:t>
              </a:r>
            </a:p>
            <a:p>
              <a:pPr marL="1598613" lvl="3">
                <a:buNone/>
              </a:pPr>
              <a:r>
                <a:rPr lang="en-US" altLang="zh-TW" sz="1600" b="1" kern="0" dirty="0">
                  <a:latin typeface="Courier New" panose="02070309020205020404" pitchFamily="49" charset="0"/>
                </a:rPr>
                <a:t>} item;</a:t>
              </a:r>
            </a:p>
            <a:p>
              <a:pPr marL="1598613" lvl="3">
                <a:buNone/>
              </a:pPr>
              <a:endParaRPr lang="en-US" altLang="zh-TW" sz="1600" b="1" kern="0" dirty="0">
                <a:latin typeface="Courier New" panose="02070309020205020404" pitchFamily="49" charset="0"/>
              </a:endParaRPr>
            </a:p>
            <a:p>
              <a:pPr marL="1598613" lvl="3">
                <a:buNone/>
              </a:pPr>
              <a:r>
                <a:rPr lang="en-US" altLang="zh-TW" sz="1600" b="1" kern="0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item buffer[BUFFER_SIZE];  //in shared memory</a:t>
              </a:r>
            </a:p>
            <a:p>
              <a:pPr marL="1598613" lvl="3">
                <a:buNone/>
              </a:pPr>
              <a:r>
                <a:rPr lang="en-US" altLang="zh-TW" sz="1600" b="1" kern="0" dirty="0" err="1">
                  <a:solidFill>
                    <a:srgbClr val="FF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altLang="zh-TW" sz="1600" b="1" kern="0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 in = 0;			 //in shared memory</a:t>
              </a:r>
            </a:p>
            <a:p>
              <a:pPr marL="1598613" lvl="3">
                <a:buNone/>
              </a:pPr>
              <a:r>
                <a:rPr lang="en-US" altLang="zh-TW" sz="1600" b="1" kern="0" dirty="0" err="1">
                  <a:solidFill>
                    <a:srgbClr val="FF0000"/>
                  </a:solidFill>
                  <a:latin typeface="Courier New" panose="02070309020205020404" pitchFamily="49" charset="0"/>
                </a:rPr>
                <a:t>int</a:t>
              </a:r>
              <a:r>
                <a:rPr lang="en-US" altLang="zh-TW" sz="1600" b="1" kern="0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 out = 0;		 //in shared memory</a:t>
              </a:r>
              <a:endParaRPr lang="en-US" altLang="zh-TW" sz="1600" kern="0" dirty="0">
                <a:solidFill>
                  <a:srgbClr val="FF0000"/>
                </a:solidFill>
              </a:endParaRPr>
            </a:p>
            <a:p>
              <a:pPr marL="1598613" lvl="3">
                <a:buNone/>
              </a:pPr>
              <a:endParaRPr lang="en-US" altLang="zh-TW" b="1" kern="0" dirty="0"/>
            </a:p>
          </p:txBody>
        </p:sp>
        <p:sp>
          <p:nvSpPr>
            <p:cNvPr id="2" name="圓角矩形 1"/>
            <p:cNvSpPr/>
            <p:nvPr/>
          </p:nvSpPr>
          <p:spPr>
            <a:xfrm>
              <a:off x="3503712" y="4149080"/>
              <a:ext cx="6048672" cy="2448272"/>
            </a:xfrm>
            <a:prstGeom prst="round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Group 6"/>
          <p:cNvGrpSpPr>
            <a:grpSpLocks/>
          </p:cNvGrpSpPr>
          <p:nvPr/>
        </p:nvGrpSpPr>
        <p:grpSpPr bwMode="auto">
          <a:xfrm>
            <a:off x="7464152" y="3861048"/>
            <a:ext cx="4176713" cy="1220673"/>
            <a:chOff x="839" y="1434"/>
            <a:chExt cx="2721" cy="907"/>
          </a:xfrm>
        </p:grpSpPr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1383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1655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1927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2200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1111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29" name="Rectangle 12"/>
            <p:cNvSpPr>
              <a:spLocks noChangeArrowheads="1"/>
            </p:cNvSpPr>
            <p:nvPr/>
          </p:nvSpPr>
          <p:spPr bwMode="auto">
            <a:xfrm>
              <a:off x="839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0" name="Rectangle 13"/>
            <p:cNvSpPr>
              <a:spLocks noChangeArrowheads="1"/>
            </p:cNvSpPr>
            <p:nvPr/>
          </p:nvSpPr>
          <p:spPr bwMode="auto">
            <a:xfrm>
              <a:off x="2472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1" name="Rectangle 14"/>
            <p:cNvSpPr>
              <a:spLocks noChangeArrowheads="1"/>
            </p:cNvSpPr>
            <p:nvPr/>
          </p:nvSpPr>
          <p:spPr bwMode="auto">
            <a:xfrm>
              <a:off x="2744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2" name="Rectangle 15"/>
            <p:cNvSpPr>
              <a:spLocks noChangeArrowheads="1"/>
            </p:cNvSpPr>
            <p:nvPr/>
          </p:nvSpPr>
          <p:spPr bwMode="auto">
            <a:xfrm>
              <a:off x="3016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auto">
            <a:xfrm>
              <a:off x="3288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>
              <a:off x="2607" y="170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5" name="Text Box 18"/>
            <p:cNvSpPr txBox="1">
              <a:spLocks noChangeArrowheads="1"/>
            </p:cNvSpPr>
            <p:nvPr/>
          </p:nvSpPr>
          <p:spPr bwMode="auto">
            <a:xfrm>
              <a:off x="2472" y="1434"/>
              <a:ext cx="28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2400" b="1">
                  <a:latin typeface="Times New Roman" pitchFamily="18" charset="0"/>
                  <a:ea typeface="新細明體" pitchFamily="18" charset="-120"/>
                </a:rPr>
                <a:t>in</a:t>
              </a:r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>
              <a:off x="1520" y="1706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37" name="Text Box 20"/>
            <p:cNvSpPr txBox="1">
              <a:spLocks noChangeArrowheads="1"/>
            </p:cNvSpPr>
            <p:nvPr/>
          </p:nvSpPr>
          <p:spPr bwMode="auto">
            <a:xfrm>
              <a:off x="1337" y="1434"/>
              <a:ext cx="39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2400" b="1">
                  <a:latin typeface="Times New Roman" pitchFamily="18" charset="0"/>
                  <a:ea typeface="新細明體" pitchFamily="18" charset="-120"/>
                </a:rPr>
                <a:t>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719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Bounded-Buffer </a:t>
            </a:r>
            <a:r>
              <a:rPr lang="en-US" altLang="zh-TW" sz="3600" dirty="0" smtClean="0">
                <a:latin typeface="Helvetica"/>
              </a:rPr>
              <a:t>:</a:t>
            </a:r>
            <a:r>
              <a:rPr lang="en-US" altLang="zh-TW" sz="3600" dirty="0" smtClean="0"/>
              <a:t> </a:t>
            </a:r>
            <a:r>
              <a:rPr lang="en-US" altLang="zh-TW" sz="3600" dirty="0"/>
              <a:t>Shared-Memory </a:t>
            </a:r>
            <a:r>
              <a:rPr lang="en-US" altLang="zh-TW" sz="3600" dirty="0" smtClean="0"/>
              <a:t>Solution</a:t>
            </a:r>
            <a:endParaRPr lang="en-US" altLang="zh-TW" sz="3600" dirty="0"/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7488" y="1124744"/>
            <a:ext cx="4351338" cy="4313238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5262" y="1124744"/>
            <a:ext cx="4543266" cy="42926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3071664" y="5099051"/>
            <a:ext cx="1187450" cy="366712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ea typeface="標楷體" pitchFamily="65" charset="-120"/>
              </a:rPr>
              <a:t>Producer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7662573" y="5099051"/>
            <a:ext cx="1314450" cy="366712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ea typeface="標楷體" pitchFamily="65" charset="-120"/>
              </a:rPr>
              <a:t>Consumer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666202" y="5949280"/>
            <a:ext cx="8894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libri" panose="020F0502020204030204" pitchFamily="34" charset="0"/>
              </a:rPr>
              <a:t>Both </a:t>
            </a:r>
            <a:r>
              <a:rPr lang="en-US" altLang="zh-TW" sz="2400" dirty="0">
                <a:latin typeface="Calibri" panose="020F0502020204030204" pitchFamily="34" charset="0"/>
              </a:rPr>
              <a:t>processes attempt to access the 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</a:rPr>
              <a:t>in, out </a:t>
            </a:r>
            <a:r>
              <a:rPr lang="en-US" altLang="zh-TW" sz="2400" dirty="0">
                <a:latin typeface="Calibri" panose="020F0502020204030204" pitchFamily="34" charset="0"/>
              </a:rPr>
              <a:t>and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</a:rPr>
              <a:t> buffer </a:t>
            </a:r>
            <a:r>
              <a:rPr lang="en-US" altLang="zh-TW" sz="2400" dirty="0" smtClean="0">
                <a:latin typeface="Calibri" panose="020F0502020204030204" pitchFamily="34" charset="0"/>
              </a:rPr>
              <a:t>concurrently</a:t>
            </a:r>
            <a:endParaRPr lang="en-US" altLang="zh-TW" sz="2400" dirty="0">
              <a:latin typeface="Calibri" panose="020F0502020204030204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515853" y="5517232"/>
            <a:ext cx="13722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Problem? </a:t>
            </a:r>
          </a:p>
        </p:txBody>
      </p:sp>
      <p:sp>
        <p:nvSpPr>
          <p:cNvPr id="2" name="矩形 1"/>
          <p:cNvSpPr/>
          <p:nvPr/>
        </p:nvSpPr>
        <p:spPr>
          <a:xfrm>
            <a:off x="5276841" y="2708920"/>
            <a:ext cx="360040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32104" y="4149080"/>
            <a:ext cx="427317" cy="402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1545" y="4293096"/>
            <a:ext cx="288032" cy="402399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52184" y="2636912"/>
            <a:ext cx="288032" cy="402399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01792" y="2708920"/>
            <a:ext cx="288032" cy="402399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70760" y="2636912"/>
            <a:ext cx="360040" cy="432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17170" y="3717032"/>
            <a:ext cx="576064" cy="40239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04312" y="3645024"/>
            <a:ext cx="648072" cy="40239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95600" y="4293096"/>
            <a:ext cx="288032" cy="402399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56915" y="4149080"/>
            <a:ext cx="427317" cy="402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2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如第六章所述</a:t>
            </a:r>
            <a:r>
              <a:rPr lang="en-US" altLang="zh-TW" dirty="0"/>
              <a:t>, </a:t>
            </a:r>
            <a:r>
              <a:rPr lang="zh-TW" altLang="en-US" dirty="0"/>
              <a:t>上述程式會產生</a:t>
            </a:r>
            <a:r>
              <a:rPr lang="en-US" altLang="zh-TW" dirty="0"/>
              <a:t>race </a:t>
            </a:r>
            <a:r>
              <a:rPr lang="en-US" altLang="zh-TW" dirty="0" smtClean="0"/>
              <a:t>condition. </a:t>
            </a:r>
            <a:r>
              <a:rPr lang="en-US" altLang="zh-TW" dirty="0"/>
              <a:t>Q: </a:t>
            </a:r>
            <a:r>
              <a:rPr lang="zh-TW" altLang="en-US" dirty="0"/>
              <a:t>假設使用</a:t>
            </a:r>
            <a:r>
              <a:rPr lang="en-US" altLang="zh-TW" dirty="0"/>
              <a:t>semaphore, </a:t>
            </a:r>
            <a:r>
              <a:rPr lang="zh-TW" altLang="en-US" dirty="0"/>
              <a:t>如何</a:t>
            </a:r>
            <a:r>
              <a:rPr lang="en-US" altLang="zh-TW" dirty="0"/>
              <a:t>debug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/>
              <a:t>我們需要哪些</a:t>
            </a:r>
            <a:r>
              <a:rPr lang="en-US" altLang="zh-TW" dirty="0"/>
              <a:t>semaphore?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280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Q: </a:t>
            </a:r>
            <a:r>
              <a:rPr lang="zh-TW" altLang="en-US" dirty="0"/>
              <a:t>我們需要哪些</a:t>
            </a:r>
            <a:r>
              <a:rPr lang="en-US" altLang="zh-TW" dirty="0"/>
              <a:t>semaphore?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</a:t>
            </a:r>
            <a:r>
              <a:rPr lang="en-US" altLang="zh-TW" dirty="0"/>
              <a:t>: </a:t>
            </a:r>
            <a:r>
              <a:rPr lang="zh-TW" altLang="en-US" dirty="0"/>
              <a:t>思考那些情形程式會被</a:t>
            </a:r>
            <a:r>
              <a:rPr lang="en-US" altLang="zh-TW" dirty="0"/>
              <a:t>blocked?</a:t>
            </a:r>
          </a:p>
        </p:txBody>
      </p:sp>
    </p:spTree>
    <p:extLst>
      <p:ext uri="{BB962C8B-B14F-4D97-AF65-F5344CB8AC3E}">
        <p14:creationId xmlns:p14="http://schemas.microsoft.com/office/powerpoint/2010/main" val="271198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為什麼</a:t>
            </a:r>
            <a:r>
              <a:rPr lang="zh-TW" altLang="en-US" dirty="0"/>
              <a:t>需要思考會被</a:t>
            </a:r>
            <a:r>
              <a:rPr lang="en-US" altLang="zh-TW" dirty="0"/>
              <a:t>blocked</a:t>
            </a:r>
            <a:r>
              <a:rPr lang="zh-TW" altLang="en-US" dirty="0"/>
              <a:t>的情形呢</a:t>
            </a:r>
            <a:r>
              <a:rPr lang="en-US" altLang="zh-TW" dirty="0" smtClean="0"/>
              <a:t>?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</a:t>
            </a:r>
            <a:r>
              <a:rPr lang="zh-TW" altLang="en-US" dirty="0"/>
              <a:t>會被</a:t>
            </a:r>
            <a:r>
              <a:rPr lang="en-US" altLang="zh-TW" dirty="0"/>
              <a:t>blocked</a:t>
            </a:r>
            <a:r>
              <a:rPr lang="zh-TW" altLang="en-US" dirty="0" smtClean="0"/>
              <a:t>的地方就需要</a:t>
            </a:r>
            <a:r>
              <a:rPr lang="en-US" altLang="zh-TW" dirty="0" smtClean="0"/>
              <a:t>semaphore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983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Bounded-Buffer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那些情形程式會</a:t>
            </a:r>
            <a:r>
              <a:rPr lang="zh-TW" altLang="en-US" dirty="0"/>
              <a:t>被</a:t>
            </a:r>
            <a:r>
              <a:rPr lang="en-US" altLang="zh-TW" dirty="0" smtClean="0"/>
              <a:t>blocked?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1. buffer</a:t>
            </a:r>
            <a:r>
              <a:rPr lang="zh-TW" altLang="en-US" dirty="0" smtClean="0"/>
              <a:t>為空</a:t>
            </a:r>
            <a:r>
              <a:rPr lang="en-US" altLang="zh-TW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3200" dirty="0" smtClean="0">
                <a:cs typeface="+mn-cs"/>
              </a:rPr>
              <a:t>consumer</a:t>
            </a:r>
            <a:r>
              <a:rPr lang="zh-TW" altLang="en-US" sz="3200" dirty="0" smtClean="0">
                <a:cs typeface="+mn-cs"/>
              </a:rPr>
              <a:t>必須被</a:t>
            </a:r>
            <a:r>
              <a:rPr lang="en-US" altLang="zh-TW" sz="3200" dirty="0" smtClean="0">
                <a:cs typeface="+mn-cs"/>
              </a:rPr>
              <a:t>blocked</a:t>
            </a:r>
            <a:endParaRPr lang="en-US" altLang="zh-TW" sz="3200" dirty="0" smtClean="0">
              <a:cs typeface="+mn-cs"/>
            </a:endParaRPr>
          </a:p>
          <a:p>
            <a:pPr lvl="1"/>
            <a:r>
              <a:rPr lang="en-US" altLang="zh-TW" sz="3200" dirty="0" smtClean="0"/>
              <a:t>2. </a:t>
            </a:r>
            <a:r>
              <a:rPr lang="en-US" altLang="zh-TW" sz="3200" dirty="0"/>
              <a:t>buffer</a:t>
            </a:r>
            <a:r>
              <a:rPr lang="zh-TW" altLang="en-US" sz="3200" dirty="0" smtClean="0"/>
              <a:t>為滿</a:t>
            </a:r>
            <a:r>
              <a:rPr lang="en-US" altLang="zh-TW" sz="32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3200" dirty="0" smtClean="0"/>
              <a:t>producer</a:t>
            </a:r>
            <a:r>
              <a:rPr lang="zh-TW" altLang="en-US" sz="3200" dirty="0" smtClean="0"/>
              <a:t>必須</a:t>
            </a:r>
            <a:r>
              <a:rPr lang="zh-TW" altLang="en-US" sz="3200" dirty="0"/>
              <a:t>被</a:t>
            </a:r>
            <a:r>
              <a:rPr lang="en-US" altLang="zh-TW" sz="3200" dirty="0" smtClean="0"/>
              <a:t>blocked</a:t>
            </a:r>
            <a:endParaRPr lang="en-US" altLang="zh-TW" sz="3200" dirty="0"/>
          </a:p>
          <a:p>
            <a:pPr lvl="1"/>
            <a:r>
              <a:rPr lang="en-US" altLang="zh-TW" sz="3200" dirty="0" smtClean="0">
                <a:cs typeface="+mn-cs"/>
              </a:rPr>
              <a:t>3. producer(consumer</a:t>
            </a:r>
            <a:r>
              <a:rPr lang="en-US" altLang="zh-TW" sz="3200" dirty="0" smtClean="0">
                <a:cs typeface="+mn-cs"/>
              </a:rPr>
              <a:t>)</a:t>
            </a:r>
            <a:r>
              <a:rPr lang="zh-TW" altLang="en-US" sz="3200" dirty="0" smtClean="0">
                <a:cs typeface="+mn-cs"/>
              </a:rPr>
              <a:t>想存取</a:t>
            </a:r>
            <a:r>
              <a:rPr lang="en-US" altLang="zh-TW" sz="3200" dirty="0" smtClean="0">
                <a:cs typeface="+mn-cs"/>
              </a:rPr>
              <a:t>buffer, </a:t>
            </a:r>
            <a:r>
              <a:rPr lang="zh-TW" altLang="en-US" sz="3200" dirty="0" smtClean="0">
                <a:cs typeface="+mn-cs"/>
              </a:rPr>
              <a:t>但</a:t>
            </a:r>
            <a:r>
              <a:rPr lang="en-US" altLang="zh-TW" sz="3200" dirty="0" smtClean="0">
                <a:cs typeface="+mn-cs"/>
              </a:rPr>
              <a:t>buffer</a:t>
            </a:r>
            <a:r>
              <a:rPr lang="zh-TW" altLang="en-US" sz="3200" dirty="0" smtClean="0">
                <a:cs typeface="+mn-cs"/>
              </a:rPr>
              <a:t>被</a:t>
            </a:r>
            <a:r>
              <a:rPr lang="en-US" altLang="zh-TW" sz="3200" dirty="0" smtClean="0">
                <a:cs typeface="+mn-cs"/>
              </a:rPr>
              <a:t>consumer (producer)</a:t>
            </a:r>
            <a:r>
              <a:rPr lang="zh-TW" altLang="en-US" sz="3200" dirty="0" smtClean="0">
                <a:cs typeface="+mn-cs"/>
              </a:rPr>
              <a:t>存取中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3200" dirty="0" smtClean="0"/>
              <a:t>producer(consumer)</a:t>
            </a:r>
            <a:r>
              <a:rPr lang="zh-TW" altLang="en-US" sz="3200" dirty="0" smtClean="0"/>
              <a:t>必須</a:t>
            </a:r>
            <a:r>
              <a:rPr lang="zh-TW" altLang="en-US" sz="3200" dirty="0"/>
              <a:t>被</a:t>
            </a:r>
            <a:r>
              <a:rPr lang="en-US" altLang="zh-TW" sz="3200" dirty="0" smtClean="0"/>
              <a:t>blocked</a:t>
            </a:r>
            <a:endParaRPr lang="en-US" altLang="zh-TW" sz="3200" dirty="0" smtClean="0"/>
          </a:p>
          <a:p>
            <a:endParaRPr lang="en-US" altLang="zh-TW" sz="3600" dirty="0" smtClean="0"/>
          </a:p>
          <a:p>
            <a:r>
              <a:rPr lang="zh-TW" altLang="en-US" sz="3600" dirty="0" smtClean="0"/>
              <a:t>所以</a:t>
            </a:r>
            <a:r>
              <a:rPr lang="en-US" altLang="zh-TW" sz="3600" dirty="0" smtClean="0"/>
              <a:t>, </a:t>
            </a:r>
            <a:r>
              <a:rPr lang="zh-TW" altLang="en-US" sz="3600" dirty="0" smtClean="0"/>
              <a:t>我們需要三個</a:t>
            </a:r>
            <a:r>
              <a:rPr lang="en-US" altLang="zh-TW" sz="3600" dirty="0" smtClean="0"/>
              <a:t>semaphores</a:t>
            </a:r>
            <a:endParaRPr lang="en-US" altLang="zh-TW" sz="3600" dirty="0"/>
          </a:p>
          <a:p>
            <a:pPr lvl="1"/>
            <a:endParaRPr lang="en-US" altLang="zh-TW" sz="3200" dirty="0">
              <a:cs typeface="+mn-cs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711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Bounded-Buffer Problem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i="1" dirty="0" smtClean="0"/>
              <a:t>Assume buffer size = N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Three semaphores</a:t>
            </a:r>
          </a:p>
          <a:p>
            <a:pPr lvl="1" eaLnBrk="1" hangingPunct="1"/>
            <a:r>
              <a:rPr lang="en-US" altLang="zh-TW" dirty="0" smtClean="0"/>
              <a:t>Semaphore </a:t>
            </a:r>
            <a:r>
              <a:rPr lang="en-US" altLang="zh-TW" b="1" dirty="0">
                <a:solidFill>
                  <a:srgbClr val="FF0000"/>
                </a:solidFill>
              </a:rPr>
              <a:t>mutex</a:t>
            </a:r>
            <a:r>
              <a:rPr lang="en-US" altLang="zh-TW" dirty="0"/>
              <a:t> initialized to the value 1</a:t>
            </a:r>
          </a:p>
          <a:p>
            <a:pPr lvl="2" eaLnBrk="1" hangingPunct="1"/>
            <a:r>
              <a:rPr lang="en-US" altLang="zh-TW" dirty="0"/>
              <a:t>Synchronize to access buffer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Semaphore </a:t>
            </a:r>
            <a:r>
              <a:rPr lang="en-US" altLang="zh-TW" b="1" dirty="0">
                <a:solidFill>
                  <a:srgbClr val="FF0000"/>
                </a:solidFill>
              </a:rPr>
              <a:t>full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initialized to the value 0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Semaphore </a:t>
            </a:r>
            <a:r>
              <a:rPr lang="en-US" altLang="zh-TW" b="1" dirty="0">
                <a:solidFill>
                  <a:srgbClr val="FF0000"/>
                </a:solidFill>
              </a:rPr>
              <a:t>empty</a:t>
            </a:r>
            <a:r>
              <a:rPr lang="en-US" altLang="zh-TW" dirty="0"/>
              <a:t> initialized to the value </a:t>
            </a:r>
            <a:r>
              <a:rPr lang="en-US" altLang="zh-TW" i="1" dirty="0"/>
              <a:t>N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4016375" y="32464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zh-TW" altLang="zh-TW" sz="1800"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Producer</a:t>
            </a:r>
            <a:r>
              <a:rPr lang="zh-TW" altLang="en-US" dirty="0" smtClean="0"/>
              <a:t>的程式碼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2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Producer</a:t>
            </a: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1513" y="1538289"/>
            <a:ext cx="8005762" cy="451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7536160" y="4365104"/>
            <a:ext cx="4176713" cy="1220673"/>
            <a:chOff x="839" y="1434"/>
            <a:chExt cx="2721" cy="907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1383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655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1927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2200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1111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839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2472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2744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3016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3288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2472" y="1434"/>
              <a:ext cx="120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en-US" altLang="zh-TW" sz="2400" b="1" dirty="0">
                <a:latin typeface="Times New Roman" pitchFamily="18" charset="0"/>
                <a:ea typeface="新細明體" pitchFamily="18" charset="-120"/>
              </a:endParaRP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1337" y="1434"/>
              <a:ext cx="120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en-US" altLang="zh-TW" sz="2400" b="1" dirty="0"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Consumer</a:t>
            </a:r>
            <a:r>
              <a:rPr lang="zh-TW" altLang="en-US" dirty="0" smtClean="0"/>
              <a:t>的程式碼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02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Consumer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776" y="1563688"/>
            <a:ext cx="7813675" cy="452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7320136" y="4860614"/>
            <a:ext cx="4176713" cy="1220673"/>
            <a:chOff x="839" y="1434"/>
            <a:chExt cx="2721" cy="907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383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655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927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2200" y="1933"/>
              <a:ext cx="272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1111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839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472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2744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3016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3288" y="1933"/>
              <a:ext cx="272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2472" y="1434"/>
              <a:ext cx="120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en-US" altLang="zh-TW" sz="2400" b="1" dirty="0">
                <a:latin typeface="Times New Roman" pitchFamily="18" charset="0"/>
                <a:ea typeface="新細明體" pitchFamily="18" charset="-120"/>
              </a:endParaRP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1337" y="1434"/>
              <a:ext cx="120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en-US" altLang="zh-TW" sz="2400" b="1" dirty="0"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58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Semaphore Full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524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231123"/>
              </p:ext>
            </p:extLst>
          </p:nvPr>
        </p:nvGraphicFramePr>
        <p:xfrm>
          <a:off x="1991544" y="1628801"/>
          <a:ext cx="7848872" cy="4414494"/>
        </p:xfrm>
        <a:graphic>
          <a:graphicData uri="http://schemas.openxmlformats.org/drawingml/2006/table">
            <a:tbl>
              <a:tblPr/>
              <a:tblGrid>
                <a:gridCol w="4149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Producer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Consumer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439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wait(full):full=-1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Full.L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8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wait(empty):empty=N-1</a:t>
                      </a:r>
                      <a:endParaRPr lang="zh-TW" altLang="en-US" sz="2000" dirty="0"/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wait(mutex):mutex=0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item to the buffer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5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signal(mutex):mutex=1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signal(full):full=0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 up Consumer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wait(mutex):mutex=0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258389" y="1115742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Courier New" pitchFamily="49" charset="0"/>
              </a:rPr>
              <a:t>Initially, full=0, mutex=1,empty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Calibri" pitchFamily="34" charset="0"/>
              </a:rPr>
              <a:t> = N (=10)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新細明體" pitchFamily="18" charset="-120"/>
              <a:cs typeface="Calibri" pitchFamily="34" charset="0"/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Consumer Cannot Consume Data When </a:t>
            </a:r>
            <a:r>
              <a:rPr lang="en-US" altLang="zh-TW" sz="2800" dirty="0" smtClean="0">
                <a:solidFill>
                  <a:srgbClr val="FF0000"/>
                </a:solidFill>
              </a:rPr>
              <a:t>Full is Empty (=0)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605384" y="6187369"/>
            <a:ext cx="109844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</a:rPr>
              <a:t>Semaphore 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full 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用來確保當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buffer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為空時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(full = 0)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，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Consumer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無法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consume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資料</a:t>
            </a:r>
            <a:endParaRPr kumimoji="1" lang="en-US" altLang="zh-TW" sz="2400" b="1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6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Semaphore Empty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73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3567323"/>
              </p:ext>
            </p:extLst>
          </p:nvPr>
        </p:nvGraphicFramePr>
        <p:xfrm>
          <a:off x="1847528" y="1383917"/>
          <a:ext cx="7848872" cy="4659467"/>
        </p:xfrm>
        <a:graphic>
          <a:graphicData uri="http://schemas.openxmlformats.org/drawingml/2006/table">
            <a:tbl>
              <a:tblPr/>
              <a:tblGrid>
                <a:gridCol w="4149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Producer</a:t>
                      </a: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Consumer</a:t>
                      </a: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Add item to the buffer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……</a:t>
                      </a:r>
                      <a:endParaRPr lang="zh-TW" altLang="en-US" sz="1900" baseline="0" dirty="0" smtClean="0">
                        <a:ea typeface="標楷體" panose="03000509000000000000" pitchFamily="65" charset="-12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26861"/>
                  </a:ext>
                </a:extLst>
              </a:tr>
              <a:tr h="4744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Producer</a:t>
                      </a:r>
                      <a:r>
                        <a:rPr kumimoji="1" lang="zh-TW" altLang="en-US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一直</a:t>
                      </a: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produce item to the buffer</a:t>
                      </a:r>
                      <a:endParaRPr kumimoji="1" lang="zh-TW" altLang="en-US" sz="19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假設此時</a:t>
                      </a: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buffer</a:t>
                      </a:r>
                      <a:r>
                        <a:rPr kumimoji="1" lang="zh-TW" altLang="en-US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滿了</a:t>
                      </a:r>
                      <a:endParaRPr kumimoji="1" lang="en-US" altLang="zh-TW" sz="19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full=</a:t>
                      </a:r>
                      <a:r>
                        <a:rPr kumimoji="1" lang="en-US" altLang="zh-TW" sz="1900" b="1" i="1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N</a:t>
                      </a:r>
                      <a:r>
                        <a:rPr kumimoji="1" lang="en-US" altLang="zh-TW" sz="19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, mutex=1,empty = 0</a:t>
                      </a:r>
                      <a:endParaRPr lang="zh-TW" altLang="en-US" sz="1900" baseline="0" dirty="0" smtClean="0">
                        <a:ea typeface="標楷體" panose="03000509000000000000" pitchFamily="65" charset="-12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762814"/>
                  </a:ext>
                </a:extLst>
              </a:tr>
              <a:tr h="321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wait(empty):empty=-1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1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empty.L</a:t>
                      </a:r>
                      <a:endParaRPr lang="zh-TW" altLang="en-US" sz="1900" baseline="0" dirty="0" smtClean="0">
                        <a:solidFill>
                          <a:srgbClr val="FF3300"/>
                        </a:solidFill>
                        <a:ea typeface="標楷體" panose="03000509000000000000" pitchFamily="65" charset="-12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wait(full):full=</a:t>
                      </a:r>
                      <a:r>
                        <a:rPr kumimoji="1" lang="en-US" altLang="zh-TW" sz="19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N</a:t>
                      </a: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-1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…//remove an item</a:t>
                      </a:r>
                      <a:endParaRPr kumimoji="1" lang="zh-TW" altLang="en-US" sz="19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標楷體" panose="03000509000000000000" pitchFamily="65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signal(empty):empty=0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標楷體" panose="03000509000000000000" pitchFamily="65" charset="-120"/>
                          <a:cs typeface="Courier New" pitchFamily="49" charset="0"/>
                        </a:rPr>
                        <a:t>Wait up Producer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624417" y="44624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Producer Cannot Produce Data When </a:t>
            </a:r>
            <a:r>
              <a:rPr lang="en-US" altLang="zh-TW" sz="2800" dirty="0" smtClean="0">
                <a:solidFill>
                  <a:srgbClr val="FF0000"/>
                </a:solidFill>
              </a:rPr>
              <a:t>Empty is Full (=</a:t>
            </a:r>
            <a:r>
              <a:rPr lang="en-US" altLang="zh-TW" sz="2800" i="1" dirty="0" smtClean="0">
                <a:solidFill>
                  <a:srgbClr val="FF0000"/>
                </a:solidFill>
              </a:rPr>
              <a:t>N</a:t>
            </a:r>
            <a:r>
              <a:rPr lang="en-US" altLang="zh-TW" sz="2800" dirty="0" smtClean="0">
                <a:solidFill>
                  <a:srgbClr val="FF0000"/>
                </a:solidFill>
              </a:rPr>
              <a:t>)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Box 32"/>
          <p:cNvSpPr txBox="1">
            <a:spLocks noChangeArrowheads="1"/>
          </p:cNvSpPr>
          <p:nvPr/>
        </p:nvSpPr>
        <p:spPr bwMode="auto">
          <a:xfrm>
            <a:off x="1703512" y="987260"/>
            <a:ext cx="84969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標楷體" panose="03000509000000000000" pitchFamily="65" charset="-120"/>
                <a:cs typeface="Courier New" pitchFamily="49" charset="0"/>
              </a:rPr>
              <a:t>假設某個時間點</a:t>
            </a:r>
            <a:r>
              <a:rPr kumimoji="1" lang="zh-TW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：</a:t>
            </a:r>
            <a:r>
              <a:rPr kumimoji="1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full=</a:t>
            </a:r>
            <a:r>
              <a:rPr kumimoji="1" lang="en-US" altLang="zh-TW" sz="2400" b="1" i="1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5</a:t>
            </a:r>
            <a:r>
              <a:rPr kumimoji="1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mutex=1,empty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= 10-</a:t>
            </a:r>
            <a:r>
              <a:rPr kumimoji="1" lang="en-US" altLang="zh-TW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5=5, </a:t>
            </a:r>
            <a:r>
              <a:rPr kumimoji="1" lang="zh-TW" altLang="en-US" sz="2400" b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Calibri" pitchFamily="34" charset="0"/>
              </a:rPr>
              <a:t>然後</a:t>
            </a:r>
            <a:endParaRPr kumimoji="1" lang="en-US" altLang="zh-TW" sz="24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Calibri" pitchFamily="34" charset="0"/>
            </a:endParaRPr>
          </a:p>
        </p:txBody>
      </p:sp>
      <p:sp>
        <p:nvSpPr>
          <p:cNvPr id="2" name="左大括弧 1"/>
          <p:cNvSpPr/>
          <p:nvPr/>
        </p:nvSpPr>
        <p:spPr>
          <a:xfrm>
            <a:off x="1415480" y="1772816"/>
            <a:ext cx="504056" cy="2880320"/>
          </a:xfrm>
          <a:prstGeom prst="lef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圓角矩形 2"/>
          <p:cNvSpPr/>
          <p:nvPr/>
        </p:nvSpPr>
        <p:spPr>
          <a:xfrm>
            <a:off x="119336" y="2492896"/>
            <a:ext cx="1347473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 smtClean="0">
                <a:solidFill>
                  <a:srgbClr val="FF33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假設</a:t>
            </a:r>
            <a:r>
              <a:rPr lang="en-US" altLang="zh-TW" sz="1800" b="1" dirty="0" smtClean="0">
                <a:solidFill>
                  <a:srgbClr val="FF33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Producer</a:t>
            </a:r>
            <a:r>
              <a:rPr lang="zh-TW" altLang="en-US" sz="1800" b="1" dirty="0" smtClean="0">
                <a:solidFill>
                  <a:srgbClr val="FF33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一直執行</a:t>
            </a:r>
            <a:endParaRPr lang="zh-TW" altLang="en-US" sz="1800" b="1" dirty="0">
              <a:solidFill>
                <a:srgbClr val="FF330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Text Box 32"/>
          <p:cNvSpPr txBox="1">
            <a:spLocks noChangeArrowheads="1"/>
          </p:cNvSpPr>
          <p:nvPr/>
        </p:nvSpPr>
        <p:spPr bwMode="auto">
          <a:xfrm>
            <a:off x="551384" y="6237312"/>
            <a:ext cx="109844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/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</a:rPr>
              <a:t>Semaphore 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empty 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用來確保當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buffer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為滿時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(empty = 0)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，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Producer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無法</a:t>
            </a:r>
            <a:r>
              <a:rPr lang="en-US" altLang="zh-TW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produce</a:t>
            </a:r>
            <a:r>
              <a:rPr lang="zh-TW" altLang="en-US" sz="2400" b="1" dirty="0" smtClean="0">
                <a:latin typeface="Calibri" panose="020F0502020204030204" pitchFamily="34" charset="0"/>
                <a:ea typeface="標楷體" panose="03000509000000000000" pitchFamily="65" charset="-120"/>
              </a:rPr>
              <a:t>資料</a:t>
            </a:r>
            <a:endParaRPr kumimoji="1" lang="en-US" altLang="zh-TW" sz="2400" b="1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3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Semaphore mutex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320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477705"/>
              </p:ext>
            </p:extLst>
          </p:nvPr>
        </p:nvGraphicFramePr>
        <p:xfrm>
          <a:off x="1703512" y="1340768"/>
          <a:ext cx="8496944" cy="4334479"/>
        </p:xfrm>
        <a:graphic>
          <a:graphicData uri="http://schemas.openxmlformats.org/drawingml/2006/table">
            <a:tbl>
              <a:tblPr/>
              <a:tblGrid>
                <a:gridCol w="449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Producer</a:t>
                      </a: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Consumer</a:t>
                      </a: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wait(empty); //empty=5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wait(mutex); //mutex = 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26861"/>
                  </a:ext>
                </a:extLst>
              </a:tr>
              <a:tr h="4744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Producer</a:t>
                      </a:r>
                      <a:r>
                        <a:rPr kumimoji="1" lang="zh-TW" altLang="en-US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access buffer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//produce item to the buffer</a:t>
                      </a:r>
                      <a:endParaRPr kumimoji="1" lang="zh-TW" altLang="en-US" sz="19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……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wait(full);  //full = 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762814"/>
                  </a:ext>
                </a:extLst>
              </a:tr>
              <a:tr h="321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dirty="0" smtClean="0">
                        <a:solidFill>
                          <a:srgbClr val="FF3300"/>
                        </a:solidFill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wait(mutex):mutex=-1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1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empty.L</a:t>
                      </a:r>
                      <a:endParaRPr lang="zh-TW" altLang="en-US" sz="1900" dirty="0" smtClean="0">
                        <a:solidFill>
                          <a:srgbClr val="FF3300"/>
                        </a:solidFill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Producer</a:t>
                      </a:r>
                      <a:r>
                        <a:rPr kumimoji="1" lang="zh-TW" altLang="en-US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access buffer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//produce item to the buffer</a:t>
                      </a:r>
                      <a:endParaRPr kumimoji="1" lang="zh-TW" altLang="en-US" sz="19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signal(mutex); //mutex =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 up Consumer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19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648816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Producer and Consumer Cannot Access Buffer Simultaneously by </a:t>
            </a:r>
            <a:r>
              <a:rPr lang="en-US" altLang="zh-TW" sz="2400" dirty="0"/>
              <a:t>Semaphore </a:t>
            </a:r>
            <a:r>
              <a:rPr lang="en-US" altLang="zh-TW" sz="2400" dirty="0" smtClean="0">
                <a:solidFill>
                  <a:srgbClr val="FF0000"/>
                </a:solidFill>
              </a:rPr>
              <a:t>mutex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Box 32"/>
          <p:cNvSpPr txBox="1">
            <a:spLocks noChangeArrowheads="1"/>
          </p:cNvSpPr>
          <p:nvPr/>
        </p:nvSpPr>
        <p:spPr bwMode="auto">
          <a:xfrm>
            <a:off x="728219" y="5919663"/>
            <a:ext cx="109844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Semaphore 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mutex 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用來保護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Buffer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，確保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Producer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和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Consumer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不會同時存取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buffer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2063552" y="764704"/>
            <a:ext cx="77048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標楷體" panose="03000509000000000000" pitchFamily="65" charset="-120"/>
                <a:cs typeface="Courier New" pitchFamily="49" charset="0"/>
              </a:rPr>
              <a:t>假設某個時間點</a:t>
            </a:r>
            <a:r>
              <a:rPr kumimoji="1" lang="zh-TW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：</a:t>
            </a:r>
            <a:r>
              <a:rPr kumimoji="1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full=</a:t>
            </a:r>
            <a:r>
              <a:rPr kumimoji="1" lang="en-US" altLang="zh-TW" sz="2400" b="1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4</a:t>
            </a:r>
            <a:r>
              <a:rPr kumimoji="1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, mutex=1,empty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= 6, </a:t>
            </a:r>
            <a:r>
              <a:rPr lang="zh-TW" altLang="en-US" sz="2400" b="1" kern="0" dirty="0">
                <a:solidFill>
                  <a:srgbClr val="000000"/>
                </a:solidFill>
                <a:latin typeface="Courier New" pitchFamily="49" charset="0"/>
                <a:ea typeface="標楷體" panose="03000509000000000000" pitchFamily="65" charset="-120"/>
                <a:cs typeface="Courier New" pitchFamily="49" charset="0"/>
              </a:rPr>
              <a:t>然後</a:t>
            </a:r>
            <a:endParaRPr lang="en-US" altLang="zh-TW" sz="2400" b="1" kern="0" dirty="0">
              <a:solidFill>
                <a:srgbClr val="000000"/>
              </a:solidFill>
              <a:latin typeface="Courier New" pitchFamily="49" charset="0"/>
              <a:ea typeface="標楷體" panose="03000509000000000000" pitchFamily="65" charset="-12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54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Classic Problems of Synchronization</a:t>
            </a:r>
          </a:p>
          <a:p>
            <a:pPr lvl="1"/>
            <a:r>
              <a:rPr lang="en-US" altLang="zh-TW" dirty="0"/>
              <a:t>Bounded-Buffer Problem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Readers </a:t>
            </a:r>
            <a:r>
              <a:rPr lang="en-US" altLang="zh-TW" b="1" dirty="0">
                <a:solidFill>
                  <a:srgbClr val="FF0000"/>
                </a:solidFill>
              </a:rPr>
              <a:t>and Writers Problem</a:t>
            </a:r>
          </a:p>
          <a:p>
            <a:pPr lvl="1"/>
            <a:r>
              <a:rPr lang="en-US" altLang="zh-TW" dirty="0" smtClean="0"/>
              <a:t>Dining-Philosophers Problem</a:t>
            </a:r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POSIX </a:t>
            </a:r>
            <a:r>
              <a:rPr lang="en-US" altLang="zh-TW" sz="3600" dirty="0"/>
              <a:t>Synchronization</a:t>
            </a:r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0537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Readers-Writers Problem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 smtClean="0"/>
              <a:t>Question: </a:t>
            </a:r>
            <a:r>
              <a:rPr lang="en-US" altLang="zh-TW" sz="3200" dirty="0" smtClean="0"/>
              <a:t>a </a:t>
            </a:r>
            <a:r>
              <a:rPr lang="en-US" altLang="zh-TW" sz="3200" dirty="0"/>
              <a:t>data set is shared among a number of </a:t>
            </a:r>
            <a:r>
              <a:rPr lang="en-US" altLang="zh-TW" sz="3200" dirty="0" smtClean="0"/>
              <a:t>processes</a:t>
            </a:r>
            <a:endParaRPr lang="en-US" altLang="zh-TW" sz="32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Readers </a:t>
            </a:r>
            <a:r>
              <a:rPr lang="en-US" altLang="zh-TW" sz="3200" dirty="0">
                <a:latin typeface="Helvetica" pitchFamily="34" charset="0"/>
              </a:rPr>
              <a:t>–</a:t>
            </a:r>
            <a:r>
              <a:rPr lang="en-US" altLang="zh-TW" sz="3200" dirty="0"/>
              <a:t> only read the data set; they do </a:t>
            </a:r>
            <a:r>
              <a:rPr lang="en-US" altLang="zh-TW" sz="3200" b="1" dirty="0">
                <a:solidFill>
                  <a:srgbClr val="0033CC"/>
                </a:solidFill>
              </a:rPr>
              <a:t>not</a:t>
            </a:r>
            <a:r>
              <a:rPr lang="en-US" altLang="zh-TW" sz="3200" dirty="0"/>
              <a:t> perform any updates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Writers  </a:t>
            </a:r>
            <a:r>
              <a:rPr lang="en-US" altLang="zh-TW" sz="3200" dirty="0">
                <a:latin typeface="Helvetica" pitchFamily="34" charset="0"/>
              </a:rPr>
              <a:t>–</a:t>
            </a:r>
            <a:r>
              <a:rPr lang="en-US" altLang="zh-TW" sz="3200" dirty="0"/>
              <a:t> can both read and write.</a:t>
            </a:r>
          </a:p>
          <a:p>
            <a:pPr eaLnBrk="1" hangingPunct="1">
              <a:lnSpc>
                <a:spcPct val="90000"/>
              </a:lnSpc>
            </a:pPr>
            <a:endParaRPr lang="en-US" altLang="zh-TW" sz="36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3600" b="1" dirty="0" smtClean="0"/>
              <a:t>Goal</a:t>
            </a:r>
            <a:endParaRPr lang="en-US" altLang="zh-TW" sz="36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Either </a:t>
            </a:r>
            <a:r>
              <a:rPr lang="en-US" altLang="zh-TW" sz="3200" dirty="0">
                <a:solidFill>
                  <a:srgbClr val="FF3300"/>
                </a:solidFill>
              </a:rPr>
              <a:t>multiple readers </a:t>
            </a:r>
            <a:r>
              <a:rPr lang="en-US" altLang="zh-TW" sz="3200" dirty="0"/>
              <a:t>to read at the same time.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Or </a:t>
            </a:r>
            <a:r>
              <a:rPr lang="en-US" altLang="zh-TW" sz="3200" dirty="0">
                <a:solidFill>
                  <a:srgbClr val="FF3300"/>
                </a:solidFill>
              </a:rPr>
              <a:t>only one single writer</a:t>
            </a:r>
            <a:r>
              <a:rPr lang="en-US" altLang="zh-TW" sz="3200" dirty="0"/>
              <a:t> can access the </a:t>
            </a:r>
            <a:r>
              <a:rPr lang="en-US" altLang="zh-TW" sz="3200" dirty="0" smtClean="0"/>
              <a:t>data</a:t>
            </a:r>
            <a:endParaRPr lang="en-US" altLang="zh-TW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Readers-Writers Problem</a:t>
            </a:r>
          </a:p>
        </p:txBody>
      </p:sp>
      <p:sp>
        <p:nvSpPr>
          <p:cNvPr id="596995" name="Oval 3"/>
          <p:cNvSpPr>
            <a:spLocks noChangeArrowheads="1"/>
          </p:cNvSpPr>
          <p:nvPr/>
        </p:nvSpPr>
        <p:spPr bwMode="auto">
          <a:xfrm>
            <a:off x="22098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6" name="AutoShape 4"/>
          <p:cNvSpPr>
            <a:spLocks noChangeArrowheads="1"/>
          </p:cNvSpPr>
          <p:nvPr/>
        </p:nvSpPr>
        <p:spPr bwMode="auto">
          <a:xfrm>
            <a:off x="5181600" y="4343400"/>
            <a:ext cx="1676400" cy="838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876801" y="5257800"/>
            <a:ext cx="223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 sz="2400">
                <a:latin typeface="Times New Roman" pitchFamily="18" charset="0"/>
              </a:rPr>
              <a:t>Shared Resource</a:t>
            </a:r>
          </a:p>
        </p:txBody>
      </p:sp>
      <p:sp>
        <p:nvSpPr>
          <p:cNvPr id="596998" name="Oval 6"/>
          <p:cNvSpPr>
            <a:spLocks noChangeArrowheads="1"/>
          </p:cNvSpPr>
          <p:nvPr/>
        </p:nvSpPr>
        <p:spPr bwMode="auto">
          <a:xfrm>
            <a:off x="23622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9" name="Oval 7"/>
          <p:cNvSpPr>
            <a:spLocks noChangeArrowheads="1"/>
          </p:cNvSpPr>
          <p:nvPr/>
        </p:nvSpPr>
        <p:spPr bwMode="auto">
          <a:xfrm>
            <a:off x="25146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0" name="Oval 8"/>
          <p:cNvSpPr>
            <a:spLocks noChangeArrowheads="1"/>
          </p:cNvSpPr>
          <p:nvPr/>
        </p:nvSpPr>
        <p:spPr bwMode="auto">
          <a:xfrm>
            <a:off x="26670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1" name="Oval 9"/>
          <p:cNvSpPr>
            <a:spLocks noChangeArrowheads="1"/>
          </p:cNvSpPr>
          <p:nvPr/>
        </p:nvSpPr>
        <p:spPr bwMode="auto">
          <a:xfrm>
            <a:off x="28194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2" name="Oval 10"/>
          <p:cNvSpPr>
            <a:spLocks noChangeArrowheads="1"/>
          </p:cNvSpPr>
          <p:nvPr/>
        </p:nvSpPr>
        <p:spPr bwMode="auto">
          <a:xfrm>
            <a:off x="29718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3" name="Oval 11"/>
          <p:cNvSpPr>
            <a:spLocks noChangeArrowheads="1"/>
          </p:cNvSpPr>
          <p:nvPr/>
        </p:nvSpPr>
        <p:spPr bwMode="auto">
          <a:xfrm>
            <a:off x="3124200" y="2743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4" name="Oval 12"/>
          <p:cNvSpPr>
            <a:spLocks noChangeArrowheads="1"/>
          </p:cNvSpPr>
          <p:nvPr/>
        </p:nvSpPr>
        <p:spPr bwMode="auto">
          <a:xfrm>
            <a:off x="3276600" y="2895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5" name="Oval 13"/>
          <p:cNvSpPr>
            <a:spLocks noChangeArrowheads="1"/>
          </p:cNvSpPr>
          <p:nvPr/>
        </p:nvSpPr>
        <p:spPr bwMode="auto">
          <a:xfrm>
            <a:off x="63246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6" name="Oval 14"/>
          <p:cNvSpPr>
            <a:spLocks noChangeArrowheads="1"/>
          </p:cNvSpPr>
          <p:nvPr/>
        </p:nvSpPr>
        <p:spPr bwMode="auto">
          <a:xfrm>
            <a:off x="64770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7" name="Oval 15"/>
          <p:cNvSpPr>
            <a:spLocks noChangeArrowheads="1"/>
          </p:cNvSpPr>
          <p:nvPr/>
        </p:nvSpPr>
        <p:spPr bwMode="auto">
          <a:xfrm>
            <a:off x="66294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8" name="Oval 16"/>
          <p:cNvSpPr>
            <a:spLocks noChangeArrowheads="1"/>
          </p:cNvSpPr>
          <p:nvPr/>
        </p:nvSpPr>
        <p:spPr bwMode="auto">
          <a:xfrm>
            <a:off x="67818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9" name="Oval 17"/>
          <p:cNvSpPr>
            <a:spLocks noChangeArrowheads="1"/>
          </p:cNvSpPr>
          <p:nvPr/>
        </p:nvSpPr>
        <p:spPr bwMode="auto">
          <a:xfrm>
            <a:off x="69342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0" name="Oval 18"/>
          <p:cNvSpPr>
            <a:spLocks noChangeArrowheads="1"/>
          </p:cNvSpPr>
          <p:nvPr/>
        </p:nvSpPr>
        <p:spPr bwMode="auto">
          <a:xfrm>
            <a:off x="70866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1" name="Oval 19"/>
          <p:cNvSpPr>
            <a:spLocks noChangeArrowheads="1"/>
          </p:cNvSpPr>
          <p:nvPr/>
        </p:nvSpPr>
        <p:spPr bwMode="auto">
          <a:xfrm>
            <a:off x="7315200" y="4572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62484" name="Line 20"/>
          <p:cNvSpPr>
            <a:spLocks noChangeShapeType="1"/>
          </p:cNvSpPr>
          <p:nvPr/>
        </p:nvSpPr>
        <p:spPr bwMode="auto">
          <a:xfrm flipH="1">
            <a:off x="6858000" y="4800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7805738" y="6553200"/>
            <a:ext cx="2862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i="1">
                <a:latin typeface="Times New Roman" pitchFamily="18" charset="0"/>
              </a:rPr>
              <a:t>from “Operating Systems by NUTT”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程式怎麼寫呢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需要那些</a:t>
            </a:r>
            <a:r>
              <a:rPr lang="zh-TW" altLang="en-US" dirty="0"/>
              <a:t>共享</a:t>
            </a:r>
            <a:r>
              <a:rPr lang="zh-TW" altLang="en-US" dirty="0" smtClean="0"/>
              <a:t>變數和</a:t>
            </a:r>
            <a:r>
              <a:rPr lang="en-US" altLang="zh-TW" dirty="0" smtClean="0"/>
              <a:t>semaphores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775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Readers-Writers Problem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TW" altLang="en-US" sz="3600" dirty="0" smtClean="0"/>
              <a:t>需要的共享變數</a:t>
            </a:r>
            <a:endParaRPr lang="en-US" altLang="zh-TW" sz="36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Data set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Integer </a:t>
            </a:r>
            <a:r>
              <a:rPr lang="en-US" altLang="zh-TW" sz="3200" b="1" dirty="0" err="1">
                <a:solidFill>
                  <a:srgbClr val="FF0000"/>
                </a:solidFill>
              </a:rPr>
              <a:t>read_count</a:t>
            </a:r>
            <a:r>
              <a:rPr lang="en-US" altLang="zh-TW" sz="3200" dirty="0"/>
              <a:t> </a:t>
            </a:r>
            <a:endParaRPr lang="en-US" altLang="zh-TW" sz="32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 smtClean="0"/>
              <a:t>Initialized </a:t>
            </a:r>
            <a:r>
              <a:rPr lang="en-US" altLang="zh-TW" sz="2800" dirty="0"/>
              <a:t>to 0</a:t>
            </a:r>
            <a:r>
              <a:rPr lang="en-US" altLang="zh-TW" sz="2800" dirty="0" smtClean="0"/>
              <a:t>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/>
              <a:t>Keep track of how many readers are currently reading the data set</a:t>
            </a:r>
            <a:br>
              <a:rPr lang="en-US" altLang="zh-TW" sz="2800" dirty="0"/>
            </a:br>
            <a:endParaRPr lang="en-US" altLang="zh-TW" sz="2800" dirty="0" smtClean="0"/>
          </a:p>
        </p:txBody>
      </p:sp>
    </p:spTree>
    <p:extLst>
      <p:ext uri="{BB962C8B-B14F-4D97-AF65-F5344CB8AC3E}">
        <p14:creationId xmlns:p14="http://schemas.microsoft.com/office/powerpoint/2010/main" val="182146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Q: </a:t>
            </a:r>
            <a:r>
              <a:rPr lang="zh-TW" altLang="en-US" dirty="0"/>
              <a:t>為什麼</a:t>
            </a:r>
            <a:r>
              <a:rPr lang="zh-TW" altLang="en-US" dirty="0" smtClean="0"/>
              <a:t>需要</a:t>
            </a:r>
            <a:r>
              <a:rPr lang="en-US" altLang="zh-TW" dirty="0" err="1" smtClean="0"/>
              <a:t>read_count</a:t>
            </a:r>
            <a:r>
              <a:rPr lang="zh-TW" altLang="en-US" dirty="0" smtClean="0"/>
              <a:t>變數</a:t>
            </a:r>
            <a:r>
              <a:rPr lang="en-US" altLang="zh-TW" dirty="0"/>
              <a:t>?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zh-TW" sz="2800" dirty="0" err="1" smtClean="0"/>
              <a:t>Ans</a:t>
            </a:r>
            <a:r>
              <a:rPr lang="en-US" altLang="zh-TW" sz="2800" dirty="0" smtClean="0"/>
              <a:t>: </a:t>
            </a:r>
            <a:r>
              <a:rPr lang="zh-TW" altLang="en-US" sz="2800" dirty="0" smtClean="0"/>
              <a:t>有一個</a:t>
            </a:r>
            <a:r>
              <a:rPr lang="en-US" altLang="zh-TW" sz="2800" dirty="0" smtClean="0"/>
              <a:t>reader</a:t>
            </a:r>
            <a:r>
              <a:rPr lang="zh-TW" altLang="en-US" sz="2800" dirty="0" smtClean="0"/>
              <a:t>以上時</a:t>
            </a:r>
            <a:r>
              <a:rPr lang="en-US" altLang="zh-TW" sz="2800" dirty="0" smtClean="0"/>
              <a:t>, reader</a:t>
            </a:r>
            <a:r>
              <a:rPr lang="zh-TW" altLang="en-US" sz="2800" dirty="0" smtClean="0"/>
              <a:t>可以進入但</a:t>
            </a:r>
            <a:r>
              <a:rPr lang="en-US" altLang="zh-TW" sz="2800" dirty="0" smtClean="0"/>
              <a:t>writer</a:t>
            </a:r>
            <a:r>
              <a:rPr lang="zh-TW" altLang="en-US" sz="2800" dirty="0" smtClean="0"/>
              <a:t>不可進入</a:t>
            </a:r>
            <a:endParaRPr lang="en-US" altLang="zh-TW" sz="2800" dirty="0" smtClean="0"/>
          </a:p>
          <a:p>
            <a:r>
              <a:rPr lang="zh-TW" altLang="en-US" sz="2800" dirty="0" smtClean="0"/>
              <a:t>沒有</a:t>
            </a:r>
            <a:r>
              <a:rPr lang="en-US" altLang="zh-TW" sz="2800" dirty="0" smtClean="0"/>
              <a:t>reader</a:t>
            </a:r>
            <a:r>
              <a:rPr lang="zh-TW" altLang="en-US" sz="2800" dirty="0" smtClean="0"/>
              <a:t>時</a:t>
            </a:r>
            <a:r>
              <a:rPr lang="en-US" altLang="zh-TW" sz="2800" dirty="0" smtClean="0"/>
              <a:t>, writer</a:t>
            </a:r>
            <a:r>
              <a:rPr lang="zh-TW" altLang="en-US" sz="2800" dirty="0" smtClean="0"/>
              <a:t>才有機會進入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6145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Readers-Writers Problem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Q: </a:t>
            </a:r>
            <a:r>
              <a:rPr lang="zh-TW" altLang="en-US" sz="2800" dirty="0" smtClean="0"/>
              <a:t>需要那些</a:t>
            </a:r>
            <a:r>
              <a:rPr lang="en-US" altLang="zh-TW" sz="2800" dirty="0" smtClean="0"/>
              <a:t>semaphore?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Hint: </a:t>
            </a:r>
            <a:r>
              <a:rPr lang="zh-TW" altLang="en-US" sz="2800" dirty="0" smtClean="0"/>
              <a:t>需要被保護的</a:t>
            </a:r>
            <a:r>
              <a:rPr lang="zh-TW" altLang="en-US" sz="2800" dirty="0" smtClean="0"/>
              <a:t>情形</a:t>
            </a:r>
            <a:r>
              <a:rPr lang="en-US" altLang="zh-TW" sz="2800" dirty="0" smtClean="0"/>
              <a:t>?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1. </a:t>
            </a:r>
            <a:r>
              <a:rPr lang="zh-TW" altLang="en-US" dirty="0" smtClean="0"/>
              <a:t>存取</a:t>
            </a:r>
            <a:r>
              <a:rPr lang="en-US" altLang="zh-TW" dirty="0" err="1" smtClean="0"/>
              <a:t>read_count</a:t>
            </a:r>
            <a:r>
              <a:rPr lang="en-US" altLang="zh-TW" dirty="0" smtClean="0"/>
              <a:t>: </a:t>
            </a:r>
          </a:p>
          <a:p>
            <a:pPr lvl="2" eaLnBrk="1" hangingPunct="1">
              <a:lnSpc>
                <a:spcPct val="90000"/>
              </a:lnSpc>
            </a:pPr>
            <a:r>
              <a:rPr lang="zh-TW" altLang="en-US" dirty="0" smtClean="0"/>
              <a:t>因為</a:t>
            </a:r>
            <a:r>
              <a:rPr lang="en-US" altLang="zh-TW" dirty="0" err="1" smtClean="0"/>
              <a:t>read_count</a:t>
            </a:r>
            <a:r>
              <a:rPr lang="zh-TW" altLang="en-US" dirty="0" smtClean="0"/>
              <a:t>是共享變數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每一個</a:t>
            </a:r>
            <a:r>
              <a:rPr lang="en-US" altLang="zh-TW" dirty="0" smtClean="0"/>
              <a:t>reader</a:t>
            </a:r>
            <a:r>
              <a:rPr lang="zh-TW" altLang="en-US" dirty="0" smtClean="0"/>
              <a:t>都會存取</a:t>
            </a:r>
            <a:endParaRPr lang="en-US" altLang="zh-TW" dirty="0" smtClean="0"/>
          </a:p>
          <a:p>
            <a:pPr lvl="2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2. </a:t>
            </a:r>
            <a:r>
              <a:rPr lang="zh-TW" altLang="en-US" dirty="0" smtClean="0"/>
              <a:t>存取</a:t>
            </a:r>
            <a:r>
              <a:rPr lang="en-US" altLang="zh-TW" dirty="0" smtClean="0"/>
              <a:t>data set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 smtClean="0"/>
              <a:t>Data set</a:t>
            </a:r>
            <a:r>
              <a:rPr lang="zh-TW" altLang="en-US" dirty="0" smtClean="0"/>
              <a:t>也是共享的</a:t>
            </a:r>
            <a:r>
              <a:rPr lang="en-US" altLang="zh-TW" dirty="0" smtClean="0"/>
              <a:t>, reader/writer</a:t>
            </a:r>
            <a:r>
              <a:rPr lang="zh-TW" altLang="en-US" dirty="0" smtClean="0"/>
              <a:t>都會想存取</a:t>
            </a: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118809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Readers-Writers Problem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TW" altLang="en-US" dirty="0"/>
              <a:t>所以</a:t>
            </a:r>
            <a:r>
              <a:rPr lang="en-US" altLang="zh-TW" dirty="0"/>
              <a:t>, </a:t>
            </a:r>
            <a:r>
              <a:rPr lang="zh-TW" altLang="en-US" dirty="0"/>
              <a:t>我們需要兩個</a:t>
            </a:r>
            <a:r>
              <a:rPr lang="en-US" altLang="zh-TW" dirty="0"/>
              <a:t>semaphores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Binary semaphore </a:t>
            </a:r>
            <a:r>
              <a:rPr lang="en-US" altLang="zh-TW" b="1" dirty="0" smtClean="0">
                <a:solidFill>
                  <a:srgbClr val="FF0000"/>
                </a:solidFill>
              </a:rPr>
              <a:t>mutex:</a:t>
            </a:r>
            <a:r>
              <a:rPr lang="en-US" altLang="zh-TW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Initialized to 1.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Synchronize access to </a:t>
            </a:r>
            <a:r>
              <a:rPr lang="en-US" altLang="zh-TW" sz="3200" b="1" dirty="0" err="1" smtClean="0"/>
              <a:t>read_count</a:t>
            </a:r>
            <a:endParaRPr lang="en-US" altLang="zh-TW" sz="3200" b="1" dirty="0" smtClean="0"/>
          </a:p>
          <a:p>
            <a:pPr eaLnBrk="1" hangingPunct="1">
              <a:lnSpc>
                <a:spcPct val="90000"/>
              </a:lnSpc>
            </a:pPr>
            <a:endParaRPr lang="en-US" altLang="zh-TW" sz="36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3600" dirty="0" smtClean="0"/>
              <a:t>Binary semaphore </a:t>
            </a:r>
            <a:r>
              <a:rPr lang="en-US" altLang="zh-TW" sz="3600" b="1" dirty="0" err="1" smtClean="0">
                <a:solidFill>
                  <a:srgbClr val="FF0000"/>
                </a:solidFill>
              </a:rPr>
              <a:t>rw_mutex</a:t>
            </a:r>
            <a:r>
              <a:rPr lang="en-US" altLang="zh-TW" sz="3600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Initialized to 1.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Synchronize access to the shared data set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01712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Writer</a:t>
            </a:r>
            <a:r>
              <a:rPr lang="zh-TW" altLang="en-US" dirty="0" smtClean="0"/>
              <a:t>的程式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559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Structure </a:t>
            </a:r>
            <a:r>
              <a:rPr lang="en-US" altLang="zh-TW" dirty="0"/>
              <a:t>of a </a:t>
            </a:r>
            <a:r>
              <a:rPr lang="en-US" altLang="zh-TW" dirty="0" smtClean="0"/>
              <a:t>Writer Process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3524085" y="2060848"/>
            <a:ext cx="5173463" cy="2952328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200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while </a:t>
            </a:r>
            <a: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(true) {</a:t>
            </a:r>
            <a:b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200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</a:t>
            </a:r>
            <a:r>
              <a:rPr lang="en-US" altLang="en-US" sz="2000" b="1" kern="0" dirty="0" smtClean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wait(</a:t>
            </a:r>
            <a:r>
              <a:rPr lang="en-US" altLang="en-US" sz="2000" b="1" kern="0" dirty="0" err="1" smtClean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rw_mutex</a:t>
            </a:r>
            <a:r>
              <a:rPr lang="en-US" altLang="en-US" sz="2000" b="1" kern="0" dirty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);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200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...</a:t>
            </a:r>
            <a: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/>
            </a:r>
            <a:b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</a:t>
            </a:r>
            <a:r>
              <a:rPr lang="en-US" altLang="en-US" sz="200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/* </a:t>
            </a:r>
            <a: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writing is performed */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</a:t>
            </a:r>
            <a:r>
              <a:rPr lang="en-US" altLang="en-US" sz="200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... </a:t>
            </a:r>
            <a:endParaRPr lang="en-US" altLang="en-US" sz="200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20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</a:t>
            </a:r>
            <a:r>
              <a:rPr lang="en-US" altLang="en-US" sz="2000" b="1" kern="0" dirty="0" smtClean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signal(</a:t>
            </a:r>
            <a:r>
              <a:rPr lang="en-US" altLang="en-US" sz="2000" b="1" kern="0" dirty="0" err="1" smtClean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rw_mutex</a:t>
            </a:r>
            <a:r>
              <a:rPr lang="en-US" altLang="en-US" sz="2000" b="1" kern="0" dirty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);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200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}</a:t>
            </a:r>
            <a:endParaRPr lang="en-US" altLang="en-US" sz="180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019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Reader</a:t>
            </a:r>
            <a:r>
              <a:rPr lang="zh-TW" altLang="en-US" dirty="0" smtClean="0"/>
              <a:t>的程式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03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Structure </a:t>
            </a:r>
            <a:r>
              <a:rPr lang="en-US" altLang="zh-TW" dirty="0"/>
              <a:t>of a </a:t>
            </a:r>
            <a:r>
              <a:rPr lang="en-US" altLang="zh-TW" dirty="0" smtClean="0"/>
              <a:t>Reader Process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3071664" y="1097360"/>
            <a:ext cx="7056785" cy="5355976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while 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(true){</a:t>
            </a:r>
            <a:b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1850" b="1" kern="0" dirty="0" smtClean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wait(mutex</a:t>
            </a:r>
            <a:r>
              <a:rPr lang="en-US" altLang="en-US" sz="1850" b="1" kern="0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);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/>
            </a:r>
            <a:b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1850" b="1" kern="0" dirty="0" err="1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read_count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++;</a:t>
            </a:r>
            <a:b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if 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(</a:t>
            </a:r>
            <a:r>
              <a:rPr lang="en-US" altLang="en-US" sz="185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read_count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== 1</a:t>
            </a: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 //first reader </a:t>
            </a:r>
            <a:endParaRPr lang="en-US" altLang="en-US" sz="185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	</a:t>
            </a:r>
            <a:r>
              <a:rPr lang="en-US" altLang="en-US" sz="1850" b="1" kern="0" dirty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wait(</a:t>
            </a:r>
            <a:r>
              <a:rPr lang="en-US" altLang="en-US" sz="185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rw_mutex</a:t>
            </a:r>
            <a:r>
              <a:rPr lang="en-US" altLang="en-US" sz="1850" b="1" kern="0" dirty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);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kern="0" dirty="0" smtClean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signal(mutex</a:t>
            </a:r>
            <a:r>
              <a:rPr lang="en-US" altLang="en-US" sz="1850" b="1" kern="0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);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...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/>
            </a:r>
            <a:b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/* 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reading is performed */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... </a:t>
            </a:r>
            <a:endParaRPr lang="en-US" altLang="en-US" sz="185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kern="0" dirty="0" smtClean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wait(mutex</a:t>
            </a:r>
            <a:r>
              <a:rPr lang="en-US" altLang="en-US" sz="1850" b="1" kern="0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);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/>
            </a:r>
            <a:b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read 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count--;</a:t>
            </a:r>
            <a:b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</a:b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if 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(</a:t>
            </a:r>
            <a:r>
              <a:rPr lang="en-US" altLang="en-US" sz="185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read_count</a:t>
            </a: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== 0</a:t>
            </a: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    //last reader</a:t>
            </a:r>
            <a:endParaRPr lang="en-US" altLang="en-US" sz="185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	</a:t>
            </a:r>
            <a:r>
              <a:rPr lang="en-US" altLang="en-US" sz="1850" b="1" kern="0" dirty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signal(</a:t>
            </a:r>
            <a:r>
              <a:rPr lang="en-US" altLang="en-US" sz="1850" b="1" kern="0" dirty="0" err="1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rw_mutex</a:t>
            </a:r>
            <a:r>
              <a:rPr lang="en-US" altLang="en-US" sz="1850" b="1" kern="0" dirty="0">
                <a:solidFill>
                  <a:srgbClr val="0000FF"/>
                </a:solidFill>
                <a:latin typeface="Courier New" panose="02070309020205020404" pitchFamily="49" charset="0"/>
                <a:ea typeface="MS PGothic" pitchFamily="34" charset="-128"/>
              </a:rPr>
              <a:t>); </a:t>
            </a: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kern="0" dirty="0" smtClean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signal(mutex</a:t>
            </a:r>
            <a:r>
              <a:rPr lang="en-US" altLang="en-US" sz="1850" b="1" kern="0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); </a:t>
            </a:r>
            <a:endParaRPr lang="en-US" altLang="en-US" sz="1850" b="1" kern="0" dirty="0" smtClean="0">
              <a:solidFill>
                <a:srgbClr val="FF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 eaLnBrk="0" hangingPunc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lang="en-US" altLang="en-US" sz="1850" b="1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}</a:t>
            </a:r>
            <a:endParaRPr lang="en-US" altLang="en-US" sz="185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006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Readers-Writers Problem</a:t>
            </a:r>
          </a:p>
        </p:txBody>
      </p:sp>
      <p:sp>
        <p:nvSpPr>
          <p:cNvPr id="596995" name="Oval 3"/>
          <p:cNvSpPr>
            <a:spLocks noChangeArrowheads="1"/>
          </p:cNvSpPr>
          <p:nvPr/>
        </p:nvSpPr>
        <p:spPr bwMode="auto">
          <a:xfrm>
            <a:off x="22098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6" name="AutoShape 4"/>
          <p:cNvSpPr>
            <a:spLocks noChangeArrowheads="1"/>
          </p:cNvSpPr>
          <p:nvPr/>
        </p:nvSpPr>
        <p:spPr bwMode="auto">
          <a:xfrm>
            <a:off x="5181600" y="4343400"/>
            <a:ext cx="1676400" cy="838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876801" y="5257800"/>
            <a:ext cx="223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 sz="2400">
                <a:latin typeface="Times New Roman" pitchFamily="18" charset="0"/>
              </a:rPr>
              <a:t>Shared Resource</a:t>
            </a:r>
          </a:p>
        </p:txBody>
      </p:sp>
      <p:sp>
        <p:nvSpPr>
          <p:cNvPr id="596998" name="Oval 6"/>
          <p:cNvSpPr>
            <a:spLocks noChangeArrowheads="1"/>
          </p:cNvSpPr>
          <p:nvPr/>
        </p:nvSpPr>
        <p:spPr bwMode="auto">
          <a:xfrm>
            <a:off x="23622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9" name="Oval 7"/>
          <p:cNvSpPr>
            <a:spLocks noChangeArrowheads="1"/>
          </p:cNvSpPr>
          <p:nvPr/>
        </p:nvSpPr>
        <p:spPr bwMode="auto">
          <a:xfrm>
            <a:off x="25146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0" name="Oval 8"/>
          <p:cNvSpPr>
            <a:spLocks noChangeArrowheads="1"/>
          </p:cNvSpPr>
          <p:nvPr/>
        </p:nvSpPr>
        <p:spPr bwMode="auto">
          <a:xfrm>
            <a:off x="26670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1" name="Oval 9"/>
          <p:cNvSpPr>
            <a:spLocks noChangeArrowheads="1"/>
          </p:cNvSpPr>
          <p:nvPr/>
        </p:nvSpPr>
        <p:spPr bwMode="auto">
          <a:xfrm>
            <a:off x="28194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2" name="Oval 10"/>
          <p:cNvSpPr>
            <a:spLocks noChangeArrowheads="1"/>
          </p:cNvSpPr>
          <p:nvPr/>
        </p:nvSpPr>
        <p:spPr bwMode="auto">
          <a:xfrm>
            <a:off x="29718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3" name="Oval 11"/>
          <p:cNvSpPr>
            <a:spLocks noChangeArrowheads="1"/>
          </p:cNvSpPr>
          <p:nvPr/>
        </p:nvSpPr>
        <p:spPr bwMode="auto">
          <a:xfrm>
            <a:off x="3124200" y="2743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4" name="Oval 12"/>
          <p:cNvSpPr>
            <a:spLocks noChangeArrowheads="1"/>
          </p:cNvSpPr>
          <p:nvPr/>
        </p:nvSpPr>
        <p:spPr bwMode="auto">
          <a:xfrm>
            <a:off x="3276600" y="2895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5" name="Oval 13"/>
          <p:cNvSpPr>
            <a:spLocks noChangeArrowheads="1"/>
          </p:cNvSpPr>
          <p:nvPr/>
        </p:nvSpPr>
        <p:spPr bwMode="auto">
          <a:xfrm>
            <a:off x="63246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6" name="Oval 14"/>
          <p:cNvSpPr>
            <a:spLocks noChangeArrowheads="1"/>
          </p:cNvSpPr>
          <p:nvPr/>
        </p:nvSpPr>
        <p:spPr bwMode="auto">
          <a:xfrm>
            <a:off x="64770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7" name="Oval 15"/>
          <p:cNvSpPr>
            <a:spLocks noChangeArrowheads="1"/>
          </p:cNvSpPr>
          <p:nvPr/>
        </p:nvSpPr>
        <p:spPr bwMode="auto">
          <a:xfrm>
            <a:off x="66294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8" name="Oval 16"/>
          <p:cNvSpPr>
            <a:spLocks noChangeArrowheads="1"/>
          </p:cNvSpPr>
          <p:nvPr/>
        </p:nvSpPr>
        <p:spPr bwMode="auto">
          <a:xfrm>
            <a:off x="67818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9" name="Oval 17"/>
          <p:cNvSpPr>
            <a:spLocks noChangeArrowheads="1"/>
          </p:cNvSpPr>
          <p:nvPr/>
        </p:nvSpPr>
        <p:spPr bwMode="auto">
          <a:xfrm>
            <a:off x="69342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0" name="Oval 18"/>
          <p:cNvSpPr>
            <a:spLocks noChangeArrowheads="1"/>
          </p:cNvSpPr>
          <p:nvPr/>
        </p:nvSpPr>
        <p:spPr bwMode="auto">
          <a:xfrm>
            <a:off x="70866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1" name="Oval 19"/>
          <p:cNvSpPr>
            <a:spLocks noChangeArrowheads="1"/>
          </p:cNvSpPr>
          <p:nvPr/>
        </p:nvSpPr>
        <p:spPr bwMode="auto">
          <a:xfrm>
            <a:off x="7315200" y="4572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62484" name="Line 20"/>
          <p:cNvSpPr>
            <a:spLocks noChangeShapeType="1"/>
          </p:cNvSpPr>
          <p:nvPr/>
        </p:nvSpPr>
        <p:spPr bwMode="auto">
          <a:xfrm flipH="1">
            <a:off x="6858000" y="4800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7805738" y="6553200"/>
            <a:ext cx="2862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i="1">
                <a:latin typeface="Times New Roman" pitchFamily="18" charset="0"/>
              </a:rPr>
              <a:t>from “Operating Systems by NUTT”</a:t>
            </a:r>
          </a:p>
        </p:txBody>
      </p:sp>
    </p:spTree>
    <p:extLst>
      <p:ext uri="{BB962C8B-B14F-4D97-AF65-F5344CB8AC3E}">
        <p14:creationId xmlns:p14="http://schemas.microsoft.com/office/powerpoint/2010/main" val="276858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Semaphore </a:t>
            </a:r>
            <a:r>
              <a:rPr lang="en-US" altLang="zh-TW" dirty="0" err="1" smtClean="0"/>
              <a:t>rw_mutex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630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800305"/>
              </p:ext>
            </p:extLst>
          </p:nvPr>
        </p:nvGraphicFramePr>
        <p:xfrm>
          <a:off x="407368" y="1619264"/>
          <a:ext cx="11449271" cy="4330016"/>
        </p:xfrm>
        <a:graphic>
          <a:graphicData uri="http://schemas.openxmlformats.org/drawingml/2006/table">
            <a:tbl>
              <a:tblPr/>
              <a:tblGrid>
                <a:gridCol w="3956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Writer 1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Reader 1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Reader 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);//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Writing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wait(mutex); //mutex=0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++; //</a:t>
                      </a:r>
                      <a:r>
                        <a:rPr kumimoji="1" lang="en-US" altLang="zh-TW" sz="18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=1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); //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rw_mutex.L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wait(mutex);//mutex=-1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mutex.L</a:t>
                      </a: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Writing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135560" y="983547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Initially, </a:t>
            </a:r>
            <a:r>
              <a:rPr lang="en-US" altLang="zh-TW" sz="2400" b="1" kern="0" dirty="0" err="1" smtClean="0">
                <a:latin typeface="Courier New" pitchFamily="49" charset="0"/>
                <a:cs typeface="Courier New" pitchFamily="49" charset="0"/>
              </a:rPr>
              <a:t>read_count</a:t>
            </a:r>
            <a:r>
              <a:rPr lang="en-US" altLang="zh-TW" sz="2400" b="1" kern="0" dirty="0" smtClean="0">
                <a:latin typeface="Courier New" pitchFamily="49" charset="0"/>
                <a:cs typeface="Courier New" pitchFamily="49" charset="0"/>
              </a:rPr>
              <a:t>=0,rw_mutex=1,mutex</a:t>
            </a:r>
            <a:r>
              <a:rPr lang="en-US" altLang="zh-TW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TW" sz="2400" b="1" dirty="0">
                <a:latin typeface="Calibri" pitchFamily="34" charset="0"/>
                <a:cs typeface="Calibri" pitchFamily="34" charset="0"/>
              </a:rPr>
              <a:t>= 1</a:t>
            </a: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603796" y="5991671"/>
            <a:ext cx="109844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Semaphore </a:t>
            </a:r>
            <a:r>
              <a:rPr kumimoji="1" lang="en-US" altLang="zh-TW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rw_mutex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用來確保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只有一個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writer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或是多個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readers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可以存取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Data Set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648816"/>
          </a:xfrm>
        </p:spPr>
        <p:txBody>
          <a:bodyPr>
            <a:normAutofit/>
          </a:bodyPr>
          <a:lstStyle/>
          <a:p>
            <a:r>
              <a:rPr lang="en-US" altLang="zh-TW" sz="3200" dirty="0" err="1"/>
              <a:t>rw_mutex</a:t>
            </a:r>
            <a:r>
              <a:rPr lang="zh-TW" altLang="en-US" sz="3200" dirty="0"/>
              <a:t>的用途： 保護</a:t>
            </a:r>
            <a:r>
              <a:rPr lang="en-US" altLang="zh-TW" sz="3200" dirty="0"/>
              <a:t>Data Set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28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Readers-Writers Problem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dirty="0" smtClean="0"/>
              <a:t>如上頁例子，</a:t>
            </a:r>
            <a:r>
              <a:rPr lang="en-US" altLang="zh-TW" dirty="0" smtClean="0"/>
              <a:t>if </a:t>
            </a:r>
            <a:r>
              <a:rPr lang="en-US" altLang="zh-TW" dirty="0" smtClean="0"/>
              <a:t>a writer is in the CS and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readers are waiting, then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One reader is blocked on </a:t>
            </a:r>
            <a:r>
              <a:rPr lang="en-US" altLang="zh-TW" dirty="0" err="1" smtClean="0">
                <a:solidFill>
                  <a:srgbClr val="FF3300"/>
                </a:solidFill>
              </a:rPr>
              <a:t>rw_mutex</a:t>
            </a:r>
            <a:r>
              <a:rPr lang="en-US" altLang="zh-TW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The other </a:t>
            </a:r>
            <a:r>
              <a:rPr lang="en-US" altLang="zh-TW" i="1" dirty="0" smtClean="0">
                <a:solidFill>
                  <a:srgbClr val="FF3300"/>
                </a:solidFill>
              </a:rPr>
              <a:t>n</a:t>
            </a:r>
            <a:r>
              <a:rPr lang="en-US" altLang="zh-TW" dirty="0" smtClean="0">
                <a:solidFill>
                  <a:srgbClr val="FF3300"/>
                </a:solidFill>
              </a:rPr>
              <a:t>-1</a:t>
            </a:r>
            <a:r>
              <a:rPr lang="en-US" altLang="zh-TW" dirty="0" smtClean="0"/>
              <a:t> readers are blocked on </a:t>
            </a:r>
            <a:r>
              <a:rPr lang="en-US" altLang="zh-TW" dirty="0" smtClean="0">
                <a:solidFill>
                  <a:srgbClr val="FF3300"/>
                </a:solidFill>
              </a:rPr>
              <a:t>mutex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11667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Readers-Writers Problem </a:t>
            </a:r>
          </a:p>
        </p:txBody>
      </p:sp>
      <p:sp>
        <p:nvSpPr>
          <p:cNvPr id="596995" name="Oval 3"/>
          <p:cNvSpPr>
            <a:spLocks noChangeArrowheads="1"/>
          </p:cNvSpPr>
          <p:nvPr/>
        </p:nvSpPr>
        <p:spPr bwMode="auto">
          <a:xfrm>
            <a:off x="22098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6" name="AutoShape 4"/>
          <p:cNvSpPr>
            <a:spLocks noChangeArrowheads="1"/>
          </p:cNvSpPr>
          <p:nvPr/>
        </p:nvSpPr>
        <p:spPr bwMode="auto">
          <a:xfrm>
            <a:off x="5181600" y="4343400"/>
            <a:ext cx="1676400" cy="838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876801" y="5257800"/>
            <a:ext cx="223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 sz="2400">
                <a:latin typeface="Times New Roman" pitchFamily="18" charset="0"/>
              </a:rPr>
              <a:t>Shared Resource</a:t>
            </a:r>
          </a:p>
        </p:txBody>
      </p:sp>
      <p:sp>
        <p:nvSpPr>
          <p:cNvPr id="596998" name="Oval 6"/>
          <p:cNvSpPr>
            <a:spLocks noChangeArrowheads="1"/>
          </p:cNvSpPr>
          <p:nvPr/>
        </p:nvSpPr>
        <p:spPr bwMode="auto">
          <a:xfrm>
            <a:off x="23622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9" name="Oval 7"/>
          <p:cNvSpPr>
            <a:spLocks noChangeArrowheads="1"/>
          </p:cNvSpPr>
          <p:nvPr/>
        </p:nvSpPr>
        <p:spPr bwMode="auto">
          <a:xfrm>
            <a:off x="25146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0" name="Oval 8"/>
          <p:cNvSpPr>
            <a:spLocks noChangeArrowheads="1"/>
          </p:cNvSpPr>
          <p:nvPr/>
        </p:nvSpPr>
        <p:spPr bwMode="auto">
          <a:xfrm>
            <a:off x="26670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1" name="Oval 9"/>
          <p:cNvSpPr>
            <a:spLocks noChangeArrowheads="1"/>
          </p:cNvSpPr>
          <p:nvPr/>
        </p:nvSpPr>
        <p:spPr bwMode="auto">
          <a:xfrm>
            <a:off x="28194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2" name="Oval 10"/>
          <p:cNvSpPr>
            <a:spLocks noChangeArrowheads="1"/>
          </p:cNvSpPr>
          <p:nvPr/>
        </p:nvSpPr>
        <p:spPr bwMode="auto">
          <a:xfrm>
            <a:off x="29718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3" name="Oval 11"/>
          <p:cNvSpPr>
            <a:spLocks noChangeArrowheads="1"/>
          </p:cNvSpPr>
          <p:nvPr/>
        </p:nvSpPr>
        <p:spPr bwMode="auto">
          <a:xfrm>
            <a:off x="3124200" y="2743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 dirty="0">
                <a:latin typeface="Times New Roman" pitchFamily="18" charset="0"/>
              </a:rPr>
              <a:t>Reader</a:t>
            </a:r>
          </a:p>
        </p:txBody>
      </p:sp>
      <p:sp>
        <p:nvSpPr>
          <p:cNvPr id="597004" name="Oval 12"/>
          <p:cNvSpPr>
            <a:spLocks noChangeArrowheads="1"/>
          </p:cNvSpPr>
          <p:nvPr/>
        </p:nvSpPr>
        <p:spPr bwMode="auto">
          <a:xfrm>
            <a:off x="3276600" y="2895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5" name="Oval 13"/>
          <p:cNvSpPr>
            <a:spLocks noChangeArrowheads="1"/>
          </p:cNvSpPr>
          <p:nvPr/>
        </p:nvSpPr>
        <p:spPr bwMode="auto">
          <a:xfrm>
            <a:off x="63246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6" name="Oval 14"/>
          <p:cNvSpPr>
            <a:spLocks noChangeArrowheads="1"/>
          </p:cNvSpPr>
          <p:nvPr/>
        </p:nvSpPr>
        <p:spPr bwMode="auto">
          <a:xfrm>
            <a:off x="64770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7" name="Oval 15"/>
          <p:cNvSpPr>
            <a:spLocks noChangeArrowheads="1"/>
          </p:cNvSpPr>
          <p:nvPr/>
        </p:nvSpPr>
        <p:spPr bwMode="auto">
          <a:xfrm>
            <a:off x="66294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8" name="Oval 16"/>
          <p:cNvSpPr>
            <a:spLocks noChangeArrowheads="1"/>
          </p:cNvSpPr>
          <p:nvPr/>
        </p:nvSpPr>
        <p:spPr bwMode="auto">
          <a:xfrm>
            <a:off x="67818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9" name="Oval 17"/>
          <p:cNvSpPr>
            <a:spLocks noChangeArrowheads="1"/>
          </p:cNvSpPr>
          <p:nvPr/>
        </p:nvSpPr>
        <p:spPr bwMode="auto">
          <a:xfrm>
            <a:off x="69342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0" name="Oval 18"/>
          <p:cNvSpPr>
            <a:spLocks noChangeArrowheads="1"/>
          </p:cNvSpPr>
          <p:nvPr/>
        </p:nvSpPr>
        <p:spPr bwMode="auto">
          <a:xfrm>
            <a:off x="70866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1" name="Oval 19"/>
          <p:cNvSpPr>
            <a:spLocks noChangeArrowheads="1"/>
          </p:cNvSpPr>
          <p:nvPr/>
        </p:nvSpPr>
        <p:spPr bwMode="auto">
          <a:xfrm>
            <a:off x="7315200" y="4572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62484" name="Line 20"/>
          <p:cNvSpPr>
            <a:spLocks noChangeShapeType="1"/>
          </p:cNvSpPr>
          <p:nvPr/>
        </p:nvSpPr>
        <p:spPr bwMode="auto">
          <a:xfrm flipH="1">
            <a:off x="6858000" y="4800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7805738" y="6553200"/>
            <a:ext cx="2862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i="1">
                <a:latin typeface="Times New Roman" pitchFamily="18" charset="0"/>
              </a:rPr>
              <a:t>from “Operating Systems by NUTT”</a:t>
            </a:r>
          </a:p>
        </p:txBody>
      </p:sp>
    </p:spTree>
    <p:extLst>
      <p:ext uri="{BB962C8B-B14F-4D97-AF65-F5344CB8AC3E}">
        <p14:creationId xmlns:p14="http://schemas.microsoft.com/office/powerpoint/2010/main" val="28331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Semaphore </a:t>
            </a:r>
            <a:r>
              <a:rPr lang="en-US" altLang="zh-TW" dirty="0" err="1" smtClean="0"/>
              <a:t>rw_mutex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再看個例子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2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214174"/>
              </p:ext>
            </p:extLst>
          </p:nvPr>
        </p:nvGraphicFramePr>
        <p:xfrm>
          <a:off x="479376" y="1300223"/>
          <a:ext cx="11161240" cy="4937089"/>
        </p:xfrm>
        <a:graphic>
          <a:graphicData uri="http://schemas.openxmlformats.org/drawingml/2006/table">
            <a:tbl>
              <a:tblPr/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Writer 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Reader 1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Reader 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wait(mutex);//mutex=0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++; //</a:t>
                      </a:r>
                      <a:r>
                        <a:rPr kumimoji="1" lang="en-US" altLang="zh-TW" sz="16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//first reader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);//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signal(mutex);//mutex=1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);//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rw_mutex.L</a:t>
                      </a: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wait(mutex):mutex=0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++; //</a:t>
                      </a:r>
                      <a:r>
                        <a:rPr kumimoji="1" lang="en-US" altLang="zh-TW" sz="1600" b="1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=2</a:t>
                      </a:r>
                      <a:endParaRPr kumimoji="1" lang="en-US" altLang="zh-TW" sz="16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signal(mutex);//mutex=1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12083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710122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351584" y="868650"/>
            <a:ext cx="77048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000" b="1" kern="0" dirty="0">
                <a:latin typeface="Courier New" pitchFamily="49" charset="0"/>
                <a:cs typeface="Courier New" pitchFamily="49" charset="0"/>
              </a:rPr>
              <a:t>Initially, </a:t>
            </a:r>
            <a:r>
              <a:rPr lang="en-US" altLang="zh-TW" sz="2000" b="1" kern="0" dirty="0" err="1">
                <a:latin typeface="Courier New" pitchFamily="49" charset="0"/>
                <a:cs typeface="Courier New" pitchFamily="49" charset="0"/>
              </a:rPr>
              <a:t>read_count</a:t>
            </a:r>
            <a:r>
              <a:rPr lang="en-US" altLang="zh-TW" sz="2000" b="1" kern="0" dirty="0">
                <a:latin typeface="Courier New" pitchFamily="49" charset="0"/>
                <a:cs typeface="Courier New" pitchFamily="49" charset="0"/>
              </a:rPr>
              <a:t>=0,rw_mutex=1,mutex</a:t>
            </a:r>
            <a:r>
              <a:rPr lang="en-US" altLang="zh-TW" sz="2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altLang="zh-TW" sz="2000" b="1" dirty="0">
                <a:latin typeface="Calibri" pitchFamily="34" charset="0"/>
                <a:cs typeface="Calibri" pitchFamily="34" charset="0"/>
              </a:rPr>
              <a:t>= 1</a:t>
            </a: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567793" y="6279703"/>
            <a:ext cx="109844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Semaphore </a:t>
            </a:r>
            <a:r>
              <a:rPr kumimoji="1" lang="en-US" altLang="zh-TW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rw_mutex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用來確保只有一個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writer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或是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多個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readers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可以存取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Data Set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648816"/>
          </a:xfrm>
        </p:spPr>
        <p:txBody>
          <a:bodyPr>
            <a:normAutofit/>
          </a:bodyPr>
          <a:lstStyle/>
          <a:p>
            <a:r>
              <a:rPr lang="en-US" altLang="zh-TW" sz="3200" dirty="0" err="1"/>
              <a:t>rw_mutex</a:t>
            </a:r>
            <a:r>
              <a:rPr lang="zh-TW" altLang="en-US" sz="3200" dirty="0"/>
              <a:t>的用途： </a:t>
            </a:r>
            <a:r>
              <a:rPr lang="zh-TW" altLang="en-US" sz="3200" dirty="0" smtClean="0"/>
              <a:t>保護</a:t>
            </a:r>
            <a:r>
              <a:rPr lang="en-US" altLang="zh-TW" sz="3200" dirty="0" smtClean="0"/>
              <a:t>Data Set (Cont.)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54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Semaphore mutex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378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617184"/>
              </p:ext>
            </p:extLst>
          </p:nvPr>
        </p:nvGraphicFramePr>
        <p:xfrm>
          <a:off x="530197" y="1527265"/>
          <a:ext cx="11161240" cy="4467652"/>
        </p:xfrm>
        <a:graphic>
          <a:graphicData uri="http://schemas.openxmlformats.org/drawingml/2006/table">
            <a:tbl>
              <a:tblPr/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Writer 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Reader 1</a:t>
                      </a: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Reader 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wait(mutex);//mutex=0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++; //</a:t>
                      </a:r>
                      <a:r>
                        <a:rPr kumimoji="1" lang="en-US" altLang="zh-TW" sz="16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=1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wait(mutex):mutex=-1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Add to 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mutex.L</a:t>
                      </a: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//first reader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);//</a:t>
                      </a:r>
                      <a:r>
                        <a:rPr kumimoji="1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rw_mutex</a:t>
                      </a: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signal(mutex);//mutex=0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 up Reader 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---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++; //</a:t>
                      </a:r>
                      <a:r>
                        <a:rPr kumimoji="1" lang="en-US" altLang="zh-TW" sz="16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read_count</a:t>
                      </a:r>
                      <a:r>
                        <a:rPr kumimoji="1" lang="en-US" altLang="zh-TW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=2</a:t>
                      </a: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1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signal(mutex);//mutex=1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zh-TW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Reading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258389" y="1041962"/>
            <a:ext cx="77048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Courier New" pitchFamily="49" charset="0"/>
              </a:rPr>
              <a:t>Initially, </a:t>
            </a:r>
            <a:r>
              <a:rPr kumimoji="1" lang="en-US" altLang="zh-TW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Courier New" pitchFamily="49" charset="0"/>
              </a:rPr>
              <a:t>read_count</a:t>
            </a:r>
            <a:r>
              <a:rPr kumimoji="1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Courier New" pitchFamily="49" charset="0"/>
              </a:rPr>
              <a:t>=0,rw_mutex=1,mutex</a:t>
            </a: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Calibri" pitchFamily="34" charset="0"/>
              </a:rPr>
              <a:t> </a:t>
            </a: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新細明體" pitchFamily="18" charset="-120"/>
                <a:cs typeface="Calibri" pitchFamily="34" charset="0"/>
              </a:rPr>
              <a:t>= 1</a:t>
            </a: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707032" y="6165304"/>
            <a:ext cx="109844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Semaphore 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mutex 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用來確保同時只有一個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reader</a:t>
            </a:r>
            <a:r>
              <a:rPr kumimoji="1" lang="zh-TW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可以存取</a:t>
            </a:r>
            <a:r>
              <a:rPr kumimoji="1" lang="en-US" altLang="zh-TW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標楷體" panose="03000509000000000000" pitchFamily="65" charset="-120"/>
                <a:cs typeface="+mn-cs"/>
              </a:rPr>
              <a:t>read_count</a:t>
            </a:r>
            <a:endParaRPr kumimoji="1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標楷體" panose="03000509000000000000" pitchFamily="65" charset="-120"/>
              <a:cs typeface="Calibri" pitchFamily="34" charset="0"/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648816"/>
          </a:xfrm>
        </p:spPr>
        <p:txBody>
          <a:bodyPr>
            <a:normAutofit/>
          </a:bodyPr>
          <a:lstStyle/>
          <a:p>
            <a:r>
              <a:rPr lang="en-US" altLang="zh-TW" sz="3600" dirty="0" smtClean="0"/>
              <a:t>mutex</a:t>
            </a:r>
            <a:r>
              <a:rPr lang="zh-TW" altLang="en-US" sz="3600" dirty="0"/>
              <a:t>的</a:t>
            </a:r>
            <a:r>
              <a:rPr lang="zh-TW" altLang="en-US" sz="3600" dirty="0" smtClean="0"/>
              <a:t>用途：保護</a:t>
            </a:r>
            <a:r>
              <a:rPr lang="en-US" altLang="zh-TW" sz="3600" dirty="0" err="1" smtClean="0"/>
              <a:t>read_count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58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Readers-Writers Problem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On signal (</a:t>
            </a:r>
            <a:r>
              <a:rPr lang="en-US" altLang="zh-TW" dirty="0" err="1" smtClean="0"/>
              <a:t>rw_mutex</a:t>
            </a:r>
            <a:r>
              <a:rPr lang="en-US" altLang="zh-TW" dirty="0" smtClean="0"/>
              <a:t>) by a </a:t>
            </a:r>
            <a:r>
              <a:rPr lang="en-US" altLang="zh-TW" dirty="0" err="1" smtClean="0"/>
              <a:t>writter</a:t>
            </a: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we can wakeup </a:t>
            </a:r>
            <a:r>
              <a:rPr lang="en-US" altLang="zh-TW" dirty="0" smtClean="0">
                <a:solidFill>
                  <a:srgbClr val="FF3300"/>
                </a:solidFill>
              </a:rPr>
              <a:t>a set of waiting readers</a:t>
            </a:r>
            <a:r>
              <a:rPr lang="en-US" altLang="zh-TW" dirty="0" smtClean="0"/>
              <a:t> or </a:t>
            </a:r>
            <a:r>
              <a:rPr lang="en-US" altLang="zh-TW" dirty="0" smtClean="0">
                <a:solidFill>
                  <a:srgbClr val="FF3300"/>
                </a:solidFill>
              </a:rPr>
              <a:t>a single waiting writer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See the following slide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Depends on the scheduler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Readers-Writers Problem</a:t>
            </a:r>
          </a:p>
        </p:txBody>
      </p:sp>
      <p:sp>
        <p:nvSpPr>
          <p:cNvPr id="596995" name="Oval 3"/>
          <p:cNvSpPr>
            <a:spLocks noChangeArrowheads="1"/>
          </p:cNvSpPr>
          <p:nvPr/>
        </p:nvSpPr>
        <p:spPr bwMode="auto">
          <a:xfrm>
            <a:off x="22098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6" name="AutoShape 4"/>
          <p:cNvSpPr>
            <a:spLocks noChangeArrowheads="1"/>
          </p:cNvSpPr>
          <p:nvPr/>
        </p:nvSpPr>
        <p:spPr bwMode="auto">
          <a:xfrm>
            <a:off x="5181600" y="4343400"/>
            <a:ext cx="1676400" cy="838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876801" y="5257800"/>
            <a:ext cx="2239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 sz="2400">
                <a:latin typeface="Times New Roman" pitchFamily="18" charset="0"/>
              </a:rPr>
              <a:t>Shared Resource</a:t>
            </a:r>
          </a:p>
        </p:txBody>
      </p:sp>
      <p:sp>
        <p:nvSpPr>
          <p:cNvPr id="596998" name="Oval 6"/>
          <p:cNvSpPr>
            <a:spLocks noChangeArrowheads="1"/>
          </p:cNvSpPr>
          <p:nvPr/>
        </p:nvSpPr>
        <p:spPr bwMode="auto">
          <a:xfrm>
            <a:off x="23622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6999" name="Oval 7"/>
          <p:cNvSpPr>
            <a:spLocks noChangeArrowheads="1"/>
          </p:cNvSpPr>
          <p:nvPr/>
        </p:nvSpPr>
        <p:spPr bwMode="auto">
          <a:xfrm>
            <a:off x="25146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0" name="Oval 8"/>
          <p:cNvSpPr>
            <a:spLocks noChangeArrowheads="1"/>
          </p:cNvSpPr>
          <p:nvPr/>
        </p:nvSpPr>
        <p:spPr bwMode="auto">
          <a:xfrm>
            <a:off x="26670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1" name="Oval 9"/>
          <p:cNvSpPr>
            <a:spLocks noChangeArrowheads="1"/>
          </p:cNvSpPr>
          <p:nvPr/>
        </p:nvSpPr>
        <p:spPr bwMode="auto">
          <a:xfrm>
            <a:off x="28194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2" name="Oval 10"/>
          <p:cNvSpPr>
            <a:spLocks noChangeArrowheads="1"/>
          </p:cNvSpPr>
          <p:nvPr/>
        </p:nvSpPr>
        <p:spPr bwMode="auto">
          <a:xfrm>
            <a:off x="29718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3" name="Oval 11"/>
          <p:cNvSpPr>
            <a:spLocks noChangeArrowheads="1"/>
          </p:cNvSpPr>
          <p:nvPr/>
        </p:nvSpPr>
        <p:spPr bwMode="auto">
          <a:xfrm>
            <a:off x="3124200" y="2743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4" name="Oval 12"/>
          <p:cNvSpPr>
            <a:spLocks noChangeArrowheads="1"/>
          </p:cNvSpPr>
          <p:nvPr/>
        </p:nvSpPr>
        <p:spPr bwMode="auto">
          <a:xfrm>
            <a:off x="3276600" y="2895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Reader</a:t>
            </a:r>
          </a:p>
        </p:txBody>
      </p:sp>
      <p:sp>
        <p:nvSpPr>
          <p:cNvPr id="597005" name="Oval 13"/>
          <p:cNvSpPr>
            <a:spLocks noChangeArrowheads="1"/>
          </p:cNvSpPr>
          <p:nvPr/>
        </p:nvSpPr>
        <p:spPr bwMode="auto">
          <a:xfrm>
            <a:off x="6324600" y="1828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6" name="Oval 14"/>
          <p:cNvSpPr>
            <a:spLocks noChangeArrowheads="1"/>
          </p:cNvSpPr>
          <p:nvPr/>
        </p:nvSpPr>
        <p:spPr bwMode="auto">
          <a:xfrm>
            <a:off x="6477000" y="19812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7" name="Oval 15"/>
          <p:cNvSpPr>
            <a:spLocks noChangeArrowheads="1"/>
          </p:cNvSpPr>
          <p:nvPr/>
        </p:nvSpPr>
        <p:spPr bwMode="auto">
          <a:xfrm>
            <a:off x="6629400" y="21336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8" name="Oval 16"/>
          <p:cNvSpPr>
            <a:spLocks noChangeArrowheads="1"/>
          </p:cNvSpPr>
          <p:nvPr/>
        </p:nvSpPr>
        <p:spPr bwMode="auto">
          <a:xfrm>
            <a:off x="6781800" y="2286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09" name="Oval 17"/>
          <p:cNvSpPr>
            <a:spLocks noChangeArrowheads="1"/>
          </p:cNvSpPr>
          <p:nvPr/>
        </p:nvSpPr>
        <p:spPr bwMode="auto">
          <a:xfrm>
            <a:off x="6934200" y="24384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0" name="Oval 18"/>
          <p:cNvSpPr>
            <a:spLocks noChangeArrowheads="1"/>
          </p:cNvSpPr>
          <p:nvPr/>
        </p:nvSpPr>
        <p:spPr bwMode="auto">
          <a:xfrm>
            <a:off x="7086600" y="25908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597011" name="Oval 19"/>
          <p:cNvSpPr>
            <a:spLocks noChangeArrowheads="1"/>
          </p:cNvSpPr>
          <p:nvPr/>
        </p:nvSpPr>
        <p:spPr bwMode="auto">
          <a:xfrm>
            <a:off x="7315200" y="4572000"/>
            <a:ext cx="14478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400">
                <a:latin typeface="Times New Roman" pitchFamily="18" charset="0"/>
              </a:rPr>
              <a:t>Writer</a:t>
            </a:r>
          </a:p>
        </p:txBody>
      </p:sp>
      <p:sp>
        <p:nvSpPr>
          <p:cNvPr id="62484" name="Line 20"/>
          <p:cNvSpPr>
            <a:spLocks noChangeShapeType="1"/>
          </p:cNvSpPr>
          <p:nvPr/>
        </p:nvSpPr>
        <p:spPr bwMode="auto">
          <a:xfrm flipH="1">
            <a:off x="6858000" y="4800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7805738" y="6553200"/>
            <a:ext cx="2862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i="1">
                <a:latin typeface="Times New Roman" pitchFamily="18" charset="0"/>
              </a:rPr>
              <a:t>from “Operating Systems by NUTT”</a:t>
            </a:r>
          </a:p>
        </p:txBody>
      </p:sp>
    </p:spTree>
    <p:extLst>
      <p:ext uri="{BB962C8B-B14F-4D97-AF65-F5344CB8AC3E}">
        <p14:creationId xmlns:p14="http://schemas.microsoft.com/office/powerpoint/2010/main" val="406121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Classic Problems of Synchronization</a:t>
            </a:r>
          </a:p>
          <a:p>
            <a:pPr lvl="1"/>
            <a:r>
              <a:rPr lang="en-US" altLang="zh-TW" dirty="0"/>
              <a:t>Bounded-Buffer Problem</a:t>
            </a:r>
          </a:p>
          <a:p>
            <a:pPr lvl="1"/>
            <a:r>
              <a:rPr lang="en-US" altLang="zh-TW" dirty="0" smtClean="0"/>
              <a:t>Readers </a:t>
            </a:r>
            <a:r>
              <a:rPr lang="en-US" altLang="zh-TW" dirty="0"/>
              <a:t>and Writers Problem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Dining-Philosophers Problem</a:t>
            </a:r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POSIX </a:t>
            </a:r>
            <a:r>
              <a:rPr lang="en-US" altLang="zh-TW" sz="3600" dirty="0"/>
              <a:t>Synchronization</a:t>
            </a:r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870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Dining-Philosophers Problem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 smtClean="0"/>
              <a:t>Q: five philosophers, who only eat and think</a:t>
            </a:r>
          </a:p>
          <a:p>
            <a:pPr lvl="1" eaLnBrk="1" hangingPunct="1"/>
            <a:r>
              <a:rPr lang="en-US" altLang="zh-TW" sz="3200" dirty="0" smtClean="0"/>
              <a:t>To eat, two chopsticks are required</a:t>
            </a:r>
          </a:p>
          <a:p>
            <a:pPr lvl="2" eaLnBrk="1" hangingPunct="1"/>
            <a:r>
              <a:rPr lang="en-US" altLang="zh-TW" sz="2800" dirty="0" smtClean="0"/>
              <a:t>But taking one chopstick at a time</a:t>
            </a:r>
          </a:p>
          <a:p>
            <a:pPr lvl="1" eaLnBrk="1" hangingPunct="1"/>
            <a:r>
              <a:rPr lang="en-US" altLang="zh-TW" sz="3200" dirty="0" smtClean="0"/>
              <a:t>But wee have only 5 forks</a:t>
            </a:r>
          </a:p>
        </p:txBody>
      </p:sp>
      <p:grpSp>
        <p:nvGrpSpPr>
          <p:cNvPr id="65540" name="Group 5"/>
          <p:cNvGrpSpPr>
            <a:grpSpLocks/>
          </p:cNvGrpSpPr>
          <p:nvPr/>
        </p:nvGrpSpPr>
        <p:grpSpPr bwMode="auto">
          <a:xfrm>
            <a:off x="6383338" y="2924176"/>
            <a:ext cx="4032250" cy="3744913"/>
            <a:chOff x="1584" y="1129"/>
            <a:chExt cx="3051" cy="3047"/>
          </a:xfrm>
        </p:grpSpPr>
        <p:sp>
          <p:nvSpPr>
            <p:cNvPr id="65541" name="Oval 6"/>
            <p:cNvSpPr>
              <a:spLocks noChangeArrowheads="1"/>
            </p:cNvSpPr>
            <p:nvPr/>
          </p:nvSpPr>
          <p:spPr bwMode="auto">
            <a:xfrm>
              <a:off x="1584" y="1129"/>
              <a:ext cx="3051" cy="30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65542" name="Group 7"/>
            <p:cNvGrpSpPr>
              <a:grpSpLocks/>
            </p:cNvGrpSpPr>
            <p:nvPr/>
          </p:nvGrpSpPr>
          <p:grpSpPr bwMode="auto">
            <a:xfrm>
              <a:off x="2018" y="3107"/>
              <a:ext cx="791" cy="690"/>
              <a:chOff x="1670" y="3107"/>
              <a:chExt cx="791" cy="690"/>
            </a:xfrm>
          </p:grpSpPr>
          <p:sp>
            <p:nvSpPr>
              <p:cNvPr id="65577" name="Oval 8"/>
              <p:cNvSpPr>
                <a:spLocks noChangeArrowheads="1"/>
              </p:cNvSpPr>
              <p:nvPr/>
            </p:nvSpPr>
            <p:spPr bwMode="auto">
              <a:xfrm>
                <a:off x="1921" y="3258"/>
                <a:ext cx="540" cy="53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65578" name="Oval 9"/>
              <p:cNvSpPr>
                <a:spLocks noChangeArrowheads="1"/>
              </p:cNvSpPr>
              <p:nvPr/>
            </p:nvSpPr>
            <p:spPr bwMode="auto">
              <a:xfrm>
                <a:off x="2012" y="3349"/>
                <a:ext cx="358" cy="35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65579" name="Group 10"/>
              <p:cNvGrpSpPr>
                <a:grpSpLocks/>
              </p:cNvGrpSpPr>
              <p:nvPr/>
            </p:nvGrpSpPr>
            <p:grpSpPr bwMode="auto">
              <a:xfrm>
                <a:off x="1670" y="3107"/>
                <a:ext cx="303" cy="467"/>
                <a:chOff x="1670" y="3107"/>
                <a:chExt cx="303" cy="467"/>
              </a:xfrm>
            </p:grpSpPr>
            <p:sp>
              <p:nvSpPr>
                <p:cNvPr id="65580" name="Freeform 11"/>
                <p:cNvSpPr>
                  <a:spLocks/>
                </p:cNvSpPr>
                <p:nvPr/>
              </p:nvSpPr>
              <p:spPr bwMode="auto">
                <a:xfrm>
                  <a:off x="1822" y="3107"/>
                  <a:ext cx="151" cy="214"/>
                </a:xfrm>
                <a:custGeom>
                  <a:avLst/>
                  <a:gdLst>
                    <a:gd name="T0" fmla="*/ 15 w 151"/>
                    <a:gd name="T1" fmla="*/ 169 h 214"/>
                    <a:gd name="T2" fmla="*/ 17 w 151"/>
                    <a:gd name="T3" fmla="*/ 163 h 214"/>
                    <a:gd name="T4" fmla="*/ 18 w 151"/>
                    <a:gd name="T5" fmla="*/ 153 h 214"/>
                    <a:gd name="T6" fmla="*/ 14 w 151"/>
                    <a:gd name="T7" fmla="*/ 145 h 214"/>
                    <a:gd name="T8" fmla="*/ 14 w 151"/>
                    <a:gd name="T9" fmla="*/ 134 h 214"/>
                    <a:gd name="T10" fmla="*/ 17 w 151"/>
                    <a:gd name="T11" fmla="*/ 113 h 214"/>
                    <a:gd name="T12" fmla="*/ 23 w 151"/>
                    <a:gd name="T13" fmla="*/ 91 h 214"/>
                    <a:gd name="T14" fmla="*/ 32 w 151"/>
                    <a:gd name="T15" fmla="*/ 73 h 214"/>
                    <a:gd name="T16" fmla="*/ 63 w 151"/>
                    <a:gd name="T17" fmla="*/ 27 h 214"/>
                    <a:gd name="T18" fmla="*/ 85 w 151"/>
                    <a:gd name="T19" fmla="*/ 0 h 214"/>
                    <a:gd name="T20" fmla="*/ 81 w 151"/>
                    <a:gd name="T21" fmla="*/ 22 h 214"/>
                    <a:gd name="T22" fmla="*/ 48 w 151"/>
                    <a:gd name="T23" fmla="*/ 75 h 214"/>
                    <a:gd name="T24" fmla="*/ 37 w 151"/>
                    <a:gd name="T25" fmla="*/ 96 h 214"/>
                    <a:gd name="T26" fmla="*/ 35 w 151"/>
                    <a:gd name="T27" fmla="*/ 104 h 214"/>
                    <a:gd name="T28" fmla="*/ 37 w 151"/>
                    <a:gd name="T29" fmla="*/ 107 h 214"/>
                    <a:gd name="T30" fmla="*/ 40 w 151"/>
                    <a:gd name="T31" fmla="*/ 107 h 214"/>
                    <a:gd name="T32" fmla="*/ 44 w 151"/>
                    <a:gd name="T33" fmla="*/ 105 h 214"/>
                    <a:gd name="T34" fmla="*/ 97 w 151"/>
                    <a:gd name="T35" fmla="*/ 25 h 214"/>
                    <a:gd name="T36" fmla="*/ 111 w 151"/>
                    <a:gd name="T37" fmla="*/ 14 h 214"/>
                    <a:gd name="T38" fmla="*/ 63 w 151"/>
                    <a:gd name="T39" fmla="*/ 106 h 214"/>
                    <a:gd name="T40" fmla="*/ 59 w 151"/>
                    <a:gd name="T41" fmla="*/ 114 h 214"/>
                    <a:gd name="T42" fmla="*/ 58 w 151"/>
                    <a:gd name="T43" fmla="*/ 118 h 214"/>
                    <a:gd name="T44" fmla="*/ 64 w 151"/>
                    <a:gd name="T45" fmla="*/ 120 h 214"/>
                    <a:gd name="T46" fmla="*/ 68 w 151"/>
                    <a:gd name="T47" fmla="*/ 116 h 214"/>
                    <a:gd name="T48" fmla="*/ 125 w 151"/>
                    <a:gd name="T49" fmla="*/ 22 h 214"/>
                    <a:gd name="T50" fmla="*/ 91 w 151"/>
                    <a:gd name="T51" fmla="*/ 105 h 214"/>
                    <a:gd name="T52" fmla="*/ 81 w 151"/>
                    <a:gd name="T53" fmla="*/ 126 h 214"/>
                    <a:gd name="T54" fmla="*/ 84 w 151"/>
                    <a:gd name="T55" fmla="*/ 133 h 214"/>
                    <a:gd name="T56" fmla="*/ 87 w 151"/>
                    <a:gd name="T57" fmla="*/ 132 h 214"/>
                    <a:gd name="T58" fmla="*/ 91 w 151"/>
                    <a:gd name="T59" fmla="*/ 127 h 214"/>
                    <a:gd name="T60" fmla="*/ 130 w 151"/>
                    <a:gd name="T61" fmla="*/ 60 h 214"/>
                    <a:gd name="T62" fmla="*/ 150 w 151"/>
                    <a:gd name="T63" fmla="*/ 36 h 214"/>
                    <a:gd name="T64" fmla="*/ 138 w 151"/>
                    <a:gd name="T65" fmla="*/ 68 h 214"/>
                    <a:gd name="T66" fmla="*/ 122 w 151"/>
                    <a:gd name="T67" fmla="*/ 105 h 214"/>
                    <a:gd name="T68" fmla="*/ 105 w 151"/>
                    <a:gd name="T69" fmla="*/ 132 h 214"/>
                    <a:gd name="T70" fmla="*/ 97 w 151"/>
                    <a:gd name="T71" fmla="*/ 145 h 214"/>
                    <a:gd name="T72" fmla="*/ 81 w 151"/>
                    <a:gd name="T73" fmla="*/ 159 h 214"/>
                    <a:gd name="T74" fmla="*/ 67 w 151"/>
                    <a:gd name="T75" fmla="*/ 167 h 214"/>
                    <a:gd name="T76" fmla="*/ 57 w 151"/>
                    <a:gd name="T77" fmla="*/ 171 h 214"/>
                    <a:gd name="T78" fmla="*/ 47 w 151"/>
                    <a:gd name="T79" fmla="*/ 175 h 214"/>
                    <a:gd name="T80" fmla="*/ 44 w 151"/>
                    <a:gd name="T81" fmla="*/ 179 h 214"/>
                    <a:gd name="T82" fmla="*/ 13 w 151"/>
                    <a:gd name="T83" fmla="*/ 213 h 21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151"/>
                    <a:gd name="T127" fmla="*/ 0 h 214"/>
                    <a:gd name="T128" fmla="*/ 151 w 151"/>
                    <a:gd name="T129" fmla="*/ 214 h 214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151" h="214">
                      <a:moveTo>
                        <a:pt x="0" y="195"/>
                      </a:moveTo>
                      <a:lnTo>
                        <a:pt x="15" y="169"/>
                      </a:lnTo>
                      <a:lnTo>
                        <a:pt x="16" y="165"/>
                      </a:lnTo>
                      <a:lnTo>
                        <a:pt x="17" y="163"/>
                      </a:lnTo>
                      <a:lnTo>
                        <a:pt x="18" y="160"/>
                      </a:lnTo>
                      <a:lnTo>
                        <a:pt x="18" y="153"/>
                      </a:lnTo>
                      <a:lnTo>
                        <a:pt x="15" y="149"/>
                      </a:lnTo>
                      <a:lnTo>
                        <a:pt x="14" y="145"/>
                      </a:lnTo>
                      <a:lnTo>
                        <a:pt x="13" y="141"/>
                      </a:lnTo>
                      <a:lnTo>
                        <a:pt x="14" y="134"/>
                      </a:lnTo>
                      <a:lnTo>
                        <a:pt x="14" y="129"/>
                      </a:lnTo>
                      <a:lnTo>
                        <a:pt x="17" y="113"/>
                      </a:lnTo>
                      <a:lnTo>
                        <a:pt x="19" y="103"/>
                      </a:lnTo>
                      <a:lnTo>
                        <a:pt x="23" y="91"/>
                      </a:lnTo>
                      <a:lnTo>
                        <a:pt x="28" y="79"/>
                      </a:lnTo>
                      <a:lnTo>
                        <a:pt x="32" y="73"/>
                      </a:lnTo>
                      <a:lnTo>
                        <a:pt x="50" y="44"/>
                      </a:lnTo>
                      <a:lnTo>
                        <a:pt x="63" y="27"/>
                      </a:lnTo>
                      <a:lnTo>
                        <a:pt x="77" y="10"/>
                      </a:lnTo>
                      <a:lnTo>
                        <a:pt x="85" y="0"/>
                      </a:lnTo>
                      <a:lnTo>
                        <a:pt x="92" y="4"/>
                      </a:lnTo>
                      <a:lnTo>
                        <a:pt x="81" y="22"/>
                      </a:lnTo>
                      <a:lnTo>
                        <a:pt x="62" y="52"/>
                      </a:lnTo>
                      <a:lnTo>
                        <a:pt x="48" y="75"/>
                      </a:lnTo>
                      <a:lnTo>
                        <a:pt x="41" y="88"/>
                      </a:lnTo>
                      <a:lnTo>
                        <a:pt x="37" y="96"/>
                      </a:lnTo>
                      <a:lnTo>
                        <a:pt x="35" y="100"/>
                      </a:lnTo>
                      <a:lnTo>
                        <a:pt x="35" y="104"/>
                      </a:lnTo>
                      <a:lnTo>
                        <a:pt x="35" y="105"/>
                      </a:lnTo>
                      <a:lnTo>
                        <a:pt x="37" y="107"/>
                      </a:lnTo>
                      <a:lnTo>
                        <a:pt x="39" y="108"/>
                      </a:lnTo>
                      <a:lnTo>
                        <a:pt x="40" y="107"/>
                      </a:lnTo>
                      <a:lnTo>
                        <a:pt x="42" y="107"/>
                      </a:lnTo>
                      <a:lnTo>
                        <a:pt x="44" y="105"/>
                      </a:lnTo>
                      <a:lnTo>
                        <a:pt x="78" y="53"/>
                      </a:lnTo>
                      <a:lnTo>
                        <a:pt x="97" y="25"/>
                      </a:lnTo>
                      <a:lnTo>
                        <a:pt x="105" y="11"/>
                      </a:lnTo>
                      <a:lnTo>
                        <a:pt x="111" y="14"/>
                      </a:lnTo>
                      <a:lnTo>
                        <a:pt x="88" y="59"/>
                      </a:lnTo>
                      <a:lnTo>
                        <a:pt x="63" y="106"/>
                      </a:lnTo>
                      <a:lnTo>
                        <a:pt x="59" y="112"/>
                      </a:lnTo>
                      <a:lnTo>
                        <a:pt x="59" y="114"/>
                      </a:lnTo>
                      <a:lnTo>
                        <a:pt x="58" y="117"/>
                      </a:lnTo>
                      <a:lnTo>
                        <a:pt x="58" y="118"/>
                      </a:lnTo>
                      <a:lnTo>
                        <a:pt x="63" y="120"/>
                      </a:lnTo>
                      <a:lnTo>
                        <a:pt x="64" y="120"/>
                      </a:lnTo>
                      <a:lnTo>
                        <a:pt x="66" y="118"/>
                      </a:lnTo>
                      <a:lnTo>
                        <a:pt x="68" y="116"/>
                      </a:lnTo>
                      <a:lnTo>
                        <a:pt x="68" y="115"/>
                      </a:lnTo>
                      <a:lnTo>
                        <a:pt x="125" y="22"/>
                      </a:lnTo>
                      <a:lnTo>
                        <a:pt x="131" y="26"/>
                      </a:lnTo>
                      <a:lnTo>
                        <a:pt x="91" y="105"/>
                      </a:lnTo>
                      <a:lnTo>
                        <a:pt x="83" y="124"/>
                      </a:lnTo>
                      <a:lnTo>
                        <a:pt x="81" y="126"/>
                      </a:lnTo>
                      <a:lnTo>
                        <a:pt x="81" y="131"/>
                      </a:lnTo>
                      <a:lnTo>
                        <a:pt x="84" y="133"/>
                      </a:lnTo>
                      <a:lnTo>
                        <a:pt x="85" y="133"/>
                      </a:lnTo>
                      <a:lnTo>
                        <a:pt x="87" y="132"/>
                      </a:lnTo>
                      <a:lnTo>
                        <a:pt x="88" y="130"/>
                      </a:lnTo>
                      <a:lnTo>
                        <a:pt x="91" y="127"/>
                      </a:lnTo>
                      <a:lnTo>
                        <a:pt x="110" y="96"/>
                      </a:lnTo>
                      <a:lnTo>
                        <a:pt x="130" y="60"/>
                      </a:lnTo>
                      <a:lnTo>
                        <a:pt x="143" y="32"/>
                      </a:lnTo>
                      <a:lnTo>
                        <a:pt x="150" y="36"/>
                      </a:lnTo>
                      <a:lnTo>
                        <a:pt x="145" y="48"/>
                      </a:lnTo>
                      <a:lnTo>
                        <a:pt x="138" y="68"/>
                      </a:lnTo>
                      <a:lnTo>
                        <a:pt x="131" y="87"/>
                      </a:lnTo>
                      <a:lnTo>
                        <a:pt x="122" y="105"/>
                      </a:lnTo>
                      <a:lnTo>
                        <a:pt x="111" y="126"/>
                      </a:lnTo>
                      <a:lnTo>
                        <a:pt x="105" y="132"/>
                      </a:lnTo>
                      <a:lnTo>
                        <a:pt x="101" y="140"/>
                      </a:lnTo>
                      <a:lnTo>
                        <a:pt x="97" y="145"/>
                      </a:lnTo>
                      <a:lnTo>
                        <a:pt x="89" y="152"/>
                      </a:lnTo>
                      <a:lnTo>
                        <a:pt x="81" y="159"/>
                      </a:lnTo>
                      <a:lnTo>
                        <a:pt x="73" y="164"/>
                      </a:lnTo>
                      <a:lnTo>
                        <a:pt x="67" y="167"/>
                      </a:lnTo>
                      <a:lnTo>
                        <a:pt x="59" y="171"/>
                      </a:lnTo>
                      <a:lnTo>
                        <a:pt x="57" y="171"/>
                      </a:lnTo>
                      <a:lnTo>
                        <a:pt x="54" y="173"/>
                      </a:lnTo>
                      <a:lnTo>
                        <a:pt x="47" y="175"/>
                      </a:lnTo>
                      <a:lnTo>
                        <a:pt x="46" y="176"/>
                      </a:lnTo>
                      <a:lnTo>
                        <a:pt x="44" y="179"/>
                      </a:lnTo>
                      <a:lnTo>
                        <a:pt x="25" y="210"/>
                      </a:lnTo>
                      <a:lnTo>
                        <a:pt x="13" y="213"/>
                      </a:lnTo>
                      <a:lnTo>
                        <a:pt x="0" y="195"/>
                      </a:lnTo>
                    </a:path>
                  </a:pathLst>
                </a:custGeom>
                <a:solidFill>
                  <a:srgbClr val="FFFFFF"/>
                </a:solidFill>
                <a:ln w="127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65581" name="Freeform 12"/>
                <p:cNvSpPr>
                  <a:spLocks/>
                </p:cNvSpPr>
                <p:nvPr/>
              </p:nvSpPr>
              <p:spPr bwMode="auto">
                <a:xfrm>
                  <a:off x="1670" y="3301"/>
                  <a:ext cx="179" cy="273"/>
                </a:xfrm>
                <a:custGeom>
                  <a:avLst/>
                  <a:gdLst>
                    <a:gd name="T0" fmla="*/ 151 w 179"/>
                    <a:gd name="T1" fmla="*/ 0 h 273"/>
                    <a:gd name="T2" fmla="*/ 132 w 179"/>
                    <a:gd name="T3" fmla="*/ 29 h 273"/>
                    <a:gd name="T4" fmla="*/ 94 w 179"/>
                    <a:gd name="T5" fmla="*/ 81 h 273"/>
                    <a:gd name="T6" fmla="*/ 65 w 179"/>
                    <a:gd name="T7" fmla="*/ 118 h 273"/>
                    <a:gd name="T8" fmla="*/ 42 w 179"/>
                    <a:gd name="T9" fmla="*/ 156 h 273"/>
                    <a:gd name="T10" fmla="*/ 20 w 179"/>
                    <a:gd name="T11" fmla="*/ 194 h 273"/>
                    <a:gd name="T12" fmla="*/ 10 w 179"/>
                    <a:gd name="T13" fmla="*/ 221 h 273"/>
                    <a:gd name="T14" fmla="*/ 1 w 179"/>
                    <a:gd name="T15" fmla="*/ 243 h 273"/>
                    <a:gd name="T16" fmla="*/ 0 w 179"/>
                    <a:gd name="T17" fmla="*/ 253 h 273"/>
                    <a:gd name="T18" fmla="*/ 0 w 179"/>
                    <a:gd name="T19" fmla="*/ 261 h 273"/>
                    <a:gd name="T20" fmla="*/ 3 w 179"/>
                    <a:gd name="T21" fmla="*/ 266 h 273"/>
                    <a:gd name="T22" fmla="*/ 11 w 179"/>
                    <a:gd name="T23" fmla="*/ 271 h 273"/>
                    <a:gd name="T24" fmla="*/ 16 w 179"/>
                    <a:gd name="T25" fmla="*/ 272 h 273"/>
                    <a:gd name="T26" fmla="*/ 23 w 179"/>
                    <a:gd name="T27" fmla="*/ 269 h 273"/>
                    <a:gd name="T28" fmla="*/ 30 w 179"/>
                    <a:gd name="T29" fmla="*/ 264 h 273"/>
                    <a:gd name="T30" fmla="*/ 45 w 179"/>
                    <a:gd name="T31" fmla="*/ 250 h 273"/>
                    <a:gd name="T32" fmla="*/ 70 w 179"/>
                    <a:gd name="T33" fmla="*/ 218 h 273"/>
                    <a:gd name="T34" fmla="*/ 94 w 179"/>
                    <a:gd name="T35" fmla="*/ 185 h 273"/>
                    <a:gd name="T36" fmla="*/ 121 w 179"/>
                    <a:gd name="T37" fmla="*/ 134 h 273"/>
                    <a:gd name="T38" fmla="*/ 153 w 179"/>
                    <a:gd name="T39" fmla="*/ 65 h 273"/>
                    <a:gd name="T40" fmla="*/ 169 w 179"/>
                    <a:gd name="T41" fmla="*/ 31 h 273"/>
                    <a:gd name="T42" fmla="*/ 178 w 179"/>
                    <a:gd name="T43" fmla="*/ 15 h 273"/>
                    <a:gd name="T44" fmla="*/ 151 w 179"/>
                    <a:gd name="T45" fmla="*/ 0 h 27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79"/>
                    <a:gd name="T70" fmla="*/ 0 h 273"/>
                    <a:gd name="T71" fmla="*/ 179 w 179"/>
                    <a:gd name="T72" fmla="*/ 273 h 273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79" h="273">
                      <a:moveTo>
                        <a:pt x="151" y="0"/>
                      </a:moveTo>
                      <a:lnTo>
                        <a:pt x="132" y="29"/>
                      </a:lnTo>
                      <a:lnTo>
                        <a:pt x="94" y="81"/>
                      </a:lnTo>
                      <a:lnTo>
                        <a:pt x="65" y="118"/>
                      </a:lnTo>
                      <a:lnTo>
                        <a:pt x="42" y="156"/>
                      </a:lnTo>
                      <a:lnTo>
                        <a:pt x="20" y="194"/>
                      </a:lnTo>
                      <a:lnTo>
                        <a:pt x="10" y="221"/>
                      </a:lnTo>
                      <a:lnTo>
                        <a:pt x="1" y="243"/>
                      </a:lnTo>
                      <a:lnTo>
                        <a:pt x="0" y="253"/>
                      </a:lnTo>
                      <a:lnTo>
                        <a:pt x="0" y="261"/>
                      </a:lnTo>
                      <a:lnTo>
                        <a:pt x="3" y="266"/>
                      </a:lnTo>
                      <a:lnTo>
                        <a:pt x="11" y="271"/>
                      </a:lnTo>
                      <a:lnTo>
                        <a:pt x="16" y="272"/>
                      </a:lnTo>
                      <a:lnTo>
                        <a:pt x="23" y="269"/>
                      </a:lnTo>
                      <a:lnTo>
                        <a:pt x="30" y="264"/>
                      </a:lnTo>
                      <a:lnTo>
                        <a:pt x="45" y="250"/>
                      </a:lnTo>
                      <a:lnTo>
                        <a:pt x="70" y="218"/>
                      </a:lnTo>
                      <a:lnTo>
                        <a:pt x="94" y="185"/>
                      </a:lnTo>
                      <a:lnTo>
                        <a:pt x="121" y="134"/>
                      </a:lnTo>
                      <a:lnTo>
                        <a:pt x="153" y="65"/>
                      </a:lnTo>
                      <a:lnTo>
                        <a:pt x="169" y="31"/>
                      </a:lnTo>
                      <a:lnTo>
                        <a:pt x="178" y="15"/>
                      </a:lnTo>
                      <a:lnTo>
                        <a:pt x="15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65582" name="Freeform 13"/>
                <p:cNvSpPr>
                  <a:spLocks/>
                </p:cNvSpPr>
                <p:nvPr/>
              </p:nvSpPr>
              <p:spPr bwMode="auto">
                <a:xfrm>
                  <a:off x="1803" y="3301"/>
                  <a:ext cx="46" cy="44"/>
                </a:xfrm>
                <a:custGeom>
                  <a:avLst/>
                  <a:gdLst>
                    <a:gd name="T0" fmla="*/ 18 w 46"/>
                    <a:gd name="T1" fmla="*/ 0 h 44"/>
                    <a:gd name="T2" fmla="*/ 11 w 46"/>
                    <a:gd name="T3" fmla="*/ 9 h 44"/>
                    <a:gd name="T4" fmla="*/ 5 w 46"/>
                    <a:gd name="T5" fmla="*/ 18 h 44"/>
                    <a:gd name="T6" fmla="*/ 0 w 46"/>
                    <a:gd name="T7" fmla="*/ 26 h 44"/>
                    <a:gd name="T8" fmla="*/ 31 w 46"/>
                    <a:gd name="T9" fmla="*/ 43 h 44"/>
                    <a:gd name="T10" fmla="*/ 35 w 46"/>
                    <a:gd name="T11" fmla="*/ 35 h 44"/>
                    <a:gd name="T12" fmla="*/ 42 w 46"/>
                    <a:gd name="T13" fmla="*/ 20 h 44"/>
                    <a:gd name="T14" fmla="*/ 45 w 46"/>
                    <a:gd name="T15" fmla="*/ 15 h 44"/>
                    <a:gd name="T16" fmla="*/ 18 w 46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46"/>
                    <a:gd name="T28" fmla="*/ 0 h 44"/>
                    <a:gd name="T29" fmla="*/ 46 w 46"/>
                    <a:gd name="T30" fmla="*/ 44 h 4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46" h="44">
                      <a:moveTo>
                        <a:pt x="18" y="0"/>
                      </a:moveTo>
                      <a:lnTo>
                        <a:pt x="11" y="9"/>
                      </a:lnTo>
                      <a:lnTo>
                        <a:pt x="5" y="18"/>
                      </a:lnTo>
                      <a:lnTo>
                        <a:pt x="0" y="26"/>
                      </a:lnTo>
                      <a:lnTo>
                        <a:pt x="31" y="43"/>
                      </a:lnTo>
                      <a:lnTo>
                        <a:pt x="35" y="35"/>
                      </a:lnTo>
                      <a:lnTo>
                        <a:pt x="42" y="20"/>
                      </a:lnTo>
                      <a:lnTo>
                        <a:pt x="45" y="15"/>
                      </a:lnTo>
                      <a:lnTo>
                        <a:pt x="18" y="0"/>
                      </a:lnTo>
                    </a:path>
                  </a:pathLst>
                </a:custGeom>
                <a:solidFill>
                  <a:srgbClr val="FFFFFF"/>
                </a:solidFill>
                <a:ln w="127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65543" name="Oval 14"/>
            <p:cNvSpPr>
              <a:spLocks noChangeArrowheads="1"/>
            </p:cNvSpPr>
            <p:nvPr/>
          </p:nvSpPr>
          <p:spPr bwMode="auto">
            <a:xfrm>
              <a:off x="2844" y="1252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5544" name="Oval 15"/>
            <p:cNvSpPr>
              <a:spLocks noChangeArrowheads="1"/>
            </p:cNvSpPr>
            <p:nvPr/>
          </p:nvSpPr>
          <p:spPr bwMode="auto">
            <a:xfrm>
              <a:off x="2936" y="1343"/>
              <a:ext cx="357" cy="3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65545" name="Group 16"/>
            <p:cNvGrpSpPr>
              <a:grpSpLocks/>
            </p:cNvGrpSpPr>
            <p:nvPr/>
          </p:nvGrpSpPr>
          <p:grpSpPr bwMode="auto">
            <a:xfrm>
              <a:off x="3516" y="1336"/>
              <a:ext cx="97" cy="518"/>
              <a:chOff x="3168" y="1336"/>
              <a:chExt cx="97" cy="518"/>
            </a:xfrm>
          </p:grpSpPr>
          <p:sp>
            <p:nvSpPr>
              <p:cNvPr id="65574" name="Freeform 17"/>
              <p:cNvSpPr>
                <a:spLocks/>
              </p:cNvSpPr>
              <p:nvPr/>
            </p:nvSpPr>
            <p:spPr bwMode="auto">
              <a:xfrm>
                <a:off x="3168" y="1631"/>
                <a:ext cx="97" cy="223"/>
              </a:xfrm>
              <a:custGeom>
                <a:avLst/>
                <a:gdLst>
                  <a:gd name="T0" fmla="*/ 65 w 97"/>
                  <a:gd name="T1" fmla="*/ 39 h 223"/>
                  <a:gd name="T2" fmla="*/ 67 w 97"/>
                  <a:gd name="T3" fmla="*/ 46 h 223"/>
                  <a:gd name="T4" fmla="*/ 69 w 97"/>
                  <a:gd name="T5" fmla="*/ 54 h 223"/>
                  <a:gd name="T6" fmla="*/ 77 w 97"/>
                  <a:gd name="T7" fmla="*/ 60 h 223"/>
                  <a:gd name="T8" fmla="*/ 83 w 97"/>
                  <a:gd name="T9" fmla="*/ 71 h 223"/>
                  <a:gd name="T10" fmla="*/ 89 w 97"/>
                  <a:gd name="T11" fmla="*/ 90 h 223"/>
                  <a:gd name="T12" fmla="*/ 95 w 97"/>
                  <a:gd name="T13" fmla="*/ 112 h 223"/>
                  <a:gd name="T14" fmla="*/ 95 w 97"/>
                  <a:gd name="T15" fmla="*/ 131 h 223"/>
                  <a:gd name="T16" fmla="*/ 90 w 97"/>
                  <a:gd name="T17" fmla="*/ 188 h 223"/>
                  <a:gd name="T18" fmla="*/ 83 w 97"/>
                  <a:gd name="T19" fmla="*/ 222 h 223"/>
                  <a:gd name="T20" fmla="*/ 76 w 97"/>
                  <a:gd name="T21" fmla="*/ 200 h 223"/>
                  <a:gd name="T22" fmla="*/ 80 w 97"/>
                  <a:gd name="T23" fmla="*/ 138 h 223"/>
                  <a:gd name="T24" fmla="*/ 81 w 97"/>
                  <a:gd name="T25" fmla="*/ 114 h 223"/>
                  <a:gd name="T26" fmla="*/ 78 w 97"/>
                  <a:gd name="T27" fmla="*/ 107 h 223"/>
                  <a:gd name="T28" fmla="*/ 75 w 97"/>
                  <a:gd name="T29" fmla="*/ 105 h 223"/>
                  <a:gd name="T30" fmla="*/ 72 w 97"/>
                  <a:gd name="T31" fmla="*/ 106 h 223"/>
                  <a:gd name="T32" fmla="*/ 70 w 97"/>
                  <a:gd name="T33" fmla="*/ 110 h 223"/>
                  <a:gd name="T34" fmla="*/ 61 w 97"/>
                  <a:gd name="T35" fmla="*/ 205 h 223"/>
                  <a:gd name="T36" fmla="*/ 53 w 97"/>
                  <a:gd name="T37" fmla="*/ 221 h 223"/>
                  <a:gd name="T38" fmla="*/ 53 w 97"/>
                  <a:gd name="T39" fmla="*/ 117 h 223"/>
                  <a:gd name="T40" fmla="*/ 52 w 97"/>
                  <a:gd name="T41" fmla="*/ 109 h 223"/>
                  <a:gd name="T42" fmla="*/ 51 w 97"/>
                  <a:gd name="T43" fmla="*/ 105 h 223"/>
                  <a:gd name="T44" fmla="*/ 46 w 97"/>
                  <a:gd name="T45" fmla="*/ 106 h 223"/>
                  <a:gd name="T46" fmla="*/ 44 w 97"/>
                  <a:gd name="T47" fmla="*/ 111 h 223"/>
                  <a:gd name="T48" fmla="*/ 29 w 97"/>
                  <a:gd name="T49" fmla="*/ 220 h 223"/>
                  <a:gd name="T50" fmla="*/ 27 w 97"/>
                  <a:gd name="T51" fmla="*/ 111 h 223"/>
                  <a:gd name="T52" fmla="*/ 25 w 97"/>
                  <a:gd name="T53" fmla="*/ 103 h 223"/>
                  <a:gd name="T54" fmla="*/ 20 w 97"/>
                  <a:gd name="T55" fmla="*/ 105 h 223"/>
                  <a:gd name="T56" fmla="*/ 19 w 97"/>
                  <a:gd name="T57" fmla="*/ 108 h 223"/>
                  <a:gd name="T58" fmla="*/ 16 w 97"/>
                  <a:gd name="T59" fmla="*/ 149 h 223"/>
                  <a:gd name="T60" fmla="*/ 16 w 97"/>
                  <a:gd name="T61" fmla="*/ 220 h 223"/>
                  <a:gd name="T62" fmla="*/ 7 w 97"/>
                  <a:gd name="T63" fmla="*/ 207 h 223"/>
                  <a:gd name="T64" fmla="*/ 1 w 97"/>
                  <a:gd name="T65" fmla="*/ 166 h 223"/>
                  <a:gd name="T66" fmla="*/ 1 w 97"/>
                  <a:gd name="T67" fmla="*/ 123 h 223"/>
                  <a:gd name="T68" fmla="*/ 4 w 97"/>
                  <a:gd name="T69" fmla="*/ 106 h 223"/>
                  <a:gd name="T70" fmla="*/ 8 w 97"/>
                  <a:gd name="T71" fmla="*/ 90 h 223"/>
                  <a:gd name="T72" fmla="*/ 16 w 97"/>
                  <a:gd name="T73" fmla="*/ 71 h 223"/>
                  <a:gd name="T74" fmla="*/ 26 w 97"/>
                  <a:gd name="T75" fmla="*/ 58 h 223"/>
                  <a:gd name="T76" fmla="*/ 29 w 97"/>
                  <a:gd name="T77" fmla="*/ 54 h 223"/>
                  <a:gd name="T78" fmla="*/ 35 w 97"/>
                  <a:gd name="T79" fmla="*/ 48 h 223"/>
                  <a:gd name="T80" fmla="*/ 37 w 97"/>
                  <a:gd name="T81" fmla="*/ 8 h 223"/>
                  <a:gd name="T82" fmla="*/ 67 w 97"/>
                  <a:gd name="T83" fmla="*/ 9 h 22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7"/>
                  <a:gd name="T127" fmla="*/ 0 h 223"/>
                  <a:gd name="T128" fmla="*/ 97 w 97"/>
                  <a:gd name="T129" fmla="*/ 223 h 223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7" h="223">
                    <a:moveTo>
                      <a:pt x="67" y="9"/>
                    </a:moveTo>
                    <a:lnTo>
                      <a:pt x="65" y="39"/>
                    </a:lnTo>
                    <a:lnTo>
                      <a:pt x="67" y="44"/>
                    </a:lnTo>
                    <a:lnTo>
                      <a:pt x="67" y="46"/>
                    </a:lnTo>
                    <a:lnTo>
                      <a:pt x="67" y="49"/>
                    </a:lnTo>
                    <a:lnTo>
                      <a:pt x="69" y="54"/>
                    </a:lnTo>
                    <a:lnTo>
                      <a:pt x="74" y="57"/>
                    </a:lnTo>
                    <a:lnTo>
                      <a:pt x="77" y="60"/>
                    </a:lnTo>
                    <a:lnTo>
                      <a:pt x="81" y="64"/>
                    </a:lnTo>
                    <a:lnTo>
                      <a:pt x="83" y="71"/>
                    </a:lnTo>
                    <a:lnTo>
                      <a:pt x="85" y="74"/>
                    </a:lnTo>
                    <a:lnTo>
                      <a:pt x="89" y="90"/>
                    </a:lnTo>
                    <a:lnTo>
                      <a:pt x="92" y="100"/>
                    </a:lnTo>
                    <a:lnTo>
                      <a:pt x="95" y="112"/>
                    </a:lnTo>
                    <a:lnTo>
                      <a:pt x="96" y="126"/>
                    </a:lnTo>
                    <a:lnTo>
                      <a:pt x="95" y="131"/>
                    </a:lnTo>
                    <a:lnTo>
                      <a:pt x="92" y="167"/>
                    </a:lnTo>
                    <a:lnTo>
                      <a:pt x="90" y="188"/>
                    </a:lnTo>
                    <a:lnTo>
                      <a:pt x="86" y="209"/>
                    </a:lnTo>
                    <a:lnTo>
                      <a:pt x="83" y="222"/>
                    </a:lnTo>
                    <a:lnTo>
                      <a:pt x="74" y="222"/>
                    </a:lnTo>
                    <a:lnTo>
                      <a:pt x="76" y="200"/>
                    </a:lnTo>
                    <a:lnTo>
                      <a:pt x="79" y="165"/>
                    </a:lnTo>
                    <a:lnTo>
                      <a:pt x="80" y="138"/>
                    </a:lnTo>
                    <a:lnTo>
                      <a:pt x="80" y="123"/>
                    </a:lnTo>
                    <a:lnTo>
                      <a:pt x="81" y="114"/>
                    </a:lnTo>
                    <a:lnTo>
                      <a:pt x="80" y="111"/>
                    </a:lnTo>
                    <a:lnTo>
                      <a:pt x="78" y="107"/>
                    </a:lnTo>
                    <a:lnTo>
                      <a:pt x="77" y="106"/>
                    </a:lnTo>
                    <a:lnTo>
                      <a:pt x="75" y="105"/>
                    </a:lnTo>
                    <a:lnTo>
                      <a:pt x="73" y="105"/>
                    </a:lnTo>
                    <a:lnTo>
                      <a:pt x="72" y="106"/>
                    </a:lnTo>
                    <a:lnTo>
                      <a:pt x="70" y="107"/>
                    </a:lnTo>
                    <a:lnTo>
                      <a:pt x="70" y="110"/>
                    </a:lnTo>
                    <a:lnTo>
                      <a:pt x="65" y="172"/>
                    </a:lnTo>
                    <a:lnTo>
                      <a:pt x="61" y="205"/>
                    </a:lnTo>
                    <a:lnTo>
                      <a:pt x="59" y="222"/>
                    </a:lnTo>
                    <a:lnTo>
                      <a:pt x="53" y="221"/>
                    </a:lnTo>
                    <a:lnTo>
                      <a:pt x="52" y="172"/>
                    </a:lnTo>
                    <a:lnTo>
                      <a:pt x="53" y="117"/>
                    </a:lnTo>
                    <a:lnTo>
                      <a:pt x="53" y="111"/>
                    </a:lnTo>
                    <a:lnTo>
                      <a:pt x="52" y="109"/>
                    </a:lnTo>
                    <a:lnTo>
                      <a:pt x="51" y="106"/>
                    </a:lnTo>
                    <a:lnTo>
                      <a:pt x="51" y="105"/>
                    </a:lnTo>
                    <a:lnTo>
                      <a:pt x="47" y="105"/>
                    </a:lnTo>
                    <a:lnTo>
                      <a:pt x="46" y="106"/>
                    </a:lnTo>
                    <a:lnTo>
                      <a:pt x="45" y="109"/>
                    </a:lnTo>
                    <a:lnTo>
                      <a:pt x="44" y="111"/>
                    </a:lnTo>
                    <a:lnTo>
                      <a:pt x="37" y="221"/>
                    </a:lnTo>
                    <a:lnTo>
                      <a:pt x="29" y="220"/>
                    </a:lnTo>
                    <a:lnTo>
                      <a:pt x="28" y="132"/>
                    </a:lnTo>
                    <a:lnTo>
                      <a:pt x="27" y="111"/>
                    </a:lnTo>
                    <a:lnTo>
                      <a:pt x="28" y="108"/>
                    </a:lnTo>
                    <a:lnTo>
                      <a:pt x="25" y="103"/>
                    </a:lnTo>
                    <a:lnTo>
                      <a:pt x="21" y="104"/>
                    </a:lnTo>
                    <a:lnTo>
                      <a:pt x="20" y="105"/>
                    </a:lnTo>
                    <a:lnTo>
                      <a:pt x="19" y="107"/>
                    </a:lnTo>
                    <a:lnTo>
                      <a:pt x="19" y="108"/>
                    </a:lnTo>
                    <a:lnTo>
                      <a:pt x="17" y="112"/>
                    </a:lnTo>
                    <a:lnTo>
                      <a:pt x="16" y="149"/>
                    </a:lnTo>
                    <a:lnTo>
                      <a:pt x="14" y="191"/>
                    </a:lnTo>
                    <a:lnTo>
                      <a:pt x="16" y="220"/>
                    </a:lnTo>
                    <a:lnTo>
                      <a:pt x="9" y="221"/>
                    </a:lnTo>
                    <a:lnTo>
                      <a:pt x="7" y="207"/>
                    </a:lnTo>
                    <a:lnTo>
                      <a:pt x="4" y="187"/>
                    </a:lnTo>
                    <a:lnTo>
                      <a:pt x="1" y="166"/>
                    </a:lnTo>
                    <a:lnTo>
                      <a:pt x="0" y="147"/>
                    </a:lnTo>
                    <a:lnTo>
                      <a:pt x="1" y="123"/>
                    </a:lnTo>
                    <a:lnTo>
                      <a:pt x="3" y="115"/>
                    </a:lnTo>
                    <a:lnTo>
                      <a:pt x="4" y="106"/>
                    </a:lnTo>
                    <a:lnTo>
                      <a:pt x="5" y="99"/>
                    </a:lnTo>
                    <a:lnTo>
                      <a:pt x="8" y="90"/>
                    </a:lnTo>
                    <a:lnTo>
                      <a:pt x="12" y="79"/>
                    </a:lnTo>
                    <a:lnTo>
                      <a:pt x="16" y="71"/>
                    </a:lnTo>
                    <a:lnTo>
                      <a:pt x="19" y="66"/>
                    </a:lnTo>
                    <a:lnTo>
                      <a:pt x="26" y="58"/>
                    </a:lnTo>
                    <a:lnTo>
                      <a:pt x="28" y="57"/>
                    </a:lnTo>
                    <a:lnTo>
                      <a:pt x="29" y="54"/>
                    </a:lnTo>
                    <a:lnTo>
                      <a:pt x="34" y="50"/>
                    </a:lnTo>
                    <a:lnTo>
                      <a:pt x="35" y="48"/>
                    </a:lnTo>
                    <a:lnTo>
                      <a:pt x="36" y="44"/>
                    </a:lnTo>
                    <a:lnTo>
                      <a:pt x="37" y="8"/>
                    </a:lnTo>
                    <a:lnTo>
                      <a:pt x="47" y="0"/>
                    </a:lnTo>
                    <a:lnTo>
                      <a:pt x="67" y="9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5" name="Freeform 18"/>
              <p:cNvSpPr>
                <a:spLocks/>
              </p:cNvSpPr>
              <p:nvPr/>
            </p:nvSpPr>
            <p:spPr bwMode="auto">
              <a:xfrm>
                <a:off x="3200" y="1336"/>
                <a:ext cx="62" cy="306"/>
              </a:xfrm>
              <a:custGeom>
                <a:avLst/>
                <a:gdLst>
                  <a:gd name="T0" fmla="*/ 36 w 62"/>
                  <a:gd name="T1" fmla="*/ 305 h 306"/>
                  <a:gd name="T2" fmla="*/ 40 w 62"/>
                  <a:gd name="T3" fmla="*/ 271 h 306"/>
                  <a:gd name="T4" fmla="*/ 49 w 62"/>
                  <a:gd name="T5" fmla="*/ 207 h 306"/>
                  <a:gd name="T6" fmla="*/ 57 w 62"/>
                  <a:gd name="T7" fmla="*/ 160 h 306"/>
                  <a:gd name="T8" fmla="*/ 60 w 62"/>
                  <a:gd name="T9" fmla="*/ 116 h 306"/>
                  <a:gd name="T10" fmla="*/ 61 w 62"/>
                  <a:gd name="T11" fmla="*/ 71 h 306"/>
                  <a:gd name="T12" fmla="*/ 58 w 62"/>
                  <a:gd name="T13" fmla="*/ 43 h 306"/>
                  <a:gd name="T14" fmla="*/ 55 w 62"/>
                  <a:gd name="T15" fmla="*/ 20 h 306"/>
                  <a:gd name="T16" fmla="*/ 51 w 62"/>
                  <a:gd name="T17" fmla="*/ 10 h 306"/>
                  <a:gd name="T18" fmla="*/ 47 w 62"/>
                  <a:gd name="T19" fmla="*/ 3 h 306"/>
                  <a:gd name="T20" fmla="*/ 42 w 62"/>
                  <a:gd name="T21" fmla="*/ 0 h 306"/>
                  <a:gd name="T22" fmla="*/ 32 w 62"/>
                  <a:gd name="T23" fmla="*/ 0 h 306"/>
                  <a:gd name="T24" fmla="*/ 28 w 62"/>
                  <a:gd name="T25" fmla="*/ 1 h 306"/>
                  <a:gd name="T26" fmla="*/ 23 w 62"/>
                  <a:gd name="T27" fmla="*/ 7 h 306"/>
                  <a:gd name="T28" fmla="*/ 18 w 62"/>
                  <a:gd name="T29" fmla="*/ 14 h 306"/>
                  <a:gd name="T30" fmla="*/ 12 w 62"/>
                  <a:gd name="T31" fmla="*/ 33 h 306"/>
                  <a:gd name="T32" fmla="*/ 5 w 62"/>
                  <a:gd name="T33" fmla="*/ 74 h 306"/>
                  <a:gd name="T34" fmla="*/ 0 w 62"/>
                  <a:gd name="T35" fmla="*/ 115 h 306"/>
                  <a:gd name="T36" fmla="*/ 0 w 62"/>
                  <a:gd name="T37" fmla="*/ 173 h 306"/>
                  <a:gd name="T38" fmla="*/ 4 w 62"/>
                  <a:gd name="T39" fmla="*/ 248 h 306"/>
                  <a:gd name="T40" fmla="*/ 6 w 62"/>
                  <a:gd name="T41" fmla="*/ 286 h 306"/>
                  <a:gd name="T42" fmla="*/ 6 w 62"/>
                  <a:gd name="T43" fmla="*/ 304 h 306"/>
                  <a:gd name="T44" fmla="*/ 36 w 62"/>
                  <a:gd name="T45" fmla="*/ 305 h 30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2"/>
                  <a:gd name="T70" fmla="*/ 0 h 306"/>
                  <a:gd name="T71" fmla="*/ 62 w 62"/>
                  <a:gd name="T72" fmla="*/ 306 h 30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2" h="306">
                    <a:moveTo>
                      <a:pt x="36" y="305"/>
                    </a:moveTo>
                    <a:lnTo>
                      <a:pt x="40" y="271"/>
                    </a:lnTo>
                    <a:lnTo>
                      <a:pt x="49" y="207"/>
                    </a:lnTo>
                    <a:lnTo>
                      <a:pt x="57" y="160"/>
                    </a:lnTo>
                    <a:lnTo>
                      <a:pt x="60" y="116"/>
                    </a:lnTo>
                    <a:lnTo>
                      <a:pt x="61" y="71"/>
                    </a:lnTo>
                    <a:lnTo>
                      <a:pt x="58" y="43"/>
                    </a:lnTo>
                    <a:lnTo>
                      <a:pt x="55" y="20"/>
                    </a:lnTo>
                    <a:lnTo>
                      <a:pt x="51" y="10"/>
                    </a:lnTo>
                    <a:lnTo>
                      <a:pt x="47" y="3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8" y="1"/>
                    </a:lnTo>
                    <a:lnTo>
                      <a:pt x="23" y="7"/>
                    </a:lnTo>
                    <a:lnTo>
                      <a:pt x="18" y="14"/>
                    </a:lnTo>
                    <a:lnTo>
                      <a:pt x="12" y="33"/>
                    </a:lnTo>
                    <a:lnTo>
                      <a:pt x="5" y="74"/>
                    </a:lnTo>
                    <a:lnTo>
                      <a:pt x="0" y="115"/>
                    </a:lnTo>
                    <a:lnTo>
                      <a:pt x="0" y="173"/>
                    </a:lnTo>
                    <a:lnTo>
                      <a:pt x="4" y="248"/>
                    </a:lnTo>
                    <a:lnTo>
                      <a:pt x="6" y="286"/>
                    </a:lnTo>
                    <a:lnTo>
                      <a:pt x="6" y="304"/>
                    </a:lnTo>
                    <a:lnTo>
                      <a:pt x="36" y="30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6" name="Freeform 19"/>
              <p:cNvSpPr>
                <a:spLocks/>
              </p:cNvSpPr>
              <p:nvPr/>
            </p:nvSpPr>
            <p:spPr bwMode="auto">
              <a:xfrm>
                <a:off x="3205" y="1609"/>
                <a:ext cx="36" cy="33"/>
              </a:xfrm>
              <a:custGeom>
                <a:avLst/>
                <a:gdLst>
                  <a:gd name="T0" fmla="*/ 31 w 36"/>
                  <a:gd name="T1" fmla="*/ 32 h 33"/>
                  <a:gd name="T2" fmla="*/ 33 w 36"/>
                  <a:gd name="T3" fmla="*/ 21 h 33"/>
                  <a:gd name="T4" fmla="*/ 34 w 36"/>
                  <a:gd name="T5" fmla="*/ 9 h 33"/>
                  <a:gd name="T6" fmla="*/ 35 w 36"/>
                  <a:gd name="T7" fmla="*/ 0 h 33"/>
                  <a:gd name="T8" fmla="*/ 1 w 36"/>
                  <a:gd name="T9" fmla="*/ 0 h 33"/>
                  <a:gd name="T10" fmla="*/ 0 w 36"/>
                  <a:gd name="T11" fmla="*/ 9 h 33"/>
                  <a:gd name="T12" fmla="*/ 1 w 36"/>
                  <a:gd name="T13" fmla="*/ 26 h 33"/>
                  <a:gd name="T14" fmla="*/ 1 w 36"/>
                  <a:gd name="T15" fmla="*/ 31 h 33"/>
                  <a:gd name="T16" fmla="*/ 31 w 36"/>
                  <a:gd name="T17" fmla="*/ 32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33"/>
                  <a:gd name="T29" fmla="*/ 36 w 36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33">
                    <a:moveTo>
                      <a:pt x="31" y="32"/>
                    </a:moveTo>
                    <a:lnTo>
                      <a:pt x="33" y="21"/>
                    </a:lnTo>
                    <a:lnTo>
                      <a:pt x="34" y="9"/>
                    </a:lnTo>
                    <a:lnTo>
                      <a:pt x="35" y="0"/>
                    </a:lnTo>
                    <a:lnTo>
                      <a:pt x="1" y="0"/>
                    </a:lnTo>
                    <a:lnTo>
                      <a:pt x="0" y="9"/>
                    </a:lnTo>
                    <a:lnTo>
                      <a:pt x="1" y="26"/>
                    </a:lnTo>
                    <a:lnTo>
                      <a:pt x="1" y="31"/>
                    </a:lnTo>
                    <a:lnTo>
                      <a:pt x="31" y="32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65546" name="Oval 20"/>
            <p:cNvSpPr>
              <a:spLocks noChangeArrowheads="1"/>
            </p:cNvSpPr>
            <p:nvPr/>
          </p:nvSpPr>
          <p:spPr bwMode="auto">
            <a:xfrm>
              <a:off x="3639" y="3212"/>
              <a:ext cx="539" cy="5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5547" name="Oval 21"/>
            <p:cNvSpPr>
              <a:spLocks noChangeArrowheads="1"/>
            </p:cNvSpPr>
            <p:nvPr/>
          </p:nvSpPr>
          <p:spPr bwMode="auto">
            <a:xfrm>
              <a:off x="3730" y="3304"/>
              <a:ext cx="357" cy="35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65548" name="Group 22"/>
            <p:cNvGrpSpPr>
              <a:grpSpLocks/>
            </p:cNvGrpSpPr>
            <p:nvPr/>
          </p:nvGrpSpPr>
          <p:grpSpPr bwMode="auto">
            <a:xfrm>
              <a:off x="3376" y="3512"/>
              <a:ext cx="407" cy="391"/>
              <a:chOff x="3028" y="3512"/>
              <a:chExt cx="407" cy="391"/>
            </a:xfrm>
          </p:grpSpPr>
          <p:sp>
            <p:nvSpPr>
              <p:cNvPr id="65571" name="Freeform 23"/>
              <p:cNvSpPr>
                <a:spLocks/>
              </p:cNvSpPr>
              <p:nvPr/>
            </p:nvSpPr>
            <p:spPr bwMode="auto">
              <a:xfrm>
                <a:off x="3028" y="3512"/>
                <a:ext cx="193" cy="184"/>
              </a:xfrm>
              <a:custGeom>
                <a:avLst/>
                <a:gdLst>
                  <a:gd name="T0" fmla="*/ 150 w 193"/>
                  <a:gd name="T1" fmla="*/ 162 h 184"/>
                  <a:gd name="T2" fmla="*/ 144 w 193"/>
                  <a:gd name="T3" fmla="*/ 158 h 184"/>
                  <a:gd name="T4" fmla="*/ 134 w 193"/>
                  <a:gd name="T5" fmla="*/ 156 h 184"/>
                  <a:gd name="T6" fmla="*/ 126 w 193"/>
                  <a:gd name="T7" fmla="*/ 157 h 184"/>
                  <a:gd name="T8" fmla="*/ 116 w 193"/>
                  <a:gd name="T9" fmla="*/ 155 h 184"/>
                  <a:gd name="T10" fmla="*/ 95 w 193"/>
                  <a:gd name="T11" fmla="*/ 148 h 184"/>
                  <a:gd name="T12" fmla="*/ 76 w 193"/>
                  <a:gd name="T13" fmla="*/ 137 h 184"/>
                  <a:gd name="T14" fmla="*/ 60 w 193"/>
                  <a:gd name="T15" fmla="*/ 124 h 184"/>
                  <a:gd name="T16" fmla="*/ 22 w 193"/>
                  <a:gd name="T17" fmla="*/ 84 h 184"/>
                  <a:gd name="T18" fmla="*/ 0 w 193"/>
                  <a:gd name="T19" fmla="*/ 55 h 184"/>
                  <a:gd name="T20" fmla="*/ 21 w 193"/>
                  <a:gd name="T21" fmla="*/ 65 h 184"/>
                  <a:gd name="T22" fmla="*/ 66 w 193"/>
                  <a:gd name="T23" fmla="*/ 109 h 184"/>
                  <a:gd name="T24" fmla="*/ 84 w 193"/>
                  <a:gd name="T25" fmla="*/ 125 h 184"/>
                  <a:gd name="T26" fmla="*/ 90 w 193"/>
                  <a:gd name="T27" fmla="*/ 128 h 184"/>
                  <a:gd name="T28" fmla="*/ 93 w 193"/>
                  <a:gd name="T29" fmla="*/ 127 h 184"/>
                  <a:gd name="T30" fmla="*/ 95 w 193"/>
                  <a:gd name="T31" fmla="*/ 124 h 184"/>
                  <a:gd name="T32" fmla="*/ 93 w 193"/>
                  <a:gd name="T33" fmla="*/ 120 h 184"/>
                  <a:gd name="T34" fmla="*/ 28 w 193"/>
                  <a:gd name="T35" fmla="*/ 51 h 184"/>
                  <a:gd name="T36" fmla="*/ 21 w 193"/>
                  <a:gd name="T37" fmla="*/ 33 h 184"/>
                  <a:gd name="T38" fmla="*/ 98 w 193"/>
                  <a:gd name="T39" fmla="*/ 102 h 184"/>
                  <a:gd name="T40" fmla="*/ 106 w 193"/>
                  <a:gd name="T41" fmla="*/ 108 h 184"/>
                  <a:gd name="T42" fmla="*/ 109 w 193"/>
                  <a:gd name="T43" fmla="*/ 110 h 184"/>
                  <a:gd name="T44" fmla="*/ 112 w 193"/>
                  <a:gd name="T45" fmla="*/ 104 h 184"/>
                  <a:gd name="T46" fmla="*/ 109 w 193"/>
                  <a:gd name="T47" fmla="*/ 98 h 184"/>
                  <a:gd name="T48" fmla="*/ 31 w 193"/>
                  <a:gd name="T49" fmla="*/ 21 h 184"/>
                  <a:gd name="T50" fmla="*/ 104 w 193"/>
                  <a:gd name="T51" fmla="*/ 73 h 184"/>
                  <a:gd name="T52" fmla="*/ 123 w 193"/>
                  <a:gd name="T53" fmla="*/ 89 h 184"/>
                  <a:gd name="T54" fmla="*/ 130 w 193"/>
                  <a:gd name="T55" fmla="*/ 87 h 184"/>
                  <a:gd name="T56" fmla="*/ 130 w 193"/>
                  <a:gd name="T57" fmla="*/ 83 h 184"/>
                  <a:gd name="T58" fmla="*/ 126 w 193"/>
                  <a:gd name="T59" fmla="*/ 78 h 184"/>
                  <a:gd name="T60" fmla="*/ 69 w 193"/>
                  <a:gd name="T61" fmla="*/ 26 h 184"/>
                  <a:gd name="T62" fmla="*/ 50 w 193"/>
                  <a:gd name="T63" fmla="*/ 0 h 184"/>
                  <a:gd name="T64" fmla="*/ 79 w 193"/>
                  <a:gd name="T65" fmla="*/ 20 h 184"/>
                  <a:gd name="T66" fmla="*/ 110 w 193"/>
                  <a:gd name="T67" fmla="*/ 43 h 184"/>
                  <a:gd name="T68" fmla="*/ 134 w 193"/>
                  <a:gd name="T69" fmla="*/ 66 h 184"/>
                  <a:gd name="T70" fmla="*/ 144 w 193"/>
                  <a:gd name="T71" fmla="*/ 77 h 184"/>
                  <a:gd name="T72" fmla="*/ 154 w 193"/>
                  <a:gd name="T73" fmla="*/ 95 h 184"/>
                  <a:gd name="T74" fmla="*/ 160 w 193"/>
                  <a:gd name="T75" fmla="*/ 111 h 184"/>
                  <a:gd name="T76" fmla="*/ 162 w 193"/>
                  <a:gd name="T77" fmla="*/ 122 h 184"/>
                  <a:gd name="T78" fmla="*/ 163 w 193"/>
                  <a:gd name="T79" fmla="*/ 132 h 184"/>
                  <a:gd name="T80" fmla="*/ 165 w 193"/>
                  <a:gd name="T81" fmla="*/ 136 h 184"/>
                  <a:gd name="T82" fmla="*/ 192 w 193"/>
                  <a:gd name="T83" fmla="*/ 173 h 18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93"/>
                  <a:gd name="T127" fmla="*/ 0 h 184"/>
                  <a:gd name="T128" fmla="*/ 193 w 193"/>
                  <a:gd name="T129" fmla="*/ 184 h 18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93" h="184">
                    <a:moveTo>
                      <a:pt x="171" y="183"/>
                    </a:moveTo>
                    <a:lnTo>
                      <a:pt x="150" y="162"/>
                    </a:lnTo>
                    <a:lnTo>
                      <a:pt x="145" y="160"/>
                    </a:lnTo>
                    <a:lnTo>
                      <a:pt x="144" y="158"/>
                    </a:lnTo>
                    <a:lnTo>
                      <a:pt x="141" y="158"/>
                    </a:lnTo>
                    <a:lnTo>
                      <a:pt x="134" y="156"/>
                    </a:lnTo>
                    <a:lnTo>
                      <a:pt x="130" y="157"/>
                    </a:lnTo>
                    <a:lnTo>
                      <a:pt x="126" y="157"/>
                    </a:lnTo>
                    <a:lnTo>
                      <a:pt x="121" y="157"/>
                    </a:lnTo>
                    <a:lnTo>
                      <a:pt x="116" y="155"/>
                    </a:lnTo>
                    <a:lnTo>
                      <a:pt x="111" y="153"/>
                    </a:lnTo>
                    <a:lnTo>
                      <a:pt x="95" y="148"/>
                    </a:lnTo>
                    <a:lnTo>
                      <a:pt x="86" y="144"/>
                    </a:lnTo>
                    <a:lnTo>
                      <a:pt x="76" y="137"/>
                    </a:lnTo>
                    <a:lnTo>
                      <a:pt x="65" y="130"/>
                    </a:lnTo>
                    <a:lnTo>
                      <a:pt x="60" y="124"/>
                    </a:lnTo>
                    <a:lnTo>
                      <a:pt x="35" y="99"/>
                    </a:lnTo>
                    <a:lnTo>
                      <a:pt x="22" y="84"/>
                    </a:lnTo>
                    <a:lnTo>
                      <a:pt x="8" y="66"/>
                    </a:lnTo>
                    <a:lnTo>
                      <a:pt x="0" y="55"/>
                    </a:lnTo>
                    <a:lnTo>
                      <a:pt x="6" y="51"/>
                    </a:lnTo>
                    <a:lnTo>
                      <a:pt x="21" y="65"/>
                    </a:lnTo>
                    <a:lnTo>
                      <a:pt x="47" y="91"/>
                    </a:lnTo>
                    <a:lnTo>
                      <a:pt x="66" y="109"/>
                    </a:lnTo>
                    <a:lnTo>
                      <a:pt x="77" y="119"/>
                    </a:lnTo>
                    <a:lnTo>
                      <a:pt x="84" y="125"/>
                    </a:lnTo>
                    <a:lnTo>
                      <a:pt x="87" y="128"/>
                    </a:lnTo>
                    <a:lnTo>
                      <a:pt x="90" y="128"/>
                    </a:lnTo>
                    <a:lnTo>
                      <a:pt x="91" y="129"/>
                    </a:lnTo>
                    <a:lnTo>
                      <a:pt x="93" y="127"/>
                    </a:lnTo>
                    <a:lnTo>
                      <a:pt x="95" y="126"/>
                    </a:lnTo>
                    <a:lnTo>
                      <a:pt x="95" y="124"/>
                    </a:lnTo>
                    <a:lnTo>
                      <a:pt x="94" y="122"/>
                    </a:lnTo>
                    <a:lnTo>
                      <a:pt x="93" y="120"/>
                    </a:lnTo>
                    <a:lnTo>
                      <a:pt x="51" y="74"/>
                    </a:lnTo>
                    <a:lnTo>
                      <a:pt x="28" y="51"/>
                    </a:lnTo>
                    <a:lnTo>
                      <a:pt x="16" y="39"/>
                    </a:lnTo>
                    <a:lnTo>
                      <a:pt x="21" y="33"/>
                    </a:lnTo>
                    <a:lnTo>
                      <a:pt x="59" y="66"/>
                    </a:lnTo>
                    <a:lnTo>
                      <a:pt x="98" y="102"/>
                    </a:lnTo>
                    <a:lnTo>
                      <a:pt x="104" y="107"/>
                    </a:lnTo>
                    <a:lnTo>
                      <a:pt x="106" y="108"/>
                    </a:lnTo>
                    <a:lnTo>
                      <a:pt x="108" y="110"/>
                    </a:lnTo>
                    <a:lnTo>
                      <a:pt x="109" y="110"/>
                    </a:lnTo>
                    <a:lnTo>
                      <a:pt x="112" y="105"/>
                    </a:lnTo>
                    <a:lnTo>
                      <a:pt x="112" y="104"/>
                    </a:lnTo>
                    <a:lnTo>
                      <a:pt x="111" y="102"/>
                    </a:lnTo>
                    <a:lnTo>
                      <a:pt x="109" y="98"/>
                    </a:lnTo>
                    <a:lnTo>
                      <a:pt x="108" y="98"/>
                    </a:lnTo>
                    <a:lnTo>
                      <a:pt x="31" y="21"/>
                    </a:lnTo>
                    <a:lnTo>
                      <a:pt x="36" y="17"/>
                    </a:lnTo>
                    <a:lnTo>
                      <a:pt x="104" y="73"/>
                    </a:lnTo>
                    <a:lnTo>
                      <a:pt x="121" y="86"/>
                    </a:lnTo>
                    <a:lnTo>
                      <a:pt x="123" y="89"/>
                    </a:lnTo>
                    <a:lnTo>
                      <a:pt x="127" y="90"/>
                    </a:lnTo>
                    <a:lnTo>
                      <a:pt x="130" y="87"/>
                    </a:lnTo>
                    <a:lnTo>
                      <a:pt x="130" y="85"/>
                    </a:lnTo>
                    <a:lnTo>
                      <a:pt x="130" y="83"/>
                    </a:lnTo>
                    <a:lnTo>
                      <a:pt x="128" y="82"/>
                    </a:lnTo>
                    <a:lnTo>
                      <a:pt x="126" y="78"/>
                    </a:lnTo>
                    <a:lnTo>
                      <a:pt x="100" y="53"/>
                    </a:lnTo>
                    <a:lnTo>
                      <a:pt x="69" y="26"/>
                    </a:lnTo>
                    <a:lnTo>
                      <a:pt x="45" y="7"/>
                    </a:lnTo>
                    <a:lnTo>
                      <a:pt x="50" y="0"/>
                    </a:lnTo>
                    <a:lnTo>
                      <a:pt x="62" y="8"/>
                    </a:lnTo>
                    <a:lnTo>
                      <a:pt x="79" y="20"/>
                    </a:lnTo>
                    <a:lnTo>
                      <a:pt x="96" y="31"/>
                    </a:lnTo>
                    <a:lnTo>
                      <a:pt x="110" y="43"/>
                    </a:lnTo>
                    <a:lnTo>
                      <a:pt x="129" y="59"/>
                    </a:lnTo>
                    <a:lnTo>
                      <a:pt x="134" y="66"/>
                    </a:lnTo>
                    <a:lnTo>
                      <a:pt x="141" y="72"/>
                    </a:lnTo>
                    <a:lnTo>
                      <a:pt x="144" y="77"/>
                    </a:lnTo>
                    <a:lnTo>
                      <a:pt x="149" y="86"/>
                    </a:lnTo>
                    <a:lnTo>
                      <a:pt x="154" y="95"/>
                    </a:lnTo>
                    <a:lnTo>
                      <a:pt x="158" y="105"/>
                    </a:lnTo>
                    <a:lnTo>
                      <a:pt x="160" y="111"/>
                    </a:lnTo>
                    <a:lnTo>
                      <a:pt x="162" y="120"/>
                    </a:lnTo>
                    <a:lnTo>
                      <a:pt x="162" y="122"/>
                    </a:lnTo>
                    <a:lnTo>
                      <a:pt x="163" y="125"/>
                    </a:lnTo>
                    <a:lnTo>
                      <a:pt x="163" y="132"/>
                    </a:lnTo>
                    <a:lnTo>
                      <a:pt x="163" y="134"/>
                    </a:lnTo>
                    <a:lnTo>
                      <a:pt x="165" y="136"/>
                    </a:lnTo>
                    <a:lnTo>
                      <a:pt x="192" y="163"/>
                    </a:lnTo>
                    <a:lnTo>
                      <a:pt x="192" y="173"/>
                    </a:lnTo>
                    <a:lnTo>
                      <a:pt x="171" y="183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2" name="Freeform 24"/>
              <p:cNvSpPr>
                <a:spLocks/>
              </p:cNvSpPr>
              <p:nvPr/>
            </p:nvSpPr>
            <p:spPr bwMode="auto">
              <a:xfrm>
                <a:off x="3198" y="3673"/>
                <a:ext cx="237" cy="230"/>
              </a:xfrm>
              <a:custGeom>
                <a:avLst/>
                <a:gdLst>
                  <a:gd name="T0" fmla="*/ 0 w 237"/>
                  <a:gd name="T1" fmla="*/ 23 h 230"/>
                  <a:gd name="T2" fmla="*/ 25 w 237"/>
                  <a:gd name="T3" fmla="*/ 48 h 230"/>
                  <a:gd name="T4" fmla="*/ 67 w 237"/>
                  <a:gd name="T5" fmla="*/ 96 h 230"/>
                  <a:gd name="T6" fmla="*/ 97 w 237"/>
                  <a:gd name="T7" fmla="*/ 134 h 230"/>
                  <a:gd name="T8" fmla="*/ 128 w 237"/>
                  <a:gd name="T9" fmla="*/ 164 h 230"/>
                  <a:gd name="T10" fmla="*/ 161 w 237"/>
                  <a:gd name="T11" fmla="*/ 194 h 230"/>
                  <a:gd name="T12" fmla="*/ 184 w 237"/>
                  <a:gd name="T13" fmla="*/ 210 h 230"/>
                  <a:gd name="T14" fmla="*/ 203 w 237"/>
                  <a:gd name="T15" fmla="*/ 223 h 230"/>
                  <a:gd name="T16" fmla="*/ 213 w 237"/>
                  <a:gd name="T17" fmla="*/ 227 h 230"/>
                  <a:gd name="T18" fmla="*/ 221 w 237"/>
                  <a:gd name="T19" fmla="*/ 229 h 230"/>
                  <a:gd name="T20" fmla="*/ 227 w 237"/>
                  <a:gd name="T21" fmla="*/ 227 h 230"/>
                  <a:gd name="T22" fmla="*/ 234 w 237"/>
                  <a:gd name="T23" fmla="*/ 219 h 230"/>
                  <a:gd name="T24" fmla="*/ 236 w 237"/>
                  <a:gd name="T25" fmla="*/ 215 h 230"/>
                  <a:gd name="T26" fmla="*/ 235 w 237"/>
                  <a:gd name="T27" fmla="*/ 209 h 230"/>
                  <a:gd name="T28" fmla="*/ 231 w 237"/>
                  <a:gd name="T29" fmla="*/ 200 h 230"/>
                  <a:gd name="T30" fmla="*/ 221 w 237"/>
                  <a:gd name="T31" fmla="*/ 182 h 230"/>
                  <a:gd name="T32" fmla="*/ 195 w 237"/>
                  <a:gd name="T33" fmla="*/ 151 h 230"/>
                  <a:gd name="T34" fmla="*/ 168 w 237"/>
                  <a:gd name="T35" fmla="*/ 120 h 230"/>
                  <a:gd name="T36" fmla="*/ 124 w 237"/>
                  <a:gd name="T37" fmla="*/ 82 h 230"/>
                  <a:gd name="T38" fmla="*/ 64 w 237"/>
                  <a:gd name="T39" fmla="*/ 35 h 230"/>
                  <a:gd name="T40" fmla="*/ 34 w 237"/>
                  <a:gd name="T41" fmla="*/ 11 h 230"/>
                  <a:gd name="T42" fmla="*/ 21 w 237"/>
                  <a:gd name="T43" fmla="*/ 0 h 230"/>
                  <a:gd name="T44" fmla="*/ 0 w 237"/>
                  <a:gd name="T45" fmla="*/ 23 h 23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37"/>
                  <a:gd name="T70" fmla="*/ 0 h 230"/>
                  <a:gd name="T71" fmla="*/ 237 w 237"/>
                  <a:gd name="T72" fmla="*/ 230 h 23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37" h="230">
                    <a:moveTo>
                      <a:pt x="0" y="23"/>
                    </a:moveTo>
                    <a:lnTo>
                      <a:pt x="25" y="48"/>
                    </a:lnTo>
                    <a:lnTo>
                      <a:pt x="67" y="96"/>
                    </a:lnTo>
                    <a:lnTo>
                      <a:pt x="97" y="134"/>
                    </a:lnTo>
                    <a:lnTo>
                      <a:pt x="128" y="164"/>
                    </a:lnTo>
                    <a:lnTo>
                      <a:pt x="161" y="194"/>
                    </a:lnTo>
                    <a:lnTo>
                      <a:pt x="184" y="210"/>
                    </a:lnTo>
                    <a:lnTo>
                      <a:pt x="203" y="223"/>
                    </a:lnTo>
                    <a:lnTo>
                      <a:pt x="213" y="227"/>
                    </a:lnTo>
                    <a:lnTo>
                      <a:pt x="221" y="229"/>
                    </a:lnTo>
                    <a:lnTo>
                      <a:pt x="227" y="227"/>
                    </a:lnTo>
                    <a:lnTo>
                      <a:pt x="234" y="219"/>
                    </a:lnTo>
                    <a:lnTo>
                      <a:pt x="236" y="215"/>
                    </a:lnTo>
                    <a:lnTo>
                      <a:pt x="235" y="209"/>
                    </a:lnTo>
                    <a:lnTo>
                      <a:pt x="231" y="200"/>
                    </a:lnTo>
                    <a:lnTo>
                      <a:pt x="221" y="182"/>
                    </a:lnTo>
                    <a:lnTo>
                      <a:pt x="195" y="151"/>
                    </a:lnTo>
                    <a:lnTo>
                      <a:pt x="168" y="120"/>
                    </a:lnTo>
                    <a:lnTo>
                      <a:pt x="124" y="82"/>
                    </a:lnTo>
                    <a:lnTo>
                      <a:pt x="64" y="35"/>
                    </a:lnTo>
                    <a:lnTo>
                      <a:pt x="34" y="11"/>
                    </a:lnTo>
                    <a:lnTo>
                      <a:pt x="21" y="0"/>
                    </a:lnTo>
                    <a:lnTo>
                      <a:pt x="0" y="23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3" name="Freeform 25"/>
              <p:cNvSpPr>
                <a:spLocks/>
              </p:cNvSpPr>
              <p:nvPr/>
            </p:nvSpPr>
            <p:spPr bwMode="auto">
              <a:xfrm>
                <a:off x="3198" y="3673"/>
                <a:ext cx="47" cy="48"/>
              </a:xfrm>
              <a:custGeom>
                <a:avLst/>
                <a:gdLst>
                  <a:gd name="T0" fmla="*/ 0 w 47"/>
                  <a:gd name="T1" fmla="*/ 23 h 48"/>
                  <a:gd name="T2" fmla="*/ 8 w 47"/>
                  <a:gd name="T3" fmla="*/ 32 h 48"/>
                  <a:gd name="T4" fmla="*/ 15 w 47"/>
                  <a:gd name="T5" fmla="*/ 40 h 48"/>
                  <a:gd name="T6" fmla="*/ 22 w 47"/>
                  <a:gd name="T7" fmla="*/ 47 h 48"/>
                  <a:gd name="T8" fmla="*/ 46 w 47"/>
                  <a:gd name="T9" fmla="*/ 20 h 48"/>
                  <a:gd name="T10" fmla="*/ 38 w 47"/>
                  <a:gd name="T11" fmla="*/ 13 h 48"/>
                  <a:gd name="T12" fmla="*/ 26 w 47"/>
                  <a:gd name="T13" fmla="*/ 5 h 48"/>
                  <a:gd name="T14" fmla="*/ 21 w 47"/>
                  <a:gd name="T15" fmla="*/ 0 h 48"/>
                  <a:gd name="T16" fmla="*/ 0 w 47"/>
                  <a:gd name="T17" fmla="*/ 23 h 4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7"/>
                  <a:gd name="T28" fmla="*/ 0 h 48"/>
                  <a:gd name="T29" fmla="*/ 47 w 47"/>
                  <a:gd name="T30" fmla="*/ 48 h 4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7" h="48">
                    <a:moveTo>
                      <a:pt x="0" y="23"/>
                    </a:moveTo>
                    <a:lnTo>
                      <a:pt x="8" y="32"/>
                    </a:lnTo>
                    <a:lnTo>
                      <a:pt x="15" y="40"/>
                    </a:lnTo>
                    <a:lnTo>
                      <a:pt x="22" y="47"/>
                    </a:lnTo>
                    <a:lnTo>
                      <a:pt x="46" y="20"/>
                    </a:lnTo>
                    <a:lnTo>
                      <a:pt x="38" y="13"/>
                    </a:lnTo>
                    <a:lnTo>
                      <a:pt x="26" y="5"/>
                    </a:lnTo>
                    <a:lnTo>
                      <a:pt x="21" y="0"/>
                    </a:lnTo>
                    <a:lnTo>
                      <a:pt x="0" y="23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65549" name="Oval 26"/>
            <p:cNvSpPr>
              <a:spLocks noChangeArrowheads="1"/>
            </p:cNvSpPr>
            <p:nvPr/>
          </p:nvSpPr>
          <p:spPr bwMode="auto">
            <a:xfrm>
              <a:off x="1721" y="2255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5550" name="Oval 27"/>
            <p:cNvSpPr>
              <a:spLocks noChangeArrowheads="1"/>
            </p:cNvSpPr>
            <p:nvPr/>
          </p:nvSpPr>
          <p:spPr bwMode="auto">
            <a:xfrm>
              <a:off x="1813" y="2346"/>
              <a:ext cx="357" cy="3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65551" name="Group 28"/>
            <p:cNvGrpSpPr>
              <a:grpSpLocks/>
            </p:cNvGrpSpPr>
            <p:nvPr/>
          </p:nvGrpSpPr>
          <p:grpSpPr bwMode="auto">
            <a:xfrm>
              <a:off x="1801" y="2050"/>
              <a:ext cx="520" cy="96"/>
              <a:chOff x="1453" y="2050"/>
              <a:chExt cx="520" cy="96"/>
            </a:xfrm>
          </p:grpSpPr>
          <p:sp>
            <p:nvSpPr>
              <p:cNvPr id="65568" name="Freeform 29"/>
              <p:cNvSpPr>
                <a:spLocks/>
              </p:cNvSpPr>
              <p:nvPr/>
            </p:nvSpPr>
            <p:spPr bwMode="auto">
              <a:xfrm>
                <a:off x="1749" y="2050"/>
                <a:ext cx="224" cy="96"/>
              </a:xfrm>
              <a:custGeom>
                <a:avLst/>
                <a:gdLst>
                  <a:gd name="T0" fmla="*/ 38 w 224"/>
                  <a:gd name="T1" fmla="*/ 39 h 96"/>
                  <a:gd name="T2" fmla="*/ 46 w 224"/>
                  <a:gd name="T3" fmla="*/ 36 h 96"/>
                  <a:gd name="T4" fmla="*/ 54 w 224"/>
                  <a:gd name="T5" fmla="*/ 33 h 96"/>
                  <a:gd name="T6" fmla="*/ 58 w 224"/>
                  <a:gd name="T7" fmla="*/ 25 h 96"/>
                  <a:gd name="T8" fmla="*/ 67 w 224"/>
                  <a:gd name="T9" fmla="*/ 18 h 96"/>
                  <a:gd name="T10" fmla="*/ 86 w 224"/>
                  <a:gd name="T11" fmla="*/ 10 h 96"/>
                  <a:gd name="T12" fmla="*/ 108 w 224"/>
                  <a:gd name="T13" fmla="*/ 3 h 96"/>
                  <a:gd name="T14" fmla="*/ 129 w 224"/>
                  <a:gd name="T15" fmla="*/ 0 h 96"/>
                  <a:gd name="T16" fmla="*/ 183 w 224"/>
                  <a:gd name="T17" fmla="*/ 1 h 96"/>
                  <a:gd name="T18" fmla="*/ 219 w 224"/>
                  <a:gd name="T19" fmla="*/ 5 h 96"/>
                  <a:gd name="T20" fmla="*/ 197 w 224"/>
                  <a:gd name="T21" fmla="*/ 13 h 96"/>
                  <a:gd name="T22" fmla="*/ 136 w 224"/>
                  <a:gd name="T23" fmla="*/ 15 h 96"/>
                  <a:gd name="T24" fmla="*/ 112 w 224"/>
                  <a:gd name="T25" fmla="*/ 18 h 96"/>
                  <a:gd name="T26" fmla="*/ 104 w 224"/>
                  <a:gd name="T27" fmla="*/ 20 h 96"/>
                  <a:gd name="T28" fmla="*/ 103 w 224"/>
                  <a:gd name="T29" fmla="*/ 24 h 96"/>
                  <a:gd name="T30" fmla="*/ 103 w 224"/>
                  <a:gd name="T31" fmla="*/ 27 h 96"/>
                  <a:gd name="T32" fmla="*/ 108 w 224"/>
                  <a:gd name="T33" fmla="*/ 29 h 96"/>
                  <a:gd name="T34" fmla="*/ 204 w 224"/>
                  <a:gd name="T35" fmla="*/ 29 h 96"/>
                  <a:gd name="T36" fmla="*/ 220 w 224"/>
                  <a:gd name="T37" fmla="*/ 35 h 96"/>
                  <a:gd name="T38" fmla="*/ 118 w 224"/>
                  <a:gd name="T39" fmla="*/ 44 h 96"/>
                  <a:gd name="T40" fmla="*/ 108 w 224"/>
                  <a:gd name="T41" fmla="*/ 45 h 96"/>
                  <a:gd name="T42" fmla="*/ 105 w 224"/>
                  <a:gd name="T43" fmla="*/ 51 h 96"/>
                  <a:gd name="T44" fmla="*/ 110 w 224"/>
                  <a:gd name="T45" fmla="*/ 52 h 96"/>
                  <a:gd name="T46" fmla="*/ 114 w 224"/>
                  <a:gd name="T47" fmla="*/ 53 h 96"/>
                  <a:gd name="T48" fmla="*/ 221 w 224"/>
                  <a:gd name="T49" fmla="*/ 58 h 96"/>
                  <a:gd name="T50" fmla="*/ 113 w 224"/>
                  <a:gd name="T51" fmla="*/ 71 h 96"/>
                  <a:gd name="T52" fmla="*/ 107 w 224"/>
                  <a:gd name="T53" fmla="*/ 73 h 96"/>
                  <a:gd name="T54" fmla="*/ 107 w 224"/>
                  <a:gd name="T55" fmla="*/ 78 h 96"/>
                  <a:gd name="T56" fmla="*/ 110 w 224"/>
                  <a:gd name="T57" fmla="*/ 78 h 96"/>
                  <a:gd name="T58" fmla="*/ 153 w 224"/>
                  <a:gd name="T59" fmla="*/ 79 h 96"/>
                  <a:gd name="T60" fmla="*/ 223 w 224"/>
                  <a:gd name="T61" fmla="*/ 71 h 96"/>
                  <a:gd name="T62" fmla="*/ 211 w 224"/>
                  <a:gd name="T63" fmla="*/ 83 h 96"/>
                  <a:gd name="T64" fmla="*/ 170 w 224"/>
                  <a:gd name="T65" fmla="*/ 91 h 96"/>
                  <a:gd name="T66" fmla="*/ 127 w 224"/>
                  <a:gd name="T67" fmla="*/ 95 h 96"/>
                  <a:gd name="T68" fmla="*/ 109 w 224"/>
                  <a:gd name="T69" fmla="*/ 95 h 96"/>
                  <a:gd name="T70" fmla="*/ 94 w 224"/>
                  <a:gd name="T71" fmla="*/ 92 h 96"/>
                  <a:gd name="T72" fmla="*/ 75 w 224"/>
                  <a:gd name="T73" fmla="*/ 85 h 96"/>
                  <a:gd name="T74" fmla="*/ 62 w 224"/>
                  <a:gd name="T75" fmla="*/ 76 h 96"/>
                  <a:gd name="T76" fmla="*/ 56 w 224"/>
                  <a:gd name="T77" fmla="*/ 73 h 96"/>
                  <a:gd name="T78" fmla="*/ 50 w 224"/>
                  <a:gd name="T79" fmla="*/ 67 h 96"/>
                  <a:gd name="T80" fmla="*/ 9 w 224"/>
                  <a:gd name="T81" fmla="*/ 68 h 96"/>
                  <a:gd name="T82" fmla="*/ 9 w 224"/>
                  <a:gd name="T83" fmla="*/ 41 h 9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24"/>
                  <a:gd name="T127" fmla="*/ 0 h 96"/>
                  <a:gd name="T128" fmla="*/ 224 w 224"/>
                  <a:gd name="T129" fmla="*/ 96 h 9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24" h="96">
                    <a:moveTo>
                      <a:pt x="9" y="41"/>
                    </a:moveTo>
                    <a:lnTo>
                      <a:pt x="38" y="39"/>
                    </a:lnTo>
                    <a:lnTo>
                      <a:pt x="43" y="37"/>
                    </a:lnTo>
                    <a:lnTo>
                      <a:pt x="46" y="36"/>
                    </a:lnTo>
                    <a:lnTo>
                      <a:pt x="47" y="35"/>
                    </a:lnTo>
                    <a:lnTo>
                      <a:pt x="54" y="33"/>
                    </a:lnTo>
                    <a:lnTo>
                      <a:pt x="56" y="29"/>
                    </a:lnTo>
                    <a:lnTo>
                      <a:pt x="58" y="25"/>
                    </a:lnTo>
                    <a:lnTo>
                      <a:pt x="60" y="22"/>
                    </a:lnTo>
                    <a:lnTo>
                      <a:pt x="67" y="18"/>
                    </a:lnTo>
                    <a:lnTo>
                      <a:pt x="71" y="17"/>
                    </a:lnTo>
                    <a:lnTo>
                      <a:pt x="86" y="10"/>
                    </a:lnTo>
                    <a:lnTo>
                      <a:pt x="97" y="5"/>
                    </a:lnTo>
                    <a:lnTo>
                      <a:pt x="108" y="3"/>
                    </a:lnTo>
                    <a:lnTo>
                      <a:pt x="121" y="1"/>
                    </a:lnTo>
                    <a:lnTo>
                      <a:pt x="129" y="0"/>
                    </a:lnTo>
                    <a:lnTo>
                      <a:pt x="162" y="0"/>
                    </a:lnTo>
                    <a:lnTo>
                      <a:pt x="183" y="1"/>
                    </a:lnTo>
                    <a:lnTo>
                      <a:pt x="206" y="4"/>
                    </a:lnTo>
                    <a:lnTo>
                      <a:pt x="219" y="5"/>
                    </a:lnTo>
                    <a:lnTo>
                      <a:pt x="219" y="13"/>
                    </a:lnTo>
                    <a:lnTo>
                      <a:pt x="197" y="13"/>
                    </a:lnTo>
                    <a:lnTo>
                      <a:pt x="162" y="13"/>
                    </a:lnTo>
                    <a:lnTo>
                      <a:pt x="136" y="15"/>
                    </a:lnTo>
                    <a:lnTo>
                      <a:pt x="121" y="16"/>
                    </a:lnTo>
                    <a:lnTo>
                      <a:pt x="112" y="18"/>
                    </a:lnTo>
                    <a:lnTo>
                      <a:pt x="107" y="17"/>
                    </a:lnTo>
                    <a:lnTo>
                      <a:pt x="104" y="20"/>
                    </a:lnTo>
                    <a:lnTo>
                      <a:pt x="104" y="21"/>
                    </a:lnTo>
                    <a:lnTo>
                      <a:pt x="103" y="24"/>
                    </a:lnTo>
                    <a:lnTo>
                      <a:pt x="102" y="27"/>
                    </a:lnTo>
                    <a:lnTo>
                      <a:pt x="103" y="27"/>
                    </a:lnTo>
                    <a:lnTo>
                      <a:pt x="104" y="27"/>
                    </a:lnTo>
                    <a:lnTo>
                      <a:pt x="108" y="29"/>
                    </a:lnTo>
                    <a:lnTo>
                      <a:pt x="171" y="28"/>
                    </a:lnTo>
                    <a:lnTo>
                      <a:pt x="204" y="29"/>
                    </a:lnTo>
                    <a:lnTo>
                      <a:pt x="220" y="29"/>
                    </a:lnTo>
                    <a:lnTo>
                      <a:pt x="220" y="35"/>
                    </a:lnTo>
                    <a:lnTo>
                      <a:pt x="171" y="40"/>
                    </a:lnTo>
                    <a:lnTo>
                      <a:pt x="118" y="44"/>
                    </a:lnTo>
                    <a:lnTo>
                      <a:pt x="110" y="45"/>
                    </a:lnTo>
                    <a:lnTo>
                      <a:pt x="108" y="45"/>
                    </a:lnTo>
                    <a:lnTo>
                      <a:pt x="104" y="47"/>
                    </a:lnTo>
                    <a:lnTo>
                      <a:pt x="105" y="51"/>
                    </a:lnTo>
                    <a:lnTo>
                      <a:pt x="105" y="52"/>
                    </a:lnTo>
                    <a:lnTo>
                      <a:pt x="110" y="52"/>
                    </a:lnTo>
                    <a:lnTo>
                      <a:pt x="112" y="54"/>
                    </a:lnTo>
                    <a:lnTo>
                      <a:pt x="114" y="53"/>
                    </a:lnTo>
                    <a:lnTo>
                      <a:pt x="222" y="50"/>
                    </a:lnTo>
                    <a:lnTo>
                      <a:pt x="221" y="58"/>
                    </a:lnTo>
                    <a:lnTo>
                      <a:pt x="135" y="67"/>
                    </a:lnTo>
                    <a:lnTo>
                      <a:pt x="113" y="71"/>
                    </a:lnTo>
                    <a:lnTo>
                      <a:pt x="111" y="70"/>
                    </a:lnTo>
                    <a:lnTo>
                      <a:pt x="107" y="73"/>
                    </a:lnTo>
                    <a:lnTo>
                      <a:pt x="105" y="76"/>
                    </a:lnTo>
                    <a:lnTo>
                      <a:pt x="107" y="78"/>
                    </a:lnTo>
                    <a:lnTo>
                      <a:pt x="109" y="79"/>
                    </a:lnTo>
                    <a:lnTo>
                      <a:pt x="110" y="78"/>
                    </a:lnTo>
                    <a:lnTo>
                      <a:pt x="114" y="79"/>
                    </a:lnTo>
                    <a:lnTo>
                      <a:pt x="153" y="79"/>
                    </a:lnTo>
                    <a:lnTo>
                      <a:pt x="193" y="77"/>
                    </a:lnTo>
                    <a:lnTo>
                      <a:pt x="223" y="71"/>
                    </a:lnTo>
                    <a:lnTo>
                      <a:pt x="223" y="79"/>
                    </a:lnTo>
                    <a:lnTo>
                      <a:pt x="211" y="83"/>
                    </a:lnTo>
                    <a:lnTo>
                      <a:pt x="190" y="86"/>
                    </a:lnTo>
                    <a:lnTo>
                      <a:pt x="170" y="91"/>
                    </a:lnTo>
                    <a:lnTo>
                      <a:pt x="151" y="94"/>
                    </a:lnTo>
                    <a:lnTo>
                      <a:pt x="127" y="95"/>
                    </a:lnTo>
                    <a:lnTo>
                      <a:pt x="119" y="95"/>
                    </a:lnTo>
                    <a:lnTo>
                      <a:pt x="109" y="95"/>
                    </a:lnTo>
                    <a:lnTo>
                      <a:pt x="104" y="94"/>
                    </a:lnTo>
                    <a:lnTo>
                      <a:pt x="94" y="92"/>
                    </a:lnTo>
                    <a:lnTo>
                      <a:pt x="84" y="88"/>
                    </a:lnTo>
                    <a:lnTo>
                      <a:pt x="75" y="85"/>
                    </a:lnTo>
                    <a:lnTo>
                      <a:pt x="68" y="82"/>
                    </a:lnTo>
                    <a:lnTo>
                      <a:pt x="62" y="76"/>
                    </a:lnTo>
                    <a:lnTo>
                      <a:pt x="61" y="75"/>
                    </a:lnTo>
                    <a:lnTo>
                      <a:pt x="56" y="73"/>
                    </a:lnTo>
                    <a:lnTo>
                      <a:pt x="51" y="68"/>
                    </a:lnTo>
                    <a:lnTo>
                      <a:pt x="50" y="67"/>
                    </a:lnTo>
                    <a:lnTo>
                      <a:pt x="46" y="67"/>
                    </a:lnTo>
                    <a:lnTo>
                      <a:pt x="9" y="68"/>
                    </a:lnTo>
                    <a:lnTo>
                      <a:pt x="0" y="62"/>
                    </a:lnTo>
                    <a:lnTo>
                      <a:pt x="9" y="41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9" name="Freeform 30"/>
              <p:cNvSpPr>
                <a:spLocks/>
              </p:cNvSpPr>
              <p:nvPr/>
            </p:nvSpPr>
            <p:spPr bwMode="auto">
              <a:xfrm>
                <a:off x="1453" y="2081"/>
                <a:ext cx="307" cy="62"/>
              </a:xfrm>
              <a:custGeom>
                <a:avLst/>
                <a:gdLst>
                  <a:gd name="T0" fmla="*/ 304 w 307"/>
                  <a:gd name="T1" fmla="*/ 9 h 62"/>
                  <a:gd name="T2" fmla="*/ 270 w 307"/>
                  <a:gd name="T3" fmla="*/ 8 h 62"/>
                  <a:gd name="T4" fmla="*/ 206 w 307"/>
                  <a:gd name="T5" fmla="*/ 5 h 62"/>
                  <a:gd name="T6" fmla="*/ 158 w 307"/>
                  <a:gd name="T7" fmla="*/ 0 h 62"/>
                  <a:gd name="T8" fmla="*/ 113 w 307"/>
                  <a:gd name="T9" fmla="*/ 2 h 62"/>
                  <a:gd name="T10" fmla="*/ 70 w 307"/>
                  <a:gd name="T11" fmla="*/ 5 h 62"/>
                  <a:gd name="T12" fmla="*/ 43 w 307"/>
                  <a:gd name="T13" fmla="*/ 10 h 62"/>
                  <a:gd name="T14" fmla="*/ 19 w 307"/>
                  <a:gd name="T15" fmla="*/ 15 h 62"/>
                  <a:gd name="T16" fmla="*/ 10 w 307"/>
                  <a:gd name="T17" fmla="*/ 20 h 62"/>
                  <a:gd name="T18" fmla="*/ 3 w 307"/>
                  <a:gd name="T19" fmla="*/ 24 h 62"/>
                  <a:gd name="T20" fmla="*/ 1 w 307"/>
                  <a:gd name="T21" fmla="*/ 31 h 62"/>
                  <a:gd name="T22" fmla="*/ 0 w 307"/>
                  <a:gd name="T23" fmla="*/ 40 h 62"/>
                  <a:gd name="T24" fmla="*/ 2 w 307"/>
                  <a:gd name="T25" fmla="*/ 44 h 62"/>
                  <a:gd name="T26" fmla="*/ 10 w 307"/>
                  <a:gd name="T27" fmla="*/ 48 h 62"/>
                  <a:gd name="T28" fmla="*/ 17 w 307"/>
                  <a:gd name="T29" fmla="*/ 51 h 62"/>
                  <a:gd name="T30" fmla="*/ 37 w 307"/>
                  <a:gd name="T31" fmla="*/ 56 h 62"/>
                  <a:gd name="T32" fmla="*/ 78 w 307"/>
                  <a:gd name="T33" fmla="*/ 59 h 62"/>
                  <a:gd name="T34" fmla="*/ 119 w 307"/>
                  <a:gd name="T35" fmla="*/ 61 h 62"/>
                  <a:gd name="T36" fmla="*/ 175 w 307"/>
                  <a:gd name="T37" fmla="*/ 56 h 62"/>
                  <a:gd name="T38" fmla="*/ 251 w 307"/>
                  <a:gd name="T39" fmla="*/ 45 h 62"/>
                  <a:gd name="T40" fmla="*/ 289 w 307"/>
                  <a:gd name="T41" fmla="*/ 40 h 62"/>
                  <a:gd name="T42" fmla="*/ 306 w 307"/>
                  <a:gd name="T43" fmla="*/ 38 h 62"/>
                  <a:gd name="T44" fmla="*/ 304 w 307"/>
                  <a:gd name="T45" fmla="*/ 9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07"/>
                  <a:gd name="T70" fmla="*/ 0 h 62"/>
                  <a:gd name="T71" fmla="*/ 307 w 307"/>
                  <a:gd name="T72" fmla="*/ 62 h 6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07" h="62">
                    <a:moveTo>
                      <a:pt x="304" y="9"/>
                    </a:moveTo>
                    <a:lnTo>
                      <a:pt x="270" y="8"/>
                    </a:lnTo>
                    <a:lnTo>
                      <a:pt x="206" y="5"/>
                    </a:lnTo>
                    <a:lnTo>
                      <a:pt x="158" y="0"/>
                    </a:lnTo>
                    <a:lnTo>
                      <a:pt x="113" y="2"/>
                    </a:lnTo>
                    <a:lnTo>
                      <a:pt x="70" y="5"/>
                    </a:lnTo>
                    <a:lnTo>
                      <a:pt x="43" y="10"/>
                    </a:lnTo>
                    <a:lnTo>
                      <a:pt x="19" y="15"/>
                    </a:lnTo>
                    <a:lnTo>
                      <a:pt x="10" y="20"/>
                    </a:lnTo>
                    <a:lnTo>
                      <a:pt x="3" y="24"/>
                    </a:lnTo>
                    <a:lnTo>
                      <a:pt x="1" y="31"/>
                    </a:lnTo>
                    <a:lnTo>
                      <a:pt x="0" y="40"/>
                    </a:lnTo>
                    <a:lnTo>
                      <a:pt x="2" y="44"/>
                    </a:lnTo>
                    <a:lnTo>
                      <a:pt x="10" y="48"/>
                    </a:lnTo>
                    <a:lnTo>
                      <a:pt x="17" y="51"/>
                    </a:lnTo>
                    <a:lnTo>
                      <a:pt x="37" y="56"/>
                    </a:lnTo>
                    <a:lnTo>
                      <a:pt x="78" y="59"/>
                    </a:lnTo>
                    <a:lnTo>
                      <a:pt x="119" y="61"/>
                    </a:lnTo>
                    <a:lnTo>
                      <a:pt x="175" y="56"/>
                    </a:lnTo>
                    <a:lnTo>
                      <a:pt x="251" y="45"/>
                    </a:lnTo>
                    <a:lnTo>
                      <a:pt x="289" y="40"/>
                    </a:lnTo>
                    <a:lnTo>
                      <a:pt x="306" y="38"/>
                    </a:lnTo>
                    <a:lnTo>
                      <a:pt x="304" y="9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0" name="Freeform 31"/>
              <p:cNvSpPr>
                <a:spLocks/>
              </p:cNvSpPr>
              <p:nvPr/>
            </p:nvSpPr>
            <p:spPr bwMode="auto">
              <a:xfrm>
                <a:off x="1725" y="2087"/>
                <a:ext cx="35" cy="38"/>
              </a:xfrm>
              <a:custGeom>
                <a:avLst/>
                <a:gdLst>
                  <a:gd name="T0" fmla="*/ 32 w 35"/>
                  <a:gd name="T1" fmla="*/ 2 h 38"/>
                  <a:gd name="T2" fmla="*/ 22 w 35"/>
                  <a:gd name="T3" fmla="*/ 2 h 38"/>
                  <a:gd name="T4" fmla="*/ 9 w 35"/>
                  <a:gd name="T5" fmla="*/ 0 h 38"/>
                  <a:gd name="T6" fmla="*/ 0 w 35"/>
                  <a:gd name="T7" fmla="*/ 1 h 38"/>
                  <a:gd name="T8" fmla="*/ 3 w 35"/>
                  <a:gd name="T9" fmla="*/ 37 h 38"/>
                  <a:gd name="T10" fmla="*/ 13 w 35"/>
                  <a:gd name="T11" fmla="*/ 37 h 38"/>
                  <a:gd name="T12" fmla="*/ 28 w 35"/>
                  <a:gd name="T13" fmla="*/ 33 h 38"/>
                  <a:gd name="T14" fmla="*/ 34 w 35"/>
                  <a:gd name="T15" fmla="*/ 32 h 38"/>
                  <a:gd name="T16" fmla="*/ 32 w 35"/>
                  <a:gd name="T17" fmla="*/ 2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"/>
                  <a:gd name="T28" fmla="*/ 0 h 38"/>
                  <a:gd name="T29" fmla="*/ 35 w 35"/>
                  <a:gd name="T30" fmla="*/ 38 h 3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" h="38">
                    <a:moveTo>
                      <a:pt x="32" y="2"/>
                    </a:moveTo>
                    <a:lnTo>
                      <a:pt x="22" y="2"/>
                    </a:lnTo>
                    <a:lnTo>
                      <a:pt x="9" y="0"/>
                    </a:lnTo>
                    <a:lnTo>
                      <a:pt x="0" y="1"/>
                    </a:lnTo>
                    <a:lnTo>
                      <a:pt x="3" y="37"/>
                    </a:lnTo>
                    <a:lnTo>
                      <a:pt x="13" y="37"/>
                    </a:lnTo>
                    <a:lnTo>
                      <a:pt x="28" y="33"/>
                    </a:lnTo>
                    <a:lnTo>
                      <a:pt x="34" y="32"/>
                    </a:lnTo>
                    <a:lnTo>
                      <a:pt x="32" y="2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65552" name="Oval 32"/>
            <p:cNvSpPr>
              <a:spLocks noChangeArrowheads="1"/>
            </p:cNvSpPr>
            <p:nvPr/>
          </p:nvSpPr>
          <p:spPr bwMode="auto">
            <a:xfrm>
              <a:off x="3912" y="2255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5553" name="Oval 33"/>
            <p:cNvSpPr>
              <a:spLocks noChangeArrowheads="1"/>
            </p:cNvSpPr>
            <p:nvPr/>
          </p:nvSpPr>
          <p:spPr bwMode="auto">
            <a:xfrm>
              <a:off x="4004" y="2346"/>
              <a:ext cx="357" cy="3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65554" name="Group 34"/>
            <p:cNvGrpSpPr>
              <a:grpSpLocks/>
            </p:cNvGrpSpPr>
            <p:nvPr/>
          </p:nvGrpSpPr>
          <p:grpSpPr bwMode="auto">
            <a:xfrm>
              <a:off x="3976" y="2891"/>
              <a:ext cx="521" cy="96"/>
              <a:chOff x="3628" y="2891"/>
              <a:chExt cx="521" cy="96"/>
            </a:xfrm>
          </p:grpSpPr>
          <p:sp>
            <p:nvSpPr>
              <p:cNvPr id="65565" name="Freeform 35"/>
              <p:cNvSpPr>
                <a:spLocks/>
              </p:cNvSpPr>
              <p:nvPr/>
            </p:nvSpPr>
            <p:spPr bwMode="auto">
              <a:xfrm>
                <a:off x="3628" y="2891"/>
                <a:ext cx="224" cy="96"/>
              </a:xfrm>
              <a:custGeom>
                <a:avLst/>
                <a:gdLst>
                  <a:gd name="T0" fmla="*/ 185 w 224"/>
                  <a:gd name="T1" fmla="*/ 59 h 96"/>
                  <a:gd name="T2" fmla="*/ 178 w 224"/>
                  <a:gd name="T3" fmla="*/ 60 h 96"/>
                  <a:gd name="T4" fmla="*/ 170 w 224"/>
                  <a:gd name="T5" fmla="*/ 65 h 96"/>
                  <a:gd name="T6" fmla="*/ 166 w 224"/>
                  <a:gd name="T7" fmla="*/ 71 h 96"/>
                  <a:gd name="T8" fmla="*/ 156 w 224"/>
                  <a:gd name="T9" fmla="*/ 77 h 96"/>
                  <a:gd name="T10" fmla="*/ 136 w 224"/>
                  <a:gd name="T11" fmla="*/ 86 h 96"/>
                  <a:gd name="T12" fmla="*/ 115 w 224"/>
                  <a:gd name="T13" fmla="*/ 93 h 96"/>
                  <a:gd name="T14" fmla="*/ 94 w 224"/>
                  <a:gd name="T15" fmla="*/ 94 h 96"/>
                  <a:gd name="T16" fmla="*/ 38 w 224"/>
                  <a:gd name="T17" fmla="*/ 93 h 96"/>
                  <a:gd name="T18" fmla="*/ 4 w 224"/>
                  <a:gd name="T19" fmla="*/ 88 h 96"/>
                  <a:gd name="T20" fmla="*/ 25 w 224"/>
                  <a:gd name="T21" fmla="*/ 81 h 96"/>
                  <a:gd name="T22" fmla="*/ 87 w 224"/>
                  <a:gd name="T23" fmla="*/ 80 h 96"/>
                  <a:gd name="T24" fmla="*/ 112 w 224"/>
                  <a:gd name="T25" fmla="*/ 78 h 96"/>
                  <a:gd name="T26" fmla="*/ 119 w 224"/>
                  <a:gd name="T27" fmla="*/ 76 h 96"/>
                  <a:gd name="T28" fmla="*/ 120 w 224"/>
                  <a:gd name="T29" fmla="*/ 72 h 96"/>
                  <a:gd name="T30" fmla="*/ 119 w 224"/>
                  <a:gd name="T31" fmla="*/ 70 h 96"/>
                  <a:gd name="T32" fmla="*/ 115 w 224"/>
                  <a:gd name="T33" fmla="*/ 68 h 96"/>
                  <a:gd name="T34" fmla="*/ 18 w 224"/>
                  <a:gd name="T35" fmla="*/ 66 h 96"/>
                  <a:gd name="T36" fmla="*/ 2 w 224"/>
                  <a:gd name="T37" fmla="*/ 59 h 96"/>
                  <a:gd name="T38" fmla="*/ 105 w 224"/>
                  <a:gd name="T39" fmla="*/ 51 h 96"/>
                  <a:gd name="T40" fmla="*/ 115 w 224"/>
                  <a:gd name="T41" fmla="*/ 50 h 96"/>
                  <a:gd name="T42" fmla="*/ 118 w 224"/>
                  <a:gd name="T43" fmla="*/ 48 h 96"/>
                  <a:gd name="T44" fmla="*/ 117 w 224"/>
                  <a:gd name="T45" fmla="*/ 43 h 96"/>
                  <a:gd name="T46" fmla="*/ 112 w 224"/>
                  <a:gd name="T47" fmla="*/ 41 h 96"/>
                  <a:gd name="T48" fmla="*/ 2 w 224"/>
                  <a:gd name="T49" fmla="*/ 43 h 96"/>
                  <a:gd name="T50" fmla="*/ 91 w 224"/>
                  <a:gd name="T51" fmla="*/ 29 h 96"/>
                  <a:gd name="T52" fmla="*/ 113 w 224"/>
                  <a:gd name="T53" fmla="*/ 25 h 96"/>
                  <a:gd name="T54" fmla="*/ 118 w 224"/>
                  <a:gd name="T55" fmla="*/ 20 h 96"/>
                  <a:gd name="T56" fmla="*/ 115 w 224"/>
                  <a:gd name="T57" fmla="*/ 16 h 96"/>
                  <a:gd name="T58" fmla="*/ 110 w 224"/>
                  <a:gd name="T59" fmla="*/ 16 h 96"/>
                  <a:gd name="T60" fmla="*/ 31 w 224"/>
                  <a:gd name="T61" fmla="*/ 18 h 96"/>
                  <a:gd name="T62" fmla="*/ 0 w 224"/>
                  <a:gd name="T63" fmla="*/ 14 h 96"/>
                  <a:gd name="T64" fmla="*/ 34 w 224"/>
                  <a:gd name="T65" fmla="*/ 8 h 96"/>
                  <a:gd name="T66" fmla="*/ 73 w 224"/>
                  <a:gd name="T67" fmla="*/ 2 h 96"/>
                  <a:gd name="T68" fmla="*/ 106 w 224"/>
                  <a:gd name="T69" fmla="*/ 1 h 96"/>
                  <a:gd name="T70" fmla="*/ 120 w 224"/>
                  <a:gd name="T71" fmla="*/ 2 h 96"/>
                  <a:gd name="T72" fmla="*/ 141 w 224"/>
                  <a:gd name="T73" fmla="*/ 8 h 96"/>
                  <a:gd name="T74" fmla="*/ 155 w 224"/>
                  <a:gd name="T75" fmla="*/ 15 h 96"/>
                  <a:gd name="T76" fmla="*/ 165 w 224"/>
                  <a:gd name="T77" fmla="*/ 21 h 96"/>
                  <a:gd name="T78" fmla="*/ 172 w 224"/>
                  <a:gd name="T79" fmla="*/ 28 h 96"/>
                  <a:gd name="T80" fmla="*/ 178 w 224"/>
                  <a:gd name="T81" fmla="*/ 29 h 96"/>
                  <a:gd name="T82" fmla="*/ 223 w 224"/>
                  <a:gd name="T83" fmla="*/ 36 h 9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24"/>
                  <a:gd name="T127" fmla="*/ 0 h 96"/>
                  <a:gd name="T128" fmla="*/ 224 w 224"/>
                  <a:gd name="T129" fmla="*/ 96 h 9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24" h="96">
                    <a:moveTo>
                      <a:pt x="214" y="57"/>
                    </a:moveTo>
                    <a:lnTo>
                      <a:pt x="185" y="59"/>
                    </a:lnTo>
                    <a:lnTo>
                      <a:pt x="180" y="60"/>
                    </a:lnTo>
                    <a:lnTo>
                      <a:pt x="178" y="60"/>
                    </a:lnTo>
                    <a:lnTo>
                      <a:pt x="175" y="61"/>
                    </a:lnTo>
                    <a:lnTo>
                      <a:pt x="170" y="65"/>
                    </a:lnTo>
                    <a:lnTo>
                      <a:pt x="168" y="69"/>
                    </a:lnTo>
                    <a:lnTo>
                      <a:pt x="166" y="71"/>
                    </a:lnTo>
                    <a:lnTo>
                      <a:pt x="162" y="74"/>
                    </a:lnTo>
                    <a:lnTo>
                      <a:pt x="156" y="77"/>
                    </a:lnTo>
                    <a:lnTo>
                      <a:pt x="152" y="80"/>
                    </a:lnTo>
                    <a:lnTo>
                      <a:pt x="136" y="86"/>
                    </a:lnTo>
                    <a:lnTo>
                      <a:pt x="127" y="90"/>
                    </a:lnTo>
                    <a:lnTo>
                      <a:pt x="115" y="93"/>
                    </a:lnTo>
                    <a:lnTo>
                      <a:pt x="102" y="95"/>
                    </a:lnTo>
                    <a:lnTo>
                      <a:pt x="94" y="94"/>
                    </a:lnTo>
                    <a:lnTo>
                      <a:pt x="59" y="94"/>
                    </a:lnTo>
                    <a:lnTo>
                      <a:pt x="38" y="93"/>
                    </a:lnTo>
                    <a:lnTo>
                      <a:pt x="17" y="90"/>
                    </a:lnTo>
                    <a:lnTo>
                      <a:pt x="4" y="88"/>
                    </a:lnTo>
                    <a:lnTo>
                      <a:pt x="4" y="81"/>
                    </a:lnTo>
                    <a:lnTo>
                      <a:pt x="25" y="81"/>
                    </a:lnTo>
                    <a:lnTo>
                      <a:pt x="61" y="81"/>
                    </a:lnTo>
                    <a:lnTo>
                      <a:pt x="87" y="80"/>
                    </a:lnTo>
                    <a:lnTo>
                      <a:pt x="103" y="80"/>
                    </a:lnTo>
                    <a:lnTo>
                      <a:pt x="112" y="78"/>
                    </a:lnTo>
                    <a:lnTo>
                      <a:pt x="115" y="78"/>
                    </a:lnTo>
                    <a:lnTo>
                      <a:pt x="119" y="76"/>
                    </a:lnTo>
                    <a:lnTo>
                      <a:pt x="120" y="76"/>
                    </a:lnTo>
                    <a:lnTo>
                      <a:pt x="120" y="72"/>
                    </a:lnTo>
                    <a:lnTo>
                      <a:pt x="121" y="69"/>
                    </a:lnTo>
                    <a:lnTo>
                      <a:pt x="119" y="70"/>
                    </a:lnTo>
                    <a:lnTo>
                      <a:pt x="117" y="68"/>
                    </a:lnTo>
                    <a:lnTo>
                      <a:pt x="115" y="68"/>
                    </a:lnTo>
                    <a:lnTo>
                      <a:pt x="53" y="67"/>
                    </a:lnTo>
                    <a:lnTo>
                      <a:pt x="18" y="66"/>
                    </a:lnTo>
                    <a:lnTo>
                      <a:pt x="3" y="65"/>
                    </a:lnTo>
                    <a:lnTo>
                      <a:pt x="2" y="59"/>
                    </a:lnTo>
                    <a:lnTo>
                      <a:pt x="52" y="54"/>
                    </a:lnTo>
                    <a:lnTo>
                      <a:pt x="105" y="51"/>
                    </a:lnTo>
                    <a:lnTo>
                      <a:pt x="113" y="51"/>
                    </a:lnTo>
                    <a:lnTo>
                      <a:pt x="115" y="50"/>
                    </a:lnTo>
                    <a:lnTo>
                      <a:pt x="118" y="49"/>
                    </a:lnTo>
                    <a:lnTo>
                      <a:pt x="118" y="48"/>
                    </a:lnTo>
                    <a:lnTo>
                      <a:pt x="117" y="44"/>
                    </a:lnTo>
                    <a:lnTo>
                      <a:pt x="117" y="43"/>
                    </a:lnTo>
                    <a:lnTo>
                      <a:pt x="114" y="43"/>
                    </a:lnTo>
                    <a:lnTo>
                      <a:pt x="112" y="41"/>
                    </a:lnTo>
                    <a:lnTo>
                      <a:pt x="111" y="42"/>
                    </a:lnTo>
                    <a:lnTo>
                      <a:pt x="2" y="43"/>
                    </a:lnTo>
                    <a:lnTo>
                      <a:pt x="1" y="36"/>
                    </a:lnTo>
                    <a:lnTo>
                      <a:pt x="91" y="29"/>
                    </a:lnTo>
                    <a:lnTo>
                      <a:pt x="110" y="25"/>
                    </a:lnTo>
                    <a:lnTo>
                      <a:pt x="113" y="25"/>
                    </a:lnTo>
                    <a:lnTo>
                      <a:pt x="117" y="23"/>
                    </a:lnTo>
                    <a:lnTo>
                      <a:pt x="118" y="20"/>
                    </a:lnTo>
                    <a:lnTo>
                      <a:pt x="117" y="18"/>
                    </a:lnTo>
                    <a:lnTo>
                      <a:pt x="115" y="16"/>
                    </a:lnTo>
                    <a:lnTo>
                      <a:pt x="112" y="16"/>
                    </a:lnTo>
                    <a:lnTo>
                      <a:pt x="110" y="16"/>
                    </a:lnTo>
                    <a:lnTo>
                      <a:pt x="72" y="16"/>
                    </a:lnTo>
                    <a:lnTo>
                      <a:pt x="31" y="18"/>
                    </a:lnTo>
                    <a:lnTo>
                      <a:pt x="0" y="22"/>
                    </a:lnTo>
                    <a:lnTo>
                      <a:pt x="0" y="14"/>
                    </a:lnTo>
                    <a:lnTo>
                      <a:pt x="12" y="11"/>
                    </a:lnTo>
                    <a:lnTo>
                      <a:pt x="34" y="8"/>
                    </a:lnTo>
                    <a:lnTo>
                      <a:pt x="53" y="3"/>
                    </a:lnTo>
                    <a:lnTo>
                      <a:pt x="73" y="2"/>
                    </a:lnTo>
                    <a:lnTo>
                      <a:pt x="96" y="0"/>
                    </a:lnTo>
                    <a:lnTo>
                      <a:pt x="106" y="1"/>
                    </a:lnTo>
                    <a:lnTo>
                      <a:pt x="114" y="1"/>
                    </a:lnTo>
                    <a:lnTo>
                      <a:pt x="120" y="2"/>
                    </a:lnTo>
                    <a:lnTo>
                      <a:pt x="132" y="4"/>
                    </a:lnTo>
                    <a:lnTo>
                      <a:pt x="141" y="8"/>
                    </a:lnTo>
                    <a:lnTo>
                      <a:pt x="150" y="12"/>
                    </a:lnTo>
                    <a:lnTo>
                      <a:pt x="155" y="15"/>
                    </a:lnTo>
                    <a:lnTo>
                      <a:pt x="164" y="20"/>
                    </a:lnTo>
                    <a:lnTo>
                      <a:pt x="165" y="21"/>
                    </a:lnTo>
                    <a:lnTo>
                      <a:pt x="168" y="23"/>
                    </a:lnTo>
                    <a:lnTo>
                      <a:pt x="172" y="28"/>
                    </a:lnTo>
                    <a:lnTo>
                      <a:pt x="174" y="29"/>
                    </a:lnTo>
                    <a:lnTo>
                      <a:pt x="178" y="29"/>
                    </a:lnTo>
                    <a:lnTo>
                      <a:pt x="215" y="29"/>
                    </a:lnTo>
                    <a:lnTo>
                      <a:pt x="223" y="36"/>
                    </a:lnTo>
                    <a:lnTo>
                      <a:pt x="214" y="57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6" name="Freeform 36"/>
              <p:cNvSpPr>
                <a:spLocks/>
              </p:cNvSpPr>
              <p:nvPr/>
            </p:nvSpPr>
            <p:spPr bwMode="auto">
              <a:xfrm>
                <a:off x="3841" y="2900"/>
                <a:ext cx="308" cy="61"/>
              </a:xfrm>
              <a:custGeom>
                <a:avLst/>
                <a:gdLst>
                  <a:gd name="T0" fmla="*/ 1 w 308"/>
                  <a:gd name="T1" fmla="*/ 50 h 61"/>
                  <a:gd name="T2" fmla="*/ 37 w 308"/>
                  <a:gd name="T3" fmla="*/ 50 h 61"/>
                  <a:gd name="T4" fmla="*/ 100 w 308"/>
                  <a:gd name="T5" fmla="*/ 56 h 61"/>
                  <a:gd name="T6" fmla="*/ 147 w 308"/>
                  <a:gd name="T7" fmla="*/ 60 h 61"/>
                  <a:gd name="T8" fmla="*/ 192 w 308"/>
                  <a:gd name="T9" fmla="*/ 60 h 61"/>
                  <a:gd name="T10" fmla="*/ 236 w 308"/>
                  <a:gd name="T11" fmla="*/ 58 h 61"/>
                  <a:gd name="T12" fmla="*/ 264 w 308"/>
                  <a:gd name="T13" fmla="*/ 52 h 61"/>
                  <a:gd name="T14" fmla="*/ 287 w 308"/>
                  <a:gd name="T15" fmla="*/ 49 h 61"/>
                  <a:gd name="T16" fmla="*/ 297 w 308"/>
                  <a:gd name="T17" fmla="*/ 44 h 61"/>
                  <a:gd name="T18" fmla="*/ 302 w 308"/>
                  <a:gd name="T19" fmla="*/ 40 h 61"/>
                  <a:gd name="T20" fmla="*/ 307 w 308"/>
                  <a:gd name="T21" fmla="*/ 34 h 61"/>
                  <a:gd name="T22" fmla="*/ 306 w 308"/>
                  <a:gd name="T23" fmla="*/ 25 h 61"/>
                  <a:gd name="T24" fmla="*/ 304 w 308"/>
                  <a:gd name="T25" fmla="*/ 20 h 61"/>
                  <a:gd name="T26" fmla="*/ 298 w 308"/>
                  <a:gd name="T27" fmla="*/ 15 h 61"/>
                  <a:gd name="T28" fmla="*/ 290 w 308"/>
                  <a:gd name="T29" fmla="*/ 12 h 61"/>
                  <a:gd name="T30" fmla="*/ 270 w 308"/>
                  <a:gd name="T31" fmla="*/ 8 h 61"/>
                  <a:gd name="T32" fmla="*/ 229 w 308"/>
                  <a:gd name="T33" fmla="*/ 3 h 61"/>
                  <a:gd name="T34" fmla="*/ 189 w 308"/>
                  <a:gd name="T35" fmla="*/ 0 h 61"/>
                  <a:gd name="T36" fmla="*/ 131 w 308"/>
                  <a:gd name="T37" fmla="*/ 5 h 61"/>
                  <a:gd name="T38" fmla="*/ 56 w 308"/>
                  <a:gd name="T39" fmla="*/ 13 h 61"/>
                  <a:gd name="T40" fmla="*/ 18 w 308"/>
                  <a:gd name="T41" fmla="*/ 18 h 61"/>
                  <a:gd name="T42" fmla="*/ 0 w 308"/>
                  <a:gd name="T43" fmla="*/ 19 h 61"/>
                  <a:gd name="T44" fmla="*/ 1 w 308"/>
                  <a:gd name="T45" fmla="*/ 50 h 6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08"/>
                  <a:gd name="T70" fmla="*/ 0 h 61"/>
                  <a:gd name="T71" fmla="*/ 308 w 308"/>
                  <a:gd name="T72" fmla="*/ 61 h 6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08" h="61">
                    <a:moveTo>
                      <a:pt x="1" y="50"/>
                    </a:moveTo>
                    <a:lnTo>
                      <a:pt x="37" y="50"/>
                    </a:lnTo>
                    <a:lnTo>
                      <a:pt x="100" y="56"/>
                    </a:lnTo>
                    <a:lnTo>
                      <a:pt x="147" y="60"/>
                    </a:lnTo>
                    <a:lnTo>
                      <a:pt x="192" y="60"/>
                    </a:lnTo>
                    <a:lnTo>
                      <a:pt x="236" y="58"/>
                    </a:lnTo>
                    <a:lnTo>
                      <a:pt x="264" y="52"/>
                    </a:lnTo>
                    <a:lnTo>
                      <a:pt x="287" y="49"/>
                    </a:lnTo>
                    <a:lnTo>
                      <a:pt x="297" y="44"/>
                    </a:lnTo>
                    <a:lnTo>
                      <a:pt x="302" y="40"/>
                    </a:lnTo>
                    <a:lnTo>
                      <a:pt x="307" y="34"/>
                    </a:lnTo>
                    <a:lnTo>
                      <a:pt x="306" y="25"/>
                    </a:lnTo>
                    <a:lnTo>
                      <a:pt x="304" y="20"/>
                    </a:lnTo>
                    <a:lnTo>
                      <a:pt x="298" y="15"/>
                    </a:lnTo>
                    <a:lnTo>
                      <a:pt x="290" y="12"/>
                    </a:lnTo>
                    <a:lnTo>
                      <a:pt x="270" y="8"/>
                    </a:lnTo>
                    <a:lnTo>
                      <a:pt x="229" y="3"/>
                    </a:lnTo>
                    <a:lnTo>
                      <a:pt x="189" y="0"/>
                    </a:lnTo>
                    <a:lnTo>
                      <a:pt x="131" y="5"/>
                    </a:lnTo>
                    <a:lnTo>
                      <a:pt x="56" y="13"/>
                    </a:lnTo>
                    <a:lnTo>
                      <a:pt x="18" y="18"/>
                    </a:lnTo>
                    <a:lnTo>
                      <a:pt x="0" y="19"/>
                    </a:lnTo>
                    <a:lnTo>
                      <a:pt x="1" y="5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7" name="Freeform 37"/>
              <p:cNvSpPr>
                <a:spLocks/>
              </p:cNvSpPr>
              <p:nvPr/>
            </p:nvSpPr>
            <p:spPr bwMode="auto">
              <a:xfrm>
                <a:off x="3841" y="2916"/>
                <a:ext cx="34" cy="37"/>
              </a:xfrm>
              <a:custGeom>
                <a:avLst/>
                <a:gdLst>
                  <a:gd name="T0" fmla="*/ 1 w 34"/>
                  <a:gd name="T1" fmla="*/ 34 h 37"/>
                  <a:gd name="T2" fmla="*/ 13 w 34"/>
                  <a:gd name="T3" fmla="*/ 34 h 37"/>
                  <a:gd name="T4" fmla="*/ 23 w 34"/>
                  <a:gd name="T5" fmla="*/ 36 h 37"/>
                  <a:gd name="T6" fmla="*/ 33 w 34"/>
                  <a:gd name="T7" fmla="*/ 35 h 37"/>
                  <a:gd name="T8" fmla="*/ 31 w 34"/>
                  <a:gd name="T9" fmla="*/ 0 h 37"/>
                  <a:gd name="T10" fmla="*/ 22 w 34"/>
                  <a:gd name="T11" fmla="*/ 1 h 37"/>
                  <a:gd name="T12" fmla="*/ 6 w 34"/>
                  <a:gd name="T13" fmla="*/ 4 h 37"/>
                  <a:gd name="T14" fmla="*/ 0 w 34"/>
                  <a:gd name="T15" fmla="*/ 3 h 37"/>
                  <a:gd name="T16" fmla="*/ 1 w 34"/>
                  <a:gd name="T17" fmla="*/ 34 h 3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4"/>
                  <a:gd name="T28" fmla="*/ 0 h 37"/>
                  <a:gd name="T29" fmla="*/ 34 w 34"/>
                  <a:gd name="T30" fmla="*/ 37 h 3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4" h="37">
                    <a:moveTo>
                      <a:pt x="1" y="34"/>
                    </a:moveTo>
                    <a:lnTo>
                      <a:pt x="13" y="34"/>
                    </a:lnTo>
                    <a:lnTo>
                      <a:pt x="23" y="36"/>
                    </a:lnTo>
                    <a:lnTo>
                      <a:pt x="33" y="35"/>
                    </a:lnTo>
                    <a:lnTo>
                      <a:pt x="31" y="0"/>
                    </a:lnTo>
                    <a:lnTo>
                      <a:pt x="22" y="1"/>
                    </a:lnTo>
                    <a:lnTo>
                      <a:pt x="6" y="4"/>
                    </a:lnTo>
                    <a:lnTo>
                      <a:pt x="0" y="3"/>
                    </a:lnTo>
                    <a:lnTo>
                      <a:pt x="1" y="34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65555" name="Oval 38"/>
            <p:cNvSpPr>
              <a:spLocks noChangeArrowheads="1"/>
            </p:cNvSpPr>
            <p:nvPr/>
          </p:nvSpPr>
          <p:spPr bwMode="auto">
            <a:xfrm>
              <a:off x="2892" y="2260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5556" name="Freeform 39"/>
            <p:cNvSpPr>
              <a:spLocks/>
            </p:cNvSpPr>
            <p:nvPr/>
          </p:nvSpPr>
          <p:spPr bwMode="auto">
            <a:xfrm>
              <a:off x="3008" y="2309"/>
              <a:ext cx="387" cy="379"/>
            </a:xfrm>
            <a:custGeom>
              <a:avLst/>
              <a:gdLst>
                <a:gd name="T0" fmla="*/ 37 w 387"/>
                <a:gd name="T1" fmla="*/ 66 h 379"/>
                <a:gd name="T2" fmla="*/ 89 w 387"/>
                <a:gd name="T3" fmla="*/ 74 h 379"/>
                <a:gd name="T4" fmla="*/ 97 w 387"/>
                <a:gd name="T5" fmla="*/ 118 h 379"/>
                <a:gd name="T6" fmla="*/ 97 w 387"/>
                <a:gd name="T7" fmla="*/ 163 h 379"/>
                <a:gd name="T8" fmla="*/ 60 w 387"/>
                <a:gd name="T9" fmla="*/ 192 h 379"/>
                <a:gd name="T10" fmla="*/ 30 w 387"/>
                <a:gd name="T11" fmla="*/ 163 h 379"/>
                <a:gd name="T12" fmla="*/ 52 w 387"/>
                <a:gd name="T13" fmla="*/ 148 h 379"/>
                <a:gd name="T14" fmla="*/ 104 w 387"/>
                <a:gd name="T15" fmla="*/ 118 h 379"/>
                <a:gd name="T16" fmla="*/ 104 w 387"/>
                <a:gd name="T17" fmla="*/ 74 h 379"/>
                <a:gd name="T18" fmla="*/ 112 w 387"/>
                <a:gd name="T19" fmla="*/ 74 h 379"/>
                <a:gd name="T20" fmla="*/ 82 w 387"/>
                <a:gd name="T21" fmla="*/ 29 h 379"/>
                <a:gd name="T22" fmla="*/ 82 w 387"/>
                <a:gd name="T23" fmla="*/ 59 h 379"/>
                <a:gd name="T24" fmla="*/ 89 w 387"/>
                <a:gd name="T25" fmla="*/ 178 h 379"/>
                <a:gd name="T26" fmla="*/ 89 w 387"/>
                <a:gd name="T27" fmla="*/ 244 h 379"/>
                <a:gd name="T28" fmla="*/ 119 w 387"/>
                <a:gd name="T29" fmla="*/ 192 h 379"/>
                <a:gd name="T30" fmla="*/ 97 w 387"/>
                <a:gd name="T31" fmla="*/ 192 h 379"/>
                <a:gd name="T32" fmla="*/ 30 w 387"/>
                <a:gd name="T33" fmla="*/ 222 h 379"/>
                <a:gd name="T34" fmla="*/ 15 w 387"/>
                <a:gd name="T35" fmla="*/ 341 h 379"/>
                <a:gd name="T36" fmla="*/ 67 w 387"/>
                <a:gd name="T37" fmla="*/ 378 h 379"/>
                <a:gd name="T38" fmla="*/ 134 w 387"/>
                <a:gd name="T39" fmla="*/ 318 h 379"/>
                <a:gd name="T40" fmla="*/ 134 w 387"/>
                <a:gd name="T41" fmla="*/ 266 h 379"/>
                <a:gd name="T42" fmla="*/ 97 w 387"/>
                <a:gd name="T43" fmla="*/ 318 h 379"/>
                <a:gd name="T44" fmla="*/ 156 w 387"/>
                <a:gd name="T45" fmla="*/ 370 h 379"/>
                <a:gd name="T46" fmla="*/ 134 w 387"/>
                <a:gd name="T47" fmla="*/ 341 h 379"/>
                <a:gd name="T48" fmla="*/ 37 w 387"/>
                <a:gd name="T49" fmla="*/ 237 h 379"/>
                <a:gd name="T50" fmla="*/ 89 w 387"/>
                <a:gd name="T51" fmla="*/ 104 h 379"/>
                <a:gd name="T52" fmla="*/ 163 w 387"/>
                <a:gd name="T53" fmla="*/ 104 h 379"/>
                <a:gd name="T54" fmla="*/ 193 w 387"/>
                <a:gd name="T55" fmla="*/ 222 h 379"/>
                <a:gd name="T56" fmla="*/ 312 w 387"/>
                <a:gd name="T57" fmla="*/ 215 h 379"/>
                <a:gd name="T58" fmla="*/ 304 w 387"/>
                <a:gd name="T59" fmla="*/ 89 h 379"/>
                <a:gd name="T60" fmla="*/ 200 w 387"/>
                <a:gd name="T61" fmla="*/ 59 h 379"/>
                <a:gd name="T62" fmla="*/ 134 w 387"/>
                <a:gd name="T63" fmla="*/ 59 h 379"/>
                <a:gd name="T64" fmla="*/ 275 w 387"/>
                <a:gd name="T65" fmla="*/ 66 h 379"/>
                <a:gd name="T66" fmla="*/ 282 w 387"/>
                <a:gd name="T67" fmla="*/ 133 h 379"/>
                <a:gd name="T68" fmla="*/ 289 w 387"/>
                <a:gd name="T69" fmla="*/ 215 h 379"/>
                <a:gd name="T70" fmla="*/ 289 w 387"/>
                <a:gd name="T71" fmla="*/ 266 h 379"/>
                <a:gd name="T72" fmla="*/ 289 w 387"/>
                <a:gd name="T73" fmla="*/ 333 h 379"/>
                <a:gd name="T74" fmla="*/ 245 w 387"/>
                <a:gd name="T75" fmla="*/ 363 h 379"/>
                <a:gd name="T76" fmla="*/ 200 w 387"/>
                <a:gd name="T77" fmla="*/ 304 h 379"/>
                <a:gd name="T78" fmla="*/ 215 w 387"/>
                <a:gd name="T79" fmla="*/ 318 h 379"/>
                <a:gd name="T80" fmla="*/ 319 w 387"/>
                <a:gd name="T81" fmla="*/ 333 h 379"/>
                <a:gd name="T82" fmla="*/ 386 w 387"/>
                <a:gd name="T83" fmla="*/ 259 h 379"/>
                <a:gd name="T84" fmla="*/ 378 w 387"/>
                <a:gd name="T85" fmla="*/ 141 h 379"/>
                <a:gd name="T86" fmla="*/ 200 w 387"/>
                <a:gd name="T87" fmla="*/ 37 h 379"/>
                <a:gd name="T88" fmla="*/ 149 w 387"/>
                <a:gd name="T89" fmla="*/ 89 h 379"/>
                <a:gd name="T90" fmla="*/ 163 w 387"/>
                <a:gd name="T91" fmla="*/ 155 h 37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87"/>
                <a:gd name="T139" fmla="*/ 0 h 379"/>
                <a:gd name="T140" fmla="*/ 387 w 387"/>
                <a:gd name="T141" fmla="*/ 379 h 37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87" h="379">
                  <a:moveTo>
                    <a:pt x="12" y="81"/>
                  </a:moveTo>
                  <a:lnTo>
                    <a:pt x="37" y="66"/>
                  </a:lnTo>
                  <a:lnTo>
                    <a:pt x="67" y="66"/>
                  </a:lnTo>
                  <a:lnTo>
                    <a:pt x="89" y="74"/>
                  </a:lnTo>
                  <a:lnTo>
                    <a:pt x="97" y="96"/>
                  </a:lnTo>
                  <a:lnTo>
                    <a:pt x="97" y="118"/>
                  </a:lnTo>
                  <a:lnTo>
                    <a:pt x="97" y="141"/>
                  </a:lnTo>
                  <a:lnTo>
                    <a:pt x="97" y="163"/>
                  </a:lnTo>
                  <a:lnTo>
                    <a:pt x="82" y="185"/>
                  </a:lnTo>
                  <a:lnTo>
                    <a:pt x="60" y="192"/>
                  </a:lnTo>
                  <a:lnTo>
                    <a:pt x="37" y="192"/>
                  </a:lnTo>
                  <a:lnTo>
                    <a:pt x="30" y="163"/>
                  </a:lnTo>
                  <a:lnTo>
                    <a:pt x="30" y="133"/>
                  </a:lnTo>
                  <a:lnTo>
                    <a:pt x="52" y="148"/>
                  </a:lnTo>
                  <a:lnTo>
                    <a:pt x="82" y="148"/>
                  </a:lnTo>
                  <a:lnTo>
                    <a:pt x="104" y="118"/>
                  </a:lnTo>
                  <a:lnTo>
                    <a:pt x="104" y="96"/>
                  </a:lnTo>
                  <a:lnTo>
                    <a:pt x="104" y="74"/>
                  </a:lnTo>
                  <a:lnTo>
                    <a:pt x="82" y="59"/>
                  </a:lnTo>
                  <a:lnTo>
                    <a:pt x="112" y="74"/>
                  </a:lnTo>
                  <a:lnTo>
                    <a:pt x="112" y="96"/>
                  </a:lnTo>
                  <a:lnTo>
                    <a:pt x="82" y="29"/>
                  </a:lnTo>
                  <a:lnTo>
                    <a:pt x="75" y="0"/>
                  </a:lnTo>
                  <a:lnTo>
                    <a:pt x="82" y="59"/>
                  </a:lnTo>
                  <a:lnTo>
                    <a:pt x="89" y="118"/>
                  </a:lnTo>
                  <a:lnTo>
                    <a:pt x="89" y="178"/>
                  </a:lnTo>
                  <a:lnTo>
                    <a:pt x="89" y="222"/>
                  </a:lnTo>
                  <a:lnTo>
                    <a:pt x="89" y="244"/>
                  </a:lnTo>
                  <a:lnTo>
                    <a:pt x="112" y="244"/>
                  </a:lnTo>
                  <a:lnTo>
                    <a:pt x="119" y="192"/>
                  </a:lnTo>
                  <a:lnTo>
                    <a:pt x="112" y="170"/>
                  </a:lnTo>
                  <a:lnTo>
                    <a:pt x="97" y="192"/>
                  </a:lnTo>
                  <a:lnTo>
                    <a:pt x="45" y="178"/>
                  </a:lnTo>
                  <a:lnTo>
                    <a:pt x="30" y="222"/>
                  </a:lnTo>
                  <a:lnTo>
                    <a:pt x="15" y="296"/>
                  </a:lnTo>
                  <a:lnTo>
                    <a:pt x="15" y="341"/>
                  </a:lnTo>
                  <a:lnTo>
                    <a:pt x="0" y="370"/>
                  </a:lnTo>
                  <a:lnTo>
                    <a:pt x="67" y="378"/>
                  </a:lnTo>
                  <a:lnTo>
                    <a:pt x="126" y="363"/>
                  </a:lnTo>
                  <a:lnTo>
                    <a:pt x="134" y="318"/>
                  </a:lnTo>
                  <a:lnTo>
                    <a:pt x="141" y="289"/>
                  </a:lnTo>
                  <a:lnTo>
                    <a:pt x="134" y="266"/>
                  </a:lnTo>
                  <a:lnTo>
                    <a:pt x="112" y="252"/>
                  </a:lnTo>
                  <a:lnTo>
                    <a:pt x="97" y="318"/>
                  </a:lnTo>
                  <a:lnTo>
                    <a:pt x="97" y="363"/>
                  </a:lnTo>
                  <a:lnTo>
                    <a:pt x="156" y="370"/>
                  </a:lnTo>
                  <a:lnTo>
                    <a:pt x="178" y="363"/>
                  </a:lnTo>
                  <a:lnTo>
                    <a:pt x="134" y="341"/>
                  </a:lnTo>
                  <a:lnTo>
                    <a:pt x="45" y="281"/>
                  </a:lnTo>
                  <a:lnTo>
                    <a:pt x="37" y="237"/>
                  </a:lnTo>
                  <a:lnTo>
                    <a:pt x="45" y="148"/>
                  </a:lnTo>
                  <a:lnTo>
                    <a:pt x="89" y="104"/>
                  </a:lnTo>
                  <a:lnTo>
                    <a:pt x="134" y="104"/>
                  </a:lnTo>
                  <a:lnTo>
                    <a:pt x="163" y="104"/>
                  </a:lnTo>
                  <a:lnTo>
                    <a:pt x="186" y="178"/>
                  </a:lnTo>
                  <a:lnTo>
                    <a:pt x="193" y="222"/>
                  </a:lnTo>
                  <a:lnTo>
                    <a:pt x="252" y="229"/>
                  </a:lnTo>
                  <a:lnTo>
                    <a:pt x="312" y="215"/>
                  </a:lnTo>
                  <a:lnTo>
                    <a:pt x="319" y="163"/>
                  </a:lnTo>
                  <a:lnTo>
                    <a:pt x="304" y="89"/>
                  </a:lnTo>
                  <a:lnTo>
                    <a:pt x="260" y="74"/>
                  </a:lnTo>
                  <a:lnTo>
                    <a:pt x="200" y="59"/>
                  </a:lnTo>
                  <a:lnTo>
                    <a:pt x="156" y="59"/>
                  </a:lnTo>
                  <a:lnTo>
                    <a:pt x="134" y="59"/>
                  </a:lnTo>
                  <a:lnTo>
                    <a:pt x="215" y="59"/>
                  </a:lnTo>
                  <a:lnTo>
                    <a:pt x="275" y="66"/>
                  </a:lnTo>
                  <a:lnTo>
                    <a:pt x="275" y="89"/>
                  </a:lnTo>
                  <a:lnTo>
                    <a:pt x="282" y="133"/>
                  </a:lnTo>
                  <a:lnTo>
                    <a:pt x="289" y="192"/>
                  </a:lnTo>
                  <a:lnTo>
                    <a:pt x="289" y="215"/>
                  </a:lnTo>
                  <a:lnTo>
                    <a:pt x="289" y="237"/>
                  </a:lnTo>
                  <a:lnTo>
                    <a:pt x="289" y="266"/>
                  </a:lnTo>
                  <a:lnTo>
                    <a:pt x="289" y="289"/>
                  </a:lnTo>
                  <a:lnTo>
                    <a:pt x="289" y="333"/>
                  </a:lnTo>
                  <a:lnTo>
                    <a:pt x="275" y="355"/>
                  </a:lnTo>
                  <a:lnTo>
                    <a:pt x="245" y="363"/>
                  </a:lnTo>
                  <a:lnTo>
                    <a:pt x="223" y="363"/>
                  </a:lnTo>
                  <a:lnTo>
                    <a:pt x="200" y="304"/>
                  </a:lnTo>
                  <a:lnTo>
                    <a:pt x="200" y="244"/>
                  </a:lnTo>
                  <a:lnTo>
                    <a:pt x="215" y="318"/>
                  </a:lnTo>
                  <a:lnTo>
                    <a:pt x="275" y="333"/>
                  </a:lnTo>
                  <a:lnTo>
                    <a:pt x="319" y="333"/>
                  </a:lnTo>
                  <a:lnTo>
                    <a:pt x="378" y="318"/>
                  </a:lnTo>
                  <a:lnTo>
                    <a:pt x="386" y="259"/>
                  </a:lnTo>
                  <a:lnTo>
                    <a:pt x="386" y="200"/>
                  </a:lnTo>
                  <a:lnTo>
                    <a:pt x="378" y="141"/>
                  </a:lnTo>
                  <a:lnTo>
                    <a:pt x="304" y="81"/>
                  </a:lnTo>
                  <a:lnTo>
                    <a:pt x="200" y="37"/>
                  </a:lnTo>
                  <a:lnTo>
                    <a:pt x="156" y="29"/>
                  </a:lnTo>
                  <a:lnTo>
                    <a:pt x="149" y="89"/>
                  </a:lnTo>
                  <a:lnTo>
                    <a:pt x="149" y="133"/>
                  </a:lnTo>
                  <a:lnTo>
                    <a:pt x="163" y="155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57" name="Freeform 40"/>
            <p:cNvSpPr>
              <a:spLocks/>
            </p:cNvSpPr>
            <p:nvPr/>
          </p:nvSpPr>
          <p:spPr bwMode="auto">
            <a:xfrm>
              <a:off x="2972" y="2438"/>
              <a:ext cx="215" cy="316"/>
            </a:xfrm>
            <a:custGeom>
              <a:avLst/>
              <a:gdLst>
                <a:gd name="T0" fmla="*/ 0 w 215"/>
                <a:gd name="T1" fmla="*/ 0 h 316"/>
                <a:gd name="T2" fmla="*/ 51 w 215"/>
                <a:gd name="T3" fmla="*/ 19 h 316"/>
                <a:gd name="T4" fmla="*/ 111 w 215"/>
                <a:gd name="T5" fmla="*/ 19 h 316"/>
                <a:gd name="T6" fmla="*/ 133 w 215"/>
                <a:gd name="T7" fmla="*/ 19 h 316"/>
                <a:gd name="T8" fmla="*/ 155 w 215"/>
                <a:gd name="T9" fmla="*/ 49 h 316"/>
                <a:gd name="T10" fmla="*/ 162 w 215"/>
                <a:gd name="T11" fmla="*/ 71 h 316"/>
                <a:gd name="T12" fmla="*/ 162 w 215"/>
                <a:gd name="T13" fmla="*/ 93 h 316"/>
                <a:gd name="T14" fmla="*/ 162 w 215"/>
                <a:gd name="T15" fmla="*/ 115 h 316"/>
                <a:gd name="T16" fmla="*/ 162 w 215"/>
                <a:gd name="T17" fmla="*/ 137 h 316"/>
                <a:gd name="T18" fmla="*/ 162 w 215"/>
                <a:gd name="T19" fmla="*/ 167 h 316"/>
                <a:gd name="T20" fmla="*/ 185 w 215"/>
                <a:gd name="T21" fmla="*/ 182 h 316"/>
                <a:gd name="T22" fmla="*/ 214 w 215"/>
                <a:gd name="T23" fmla="*/ 182 h 316"/>
                <a:gd name="T24" fmla="*/ 214 w 215"/>
                <a:gd name="T25" fmla="*/ 219 h 316"/>
                <a:gd name="T26" fmla="*/ 155 w 215"/>
                <a:gd name="T27" fmla="*/ 278 h 316"/>
                <a:gd name="T28" fmla="*/ 185 w 215"/>
                <a:gd name="T29" fmla="*/ 263 h 316"/>
                <a:gd name="T30" fmla="*/ 199 w 215"/>
                <a:gd name="T31" fmla="*/ 293 h 316"/>
                <a:gd name="T32" fmla="*/ 214 w 215"/>
                <a:gd name="T33" fmla="*/ 315 h 3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5"/>
                <a:gd name="T52" fmla="*/ 0 h 316"/>
                <a:gd name="T53" fmla="*/ 215 w 215"/>
                <a:gd name="T54" fmla="*/ 316 h 3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5" h="316">
                  <a:moveTo>
                    <a:pt x="0" y="0"/>
                  </a:moveTo>
                  <a:lnTo>
                    <a:pt x="51" y="19"/>
                  </a:lnTo>
                  <a:lnTo>
                    <a:pt x="111" y="19"/>
                  </a:lnTo>
                  <a:lnTo>
                    <a:pt x="133" y="19"/>
                  </a:lnTo>
                  <a:lnTo>
                    <a:pt x="155" y="49"/>
                  </a:lnTo>
                  <a:lnTo>
                    <a:pt x="162" y="71"/>
                  </a:lnTo>
                  <a:lnTo>
                    <a:pt x="162" y="93"/>
                  </a:lnTo>
                  <a:lnTo>
                    <a:pt x="162" y="115"/>
                  </a:lnTo>
                  <a:lnTo>
                    <a:pt x="162" y="137"/>
                  </a:lnTo>
                  <a:lnTo>
                    <a:pt x="162" y="167"/>
                  </a:lnTo>
                  <a:lnTo>
                    <a:pt x="185" y="182"/>
                  </a:lnTo>
                  <a:lnTo>
                    <a:pt x="214" y="182"/>
                  </a:lnTo>
                  <a:lnTo>
                    <a:pt x="214" y="219"/>
                  </a:lnTo>
                  <a:lnTo>
                    <a:pt x="155" y="278"/>
                  </a:lnTo>
                  <a:lnTo>
                    <a:pt x="185" y="263"/>
                  </a:lnTo>
                  <a:lnTo>
                    <a:pt x="199" y="293"/>
                  </a:lnTo>
                  <a:lnTo>
                    <a:pt x="214" y="315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58" name="Freeform 41"/>
            <p:cNvSpPr>
              <a:spLocks/>
            </p:cNvSpPr>
            <p:nvPr/>
          </p:nvSpPr>
          <p:spPr bwMode="auto">
            <a:xfrm>
              <a:off x="2972" y="2331"/>
              <a:ext cx="186" cy="216"/>
            </a:xfrm>
            <a:custGeom>
              <a:avLst/>
              <a:gdLst>
                <a:gd name="T0" fmla="*/ 0 w 186"/>
                <a:gd name="T1" fmla="*/ 203 h 216"/>
                <a:gd name="T2" fmla="*/ 22 w 186"/>
                <a:gd name="T3" fmla="*/ 215 h 216"/>
                <a:gd name="T4" fmla="*/ 44 w 186"/>
                <a:gd name="T5" fmla="*/ 200 h 216"/>
                <a:gd name="T6" fmla="*/ 66 w 186"/>
                <a:gd name="T7" fmla="*/ 193 h 216"/>
                <a:gd name="T8" fmla="*/ 96 w 186"/>
                <a:gd name="T9" fmla="*/ 170 h 216"/>
                <a:gd name="T10" fmla="*/ 118 w 186"/>
                <a:gd name="T11" fmla="*/ 156 h 216"/>
                <a:gd name="T12" fmla="*/ 133 w 186"/>
                <a:gd name="T13" fmla="*/ 133 h 216"/>
                <a:gd name="T14" fmla="*/ 155 w 186"/>
                <a:gd name="T15" fmla="*/ 111 h 216"/>
                <a:gd name="T16" fmla="*/ 162 w 186"/>
                <a:gd name="T17" fmla="*/ 89 h 216"/>
                <a:gd name="T18" fmla="*/ 177 w 186"/>
                <a:gd name="T19" fmla="*/ 67 h 216"/>
                <a:gd name="T20" fmla="*/ 185 w 186"/>
                <a:gd name="T21" fmla="*/ 44 h 216"/>
                <a:gd name="T22" fmla="*/ 185 w 186"/>
                <a:gd name="T23" fmla="*/ 22 h 216"/>
                <a:gd name="T24" fmla="*/ 185 w 186"/>
                <a:gd name="T25" fmla="*/ 0 h 21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86"/>
                <a:gd name="T40" fmla="*/ 0 h 216"/>
                <a:gd name="T41" fmla="*/ 186 w 186"/>
                <a:gd name="T42" fmla="*/ 216 h 21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86" h="216">
                  <a:moveTo>
                    <a:pt x="0" y="203"/>
                  </a:moveTo>
                  <a:lnTo>
                    <a:pt x="22" y="215"/>
                  </a:lnTo>
                  <a:lnTo>
                    <a:pt x="44" y="200"/>
                  </a:lnTo>
                  <a:lnTo>
                    <a:pt x="66" y="193"/>
                  </a:lnTo>
                  <a:lnTo>
                    <a:pt x="96" y="170"/>
                  </a:lnTo>
                  <a:lnTo>
                    <a:pt x="118" y="156"/>
                  </a:lnTo>
                  <a:lnTo>
                    <a:pt x="133" y="133"/>
                  </a:lnTo>
                  <a:lnTo>
                    <a:pt x="155" y="111"/>
                  </a:lnTo>
                  <a:lnTo>
                    <a:pt x="162" y="89"/>
                  </a:lnTo>
                  <a:lnTo>
                    <a:pt x="177" y="67"/>
                  </a:lnTo>
                  <a:lnTo>
                    <a:pt x="185" y="44"/>
                  </a:lnTo>
                  <a:lnTo>
                    <a:pt x="185" y="22"/>
                  </a:lnTo>
                  <a:lnTo>
                    <a:pt x="185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59" name="Freeform 42"/>
            <p:cNvSpPr>
              <a:spLocks/>
            </p:cNvSpPr>
            <p:nvPr/>
          </p:nvSpPr>
          <p:spPr bwMode="auto">
            <a:xfrm>
              <a:off x="3045" y="2338"/>
              <a:ext cx="335" cy="389"/>
            </a:xfrm>
            <a:custGeom>
              <a:avLst/>
              <a:gdLst>
                <a:gd name="T0" fmla="*/ 193 w 335"/>
                <a:gd name="T1" fmla="*/ 334 h 389"/>
                <a:gd name="T2" fmla="*/ 171 w 335"/>
                <a:gd name="T3" fmla="*/ 215 h 389"/>
                <a:gd name="T4" fmla="*/ 156 w 335"/>
                <a:gd name="T5" fmla="*/ 163 h 389"/>
                <a:gd name="T6" fmla="*/ 112 w 335"/>
                <a:gd name="T7" fmla="*/ 134 h 389"/>
                <a:gd name="T8" fmla="*/ 60 w 335"/>
                <a:gd name="T9" fmla="*/ 104 h 389"/>
                <a:gd name="T10" fmla="*/ 23 w 335"/>
                <a:gd name="T11" fmla="*/ 163 h 389"/>
                <a:gd name="T12" fmla="*/ 82 w 335"/>
                <a:gd name="T13" fmla="*/ 245 h 389"/>
                <a:gd name="T14" fmla="*/ 200 w 335"/>
                <a:gd name="T15" fmla="*/ 252 h 389"/>
                <a:gd name="T16" fmla="*/ 252 w 335"/>
                <a:gd name="T17" fmla="*/ 237 h 389"/>
                <a:gd name="T18" fmla="*/ 260 w 335"/>
                <a:gd name="T19" fmla="*/ 186 h 389"/>
                <a:gd name="T20" fmla="*/ 171 w 335"/>
                <a:gd name="T21" fmla="*/ 119 h 389"/>
                <a:gd name="T22" fmla="*/ 275 w 335"/>
                <a:gd name="T23" fmla="*/ 104 h 389"/>
                <a:gd name="T24" fmla="*/ 297 w 335"/>
                <a:gd name="T25" fmla="*/ 200 h 389"/>
                <a:gd name="T26" fmla="*/ 304 w 335"/>
                <a:gd name="T27" fmla="*/ 245 h 389"/>
                <a:gd name="T28" fmla="*/ 297 w 335"/>
                <a:gd name="T29" fmla="*/ 156 h 389"/>
                <a:gd name="T30" fmla="*/ 193 w 335"/>
                <a:gd name="T31" fmla="*/ 97 h 389"/>
                <a:gd name="T32" fmla="*/ 149 w 335"/>
                <a:gd name="T33" fmla="*/ 82 h 389"/>
                <a:gd name="T34" fmla="*/ 134 w 335"/>
                <a:gd name="T35" fmla="*/ 171 h 389"/>
                <a:gd name="T36" fmla="*/ 134 w 335"/>
                <a:gd name="T37" fmla="*/ 237 h 389"/>
                <a:gd name="T38" fmla="*/ 193 w 335"/>
                <a:gd name="T39" fmla="*/ 186 h 389"/>
                <a:gd name="T40" fmla="*/ 186 w 335"/>
                <a:gd name="T41" fmla="*/ 112 h 389"/>
                <a:gd name="T42" fmla="*/ 119 w 335"/>
                <a:gd name="T43" fmla="*/ 97 h 389"/>
                <a:gd name="T44" fmla="*/ 112 w 335"/>
                <a:gd name="T45" fmla="*/ 215 h 389"/>
                <a:gd name="T46" fmla="*/ 112 w 335"/>
                <a:gd name="T47" fmla="*/ 319 h 389"/>
                <a:gd name="T48" fmla="*/ 230 w 335"/>
                <a:gd name="T49" fmla="*/ 319 h 389"/>
                <a:gd name="T50" fmla="*/ 230 w 335"/>
                <a:gd name="T51" fmla="*/ 215 h 389"/>
                <a:gd name="T52" fmla="*/ 126 w 335"/>
                <a:gd name="T53" fmla="*/ 163 h 389"/>
                <a:gd name="T54" fmla="*/ 104 w 335"/>
                <a:gd name="T55" fmla="*/ 208 h 389"/>
                <a:gd name="T56" fmla="*/ 23 w 335"/>
                <a:gd name="T57" fmla="*/ 193 h 389"/>
                <a:gd name="T58" fmla="*/ 0 w 335"/>
                <a:gd name="T59" fmla="*/ 267 h 389"/>
                <a:gd name="T60" fmla="*/ 67 w 335"/>
                <a:gd name="T61" fmla="*/ 319 h 389"/>
                <a:gd name="T62" fmla="*/ 215 w 335"/>
                <a:gd name="T63" fmla="*/ 304 h 389"/>
                <a:gd name="T64" fmla="*/ 319 w 335"/>
                <a:gd name="T65" fmla="*/ 267 h 389"/>
                <a:gd name="T66" fmla="*/ 334 w 335"/>
                <a:gd name="T67" fmla="*/ 186 h 389"/>
                <a:gd name="T68" fmla="*/ 319 w 335"/>
                <a:gd name="T69" fmla="*/ 89 h 389"/>
                <a:gd name="T70" fmla="*/ 275 w 335"/>
                <a:gd name="T71" fmla="*/ 52 h 389"/>
                <a:gd name="T72" fmla="*/ 230 w 335"/>
                <a:gd name="T73" fmla="*/ 23 h 38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35"/>
                <a:gd name="T112" fmla="*/ 0 h 389"/>
                <a:gd name="T113" fmla="*/ 335 w 335"/>
                <a:gd name="T114" fmla="*/ 389 h 38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35" h="389">
                  <a:moveTo>
                    <a:pt x="215" y="388"/>
                  </a:moveTo>
                  <a:lnTo>
                    <a:pt x="193" y="334"/>
                  </a:lnTo>
                  <a:lnTo>
                    <a:pt x="186" y="275"/>
                  </a:lnTo>
                  <a:lnTo>
                    <a:pt x="171" y="215"/>
                  </a:lnTo>
                  <a:lnTo>
                    <a:pt x="156" y="186"/>
                  </a:lnTo>
                  <a:lnTo>
                    <a:pt x="156" y="163"/>
                  </a:lnTo>
                  <a:lnTo>
                    <a:pt x="134" y="141"/>
                  </a:lnTo>
                  <a:lnTo>
                    <a:pt x="112" y="134"/>
                  </a:lnTo>
                  <a:lnTo>
                    <a:pt x="82" y="104"/>
                  </a:lnTo>
                  <a:lnTo>
                    <a:pt x="60" y="104"/>
                  </a:lnTo>
                  <a:lnTo>
                    <a:pt x="38" y="104"/>
                  </a:lnTo>
                  <a:lnTo>
                    <a:pt x="23" y="163"/>
                  </a:lnTo>
                  <a:lnTo>
                    <a:pt x="23" y="223"/>
                  </a:lnTo>
                  <a:lnTo>
                    <a:pt x="82" y="245"/>
                  </a:lnTo>
                  <a:lnTo>
                    <a:pt x="141" y="252"/>
                  </a:lnTo>
                  <a:lnTo>
                    <a:pt x="200" y="252"/>
                  </a:lnTo>
                  <a:lnTo>
                    <a:pt x="230" y="252"/>
                  </a:lnTo>
                  <a:lnTo>
                    <a:pt x="252" y="237"/>
                  </a:lnTo>
                  <a:lnTo>
                    <a:pt x="260" y="215"/>
                  </a:lnTo>
                  <a:lnTo>
                    <a:pt x="260" y="186"/>
                  </a:lnTo>
                  <a:lnTo>
                    <a:pt x="200" y="126"/>
                  </a:lnTo>
                  <a:lnTo>
                    <a:pt x="171" y="119"/>
                  </a:lnTo>
                  <a:lnTo>
                    <a:pt x="215" y="104"/>
                  </a:lnTo>
                  <a:lnTo>
                    <a:pt x="275" y="104"/>
                  </a:lnTo>
                  <a:lnTo>
                    <a:pt x="289" y="156"/>
                  </a:lnTo>
                  <a:lnTo>
                    <a:pt x="297" y="200"/>
                  </a:lnTo>
                  <a:lnTo>
                    <a:pt x="304" y="223"/>
                  </a:lnTo>
                  <a:lnTo>
                    <a:pt x="304" y="245"/>
                  </a:lnTo>
                  <a:lnTo>
                    <a:pt x="304" y="186"/>
                  </a:lnTo>
                  <a:lnTo>
                    <a:pt x="297" y="156"/>
                  </a:lnTo>
                  <a:lnTo>
                    <a:pt x="252" y="112"/>
                  </a:lnTo>
                  <a:lnTo>
                    <a:pt x="193" y="97"/>
                  </a:lnTo>
                  <a:lnTo>
                    <a:pt x="171" y="82"/>
                  </a:lnTo>
                  <a:lnTo>
                    <a:pt x="149" y="82"/>
                  </a:lnTo>
                  <a:lnTo>
                    <a:pt x="134" y="126"/>
                  </a:lnTo>
                  <a:lnTo>
                    <a:pt x="134" y="171"/>
                  </a:lnTo>
                  <a:lnTo>
                    <a:pt x="134" y="215"/>
                  </a:lnTo>
                  <a:lnTo>
                    <a:pt x="134" y="237"/>
                  </a:lnTo>
                  <a:lnTo>
                    <a:pt x="163" y="237"/>
                  </a:lnTo>
                  <a:lnTo>
                    <a:pt x="193" y="186"/>
                  </a:lnTo>
                  <a:lnTo>
                    <a:pt x="193" y="156"/>
                  </a:lnTo>
                  <a:lnTo>
                    <a:pt x="186" y="112"/>
                  </a:lnTo>
                  <a:lnTo>
                    <a:pt x="141" y="97"/>
                  </a:lnTo>
                  <a:lnTo>
                    <a:pt x="119" y="97"/>
                  </a:lnTo>
                  <a:lnTo>
                    <a:pt x="112" y="156"/>
                  </a:lnTo>
                  <a:lnTo>
                    <a:pt x="112" y="215"/>
                  </a:lnTo>
                  <a:lnTo>
                    <a:pt x="112" y="275"/>
                  </a:lnTo>
                  <a:lnTo>
                    <a:pt x="112" y="319"/>
                  </a:lnTo>
                  <a:lnTo>
                    <a:pt x="186" y="334"/>
                  </a:lnTo>
                  <a:lnTo>
                    <a:pt x="230" y="319"/>
                  </a:lnTo>
                  <a:lnTo>
                    <a:pt x="238" y="275"/>
                  </a:lnTo>
                  <a:lnTo>
                    <a:pt x="230" y="215"/>
                  </a:lnTo>
                  <a:lnTo>
                    <a:pt x="171" y="171"/>
                  </a:lnTo>
                  <a:lnTo>
                    <a:pt x="126" y="163"/>
                  </a:lnTo>
                  <a:lnTo>
                    <a:pt x="104" y="186"/>
                  </a:lnTo>
                  <a:lnTo>
                    <a:pt x="104" y="208"/>
                  </a:lnTo>
                  <a:lnTo>
                    <a:pt x="82" y="193"/>
                  </a:lnTo>
                  <a:lnTo>
                    <a:pt x="23" y="193"/>
                  </a:lnTo>
                  <a:lnTo>
                    <a:pt x="8" y="245"/>
                  </a:lnTo>
                  <a:lnTo>
                    <a:pt x="0" y="267"/>
                  </a:lnTo>
                  <a:lnTo>
                    <a:pt x="8" y="312"/>
                  </a:lnTo>
                  <a:lnTo>
                    <a:pt x="67" y="319"/>
                  </a:lnTo>
                  <a:lnTo>
                    <a:pt x="141" y="319"/>
                  </a:lnTo>
                  <a:lnTo>
                    <a:pt x="215" y="304"/>
                  </a:lnTo>
                  <a:lnTo>
                    <a:pt x="289" y="282"/>
                  </a:lnTo>
                  <a:lnTo>
                    <a:pt x="319" y="267"/>
                  </a:lnTo>
                  <a:lnTo>
                    <a:pt x="334" y="245"/>
                  </a:lnTo>
                  <a:lnTo>
                    <a:pt x="334" y="186"/>
                  </a:lnTo>
                  <a:lnTo>
                    <a:pt x="334" y="141"/>
                  </a:lnTo>
                  <a:lnTo>
                    <a:pt x="319" y="89"/>
                  </a:lnTo>
                  <a:lnTo>
                    <a:pt x="297" y="67"/>
                  </a:lnTo>
                  <a:lnTo>
                    <a:pt x="275" y="52"/>
                  </a:lnTo>
                  <a:lnTo>
                    <a:pt x="252" y="30"/>
                  </a:lnTo>
                  <a:lnTo>
                    <a:pt x="230" y="23"/>
                  </a:lnTo>
                  <a:lnTo>
                    <a:pt x="23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60" name="Freeform 43"/>
            <p:cNvSpPr>
              <a:spLocks/>
            </p:cNvSpPr>
            <p:nvPr/>
          </p:nvSpPr>
          <p:spPr bwMode="auto">
            <a:xfrm>
              <a:off x="3201" y="2479"/>
              <a:ext cx="156" cy="201"/>
            </a:xfrm>
            <a:custGeom>
              <a:avLst/>
              <a:gdLst>
                <a:gd name="T0" fmla="*/ 155 w 156"/>
                <a:gd name="T1" fmla="*/ 199 h 201"/>
                <a:gd name="T2" fmla="*/ 133 w 156"/>
                <a:gd name="T3" fmla="*/ 200 h 201"/>
                <a:gd name="T4" fmla="*/ 126 w 156"/>
                <a:gd name="T5" fmla="*/ 178 h 201"/>
                <a:gd name="T6" fmla="*/ 111 w 156"/>
                <a:gd name="T7" fmla="*/ 134 h 201"/>
                <a:gd name="T8" fmla="*/ 96 w 156"/>
                <a:gd name="T9" fmla="*/ 111 h 201"/>
                <a:gd name="T10" fmla="*/ 89 w 156"/>
                <a:gd name="T11" fmla="*/ 89 h 201"/>
                <a:gd name="T12" fmla="*/ 74 w 156"/>
                <a:gd name="T13" fmla="*/ 67 h 201"/>
                <a:gd name="T14" fmla="*/ 52 w 156"/>
                <a:gd name="T15" fmla="*/ 45 h 201"/>
                <a:gd name="T16" fmla="*/ 30 w 156"/>
                <a:gd name="T17" fmla="*/ 30 h 201"/>
                <a:gd name="T18" fmla="*/ 22 w 156"/>
                <a:gd name="T19" fmla="*/ 8 h 201"/>
                <a:gd name="T20" fmla="*/ 0 w 156"/>
                <a:gd name="T21" fmla="*/ 0 h 2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6"/>
                <a:gd name="T34" fmla="*/ 0 h 201"/>
                <a:gd name="T35" fmla="*/ 156 w 156"/>
                <a:gd name="T36" fmla="*/ 201 h 2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6" h="201">
                  <a:moveTo>
                    <a:pt x="155" y="199"/>
                  </a:moveTo>
                  <a:lnTo>
                    <a:pt x="133" y="200"/>
                  </a:lnTo>
                  <a:lnTo>
                    <a:pt x="126" y="178"/>
                  </a:lnTo>
                  <a:lnTo>
                    <a:pt x="111" y="134"/>
                  </a:lnTo>
                  <a:lnTo>
                    <a:pt x="96" y="111"/>
                  </a:lnTo>
                  <a:lnTo>
                    <a:pt x="89" y="89"/>
                  </a:lnTo>
                  <a:lnTo>
                    <a:pt x="74" y="67"/>
                  </a:lnTo>
                  <a:lnTo>
                    <a:pt x="52" y="45"/>
                  </a:lnTo>
                  <a:lnTo>
                    <a:pt x="30" y="30"/>
                  </a:lnTo>
                  <a:lnTo>
                    <a:pt x="22" y="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61" name="Freeform 44"/>
            <p:cNvSpPr>
              <a:spLocks/>
            </p:cNvSpPr>
            <p:nvPr/>
          </p:nvSpPr>
          <p:spPr bwMode="auto">
            <a:xfrm>
              <a:off x="3134" y="2294"/>
              <a:ext cx="127" cy="253"/>
            </a:xfrm>
            <a:custGeom>
              <a:avLst/>
              <a:gdLst>
                <a:gd name="T0" fmla="*/ 126 w 127"/>
                <a:gd name="T1" fmla="*/ 0 h 253"/>
                <a:gd name="T2" fmla="*/ 111 w 127"/>
                <a:gd name="T3" fmla="*/ 30 h 253"/>
                <a:gd name="T4" fmla="*/ 111 w 127"/>
                <a:gd name="T5" fmla="*/ 52 h 253"/>
                <a:gd name="T6" fmla="*/ 111 w 127"/>
                <a:gd name="T7" fmla="*/ 74 h 253"/>
                <a:gd name="T8" fmla="*/ 111 w 127"/>
                <a:gd name="T9" fmla="*/ 104 h 253"/>
                <a:gd name="T10" fmla="*/ 111 w 127"/>
                <a:gd name="T11" fmla="*/ 133 h 253"/>
                <a:gd name="T12" fmla="*/ 111 w 127"/>
                <a:gd name="T13" fmla="*/ 156 h 253"/>
                <a:gd name="T14" fmla="*/ 111 w 127"/>
                <a:gd name="T15" fmla="*/ 178 h 253"/>
                <a:gd name="T16" fmla="*/ 89 w 127"/>
                <a:gd name="T17" fmla="*/ 185 h 253"/>
                <a:gd name="T18" fmla="*/ 67 w 127"/>
                <a:gd name="T19" fmla="*/ 200 h 253"/>
                <a:gd name="T20" fmla="*/ 37 w 127"/>
                <a:gd name="T21" fmla="*/ 215 h 253"/>
                <a:gd name="T22" fmla="*/ 23 w 127"/>
                <a:gd name="T23" fmla="*/ 237 h 253"/>
                <a:gd name="T24" fmla="*/ 0 w 127"/>
                <a:gd name="T25" fmla="*/ 252 h 2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7"/>
                <a:gd name="T40" fmla="*/ 0 h 253"/>
                <a:gd name="T41" fmla="*/ 127 w 127"/>
                <a:gd name="T42" fmla="*/ 253 h 2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7" h="253">
                  <a:moveTo>
                    <a:pt x="126" y="0"/>
                  </a:moveTo>
                  <a:lnTo>
                    <a:pt x="111" y="30"/>
                  </a:lnTo>
                  <a:lnTo>
                    <a:pt x="111" y="52"/>
                  </a:lnTo>
                  <a:lnTo>
                    <a:pt x="111" y="74"/>
                  </a:lnTo>
                  <a:lnTo>
                    <a:pt x="111" y="104"/>
                  </a:lnTo>
                  <a:lnTo>
                    <a:pt x="111" y="133"/>
                  </a:lnTo>
                  <a:lnTo>
                    <a:pt x="111" y="156"/>
                  </a:lnTo>
                  <a:lnTo>
                    <a:pt x="111" y="178"/>
                  </a:lnTo>
                  <a:lnTo>
                    <a:pt x="89" y="185"/>
                  </a:lnTo>
                  <a:lnTo>
                    <a:pt x="67" y="200"/>
                  </a:lnTo>
                  <a:lnTo>
                    <a:pt x="37" y="215"/>
                  </a:lnTo>
                  <a:lnTo>
                    <a:pt x="23" y="237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62" name="Freeform 45"/>
            <p:cNvSpPr>
              <a:spLocks/>
            </p:cNvSpPr>
            <p:nvPr/>
          </p:nvSpPr>
          <p:spPr bwMode="auto">
            <a:xfrm>
              <a:off x="3157" y="2390"/>
              <a:ext cx="201" cy="194"/>
            </a:xfrm>
            <a:custGeom>
              <a:avLst/>
              <a:gdLst>
                <a:gd name="T0" fmla="*/ 199 w 201"/>
                <a:gd name="T1" fmla="*/ 0 h 194"/>
                <a:gd name="T2" fmla="*/ 200 w 201"/>
                <a:gd name="T3" fmla="*/ 23 h 194"/>
                <a:gd name="T4" fmla="*/ 200 w 201"/>
                <a:gd name="T5" fmla="*/ 45 h 194"/>
                <a:gd name="T6" fmla="*/ 200 w 201"/>
                <a:gd name="T7" fmla="*/ 67 h 194"/>
                <a:gd name="T8" fmla="*/ 170 w 201"/>
                <a:gd name="T9" fmla="*/ 89 h 194"/>
                <a:gd name="T10" fmla="*/ 148 w 201"/>
                <a:gd name="T11" fmla="*/ 97 h 194"/>
                <a:gd name="T12" fmla="*/ 126 w 201"/>
                <a:gd name="T13" fmla="*/ 104 h 194"/>
                <a:gd name="T14" fmla="*/ 103 w 201"/>
                <a:gd name="T15" fmla="*/ 119 h 194"/>
                <a:gd name="T16" fmla="*/ 81 w 201"/>
                <a:gd name="T17" fmla="*/ 126 h 194"/>
                <a:gd name="T18" fmla="*/ 59 w 201"/>
                <a:gd name="T19" fmla="*/ 141 h 194"/>
                <a:gd name="T20" fmla="*/ 37 w 201"/>
                <a:gd name="T21" fmla="*/ 156 h 194"/>
                <a:gd name="T22" fmla="*/ 22 w 201"/>
                <a:gd name="T23" fmla="*/ 178 h 194"/>
                <a:gd name="T24" fmla="*/ 0 w 201"/>
                <a:gd name="T25" fmla="*/ 193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1"/>
                <a:gd name="T40" fmla="*/ 0 h 194"/>
                <a:gd name="T41" fmla="*/ 201 w 201"/>
                <a:gd name="T42" fmla="*/ 194 h 19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1" h="194">
                  <a:moveTo>
                    <a:pt x="199" y="0"/>
                  </a:moveTo>
                  <a:lnTo>
                    <a:pt x="200" y="23"/>
                  </a:lnTo>
                  <a:lnTo>
                    <a:pt x="200" y="45"/>
                  </a:lnTo>
                  <a:lnTo>
                    <a:pt x="200" y="67"/>
                  </a:lnTo>
                  <a:lnTo>
                    <a:pt x="170" y="89"/>
                  </a:lnTo>
                  <a:lnTo>
                    <a:pt x="148" y="97"/>
                  </a:lnTo>
                  <a:lnTo>
                    <a:pt x="126" y="104"/>
                  </a:lnTo>
                  <a:lnTo>
                    <a:pt x="103" y="119"/>
                  </a:lnTo>
                  <a:lnTo>
                    <a:pt x="81" y="126"/>
                  </a:lnTo>
                  <a:lnTo>
                    <a:pt x="59" y="141"/>
                  </a:lnTo>
                  <a:lnTo>
                    <a:pt x="37" y="156"/>
                  </a:lnTo>
                  <a:lnTo>
                    <a:pt x="22" y="178"/>
                  </a:lnTo>
                  <a:lnTo>
                    <a:pt x="0" y="19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63" name="Freeform 46"/>
            <p:cNvSpPr>
              <a:spLocks/>
            </p:cNvSpPr>
            <p:nvPr/>
          </p:nvSpPr>
          <p:spPr bwMode="auto">
            <a:xfrm>
              <a:off x="3008" y="2546"/>
              <a:ext cx="201" cy="60"/>
            </a:xfrm>
            <a:custGeom>
              <a:avLst/>
              <a:gdLst>
                <a:gd name="T0" fmla="*/ 12 w 201"/>
                <a:gd name="T1" fmla="*/ 36 h 60"/>
                <a:gd name="T2" fmla="*/ 0 w 201"/>
                <a:gd name="T3" fmla="*/ 59 h 60"/>
                <a:gd name="T4" fmla="*/ 60 w 201"/>
                <a:gd name="T5" fmla="*/ 59 h 60"/>
                <a:gd name="T6" fmla="*/ 104 w 201"/>
                <a:gd name="T7" fmla="*/ 59 h 60"/>
                <a:gd name="T8" fmla="*/ 126 w 201"/>
                <a:gd name="T9" fmla="*/ 59 h 60"/>
                <a:gd name="T10" fmla="*/ 156 w 201"/>
                <a:gd name="T11" fmla="*/ 59 h 60"/>
                <a:gd name="T12" fmla="*/ 186 w 201"/>
                <a:gd name="T13" fmla="*/ 44 h 60"/>
                <a:gd name="T14" fmla="*/ 200 w 201"/>
                <a:gd name="T15" fmla="*/ 22 h 60"/>
                <a:gd name="T16" fmla="*/ 200 w 201"/>
                <a:gd name="T17" fmla="*/ 0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1"/>
                <a:gd name="T28" fmla="*/ 0 h 60"/>
                <a:gd name="T29" fmla="*/ 201 w 201"/>
                <a:gd name="T30" fmla="*/ 60 h 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1" h="60">
                  <a:moveTo>
                    <a:pt x="12" y="36"/>
                  </a:moveTo>
                  <a:lnTo>
                    <a:pt x="0" y="59"/>
                  </a:lnTo>
                  <a:lnTo>
                    <a:pt x="60" y="59"/>
                  </a:lnTo>
                  <a:lnTo>
                    <a:pt x="104" y="59"/>
                  </a:lnTo>
                  <a:lnTo>
                    <a:pt x="126" y="59"/>
                  </a:lnTo>
                  <a:lnTo>
                    <a:pt x="156" y="59"/>
                  </a:lnTo>
                  <a:lnTo>
                    <a:pt x="186" y="44"/>
                  </a:lnTo>
                  <a:lnTo>
                    <a:pt x="200" y="22"/>
                  </a:lnTo>
                  <a:lnTo>
                    <a:pt x="20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564" name="Freeform 47"/>
            <p:cNvSpPr>
              <a:spLocks/>
            </p:cNvSpPr>
            <p:nvPr/>
          </p:nvSpPr>
          <p:spPr bwMode="auto">
            <a:xfrm>
              <a:off x="2972" y="2301"/>
              <a:ext cx="252" cy="330"/>
            </a:xfrm>
            <a:custGeom>
              <a:avLst/>
              <a:gdLst>
                <a:gd name="T0" fmla="*/ 0 w 252"/>
                <a:gd name="T1" fmla="*/ 329 h 330"/>
                <a:gd name="T2" fmla="*/ 22 w 252"/>
                <a:gd name="T3" fmla="*/ 312 h 330"/>
                <a:gd name="T4" fmla="*/ 51 w 252"/>
                <a:gd name="T5" fmla="*/ 312 h 330"/>
                <a:gd name="T6" fmla="*/ 81 w 252"/>
                <a:gd name="T7" fmla="*/ 297 h 330"/>
                <a:gd name="T8" fmla="*/ 103 w 252"/>
                <a:gd name="T9" fmla="*/ 282 h 330"/>
                <a:gd name="T10" fmla="*/ 162 w 252"/>
                <a:gd name="T11" fmla="*/ 260 h 330"/>
                <a:gd name="T12" fmla="*/ 185 w 252"/>
                <a:gd name="T13" fmla="*/ 252 h 330"/>
                <a:gd name="T14" fmla="*/ 192 w 252"/>
                <a:gd name="T15" fmla="*/ 230 h 330"/>
                <a:gd name="T16" fmla="*/ 214 w 252"/>
                <a:gd name="T17" fmla="*/ 223 h 330"/>
                <a:gd name="T18" fmla="*/ 222 w 252"/>
                <a:gd name="T19" fmla="*/ 200 h 330"/>
                <a:gd name="T20" fmla="*/ 236 w 252"/>
                <a:gd name="T21" fmla="*/ 178 h 330"/>
                <a:gd name="T22" fmla="*/ 251 w 252"/>
                <a:gd name="T23" fmla="*/ 156 h 330"/>
                <a:gd name="T24" fmla="*/ 251 w 252"/>
                <a:gd name="T25" fmla="*/ 134 h 330"/>
                <a:gd name="T26" fmla="*/ 251 w 252"/>
                <a:gd name="T27" fmla="*/ 112 h 330"/>
                <a:gd name="T28" fmla="*/ 251 w 252"/>
                <a:gd name="T29" fmla="*/ 89 h 330"/>
                <a:gd name="T30" fmla="*/ 244 w 252"/>
                <a:gd name="T31" fmla="*/ 67 h 330"/>
                <a:gd name="T32" fmla="*/ 236 w 252"/>
                <a:gd name="T33" fmla="*/ 45 h 330"/>
                <a:gd name="T34" fmla="*/ 222 w 252"/>
                <a:gd name="T35" fmla="*/ 23 h 330"/>
                <a:gd name="T36" fmla="*/ 214 w 252"/>
                <a:gd name="T37" fmla="*/ 0 h 3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2"/>
                <a:gd name="T58" fmla="*/ 0 h 330"/>
                <a:gd name="T59" fmla="*/ 252 w 252"/>
                <a:gd name="T60" fmla="*/ 330 h 33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2" h="330">
                  <a:moveTo>
                    <a:pt x="0" y="329"/>
                  </a:moveTo>
                  <a:lnTo>
                    <a:pt x="22" y="312"/>
                  </a:lnTo>
                  <a:lnTo>
                    <a:pt x="51" y="312"/>
                  </a:lnTo>
                  <a:lnTo>
                    <a:pt x="81" y="297"/>
                  </a:lnTo>
                  <a:lnTo>
                    <a:pt x="103" y="282"/>
                  </a:lnTo>
                  <a:lnTo>
                    <a:pt x="162" y="260"/>
                  </a:lnTo>
                  <a:lnTo>
                    <a:pt x="185" y="252"/>
                  </a:lnTo>
                  <a:lnTo>
                    <a:pt x="192" y="230"/>
                  </a:lnTo>
                  <a:lnTo>
                    <a:pt x="214" y="223"/>
                  </a:lnTo>
                  <a:lnTo>
                    <a:pt x="222" y="200"/>
                  </a:lnTo>
                  <a:lnTo>
                    <a:pt x="236" y="178"/>
                  </a:lnTo>
                  <a:lnTo>
                    <a:pt x="251" y="156"/>
                  </a:lnTo>
                  <a:lnTo>
                    <a:pt x="251" y="134"/>
                  </a:lnTo>
                  <a:lnTo>
                    <a:pt x="251" y="112"/>
                  </a:lnTo>
                  <a:lnTo>
                    <a:pt x="251" y="89"/>
                  </a:lnTo>
                  <a:lnTo>
                    <a:pt x="244" y="67"/>
                  </a:lnTo>
                  <a:lnTo>
                    <a:pt x="236" y="45"/>
                  </a:lnTo>
                  <a:lnTo>
                    <a:pt x="222" y="23"/>
                  </a:lnTo>
                  <a:lnTo>
                    <a:pt x="214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這個例子如何對應到實際的程式呢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 1:</a:t>
            </a:r>
            <a:r>
              <a:rPr lang="zh-TW" altLang="en-US" dirty="0" smtClean="0"/>
              <a:t> 哲學家代表</a:t>
            </a:r>
            <a:r>
              <a:rPr lang="en-US" altLang="zh-TW" dirty="0" smtClean="0"/>
              <a:t>?</a:t>
            </a:r>
          </a:p>
          <a:p>
            <a:r>
              <a:rPr lang="en-US" altLang="zh-TW" dirty="0"/>
              <a:t>Hint </a:t>
            </a:r>
            <a:r>
              <a:rPr lang="en-US" altLang="zh-TW" dirty="0" smtClean="0"/>
              <a:t>2:</a:t>
            </a:r>
            <a:r>
              <a:rPr lang="zh-TW" altLang="en-US" dirty="0" smtClean="0"/>
              <a:t> 刀叉代表</a:t>
            </a:r>
            <a:r>
              <a:rPr lang="en-US" altLang="zh-TW" dirty="0"/>
              <a:t>?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017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/>
              <a:t>假設使用</a:t>
            </a:r>
            <a:r>
              <a:rPr lang="en-US" altLang="zh-TW" dirty="0"/>
              <a:t>semaphore, </a:t>
            </a:r>
            <a:r>
              <a:rPr lang="zh-TW" altLang="en-US" dirty="0"/>
              <a:t>需要幾個</a:t>
            </a:r>
            <a:r>
              <a:rPr lang="en-US" altLang="zh-TW" dirty="0"/>
              <a:t>semaphores</a:t>
            </a:r>
            <a:r>
              <a:rPr lang="en-US" altLang="zh-TW" dirty="0" smtClean="0"/>
              <a:t>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因為有</a:t>
            </a:r>
            <a:r>
              <a:rPr lang="en-US" altLang="zh-TW" dirty="0" smtClean="0"/>
              <a:t>5</a:t>
            </a:r>
            <a:r>
              <a:rPr lang="zh-TW" altLang="en-US" dirty="0" smtClean="0"/>
              <a:t>個共享變數</a:t>
            </a:r>
            <a:r>
              <a:rPr lang="en-US" altLang="zh-TW" dirty="0" smtClean="0"/>
              <a:t>(</a:t>
            </a:r>
            <a:r>
              <a:rPr lang="zh-TW" altLang="en-US" dirty="0" smtClean="0"/>
              <a:t>每一個刀叉就是一個共享變數</a:t>
            </a:r>
            <a:r>
              <a:rPr lang="en-US" altLang="zh-TW" dirty="0" smtClean="0"/>
              <a:t>),</a:t>
            </a:r>
            <a:r>
              <a:rPr lang="zh-TW" altLang="en-US" dirty="0" smtClean="0"/>
              <a:t>所以需要</a:t>
            </a:r>
            <a:r>
              <a:rPr lang="en-US" altLang="zh-TW" dirty="0" smtClean="0"/>
              <a:t>5</a:t>
            </a:r>
            <a:r>
              <a:rPr lang="zh-TW" altLang="en-US" dirty="0" smtClean="0"/>
              <a:t>個</a:t>
            </a:r>
            <a:r>
              <a:rPr lang="en-US" altLang="zh-TW" dirty="0" smtClean="0"/>
              <a:t>semaphores</a:t>
            </a:r>
            <a:endParaRPr lang="zh-TW" altLang="en-US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583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程式怎麼寫呢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吃飯需要兩個刀叉</a:t>
            </a:r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所以每一個哲學家吃飯時需要取得兩個</a:t>
            </a:r>
            <a:r>
              <a:rPr lang="en-US" altLang="zh-TW" dirty="0" smtClean="0"/>
              <a:t>semaphores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18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Solution 1</a:t>
            </a:r>
            <a:r>
              <a:rPr lang="en-US" altLang="zh-TW" sz="3200" dirty="0"/>
              <a:t>: Using Semaphore for the Dining-Philosophers Problem</a:t>
            </a:r>
            <a:endParaRPr lang="zh-TW" altLang="en-US" sz="320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70087" y="1268760"/>
            <a:ext cx="8374385" cy="430887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b="1" dirty="0">
                <a:latin typeface="Calibri" panose="020F0502020204030204" pitchFamily="34" charset="0"/>
                <a:ea typeface="標楷體" pitchFamily="65" charset="-120"/>
              </a:rPr>
              <a:t>Shared data:      </a:t>
            </a:r>
            <a:r>
              <a:rPr lang="en-US" altLang="zh-TW" sz="2200" b="1" dirty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semaphore chopstick[5];   </a:t>
            </a:r>
            <a:r>
              <a:rPr lang="en-US" altLang="zh-TW" sz="2200" b="1" dirty="0">
                <a:latin typeface="Calibri" panose="020F0502020204030204" pitchFamily="34" charset="0"/>
                <a:ea typeface="標楷體" pitchFamily="65" charset="-120"/>
              </a:rPr>
              <a:t>//Initially, all values are 1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r="5135"/>
          <a:stretch>
            <a:fillRect/>
          </a:stretch>
        </p:blipFill>
        <p:spPr bwMode="auto">
          <a:xfrm>
            <a:off x="1970088" y="1871189"/>
            <a:ext cx="8374384" cy="4654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910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en-US" altLang="zh-TW" dirty="0" smtClean="0"/>
              <a:t>However</a:t>
            </a:r>
            <a:r>
              <a:rPr lang="en-US" altLang="zh-TW" dirty="0"/>
              <a:t>, the previous solution may cause </a:t>
            </a:r>
            <a:r>
              <a:rPr lang="en-US" altLang="zh-TW" dirty="0" smtClean="0"/>
              <a:t>a deadlock. 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1" indent="0" algn="ctr">
              <a:buNone/>
            </a:pPr>
            <a:r>
              <a:rPr lang="en-US" altLang="zh-TW" dirty="0" err="1" smtClean="0"/>
              <a:t>Ans</a:t>
            </a:r>
            <a:r>
              <a:rPr lang="en-US" altLang="zh-TW" dirty="0" smtClean="0"/>
              <a:t>: all </a:t>
            </a:r>
            <a:r>
              <a:rPr lang="en-US" altLang="zh-TW" dirty="0"/>
              <a:t>philosophers become hungry simultaneously, and each grabs left chopstick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931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>
                <a:solidFill>
                  <a:srgbClr val="FF0000"/>
                </a:solidFill>
              </a:rPr>
              <a:t>Solution 1</a:t>
            </a:r>
            <a:r>
              <a:rPr lang="en-US" altLang="zh-TW" sz="4000" dirty="0"/>
              <a:t>: Using Semaphore for the Dining-Philosophers Problem (Cont.)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Q</a:t>
            </a:r>
            <a:r>
              <a:rPr lang="en-US" altLang="zh-TW" dirty="0" smtClean="0"/>
              <a:t>: </a:t>
            </a:r>
            <a:r>
              <a:rPr lang="zh-TW" altLang="en-US" dirty="0" smtClean="0"/>
              <a:t>對應的程式執行順序是什麼呢</a:t>
            </a:r>
            <a:r>
              <a:rPr lang="en-US" altLang="zh-TW" dirty="0" smtClean="0"/>
              <a:t>?</a:t>
            </a:r>
            <a:endParaRPr lang="en-US" altLang="zh-TW" dirty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Each </a:t>
            </a:r>
            <a:r>
              <a:rPr lang="en-US" altLang="zh-TW" dirty="0" smtClean="0"/>
              <a:t>philosopher executes only the first </a:t>
            </a:r>
            <a:r>
              <a:rPr lang="en-US" altLang="zh-TW" b="1" dirty="0" smtClean="0"/>
              <a:t>wait() </a:t>
            </a:r>
            <a:r>
              <a:rPr lang="en-US" altLang="zh-TW" dirty="0" smtClean="0"/>
              <a:t>statement and then context switch. </a:t>
            </a:r>
            <a:r>
              <a:rPr lang="en-US" altLang="zh-TW" sz="2000" dirty="0" smtClean="0"/>
              <a:t>(see the following slide)</a:t>
            </a:r>
            <a:endParaRPr lang="en-US" altLang="zh-TW" dirty="0" smtClean="0"/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9644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485050"/>
              </p:ext>
            </p:extLst>
          </p:nvPr>
        </p:nvGraphicFramePr>
        <p:xfrm>
          <a:off x="530197" y="426543"/>
          <a:ext cx="11161241" cy="6602857"/>
        </p:xfrm>
        <a:graphic>
          <a:graphicData uri="http://schemas.openxmlformats.org/drawingml/2006/table">
            <a:tbl>
              <a:tblPr/>
              <a:tblGrid>
                <a:gridCol w="224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867">
                  <a:extLst>
                    <a:ext uri="{9D8B030D-6E8A-4147-A177-3AD203B41FA5}">
                      <a16:colId xmlns:a16="http://schemas.microsoft.com/office/drawing/2014/main" val="275027620"/>
                    </a:ext>
                  </a:extLst>
                </a:gridCol>
                <a:gridCol w="2240867">
                  <a:extLst>
                    <a:ext uri="{9D8B030D-6E8A-4147-A177-3AD203B41FA5}">
                      <a16:colId xmlns:a16="http://schemas.microsoft.com/office/drawing/2014/main" val="563649232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Philosopher 0</a:t>
                      </a: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Philosopher 1</a:t>
                      </a: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Philosopher 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Philosopher 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Philosopher 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wait(chopstick[0]);//chopstick[0]=0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wait(chopstick[1]);//chopstick[1]=0</a:t>
                      </a: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altLang="en-US" sz="1600" dirty="0"/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wait(chopstick[2]);//chopstick[2]=0</a:t>
                      </a: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wait(chopstick[3]);//chopstick[3]=0</a:t>
                      </a: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wait(chopstick[4]);//chopstick[4]=0</a:t>
                      </a: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wait(chopstick[1]);//chopstick[1]=-1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Blocked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69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TW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wait(chopstick[2]);//chopstick[2]=-1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Blocked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wait(chopstick[3]);//chopstick[3]=-1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Blocked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1" i="0" u="none" strike="noStrike" kern="0" cap="none" spc="0" normalizeH="0" baseline="0" dirty="0" smtClean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1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wait(chopstick[4]);//chopstick[4]=-1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Blocked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1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新細明體" pitchFamily="18" charset="-120"/>
                        <a:cs typeface="Courier New" pitchFamily="49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wait(chopstick[0]);//chopstick[0]=</a:t>
                      </a: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-1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cs typeface="Courier New" pitchFamily="49" charset="0"/>
                        </a:rPr>
                        <a:t>Blocked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792371"/>
                  </a:ext>
                </a:extLst>
              </a:tr>
            </a:tbl>
          </a:graphicData>
        </a:graphic>
      </p:graphicFrame>
      <p:sp>
        <p:nvSpPr>
          <p:cNvPr id="36904" name="Text Box 32"/>
          <p:cNvSpPr txBox="1">
            <a:spLocks noChangeArrowheads="1"/>
          </p:cNvSpPr>
          <p:nvPr/>
        </p:nvSpPr>
        <p:spPr bwMode="auto">
          <a:xfrm>
            <a:off x="2258389" y="44624"/>
            <a:ext cx="77048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1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Courier New" pitchFamily="49" charset="0"/>
              </a:rPr>
              <a:t>Initially, 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chopstick[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i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]=1, 0&lt;=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i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itchFamily="65" charset="-120"/>
              </a:rPr>
              <a:t>&lt;=4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新細明體" pitchFamily="18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10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接下來介紹另外一個</a:t>
            </a:r>
            <a:r>
              <a:rPr lang="en-US" altLang="zh-TW" dirty="0" smtClean="0"/>
              <a:t>deadlock-free</a:t>
            </a:r>
            <a:r>
              <a:rPr lang="zh-TW" altLang="en-US" dirty="0" smtClean="0"/>
              <a:t>的解法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zh-TW" altLang="en-US" dirty="0" smtClean="0"/>
              <a:t>使用</a:t>
            </a:r>
            <a:r>
              <a:rPr lang="en-US" altLang="zh-TW" dirty="0"/>
              <a:t>M</a:t>
            </a:r>
            <a:r>
              <a:rPr lang="en-US" altLang="zh-TW" dirty="0" smtClean="0"/>
              <a:t>onitor)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63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>
                <a:solidFill>
                  <a:srgbClr val="FF0000"/>
                </a:solidFill>
              </a:rPr>
              <a:t>Solution 2</a:t>
            </a:r>
            <a:r>
              <a:rPr lang="en-US" altLang="zh-TW" sz="4000" dirty="0"/>
              <a:t>: Using Monitor for the Dining-Philosophers Problem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TW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Deadlock-free </a:t>
            </a:r>
            <a: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Solution</a:t>
            </a:r>
            <a:r>
              <a:rPr lang="en-US" altLang="zh-TW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 lvl="1" eaLnBrk="1" hangingPunct="1">
              <a:defRPr/>
            </a:pPr>
            <a:r>
              <a:rPr lang="en-US" altLang="zh-TW" dirty="0" smtClean="0"/>
              <a:t>Pick up chopsticks only if both chopsticks are available </a:t>
            </a:r>
          </a:p>
        </p:txBody>
      </p:sp>
      <p:grpSp>
        <p:nvGrpSpPr>
          <p:cNvPr id="79876" name="Group 4"/>
          <p:cNvGrpSpPr>
            <a:grpSpLocks/>
          </p:cNvGrpSpPr>
          <p:nvPr/>
        </p:nvGrpSpPr>
        <p:grpSpPr bwMode="auto">
          <a:xfrm>
            <a:off x="5232400" y="2852738"/>
            <a:ext cx="4032250" cy="3744912"/>
            <a:chOff x="1584" y="1129"/>
            <a:chExt cx="3051" cy="3047"/>
          </a:xfrm>
        </p:grpSpPr>
        <p:sp>
          <p:nvSpPr>
            <p:cNvPr id="79877" name="Oval 5"/>
            <p:cNvSpPr>
              <a:spLocks noChangeArrowheads="1"/>
            </p:cNvSpPr>
            <p:nvPr/>
          </p:nvSpPr>
          <p:spPr bwMode="auto">
            <a:xfrm>
              <a:off x="1584" y="1129"/>
              <a:ext cx="3051" cy="304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9878" name="Group 6"/>
            <p:cNvGrpSpPr>
              <a:grpSpLocks/>
            </p:cNvGrpSpPr>
            <p:nvPr/>
          </p:nvGrpSpPr>
          <p:grpSpPr bwMode="auto">
            <a:xfrm>
              <a:off x="2018" y="3107"/>
              <a:ext cx="791" cy="690"/>
              <a:chOff x="1670" y="3107"/>
              <a:chExt cx="791" cy="690"/>
            </a:xfrm>
          </p:grpSpPr>
          <p:sp>
            <p:nvSpPr>
              <p:cNvPr id="79913" name="Oval 7"/>
              <p:cNvSpPr>
                <a:spLocks noChangeArrowheads="1"/>
              </p:cNvSpPr>
              <p:nvPr/>
            </p:nvSpPr>
            <p:spPr bwMode="auto">
              <a:xfrm>
                <a:off x="1921" y="3258"/>
                <a:ext cx="540" cy="53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9914" name="Oval 8"/>
              <p:cNvSpPr>
                <a:spLocks noChangeArrowheads="1"/>
              </p:cNvSpPr>
              <p:nvPr/>
            </p:nvSpPr>
            <p:spPr bwMode="auto">
              <a:xfrm>
                <a:off x="2012" y="3349"/>
                <a:ext cx="358" cy="35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79915" name="Group 9"/>
              <p:cNvGrpSpPr>
                <a:grpSpLocks/>
              </p:cNvGrpSpPr>
              <p:nvPr/>
            </p:nvGrpSpPr>
            <p:grpSpPr bwMode="auto">
              <a:xfrm>
                <a:off x="1670" y="3107"/>
                <a:ext cx="303" cy="467"/>
                <a:chOff x="1670" y="3107"/>
                <a:chExt cx="303" cy="467"/>
              </a:xfrm>
            </p:grpSpPr>
            <p:sp>
              <p:nvSpPr>
                <p:cNvPr id="79916" name="Freeform 10"/>
                <p:cNvSpPr>
                  <a:spLocks/>
                </p:cNvSpPr>
                <p:nvPr/>
              </p:nvSpPr>
              <p:spPr bwMode="auto">
                <a:xfrm>
                  <a:off x="1822" y="3107"/>
                  <a:ext cx="151" cy="214"/>
                </a:xfrm>
                <a:custGeom>
                  <a:avLst/>
                  <a:gdLst>
                    <a:gd name="T0" fmla="*/ 15 w 151"/>
                    <a:gd name="T1" fmla="*/ 169 h 214"/>
                    <a:gd name="T2" fmla="*/ 17 w 151"/>
                    <a:gd name="T3" fmla="*/ 163 h 214"/>
                    <a:gd name="T4" fmla="*/ 18 w 151"/>
                    <a:gd name="T5" fmla="*/ 153 h 214"/>
                    <a:gd name="T6" fmla="*/ 14 w 151"/>
                    <a:gd name="T7" fmla="*/ 145 h 214"/>
                    <a:gd name="T8" fmla="*/ 14 w 151"/>
                    <a:gd name="T9" fmla="*/ 134 h 214"/>
                    <a:gd name="T10" fmla="*/ 17 w 151"/>
                    <a:gd name="T11" fmla="*/ 113 h 214"/>
                    <a:gd name="T12" fmla="*/ 23 w 151"/>
                    <a:gd name="T13" fmla="*/ 91 h 214"/>
                    <a:gd name="T14" fmla="*/ 32 w 151"/>
                    <a:gd name="T15" fmla="*/ 73 h 214"/>
                    <a:gd name="T16" fmla="*/ 63 w 151"/>
                    <a:gd name="T17" fmla="*/ 27 h 214"/>
                    <a:gd name="T18" fmla="*/ 85 w 151"/>
                    <a:gd name="T19" fmla="*/ 0 h 214"/>
                    <a:gd name="T20" fmla="*/ 81 w 151"/>
                    <a:gd name="T21" fmla="*/ 22 h 214"/>
                    <a:gd name="T22" fmla="*/ 48 w 151"/>
                    <a:gd name="T23" fmla="*/ 75 h 214"/>
                    <a:gd name="T24" fmla="*/ 37 w 151"/>
                    <a:gd name="T25" fmla="*/ 96 h 214"/>
                    <a:gd name="T26" fmla="*/ 35 w 151"/>
                    <a:gd name="T27" fmla="*/ 104 h 214"/>
                    <a:gd name="T28" fmla="*/ 37 w 151"/>
                    <a:gd name="T29" fmla="*/ 107 h 214"/>
                    <a:gd name="T30" fmla="*/ 40 w 151"/>
                    <a:gd name="T31" fmla="*/ 107 h 214"/>
                    <a:gd name="T32" fmla="*/ 44 w 151"/>
                    <a:gd name="T33" fmla="*/ 105 h 214"/>
                    <a:gd name="T34" fmla="*/ 97 w 151"/>
                    <a:gd name="T35" fmla="*/ 25 h 214"/>
                    <a:gd name="T36" fmla="*/ 111 w 151"/>
                    <a:gd name="T37" fmla="*/ 14 h 214"/>
                    <a:gd name="T38" fmla="*/ 63 w 151"/>
                    <a:gd name="T39" fmla="*/ 106 h 214"/>
                    <a:gd name="T40" fmla="*/ 59 w 151"/>
                    <a:gd name="T41" fmla="*/ 114 h 214"/>
                    <a:gd name="T42" fmla="*/ 58 w 151"/>
                    <a:gd name="T43" fmla="*/ 118 h 214"/>
                    <a:gd name="T44" fmla="*/ 64 w 151"/>
                    <a:gd name="T45" fmla="*/ 120 h 214"/>
                    <a:gd name="T46" fmla="*/ 68 w 151"/>
                    <a:gd name="T47" fmla="*/ 116 h 214"/>
                    <a:gd name="T48" fmla="*/ 125 w 151"/>
                    <a:gd name="T49" fmla="*/ 22 h 214"/>
                    <a:gd name="T50" fmla="*/ 91 w 151"/>
                    <a:gd name="T51" fmla="*/ 105 h 214"/>
                    <a:gd name="T52" fmla="*/ 81 w 151"/>
                    <a:gd name="T53" fmla="*/ 126 h 214"/>
                    <a:gd name="T54" fmla="*/ 84 w 151"/>
                    <a:gd name="T55" fmla="*/ 133 h 214"/>
                    <a:gd name="T56" fmla="*/ 87 w 151"/>
                    <a:gd name="T57" fmla="*/ 132 h 214"/>
                    <a:gd name="T58" fmla="*/ 91 w 151"/>
                    <a:gd name="T59" fmla="*/ 127 h 214"/>
                    <a:gd name="T60" fmla="*/ 130 w 151"/>
                    <a:gd name="T61" fmla="*/ 60 h 214"/>
                    <a:gd name="T62" fmla="*/ 150 w 151"/>
                    <a:gd name="T63" fmla="*/ 36 h 214"/>
                    <a:gd name="T64" fmla="*/ 138 w 151"/>
                    <a:gd name="T65" fmla="*/ 68 h 214"/>
                    <a:gd name="T66" fmla="*/ 122 w 151"/>
                    <a:gd name="T67" fmla="*/ 105 h 214"/>
                    <a:gd name="T68" fmla="*/ 105 w 151"/>
                    <a:gd name="T69" fmla="*/ 132 h 214"/>
                    <a:gd name="T70" fmla="*/ 97 w 151"/>
                    <a:gd name="T71" fmla="*/ 145 h 214"/>
                    <a:gd name="T72" fmla="*/ 81 w 151"/>
                    <a:gd name="T73" fmla="*/ 159 h 214"/>
                    <a:gd name="T74" fmla="*/ 67 w 151"/>
                    <a:gd name="T75" fmla="*/ 167 h 214"/>
                    <a:gd name="T76" fmla="*/ 57 w 151"/>
                    <a:gd name="T77" fmla="*/ 171 h 214"/>
                    <a:gd name="T78" fmla="*/ 47 w 151"/>
                    <a:gd name="T79" fmla="*/ 175 h 214"/>
                    <a:gd name="T80" fmla="*/ 44 w 151"/>
                    <a:gd name="T81" fmla="*/ 179 h 214"/>
                    <a:gd name="T82" fmla="*/ 13 w 151"/>
                    <a:gd name="T83" fmla="*/ 213 h 21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151"/>
                    <a:gd name="T127" fmla="*/ 0 h 214"/>
                    <a:gd name="T128" fmla="*/ 151 w 151"/>
                    <a:gd name="T129" fmla="*/ 214 h 214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151" h="214">
                      <a:moveTo>
                        <a:pt x="0" y="195"/>
                      </a:moveTo>
                      <a:lnTo>
                        <a:pt x="15" y="169"/>
                      </a:lnTo>
                      <a:lnTo>
                        <a:pt x="16" y="165"/>
                      </a:lnTo>
                      <a:lnTo>
                        <a:pt x="17" y="163"/>
                      </a:lnTo>
                      <a:lnTo>
                        <a:pt x="18" y="160"/>
                      </a:lnTo>
                      <a:lnTo>
                        <a:pt x="18" y="153"/>
                      </a:lnTo>
                      <a:lnTo>
                        <a:pt x="15" y="149"/>
                      </a:lnTo>
                      <a:lnTo>
                        <a:pt x="14" y="145"/>
                      </a:lnTo>
                      <a:lnTo>
                        <a:pt x="13" y="141"/>
                      </a:lnTo>
                      <a:lnTo>
                        <a:pt x="14" y="134"/>
                      </a:lnTo>
                      <a:lnTo>
                        <a:pt x="14" y="129"/>
                      </a:lnTo>
                      <a:lnTo>
                        <a:pt x="17" y="113"/>
                      </a:lnTo>
                      <a:lnTo>
                        <a:pt x="19" y="103"/>
                      </a:lnTo>
                      <a:lnTo>
                        <a:pt x="23" y="91"/>
                      </a:lnTo>
                      <a:lnTo>
                        <a:pt x="28" y="79"/>
                      </a:lnTo>
                      <a:lnTo>
                        <a:pt x="32" y="73"/>
                      </a:lnTo>
                      <a:lnTo>
                        <a:pt x="50" y="44"/>
                      </a:lnTo>
                      <a:lnTo>
                        <a:pt x="63" y="27"/>
                      </a:lnTo>
                      <a:lnTo>
                        <a:pt x="77" y="10"/>
                      </a:lnTo>
                      <a:lnTo>
                        <a:pt x="85" y="0"/>
                      </a:lnTo>
                      <a:lnTo>
                        <a:pt x="92" y="4"/>
                      </a:lnTo>
                      <a:lnTo>
                        <a:pt x="81" y="22"/>
                      </a:lnTo>
                      <a:lnTo>
                        <a:pt x="62" y="52"/>
                      </a:lnTo>
                      <a:lnTo>
                        <a:pt x="48" y="75"/>
                      </a:lnTo>
                      <a:lnTo>
                        <a:pt x="41" y="88"/>
                      </a:lnTo>
                      <a:lnTo>
                        <a:pt x="37" y="96"/>
                      </a:lnTo>
                      <a:lnTo>
                        <a:pt x="35" y="100"/>
                      </a:lnTo>
                      <a:lnTo>
                        <a:pt x="35" y="104"/>
                      </a:lnTo>
                      <a:lnTo>
                        <a:pt x="35" y="105"/>
                      </a:lnTo>
                      <a:lnTo>
                        <a:pt x="37" y="107"/>
                      </a:lnTo>
                      <a:lnTo>
                        <a:pt x="39" y="108"/>
                      </a:lnTo>
                      <a:lnTo>
                        <a:pt x="40" y="107"/>
                      </a:lnTo>
                      <a:lnTo>
                        <a:pt x="42" y="107"/>
                      </a:lnTo>
                      <a:lnTo>
                        <a:pt x="44" y="105"/>
                      </a:lnTo>
                      <a:lnTo>
                        <a:pt x="78" y="53"/>
                      </a:lnTo>
                      <a:lnTo>
                        <a:pt x="97" y="25"/>
                      </a:lnTo>
                      <a:lnTo>
                        <a:pt x="105" y="11"/>
                      </a:lnTo>
                      <a:lnTo>
                        <a:pt x="111" y="14"/>
                      </a:lnTo>
                      <a:lnTo>
                        <a:pt x="88" y="59"/>
                      </a:lnTo>
                      <a:lnTo>
                        <a:pt x="63" y="106"/>
                      </a:lnTo>
                      <a:lnTo>
                        <a:pt x="59" y="112"/>
                      </a:lnTo>
                      <a:lnTo>
                        <a:pt x="59" y="114"/>
                      </a:lnTo>
                      <a:lnTo>
                        <a:pt x="58" y="117"/>
                      </a:lnTo>
                      <a:lnTo>
                        <a:pt x="58" y="118"/>
                      </a:lnTo>
                      <a:lnTo>
                        <a:pt x="63" y="120"/>
                      </a:lnTo>
                      <a:lnTo>
                        <a:pt x="64" y="120"/>
                      </a:lnTo>
                      <a:lnTo>
                        <a:pt x="66" y="118"/>
                      </a:lnTo>
                      <a:lnTo>
                        <a:pt x="68" y="116"/>
                      </a:lnTo>
                      <a:lnTo>
                        <a:pt x="68" y="115"/>
                      </a:lnTo>
                      <a:lnTo>
                        <a:pt x="125" y="22"/>
                      </a:lnTo>
                      <a:lnTo>
                        <a:pt x="131" y="26"/>
                      </a:lnTo>
                      <a:lnTo>
                        <a:pt x="91" y="105"/>
                      </a:lnTo>
                      <a:lnTo>
                        <a:pt x="83" y="124"/>
                      </a:lnTo>
                      <a:lnTo>
                        <a:pt x="81" y="126"/>
                      </a:lnTo>
                      <a:lnTo>
                        <a:pt x="81" y="131"/>
                      </a:lnTo>
                      <a:lnTo>
                        <a:pt x="84" y="133"/>
                      </a:lnTo>
                      <a:lnTo>
                        <a:pt x="85" y="133"/>
                      </a:lnTo>
                      <a:lnTo>
                        <a:pt x="87" y="132"/>
                      </a:lnTo>
                      <a:lnTo>
                        <a:pt x="88" y="130"/>
                      </a:lnTo>
                      <a:lnTo>
                        <a:pt x="91" y="127"/>
                      </a:lnTo>
                      <a:lnTo>
                        <a:pt x="110" y="96"/>
                      </a:lnTo>
                      <a:lnTo>
                        <a:pt x="130" y="60"/>
                      </a:lnTo>
                      <a:lnTo>
                        <a:pt x="143" y="32"/>
                      </a:lnTo>
                      <a:lnTo>
                        <a:pt x="150" y="36"/>
                      </a:lnTo>
                      <a:lnTo>
                        <a:pt x="145" y="48"/>
                      </a:lnTo>
                      <a:lnTo>
                        <a:pt x="138" y="68"/>
                      </a:lnTo>
                      <a:lnTo>
                        <a:pt x="131" y="87"/>
                      </a:lnTo>
                      <a:lnTo>
                        <a:pt x="122" y="105"/>
                      </a:lnTo>
                      <a:lnTo>
                        <a:pt x="111" y="126"/>
                      </a:lnTo>
                      <a:lnTo>
                        <a:pt x="105" y="132"/>
                      </a:lnTo>
                      <a:lnTo>
                        <a:pt x="101" y="140"/>
                      </a:lnTo>
                      <a:lnTo>
                        <a:pt x="97" y="145"/>
                      </a:lnTo>
                      <a:lnTo>
                        <a:pt x="89" y="152"/>
                      </a:lnTo>
                      <a:lnTo>
                        <a:pt x="81" y="159"/>
                      </a:lnTo>
                      <a:lnTo>
                        <a:pt x="73" y="164"/>
                      </a:lnTo>
                      <a:lnTo>
                        <a:pt x="67" y="167"/>
                      </a:lnTo>
                      <a:lnTo>
                        <a:pt x="59" y="171"/>
                      </a:lnTo>
                      <a:lnTo>
                        <a:pt x="57" y="171"/>
                      </a:lnTo>
                      <a:lnTo>
                        <a:pt x="54" y="173"/>
                      </a:lnTo>
                      <a:lnTo>
                        <a:pt x="47" y="175"/>
                      </a:lnTo>
                      <a:lnTo>
                        <a:pt x="46" y="176"/>
                      </a:lnTo>
                      <a:lnTo>
                        <a:pt x="44" y="179"/>
                      </a:lnTo>
                      <a:lnTo>
                        <a:pt x="25" y="210"/>
                      </a:lnTo>
                      <a:lnTo>
                        <a:pt x="13" y="213"/>
                      </a:lnTo>
                      <a:lnTo>
                        <a:pt x="0" y="195"/>
                      </a:lnTo>
                    </a:path>
                  </a:pathLst>
                </a:custGeom>
                <a:solidFill>
                  <a:srgbClr val="FFFFFF"/>
                </a:solidFill>
                <a:ln w="127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79917" name="Freeform 11"/>
                <p:cNvSpPr>
                  <a:spLocks/>
                </p:cNvSpPr>
                <p:nvPr/>
              </p:nvSpPr>
              <p:spPr bwMode="auto">
                <a:xfrm>
                  <a:off x="1670" y="3301"/>
                  <a:ext cx="179" cy="273"/>
                </a:xfrm>
                <a:custGeom>
                  <a:avLst/>
                  <a:gdLst>
                    <a:gd name="T0" fmla="*/ 151 w 179"/>
                    <a:gd name="T1" fmla="*/ 0 h 273"/>
                    <a:gd name="T2" fmla="*/ 132 w 179"/>
                    <a:gd name="T3" fmla="*/ 29 h 273"/>
                    <a:gd name="T4" fmla="*/ 94 w 179"/>
                    <a:gd name="T5" fmla="*/ 81 h 273"/>
                    <a:gd name="T6" fmla="*/ 65 w 179"/>
                    <a:gd name="T7" fmla="*/ 118 h 273"/>
                    <a:gd name="T8" fmla="*/ 42 w 179"/>
                    <a:gd name="T9" fmla="*/ 156 h 273"/>
                    <a:gd name="T10" fmla="*/ 20 w 179"/>
                    <a:gd name="T11" fmla="*/ 194 h 273"/>
                    <a:gd name="T12" fmla="*/ 10 w 179"/>
                    <a:gd name="T13" fmla="*/ 221 h 273"/>
                    <a:gd name="T14" fmla="*/ 1 w 179"/>
                    <a:gd name="T15" fmla="*/ 243 h 273"/>
                    <a:gd name="T16" fmla="*/ 0 w 179"/>
                    <a:gd name="T17" fmla="*/ 253 h 273"/>
                    <a:gd name="T18" fmla="*/ 0 w 179"/>
                    <a:gd name="T19" fmla="*/ 261 h 273"/>
                    <a:gd name="T20" fmla="*/ 3 w 179"/>
                    <a:gd name="T21" fmla="*/ 266 h 273"/>
                    <a:gd name="T22" fmla="*/ 11 w 179"/>
                    <a:gd name="T23" fmla="*/ 271 h 273"/>
                    <a:gd name="T24" fmla="*/ 16 w 179"/>
                    <a:gd name="T25" fmla="*/ 272 h 273"/>
                    <a:gd name="T26" fmla="*/ 23 w 179"/>
                    <a:gd name="T27" fmla="*/ 269 h 273"/>
                    <a:gd name="T28" fmla="*/ 30 w 179"/>
                    <a:gd name="T29" fmla="*/ 264 h 273"/>
                    <a:gd name="T30" fmla="*/ 45 w 179"/>
                    <a:gd name="T31" fmla="*/ 250 h 273"/>
                    <a:gd name="T32" fmla="*/ 70 w 179"/>
                    <a:gd name="T33" fmla="*/ 218 h 273"/>
                    <a:gd name="T34" fmla="*/ 94 w 179"/>
                    <a:gd name="T35" fmla="*/ 185 h 273"/>
                    <a:gd name="T36" fmla="*/ 121 w 179"/>
                    <a:gd name="T37" fmla="*/ 134 h 273"/>
                    <a:gd name="T38" fmla="*/ 153 w 179"/>
                    <a:gd name="T39" fmla="*/ 65 h 273"/>
                    <a:gd name="T40" fmla="*/ 169 w 179"/>
                    <a:gd name="T41" fmla="*/ 31 h 273"/>
                    <a:gd name="T42" fmla="*/ 178 w 179"/>
                    <a:gd name="T43" fmla="*/ 15 h 273"/>
                    <a:gd name="T44" fmla="*/ 151 w 179"/>
                    <a:gd name="T45" fmla="*/ 0 h 27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179"/>
                    <a:gd name="T70" fmla="*/ 0 h 273"/>
                    <a:gd name="T71" fmla="*/ 179 w 179"/>
                    <a:gd name="T72" fmla="*/ 273 h 273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179" h="273">
                      <a:moveTo>
                        <a:pt x="151" y="0"/>
                      </a:moveTo>
                      <a:lnTo>
                        <a:pt x="132" y="29"/>
                      </a:lnTo>
                      <a:lnTo>
                        <a:pt x="94" y="81"/>
                      </a:lnTo>
                      <a:lnTo>
                        <a:pt x="65" y="118"/>
                      </a:lnTo>
                      <a:lnTo>
                        <a:pt x="42" y="156"/>
                      </a:lnTo>
                      <a:lnTo>
                        <a:pt x="20" y="194"/>
                      </a:lnTo>
                      <a:lnTo>
                        <a:pt x="10" y="221"/>
                      </a:lnTo>
                      <a:lnTo>
                        <a:pt x="1" y="243"/>
                      </a:lnTo>
                      <a:lnTo>
                        <a:pt x="0" y="253"/>
                      </a:lnTo>
                      <a:lnTo>
                        <a:pt x="0" y="261"/>
                      </a:lnTo>
                      <a:lnTo>
                        <a:pt x="3" y="266"/>
                      </a:lnTo>
                      <a:lnTo>
                        <a:pt x="11" y="271"/>
                      </a:lnTo>
                      <a:lnTo>
                        <a:pt x="16" y="272"/>
                      </a:lnTo>
                      <a:lnTo>
                        <a:pt x="23" y="269"/>
                      </a:lnTo>
                      <a:lnTo>
                        <a:pt x="30" y="264"/>
                      </a:lnTo>
                      <a:lnTo>
                        <a:pt x="45" y="250"/>
                      </a:lnTo>
                      <a:lnTo>
                        <a:pt x="70" y="218"/>
                      </a:lnTo>
                      <a:lnTo>
                        <a:pt x="94" y="185"/>
                      </a:lnTo>
                      <a:lnTo>
                        <a:pt x="121" y="134"/>
                      </a:lnTo>
                      <a:lnTo>
                        <a:pt x="153" y="65"/>
                      </a:lnTo>
                      <a:lnTo>
                        <a:pt x="169" y="31"/>
                      </a:lnTo>
                      <a:lnTo>
                        <a:pt x="178" y="15"/>
                      </a:lnTo>
                      <a:lnTo>
                        <a:pt x="15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79918" name="Freeform 12"/>
                <p:cNvSpPr>
                  <a:spLocks/>
                </p:cNvSpPr>
                <p:nvPr/>
              </p:nvSpPr>
              <p:spPr bwMode="auto">
                <a:xfrm>
                  <a:off x="1803" y="3301"/>
                  <a:ext cx="46" cy="44"/>
                </a:xfrm>
                <a:custGeom>
                  <a:avLst/>
                  <a:gdLst>
                    <a:gd name="T0" fmla="*/ 18 w 46"/>
                    <a:gd name="T1" fmla="*/ 0 h 44"/>
                    <a:gd name="T2" fmla="*/ 11 w 46"/>
                    <a:gd name="T3" fmla="*/ 9 h 44"/>
                    <a:gd name="T4" fmla="*/ 5 w 46"/>
                    <a:gd name="T5" fmla="*/ 18 h 44"/>
                    <a:gd name="T6" fmla="*/ 0 w 46"/>
                    <a:gd name="T7" fmla="*/ 26 h 44"/>
                    <a:gd name="T8" fmla="*/ 31 w 46"/>
                    <a:gd name="T9" fmla="*/ 43 h 44"/>
                    <a:gd name="T10" fmla="*/ 35 w 46"/>
                    <a:gd name="T11" fmla="*/ 35 h 44"/>
                    <a:gd name="T12" fmla="*/ 42 w 46"/>
                    <a:gd name="T13" fmla="*/ 20 h 44"/>
                    <a:gd name="T14" fmla="*/ 45 w 46"/>
                    <a:gd name="T15" fmla="*/ 15 h 44"/>
                    <a:gd name="T16" fmla="*/ 18 w 46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46"/>
                    <a:gd name="T28" fmla="*/ 0 h 44"/>
                    <a:gd name="T29" fmla="*/ 46 w 46"/>
                    <a:gd name="T30" fmla="*/ 44 h 4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46" h="44">
                      <a:moveTo>
                        <a:pt x="18" y="0"/>
                      </a:moveTo>
                      <a:lnTo>
                        <a:pt x="11" y="9"/>
                      </a:lnTo>
                      <a:lnTo>
                        <a:pt x="5" y="18"/>
                      </a:lnTo>
                      <a:lnTo>
                        <a:pt x="0" y="26"/>
                      </a:lnTo>
                      <a:lnTo>
                        <a:pt x="31" y="43"/>
                      </a:lnTo>
                      <a:lnTo>
                        <a:pt x="35" y="35"/>
                      </a:lnTo>
                      <a:lnTo>
                        <a:pt x="42" y="20"/>
                      </a:lnTo>
                      <a:lnTo>
                        <a:pt x="45" y="15"/>
                      </a:lnTo>
                      <a:lnTo>
                        <a:pt x="18" y="0"/>
                      </a:lnTo>
                    </a:path>
                  </a:pathLst>
                </a:custGeom>
                <a:solidFill>
                  <a:srgbClr val="FFFFFF"/>
                </a:solidFill>
                <a:ln w="1270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79879" name="Oval 13"/>
            <p:cNvSpPr>
              <a:spLocks noChangeArrowheads="1"/>
            </p:cNvSpPr>
            <p:nvPr/>
          </p:nvSpPr>
          <p:spPr bwMode="auto">
            <a:xfrm>
              <a:off x="2844" y="1252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9880" name="Oval 14"/>
            <p:cNvSpPr>
              <a:spLocks noChangeArrowheads="1"/>
            </p:cNvSpPr>
            <p:nvPr/>
          </p:nvSpPr>
          <p:spPr bwMode="auto">
            <a:xfrm>
              <a:off x="2936" y="1343"/>
              <a:ext cx="357" cy="3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9881" name="Group 15"/>
            <p:cNvGrpSpPr>
              <a:grpSpLocks/>
            </p:cNvGrpSpPr>
            <p:nvPr/>
          </p:nvGrpSpPr>
          <p:grpSpPr bwMode="auto">
            <a:xfrm>
              <a:off x="3516" y="1336"/>
              <a:ext cx="97" cy="518"/>
              <a:chOff x="3168" y="1336"/>
              <a:chExt cx="97" cy="518"/>
            </a:xfrm>
          </p:grpSpPr>
          <p:sp>
            <p:nvSpPr>
              <p:cNvPr id="79910" name="Freeform 16"/>
              <p:cNvSpPr>
                <a:spLocks/>
              </p:cNvSpPr>
              <p:nvPr/>
            </p:nvSpPr>
            <p:spPr bwMode="auto">
              <a:xfrm>
                <a:off x="3168" y="1631"/>
                <a:ext cx="97" cy="223"/>
              </a:xfrm>
              <a:custGeom>
                <a:avLst/>
                <a:gdLst>
                  <a:gd name="T0" fmla="*/ 65 w 97"/>
                  <a:gd name="T1" fmla="*/ 39 h 223"/>
                  <a:gd name="T2" fmla="*/ 67 w 97"/>
                  <a:gd name="T3" fmla="*/ 46 h 223"/>
                  <a:gd name="T4" fmla="*/ 69 w 97"/>
                  <a:gd name="T5" fmla="*/ 54 h 223"/>
                  <a:gd name="T6" fmla="*/ 77 w 97"/>
                  <a:gd name="T7" fmla="*/ 60 h 223"/>
                  <a:gd name="T8" fmla="*/ 83 w 97"/>
                  <a:gd name="T9" fmla="*/ 71 h 223"/>
                  <a:gd name="T10" fmla="*/ 89 w 97"/>
                  <a:gd name="T11" fmla="*/ 90 h 223"/>
                  <a:gd name="T12" fmla="*/ 95 w 97"/>
                  <a:gd name="T13" fmla="*/ 112 h 223"/>
                  <a:gd name="T14" fmla="*/ 95 w 97"/>
                  <a:gd name="T15" fmla="*/ 131 h 223"/>
                  <a:gd name="T16" fmla="*/ 90 w 97"/>
                  <a:gd name="T17" fmla="*/ 188 h 223"/>
                  <a:gd name="T18" fmla="*/ 83 w 97"/>
                  <a:gd name="T19" fmla="*/ 222 h 223"/>
                  <a:gd name="T20" fmla="*/ 76 w 97"/>
                  <a:gd name="T21" fmla="*/ 200 h 223"/>
                  <a:gd name="T22" fmla="*/ 80 w 97"/>
                  <a:gd name="T23" fmla="*/ 138 h 223"/>
                  <a:gd name="T24" fmla="*/ 81 w 97"/>
                  <a:gd name="T25" fmla="*/ 114 h 223"/>
                  <a:gd name="T26" fmla="*/ 78 w 97"/>
                  <a:gd name="T27" fmla="*/ 107 h 223"/>
                  <a:gd name="T28" fmla="*/ 75 w 97"/>
                  <a:gd name="T29" fmla="*/ 105 h 223"/>
                  <a:gd name="T30" fmla="*/ 72 w 97"/>
                  <a:gd name="T31" fmla="*/ 106 h 223"/>
                  <a:gd name="T32" fmla="*/ 70 w 97"/>
                  <a:gd name="T33" fmla="*/ 110 h 223"/>
                  <a:gd name="T34" fmla="*/ 61 w 97"/>
                  <a:gd name="T35" fmla="*/ 205 h 223"/>
                  <a:gd name="T36" fmla="*/ 53 w 97"/>
                  <a:gd name="T37" fmla="*/ 221 h 223"/>
                  <a:gd name="T38" fmla="*/ 53 w 97"/>
                  <a:gd name="T39" fmla="*/ 117 h 223"/>
                  <a:gd name="T40" fmla="*/ 52 w 97"/>
                  <a:gd name="T41" fmla="*/ 109 h 223"/>
                  <a:gd name="T42" fmla="*/ 51 w 97"/>
                  <a:gd name="T43" fmla="*/ 105 h 223"/>
                  <a:gd name="T44" fmla="*/ 46 w 97"/>
                  <a:gd name="T45" fmla="*/ 106 h 223"/>
                  <a:gd name="T46" fmla="*/ 44 w 97"/>
                  <a:gd name="T47" fmla="*/ 111 h 223"/>
                  <a:gd name="T48" fmla="*/ 29 w 97"/>
                  <a:gd name="T49" fmla="*/ 220 h 223"/>
                  <a:gd name="T50" fmla="*/ 27 w 97"/>
                  <a:gd name="T51" fmla="*/ 111 h 223"/>
                  <a:gd name="T52" fmla="*/ 25 w 97"/>
                  <a:gd name="T53" fmla="*/ 103 h 223"/>
                  <a:gd name="T54" fmla="*/ 20 w 97"/>
                  <a:gd name="T55" fmla="*/ 105 h 223"/>
                  <a:gd name="T56" fmla="*/ 19 w 97"/>
                  <a:gd name="T57" fmla="*/ 108 h 223"/>
                  <a:gd name="T58" fmla="*/ 16 w 97"/>
                  <a:gd name="T59" fmla="*/ 149 h 223"/>
                  <a:gd name="T60" fmla="*/ 16 w 97"/>
                  <a:gd name="T61" fmla="*/ 220 h 223"/>
                  <a:gd name="T62" fmla="*/ 7 w 97"/>
                  <a:gd name="T63" fmla="*/ 207 h 223"/>
                  <a:gd name="T64" fmla="*/ 1 w 97"/>
                  <a:gd name="T65" fmla="*/ 166 h 223"/>
                  <a:gd name="T66" fmla="*/ 1 w 97"/>
                  <a:gd name="T67" fmla="*/ 123 h 223"/>
                  <a:gd name="T68" fmla="*/ 4 w 97"/>
                  <a:gd name="T69" fmla="*/ 106 h 223"/>
                  <a:gd name="T70" fmla="*/ 8 w 97"/>
                  <a:gd name="T71" fmla="*/ 90 h 223"/>
                  <a:gd name="T72" fmla="*/ 16 w 97"/>
                  <a:gd name="T73" fmla="*/ 71 h 223"/>
                  <a:gd name="T74" fmla="*/ 26 w 97"/>
                  <a:gd name="T75" fmla="*/ 58 h 223"/>
                  <a:gd name="T76" fmla="*/ 29 w 97"/>
                  <a:gd name="T77" fmla="*/ 54 h 223"/>
                  <a:gd name="T78" fmla="*/ 35 w 97"/>
                  <a:gd name="T79" fmla="*/ 48 h 223"/>
                  <a:gd name="T80" fmla="*/ 37 w 97"/>
                  <a:gd name="T81" fmla="*/ 8 h 223"/>
                  <a:gd name="T82" fmla="*/ 67 w 97"/>
                  <a:gd name="T83" fmla="*/ 9 h 22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7"/>
                  <a:gd name="T127" fmla="*/ 0 h 223"/>
                  <a:gd name="T128" fmla="*/ 97 w 97"/>
                  <a:gd name="T129" fmla="*/ 223 h 223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7" h="223">
                    <a:moveTo>
                      <a:pt x="67" y="9"/>
                    </a:moveTo>
                    <a:lnTo>
                      <a:pt x="65" y="39"/>
                    </a:lnTo>
                    <a:lnTo>
                      <a:pt x="67" y="44"/>
                    </a:lnTo>
                    <a:lnTo>
                      <a:pt x="67" y="46"/>
                    </a:lnTo>
                    <a:lnTo>
                      <a:pt x="67" y="49"/>
                    </a:lnTo>
                    <a:lnTo>
                      <a:pt x="69" y="54"/>
                    </a:lnTo>
                    <a:lnTo>
                      <a:pt x="74" y="57"/>
                    </a:lnTo>
                    <a:lnTo>
                      <a:pt x="77" y="60"/>
                    </a:lnTo>
                    <a:lnTo>
                      <a:pt x="81" y="64"/>
                    </a:lnTo>
                    <a:lnTo>
                      <a:pt x="83" y="71"/>
                    </a:lnTo>
                    <a:lnTo>
                      <a:pt x="85" y="74"/>
                    </a:lnTo>
                    <a:lnTo>
                      <a:pt x="89" y="90"/>
                    </a:lnTo>
                    <a:lnTo>
                      <a:pt x="92" y="100"/>
                    </a:lnTo>
                    <a:lnTo>
                      <a:pt x="95" y="112"/>
                    </a:lnTo>
                    <a:lnTo>
                      <a:pt x="96" y="126"/>
                    </a:lnTo>
                    <a:lnTo>
                      <a:pt x="95" y="131"/>
                    </a:lnTo>
                    <a:lnTo>
                      <a:pt x="92" y="167"/>
                    </a:lnTo>
                    <a:lnTo>
                      <a:pt x="90" y="188"/>
                    </a:lnTo>
                    <a:lnTo>
                      <a:pt x="86" y="209"/>
                    </a:lnTo>
                    <a:lnTo>
                      <a:pt x="83" y="222"/>
                    </a:lnTo>
                    <a:lnTo>
                      <a:pt x="74" y="222"/>
                    </a:lnTo>
                    <a:lnTo>
                      <a:pt x="76" y="200"/>
                    </a:lnTo>
                    <a:lnTo>
                      <a:pt x="79" y="165"/>
                    </a:lnTo>
                    <a:lnTo>
                      <a:pt x="80" y="138"/>
                    </a:lnTo>
                    <a:lnTo>
                      <a:pt x="80" y="123"/>
                    </a:lnTo>
                    <a:lnTo>
                      <a:pt x="81" y="114"/>
                    </a:lnTo>
                    <a:lnTo>
                      <a:pt x="80" y="111"/>
                    </a:lnTo>
                    <a:lnTo>
                      <a:pt x="78" y="107"/>
                    </a:lnTo>
                    <a:lnTo>
                      <a:pt x="77" y="106"/>
                    </a:lnTo>
                    <a:lnTo>
                      <a:pt x="75" y="105"/>
                    </a:lnTo>
                    <a:lnTo>
                      <a:pt x="73" y="105"/>
                    </a:lnTo>
                    <a:lnTo>
                      <a:pt x="72" y="106"/>
                    </a:lnTo>
                    <a:lnTo>
                      <a:pt x="70" y="107"/>
                    </a:lnTo>
                    <a:lnTo>
                      <a:pt x="70" y="110"/>
                    </a:lnTo>
                    <a:lnTo>
                      <a:pt x="65" y="172"/>
                    </a:lnTo>
                    <a:lnTo>
                      <a:pt x="61" y="205"/>
                    </a:lnTo>
                    <a:lnTo>
                      <a:pt x="59" y="222"/>
                    </a:lnTo>
                    <a:lnTo>
                      <a:pt x="53" y="221"/>
                    </a:lnTo>
                    <a:lnTo>
                      <a:pt x="52" y="172"/>
                    </a:lnTo>
                    <a:lnTo>
                      <a:pt x="53" y="117"/>
                    </a:lnTo>
                    <a:lnTo>
                      <a:pt x="53" y="111"/>
                    </a:lnTo>
                    <a:lnTo>
                      <a:pt x="52" y="109"/>
                    </a:lnTo>
                    <a:lnTo>
                      <a:pt x="51" y="106"/>
                    </a:lnTo>
                    <a:lnTo>
                      <a:pt x="51" y="105"/>
                    </a:lnTo>
                    <a:lnTo>
                      <a:pt x="47" y="105"/>
                    </a:lnTo>
                    <a:lnTo>
                      <a:pt x="46" y="106"/>
                    </a:lnTo>
                    <a:lnTo>
                      <a:pt x="45" y="109"/>
                    </a:lnTo>
                    <a:lnTo>
                      <a:pt x="44" y="111"/>
                    </a:lnTo>
                    <a:lnTo>
                      <a:pt x="37" y="221"/>
                    </a:lnTo>
                    <a:lnTo>
                      <a:pt x="29" y="220"/>
                    </a:lnTo>
                    <a:lnTo>
                      <a:pt x="28" y="132"/>
                    </a:lnTo>
                    <a:lnTo>
                      <a:pt x="27" y="111"/>
                    </a:lnTo>
                    <a:lnTo>
                      <a:pt x="28" y="108"/>
                    </a:lnTo>
                    <a:lnTo>
                      <a:pt x="25" y="103"/>
                    </a:lnTo>
                    <a:lnTo>
                      <a:pt x="21" y="104"/>
                    </a:lnTo>
                    <a:lnTo>
                      <a:pt x="20" y="105"/>
                    </a:lnTo>
                    <a:lnTo>
                      <a:pt x="19" y="107"/>
                    </a:lnTo>
                    <a:lnTo>
                      <a:pt x="19" y="108"/>
                    </a:lnTo>
                    <a:lnTo>
                      <a:pt x="17" y="112"/>
                    </a:lnTo>
                    <a:lnTo>
                      <a:pt x="16" y="149"/>
                    </a:lnTo>
                    <a:lnTo>
                      <a:pt x="14" y="191"/>
                    </a:lnTo>
                    <a:lnTo>
                      <a:pt x="16" y="220"/>
                    </a:lnTo>
                    <a:lnTo>
                      <a:pt x="9" y="221"/>
                    </a:lnTo>
                    <a:lnTo>
                      <a:pt x="7" y="207"/>
                    </a:lnTo>
                    <a:lnTo>
                      <a:pt x="4" y="187"/>
                    </a:lnTo>
                    <a:lnTo>
                      <a:pt x="1" y="166"/>
                    </a:lnTo>
                    <a:lnTo>
                      <a:pt x="0" y="147"/>
                    </a:lnTo>
                    <a:lnTo>
                      <a:pt x="1" y="123"/>
                    </a:lnTo>
                    <a:lnTo>
                      <a:pt x="3" y="115"/>
                    </a:lnTo>
                    <a:lnTo>
                      <a:pt x="4" y="106"/>
                    </a:lnTo>
                    <a:lnTo>
                      <a:pt x="5" y="99"/>
                    </a:lnTo>
                    <a:lnTo>
                      <a:pt x="8" y="90"/>
                    </a:lnTo>
                    <a:lnTo>
                      <a:pt x="12" y="79"/>
                    </a:lnTo>
                    <a:lnTo>
                      <a:pt x="16" y="71"/>
                    </a:lnTo>
                    <a:lnTo>
                      <a:pt x="19" y="66"/>
                    </a:lnTo>
                    <a:lnTo>
                      <a:pt x="26" y="58"/>
                    </a:lnTo>
                    <a:lnTo>
                      <a:pt x="28" y="57"/>
                    </a:lnTo>
                    <a:lnTo>
                      <a:pt x="29" y="54"/>
                    </a:lnTo>
                    <a:lnTo>
                      <a:pt x="34" y="50"/>
                    </a:lnTo>
                    <a:lnTo>
                      <a:pt x="35" y="48"/>
                    </a:lnTo>
                    <a:lnTo>
                      <a:pt x="36" y="44"/>
                    </a:lnTo>
                    <a:lnTo>
                      <a:pt x="37" y="8"/>
                    </a:lnTo>
                    <a:lnTo>
                      <a:pt x="47" y="0"/>
                    </a:lnTo>
                    <a:lnTo>
                      <a:pt x="67" y="9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11" name="Freeform 17"/>
              <p:cNvSpPr>
                <a:spLocks/>
              </p:cNvSpPr>
              <p:nvPr/>
            </p:nvSpPr>
            <p:spPr bwMode="auto">
              <a:xfrm>
                <a:off x="3200" y="1336"/>
                <a:ext cx="62" cy="306"/>
              </a:xfrm>
              <a:custGeom>
                <a:avLst/>
                <a:gdLst>
                  <a:gd name="T0" fmla="*/ 36 w 62"/>
                  <a:gd name="T1" fmla="*/ 305 h 306"/>
                  <a:gd name="T2" fmla="*/ 40 w 62"/>
                  <a:gd name="T3" fmla="*/ 271 h 306"/>
                  <a:gd name="T4" fmla="*/ 49 w 62"/>
                  <a:gd name="T5" fmla="*/ 207 h 306"/>
                  <a:gd name="T6" fmla="*/ 57 w 62"/>
                  <a:gd name="T7" fmla="*/ 160 h 306"/>
                  <a:gd name="T8" fmla="*/ 60 w 62"/>
                  <a:gd name="T9" fmla="*/ 116 h 306"/>
                  <a:gd name="T10" fmla="*/ 61 w 62"/>
                  <a:gd name="T11" fmla="*/ 71 h 306"/>
                  <a:gd name="T12" fmla="*/ 58 w 62"/>
                  <a:gd name="T13" fmla="*/ 43 h 306"/>
                  <a:gd name="T14" fmla="*/ 55 w 62"/>
                  <a:gd name="T15" fmla="*/ 20 h 306"/>
                  <a:gd name="T16" fmla="*/ 51 w 62"/>
                  <a:gd name="T17" fmla="*/ 10 h 306"/>
                  <a:gd name="T18" fmla="*/ 47 w 62"/>
                  <a:gd name="T19" fmla="*/ 3 h 306"/>
                  <a:gd name="T20" fmla="*/ 42 w 62"/>
                  <a:gd name="T21" fmla="*/ 0 h 306"/>
                  <a:gd name="T22" fmla="*/ 32 w 62"/>
                  <a:gd name="T23" fmla="*/ 0 h 306"/>
                  <a:gd name="T24" fmla="*/ 28 w 62"/>
                  <a:gd name="T25" fmla="*/ 1 h 306"/>
                  <a:gd name="T26" fmla="*/ 23 w 62"/>
                  <a:gd name="T27" fmla="*/ 7 h 306"/>
                  <a:gd name="T28" fmla="*/ 18 w 62"/>
                  <a:gd name="T29" fmla="*/ 14 h 306"/>
                  <a:gd name="T30" fmla="*/ 12 w 62"/>
                  <a:gd name="T31" fmla="*/ 33 h 306"/>
                  <a:gd name="T32" fmla="*/ 5 w 62"/>
                  <a:gd name="T33" fmla="*/ 74 h 306"/>
                  <a:gd name="T34" fmla="*/ 0 w 62"/>
                  <a:gd name="T35" fmla="*/ 115 h 306"/>
                  <a:gd name="T36" fmla="*/ 0 w 62"/>
                  <a:gd name="T37" fmla="*/ 173 h 306"/>
                  <a:gd name="T38" fmla="*/ 4 w 62"/>
                  <a:gd name="T39" fmla="*/ 248 h 306"/>
                  <a:gd name="T40" fmla="*/ 6 w 62"/>
                  <a:gd name="T41" fmla="*/ 286 h 306"/>
                  <a:gd name="T42" fmla="*/ 6 w 62"/>
                  <a:gd name="T43" fmla="*/ 304 h 306"/>
                  <a:gd name="T44" fmla="*/ 36 w 62"/>
                  <a:gd name="T45" fmla="*/ 305 h 30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2"/>
                  <a:gd name="T70" fmla="*/ 0 h 306"/>
                  <a:gd name="T71" fmla="*/ 62 w 62"/>
                  <a:gd name="T72" fmla="*/ 306 h 30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2" h="306">
                    <a:moveTo>
                      <a:pt x="36" y="305"/>
                    </a:moveTo>
                    <a:lnTo>
                      <a:pt x="40" y="271"/>
                    </a:lnTo>
                    <a:lnTo>
                      <a:pt x="49" y="207"/>
                    </a:lnTo>
                    <a:lnTo>
                      <a:pt x="57" y="160"/>
                    </a:lnTo>
                    <a:lnTo>
                      <a:pt x="60" y="116"/>
                    </a:lnTo>
                    <a:lnTo>
                      <a:pt x="61" y="71"/>
                    </a:lnTo>
                    <a:lnTo>
                      <a:pt x="58" y="43"/>
                    </a:lnTo>
                    <a:lnTo>
                      <a:pt x="55" y="20"/>
                    </a:lnTo>
                    <a:lnTo>
                      <a:pt x="51" y="10"/>
                    </a:lnTo>
                    <a:lnTo>
                      <a:pt x="47" y="3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8" y="1"/>
                    </a:lnTo>
                    <a:lnTo>
                      <a:pt x="23" y="7"/>
                    </a:lnTo>
                    <a:lnTo>
                      <a:pt x="18" y="14"/>
                    </a:lnTo>
                    <a:lnTo>
                      <a:pt x="12" y="33"/>
                    </a:lnTo>
                    <a:lnTo>
                      <a:pt x="5" y="74"/>
                    </a:lnTo>
                    <a:lnTo>
                      <a:pt x="0" y="115"/>
                    </a:lnTo>
                    <a:lnTo>
                      <a:pt x="0" y="173"/>
                    </a:lnTo>
                    <a:lnTo>
                      <a:pt x="4" y="248"/>
                    </a:lnTo>
                    <a:lnTo>
                      <a:pt x="6" y="286"/>
                    </a:lnTo>
                    <a:lnTo>
                      <a:pt x="6" y="304"/>
                    </a:lnTo>
                    <a:lnTo>
                      <a:pt x="36" y="30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12" name="Freeform 18"/>
              <p:cNvSpPr>
                <a:spLocks/>
              </p:cNvSpPr>
              <p:nvPr/>
            </p:nvSpPr>
            <p:spPr bwMode="auto">
              <a:xfrm>
                <a:off x="3205" y="1609"/>
                <a:ext cx="36" cy="33"/>
              </a:xfrm>
              <a:custGeom>
                <a:avLst/>
                <a:gdLst>
                  <a:gd name="T0" fmla="*/ 31 w 36"/>
                  <a:gd name="T1" fmla="*/ 32 h 33"/>
                  <a:gd name="T2" fmla="*/ 33 w 36"/>
                  <a:gd name="T3" fmla="*/ 21 h 33"/>
                  <a:gd name="T4" fmla="*/ 34 w 36"/>
                  <a:gd name="T5" fmla="*/ 9 h 33"/>
                  <a:gd name="T6" fmla="*/ 35 w 36"/>
                  <a:gd name="T7" fmla="*/ 0 h 33"/>
                  <a:gd name="T8" fmla="*/ 1 w 36"/>
                  <a:gd name="T9" fmla="*/ 0 h 33"/>
                  <a:gd name="T10" fmla="*/ 0 w 36"/>
                  <a:gd name="T11" fmla="*/ 9 h 33"/>
                  <a:gd name="T12" fmla="*/ 1 w 36"/>
                  <a:gd name="T13" fmla="*/ 26 h 33"/>
                  <a:gd name="T14" fmla="*/ 1 w 36"/>
                  <a:gd name="T15" fmla="*/ 31 h 33"/>
                  <a:gd name="T16" fmla="*/ 31 w 36"/>
                  <a:gd name="T17" fmla="*/ 32 h 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33"/>
                  <a:gd name="T29" fmla="*/ 36 w 36"/>
                  <a:gd name="T30" fmla="*/ 33 h 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33">
                    <a:moveTo>
                      <a:pt x="31" y="32"/>
                    </a:moveTo>
                    <a:lnTo>
                      <a:pt x="33" y="21"/>
                    </a:lnTo>
                    <a:lnTo>
                      <a:pt x="34" y="9"/>
                    </a:lnTo>
                    <a:lnTo>
                      <a:pt x="35" y="0"/>
                    </a:lnTo>
                    <a:lnTo>
                      <a:pt x="1" y="0"/>
                    </a:lnTo>
                    <a:lnTo>
                      <a:pt x="0" y="9"/>
                    </a:lnTo>
                    <a:lnTo>
                      <a:pt x="1" y="26"/>
                    </a:lnTo>
                    <a:lnTo>
                      <a:pt x="1" y="31"/>
                    </a:lnTo>
                    <a:lnTo>
                      <a:pt x="31" y="32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79882" name="Oval 19"/>
            <p:cNvSpPr>
              <a:spLocks noChangeArrowheads="1"/>
            </p:cNvSpPr>
            <p:nvPr/>
          </p:nvSpPr>
          <p:spPr bwMode="auto">
            <a:xfrm>
              <a:off x="3639" y="3212"/>
              <a:ext cx="539" cy="5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9883" name="Oval 20"/>
            <p:cNvSpPr>
              <a:spLocks noChangeArrowheads="1"/>
            </p:cNvSpPr>
            <p:nvPr/>
          </p:nvSpPr>
          <p:spPr bwMode="auto">
            <a:xfrm>
              <a:off x="3730" y="3304"/>
              <a:ext cx="357" cy="35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9884" name="Group 21"/>
            <p:cNvGrpSpPr>
              <a:grpSpLocks/>
            </p:cNvGrpSpPr>
            <p:nvPr/>
          </p:nvGrpSpPr>
          <p:grpSpPr bwMode="auto">
            <a:xfrm>
              <a:off x="3376" y="3512"/>
              <a:ext cx="407" cy="391"/>
              <a:chOff x="3028" y="3512"/>
              <a:chExt cx="407" cy="391"/>
            </a:xfrm>
          </p:grpSpPr>
          <p:sp>
            <p:nvSpPr>
              <p:cNvPr id="79907" name="Freeform 22"/>
              <p:cNvSpPr>
                <a:spLocks/>
              </p:cNvSpPr>
              <p:nvPr/>
            </p:nvSpPr>
            <p:spPr bwMode="auto">
              <a:xfrm>
                <a:off x="3028" y="3512"/>
                <a:ext cx="193" cy="184"/>
              </a:xfrm>
              <a:custGeom>
                <a:avLst/>
                <a:gdLst>
                  <a:gd name="T0" fmla="*/ 150 w 193"/>
                  <a:gd name="T1" fmla="*/ 162 h 184"/>
                  <a:gd name="T2" fmla="*/ 144 w 193"/>
                  <a:gd name="T3" fmla="*/ 158 h 184"/>
                  <a:gd name="T4" fmla="*/ 134 w 193"/>
                  <a:gd name="T5" fmla="*/ 156 h 184"/>
                  <a:gd name="T6" fmla="*/ 126 w 193"/>
                  <a:gd name="T7" fmla="*/ 157 h 184"/>
                  <a:gd name="T8" fmla="*/ 116 w 193"/>
                  <a:gd name="T9" fmla="*/ 155 h 184"/>
                  <a:gd name="T10" fmla="*/ 95 w 193"/>
                  <a:gd name="T11" fmla="*/ 148 h 184"/>
                  <a:gd name="T12" fmla="*/ 76 w 193"/>
                  <a:gd name="T13" fmla="*/ 137 h 184"/>
                  <a:gd name="T14" fmla="*/ 60 w 193"/>
                  <a:gd name="T15" fmla="*/ 124 h 184"/>
                  <a:gd name="T16" fmla="*/ 22 w 193"/>
                  <a:gd name="T17" fmla="*/ 84 h 184"/>
                  <a:gd name="T18" fmla="*/ 0 w 193"/>
                  <a:gd name="T19" fmla="*/ 55 h 184"/>
                  <a:gd name="T20" fmla="*/ 21 w 193"/>
                  <a:gd name="T21" fmla="*/ 65 h 184"/>
                  <a:gd name="T22" fmla="*/ 66 w 193"/>
                  <a:gd name="T23" fmla="*/ 109 h 184"/>
                  <a:gd name="T24" fmla="*/ 84 w 193"/>
                  <a:gd name="T25" fmla="*/ 125 h 184"/>
                  <a:gd name="T26" fmla="*/ 90 w 193"/>
                  <a:gd name="T27" fmla="*/ 128 h 184"/>
                  <a:gd name="T28" fmla="*/ 93 w 193"/>
                  <a:gd name="T29" fmla="*/ 127 h 184"/>
                  <a:gd name="T30" fmla="*/ 95 w 193"/>
                  <a:gd name="T31" fmla="*/ 124 h 184"/>
                  <a:gd name="T32" fmla="*/ 93 w 193"/>
                  <a:gd name="T33" fmla="*/ 120 h 184"/>
                  <a:gd name="T34" fmla="*/ 28 w 193"/>
                  <a:gd name="T35" fmla="*/ 51 h 184"/>
                  <a:gd name="T36" fmla="*/ 21 w 193"/>
                  <a:gd name="T37" fmla="*/ 33 h 184"/>
                  <a:gd name="T38" fmla="*/ 98 w 193"/>
                  <a:gd name="T39" fmla="*/ 102 h 184"/>
                  <a:gd name="T40" fmla="*/ 106 w 193"/>
                  <a:gd name="T41" fmla="*/ 108 h 184"/>
                  <a:gd name="T42" fmla="*/ 109 w 193"/>
                  <a:gd name="T43" fmla="*/ 110 h 184"/>
                  <a:gd name="T44" fmla="*/ 112 w 193"/>
                  <a:gd name="T45" fmla="*/ 104 h 184"/>
                  <a:gd name="T46" fmla="*/ 109 w 193"/>
                  <a:gd name="T47" fmla="*/ 98 h 184"/>
                  <a:gd name="T48" fmla="*/ 31 w 193"/>
                  <a:gd name="T49" fmla="*/ 21 h 184"/>
                  <a:gd name="T50" fmla="*/ 104 w 193"/>
                  <a:gd name="T51" fmla="*/ 73 h 184"/>
                  <a:gd name="T52" fmla="*/ 123 w 193"/>
                  <a:gd name="T53" fmla="*/ 89 h 184"/>
                  <a:gd name="T54" fmla="*/ 130 w 193"/>
                  <a:gd name="T55" fmla="*/ 87 h 184"/>
                  <a:gd name="T56" fmla="*/ 130 w 193"/>
                  <a:gd name="T57" fmla="*/ 83 h 184"/>
                  <a:gd name="T58" fmla="*/ 126 w 193"/>
                  <a:gd name="T59" fmla="*/ 78 h 184"/>
                  <a:gd name="T60" fmla="*/ 69 w 193"/>
                  <a:gd name="T61" fmla="*/ 26 h 184"/>
                  <a:gd name="T62" fmla="*/ 50 w 193"/>
                  <a:gd name="T63" fmla="*/ 0 h 184"/>
                  <a:gd name="T64" fmla="*/ 79 w 193"/>
                  <a:gd name="T65" fmla="*/ 20 h 184"/>
                  <a:gd name="T66" fmla="*/ 110 w 193"/>
                  <a:gd name="T67" fmla="*/ 43 h 184"/>
                  <a:gd name="T68" fmla="*/ 134 w 193"/>
                  <a:gd name="T69" fmla="*/ 66 h 184"/>
                  <a:gd name="T70" fmla="*/ 144 w 193"/>
                  <a:gd name="T71" fmla="*/ 77 h 184"/>
                  <a:gd name="T72" fmla="*/ 154 w 193"/>
                  <a:gd name="T73" fmla="*/ 95 h 184"/>
                  <a:gd name="T74" fmla="*/ 160 w 193"/>
                  <a:gd name="T75" fmla="*/ 111 h 184"/>
                  <a:gd name="T76" fmla="*/ 162 w 193"/>
                  <a:gd name="T77" fmla="*/ 122 h 184"/>
                  <a:gd name="T78" fmla="*/ 163 w 193"/>
                  <a:gd name="T79" fmla="*/ 132 h 184"/>
                  <a:gd name="T80" fmla="*/ 165 w 193"/>
                  <a:gd name="T81" fmla="*/ 136 h 184"/>
                  <a:gd name="T82" fmla="*/ 192 w 193"/>
                  <a:gd name="T83" fmla="*/ 173 h 18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93"/>
                  <a:gd name="T127" fmla="*/ 0 h 184"/>
                  <a:gd name="T128" fmla="*/ 193 w 193"/>
                  <a:gd name="T129" fmla="*/ 184 h 18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93" h="184">
                    <a:moveTo>
                      <a:pt x="171" y="183"/>
                    </a:moveTo>
                    <a:lnTo>
                      <a:pt x="150" y="162"/>
                    </a:lnTo>
                    <a:lnTo>
                      <a:pt x="145" y="160"/>
                    </a:lnTo>
                    <a:lnTo>
                      <a:pt x="144" y="158"/>
                    </a:lnTo>
                    <a:lnTo>
                      <a:pt x="141" y="158"/>
                    </a:lnTo>
                    <a:lnTo>
                      <a:pt x="134" y="156"/>
                    </a:lnTo>
                    <a:lnTo>
                      <a:pt x="130" y="157"/>
                    </a:lnTo>
                    <a:lnTo>
                      <a:pt x="126" y="157"/>
                    </a:lnTo>
                    <a:lnTo>
                      <a:pt x="121" y="157"/>
                    </a:lnTo>
                    <a:lnTo>
                      <a:pt x="116" y="155"/>
                    </a:lnTo>
                    <a:lnTo>
                      <a:pt x="111" y="153"/>
                    </a:lnTo>
                    <a:lnTo>
                      <a:pt x="95" y="148"/>
                    </a:lnTo>
                    <a:lnTo>
                      <a:pt x="86" y="144"/>
                    </a:lnTo>
                    <a:lnTo>
                      <a:pt x="76" y="137"/>
                    </a:lnTo>
                    <a:lnTo>
                      <a:pt x="65" y="130"/>
                    </a:lnTo>
                    <a:lnTo>
                      <a:pt x="60" y="124"/>
                    </a:lnTo>
                    <a:lnTo>
                      <a:pt x="35" y="99"/>
                    </a:lnTo>
                    <a:lnTo>
                      <a:pt x="22" y="84"/>
                    </a:lnTo>
                    <a:lnTo>
                      <a:pt x="8" y="66"/>
                    </a:lnTo>
                    <a:lnTo>
                      <a:pt x="0" y="55"/>
                    </a:lnTo>
                    <a:lnTo>
                      <a:pt x="6" y="51"/>
                    </a:lnTo>
                    <a:lnTo>
                      <a:pt x="21" y="65"/>
                    </a:lnTo>
                    <a:lnTo>
                      <a:pt x="47" y="91"/>
                    </a:lnTo>
                    <a:lnTo>
                      <a:pt x="66" y="109"/>
                    </a:lnTo>
                    <a:lnTo>
                      <a:pt x="77" y="119"/>
                    </a:lnTo>
                    <a:lnTo>
                      <a:pt x="84" y="125"/>
                    </a:lnTo>
                    <a:lnTo>
                      <a:pt x="87" y="128"/>
                    </a:lnTo>
                    <a:lnTo>
                      <a:pt x="90" y="128"/>
                    </a:lnTo>
                    <a:lnTo>
                      <a:pt x="91" y="129"/>
                    </a:lnTo>
                    <a:lnTo>
                      <a:pt x="93" y="127"/>
                    </a:lnTo>
                    <a:lnTo>
                      <a:pt x="95" y="126"/>
                    </a:lnTo>
                    <a:lnTo>
                      <a:pt x="95" y="124"/>
                    </a:lnTo>
                    <a:lnTo>
                      <a:pt x="94" y="122"/>
                    </a:lnTo>
                    <a:lnTo>
                      <a:pt x="93" y="120"/>
                    </a:lnTo>
                    <a:lnTo>
                      <a:pt x="51" y="74"/>
                    </a:lnTo>
                    <a:lnTo>
                      <a:pt x="28" y="51"/>
                    </a:lnTo>
                    <a:lnTo>
                      <a:pt x="16" y="39"/>
                    </a:lnTo>
                    <a:lnTo>
                      <a:pt x="21" y="33"/>
                    </a:lnTo>
                    <a:lnTo>
                      <a:pt x="59" y="66"/>
                    </a:lnTo>
                    <a:lnTo>
                      <a:pt x="98" y="102"/>
                    </a:lnTo>
                    <a:lnTo>
                      <a:pt x="104" y="107"/>
                    </a:lnTo>
                    <a:lnTo>
                      <a:pt x="106" y="108"/>
                    </a:lnTo>
                    <a:lnTo>
                      <a:pt x="108" y="110"/>
                    </a:lnTo>
                    <a:lnTo>
                      <a:pt x="109" y="110"/>
                    </a:lnTo>
                    <a:lnTo>
                      <a:pt x="112" y="105"/>
                    </a:lnTo>
                    <a:lnTo>
                      <a:pt x="112" y="104"/>
                    </a:lnTo>
                    <a:lnTo>
                      <a:pt x="111" y="102"/>
                    </a:lnTo>
                    <a:lnTo>
                      <a:pt x="109" y="98"/>
                    </a:lnTo>
                    <a:lnTo>
                      <a:pt x="108" y="98"/>
                    </a:lnTo>
                    <a:lnTo>
                      <a:pt x="31" y="21"/>
                    </a:lnTo>
                    <a:lnTo>
                      <a:pt x="36" y="17"/>
                    </a:lnTo>
                    <a:lnTo>
                      <a:pt x="104" y="73"/>
                    </a:lnTo>
                    <a:lnTo>
                      <a:pt x="121" y="86"/>
                    </a:lnTo>
                    <a:lnTo>
                      <a:pt x="123" y="89"/>
                    </a:lnTo>
                    <a:lnTo>
                      <a:pt x="127" y="90"/>
                    </a:lnTo>
                    <a:lnTo>
                      <a:pt x="130" y="87"/>
                    </a:lnTo>
                    <a:lnTo>
                      <a:pt x="130" y="85"/>
                    </a:lnTo>
                    <a:lnTo>
                      <a:pt x="130" y="83"/>
                    </a:lnTo>
                    <a:lnTo>
                      <a:pt x="128" y="82"/>
                    </a:lnTo>
                    <a:lnTo>
                      <a:pt x="126" y="78"/>
                    </a:lnTo>
                    <a:lnTo>
                      <a:pt x="100" y="53"/>
                    </a:lnTo>
                    <a:lnTo>
                      <a:pt x="69" y="26"/>
                    </a:lnTo>
                    <a:lnTo>
                      <a:pt x="45" y="7"/>
                    </a:lnTo>
                    <a:lnTo>
                      <a:pt x="50" y="0"/>
                    </a:lnTo>
                    <a:lnTo>
                      <a:pt x="62" y="8"/>
                    </a:lnTo>
                    <a:lnTo>
                      <a:pt x="79" y="20"/>
                    </a:lnTo>
                    <a:lnTo>
                      <a:pt x="96" y="31"/>
                    </a:lnTo>
                    <a:lnTo>
                      <a:pt x="110" y="43"/>
                    </a:lnTo>
                    <a:lnTo>
                      <a:pt x="129" y="59"/>
                    </a:lnTo>
                    <a:lnTo>
                      <a:pt x="134" y="66"/>
                    </a:lnTo>
                    <a:lnTo>
                      <a:pt x="141" y="72"/>
                    </a:lnTo>
                    <a:lnTo>
                      <a:pt x="144" y="77"/>
                    </a:lnTo>
                    <a:lnTo>
                      <a:pt x="149" y="86"/>
                    </a:lnTo>
                    <a:lnTo>
                      <a:pt x="154" y="95"/>
                    </a:lnTo>
                    <a:lnTo>
                      <a:pt x="158" y="105"/>
                    </a:lnTo>
                    <a:lnTo>
                      <a:pt x="160" y="111"/>
                    </a:lnTo>
                    <a:lnTo>
                      <a:pt x="162" y="120"/>
                    </a:lnTo>
                    <a:lnTo>
                      <a:pt x="162" y="122"/>
                    </a:lnTo>
                    <a:lnTo>
                      <a:pt x="163" y="125"/>
                    </a:lnTo>
                    <a:lnTo>
                      <a:pt x="163" y="132"/>
                    </a:lnTo>
                    <a:lnTo>
                      <a:pt x="163" y="134"/>
                    </a:lnTo>
                    <a:lnTo>
                      <a:pt x="165" y="136"/>
                    </a:lnTo>
                    <a:lnTo>
                      <a:pt x="192" y="163"/>
                    </a:lnTo>
                    <a:lnTo>
                      <a:pt x="192" y="173"/>
                    </a:lnTo>
                    <a:lnTo>
                      <a:pt x="171" y="183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08" name="Freeform 23"/>
              <p:cNvSpPr>
                <a:spLocks/>
              </p:cNvSpPr>
              <p:nvPr/>
            </p:nvSpPr>
            <p:spPr bwMode="auto">
              <a:xfrm>
                <a:off x="3198" y="3673"/>
                <a:ext cx="237" cy="230"/>
              </a:xfrm>
              <a:custGeom>
                <a:avLst/>
                <a:gdLst>
                  <a:gd name="T0" fmla="*/ 0 w 237"/>
                  <a:gd name="T1" fmla="*/ 23 h 230"/>
                  <a:gd name="T2" fmla="*/ 25 w 237"/>
                  <a:gd name="T3" fmla="*/ 48 h 230"/>
                  <a:gd name="T4" fmla="*/ 67 w 237"/>
                  <a:gd name="T5" fmla="*/ 96 h 230"/>
                  <a:gd name="T6" fmla="*/ 97 w 237"/>
                  <a:gd name="T7" fmla="*/ 134 h 230"/>
                  <a:gd name="T8" fmla="*/ 128 w 237"/>
                  <a:gd name="T9" fmla="*/ 164 h 230"/>
                  <a:gd name="T10" fmla="*/ 161 w 237"/>
                  <a:gd name="T11" fmla="*/ 194 h 230"/>
                  <a:gd name="T12" fmla="*/ 184 w 237"/>
                  <a:gd name="T13" fmla="*/ 210 h 230"/>
                  <a:gd name="T14" fmla="*/ 203 w 237"/>
                  <a:gd name="T15" fmla="*/ 223 h 230"/>
                  <a:gd name="T16" fmla="*/ 213 w 237"/>
                  <a:gd name="T17" fmla="*/ 227 h 230"/>
                  <a:gd name="T18" fmla="*/ 221 w 237"/>
                  <a:gd name="T19" fmla="*/ 229 h 230"/>
                  <a:gd name="T20" fmla="*/ 227 w 237"/>
                  <a:gd name="T21" fmla="*/ 227 h 230"/>
                  <a:gd name="T22" fmla="*/ 234 w 237"/>
                  <a:gd name="T23" fmla="*/ 219 h 230"/>
                  <a:gd name="T24" fmla="*/ 236 w 237"/>
                  <a:gd name="T25" fmla="*/ 215 h 230"/>
                  <a:gd name="T26" fmla="*/ 235 w 237"/>
                  <a:gd name="T27" fmla="*/ 209 h 230"/>
                  <a:gd name="T28" fmla="*/ 231 w 237"/>
                  <a:gd name="T29" fmla="*/ 200 h 230"/>
                  <a:gd name="T30" fmla="*/ 221 w 237"/>
                  <a:gd name="T31" fmla="*/ 182 h 230"/>
                  <a:gd name="T32" fmla="*/ 195 w 237"/>
                  <a:gd name="T33" fmla="*/ 151 h 230"/>
                  <a:gd name="T34" fmla="*/ 168 w 237"/>
                  <a:gd name="T35" fmla="*/ 120 h 230"/>
                  <a:gd name="T36" fmla="*/ 124 w 237"/>
                  <a:gd name="T37" fmla="*/ 82 h 230"/>
                  <a:gd name="T38" fmla="*/ 64 w 237"/>
                  <a:gd name="T39" fmla="*/ 35 h 230"/>
                  <a:gd name="T40" fmla="*/ 34 w 237"/>
                  <a:gd name="T41" fmla="*/ 11 h 230"/>
                  <a:gd name="T42" fmla="*/ 21 w 237"/>
                  <a:gd name="T43" fmla="*/ 0 h 230"/>
                  <a:gd name="T44" fmla="*/ 0 w 237"/>
                  <a:gd name="T45" fmla="*/ 23 h 23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37"/>
                  <a:gd name="T70" fmla="*/ 0 h 230"/>
                  <a:gd name="T71" fmla="*/ 237 w 237"/>
                  <a:gd name="T72" fmla="*/ 230 h 230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37" h="230">
                    <a:moveTo>
                      <a:pt x="0" y="23"/>
                    </a:moveTo>
                    <a:lnTo>
                      <a:pt x="25" y="48"/>
                    </a:lnTo>
                    <a:lnTo>
                      <a:pt x="67" y="96"/>
                    </a:lnTo>
                    <a:lnTo>
                      <a:pt x="97" y="134"/>
                    </a:lnTo>
                    <a:lnTo>
                      <a:pt x="128" y="164"/>
                    </a:lnTo>
                    <a:lnTo>
                      <a:pt x="161" y="194"/>
                    </a:lnTo>
                    <a:lnTo>
                      <a:pt x="184" y="210"/>
                    </a:lnTo>
                    <a:lnTo>
                      <a:pt x="203" y="223"/>
                    </a:lnTo>
                    <a:lnTo>
                      <a:pt x="213" y="227"/>
                    </a:lnTo>
                    <a:lnTo>
                      <a:pt x="221" y="229"/>
                    </a:lnTo>
                    <a:lnTo>
                      <a:pt x="227" y="227"/>
                    </a:lnTo>
                    <a:lnTo>
                      <a:pt x="234" y="219"/>
                    </a:lnTo>
                    <a:lnTo>
                      <a:pt x="236" y="215"/>
                    </a:lnTo>
                    <a:lnTo>
                      <a:pt x="235" y="209"/>
                    </a:lnTo>
                    <a:lnTo>
                      <a:pt x="231" y="200"/>
                    </a:lnTo>
                    <a:lnTo>
                      <a:pt x="221" y="182"/>
                    </a:lnTo>
                    <a:lnTo>
                      <a:pt x="195" y="151"/>
                    </a:lnTo>
                    <a:lnTo>
                      <a:pt x="168" y="120"/>
                    </a:lnTo>
                    <a:lnTo>
                      <a:pt x="124" y="82"/>
                    </a:lnTo>
                    <a:lnTo>
                      <a:pt x="64" y="35"/>
                    </a:lnTo>
                    <a:lnTo>
                      <a:pt x="34" y="11"/>
                    </a:lnTo>
                    <a:lnTo>
                      <a:pt x="21" y="0"/>
                    </a:lnTo>
                    <a:lnTo>
                      <a:pt x="0" y="23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09" name="Freeform 24"/>
              <p:cNvSpPr>
                <a:spLocks/>
              </p:cNvSpPr>
              <p:nvPr/>
            </p:nvSpPr>
            <p:spPr bwMode="auto">
              <a:xfrm>
                <a:off x="3198" y="3673"/>
                <a:ext cx="47" cy="48"/>
              </a:xfrm>
              <a:custGeom>
                <a:avLst/>
                <a:gdLst>
                  <a:gd name="T0" fmla="*/ 0 w 47"/>
                  <a:gd name="T1" fmla="*/ 23 h 48"/>
                  <a:gd name="T2" fmla="*/ 8 w 47"/>
                  <a:gd name="T3" fmla="*/ 32 h 48"/>
                  <a:gd name="T4" fmla="*/ 15 w 47"/>
                  <a:gd name="T5" fmla="*/ 40 h 48"/>
                  <a:gd name="T6" fmla="*/ 22 w 47"/>
                  <a:gd name="T7" fmla="*/ 47 h 48"/>
                  <a:gd name="T8" fmla="*/ 46 w 47"/>
                  <a:gd name="T9" fmla="*/ 20 h 48"/>
                  <a:gd name="T10" fmla="*/ 38 w 47"/>
                  <a:gd name="T11" fmla="*/ 13 h 48"/>
                  <a:gd name="T12" fmla="*/ 26 w 47"/>
                  <a:gd name="T13" fmla="*/ 5 h 48"/>
                  <a:gd name="T14" fmla="*/ 21 w 47"/>
                  <a:gd name="T15" fmla="*/ 0 h 48"/>
                  <a:gd name="T16" fmla="*/ 0 w 47"/>
                  <a:gd name="T17" fmla="*/ 23 h 4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7"/>
                  <a:gd name="T28" fmla="*/ 0 h 48"/>
                  <a:gd name="T29" fmla="*/ 47 w 47"/>
                  <a:gd name="T30" fmla="*/ 48 h 4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7" h="48">
                    <a:moveTo>
                      <a:pt x="0" y="23"/>
                    </a:moveTo>
                    <a:lnTo>
                      <a:pt x="8" y="32"/>
                    </a:lnTo>
                    <a:lnTo>
                      <a:pt x="15" y="40"/>
                    </a:lnTo>
                    <a:lnTo>
                      <a:pt x="22" y="47"/>
                    </a:lnTo>
                    <a:lnTo>
                      <a:pt x="46" y="20"/>
                    </a:lnTo>
                    <a:lnTo>
                      <a:pt x="38" y="13"/>
                    </a:lnTo>
                    <a:lnTo>
                      <a:pt x="26" y="5"/>
                    </a:lnTo>
                    <a:lnTo>
                      <a:pt x="21" y="0"/>
                    </a:lnTo>
                    <a:lnTo>
                      <a:pt x="0" y="23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79885" name="Oval 25"/>
            <p:cNvSpPr>
              <a:spLocks noChangeArrowheads="1"/>
            </p:cNvSpPr>
            <p:nvPr/>
          </p:nvSpPr>
          <p:spPr bwMode="auto">
            <a:xfrm>
              <a:off x="1721" y="2255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9886" name="Oval 26"/>
            <p:cNvSpPr>
              <a:spLocks noChangeArrowheads="1"/>
            </p:cNvSpPr>
            <p:nvPr/>
          </p:nvSpPr>
          <p:spPr bwMode="auto">
            <a:xfrm>
              <a:off x="1813" y="2346"/>
              <a:ext cx="357" cy="3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9887" name="Group 27"/>
            <p:cNvGrpSpPr>
              <a:grpSpLocks/>
            </p:cNvGrpSpPr>
            <p:nvPr/>
          </p:nvGrpSpPr>
          <p:grpSpPr bwMode="auto">
            <a:xfrm>
              <a:off x="1801" y="2050"/>
              <a:ext cx="520" cy="96"/>
              <a:chOff x="1453" y="2050"/>
              <a:chExt cx="520" cy="96"/>
            </a:xfrm>
          </p:grpSpPr>
          <p:sp>
            <p:nvSpPr>
              <p:cNvPr id="79904" name="Freeform 28"/>
              <p:cNvSpPr>
                <a:spLocks/>
              </p:cNvSpPr>
              <p:nvPr/>
            </p:nvSpPr>
            <p:spPr bwMode="auto">
              <a:xfrm>
                <a:off x="1749" y="2050"/>
                <a:ext cx="224" cy="96"/>
              </a:xfrm>
              <a:custGeom>
                <a:avLst/>
                <a:gdLst>
                  <a:gd name="T0" fmla="*/ 38 w 224"/>
                  <a:gd name="T1" fmla="*/ 39 h 96"/>
                  <a:gd name="T2" fmla="*/ 46 w 224"/>
                  <a:gd name="T3" fmla="*/ 36 h 96"/>
                  <a:gd name="T4" fmla="*/ 54 w 224"/>
                  <a:gd name="T5" fmla="*/ 33 h 96"/>
                  <a:gd name="T6" fmla="*/ 58 w 224"/>
                  <a:gd name="T7" fmla="*/ 25 h 96"/>
                  <a:gd name="T8" fmla="*/ 67 w 224"/>
                  <a:gd name="T9" fmla="*/ 18 h 96"/>
                  <a:gd name="T10" fmla="*/ 86 w 224"/>
                  <a:gd name="T11" fmla="*/ 10 h 96"/>
                  <a:gd name="T12" fmla="*/ 108 w 224"/>
                  <a:gd name="T13" fmla="*/ 3 h 96"/>
                  <a:gd name="T14" fmla="*/ 129 w 224"/>
                  <a:gd name="T15" fmla="*/ 0 h 96"/>
                  <a:gd name="T16" fmla="*/ 183 w 224"/>
                  <a:gd name="T17" fmla="*/ 1 h 96"/>
                  <a:gd name="T18" fmla="*/ 219 w 224"/>
                  <a:gd name="T19" fmla="*/ 5 h 96"/>
                  <a:gd name="T20" fmla="*/ 197 w 224"/>
                  <a:gd name="T21" fmla="*/ 13 h 96"/>
                  <a:gd name="T22" fmla="*/ 136 w 224"/>
                  <a:gd name="T23" fmla="*/ 15 h 96"/>
                  <a:gd name="T24" fmla="*/ 112 w 224"/>
                  <a:gd name="T25" fmla="*/ 18 h 96"/>
                  <a:gd name="T26" fmla="*/ 104 w 224"/>
                  <a:gd name="T27" fmla="*/ 20 h 96"/>
                  <a:gd name="T28" fmla="*/ 103 w 224"/>
                  <a:gd name="T29" fmla="*/ 24 h 96"/>
                  <a:gd name="T30" fmla="*/ 103 w 224"/>
                  <a:gd name="T31" fmla="*/ 27 h 96"/>
                  <a:gd name="T32" fmla="*/ 108 w 224"/>
                  <a:gd name="T33" fmla="*/ 29 h 96"/>
                  <a:gd name="T34" fmla="*/ 204 w 224"/>
                  <a:gd name="T35" fmla="*/ 29 h 96"/>
                  <a:gd name="T36" fmla="*/ 220 w 224"/>
                  <a:gd name="T37" fmla="*/ 35 h 96"/>
                  <a:gd name="T38" fmla="*/ 118 w 224"/>
                  <a:gd name="T39" fmla="*/ 44 h 96"/>
                  <a:gd name="T40" fmla="*/ 108 w 224"/>
                  <a:gd name="T41" fmla="*/ 45 h 96"/>
                  <a:gd name="T42" fmla="*/ 105 w 224"/>
                  <a:gd name="T43" fmla="*/ 51 h 96"/>
                  <a:gd name="T44" fmla="*/ 110 w 224"/>
                  <a:gd name="T45" fmla="*/ 52 h 96"/>
                  <a:gd name="T46" fmla="*/ 114 w 224"/>
                  <a:gd name="T47" fmla="*/ 53 h 96"/>
                  <a:gd name="T48" fmla="*/ 221 w 224"/>
                  <a:gd name="T49" fmla="*/ 58 h 96"/>
                  <a:gd name="T50" fmla="*/ 113 w 224"/>
                  <a:gd name="T51" fmla="*/ 71 h 96"/>
                  <a:gd name="T52" fmla="*/ 107 w 224"/>
                  <a:gd name="T53" fmla="*/ 73 h 96"/>
                  <a:gd name="T54" fmla="*/ 107 w 224"/>
                  <a:gd name="T55" fmla="*/ 78 h 96"/>
                  <a:gd name="T56" fmla="*/ 110 w 224"/>
                  <a:gd name="T57" fmla="*/ 78 h 96"/>
                  <a:gd name="T58" fmla="*/ 153 w 224"/>
                  <a:gd name="T59" fmla="*/ 79 h 96"/>
                  <a:gd name="T60" fmla="*/ 223 w 224"/>
                  <a:gd name="T61" fmla="*/ 71 h 96"/>
                  <a:gd name="T62" fmla="*/ 211 w 224"/>
                  <a:gd name="T63" fmla="*/ 83 h 96"/>
                  <a:gd name="T64" fmla="*/ 170 w 224"/>
                  <a:gd name="T65" fmla="*/ 91 h 96"/>
                  <a:gd name="T66" fmla="*/ 127 w 224"/>
                  <a:gd name="T67" fmla="*/ 95 h 96"/>
                  <a:gd name="T68" fmla="*/ 109 w 224"/>
                  <a:gd name="T69" fmla="*/ 95 h 96"/>
                  <a:gd name="T70" fmla="*/ 94 w 224"/>
                  <a:gd name="T71" fmla="*/ 92 h 96"/>
                  <a:gd name="T72" fmla="*/ 75 w 224"/>
                  <a:gd name="T73" fmla="*/ 85 h 96"/>
                  <a:gd name="T74" fmla="*/ 62 w 224"/>
                  <a:gd name="T75" fmla="*/ 76 h 96"/>
                  <a:gd name="T76" fmla="*/ 56 w 224"/>
                  <a:gd name="T77" fmla="*/ 73 h 96"/>
                  <a:gd name="T78" fmla="*/ 50 w 224"/>
                  <a:gd name="T79" fmla="*/ 67 h 96"/>
                  <a:gd name="T80" fmla="*/ 9 w 224"/>
                  <a:gd name="T81" fmla="*/ 68 h 96"/>
                  <a:gd name="T82" fmla="*/ 9 w 224"/>
                  <a:gd name="T83" fmla="*/ 41 h 9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24"/>
                  <a:gd name="T127" fmla="*/ 0 h 96"/>
                  <a:gd name="T128" fmla="*/ 224 w 224"/>
                  <a:gd name="T129" fmla="*/ 96 h 9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24" h="96">
                    <a:moveTo>
                      <a:pt x="9" y="41"/>
                    </a:moveTo>
                    <a:lnTo>
                      <a:pt x="38" y="39"/>
                    </a:lnTo>
                    <a:lnTo>
                      <a:pt x="43" y="37"/>
                    </a:lnTo>
                    <a:lnTo>
                      <a:pt x="46" y="36"/>
                    </a:lnTo>
                    <a:lnTo>
                      <a:pt x="47" y="35"/>
                    </a:lnTo>
                    <a:lnTo>
                      <a:pt x="54" y="33"/>
                    </a:lnTo>
                    <a:lnTo>
                      <a:pt x="56" y="29"/>
                    </a:lnTo>
                    <a:lnTo>
                      <a:pt x="58" y="25"/>
                    </a:lnTo>
                    <a:lnTo>
                      <a:pt x="60" y="22"/>
                    </a:lnTo>
                    <a:lnTo>
                      <a:pt x="67" y="18"/>
                    </a:lnTo>
                    <a:lnTo>
                      <a:pt x="71" y="17"/>
                    </a:lnTo>
                    <a:lnTo>
                      <a:pt x="86" y="10"/>
                    </a:lnTo>
                    <a:lnTo>
                      <a:pt x="97" y="5"/>
                    </a:lnTo>
                    <a:lnTo>
                      <a:pt x="108" y="3"/>
                    </a:lnTo>
                    <a:lnTo>
                      <a:pt x="121" y="1"/>
                    </a:lnTo>
                    <a:lnTo>
                      <a:pt x="129" y="0"/>
                    </a:lnTo>
                    <a:lnTo>
                      <a:pt x="162" y="0"/>
                    </a:lnTo>
                    <a:lnTo>
                      <a:pt x="183" y="1"/>
                    </a:lnTo>
                    <a:lnTo>
                      <a:pt x="206" y="4"/>
                    </a:lnTo>
                    <a:lnTo>
                      <a:pt x="219" y="5"/>
                    </a:lnTo>
                    <a:lnTo>
                      <a:pt x="219" y="13"/>
                    </a:lnTo>
                    <a:lnTo>
                      <a:pt x="197" y="13"/>
                    </a:lnTo>
                    <a:lnTo>
                      <a:pt x="162" y="13"/>
                    </a:lnTo>
                    <a:lnTo>
                      <a:pt x="136" y="15"/>
                    </a:lnTo>
                    <a:lnTo>
                      <a:pt x="121" y="16"/>
                    </a:lnTo>
                    <a:lnTo>
                      <a:pt x="112" y="18"/>
                    </a:lnTo>
                    <a:lnTo>
                      <a:pt x="107" y="17"/>
                    </a:lnTo>
                    <a:lnTo>
                      <a:pt x="104" y="20"/>
                    </a:lnTo>
                    <a:lnTo>
                      <a:pt x="104" y="21"/>
                    </a:lnTo>
                    <a:lnTo>
                      <a:pt x="103" y="24"/>
                    </a:lnTo>
                    <a:lnTo>
                      <a:pt x="102" y="27"/>
                    </a:lnTo>
                    <a:lnTo>
                      <a:pt x="103" y="27"/>
                    </a:lnTo>
                    <a:lnTo>
                      <a:pt x="104" y="27"/>
                    </a:lnTo>
                    <a:lnTo>
                      <a:pt x="108" y="29"/>
                    </a:lnTo>
                    <a:lnTo>
                      <a:pt x="171" y="28"/>
                    </a:lnTo>
                    <a:lnTo>
                      <a:pt x="204" y="29"/>
                    </a:lnTo>
                    <a:lnTo>
                      <a:pt x="220" y="29"/>
                    </a:lnTo>
                    <a:lnTo>
                      <a:pt x="220" y="35"/>
                    </a:lnTo>
                    <a:lnTo>
                      <a:pt x="171" y="40"/>
                    </a:lnTo>
                    <a:lnTo>
                      <a:pt x="118" y="44"/>
                    </a:lnTo>
                    <a:lnTo>
                      <a:pt x="110" y="45"/>
                    </a:lnTo>
                    <a:lnTo>
                      <a:pt x="108" y="45"/>
                    </a:lnTo>
                    <a:lnTo>
                      <a:pt x="104" y="47"/>
                    </a:lnTo>
                    <a:lnTo>
                      <a:pt x="105" y="51"/>
                    </a:lnTo>
                    <a:lnTo>
                      <a:pt x="105" y="52"/>
                    </a:lnTo>
                    <a:lnTo>
                      <a:pt x="110" y="52"/>
                    </a:lnTo>
                    <a:lnTo>
                      <a:pt x="112" y="54"/>
                    </a:lnTo>
                    <a:lnTo>
                      <a:pt x="114" y="53"/>
                    </a:lnTo>
                    <a:lnTo>
                      <a:pt x="222" y="50"/>
                    </a:lnTo>
                    <a:lnTo>
                      <a:pt x="221" y="58"/>
                    </a:lnTo>
                    <a:lnTo>
                      <a:pt x="135" y="67"/>
                    </a:lnTo>
                    <a:lnTo>
                      <a:pt x="113" y="71"/>
                    </a:lnTo>
                    <a:lnTo>
                      <a:pt x="111" y="70"/>
                    </a:lnTo>
                    <a:lnTo>
                      <a:pt x="107" y="73"/>
                    </a:lnTo>
                    <a:lnTo>
                      <a:pt x="105" y="76"/>
                    </a:lnTo>
                    <a:lnTo>
                      <a:pt x="107" y="78"/>
                    </a:lnTo>
                    <a:lnTo>
                      <a:pt x="109" y="79"/>
                    </a:lnTo>
                    <a:lnTo>
                      <a:pt x="110" y="78"/>
                    </a:lnTo>
                    <a:lnTo>
                      <a:pt x="114" y="79"/>
                    </a:lnTo>
                    <a:lnTo>
                      <a:pt x="153" y="79"/>
                    </a:lnTo>
                    <a:lnTo>
                      <a:pt x="193" y="77"/>
                    </a:lnTo>
                    <a:lnTo>
                      <a:pt x="223" y="71"/>
                    </a:lnTo>
                    <a:lnTo>
                      <a:pt x="223" y="79"/>
                    </a:lnTo>
                    <a:lnTo>
                      <a:pt x="211" y="83"/>
                    </a:lnTo>
                    <a:lnTo>
                      <a:pt x="190" y="86"/>
                    </a:lnTo>
                    <a:lnTo>
                      <a:pt x="170" y="91"/>
                    </a:lnTo>
                    <a:lnTo>
                      <a:pt x="151" y="94"/>
                    </a:lnTo>
                    <a:lnTo>
                      <a:pt x="127" y="95"/>
                    </a:lnTo>
                    <a:lnTo>
                      <a:pt x="119" y="95"/>
                    </a:lnTo>
                    <a:lnTo>
                      <a:pt x="109" y="95"/>
                    </a:lnTo>
                    <a:lnTo>
                      <a:pt x="104" y="94"/>
                    </a:lnTo>
                    <a:lnTo>
                      <a:pt x="94" y="92"/>
                    </a:lnTo>
                    <a:lnTo>
                      <a:pt x="84" y="88"/>
                    </a:lnTo>
                    <a:lnTo>
                      <a:pt x="75" y="85"/>
                    </a:lnTo>
                    <a:lnTo>
                      <a:pt x="68" y="82"/>
                    </a:lnTo>
                    <a:lnTo>
                      <a:pt x="62" y="76"/>
                    </a:lnTo>
                    <a:lnTo>
                      <a:pt x="61" y="75"/>
                    </a:lnTo>
                    <a:lnTo>
                      <a:pt x="56" y="73"/>
                    </a:lnTo>
                    <a:lnTo>
                      <a:pt x="51" y="68"/>
                    </a:lnTo>
                    <a:lnTo>
                      <a:pt x="50" y="67"/>
                    </a:lnTo>
                    <a:lnTo>
                      <a:pt x="46" y="67"/>
                    </a:lnTo>
                    <a:lnTo>
                      <a:pt x="9" y="68"/>
                    </a:lnTo>
                    <a:lnTo>
                      <a:pt x="0" y="62"/>
                    </a:lnTo>
                    <a:lnTo>
                      <a:pt x="9" y="41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05" name="Freeform 29"/>
              <p:cNvSpPr>
                <a:spLocks/>
              </p:cNvSpPr>
              <p:nvPr/>
            </p:nvSpPr>
            <p:spPr bwMode="auto">
              <a:xfrm>
                <a:off x="1453" y="2081"/>
                <a:ext cx="307" cy="62"/>
              </a:xfrm>
              <a:custGeom>
                <a:avLst/>
                <a:gdLst>
                  <a:gd name="T0" fmla="*/ 304 w 307"/>
                  <a:gd name="T1" fmla="*/ 9 h 62"/>
                  <a:gd name="T2" fmla="*/ 270 w 307"/>
                  <a:gd name="T3" fmla="*/ 8 h 62"/>
                  <a:gd name="T4" fmla="*/ 206 w 307"/>
                  <a:gd name="T5" fmla="*/ 5 h 62"/>
                  <a:gd name="T6" fmla="*/ 158 w 307"/>
                  <a:gd name="T7" fmla="*/ 0 h 62"/>
                  <a:gd name="T8" fmla="*/ 113 w 307"/>
                  <a:gd name="T9" fmla="*/ 2 h 62"/>
                  <a:gd name="T10" fmla="*/ 70 w 307"/>
                  <a:gd name="T11" fmla="*/ 5 h 62"/>
                  <a:gd name="T12" fmla="*/ 43 w 307"/>
                  <a:gd name="T13" fmla="*/ 10 h 62"/>
                  <a:gd name="T14" fmla="*/ 19 w 307"/>
                  <a:gd name="T15" fmla="*/ 15 h 62"/>
                  <a:gd name="T16" fmla="*/ 10 w 307"/>
                  <a:gd name="T17" fmla="*/ 20 h 62"/>
                  <a:gd name="T18" fmla="*/ 3 w 307"/>
                  <a:gd name="T19" fmla="*/ 24 h 62"/>
                  <a:gd name="T20" fmla="*/ 1 w 307"/>
                  <a:gd name="T21" fmla="*/ 31 h 62"/>
                  <a:gd name="T22" fmla="*/ 0 w 307"/>
                  <a:gd name="T23" fmla="*/ 40 h 62"/>
                  <a:gd name="T24" fmla="*/ 2 w 307"/>
                  <a:gd name="T25" fmla="*/ 44 h 62"/>
                  <a:gd name="T26" fmla="*/ 10 w 307"/>
                  <a:gd name="T27" fmla="*/ 48 h 62"/>
                  <a:gd name="T28" fmla="*/ 17 w 307"/>
                  <a:gd name="T29" fmla="*/ 51 h 62"/>
                  <a:gd name="T30" fmla="*/ 37 w 307"/>
                  <a:gd name="T31" fmla="*/ 56 h 62"/>
                  <a:gd name="T32" fmla="*/ 78 w 307"/>
                  <a:gd name="T33" fmla="*/ 59 h 62"/>
                  <a:gd name="T34" fmla="*/ 119 w 307"/>
                  <a:gd name="T35" fmla="*/ 61 h 62"/>
                  <a:gd name="T36" fmla="*/ 175 w 307"/>
                  <a:gd name="T37" fmla="*/ 56 h 62"/>
                  <a:gd name="T38" fmla="*/ 251 w 307"/>
                  <a:gd name="T39" fmla="*/ 45 h 62"/>
                  <a:gd name="T40" fmla="*/ 289 w 307"/>
                  <a:gd name="T41" fmla="*/ 40 h 62"/>
                  <a:gd name="T42" fmla="*/ 306 w 307"/>
                  <a:gd name="T43" fmla="*/ 38 h 62"/>
                  <a:gd name="T44" fmla="*/ 304 w 307"/>
                  <a:gd name="T45" fmla="*/ 9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07"/>
                  <a:gd name="T70" fmla="*/ 0 h 62"/>
                  <a:gd name="T71" fmla="*/ 307 w 307"/>
                  <a:gd name="T72" fmla="*/ 62 h 62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07" h="62">
                    <a:moveTo>
                      <a:pt x="304" y="9"/>
                    </a:moveTo>
                    <a:lnTo>
                      <a:pt x="270" y="8"/>
                    </a:lnTo>
                    <a:lnTo>
                      <a:pt x="206" y="5"/>
                    </a:lnTo>
                    <a:lnTo>
                      <a:pt x="158" y="0"/>
                    </a:lnTo>
                    <a:lnTo>
                      <a:pt x="113" y="2"/>
                    </a:lnTo>
                    <a:lnTo>
                      <a:pt x="70" y="5"/>
                    </a:lnTo>
                    <a:lnTo>
                      <a:pt x="43" y="10"/>
                    </a:lnTo>
                    <a:lnTo>
                      <a:pt x="19" y="15"/>
                    </a:lnTo>
                    <a:lnTo>
                      <a:pt x="10" y="20"/>
                    </a:lnTo>
                    <a:lnTo>
                      <a:pt x="3" y="24"/>
                    </a:lnTo>
                    <a:lnTo>
                      <a:pt x="1" y="31"/>
                    </a:lnTo>
                    <a:lnTo>
                      <a:pt x="0" y="40"/>
                    </a:lnTo>
                    <a:lnTo>
                      <a:pt x="2" y="44"/>
                    </a:lnTo>
                    <a:lnTo>
                      <a:pt x="10" y="48"/>
                    </a:lnTo>
                    <a:lnTo>
                      <a:pt x="17" y="51"/>
                    </a:lnTo>
                    <a:lnTo>
                      <a:pt x="37" y="56"/>
                    </a:lnTo>
                    <a:lnTo>
                      <a:pt x="78" y="59"/>
                    </a:lnTo>
                    <a:lnTo>
                      <a:pt x="119" y="61"/>
                    </a:lnTo>
                    <a:lnTo>
                      <a:pt x="175" y="56"/>
                    </a:lnTo>
                    <a:lnTo>
                      <a:pt x="251" y="45"/>
                    </a:lnTo>
                    <a:lnTo>
                      <a:pt x="289" y="40"/>
                    </a:lnTo>
                    <a:lnTo>
                      <a:pt x="306" y="38"/>
                    </a:lnTo>
                    <a:lnTo>
                      <a:pt x="304" y="9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06" name="Freeform 30"/>
              <p:cNvSpPr>
                <a:spLocks/>
              </p:cNvSpPr>
              <p:nvPr/>
            </p:nvSpPr>
            <p:spPr bwMode="auto">
              <a:xfrm>
                <a:off x="1725" y="2087"/>
                <a:ext cx="35" cy="38"/>
              </a:xfrm>
              <a:custGeom>
                <a:avLst/>
                <a:gdLst>
                  <a:gd name="T0" fmla="*/ 32 w 35"/>
                  <a:gd name="T1" fmla="*/ 2 h 38"/>
                  <a:gd name="T2" fmla="*/ 22 w 35"/>
                  <a:gd name="T3" fmla="*/ 2 h 38"/>
                  <a:gd name="T4" fmla="*/ 9 w 35"/>
                  <a:gd name="T5" fmla="*/ 0 h 38"/>
                  <a:gd name="T6" fmla="*/ 0 w 35"/>
                  <a:gd name="T7" fmla="*/ 1 h 38"/>
                  <a:gd name="T8" fmla="*/ 3 w 35"/>
                  <a:gd name="T9" fmla="*/ 37 h 38"/>
                  <a:gd name="T10" fmla="*/ 13 w 35"/>
                  <a:gd name="T11" fmla="*/ 37 h 38"/>
                  <a:gd name="T12" fmla="*/ 28 w 35"/>
                  <a:gd name="T13" fmla="*/ 33 h 38"/>
                  <a:gd name="T14" fmla="*/ 34 w 35"/>
                  <a:gd name="T15" fmla="*/ 32 h 38"/>
                  <a:gd name="T16" fmla="*/ 32 w 35"/>
                  <a:gd name="T17" fmla="*/ 2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"/>
                  <a:gd name="T28" fmla="*/ 0 h 38"/>
                  <a:gd name="T29" fmla="*/ 35 w 35"/>
                  <a:gd name="T30" fmla="*/ 38 h 3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" h="38">
                    <a:moveTo>
                      <a:pt x="32" y="2"/>
                    </a:moveTo>
                    <a:lnTo>
                      <a:pt x="22" y="2"/>
                    </a:lnTo>
                    <a:lnTo>
                      <a:pt x="9" y="0"/>
                    </a:lnTo>
                    <a:lnTo>
                      <a:pt x="0" y="1"/>
                    </a:lnTo>
                    <a:lnTo>
                      <a:pt x="3" y="37"/>
                    </a:lnTo>
                    <a:lnTo>
                      <a:pt x="13" y="37"/>
                    </a:lnTo>
                    <a:lnTo>
                      <a:pt x="28" y="33"/>
                    </a:lnTo>
                    <a:lnTo>
                      <a:pt x="34" y="32"/>
                    </a:lnTo>
                    <a:lnTo>
                      <a:pt x="32" y="2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79888" name="Oval 31"/>
            <p:cNvSpPr>
              <a:spLocks noChangeArrowheads="1"/>
            </p:cNvSpPr>
            <p:nvPr/>
          </p:nvSpPr>
          <p:spPr bwMode="auto">
            <a:xfrm>
              <a:off x="3912" y="2255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9889" name="Oval 32"/>
            <p:cNvSpPr>
              <a:spLocks noChangeArrowheads="1"/>
            </p:cNvSpPr>
            <p:nvPr/>
          </p:nvSpPr>
          <p:spPr bwMode="auto">
            <a:xfrm>
              <a:off x="4004" y="2346"/>
              <a:ext cx="357" cy="35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79890" name="Group 33"/>
            <p:cNvGrpSpPr>
              <a:grpSpLocks/>
            </p:cNvGrpSpPr>
            <p:nvPr/>
          </p:nvGrpSpPr>
          <p:grpSpPr bwMode="auto">
            <a:xfrm>
              <a:off x="3976" y="2891"/>
              <a:ext cx="521" cy="96"/>
              <a:chOff x="3628" y="2891"/>
              <a:chExt cx="521" cy="96"/>
            </a:xfrm>
          </p:grpSpPr>
          <p:sp>
            <p:nvSpPr>
              <p:cNvPr id="79901" name="Freeform 34"/>
              <p:cNvSpPr>
                <a:spLocks/>
              </p:cNvSpPr>
              <p:nvPr/>
            </p:nvSpPr>
            <p:spPr bwMode="auto">
              <a:xfrm>
                <a:off x="3628" y="2891"/>
                <a:ext cx="224" cy="96"/>
              </a:xfrm>
              <a:custGeom>
                <a:avLst/>
                <a:gdLst>
                  <a:gd name="T0" fmla="*/ 185 w 224"/>
                  <a:gd name="T1" fmla="*/ 59 h 96"/>
                  <a:gd name="T2" fmla="*/ 178 w 224"/>
                  <a:gd name="T3" fmla="*/ 60 h 96"/>
                  <a:gd name="T4" fmla="*/ 170 w 224"/>
                  <a:gd name="T5" fmla="*/ 65 h 96"/>
                  <a:gd name="T6" fmla="*/ 166 w 224"/>
                  <a:gd name="T7" fmla="*/ 71 h 96"/>
                  <a:gd name="T8" fmla="*/ 156 w 224"/>
                  <a:gd name="T9" fmla="*/ 77 h 96"/>
                  <a:gd name="T10" fmla="*/ 136 w 224"/>
                  <a:gd name="T11" fmla="*/ 86 h 96"/>
                  <a:gd name="T12" fmla="*/ 115 w 224"/>
                  <a:gd name="T13" fmla="*/ 93 h 96"/>
                  <a:gd name="T14" fmla="*/ 94 w 224"/>
                  <a:gd name="T15" fmla="*/ 94 h 96"/>
                  <a:gd name="T16" fmla="*/ 38 w 224"/>
                  <a:gd name="T17" fmla="*/ 93 h 96"/>
                  <a:gd name="T18" fmla="*/ 4 w 224"/>
                  <a:gd name="T19" fmla="*/ 88 h 96"/>
                  <a:gd name="T20" fmla="*/ 25 w 224"/>
                  <a:gd name="T21" fmla="*/ 81 h 96"/>
                  <a:gd name="T22" fmla="*/ 87 w 224"/>
                  <a:gd name="T23" fmla="*/ 80 h 96"/>
                  <a:gd name="T24" fmla="*/ 112 w 224"/>
                  <a:gd name="T25" fmla="*/ 78 h 96"/>
                  <a:gd name="T26" fmla="*/ 119 w 224"/>
                  <a:gd name="T27" fmla="*/ 76 h 96"/>
                  <a:gd name="T28" fmla="*/ 120 w 224"/>
                  <a:gd name="T29" fmla="*/ 72 h 96"/>
                  <a:gd name="T30" fmla="*/ 119 w 224"/>
                  <a:gd name="T31" fmla="*/ 70 h 96"/>
                  <a:gd name="T32" fmla="*/ 115 w 224"/>
                  <a:gd name="T33" fmla="*/ 68 h 96"/>
                  <a:gd name="T34" fmla="*/ 18 w 224"/>
                  <a:gd name="T35" fmla="*/ 66 h 96"/>
                  <a:gd name="T36" fmla="*/ 2 w 224"/>
                  <a:gd name="T37" fmla="*/ 59 h 96"/>
                  <a:gd name="T38" fmla="*/ 105 w 224"/>
                  <a:gd name="T39" fmla="*/ 51 h 96"/>
                  <a:gd name="T40" fmla="*/ 115 w 224"/>
                  <a:gd name="T41" fmla="*/ 50 h 96"/>
                  <a:gd name="T42" fmla="*/ 118 w 224"/>
                  <a:gd name="T43" fmla="*/ 48 h 96"/>
                  <a:gd name="T44" fmla="*/ 117 w 224"/>
                  <a:gd name="T45" fmla="*/ 43 h 96"/>
                  <a:gd name="T46" fmla="*/ 112 w 224"/>
                  <a:gd name="T47" fmla="*/ 41 h 96"/>
                  <a:gd name="T48" fmla="*/ 2 w 224"/>
                  <a:gd name="T49" fmla="*/ 43 h 96"/>
                  <a:gd name="T50" fmla="*/ 91 w 224"/>
                  <a:gd name="T51" fmla="*/ 29 h 96"/>
                  <a:gd name="T52" fmla="*/ 113 w 224"/>
                  <a:gd name="T53" fmla="*/ 25 h 96"/>
                  <a:gd name="T54" fmla="*/ 118 w 224"/>
                  <a:gd name="T55" fmla="*/ 20 h 96"/>
                  <a:gd name="T56" fmla="*/ 115 w 224"/>
                  <a:gd name="T57" fmla="*/ 16 h 96"/>
                  <a:gd name="T58" fmla="*/ 110 w 224"/>
                  <a:gd name="T59" fmla="*/ 16 h 96"/>
                  <a:gd name="T60" fmla="*/ 31 w 224"/>
                  <a:gd name="T61" fmla="*/ 18 h 96"/>
                  <a:gd name="T62" fmla="*/ 0 w 224"/>
                  <a:gd name="T63" fmla="*/ 14 h 96"/>
                  <a:gd name="T64" fmla="*/ 34 w 224"/>
                  <a:gd name="T65" fmla="*/ 8 h 96"/>
                  <a:gd name="T66" fmla="*/ 73 w 224"/>
                  <a:gd name="T67" fmla="*/ 2 h 96"/>
                  <a:gd name="T68" fmla="*/ 106 w 224"/>
                  <a:gd name="T69" fmla="*/ 1 h 96"/>
                  <a:gd name="T70" fmla="*/ 120 w 224"/>
                  <a:gd name="T71" fmla="*/ 2 h 96"/>
                  <a:gd name="T72" fmla="*/ 141 w 224"/>
                  <a:gd name="T73" fmla="*/ 8 h 96"/>
                  <a:gd name="T74" fmla="*/ 155 w 224"/>
                  <a:gd name="T75" fmla="*/ 15 h 96"/>
                  <a:gd name="T76" fmla="*/ 165 w 224"/>
                  <a:gd name="T77" fmla="*/ 21 h 96"/>
                  <a:gd name="T78" fmla="*/ 172 w 224"/>
                  <a:gd name="T79" fmla="*/ 28 h 96"/>
                  <a:gd name="T80" fmla="*/ 178 w 224"/>
                  <a:gd name="T81" fmla="*/ 29 h 96"/>
                  <a:gd name="T82" fmla="*/ 223 w 224"/>
                  <a:gd name="T83" fmla="*/ 36 h 9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24"/>
                  <a:gd name="T127" fmla="*/ 0 h 96"/>
                  <a:gd name="T128" fmla="*/ 224 w 224"/>
                  <a:gd name="T129" fmla="*/ 96 h 9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24" h="96">
                    <a:moveTo>
                      <a:pt x="214" y="57"/>
                    </a:moveTo>
                    <a:lnTo>
                      <a:pt x="185" y="59"/>
                    </a:lnTo>
                    <a:lnTo>
                      <a:pt x="180" y="60"/>
                    </a:lnTo>
                    <a:lnTo>
                      <a:pt x="178" y="60"/>
                    </a:lnTo>
                    <a:lnTo>
                      <a:pt x="175" y="61"/>
                    </a:lnTo>
                    <a:lnTo>
                      <a:pt x="170" y="65"/>
                    </a:lnTo>
                    <a:lnTo>
                      <a:pt x="168" y="69"/>
                    </a:lnTo>
                    <a:lnTo>
                      <a:pt x="166" y="71"/>
                    </a:lnTo>
                    <a:lnTo>
                      <a:pt x="162" y="74"/>
                    </a:lnTo>
                    <a:lnTo>
                      <a:pt x="156" y="77"/>
                    </a:lnTo>
                    <a:lnTo>
                      <a:pt x="152" y="80"/>
                    </a:lnTo>
                    <a:lnTo>
                      <a:pt x="136" y="86"/>
                    </a:lnTo>
                    <a:lnTo>
                      <a:pt x="127" y="90"/>
                    </a:lnTo>
                    <a:lnTo>
                      <a:pt x="115" y="93"/>
                    </a:lnTo>
                    <a:lnTo>
                      <a:pt x="102" y="95"/>
                    </a:lnTo>
                    <a:lnTo>
                      <a:pt x="94" y="94"/>
                    </a:lnTo>
                    <a:lnTo>
                      <a:pt x="59" y="94"/>
                    </a:lnTo>
                    <a:lnTo>
                      <a:pt x="38" y="93"/>
                    </a:lnTo>
                    <a:lnTo>
                      <a:pt x="17" y="90"/>
                    </a:lnTo>
                    <a:lnTo>
                      <a:pt x="4" y="88"/>
                    </a:lnTo>
                    <a:lnTo>
                      <a:pt x="4" y="81"/>
                    </a:lnTo>
                    <a:lnTo>
                      <a:pt x="25" y="81"/>
                    </a:lnTo>
                    <a:lnTo>
                      <a:pt x="61" y="81"/>
                    </a:lnTo>
                    <a:lnTo>
                      <a:pt x="87" y="80"/>
                    </a:lnTo>
                    <a:lnTo>
                      <a:pt x="103" y="80"/>
                    </a:lnTo>
                    <a:lnTo>
                      <a:pt x="112" y="78"/>
                    </a:lnTo>
                    <a:lnTo>
                      <a:pt x="115" y="78"/>
                    </a:lnTo>
                    <a:lnTo>
                      <a:pt x="119" y="76"/>
                    </a:lnTo>
                    <a:lnTo>
                      <a:pt x="120" y="76"/>
                    </a:lnTo>
                    <a:lnTo>
                      <a:pt x="120" y="72"/>
                    </a:lnTo>
                    <a:lnTo>
                      <a:pt x="121" y="69"/>
                    </a:lnTo>
                    <a:lnTo>
                      <a:pt x="119" y="70"/>
                    </a:lnTo>
                    <a:lnTo>
                      <a:pt x="117" y="68"/>
                    </a:lnTo>
                    <a:lnTo>
                      <a:pt x="115" y="68"/>
                    </a:lnTo>
                    <a:lnTo>
                      <a:pt x="53" y="67"/>
                    </a:lnTo>
                    <a:lnTo>
                      <a:pt x="18" y="66"/>
                    </a:lnTo>
                    <a:lnTo>
                      <a:pt x="3" y="65"/>
                    </a:lnTo>
                    <a:lnTo>
                      <a:pt x="2" y="59"/>
                    </a:lnTo>
                    <a:lnTo>
                      <a:pt x="52" y="54"/>
                    </a:lnTo>
                    <a:lnTo>
                      <a:pt x="105" y="51"/>
                    </a:lnTo>
                    <a:lnTo>
                      <a:pt x="113" y="51"/>
                    </a:lnTo>
                    <a:lnTo>
                      <a:pt x="115" y="50"/>
                    </a:lnTo>
                    <a:lnTo>
                      <a:pt x="118" y="49"/>
                    </a:lnTo>
                    <a:lnTo>
                      <a:pt x="118" y="48"/>
                    </a:lnTo>
                    <a:lnTo>
                      <a:pt x="117" y="44"/>
                    </a:lnTo>
                    <a:lnTo>
                      <a:pt x="117" y="43"/>
                    </a:lnTo>
                    <a:lnTo>
                      <a:pt x="114" y="43"/>
                    </a:lnTo>
                    <a:lnTo>
                      <a:pt x="112" y="41"/>
                    </a:lnTo>
                    <a:lnTo>
                      <a:pt x="111" y="42"/>
                    </a:lnTo>
                    <a:lnTo>
                      <a:pt x="2" y="43"/>
                    </a:lnTo>
                    <a:lnTo>
                      <a:pt x="1" y="36"/>
                    </a:lnTo>
                    <a:lnTo>
                      <a:pt x="91" y="29"/>
                    </a:lnTo>
                    <a:lnTo>
                      <a:pt x="110" y="25"/>
                    </a:lnTo>
                    <a:lnTo>
                      <a:pt x="113" y="25"/>
                    </a:lnTo>
                    <a:lnTo>
                      <a:pt x="117" y="23"/>
                    </a:lnTo>
                    <a:lnTo>
                      <a:pt x="118" y="20"/>
                    </a:lnTo>
                    <a:lnTo>
                      <a:pt x="117" y="18"/>
                    </a:lnTo>
                    <a:lnTo>
                      <a:pt x="115" y="16"/>
                    </a:lnTo>
                    <a:lnTo>
                      <a:pt x="112" y="16"/>
                    </a:lnTo>
                    <a:lnTo>
                      <a:pt x="110" y="16"/>
                    </a:lnTo>
                    <a:lnTo>
                      <a:pt x="72" y="16"/>
                    </a:lnTo>
                    <a:lnTo>
                      <a:pt x="31" y="18"/>
                    </a:lnTo>
                    <a:lnTo>
                      <a:pt x="0" y="22"/>
                    </a:lnTo>
                    <a:lnTo>
                      <a:pt x="0" y="14"/>
                    </a:lnTo>
                    <a:lnTo>
                      <a:pt x="12" y="11"/>
                    </a:lnTo>
                    <a:lnTo>
                      <a:pt x="34" y="8"/>
                    </a:lnTo>
                    <a:lnTo>
                      <a:pt x="53" y="3"/>
                    </a:lnTo>
                    <a:lnTo>
                      <a:pt x="73" y="2"/>
                    </a:lnTo>
                    <a:lnTo>
                      <a:pt x="96" y="0"/>
                    </a:lnTo>
                    <a:lnTo>
                      <a:pt x="106" y="1"/>
                    </a:lnTo>
                    <a:lnTo>
                      <a:pt x="114" y="1"/>
                    </a:lnTo>
                    <a:lnTo>
                      <a:pt x="120" y="2"/>
                    </a:lnTo>
                    <a:lnTo>
                      <a:pt x="132" y="4"/>
                    </a:lnTo>
                    <a:lnTo>
                      <a:pt x="141" y="8"/>
                    </a:lnTo>
                    <a:lnTo>
                      <a:pt x="150" y="12"/>
                    </a:lnTo>
                    <a:lnTo>
                      <a:pt x="155" y="15"/>
                    </a:lnTo>
                    <a:lnTo>
                      <a:pt x="164" y="20"/>
                    </a:lnTo>
                    <a:lnTo>
                      <a:pt x="165" y="21"/>
                    </a:lnTo>
                    <a:lnTo>
                      <a:pt x="168" y="23"/>
                    </a:lnTo>
                    <a:lnTo>
                      <a:pt x="172" y="28"/>
                    </a:lnTo>
                    <a:lnTo>
                      <a:pt x="174" y="29"/>
                    </a:lnTo>
                    <a:lnTo>
                      <a:pt x="178" y="29"/>
                    </a:lnTo>
                    <a:lnTo>
                      <a:pt x="215" y="29"/>
                    </a:lnTo>
                    <a:lnTo>
                      <a:pt x="223" y="36"/>
                    </a:lnTo>
                    <a:lnTo>
                      <a:pt x="214" y="57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02" name="Freeform 35"/>
              <p:cNvSpPr>
                <a:spLocks/>
              </p:cNvSpPr>
              <p:nvPr/>
            </p:nvSpPr>
            <p:spPr bwMode="auto">
              <a:xfrm>
                <a:off x="3841" y="2900"/>
                <a:ext cx="308" cy="61"/>
              </a:xfrm>
              <a:custGeom>
                <a:avLst/>
                <a:gdLst>
                  <a:gd name="T0" fmla="*/ 1 w 308"/>
                  <a:gd name="T1" fmla="*/ 50 h 61"/>
                  <a:gd name="T2" fmla="*/ 37 w 308"/>
                  <a:gd name="T3" fmla="*/ 50 h 61"/>
                  <a:gd name="T4" fmla="*/ 100 w 308"/>
                  <a:gd name="T5" fmla="*/ 56 h 61"/>
                  <a:gd name="T6" fmla="*/ 147 w 308"/>
                  <a:gd name="T7" fmla="*/ 60 h 61"/>
                  <a:gd name="T8" fmla="*/ 192 w 308"/>
                  <a:gd name="T9" fmla="*/ 60 h 61"/>
                  <a:gd name="T10" fmla="*/ 236 w 308"/>
                  <a:gd name="T11" fmla="*/ 58 h 61"/>
                  <a:gd name="T12" fmla="*/ 264 w 308"/>
                  <a:gd name="T13" fmla="*/ 52 h 61"/>
                  <a:gd name="T14" fmla="*/ 287 w 308"/>
                  <a:gd name="T15" fmla="*/ 49 h 61"/>
                  <a:gd name="T16" fmla="*/ 297 w 308"/>
                  <a:gd name="T17" fmla="*/ 44 h 61"/>
                  <a:gd name="T18" fmla="*/ 302 w 308"/>
                  <a:gd name="T19" fmla="*/ 40 h 61"/>
                  <a:gd name="T20" fmla="*/ 307 w 308"/>
                  <a:gd name="T21" fmla="*/ 34 h 61"/>
                  <a:gd name="T22" fmla="*/ 306 w 308"/>
                  <a:gd name="T23" fmla="*/ 25 h 61"/>
                  <a:gd name="T24" fmla="*/ 304 w 308"/>
                  <a:gd name="T25" fmla="*/ 20 h 61"/>
                  <a:gd name="T26" fmla="*/ 298 w 308"/>
                  <a:gd name="T27" fmla="*/ 15 h 61"/>
                  <a:gd name="T28" fmla="*/ 290 w 308"/>
                  <a:gd name="T29" fmla="*/ 12 h 61"/>
                  <a:gd name="T30" fmla="*/ 270 w 308"/>
                  <a:gd name="T31" fmla="*/ 8 h 61"/>
                  <a:gd name="T32" fmla="*/ 229 w 308"/>
                  <a:gd name="T33" fmla="*/ 3 h 61"/>
                  <a:gd name="T34" fmla="*/ 189 w 308"/>
                  <a:gd name="T35" fmla="*/ 0 h 61"/>
                  <a:gd name="T36" fmla="*/ 131 w 308"/>
                  <a:gd name="T37" fmla="*/ 5 h 61"/>
                  <a:gd name="T38" fmla="*/ 56 w 308"/>
                  <a:gd name="T39" fmla="*/ 13 h 61"/>
                  <a:gd name="T40" fmla="*/ 18 w 308"/>
                  <a:gd name="T41" fmla="*/ 18 h 61"/>
                  <a:gd name="T42" fmla="*/ 0 w 308"/>
                  <a:gd name="T43" fmla="*/ 19 h 61"/>
                  <a:gd name="T44" fmla="*/ 1 w 308"/>
                  <a:gd name="T45" fmla="*/ 50 h 6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08"/>
                  <a:gd name="T70" fmla="*/ 0 h 61"/>
                  <a:gd name="T71" fmla="*/ 308 w 308"/>
                  <a:gd name="T72" fmla="*/ 61 h 6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08" h="61">
                    <a:moveTo>
                      <a:pt x="1" y="50"/>
                    </a:moveTo>
                    <a:lnTo>
                      <a:pt x="37" y="50"/>
                    </a:lnTo>
                    <a:lnTo>
                      <a:pt x="100" y="56"/>
                    </a:lnTo>
                    <a:lnTo>
                      <a:pt x="147" y="60"/>
                    </a:lnTo>
                    <a:lnTo>
                      <a:pt x="192" y="60"/>
                    </a:lnTo>
                    <a:lnTo>
                      <a:pt x="236" y="58"/>
                    </a:lnTo>
                    <a:lnTo>
                      <a:pt x="264" y="52"/>
                    </a:lnTo>
                    <a:lnTo>
                      <a:pt x="287" y="49"/>
                    </a:lnTo>
                    <a:lnTo>
                      <a:pt x="297" y="44"/>
                    </a:lnTo>
                    <a:lnTo>
                      <a:pt x="302" y="40"/>
                    </a:lnTo>
                    <a:lnTo>
                      <a:pt x="307" y="34"/>
                    </a:lnTo>
                    <a:lnTo>
                      <a:pt x="306" y="25"/>
                    </a:lnTo>
                    <a:lnTo>
                      <a:pt x="304" y="20"/>
                    </a:lnTo>
                    <a:lnTo>
                      <a:pt x="298" y="15"/>
                    </a:lnTo>
                    <a:lnTo>
                      <a:pt x="290" y="12"/>
                    </a:lnTo>
                    <a:lnTo>
                      <a:pt x="270" y="8"/>
                    </a:lnTo>
                    <a:lnTo>
                      <a:pt x="229" y="3"/>
                    </a:lnTo>
                    <a:lnTo>
                      <a:pt x="189" y="0"/>
                    </a:lnTo>
                    <a:lnTo>
                      <a:pt x="131" y="5"/>
                    </a:lnTo>
                    <a:lnTo>
                      <a:pt x="56" y="13"/>
                    </a:lnTo>
                    <a:lnTo>
                      <a:pt x="18" y="18"/>
                    </a:lnTo>
                    <a:lnTo>
                      <a:pt x="0" y="19"/>
                    </a:lnTo>
                    <a:lnTo>
                      <a:pt x="1" y="5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9903" name="Freeform 36"/>
              <p:cNvSpPr>
                <a:spLocks/>
              </p:cNvSpPr>
              <p:nvPr/>
            </p:nvSpPr>
            <p:spPr bwMode="auto">
              <a:xfrm>
                <a:off x="3841" y="2916"/>
                <a:ext cx="34" cy="37"/>
              </a:xfrm>
              <a:custGeom>
                <a:avLst/>
                <a:gdLst>
                  <a:gd name="T0" fmla="*/ 1 w 34"/>
                  <a:gd name="T1" fmla="*/ 34 h 37"/>
                  <a:gd name="T2" fmla="*/ 13 w 34"/>
                  <a:gd name="T3" fmla="*/ 34 h 37"/>
                  <a:gd name="T4" fmla="*/ 23 w 34"/>
                  <a:gd name="T5" fmla="*/ 36 h 37"/>
                  <a:gd name="T6" fmla="*/ 33 w 34"/>
                  <a:gd name="T7" fmla="*/ 35 h 37"/>
                  <a:gd name="T8" fmla="*/ 31 w 34"/>
                  <a:gd name="T9" fmla="*/ 0 h 37"/>
                  <a:gd name="T10" fmla="*/ 22 w 34"/>
                  <a:gd name="T11" fmla="*/ 1 h 37"/>
                  <a:gd name="T12" fmla="*/ 6 w 34"/>
                  <a:gd name="T13" fmla="*/ 4 h 37"/>
                  <a:gd name="T14" fmla="*/ 0 w 34"/>
                  <a:gd name="T15" fmla="*/ 3 h 37"/>
                  <a:gd name="T16" fmla="*/ 1 w 34"/>
                  <a:gd name="T17" fmla="*/ 34 h 3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4"/>
                  <a:gd name="T28" fmla="*/ 0 h 37"/>
                  <a:gd name="T29" fmla="*/ 34 w 34"/>
                  <a:gd name="T30" fmla="*/ 37 h 3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4" h="37">
                    <a:moveTo>
                      <a:pt x="1" y="34"/>
                    </a:moveTo>
                    <a:lnTo>
                      <a:pt x="13" y="34"/>
                    </a:lnTo>
                    <a:lnTo>
                      <a:pt x="23" y="36"/>
                    </a:lnTo>
                    <a:lnTo>
                      <a:pt x="33" y="35"/>
                    </a:lnTo>
                    <a:lnTo>
                      <a:pt x="31" y="0"/>
                    </a:lnTo>
                    <a:lnTo>
                      <a:pt x="22" y="1"/>
                    </a:lnTo>
                    <a:lnTo>
                      <a:pt x="6" y="4"/>
                    </a:lnTo>
                    <a:lnTo>
                      <a:pt x="0" y="3"/>
                    </a:lnTo>
                    <a:lnTo>
                      <a:pt x="1" y="34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79891" name="Oval 37"/>
            <p:cNvSpPr>
              <a:spLocks noChangeArrowheads="1"/>
            </p:cNvSpPr>
            <p:nvPr/>
          </p:nvSpPr>
          <p:spPr bwMode="auto">
            <a:xfrm>
              <a:off x="2892" y="2260"/>
              <a:ext cx="540" cy="53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9892" name="Freeform 38"/>
            <p:cNvSpPr>
              <a:spLocks/>
            </p:cNvSpPr>
            <p:nvPr/>
          </p:nvSpPr>
          <p:spPr bwMode="auto">
            <a:xfrm>
              <a:off x="3008" y="2309"/>
              <a:ext cx="387" cy="379"/>
            </a:xfrm>
            <a:custGeom>
              <a:avLst/>
              <a:gdLst>
                <a:gd name="T0" fmla="*/ 37 w 387"/>
                <a:gd name="T1" fmla="*/ 66 h 379"/>
                <a:gd name="T2" fmla="*/ 89 w 387"/>
                <a:gd name="T3" fmla="*/ 74 h 379"/>
                <a:gd name="T4" fmla="*/ 97 w 387"/>
                <a:gd name="T5" fmla="*/ 118 h 379"/>
                <a:gd name="T6" fmla="*/ 97 w 387"/>
                <a:gd name="T7" fmla="*/ 163 h 379"/>
                <a:gd name="T8" fmla="*/ 60 w 387"/>
                <a:gd name="T9" fmla="*/ 192 h 379"/>
                <a:gd name="T10" fmla="*/ 30 w 387"/>
                <a:gd name="T11" fmla="*/ 163 h 379"/>
                <a:gd name="T12" fmla="*/ 52 w 387"/>
                <a:gd name="T13" fmla="*/ 148 h 379"/>
                <a:gd name="T14" fmla="*/ 104 w 387"/>
                <a:gd name="T15" fmla="*/ 118 h 379"/>
                <a:gd name="T16" fmla="*/ 104 w 387"/>
                <a:gd name="T17" fmla="*/ 74 h 379"/>
                <a:gd name="T18" fmla="*/ 112 w 387"/>
                <a:gd name="T19" fmla="*/ 74 h 379"/>
                <a:gd name="T20" fmla="*/ 82 w 387"/>
                <a:gd name="T21" fmla="*/ 29 h 379"/>
                <a:gd name="T22" fmla="*/ 82 w 387"/>
                <a:gd name="T23" fmla="*/ 59 h 379"/>
                <a:gd name="T24" fmla="*/ 89 w 387"/>
                <a:gd name="T25" fmla="*/ 178 h 379"/>
                <a:gd name="T26" fmla="*/ 89 w 387"/>
                <a:gd name="T27" fmla="*/ 244 h 379"/>
                <a:gd name="T28" fmla="*/ 119 w 387"/>
                <a:gd name="T29" fmla="*/ 192 h 379"/>
                <a:gd name="T30" fmla="*/ 97 w 387"/>
                <a:gd name="T31" fmla="*/ 192 h 379"/>
                <a:gd name="T32" fmla="*/ 30 w 387"/>
                <a:gd name="T33" fmla="*/ 222 h 379"/>
                <a:gd name="T34" fmla="*/ 15 w 387"/>
                <a:gd name="T35" fmla="*/ 341 h 379"/>
                <a:gd name="T36" fmla="*/ 67 w 387"/>
                <a:gd name="T37" fmla="*/ 378 h 379"/>
                <a:gd name="T38" fmla="*/ 134 w 387"/>
                <a:gd name="T39" fmla="*/ 318 h 379"/>
                <a:gd name="T40" fmla="*/ 134 w 387"/>
                <a:gd name="T41" fmla="*/ 266 h 379"/>
                <a:gd name="T42" fmla="*/ 97 w 387"/>
                <a:gd name="T43" fmla="*/ 318 h 379"/>
                <a:gd name="T44" fmla="*/ 156 w 387"/>
                <a:gd name="T45" fmla="*/ 370 h 379"/>
                <a:gd name="T46" fmla="*/ 134 w 387"/>
                <a:gd name="T47" fmla="*/ 341 h 379"/>
                <a:gd name="T48" fmla="*/ 37 w 387"/>
                <a:gd name="T49" fmla="*/ 237 h 379"/>
                <a:gd name="T50" fmla="*/ 89 w 387"/>
                <a:gd name="T51" fmla="*/ 104 h 379"/>
                <a:gd name="T52" fmla="*/ 163 w 387"/>
                <a:gd name="T53" fmla="*/ 104 h 379"/>
                <a:gd name="T54" fmla="*/ 193 w 387"/>
                <a:gd name="T55" fmla="*/ 222 h 379"/>
                <a:gd name="T56" fmla="*/ 312 w 387"/>
                <a:gd name="T57" fmla="*/ 215 h 379"/>
                <a:gd name="T58" fmla="*/ 304 w 387"/>
                <a:gd name="T59" fmla="*/ 89 h 379"/>
                <a:gd name="T60" fmla="*/ 200 w 387"/>
                <a:gd name="T61" fmla="*/ 59 h 379"/>
                <a:gd name="T62" fmla="*/ 134 w 387"/>
                <a:gd name="T63" fmla="*/ 59 h 379"/>
                <a:gd name="T64" fmla="*/ 275 w 387"/>
                <a:gd name="T65" fmla="*/ 66 h 379"/>
                <a:gd name="T66" fmla="*/ 282 w 387"/>
                <a:gd name="T67" fmla="*/ 133 h 379"/>
                <a:gd name="T68" fmla="*/ 289 w 387"/>
                <a:gd name="T69" fmla="*/ 215 h 379"/>
                <a:gd name="T70" fmla="*/ 289 w 387"/>
                <a:gd name="T71" fmla="*/ 266 h 379"/>
                <a:gd name="T72" fmla="*/ 289 w 387"/>
                <a:gd name="T73" fmla="*/ 333 h 379"/>
                <a:gd name="T74" fmla="*/ 245 w 387"/>
                <a:gd name="T75" fmla="*/ 363 h 379"/>
                <a:gd name="T76" fmla="*/ 200 w 387"/>
                <a:gd name="T77" fmla="*/ 304 h 379"/>
                <a:gd name="T78" fmla="*/ 215 w 387"/>
                <a:gd name="T79" fmla="*/ 318 h 379"/>
                <a:gd name="T80" fmla="*/ 319 w 387"/>
                <a:gd name="T81" fmla="*/ 333 h 379"/>
                <a:gd name="T82" fmla="*/ 386 w 387"/>
                <a:gd name="T83" fmla="*/ 259 h 379"/>
                <a:gd name="T84" fmla="*/ 378 w 387"/>
                <a:gd name="T85" fmla="*/ 141 h 379"/>
                <a:gd name="T86" fmla="*/ 200 w 387"/>
                <a:gd name="T87" fmla="*/ 37 h 379"/>
                <a:gd name="T88" fmla="*/ 149 w 387"/>
                <a:gd name="T89" fmla="*/ 89 h 379"/>
                <a:gd name="T90" fmla="*/ 163 w 387"/>
                <a:gd name="T91" fmla="*/ 155 h 37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87"/>
                <a:gd name="T139" fmla="*/ 0 h 379"/>
                <a:gd name="T140" fmla="*/ 387 w 387"/>
                <a:gd name="T141" fmla="*/ 379 h 37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87" h="379">
                  <a:moveTo>
                    <a:pt x="12" y="81"/>
                  </a:moveTo>
                  <a:lnTo>
                    <a:pt x="37" y="66"/>
                  </a:lnTo>
                  <a:lnTo>
                    <a:pt x="67" y="66"/>
                  </a:lnTo>
                  <a:lnTo>
                    <a:pt x="89" y="74"/>
                  </a:lnTo>
                  <a:lnTo>
                    <a:pt x="97" y="96"/>
                  </a:lnTo>
                  <a:lnTo>
                    <a:pt x="97" y="118"/>
                  </a:lnTo>
                  <a:lnTo>
                    <a:pt x="97" y="141"/>
                  </a:lnTo>
                  <a:lnTo>
                    <a:pt x="97" y="163"/>
                  </a:lnTo>
                  <a:lnTo>
                    <a:pt x="82" y="185"/>
                  </a:lnTo>
                  <a:lnTo>
                    <a:pt x="60" y="192"/>
                  </a:lnTo>
                  <a:lnTo>
                    <a:pt x="37" y="192"/>
                  </a:lnTo>
                  <a:lnTo>
                    <a:pt x="30" y="163"/>
                  </a:lnTo>
                  <a:lnTo>
                    <a:pt x="30" y="133"/>
                  </a:lnTo>
                  <a:lnTo>
                    <a:pt x="52" y="148"/>
                  </a:lnTo>
                  <a:lnTo>
                    <a:pt x="82" y="148"/>
                  </a:lnTo>
                  <a:lnTo>
                    <a:pt x="104" y="118"/>
                  </a:lnTo>
                  <a:lnTo>
                    <a:pt x="104" y="96"/>
                  </a:lnTo>
                  <a:lnTo>
                    <a:pt x="104" y="74"/>
                  </a:lnTo>
                  <a:lnTo>
                    <a:pt x="82" y="59"/>
                  </a:lnTo>
                  <a:lnTo>
                    <a:pt x="112" y="74"/>
                  </a:lnTo>
                  <a:lnTo>
                    <a:pt x="112" y="96"/>
                  </a:lnTo>
                  <a:lnTo>
                    <a:pt x="82" y="29"/>
                  </a:lnTo>
                  <a:lnTo>
                    <a:pt x="75" y="0"/>
                  </a:lnTo>
                  <a:lnTo>
                    <a:pt x="82" y="59"/>
                  </a:lnTo>
                  <a:lnTo>
                    <a:pt x="89" y="118"/>
                  </a:lnTo>
                  <a:lnTo>
                    <a:pt x="89" y="178"/>
                  </a:lnTo>
                  <a:lnTo>
                    <a:pt x="89" y="222"/>
                  </a:lnTo>
                  <a:lnTo>
                    <a:pt x="89" y="244"/>
                  </a:lnTo>
                  <a:lnTo>
                    <a:pt x="112" y="244"/>
                  </a:lnTo>
                  <a:lnTo>
                    <a:pt x="119" y="192"/>
                  </a:lnTo>
                  <a:lnTo>
                    <a:pt x="112" y="170"/>
                  </a:lnTo>
                  <a:lnTo>
                    <a:pt x="97" y="192"/>
                  </a:lnTo>
                  <a:lnTo>
                    <a:pt x="45" y="178"/>
                  </a:lnTo>
                  <a:lnTo>
                    <a:pt x="30" y="222"/>
                  </a:lnTo>
                  <a:lnTo>
                    <a:pt x="15" y="296"/>
                  </a:lnTo>
                  <a:lnTo>
                    <a:pt x="15" y="341"/>
                  </a:lnTo>
                  <a:lnTo>
                    <a:pt x="0" y="370"/>
                  </a:lnTo>
                  <a:lnTo>
                    <a:pt x="67" y="378"/>
                  </a:lnTo>
                  <a:lnTo>
                    <a:pt x="126" y="363"/>
                  </a:lnTo>
                  <a:lnTo>
                    <a:pt x="134" y="318"/>
                  </a:lnTo>
                  <a:lnTo>
                    <a:pt x="141" y="289"/>
                  </a:lnTo>
                  <a:lnTo>
                    <a:pt x="134" y="266"/>
                  </a:lnTo>
                  <a:lnTo>
                    <a:pt x="112" y="252"/>
                  </a:lnTo>
                  <a:lnTo>
                    <a:pt x="97" y="318"/>
                  </a:lnTo>
                  <a:lnTo>
                    <a:pt x="97" y="363"/>
                  </a:lnTo>
                  <a:lnTo>
                    <a:pt x="156" y="370"/>
                  </a:lnTo>
                  <a:lnTo>
                    <a:pt x="178" y="363"/>
                  </a:lnTo>
                  <a:lnTo>
                    <a:pt x="134" y="341"/>
                  </a:lnTo>
                  <a:lnTo>
                    <a:pt x="45" y="281"/>
                  </a:lnTo>
                  <a:lnTo>
                    <a:pt x="37" y="237"/>
                  </a:lnTo>
                  <a:lnTo>
                    <a:pt x="45" y="148"/>
                  </a:lnTo>
                  <a:lnTo>
                    <a:pt x="89" y="104"/>
                  </a:lnTo>
                  <a:lnTo>
                    <a:pt x="134" y="104"/>
                  </a:lnTo>
                  <a:lnTo>
                    <a:pt x="163" y="104"/>
                  </a:lnTo>
                  <a:lnTo>
                    <a:pt x="186" y="178"/>
                  </a:lnTo>
                  <a:lnTo>
                    <a:pt x="193" y="222"/>
                  </a:lnTo>
                  <a:lnTo>
                    <a:pt x="252" y="229"/>
                  </a:lnTo>
                  <a:lnTo>
                    <a:pt x="312" y="215"/>
                  </a:lnTo>
                  <a:lnTo>
                    <a:pt x="319" y="163"/>
                  </a:lnTo>
                  <a:lnTo>
                    <a:pt x="304" y="89"/>
                  </a:lnTo>
                  <a:lnTo>
                    <a:pt x="260" y="74"/>
                  </a:lnTo>
                  <a:lnTo>
                    <a:pt x="200" y="59"/>
                  </a:lnTo>
                  <a:lnTo>
                    <a:pt x="156" y="59"/>
                  </a:lnTo>
                  <a:lnTo>
                    <a:pt x="134" y="59"/>
                  </a:lnTo>
                  <a:lnTo>
                    <a:pt x="215" y="59"/>
                  </a:lnTo>
                  <a:lnTo>
                    <a:pt x="275" y="66"/>
                  </a:lnTo>
                  <a:lnTo>
                    <a:pt x="275" y="89"/>
                  </a:lnTo>
                  <a:lnTo>
                    <a:pt x="282" y="133"/>
                  </a:lnTo>
                  <a:lnTo>
                    <a:pt x="289" y="192"/>
                  </a:lnTo>
                  <a:lnTo>
                    <a:pt x="289" y="215"/>
                  </a:lnTo>
                  <a:lnTo>
                    <a:pt x="289" y="237"/>
                  </a:lnTo>
                  <a:lnTo>
                    <a:pt x="289" y="266"/>
                  </a:lnTo>
                  <a:lnTo>
                    <a:pt x="289" y="289"/>
                  </a:lnTo>
                  <a:lnTo>
                    <a:pt x="289" y="333"/>
                  </a:lnTo>
                  <a:lnTo>
                    <a:pt x="275" y="355"/>
                  </a:lnTo>
                  <a:lnTo>
                    <a:pt x="245" y="363"/>
                  </a:lnTo>
                  <a:lnTo>
                    <a:pt x="223" y="363"/>
                  </a:lnTo>
                  <a:lnTo>
                    <a:pt x="200" y="304"/>
                  </a:lnTo>
                  <a:lnTo>
                    <a:pt x="200" y="244"/>
                  </a:lnTo>
                  <a:lnTo>
                    <a:pt x="215" y="318"/>
                  </a:lnTo>
                  <a:lnTo>
                    <a:pt x="275" y="333"/>
                  </a:lnTo>
                  <a:lnTo>
                    <a:pt x="319" y="333"/>
                  </a:lnTo>
                  <a:lnTo>
                    <a:pt x="378" y="318"/>
                  </a:lnTo>
                  <a:lnTo>
                    <a:pt x="386" y="259"/>
                  </a:lnTo>
                  <a:lnTo>
                    <a:pt x="386" y="200"/>
                  </a:lnTo>
                  <a:lnTo>
                    <a:pt x="378" y="141"/>
                  </a:lnTo>
                  <a:lnTo>
                    <a:pt x="304" y="81"/>
                  </a:lnTo>
                  <a:lnTo>
                    <a:pt x="200" y="37"/>
                  </a:lnTo>
                  <a:lnTo>
                    <a:pt x="156" y="29"/>
                  </a:lnTo>
                  <a:lnTo>
                    <a:pt x="149" y="89"/>
                  </a:lnTo>
                  <a:lnTo>
                    <a:pt x="149" y="133"/>
                  </a:lnTo>
                  <a:lnTo>
                    <a:pt x="163" y="155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3" name="Freeform 39"/>
            <p:cNvSpPr>
              <a:spLocks/>
            </p:cNvSpPr>
            <p:nvPr/>
          </p:nvSpPr>
          <p:spPr bwMode="auto">
            <a:xfrm>
              <a:off x="2972" y="2438"/>
              <a:ext cx="215" cy="316"/>
            </a:xfrm>
            <a:custGeom>
              <a:avLst/>
              <a:gdLst>
                <a:gd name="T0" fmla="*/ 0 w 215"/>
                <a:gd name="T1" fmla="*/ 0 h 316"/>
                <a:gd name="T2" fmla="*/ 51 w 215"/>
                <a:gd name="T3" fmla="*/ 19 h 316"/>
                <a:gd name="T4" fmla="*/ 111 w 215"/>
                <a:gd name="T5" fmla="*/ 19 h 316"/>
                <a:gd name="T6" fmla="*/ 133 w 215"/>
                <a:gd name="T7" fmla="*/ 19 h 316"/>
                <a:gd name="T8" fmla="*/ 155 w 215"/>
                <a:gd name="T9" fmla="*/ 49 h 316"/>
                <a:gd name="T10" fmla="*/ 162 w 215"/>
                <a:gd name="T11" fmla="*/ 71 h 316"/>
                <a:gd name="T12" fmla="*/ 162 w 215"/>
                <a:gd name="T13" fmla="*/ 93 h 316"/>
                <a:gd name="T14" fmla="*/ 162 w 215"/>
                <a:gd name="T15" fmla="*/ 115 h 316"/>
                <a:gd name="T16" fmla="*/ 162 w 215"/>
                <a:gd name="T17" fmla="*/ 137 h 316"/>
                <a:gd name="T18" fmla="*/ 162 w 215"/>
                <a:gd name="T19" fmla="*/ 167 h 316"/>
                <a:gd name="T20" fmla="*/ 185 w 215"/>
                <a:gd name="T21" fmla="*/ 182 h 316"/>
                <a:gd name="T22" fmla="*/ 214 w 215"/>
                <a:gd name="T23" fmla="*/ 182 h 316"/>
                <a:gd name="T24" fmla="*/ 214 w 215"/>
                <a:gd name="T25" fmla="*/ 219 h 316"/>
                <a:gd name="T26" fmla="*/ 155 w 215"/>
                <a:gd name="T27" fmla="*/ 278 h 316"/>
                <a:gd name="T28" fmla="*/ 185 w 215"/>
                <a:gd name="T29" fmla="*/ 263 h 316"/>
                <a:gd name="T30" fmla="*/ 199 w 215"/>
                <a:gd name="T31" fmla="*/ 293 h 316"/>
                <a:gd name="T32" fmla="*/ 214 w 215"/>
                <a:gd name="T33" fmla="*/ 315 h 3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5"/>
                <a:gd name="T52" fmla="*/ 0 h 316"/>
                <a:gd name="T53" fmla="*/ 215 w 215"/>
                <a:gd name="T54" fmla="*/ 316 h 3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5" h="316">
                  <a:moveTo>
                    <a:pt x="0" y="0"/>
                  </a:moveTo>
                  <a:lnTo>
                    <a:pt x="51" y="19"/>
                  </a:lnTo>
                  <a:lnTo>
                    <a:pt x="111" y="19"/>
                  </a:lnTo>
                  <a:lnTo>
                    <a:pt x="133" y="19"/>
                  </a:lnTo>
                  <a:lnTo>
                    <a:pt x="155" y="49"/>
                  </a:lnTo>
                  <a:lnTo>
                    <a:pt x="162" y="71"/>
                  </a:lnTo>
                  <a:lnTo>
                    <a:pt x="162" y="93"/>
                  </a:lnTo>
                  <a:lnTo>
                    <a:pt x="162" y="115"/>
                  </a:lnTo>
                  <a:lnTo>
                    <a:pt x="162" y="137"/>
                  </a:lnTo>
                  <a:lnTo>
                    <a:pt x="162" y="167"/>
                  </a:lnTo>
                  <a:lnTo>
                    <a:pt x="185" y="182"/>
                  </a:lnTo>
                  <a:lnTo>
                    <a:pt x="214" y="182"/>
                  </a:lnTo>
                  <a:lnTo>
                    <a:pt x="214" y="219"/>
                  </a:lnTo>
                  <a:lnTo>
                    <a:pt x="155" y="278"/>
                  </a:lnTo>
                  <a:lnTo>
                    <a:pt x="185" y="263"/>
                  </a:lnTo>
                  <a:lnTo>
                    <a:pt x="199" y="293"/>
                  </a:lnTo>
                  <a:lnTo>
                    <a:pt x="214" y="315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4" name="Freeform 40"/>
            <p:cNvSpPr>
              <a:spLocks/>
            </p:cNvSpPr>
            <p:nvPr/>
          </p:nvSpPr>
          <p:spPr bwMode="auto">
            <a:xfrm>
              <a:off x="2972" y="2331"/>
              <a:ext cx="186" cy="216"/>
            </a:xfrm>
            <a:custGeom>
              <a:avLst/>
              <a:gdLst>
                <a:gd name="T0" fmla="*/ 0 w 186"/>
                <a:gd name="T1" fmla="*/ 203 h 216"/>
                <a:gd name="T2" fmla="*/ 22 w 186"/>
                <a:gd name="T3" fmla="*/ 215 h 216"/>
                <a:gd name="T4" fmla="*/ 44 w 186"/>
                <a:gd name="T5" fmla="*/ 200 h 216"/>
                <a:gd name="T6" fmla="*/ 66 w 186"/>
                <a:gd name="T7" fmla="*/ 193 h 216"/>
                <a:gd name="T8" fmla="*/ 96 w 186"/>
                <a:gd name="T9" fmla="*/ 170 h 216"/>
                <a:gd name="T10" fmla="*/ 118 w 186"/>
                <a:gd name="T11" fmla="*/ 156 h 216"/>
                <a:gd name="T12" fmla="*/ 133 w 186"/>
                <a:gd name="T13" fmla="*/ 133 h 216"/>
                <a:gd name="T14" fmla="*/ 155 w 186"/>
                <a:gd name="T15" fmla="*/ 111 h 216"/>
                <a:gd name="T16" fmla="*/ 162 w 186"/>
                <a:gd name="T17" fmla="*/ 89 h 216"/>
                <a:gd name="T18" fmla="*/ 177 w 186"/>
                <a:gd name="T19" fmla="*/ 67 h 216"/>
                <a:gd name="T20" fmla="*/ 185 w 186"/>
                <a:gd name="T21" fmla="*/ 44 h 216"/>
                <a:gd name="T22" fmla="*/ 185 w 186"/>
                <a:gd name="T23" fmla="*/ 22 h 216"/>
                <a:gd name="T24" fmla="*/ 185 w 186"/>
                <a:gd name="T25" fmla="*/ 0 h 21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86"/>
                <a:gd name="T40" fmla="*/ 0 h 216"/>
                <a:gd name="T41" fmla="*/ 186 w 186"/>
                <a:gd name="T42" fmla="*/ 216 h 21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86" h="216">
                  <a:moveTo>
                    <a:pt x="0" y="203"/>
                  </a:moveTo>
                  <a:lnTo>
                    <a:pt x="22" y="215"/>
                  </a:lnTo>
                  <a:lnTo>
                    <a:pt x="44" y="200"/>
                  </a:lnTo>
                  <a:lnTo>
                    <a:pt x="66" y="193"/>
                  </a:lnTo>
                  <a:lnTo>
                    <a:pt x="96" y="170"/>
                  </a:lnTo>
                  <a:lnTo>
                    <a:pt x="118" y="156"/>
                  </a:lnTo>
                  <a:lnTo>
                    <a:pt x="133" y="133"/>
                  </a:lnTo>
                  <a:lnTo>
                    <a:pt x="155" y="111"/>
                  </a:lnTo>
                  <a:lnTo>
                    <a:pt x="162" y="89"/>
                  </a:lnTo>
                  <a:lnTo>
                    <a:pt x="177" y="67"/>
                  </a:lnTo>
                  <a:lnTo>
                    <a:pt x="185" y="44"/>
                  </a:lnTo>
                  <a:lnTo>
                    <a:pt x="185" y="22"/>
                  </a:lnTo>
                  <a:lnTo>
                    <a:pt x="185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5" name="Freeform 41"/>
            <p:cNvSpPr>
              <a:spLocks/>
            </p:cNvSpPr>
            <p:nvPr/>
          </p:nvSpPr>
          <p:spPr bwMode="auto">
            <a:xfrm>
              <a:off x="3045" y="2338"/>
              <a:ext cx="335" cy="389"/>
            </a:xfrm>
            <a:custGeom>
              <a:avLst/>
              <a:gdLst>
                <a:gd name="T0" fmla="*/ 193 w 335"/>
                <a:gd name="T1" fmla="*/ 334 h 389"/>
                <a:gd name="T2" fmla="*/ 171 w 335"/>
                <a:gd name="T3" fmla="*/ 215 h 389"/>
                <a:gd name="T4" fmla="*/ 156 w 335"/>
                <a:gd name="T5" fmla="*/ 163 h 389"/>
                <a:gd name="T6" fmla="*/ 112 w 335"/>
                <a:gd name="T7" fmla="*/ 134 h 389"/>
                <a:gd name="T8" fmla="*/ 60 w 335"/>
                <a:gd name="T9" fmla="*/ 104 h 389"/>
                <a:gd name="T10" fmla="*/ 23 w 335"/>
                <a:gd name="T11" fmla="*/ 163 h 389"/>
                <a:gd name="T12" fmla="*/ 82 w 335"/>
                <a:gd name="T13" fmla="*/ 245 h 389"/>
                <a:gd name="T14" fmla="*/ 200 w 335"/>
                <a:gd name="T15" fmla="*/ 252 h 389"/>
                <a:gd name="T16" fmla="*/ 252 w 335"/>
                <a:gd name="T17" fmla="*/ 237 h 389"/>
                <a:gd name="T18" fmla="*/ 260 w 335"/>
                <a:gd name="T19" fmla="*/ 186 h 389"/>
                <a:gd name="T20" fmla="*/ 171 w 335"/>
                <a:gd name="T21" fmla="*/ 119 h 389"/>
                <a:gd name="T22" fmla="*/ 275 w 335"/>
                <a:gd name="T23" fmla="*/ 104 h 389"/>
                <a:gd name="T24" fmla="*/ 297 w 335"/>
                <a:gd name="T25" fmla="*/ 200 h 389"/>
                <a:gd name="T26" fmla="*/ 304 w 335"/>
                <a:gd name="T27" fmla="*/ 245 h 389"/>
                <a:gd name="T28" fmla="*/ 297 w 335"/>
                <a:gd name="T29" fmla="*/ 156 h 389"/>
                <a:gd name="T30" fmla="*/ 193 w 335"/>
                <a:gd name="T31" fmla="*/ 97 h 389"/>
                <a:gd name="T32" fmla="*/ 149 w 335"/>
                <a:gd name="T33" fmla="*/ 82 h 389"/>
                <a:gd name="T34" fmla="*/ 134 w 335"/>
                <a:gd name="T35" fmla="*/ 171 h 389"/>
                <a:gd name="T36" fmla="*/ 134 w 335"/>
                <a:gd name="T37" fmla="*/ 237 h 389"/>
                <a:gd name="T38" fmla="*/ 193 w 335"/>
                <a:gd name="T39" fmla="*/ 186 h 389"/>
                <a:gd name="T40" fmla="*/ 186 w 335"/>
                <a:gd name="T41" fmla="*/ 112 h 389"/>
                <a:gd name="T42" fmla="*/ 119 w 335"/>
                <a:gd name="T43" fmla="*/ 97 h 389"/>
                <a:gd name="T44" fmla="*/ 112 w 335"/>
                <a:gd name="T45" fmla="*/ 215 h 389"/>
                <a:gd name="T46" fmla="*/ 112 w 335"/>
                <a:gd name="T47" fmla="*/ 319 h 389"/>
                <a:gd name="T48" fmla="*/ 230 w 335"/>
                <a:gd name="T49" fmla="*/ 319 h 389"/>
                <a:gd name="T50" fmla="*/ 230 w 335"/>
                <a:gd name="T51" fmla="*/ 215 h 389"/>
                <a:gd name="T52" fmla="*/ 126 w 335"/>
                <a:gd name="T53" fmla="*/ 163 h 389"/>
                <a:gd name="T54" fmla="*/ 104 w 335"/>
                <a:gd name="T55" fmla="*/ 208 h 389"/>
                <a:gd name="T56" fmla="*/ 23 w 335"/>
                <a:gd name="T57" fmla="*/ 193 h 389"/>
                <a:gd name="T58" fmla="*/ 0 w 335"/>
                <a:gd name="T59" fmla="*/ 267 h 389"/>
                <a:gd name="T60" fmla="*/ 67 w 335"/>
                <a:gd name="T61" fmla="*/ 319 h 389"/>
                <a:gd name="T62" fmla="*/ 215 w 335"/>
                <a:gd name="T63" fmla="*/ 304 h 389"/>
                <a:gd name="T64" fmla="*/ 319 w 335"/>
                <a:gd name="T65" fmla="*/ 267 h 389"/>
                <a:gd name="T66" fmla="*/ 334 w 335"/>
                <a:gd name="T67" fmla="*/ 186 h 389"/>
                <a:gd name="T68" fmla="*/ 319 w 335"/>
                <a:gd name="T69" fmla="*/ 89 h 389"/>
                <a:gd name="T70" fmla="*/ 275 w 335"/>
                <a:gd name="T71" fmla="*/ 52 h 389"/>
                <a:gd name="T72" fmla="*/ 230 w 335"/>
                <a:gd name="T73" fmla="*/ 23 h 38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35"/>
                <a:gd name="T112" fmla="*/ 0 h 389"/>
                <a:gd name="T113" fmla="*/ 335 w 335"/>
                <a:gd name="T114" fmla="*/ 389 h 38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35" h="389">
                  <a:moveTo>
                    <a:pt x="215" y="388"/>
                  </a:moveTo>
                  <a:lnTo>
                    <a:pt x="193" y="334"/>
                  </a:lnTo>
                  <a:lnTo>
                    <a:pt x="186" y="275"/>
                  </a:lnTo>
                  <a:lnTo>
                    <a:pt x="171" y="215"/>
                  </a:lnTo>
                  <a:lnTo>
                    <a:pt x="156" y="186"/>
                  </a:lnTo>
                  <a:lnTo>
                    <a:pt x="156" y="163"/>
                  </a:lnTo>
                  <a:lnTo>
                    <a:pt x="134" y="141"/>
                  </a:lnTo>
                  <a:lnTo>
                    <a:pt x="112" y="134"/>
                  </a:lnTo>
                  <a:lnTo>
                    <a:pt x="82" y="104"/>
                  </a:lnTo>
                  <a:lnTo>
                    <a:pt x="60" y="104"/>
                  </a:lnTo>
                  <a:lnTo>
                    <a:pt x="38" y="104"/>
                  </a:lnTo>
                  <a:lnTo>
                    <a:pt x="23" y="163"/>
                  </a:lnTo>
                  <a:lnTo>
                    <a:pt x="23" y="223"/>
                  </a:lnTo>
                  <a:lnTo>
                    <a:pt x="82" y="245"/>
                  </a:lnTo>
                  <a:lnTo>
                    <a:pt x="141" y="252"/>
                  </a:lnTo>
                  <a:lnTo>
                    <a:pt x="200" y="252"/>
                  </a:lnTo>
                  <a:lnTo>
                    <a:pt x="230" y="252"/>
                  </a:lnTo>
                  <a:lnTo>
                    <a:pt x="252" y="237"/>
                  </a:lnTo>
                  <a:lnTo>
                    <a:pt x="260" y="215"/>
                  </a:lnTo>
                  <a:lnTo>
                    <a:pt x="260" y="186"/>
                  </a:lnTo>
                  <a:lnTo>
                    <a:pt x="200" y="126"/>
                  </a:lnTo>
                  <a:lnTo>
                    <a:pt x="171" y="119"/>
                  </a:lnTo>
                  <a:lnTo>
                    <a:pt x="215" y="104"/>
                  </a:lnTo>
                  <a:lnTo>
                    <a:pt x="275" y="104"/>
                  </a:lnTo>
                  <a:lnTo>
                    <a:pt x="289" y="156"/>
                  </a:lnTo>
                  <a:lnTo>
                    <a:pt x="297" y="200"/>
                  </a:lnTo>
                  <a:lnTo>
                    <a:pt x="304" y="223"/>
                  </a:lnTo>
                  <a:lnTo>
                    <a:pt x="304" y="245"/>
                  </a:lnTo>
                  <a:lnTo>
                    <a:pt x="304" y="186"/>
                  </a:lnTo>
                  <a:lnTo>
                    <a:pt x="297" y="156"/>
                  </a:lnTo>
                  <a:lnTo>
                    <a:pt x="252" y="112"/>
                  </a:lnTo>
                  <a:lnTo>
                    <a:pt x="193" y="97"/>
                  </a:lnTo>
                  <a:lnTo>
                    <a:pt x="171" y="82"/>
                  </a:lnTo>
                  <a:lnTo>
                    <a:pt x="149" y="82"/>
                  </a:lnTo>
                  <a:lnTo>
                    <a:pt x="134" y="126"/>
                  </a:lnTo>
                  <a:lnTo>
                    <a:pt x="134" y="171"/>
                  </a:lnTo>
                  <a:lnTo>
                    <a:pt x="134" y="215"/>
                  </a:lnTo>
                  <a:lnTo>
                    <a:pt x="134" y="237"/>
                  </a:lnTo>
                  <a:lnTo>
                    <a:pt x="163" y="237"/>
                  </a:lnTo>
                  <a:lnTo>
                    <a:pt x="193" y="186"/>
                  </a:lnTo>
                  <a:lnTo>
                    <a:pt x="193" y="156"/>
                  </a:lnTo>
                  <a:lnTo>
                    <a:pt x="186" y="112"/>
                  </a:lnTo>
                  <a:lnTo>
                    <a:pt x="141" y="97"/>
                  </a:lnTo>
                  <a:lnTo>
                    <a:pt x="119" y="97"/>
                  </a:lnTo>
                  <a:lnTo>
                    <a:pt x="112" y="156"/>
                  </a:lnTo>
                  <a:lnTo>
                    <a:pt x="112" y="215"/>
                  </a:lnTo>
                  <a:lnTo>
                    <a:pt x="112" y="275"/>
                  </a:lnTo>
                  <a:lnTo>
                    <a:pt x="112" y="319"/>
                  </a:lnTo>
                  <a:lnTo>
                    <a:pt x="186" y="334"/>
                  </a:lnTo>
                  <a:lnTo>
                    <a:pt x="230" y="319"/>
                  </a:lnTo>
                  <a:lnTo>
                    <a:pt x="238" y="275"/>
                  </a:lnTo>
                  <a:lnTo>
                    <a:pt x="230" y="215"/>
                  </a:lnTo>
                  <a:lnTo>
                    <a:pt x="171" y="171"/>
                  </a:lnTo>
                  <a:lnTo>
                    <a:pt x="126" y="163"/>
                  </a:lnTo>
                  <a:lnTo>
                    <a:pt x="104" y="186"/>
                  </a:lnTo>
                  <a:lnTo>
                    <a:pt x="104" y="208"/>
                  </a:lnTo>
                  <a:lnTo>
                    <a:pt x="82" y="193"/>
                  </a:lnTo>
                  <a:lnTo>
                    <a:pt x="23" y="193"/>
                  </a:lnTo>
                  <a:lnTo>
                    <a:pt x="8" y="245"/>
                  </a:lnTo>
                  <a:lnTo>
                    <a:pt x="0" y="267"/>
                  </a:lnTo>
                  <a:lnTo>
                    <a:pt x="8" y="312"/>
                  </a:lnTo>
                  <a:lnTo>
                    <a:pt x="67" y="319"/>
                  </a:lnTo>
                  <a:lnTo>
                    <a:pt x="141" y="319"/>
                  </a:lnTo>
                  <a:lnTo>
                    <a:pt x="215" y="304"/>
                  </a:lnTo>
                  <a:lnTo>
                    <a:pt x="289" y="282"/>
                  </a:lnTo>
                  <a:lnTo>
                    <a:pt x="319" y="267"/>
                  </a:lnTo>
                  <a:lnTo>
                    <a:pt x="334" y="245"/>
                  </a:lnTo>
                  <a:lnTo>
                    <a:pt x="334" y="186"/>
                  </a:lnTo>
                  <a:lnTo>
                    <a:pt x="334" y="141"/>
                  </a:lnTo>
                  <a:lnTo>
                    <a:pt x="319" y="89"/>
                  </a:lnTo>
                  <a:lnTo>
                    <a:pt x="297" y="67"/>
                  </a:lnTo>
                  <a:lnTo>
                    <a:pt x="275" y="52"/>
                  </a:lnTo>
                  <a:lnTo>
                    <a:pt x="252" y="30"/>
                  </a:lnTo>
                  <a:lnTo>
                    <a:pt x="230" y="23"/>
                  </a:lnTo>
                  <a:lnTo>
                    <a:pt x="23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6" name="Freeform 42"/>
            <p:cNvSpPr>
              <a:spLocks/>
            </p:cNvSpPr>
            <p:nvPr/>
          </p:nvSpPr>
          <p:spPr bwMode="auto">
            <a:xfrm>
              <a:off x="3201" y="2479"/>
              <a:ext cx="156" cy="201"/>
            </a:xfrm>
            <a:custGeom>
              <a:avLst/>
              <a:gdLst>
                <a:gd name="T0" fmla="*/ 155 w 156"/>
                <a:gd name="T1" fmla="*/ 199 h 201"/>
                <a:gd name="T2" fmla="*/ 133 w 156"/>
                <a:gd name="T3" fmla="*/ 200 h 201"/>
                <a:gd name="T4" fmla="*/ 126 w 156"/>
                <a:gd name="T5" fmla="*/ 178 h 201"/>
                <a:gd name="T6" fmla="*/ 111 w 156"/>
                <a:gd name="T7" fmla="*/ 134 h 201"/>
                <a:gd name="T8" fmla="*/ 96 w 156"/>
                <a:gd name="T9" fmla="*/ 111 h 201"/>
                <a:gd name="T10" fmla="*/ 89 w 156"/>
                <a:gd name="T11" fmla="*/ 89 h 201"/>
                <a:gd name="T12" fmla="*/ 74 w 156"/>
                <a:gd name="T13" fmla="*/ 67 h 201"/>
                <a:gd name="T14" fmla="*/ 52 w 156"/>
                <a:gd name="T15" fmla="*/ 45 h 201"/>
                <a:gd name="T16" fmla="*/ 30 w 156"/>
                <a:gd name="T17" fmla="*/ 30 h 201"/>
                <a:gd name="T18" fmla="*/ 22 w 156"/>
                <a:gd name="T19" fmla="*/ 8 h 201"/>
                <a:gd name="T20" fmla="*/ 0 w 156"/>
                <a:gd name="T21" fmla="*/ 0 h 2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6"/>
                <a:gd name="T34" fmla="*/ 0 h 201"/>
                <a:gd name="T35" fmla="*/ 156 w 156"/>
                <a:gd name="T36" fmla="*/ 201 h 2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6" h="201">
                  <a:moveTo>
                    <a:pt x="155" y="199"/>
                  </a:moveTo>
                  <a:lnTo>
                    <a:pt x="133" y="200"/>
                  </a:lnTo>
                  <a:lnTo>
                    <a:pt x="126" y="178"/>
                  </a:lnTo>
                  <a:lnTo>
                    <a:pt x="111" y="134"/>
                  </a:lnTo>
                  <a:lnTo>
                    <a:pt x="96" y="111"/>
                  </a:lnTo>
                  <a:lnTo>
                    <a:pt x="89" y="89"/>
                  </a:lnTo>
                  <a:lnTo>
                    <a:pt x="74" y="67"/>
                  </a:lnTo>
                  <a:lnTo>
                    <a:pt x="52" y="45"/>
                  </a:lnTo>
                  <a:lnTo>
                    <a:pt x="30" y="30"/>
                  </a:lnTo>
                  <a:lnTo>
                    <a:pt x="22" y="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7" name="Freeform 43"/>
            <p:cNvSpPr>
              <a:spLocks/>
            </p:cNvSpPr>
            <p:nvPr/>
          </p:nvSpPr>
          <p:spPr bwMode="auto">
            <a:xfrm>
              <a:off x="3134" y="2294"/>
              <a:ext cx="127" cy="253"/>
            </a:xfrm>
            <a:custGeom>
              <a:avLst/>
              <a:gdLst>
                <a:gd name="T0" fmla="*/ 126 w 127"/>
                <a:gd name="T1" fmla="*/ 0 h 253"/>
                <a:gd name="T2" fmla="*/ 111 w 127"/>
                <a:gd name="T3" fmla="*/ 30 h 253"/>
                <a:gd name="T4" fmla="*/ 111 w 127"/>
                <a:gd name="T5" fmla="*/ 52 h 253"/>
                <a:gd name="T6" fmla="*/ 111 w 127"/>
                <a:gd name="T7" fmla="*/ 74 h 253"/>
                <a:gd name="T8" fmla="*/ 111 w 127"/>
                <a:gd name="T9" fmla="*/ 104 h 253"/>
                <a:gd name="T10" fmla="*/ 111 w 127"/>
                <a:gd name="T11" fmla="*/ 133 h 253"/>
                <a:gd name="T12" fmla="*/ 111 w 127"/>
                <a:gd name="T13" fmla="*/ 156 h 253"/>
                <a:gd name="T14" fmla="*/ 111 w 127"/>
                <a:gd name="T15" fmla="*/ 178 h 253"/>
                <a:gd name="T16" fmla="*/ 89 w 127"/>
                <a:gd name="T17" fmla="*/ 185 h 253"/>
                <a:gd name="T18" fmla="*/ 67 w 127"/>
                <a:gd name="T19" fmla="*/ 200 h 253"/>
                <a:gd name="T20" fmla="*/ 37 w 127"/>
                <a:gd name="T21" fmla="*/ 215 h 253"/>
                <a:gd name="T22" fmla="*/ 23 w 127"/>
                <a:gd name="T23" fmla="*/ 237 h 253"/>
                <a:gd name="T24" fmla="*/ 0 w 127"/>
                <a:gd name="T25" fmla="*/ 252 h 2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7"/>
                <a:gd name="T40" fmla="*/ 0 h 253"/>
                <a:gd name="T41" fmla="*/ 127 w 127"/>
                <a:gd name="T42" fmla="*/ 253 h 2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7" h="253">
                  <a:moveTo>
                    <a:pt x="126" y="0"/>
                  </a:moveTo>
                  <a:lnTo>
                    <a:pt x="111" y="30"/>
                  </a:lnTo>
                  <a:lnTo>
                    <a:pt x="111" y="52"/>
                  </a:lnTo>
                  <a:lnTo>
                    <a:pt x="111" y="74"/>
                  </a:lnTo>
                  <a:lnTo>
                    <a:pt x="111" y="104"/>
                  </a:lnTo>
                  <a:lnTo>
                    <a:pt x="111" y="133"/>
                  </a:lnTo>
                  <a:lnTo>
                    <a:pt x="111" y="156"/>
                  </a:lnTo>
                  <a:lnTo>
                    <a:pt x="111" y="178"/>
                  </a:lnTo>
                  <a:lnTo>
                    <a:pt x="89" y="185"/>
                  </a:lnTo>
                  <a:lnTo>
                    <a:pt x="67" y="200"/>
                  </a:lnTo>
                  <a:lnTo>
                    <a:pt x="37" y="215"/>
                  </a:lnTo>
                  <a:lnTo>
                    <a:pt x="23" y="237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8" name="Freeform 44"/>
            <p:cNvSpPr>
              <a:spLocks/>
            </p:cNvSpPr>
            <p:nvPr/>
          </p:nvSpPr>
          <p:spPr bwMode="auto">
            <a:xfrm>
              <a:off x="3157" y="2390"/>
              <a:ext cx="201" cy="194"/>
            </a:xfrm>
            <a:custGeom>
              <a:avLst/>
              <a:gdLst>
                <a:gd name="T0" fmla="*/ 199 w 201"/>
                <a:gd name="T1" fmla="*/ 0 h 194"/>
                <a:gd name="T2" fmla="*/ 200 w 201"/>
                <a:gd name="T3" fmla="*/ 23 h 194"/>
                <a:gd name="T4" fmla="*/ 200 w 201"/>
                <a:gd name="T5" fmla="*/ 45 h 194"/>
                <a:gd name="T6" fmla="*/ 200 w 201"/>
                <a:gd name="T7" fmla="*/ 67 h 194"/>
                <a:gd name="T8" fmla="*/ 170 w 201"/>
                <a:gd name="T9" fmla="*/ 89 h 194"/>
                <a:gd name="T10" fmla="*/ 148 w 201"/>
                <a:gd name="T11" fmla="*/ 97 h 194"/>
                <a:gd name="T12" fmla="*/ 126 w 201"/>
                <a:gd name="T13" fmla="*/ 104 h 194"/>
                <a:gd name="T14" fmla="*/ 103 w 201"/>
                <a:gd name="T15" fmla="*/ 119 h 194"/>
                <a:gd name="T16" fmla="*/ 81 w 201"/>
                <a:gd name="T17" fmla="*/ 126 h 194"/>
                <a:gd name="T18" fmla="*/ 59 w 201"/>
                <a:gd name="T19" fmla="*/ 141 h 194"/>
                <a:gd name="T20" fmla="*/ 37 w 201"/>
                <a:gd name="T21" fmla="*/ 156 h 194"/>
                <a:gd name="T22" fmla="*/ 22 w 201"/>
                <a:gd name="T23" fmla="*/ 178 h 194"/>
                <a:gd name="T24" fmla="*/ 0 w 201"/>
                <a:gd name="T25" fmla="*/ 193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1"/>
                <a:gd name="T40" fmla="*/ 0 h 194"/>
                <a:gd name="T41" fmla="*/ 201 w 201"/>
                <a:gd name="T42" fmla="*/ 194 h 19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1" h="194">
                  <a:moveTo>
                    <a:pt x="199" y="0"/>
                  </a:moveTo>
                  <a:lnTo>
                    <a:pt x="200" y="23"/>
                  </a:lnTo>
                  <a:lnTo>
                    <a:pt x="200" y="45"/>
                  </a:lnTo>
                  <a:lnTo>
                    <a:pt x="200" y="67"/>
                  </a:lnTo>
                  <a:lnTo>
                    <a:pt x="170" y="89"/>
                  </a:lnTo>
                  <a:lnTo>
                    <a:pt x="148" y="97"/>
                  </a:lnTo>
                  <a:lnTo>
                    <a:pt x="126" y="104"/>
                  </a:lnTo>
                  <a:lnTo>
                    <a:pt x="103" y="119"/>
                  </a:lnTo>
                  <a:lnTo>
                    <a:pt x="81" y="126"/>
                  </a:lnTo>
                  <a:lnTo>
                    <a:pt x="59" y="141"/>
                  </a:lnTo>
                  <a:lnTo>
                    <a:pt x="37" y="156"/>
                  </a:lnTo>
                  <a:lnTo>
                    <a:pt x="22" y="178"/>
                  </a:lnTo>
                  <a:lnTo>
                    <a:pt x="0" y="19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899" name="Freeform 45"/>
            <p:cNvSpPr>
              <a:spLocks/>
            </p:cNvSpPr>
            <p:nvPr/>
          </p:nvSpPr>
          <p:spPr bwMode="auto">
            <a:xfrm>
              <a:off x="3008" y="2546"/>
              <a:ext cx="201" cy="60"/>
            </a:xfrm>
            <a:custGeom>
              <a:avLst/>
              <a:gdLst>
                <a:gd name="T0" fmla="*/ 12 w 201"/>
                <a:gd name="T1" fmla="*/ 36 h 60"/>
                <a:gd name="T2" fmla="*/ 0 w 201"/>
                <a:gd name="T3" fmla="*/ 59 h 60"/>
                <a:gd name="T4" fmla="*/ 60 w 201"/>
                <a:gd name="T5" fmla="*/ 59 h 60"/>
                <a:gd name="T6" fmla="*/ 104 w 201"/>
                <a:gd name="T7" fmla="*/ 59 h 60"/>
                <a:gd name="T8" fmla="*/ 126 w 201"/>
                <a:gd name="T9" fmla="*/ 59 h 60"/>
                <a:gd name="T10" fmla="*/ 156 w 201"/>
                <a:gd name="T11" fmla="*/ 59 h 60"/>
                <a:gd name="T12" fmla="*/ 186 w 201"/>
                <a:gd name="T13" fmla="*/ 44 h 60"/>
                <a:gd name="T14" fmla="*/ 200 w 201"/>
                <a:gd name="T15" fmla="*/ 22 h 60"/>
                <a:gd name="T16" fmla="*/ 200 w 201"/>
                <a:gd name="T17" fmla="*/ 0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1"/>
                <a:gd name="T28" fmla="*/ 0 h 60"/>
                <a:gd name="T29" fmla="*/ 201 w 201"/>
                <a:gd name="T30" fmla="*/ 60 h 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1" h="60">
                  <a:moveTo>
                    <a:pt x="12" y="36"/>
                  </a:moveTo>
                  <a:lnTo>
                    <a:pt x="0" y="59"/>
                  </a:lnTo>
                  <a:lnTo>
                    <a:pt x="60" y="59"/>
                  </a:lnTo>
                  <a:lnTo>
                    <a:pt x="104" y="59"/>
                  </a:lnTo>
                  <a:lnTo>
                    <a:pt x="126" y="59"/>
                  </a:lnTo>
                  <a:lnTo>
                    <a:pt x="156" y="59"/>
                  </a:lnTo>
                  <a:lnTo>
                    <a:pt x="186" y="44"/>
                  </a:lnTo>
                  <a:lnTo>
                    <a:pt x="200" y="22"/>
                  </a:lnTo>
                  <a:lnTo>
                    <a:pt x="20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9900" name="Freeform 46"/>
            <p:cNvSpPr>
              <a:spLocks/>
            </p:cNvSpPr>
            <p:nvPr/>
          </p:nvSpPr>
          <p:spPr bwMode="auto">
            <a:xfrm>
              <a:off x="2972" y="2301"/>
              <a:ext cx="252" cy="330"/>
            </a:xfrm>
            <a:custGeom>
              <a:avLst/>
              <a:gdLst>
                <a:gd name="T0" fmla="*/ 0 w 252"/>
                <a:gd name="T1" fmla="*/ 329 h 330"/>
                <a:gd name="T2" fmla="*/ 22 w 252"/>
                <a:gd name="T3" fmla="*/ 312 h 330"/>
                <a:gd name="T4" fmla="*/ 51 w 252"/>
                <a:gd name="T5" fmla="*/ 312 h 330"/>
                <a:gd name="T6" fmla="*/ 81 w 252"/>
                <a:gd name="T7" fmla="*/ 297 h 330"/>
                <a:gd name="T8" fmla="*/ 103 w 252"/>
                <a:gd name="T9" fmla="*/ 282 h 330"/>
                <a:gd name="T10" fmla="*/ 162 w 252"/>
                <a:gd name="T11" fmla="*/ 260 h 330"/>
                <a:gd name="T12" fmla="*/ 185 w 252"/>
                <a:gd name="T13" fmla="*/ 252 h 330"/>
                <a:gd name="T14" fmla="*/ 192 w 252"/>
                <a:gd name="T15" fmla="*/ 230 h 330"/>
                <a:gd name="T16" fmla="*/ 214 w 252"/>
                <a:gd name="T17" fmla="*/ 223 h 330"/>
                <a:gd name="T18" fmla="*/ 222 w 252"/>
                <a:gd name="T19" fmla="*/ 200 h 330"/>
                <a:gd name="T20" fmla="*/ 236 w 252"/>
                <a:gd name="T21" fmla="*/ 178 h 330"/>
                <a:gd name="T22" fmla="*/ 251 w 252"/>
                <a:gd name="T23" fmla="*/ 156 h 330"/>
                <a:gd name="T24" fmla="*/ 251 w 252"/>
                <a:gd name="T25" fmla="*/ 134 h 330"/>
                <a:gd name="T26" fmla="*/ 251 w 252"/>
                <a:gd name="T27" fmla="*/ 112 h 330"/>
                <a:gd name="T28" fmla="*/ 251 w 252"/>
                <a:gd name="T29" fmla="*/ 89 h 330"/>
                <a:gd name="T30" fmla="*/ 244 w 252"/>
                <a:gd name="T31" fmla="*/ 67 h 330"/>
                <a:gd name="T32" fmla="*/ 236 w 252"/>
                <a:gd name="T33" fmla="*/ 45 h 330"/>
                <a:gd name="T34" fmla="*/ 222 w 252"/>
                <a:gd name="T35" fmla="*/ 23 h 330"/>
                <a:gd name="T36" fmla="*/ 214 w 252"/>
                <a:gd name="T37" fmla="*/ 0 h 3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2"/>
                <a:gd name="T58" fmla="*/ 0 h 330"/>
                <a:gd name="T59" fmla="*/ 252 w 252"/>
                <a:gd name="T60" fmla="*/ 330 h 33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2" h="330">
                  <a:moveTo>
                    <a:pt x="0" y="329"/>
                  </a:moveTo>
                  <a:lnTo>
                    <a:pt x="22" y="312"/>
                  </a:lnTo>
                  <a:lnTo>
                    <a:pt x="51" y="312"/>
                  </a:lnTo>
                  <a:lnTo>
                    <a:pt x="81" y="297"/>
                  </a:lnTo>
                  <a:lnTo>
                    <a:pt x="103" y="282"/>
                  </a:lnTo>
                  <a:lnTo>
                    <a:pt x="162" y="260"/>
                  </a:lnTo>
                  <a:lnTo>
                    <a:pt x="185" y="252"/>
                  </a:lnTo>
                  <a:lnTo>
                    <a:pt x="192" y="230"/>
                  </a:lnTo>
                  <a:lnTo>
                    <a:pt x="214" y="223"/>
                  </a:lnTo>
                  <a:lnTo>
                    <a:pt x="222" y="200"/>
                  </a:lnTo>
                  <a:lnTo>
                    <a:pt x="236" y="178"/>
                  </a:lnTo>
                  <a:lnTo>
                    <a:pt x="251" y="156"/>
                  </a:lnTo>
                  <a:lnTo>
                    <a:pt x="251" y="134"/>
                  </a:lnTo>
                  <a:lnTo>
                    <a:pt x="251" y="112"/>
                  </a:lnTo>
                  <a:lnTo>
                    <a:pt x="251" y="89"/>
                  </a:lnTo>
                  <a:lnTo>
                    <a:pt x="244" y="67"/>
                  </a:lnTo>
                  <a:lnTo>
                    <a:pt x="236" y="45"/>
                  </a:lnTo>
                  <a:lnTo>
                    <a:pt x="222" y="23"/>
                  </a:lnTo>
                  <a:lnTo>
                    <a:pt x="214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812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>
                <a:solidFill>
                  <a:srgbClr val="FF0000"/>
                </a:solidFill>
              </a:rPr>
              <a:t>Solution 2</a:t>
            </a:r>
            <a:r>
              <a:rPr lang="en-US" altLang="zh-TW" sz="4000" dirty="0"/>
              <a:t>: Using Monitor for the Dining-Philosophers Problem (Cont.)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3600" dirty="0"/>
              <a:t>data structure</a:t>
            </a:r>
          </a:p>
          <a:p>
            <a:pPr lvl="1" eaLnBrk="1" hangingPunct="1"/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state[]</a:t>
            </a:r>
            <a:r>
              <a:rPr lang="en-US" altLang="zh-TW" dirty="0" smtClean="0"/>
              <a:t>: array[0..4] of (thinking, hungry, eating);</a:t>
            </a:r>
          </a:p>
          <a:p>
            <a:pPr lvl="2" eaLnBrk="1" hangingPunct="1"/>
            <a:r>
              <a:rPr lang="en-US" altLang="zh-TW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state[i]</a:t>
            </a:r>
            <a:r>
              <a:rPr lang="en-US" altLang="zh-TW" dirty="0" smtClean="0"/>
              <a:t> is set to eating only if </a:t>
            </a:r>
            <a:r>
              <a:rPr lang="en-US" altLang="zh-TW" b="1" dirty="0" smtClean="0"/>
              <a:t>both</a:t>
            </a:r>
            <a:r>
              <a:rPr lang="en-US" altLang="zh-TW" dirty="0" smtClean="0"/>
              <a:t> its two neighbors are </a:t>
            </a:r>
            <a:r>
              <a:rPr lang="en-US" altLang="zh-TW" smtClean="0"/>
              <a:t>not eating</a:t>
            </a:r>
            <a:endParaRPr lang="en-US" altLang="zh-TW" dirty="0" smtClean="0"/>
          </a:p>
          <a:p>
            <a:pPr lvl="1"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sz="2600" b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altLang="zh-TW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self[]</a:t>
            </a:r>
            <a:r>
              <a:rPr lang="en-US" altLang="zh-TW" dirty="0" smtClean="0"/>
              <a:t>: array[0..4] of condition;</a:t>
            </a:r>
          </a:p>
          <a:p>
            <a:pPr lvl="2" eaLnBrk="1" hangingPunct="1"/>
            <a:r>
              <a:rPr lang="en-US" altLang="zh-TW" dirty="0" smtClean="0"/>
              <a:t>When philosopher </a:t>
            </a:r>
            <a:r>
              <a:rPr lang="en-US" altLang="zh-TW" i="1" dirty="0" smtClean="0"/>
              <a:t>i</a:t>
            </a:r>
            <a:r>
              <a:rPr lang="en-US" altLang="zh-TW" dirty="0" smtClean="0"/>
              <a:t> is unable to obtain the chopsticks</a:t>
            </a:r>
          </a:p>
          <a:p>
            <a:pPr lvl="2" eaLnBrk="1" hangingPunct="1"/>
            <a:r>
              <a:rPr lang="en-US" altLang="zh-TW" dirty="0" smtClean="0"/>
              <a:t>He uses </a:t>
            </a:r>
            <a:r>
              <a:rPr lang="en-US" altLang="zh-TW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self[i]</a:t>
            </a:r>
            <a:r>
              <a:rPr lang="en-US" altLang="zh-TW" dirty="0" smtClean="0"/>
              <a:t> to </a:t>
            </a:r>
            <a:r>
              <a:rPr lang="en-US" altLang="zh-TW" b="1" dirty="0" smtClean="0">
                <a:solidFill>
                  <a:srgbClr val="FF3300"/>
                </a:solidFill>
              </a:rPr>
              <a:t>wait</a:t>
            </a:r>
            <a:r>
              <a:rPr lang="en-US" altLang="zh-TW" dirty="0" smtClean="0"/>
              <a:t> for chopsticks</a:t>
            </a:r>
          </a:p>
        </p:txBody>
      </p:sp>
    </p:spTree>
    <p:extLst>
      <p:ext uri="{BB962C8B-B14F-4D97-AF65-F5344CB8AC3E}">
        <p14:creationId xmlns:p14="http://schemas.microsoft.com/office/powerpoint/2010/main" val="243670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50" y="158750"/>
            <a:ext cx="80772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/>
              <a:t>Monitor Solution to Dining Philosophers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9" y="981075"/>
            <a:ext cx="7921625" cy="5672138"/>
          </a:xfrm>
        </p:spPr>
        <p:txBody>
          <a:bodyPr>
            <a:noAutofit/>
          </a:bodyPr>
          <a:lstStyle/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monitor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DiningPhilosophers</a:t>
            </a:r>
            <a:endParaRPr lang="en-US" altLang="en-US" sz="1850" b="1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{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enum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{ THINKING; HUNGRY, EATING) state [5] 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condition self [5];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endParaRPr lang="en-US" altLang="en-US" sz="1850" b="1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void 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pickup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int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{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state[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 = HUNGRY;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test(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if (state[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 != EATING) self[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].wait;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}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void 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putdown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int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{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state[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 = THINKING;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      // test left and right neighbors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test((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+ 4) % 5);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test((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+ 1) % 5);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}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dirty="0">
                <a:solidFill>
                  <a:srgbClr val="0000FF"/>
                </a:solidFill>
                <a:latin typeface="Helvetica"/>
                <a:ea typeface="MS PGothic" pitchFamily="34" charset="-128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051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4" y="260351"/>
            <a:ext cx="8429625" cy="6381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3200" dirty="0"/>
              <a:t>Monitor Solution to Dining Philosophers (Cont.)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9" y="1125538"/>
            <a:ext cx="7805737" cy="526891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1850" dirty="0">
              <a:solidFill>
                <a:srgbClr val="0000FF"/>
              </a:solidFill>
            </a:endParaRP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zh-TW" sz="1850" dirty="0">
                <a:solidFill>
                  <a:srgbClr val="0000FF"/>
                </a:solidFill>
              </a:rPr>
              <a:t>	     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void test 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int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{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 if ((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state[(</a:t>
            </a:r>
            <a:r>
              <a:rPr lang="en-US" altLang="en-US" sz="1850" b="1" dirty="0" err="1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 + 4) % 5] != EATING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&amp;&amp; 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  (state[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 == HUNGRY) &amp;&amp;   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  (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state[(</a:t>
            </a:r>
            <a:r>
              <a:rPr lang="en-US" altLang="en-US" sz="1850" b="1" dirty="0" err="1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FF0000"/>
                </a:solidFill>
                <a:latin typeface="Courier New" panose="02070309020205020404" pitchFamily="49" charset="0"/>
                <a:ea typeface="MS PGothic" pitchFamily="34" charset="-128"/>
              </a:rPr>
              <a:t> + 1) % 5] != EATING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) ) {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          state[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 = EATING 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	             self[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].signal () 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 }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}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endParaRPr lang="en-US" altLang="en-US" sz="1850" b="1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initialization_code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() { 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for (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int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= 0;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&lt; 5; 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++)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            state[</a:t>
            </a:r>
            <a:r>
              <a:rPr lang="en-US" altLang="en-US" sz="1850" b="1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</a:t>
            </a: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] = THINKING;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    }</a:t>
            </a:r>
          </a:p>
          <a:p>
            <a:pPr marL="341313" indent="-341313">
              <a:lnSpc>
                <a:spcPct val="80000"/>
              </a:lnSpc>
              <a:spcBef>
                <a:spcPct val="35000"/>
              </a:spcBef>
              <a:buClr>
                <a:srgbClr val="993300"/>
              </a:buClr>
              <a:buSzPct val="90000"/>
              <a:buNone/>
            </a:pPr>
            <a:r>
              <a:rPr lang="en-US" altLang="en-US" sz="1850" b="1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368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/>
              <a:t>Dining-Philosophers Solutions Using Monitors (Cont.)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/>
            <a:r>
              <a:rPr lang="en-US" altLang="zh-TW" sz="2800" dirty="0"/>
              <a:t>Code for each philosopher</a:t>
            </a:r>
          </a:p>
          <a:p>
            <a:pPr lvl="1" eaLnBrk="1" hangingPunct="1"/>
            <a:r>
              <a:rPr lang="en-US" altLang="zh-TW" sz="2400" dirty="0"/>
              <a:t>declare a monitor </a:t>
            </a:r>
            <a:r>
              <a:rPr lang="en-US" altLang="zh-TW" sz="2400" dirty="0" err="1"/>
              <a:t>dp</a:t>
            </a:r>
            <a:r>
              <a:rPr lang="en-US" altLang="zh-TW" sz="2400" dirty="0"/>
              <a:t> of type dining-philosophers</a:t>
            </a:r>
          </a:p>
          <a:p>
            <a:pPr lvl="2" eaLnBrk="1" hangingPunct="1">
              <a:buFontTx/>
              <a:buNone/>
            </a:pPr>
            <a:r>
              <a:rPr lang="en-US" altLang="zh-TW" sz="1800" dirty="0"/>
              <a:t>		</a:t>
            </a:r>
          </a:p>
          <a:p>
            <a:pPr lvl="1" eaLnBrk="1" hangingPunct="1"/>
            <a:endParaRPr lang="en-US" altLang="zh-TW" sz="1800" dirty="0"/>
          </a:p>
          <a:p>
            <a:pPr lvl="1" eaLnBrk="1" hangingPunct="1"/>
            <a:r>
              <a:rPr lang="en-US" altLang="zh-TW" sz="2400" dirty="0"/>
              <a:t>To eat, philosopher P</a:t>
            </a:r>
            <a:r>
              <a:rPr lang="en-US" altLang="zh-TW" sz="2400" baseline="-25000" dirty="0"/>
              <a:t>i</a:t>
            </a:r>
            <a:r>
              <a:rPr lang="en-US" altLang="zh-TW" sz="2400" dirty="0"/>
              <a:t> performs</a:t>
            </a:r>
          </a:p>
          <a:p>
            <a:pPr lvl="1" eaLnBrk="1" hangingPunct="1"/>
            <a:endParaRPr lang="en-US" altLang="zh-TW" sz="2400" dirty="0"/>
          </a:p>
          <a:p>
            <a:pPr lvl="1" eaLnBrk="1" hangingPunct="1"/>
            <a:endParaRPr lang="en-US" altLang="zh-TW" sz="2400" dirty="0"/>
          </a:p>
          <a:p>
            <a:pPr lvl="1" eaLnBrk="1" hangingPunct="1"/>
            <a:endParaRPr lang="en-US" altLang="zh-TW" sz="2400" dirty="0"/>
          </a:p>
          <a:p>
            <a:pPr lvl="1" eaLnBrk="1" hangingPunct="1"/>
            <a:endParaRPr lang="en-US" altLang="zh-TW" sz="2400" dirty="0"/>
          </a:p>
          <a:p>
            <a:pPr lvl="1" eaLnBrk="1" hangingPunct="1"/>
            <a:endParaRPr lang="en-US" altLang="zh-TW" sz="2400" dirty="0"/>
          </a:p>
          <a:p>
            <a:pPr eaLnBrk="1" hangingPunct="1">
              <a:spcBef>
                <a:spcPts val="1800"/>
              </a:spcBef>
            </a:pPr>
            <a:r>
              <a:rPr lang="en-US" altLang="zh-TW" sz="2800" dirty="0"/>
              <a:t>		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4511824" y="3467646"/>
            <a:ext cx="2592288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dp.pickup</a:t>
            </a: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eat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dp.putdown</a:t>
            </a: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3863752" y="2492375"/>
            <a:ext cx="37240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altLang="zh-TW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dining-philosophers</a:t>
            </a:r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3719513" y="2420939"/>
            <a:ext cx="4228921" cy="440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3719512" y="3467646"/>
            <a:ext cx="3694112" cy="1884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9077326" y="6583364"/>
            <a:ext cx="1590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/>
              <a:t>From other authors</a:t>
            </a:r>
          </a:p>
        </p:txBody>
      </p:sp>
    </p:spTree>
    <p:extLst>
      <p:ext uri="{BB962C8B-B14F-4D97-AF65-F5344CB8AC3E}">
        <p14:creationId xmlns:p14="http://schemas.microsoft.com/office/powerpoint/2010/main" val="35794704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5306610" y="5107219"/>
            <a:ext cx="4895850" cy="1524000"/>
          </a:xfrm>
          <a:prstGeom prst="rect">
            <a:avLst/>
          </a:prstGeom>
          <a:solidFill>
            <a:srgbClr val="ECECE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zh-TW" altLang="zh-TW" sz="2000" b="1">
              <a:latin typeface="Calibri" panose="020F0502020204030204" pitchFamily="34" charset="0"/>
            </a:endParaRP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5432425" y="3829051"/>
            <a:ext cx="464422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P</a:t>
            </a:r>
            <a:r>
              <a:rPr lang="en-US" altLang="zh-TW" sz="2000" b="1" baseline="-25000" dirty="0">
                <a:latin typeface="Calibri" panose="020F0502020204030204" pitchFamily="34" charset="0"/>
              </a:rPr>
              <a:t>1</a:t>
            </a:r>
            <a:r>
              <a:rPr lang="en-US" altLang="zh-TW" sz="2000" b="1" dirty="0">
                <a:latin typeface="Calibri" panose="020F0502020204030204" pitchFamily="34" charset="0"/>
              </a:rPr>
              <a:t> calls pickup(1) 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	eating;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	self[1].signal; 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/* no effect */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en-US" altLang="zh-TW" sz="2000" b="1" dirty="0">
              <a:latin typeface="Calibri" panose="020F0502020204030204" pitchFamily="34" charset="0"/>
            </a:endParaRPr>
          </a:p>
          <a:p>
            <a:pPr eaLnBrk="0" hangingPunct="0"/>
            <a:r>
              <a:rPr lang="en-US" altLang="zh-TW" sz="1800" b="1" dirty="0">
                <a:latin typeface="Calibri" panose="020F0502020204030204" pitchFamily="34" charset="0"/>
              </a:rPr>
              <a:t>   P</a:t>
            </a:r>
            <a:r>
              <a:rPr lang="en-US" altLang="zh-TW" sz="1800" b="1" baseline="-25000" dirty="0">
                <a:latin typeface="Calibri" panose="020F0502020204030204" pitchFamily="34" charset="0"/>
              </a:rPr>
              <a:t>1</a:t>
            </a:r>
            <a:r>
              <a:rPr lang="en-US" altLang="zh-TW" sz="1800" b="1" dirty="0">
                <a:latin typeface="Calibri" panose="020F0502020204030204" pitchFamily="34" charset="0"/>
              </a:rPr>
              <a:t> calls putdown(1) </a:t>
            </a:r>
          </a:p>
          <a:p>
            <a:pPr eaLnBrk="0" hangingPunct="0"/>
            <a:endParaRPr lang="en-US" altLang="zh-TW" sz="1800" b="1" dirty="0">
              <a:latin typeface="Calibri" panose="020F0502020204030204" pitchFamily="34" charset="0"/>
            </a:endParaRPr>
          </a:p>
          <a:p>
            <a:pPr eaLnBrk="0" hangingPunct="0"/>
            <a:r>
              <a:rPr lang="en-US" altLang="zh-TW" sz="1800" b="1" dirty="0">
                <a:latin typeface="Calibri" panose="020F0502020204030204" pitchFamily="34" charset="0"/>
              </a:rPr>
              <a:t>	test (0) ; </a:t>
            </a:r>
          </a:p>
          <a:p>
            <a:pPr eaLnBrk="0" hangingPunct="0"/>
            <a:r>
              <a:rPr lang="en-US" altLang="zh-TW" sz="1800" b="1" dirty="0">
                <a:latin typeface="Calibri" panose="020F0502020204030204" pitchFamily="34" charset="0"/>
              </a:rPr>
              <a:t>	test (2) ; </a:t>
            </a:r>
          </a:p>
          <a:p>
            <a:pPr eaLnBrk="0" hangingPunct="0"/>
            <a:r>
              <a:rPr lang="en-US" altLang="zh-TW" sz="1800" b="1" dirty="0">
                <a:latin typeface="Calibri" panose="020F0502020204030204" pitchFamily="34" charset="0"/>
              </a:rPr>
              <a:t>	    if P</a:t>
            </a:r>
            <a:r>
              <a:rPr lang="en-US" altLang="zh-TW" sz="1800" b="1" baseline="-25000" dirty="0">
                <a:latin typeface="Calibri" panose="020F0502020204030204" pitchFamily="34" charset="0"/>
              </a:rPr>
              <a:t>3</a:t>
            </a:r>
            <a:r>
              <a:rPr lang="en-US" altLang="zh-TW" sz="1800" b="1" dirty="0">
                <a:latin typeface="Calibri" panose="020F0502020204030204" pitchFamily="34" charset="0"/>
              </a:rPr>
              <a:t> is not eating  </a:t>
            </a:r>
            <a:r>
              <a:rPr lang="en-US" altLang="zh-TW" sz="1800" b="1" dirty="0">
                <a:latin typeface="Calibri" panose="020F0502020204030204" pitchFamily="34" charset="0"/>
                <a:sym typeface="Symbol" pitchFamily="18" charset="2"/>
              </a:rPr>
              <a:t></a:t>
            </a:r>
            <a:r>
              <a:rPr lang="en-US" altLang="zh-TW" sz="1800" b="1" dirty="0">
                <a:latin typeface="Calibri" panose="020F0502020204030204" pitchFamily="34" charset="0"/>
              </a:rPr>
              <a:t> </a:t>
            </a:r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</a:rPr>
              <a:t>self[2].signal</a:t>
            </a:r>
          </a:p>
          <a:p>
            <a:pPr eaLnBrk="0" hangingPunct="0"/>
            <a:r>
              <a:rPr lang="en-US" altLang="zh-TW" sz="1800" b="1" dirty="0">
                <a:latin typeface="Calibri" panose="020F0502020204030204" pitchFamily="34" charset="0"/>
              </a:rPr>
              <a:t>	    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2701925" y="4248151"/>
            <a:ext cx="9669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TW" sz="1800" b="1">
                <a:latin typeface="Calibri" panose="020F0502020204030204" pitchFamily="34" charset="0"/>
              </a:rPr>
              <a:t>thinking</a:t>
            </a:r>
          </a:p>
        </p:txBody>
      </p:sp>
      <p:grpSp>
        <p:nvGrpSpPr>
          <p:cNvPr id="83973" name="Group 5"/>
          <p:cNvGrpSpPr>
            <a:grpSpLocks/>
          </p:cNvGrpSpPr>
          <p:nvPr/>
        </p:nvGrpSpPr>
        <p:grpSpPr bwMode="auto">
          <a:xfrm>
            <a:off x="2506664" y="838200"/>
            <a:ext cx="3544887" cy="3221038"/>
            <a:chOff x="2755" y="1826"/>
            <a:chExt cx="2233" cy="2029"/>
          </a:xfrm>
        </p:grpSpPr>
        <p:sp>
          <p:nvSpPr>
            <p:cNvPr id="83985" name="Oval 6"/>
            <p:cNvSpPr>
              <a:spLocks noChangeArrowheads="1"/>
            </p:cNvSpPr>
            <p:nvPr/>
          </p:nvSpPr>
          <p:spPr bwMode="auto">
            <a:xfrm>
              <a:off x="3118" y="2231"/>
              <a:ext cx="1468" cy="142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86" name="Oval 7"/>
            <p:cNvSpPr>
              <a:spLocks noChangeArrowheads="1"/>
            </p:cNvSpPr>
            <p:nvPr/>
          </p:nvSpPr>
          <p:spPr bwMode="auto">
            <a:xfrm>
              <a:off x="3685" y="1826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87" name="Oval 8"/>
            <p:cNvSpPr>
              <a:spLocks noChangeArrowheads="1"/>
            </p:cNvSpPr>
            <p:nvPr/>
          </p:nvSpPr>
          <p:spPr bwMode="auto">
            <a:xfrm>
              <a:off x="2755" y="2549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88" name="Oval 9"/>
            <p:cNvSpPr>
              <a:spLocks noChangeArrowheads="1"/>
            </p:cNvSpPr>
            <p:nvPr/>
          </p:nvSpPr>
          <p:spPr bwMode="auto">
            <a:xfrm>
              <a:off x="3040" y="3539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89" name="Oval 10"/>
            <p:cNvSpPr>
              <a:spLocks noChangeArrowheads="1"/>
            </p:cNvSpPr>
            <p:nvPr/>
          </p:nvSpPr>
          <p:spPr bwMode="auto">
            <a:xfrm>
              <a:off x="4279" y="3527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0" name="Oval 11"/>
            <p:cNvSpPr>
              <a:spLocks noChangeArrowheads="1"/>
            </p:cNvSpPr>
            <p:nvPr/>
          </p:nvSpPr>
          <p:spPr bwMode="auto">
            <a:xfrm>
              <a:off x="4645" y="2516"/>
              <a:ext cx="343" cy="31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1" name="Line 12"/>
            <p:cNvSpPr>
              <a:spLocks noChangeShapeType="1"/>
            </p:cNvSpPr>
            <p:nvPr/>
          </p:nvSpPr>
          <p:spPr bwMode="auto">
            <a:xfrm>
              <a:off x="3482" y="2478"/>
              <a:ext cx="137" cy="1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2" name="Line 13"/>
            <p:cNvSpPr>
              <a:spLocks noChangeShapeType="1"/>
            </p:cNvSpPr>
            <p:nvPr/>
          </p:nvSpPr>
          <p:spPr bwMode="auto">
            <a:xfrm flipH="1">
              <a:off x="4033" y="2514"/>
              <a:ext cx="169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3" name="Line 14"/>
            <p:cNvSpPr>
              <a:spLocks noChangeShapeType="1"/>
            </p:cNvSpPr>
            <p:nvPr/>
          </p:nvSpPr>
          <p:spPr bwMode="auto">
            <a:xfrm>
              <a:off x="4157" y="3072"/>
              <a:ext cx="254" cy="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4" name="Line 15"/>
            <p:cNvSpPr>
              <a:spLocks noChangeShapeType="1"/>
            </p:cNvSpPr>
            <p:nvPr/>
          </p:nvSpPr>
          <p:spPr bwMode="auto">
            <a:xfrm>
              <a:off x="3825" y="3270"/>
              <a:ext cx="0" cy="2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5" name="Line 16"/>
            <p:cNvSpPr>
              <a:spLocks noChangeShapeType="1"/>
            </p:cNvSpPr>
            <p:nvPr/>
          </p:nvSpPr>
          <p:spPr bwMode="auto">
            <a:xfrm flipV="1">
              <a:off x="3257" y="3047"/>
              <a:ext cx="218" cy="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6" name="Oval 17"/>
            <p:cNvSpPr>
              <a:spLocks noChangeArrowheads="1"/>
            </p:cNvSpPr>
            <p:nvPr/>
          </p:nvSpPr>
          <p:spPr bwMode="auto">
            <a:xfrm>
              <a:off x="3748" y="2330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7" name="Oval 18"/>
            <p:cNvSpPr>
              <a:spLocks noChangeArrowheads="1"/>
            </p:cNvSpPr>
            <p:nvPr/>
          </p:nvSpPr>
          <p:spPr bwMode="auto">
            <a:xfrm>
              <a:off x="4222" y="2705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8" name="Oval 19"/>
            <p:cNvSpPr>
              <a:spLocks noChangeArrowheads="1"/>
            </p:cNvSpPr>
            <p:nvPr/>
          </p:nvSpPr>
          <p:spPr bwMode="auto">
            <a:xfrm>
              <a:off x="4030" y="3224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99" name="Oval 20"/>
            <p:cNvSpPr>
              <a:spLocks noChangeArrowheads="1"/>
            </p:cNvSpPr>
            <p:nvPr/>
          </p:nvSpPr>
          <p:spPr bwMode="auto">
            <a:xfrm>
              <a:off x="3433" y="3212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4000" name="Oval 21"/>
            <p:cNvSpPr>
              <a:spLocks noChangeArrowheads="1"/>
            </p:cNvSpPr>
            <p:nvPr/>
          </p:nvSpPr>
          <p:spPr bwMode="auto">
            <a:xfrm>
              <a:off x="3241" y="2687"/>
              <a:ext cx="208" cy="1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4001" name="Text Box 22"/>
            <p:cNvSpPr txBox="1">
              <a:spLocks noChangeArrowheads="1"/>
            </p:cNvSpPr>
            <p:nvPr/>
          </p:nvSpPr>
          <p:spPr bwMode="auto">
            <a:xfrm>
              <a:off x="3126" y="3561"/>
              <a:ext cx="25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P</a:t>
              </a:r>
              <a:r>
                <a:rPr lang="en-US" altLang="zh-TW" sz="2000" b="1" baseline="-25000">
                  <a:latin typeface="Calibri" panose="020F0502020204030204" pitchFamily="34" charset="0"/>
                </a:rPr>
                <a:t>0</a:t>
              </a:r>
              <a:endParaRPr lang="en-US" altLang="zh-TW" sz="2000" b="1">
                <a:latin typeface="Calibri" panose="020F0502020204030204" pitchFamily="34" charset="0"/>
              </a:endParaRPr>
            </a:p>
          </p:txBody>
        </p:sp>
        <p:sp>
          <p:nvSpPr>
            <p:cNvPr id="84002" name="Text Box 23"/>
            <p:cNvSpPr txBox="1">
              <a:spLocks noChangeArrowheads="1"/>
            </p:cNvSpPr>
            <p:nvPr/>
          </p:nvSpPr>
          <p:spPr bwMode="auto">
            <a:xfrm>
              <a:off x="4322" y="3553"/>
              <a:ext cx="25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P</a:t>
              </a:r>
              <a:r>
                <a:rPr lang="en-US" altLang="zh-TW" sz="2000" b="1" baseline="-25000">
                  <a:latin typeface="Calibri" panose="020F0502020204030204" pitchFamily="34" charset="0"/>
                </a:rPr>
                <a:t>1</a:t>
              </a:r>
              <a:endParaRPr lang="en-US" altLang="zh-TW" sz="2000" b="1">
                <a:latin typeface="Calibri" panose="020F0502020204030204" pitchFamily="34" charset="0"/>
              </a:endParaRPr>
            </a:p>
          </p:txBody>
        </p:sp>
        <p:sp>
          <p:nvSpPr>
            <p:cNvPr id="84003" name="Text Box 24"/>
            <p:cNvSpPr txBox="1">
              <a:spLocks noChangeArrowheads="1"/>
            </p:cNvSpPr>
            <p:nvPr/>
          </p:nvSpPr>
          <p:spPr bwMode="auto">
            <a:xfrm>
              <a:off x="4690" y="2537"/>
              <a:ext cx="25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P</a:t>
              </a:r>
              <a:r>
                <a:rPr lang="en-US" altLang="zh-TW" sz="2000" b="1" baseline="-25000">
                  <a:latin typeface="Calibri" panose="020F0502020204030204" pitchFamily="34" charset="0"/>
                </a:rPr>
                <a:t>2</a:t>
              </a:r>
              <a:endParaRPr lang="en-US" altLang="zh-TW" sz="2000" b="1">
                <a:latin typeface="Calibri" panose="020F0502020204030204" pitchFamily="34" charset="0"/>
              </a:endParaRPr>
            </a:p>
          </p:txBody>
        </p:sp>
        <p:sp>
          <p:nvSpPr>
            <p:cNvPr id="84004" name="Text Box 25"/>
            <p:cNvSpPr txBox="1">
              <a:spLocks noChangeArrowheads="1"/>
            </p:cNvSpPr>
            <p:nvPr/>
          </p:nvSpPr>
          <p:spPr bwMode="auto">
            <a:xfrm>
              <a:off x="3738" y="1849"/>
              <a:ext cx="25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P</a:t>
              </a:r>
              <a:r>
                <a:rPr lang="en-US" altLang="zh-TW" sz="2000" b="1" baseline="-25000">
                  <a:latin typeface="Calibri" panose="020F0502020204030204" pitchFamily="34" charset="0"/>
                </a:rPr>
                <a:t>3</a:t>
              </a:r>
              <a:endParaRPr lang="en-US" altLang="zh-TW" sz="2000" b="1">
                <a:latin typeface="Calibri" panose="020F0502020204030204" pitchFamily="34" charset="0"/>
              </a:endParaRPr>
            </a:p>
          </p:txBody>
        </p:sp>
        <p:sp>
          <p:nvSpPr>
            <p:cNvPr id="84005" name="Text Box 26"/>
            <p:cNvSpPr txBox="1">
              <a:spLocks noChangeArrowheads="1"/>
            </p:cNvSpPr>
            <p:nvPr/>
          </p:nvSpPr>
          <p:spPr bwMode="auto">
            <a:xfrm>
              <a:off x="2806" y="2561"/>
              <a:ext cx="257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P</a:t>
              </a:r>
              <a:r>
                <a:rPr lang="en-US" altLang="zh-TW" sz="2000" b="1" baseline="-25000">
                  <a:latin typeface="Calibri" panose="020F0502020204030204" pitchFamily="34" charset="0"/>
                </a:rPr>
                <a:t>4</a:t>
              </a:r>
              <a:endParaRPr lang="en-US" altLang="zh-TW" sz="2000" b="1">
                <a:latin typeface="Calibri" panose="020F0502020204030204" pitchFamily="34" charset="0"/>
              </a:endParaRPr>
            </a:p>
          </p:txBody>
        </p:sp>
        <p:sp>
          <p:nvSpPr>
            <p:cNvPr id="84006" name="Text Box 27"/>
            <p:cNvSpPr txBox="1">
              <a:spLocks noChangeArrowheads="1"/>
            </p:cNvSpPr>
            <p:nvPr/>
          </p:nvSpPr>
          <p:spPr bwMode="auto">
            <a:xfrm>
              <a:off x="3486" y="2906"/>
              <a:ext cx="18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84007" name="Text Box 28"/>
            <p:cNvSpPr txBox="1">
              <a:spLocks noChangeArrowheads="1"/>
            </p:cNvSpPr>
            <p:nvPr/>
          </p:nvSpPr>
          <p:spPr bwMode="auto">
            <a:xfrm>
              <a:off x="3726" y="3025"/>
              <a:ext cx="19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84008" name="Text Box 29"/>
            <p:cNvSpPr txBox="1">
              <a:spLocks noChangeArrowheads="1"/>
            </p:cNvSpPr>
            <p:nvPr/>
          </p:nvSpPr>
          <p:spPr bwMode="auto">
            <a:xfrm>
              <a:off x="3974" y="2897"/>
              <a:ext cx="19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84009" name="Text Box 30"/>
            <p:cNvSpPr txBox="1">
              <a:spLocks noChangeArrowheads="1"/>
            </p:cNvSpPr>
            <p:nvPr/>
          </p:nvSpPr>
          <p:spPr bwMode="auto">
            <a:xfrm>
              <a:off x="3886" y="2617"/>
              <a:ext cx="19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84010" name="Text Box 31"/>
            <p:cNvSpPr txBox="1">
              <a:spLocks noChangeArrowheads="1"/>
            </p:cNvSpPr>
            <p:nvPr/>
          </p:nvSpPr>
          <p:spPr bwMode="auto">
            <a:xfrm>
              <a:off x="3558" y="2593"/>
              <a:ext cx="198" cy="25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TW" sz="2000" b="1">
                  <a:latin typeface="Calibri" panose="020F0502020204030204" pitchFamily="34" charset="0"/>
                </a:rPr>
                <a:t>4</a:t>
              </a:r>
            </a:p>
          </p:txBody>
        </p:sp>
      </p:grpSp>
      <p:sp>
        <p:nvSpPr>
          <p:cNvPr id="83974" name="Text Box 32"/>
          <p:cNvSpPr txBox="1">
            <a:spLocks noChangeArrowheads="1"/>
          </p:cNvSpPr>
          <p:nvPr/>
        </p:nvSpPr>
        <p:spPr bwMode="auto">
          <a:xfrm>
            <a:off x="6175375" y="2133600"/>
            <a:ext cx="2666114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</a:pPr>
            <a:r>
              <a:rPr lang="en-US" altLang="zh-TW" sz="2000" b="1" dirty="0">
                <a:latin typeface="Calibri" panose="020F0502020204030204" pitchFamily="34" charset="0"/>
              </a:rPr>
              <a:t>P</a:t>
            </a:r>
            <a:r>
              <a:rPr lang="en-US" altLang="zh-TW" sz="2000" b="1" baseline="-25000" dirty="0">
                <a:latin typeface="Calibri" panose="020F0502020204030204" pitchFamily="34" charset="0"/>
              </a:rPr>
              <a:t>2</a:t>
            </a:r>
            <a:r>
              <a:rPr lang="en-US" altLang="zh-TW" sz="2000" b="1" dirty="0">
                <a:latin typeface="Calibri" panose="020F0502020204030204" pitchFamily="34" charset="0"/>
              </a:rPr>
              <a:t> calls pickup(2) 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Calibri" panose="020F0502020204030204" pitchFamily="34" charset="0"/>
              </a:rPr>
              <a:t>hungry</a:t>
            </a:r>
          </a:p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 at self[2].wait;</a:t>
            </a:r>
          </a:p>
        </p:txBody>
      </p:sp>
      <p:grpSp>
        <p:nvGrpSpPr>
          <p:cNvPr id="83975" name="Group 33"/>
          <p:cNvGrpSpPr>
            <a:grpSpLocks/>
          </p:cNvGrpSpPr>
          <p:nvPr/>
        </p:nvGrpSpPr>
        <p:grpSpPr bwMode="auto">
          <a:xfrm>
            <a:off x="7399339" y="2708274"/>
            <a:ext cx="2389188" cy="3529037"/>
            <a:chOff x="4152" y="1068"/>
            <a:chExt cx="874" cy="2338"/>
          </a:xfrm>
        </p:grpSpPr>
        <p:sp>
          <p:nvSpPr>
            <p:cNvPr id="83983" name="Arc 34"/>
            <p:cNvSpPr>
              <a:spLocks/>
            </p:cNvSpPr>
            <p:nvPr/>
          </p:nvSpPr>
          <p:spPr bwMode="auto">
            <a:xfrm flipV="1">
              <a:off x="4152" y="2160"/>
              <a:ext cx="874" cy="1246"/>
            </a:xfrm>
            <a:custGeom>
              <a:avLst/>
              <a:gdLst>
                <a:gd name="T0" fmla="*/ 0 w 21565"/>
                <a:gd name="T1" fmla="*/ 0 h 21549"/>
                <a:gd name="T2" fmla="*/ 1 w 21565"/>
                <a:gd name="T3" fmla="*/ 4 h 21549"/>
                <a:gd name="T4" fmla="*/ 0 w 21565"/>
                <a:gd name="T5" fmla="*/ 4 h 21549"/>
                <a:gd name="T6" fmla="*/ 0 60000 65536"/>
                <a:gd name="T7" fmla="*/ 0 60000 65536"/>
                <a:gd name="T8" fmla="*/ 0 60000 65536"/>
                <a:gd name="T9" fmla="*/ 0 w 21565"/>
                <a:gd name="T10" fmla="*/ 0 h 21549"/>
                <a:gd name="T11" fmla="*/ 21565 w 21565"/>
                <a:gd name="T12" fmla="*/ 21549 h 215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5" h="21549" fill="none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</a:path>
                <a:path w="21565" h="21549" stroke="0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  <a:lnTo>
                    <a:pt x="0" y="21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83984" name="Arc 35"/>
            <p:cNvSpPr>
              <a:spLocks/>
            </p:cNvSpPr>
            <p:nvPr/>
          </p:nvSpPr>
          <p:spPr bwMode="auto">
            <a:xfrm>
              <a:off x="4152" y="1068"/>
              <a:ext cx="874" cy="1246"/>
            </a:xfrm>
            <a:custGeom>
              <a:avLst/>
              <a:gdLst>
                <a:gd name="T0" fmla="*/ 0 w 21565"/>
                <a:gd name="T1" fmla="*/ 0 h 21549"/>
                <a:gd name="T2" fmla="*/ 1 w 21565"/>
                <a:gd name="T3" fmla="*/ 4 h 21549"/>
                <a:gd name="T4" fmla="*/ 0 w 21565"/>
                <a:gd name="T5" fmla="*/ 4 h 21549"/>
                <a:gd name="T6" fmla="*/ 0 60000 65536"/>
                <a:gd name="T7" fmla="*/ 0 60000 65536"/>
                <a:gd name="T8" fmla="*/ 0 60000 65536"/>
                <a:gd name="T9" fmla="*/ 0 w 21565"/>
                <a:gd name="T10" fmla="*/ 0 h 21549"/>
                <a:gd name="T11" fmla="*/ 21565 w 21565"/>
                <a:gd name="T12" fmla="*/ 21549 h 215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65" h="21549" fill="none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</a:path>
                <a:path w="21565" h="21549" stroke="0" extrusionOk="0">
                  <a:moveTo>
                    <a:pt x="1483" y="0"/>
                  </a:moveTo>
                  <a:cubicBezTo>
                    <a:pt x="12338" y="747"/>
                    <a:pt x="20943" y="9452"/>
                    <a:pt x="21564" y="20315"/>
                  </a:cubicBezTo>
                  <a:lnTo>
                    <a:pt x="0" y="21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</p:grpSp>
      <p:sp>
        <p:nvSpPr>
          <p:cNvPr id="83976" name="Arc 36"/>
          <p:cNvSpPr>
            <a:spLocks/>
          </p:cNvSpPr>
          <p:nvPr/>
        </p:nvSpPr>
        <p:spPr bwMode="auto">
          <a:xfrm flipH="1" flipV="1">
            <a:off x="3240417" y="4544724"/>
            <a:ext cx="3143614" cy="1416793"/>
          </a:xfrm>
          <a:custGeom>
            <a:avLst/>
            <a:gdLst>
              <a:gd name="T0" fmla="*/ 0 w 22703"/>
              <a:gd name="T1" fmla="*/ 1603101 h 25123"/>
              <a:gd name="T2" fmla="*/ 2147483647 w 22703"/>
              <a:gd name="T3" fmla="*/ 1438757110 h 25123"/>
              <a:gd name="T4" fmla="*/ 1423422582 w 22703"/>
              <a:gd name="T5" fmla="*/ 1237000599 h 25123"/>
              <a:gd name="T6" fmla="*/ 0 60000 65536"/>
              <a:gd name="T7" fmla="*/ 0 60000 65536"/>
              <a:gd name="T8" fmla="*/ 0 60000 65536"/>
              <a:gd name="T9" fmla="*/ 0 w 22703"/>
              <a:gd name="T10" fmla="*/ 0 h 25123"/>
              <a:gd name="T11" fmla="*/ 22703 w 22703"/>
              <a:gd name="T12" fmla="*/ 25123 h 251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03" h="25123" fill="none" extrusionOk="0">
                <a:moveTo>
                  <a:pt x="0" y="28"/>
                </a:moveTo>
                <a:cubicBezTo>
                  <a:pt x="367" y="9"/>
                  <a:pt x="735" y="-1"/>
                  <a:pt x="1103" y="0"/>
                </a:cubicBezTo>
                <a:cubicBezTo>
                  <a:pt x="13032" y="0"/>
                  <a:pt x="22703" y="9670"/>
                  <a:pt x="22703" y="21600"/>
                </a:cubicBezTo>
                <a:cubicBezTo>
                  <a:pt x="22703" y="22780"/>
                  <a:pt x="22606" y="23958"/>
                  <a:pt x="22413" y="25122"/>
                </a:cubicBezTo>
              </a:path>
              <a:path w="22703" h="25123" stroke="0" extrusionOk="0">
                <a:moveTo>
                  <a:pt x="0" y="28"/>
                </a:moveTo>
                <a:cubicBezTo>
                  <a:pt x="367" y="9"/>
                  <a:pt x="735" y="-1"/>
                  <a:pt x="1103" y="0"/>
                </a:cubicBezTo>
                <a:cubicBezTo>
                  <a:pt x="13032" y="0"/>
                  <a:pt x="22703" y="9670"/>
                  <a:pt x="22703" y="21600"/>
                </a:cubicBezTo>
                <a:cubicBezTo>
                  <a:pt x="22703" y="22780"/>
                  <a:pt x="22606" y="23958"/>
                  <a:pt x="22413" y="25122"/>
                </a:cubicBezTo>
                <a:lnTo>
                  <a:pt x="1103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83977" name="Line 37"/>
          <p:cNvSpPr>
            <a:spLocks noChangeShapeType="1"/>
          </p:cNvSpPr>
          <p:nvPr/>
        </p:nvSpPr>
        <p:spPr bwMode="auto">
          <a:xfrm>
            <a:off x="8724901" y="2647951"/>
            <a:ext cx="34925" cy="60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520230" name="Text Box 38"/>
          <p:cNvSpPr txBox="1">
            <a:spLocks noChangeArrowheads="1"/>
          </p:cNvSpPr>
          <p:nvPr/>
        </p:nvSpPr>
        <p:spPr bwMode="auto">
          <a:xfrm>
            <a:off x="5006005" y="196660"/>
            <a:ext cx="2894960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An illustration</a:t>
            </a:r>
          </a:p>
        </p:txBody>
      </p:sp>
      <p:sp>
        <p:nvSpPr>
          <p:cNvPr id="83979" name="Text Box 39"/>
          <p:cNvSpPr txBox="1">
            <a:spLocks noChangeArrowheads="1"/>
          </p:cNvSpPr>
          <p:nvPr/>
        </p:nvSpPr>
        <p:spPr bwMode="auto">
          <a:xfrm>
            <a:off x="5442527" y="3534786"/>
            <a:ext cx="817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FF3300"/>
                </a:solidFill>
                <a:latin typeface="Calibri" panose="020F0502020204030204" pitchFamily="34" charset="0"/>
              </a:rPr>
              <a:t>(t=T1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83980" name="Text Box 40"/>
          <p:cNvSpPr txBox="1">
            <a:spLocks noChangeArrowheads="1"/>
          </p:cNvSpPr>
          <p:nvPr/>
        </p:nvSpPr>
        <p:spPr bwMode="auto">
          <a:xfrm>
            <a:off x="6104226" y="1789689"/>
            <a:ext cx="817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FF3300"/>
                </a:solidFill>
                <a:latin typeface="Calibri" panose="020F0502020204030204" pitchFamily="34" charset="0"/>
              </a:rPr>
              <a:t>(t=T2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83981" name="Text Box 41"/>
          <p:cNvSpPr txBox="1">
            <a:spLocks noChangeArrowheads="1"/>
          </p:cNvSpPr>
          <p:nvPr/>
        </p:nvSpPr>
        <p:spPr bwMode="auto">
          <a:xfrm>
            <a:off x="4656137" y="4923863"/>
            <a:ext cx="817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 smtClean="0">
                <a:solidFill>
                  <a:srgbClr val="FF3300"/>
                </a:solidFill>
                <a:latin typeface="Calibri" panose="020F0502020204030204" pitchFamily="34" charset="0"/>
              </a:rPr>
              <a:t>(t=T3</a:t>
            </a:r>
            <a:r>
              <a:rPr lang="en-US" altLang="zh-TW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83982" name="Text Box 42"/>
          <p:cNvSpPr txBox="1">
            <a:spLocks noChangeArrowheads="1"/>
          </p:cNvSpPr>
          <p:nvPr/>
        </p:nvSpPr>
        <p:spPr bwMode="auto">
          <a:xfrm>
            <a:off x="10371495" y="6581001"/>
            <a:ext cx="184518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 dirty="0">
                <a:latin typeface="Calibri" panose="020F0502020204030204" pitchFamily="34" charset="0"/>
              </a:rPr>
              <a:t>From other authors</a:t>
            </a:r>
          </a:p>
        </p:txBody>
      </p:sp>
    </p:spTree>
    <p:extLst>
      <p:ext uri="{BB962C8B-B14F-4D97-AF65-F5344CB8AC3E}">
        <p14:creationId xmlns:p14="http://schemas.microsoft.com/office/powerpoint/2010/main" val="89392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en-US" altLang="zh-TW" dirty="0" smtClean="0"/>
              <a:t>Although </a:t>
            </a:r>
            <a:r>
              <a:rPr lang="en-US" altLang="zh-TW" dirty="0">
                <a:solidFill>
                  <a:srgbClr val="0000FF"/>
                </a:solidFill>
              </a:rPr>
              <a:t>deadlock free </a:t>
            </a:r>
            <a:r>
              <a:rPr lang="en-US" altLang="zh-TW" dirty="0"/>
              <a:t>but a philosopher may be </a:t>
            </a:r>
            <a:r>
              <a:rPr lang="en-US" altLang="zh-TW" dirty="0">
                <a:solidFill>
                  <a:srgbClr val="FF3300"/>
                </a:solidFill>
              </a:rPr>
              <a:t>starvation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solidFill>
                  <a:srgbClr val="FF0000"/>
                </a:solidFill>
              </a:rPr>
              <a:t>Why?</a:t>
            </a:r>
            <a:endParaRPr lang="zh-TW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17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Classic Problems of Synchronization</a:t>
            </a:r>
          </a:p>
          <a:p>
            <a:endParaRPr lang="en-US" altLang="zh-TW" sz="3600" b="1" dirty="0" smtClean="0">
              <a:solidFill>
                <a:srgbClr val="FF0000"/>
              </a:solidFill>
            </a:endParaRPr>
          </a:p>
          <a:p>
            <a:r>
              <a:rPr lang="en-US" altLang="zh-TW" sz="3600" b="1" dirty="0" smtClean="0">
                <a:solidFill>
                  <a:srgbClr val="FF0000"/>
                </a:solidFill>
              </a:rPr>
              <a:t>POSIX </a:t>
            </a:r>
            <a:r>
              <a:rPr lang="en-US" altLang="zh-TW" sz="3600" b="1" dirty="0">
                <a:solidFill>
                  <a:srgbClr val="FF0000"/>
                </a:solidFill>
              </a:rPr>
              <a:t>Synchronization (skip!)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POSIX Mutex Locks</a:t>
            </a:r>
          </a:p>
          <a:p>
            <a:pPr lvl="1"/>
            <a:r>
              <a:rPr lang="en-US" altLang="zh-TW" dirty="0" smtClean="0"/>
              <a:t>POSIX Semaphores</a:t>
            </a:r>
          </a:p>
          <a:p>
            <a:pPr lvl="1"/>
            <a:r>
              <a:rPr lang="en-US" altLang="zh-TW" dirty="0" smtClean="0"/>
              <a:t>POSIX Condition Variables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184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POSIX Mutex 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Creating and initializing the lock</a:t>
            </a:r>
            <a:br>
              <a:rPr lang="en-US" altLang="zh-TW" dirty="0"/>
            </a:b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/>
            </a:r>
            <a:br>
              <a:rPr lang="en-US" altLang="zh-TW" dirty="0"/>
            </a:br>
            <a:endParaRPr lang="en-US" altLang="zh-TW" dirty="0" smtClean="0"/>
          </a:p>
          <a:p>
            <a:r>
              <a:rPr lang="en-US" altLang="zh-TW" dirty="0" smtClean="0"/>
              <a:t>Acquiring and releasing the lock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749" y="2132856"/>
            <a:ext cx="6552728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4356547"/>
            <a:ext cx="6269248" cy="211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379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POSIX Mutex </a:t>
            </a:r>
            <a:r>
              <a:rPr lang="en-US" altLang="zh-TW" dirty="0" smtClean="0"/>
              <a:t>Locks API</a:t>
            </a:r>
            <a:endParaRPr lang="zh-TW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1817465" y="1484784"/>
            <a:ext cx="8579296" cy="4308872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kumimoji="0" lang="zh-TW" altLang="zh-TW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&lt;pthread.h&gt;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mutex = PTHREAD_MUTEX_INITIALIZER;</a:t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kumimoji="0" lang="en-US" altLang="zh-TW" sz="2000" dirty="0">
              <a:solidFill>
                <a:srgbClr val="4D4D4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zh-TW" altLang="zh-TW" sz="2000" dirty="0">
                <a:solidFill>
                  <a:srgbClr val="4271A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zh-TW" altLang="zh-TW" sz="2000" dirty="0">
                <a:solidFill>
                  <a:srgbClr val="3E999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pthread_mutex_init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restrict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mutex,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en-US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pthread_mutexattr_t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restrict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attr)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kumimoji="0" lang="en-US" altLang="zh-TW" sz="2000" dirty="0">
              <a:solidFill>
                <a:srgbClr val="4D4D4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zh-TW" altLang="zh-TW" sz="2000" dirty="0">
                <a:solidFill>
                  <a:srgbClr val="4271A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zh-TW" altLang="zh-TW" sz="2000" dirty="0">
                <a:solidFill>
                  <a:srgbClr val="3E999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pthread_mutex_destroy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*mutex)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zh-TW" altLang="zh-TW" sz="2000" dirty="0">
                <a:solidFill>
                  <a:srgbClr val="4271A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zh-TW" altLang="zh-TW" sz="2000" dirty="0">
                <a:solidFill>
                  <a:srgbClr val="3E999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pthread_mutex_lock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*mutex)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kumimoji="0" lang="en-US" altLang="zh-TW" sz="2000" dirty="0">
              <a:solidFill>
                <a:srgbClr val="4D4D4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zh-TW" altLang="zh-TW" sz="2000" dirty="0">
                <a:solidFill>
                  <a:srgbClr val="4271A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zh-TW" altLang="zh-TW" sz="2000" dirty="0">
                <a:solidFill>
                  <a:srgbClr val="3E999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pthread_mutex_trylock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*mutex)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kumimoji="0" lang="en-US" altLang="zh-TW" sz="2000" dirty="0">
              <a:solidFill>
                <a:srgbClr val="4D4D4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zh-TW" altLang="zh-TW" sz="2000" dirty="0">
                <a:solidFill>
                  <a:srgbClr val="4271A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zh-TW" altLang="zh-TW" sz="2000" dirty="0">
                <a:solidFill>
                  <a:srgbClr val="3E999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pthread_mutex_unlock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zh-TW" altLang="zh-TW" sz="2000" dirty="0">
                <a:solidFill>
                  <a:srgbClr val="8959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pthread_mutex_t</a:t>
            </a:r>
            <a:r>
              <a:rPr kumimoji="0" lang="zh-TW" altLang="zh-TW" sz="2000" dirty="0">
                <a:solidFill>
                  <a:srgbClr val="F587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*mutex)</a:t>
            </a:r>
            <a:r>
              <a:rPr kumimoji="0" lang="zh-TW" altLang="zh-TW" sz="2000" dirty="0">
                <a:solidFill>
                  <a:srgbClr val="4D4D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kumimoji="0" lang="zh-TW" altLang="zh-TW" sz="1200" dirty="0"/>
              <a:t> </a:t>
            </a:r>
            <a:endParaRPr kumimoji="0" lang="zh-TW" altLang="zh-TW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Classic Problems of Synchronization</a:t>
            </a:r>
          </a:p>
          <a:p>
            <a:endParaRPr lang="en-US" altLang="zh-TW" sz="3600" b="1" dirty="0" smtClean="0">
              <a:solidFill>
                <a:srgbClr val="FF0000"/>
              </a:solidFill>
            </a:endParaRPr>
          </a:p>
          <a:p>
            <a:r>
              <a:rPr lang="en-US" altLang="zh-TW" sz="3600" b="1" dirty="0" smtClean="0">
                <a:solidFill>
                  <a:srgbClr val="FF0000"/>
                </a:solidFill>
              </a:rPr>
              <a:t>POSIX </a:t>
            </a:r>
            <a:r>
              <a:rPr lang="en-US" altLang="zh-TW" sz="3600" b="1" dirty="0">
                <a:solidFill>
                  <a:srgbClr val="FF0000"/>
                </a:solidFill>
              </a:rPr>
              <a:t>Synchronization</a:t>
            </a:r>
          </a:p>
          <a:p>
            <a:pPr lvl="1"/>
            <a:r>
              <a:rPr lang="en-US" altLang="zh-TW" dirty="0" smtClean="0"/>
              <a:t>POSIX Mutex Locks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POSIX Semaphores</a:t>
            </a:r>
          </a:p>
          <a:p>
            <a:pPr lvl="1"/>
            <a:r>
              <a:rPr lang="en-US" altLang="zh-TW" dirty="0" smtClean="0"/>
              <a:t>POSIX Condition Variables</a:t>
            </a:r>
            <a:endParaRPr lang="en-US" altLang="zh-TW" dirty="0"/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0284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POSIX </a:t>
            </a:r>
            <a:r>
              <a:rPr lang="en-US" altLang="zh-TW" smtClean="0"/>
              <a:t>Semaphores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POSIX provides two versions – </a:t>
            </a:r>
            <a:r>
              <a:rPr lang="en-US" altLang="zh-TW" b="1" dirty="0">
                <a:solidFill>
                  <a:srgbClr val="FF0000"/>
                </a:solidFill>
              </a:rPr>
              <a:t>named</a:t>
            </a:r>
            <a:r>
              <a:rPr lang="en-US" altLang="zh-TW" dirty="0"/>
              <a:t> and </a:t>
            </a:r>
            <a:r>
              <a:rPr lang="en-US" altLang="zh-TW" b="1" dirty="0">
                <a:solidFill>
                  <a:srgbClr val="FF0000"/>
                </a:solidFill>
              </a:rPr>
              <a:t>unnamed</a:t>
            </a:r>
            <a:r>
              <a:rPr lang="en-US" altLang="zh-TW" dirty="0"/>
              <a:t>.</a:t>
            </a:r>
          </a:p>
          <a:p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Named </a:t>
            </a:r>
            <a:r>
              <a:rPr lang="en-US" altLang="zh-TW" b="1" dirty="0">
                <a:solidFill>
                  <a:srgbClr val="FF0000"/>
                </a:solidFill>
              </a:rPr>
              <a:t>semaphores </a:t>
            </a:r>
            <a:r>
              <a:rPr lang="en-US" altLang="zh-TW" dirty="0"/>
              <a:t>can be used by </a:t>
            </a:r>
            <a:r>
              <a:rPr lang="en-US" altLang="zh-TW" b="1" dirty="0"/>
              <a:t>unrelated</a:t>
            </a:r>
            <a:r>
              <a:rPr lang="en-US" altLang="zh-TW" dirty="0"/>
              <a:t> </a:t>
            </a:r>
            <a:r>
              <a:rPr lang="en-US" altLang="zh-TW" dirty="0" smtClean="0"/>
              <a:t>processes by simply referring to the </a:t>
            </a:r>
            <a:r>
              <a:rPr lang="en-US" altLang="zh-TW" b="1" dirty="0" smtClean="0"/>
              <a:t>semaphore’s name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But, </a:t>
            </a:r>
            <a:r>
              <a:rPr lang="en-US" altLang="zh-TW" dirty="0" smtClean="0">
                <a:solidFill>
                  <a:srgbClr val="FF0000"/>
                </a:solidFill>
              </a:rPr>
              <a:t>unnamed</a:t>
            </a:r>
            <a:r>
              <a:rPr lang="en-US" altLang="zh-TW" dirty="0">
                <a:solidFill>
                  <a:srgbClr val="FF0000"/>
                </a:solidFill>
              </a:rPr>
              <a:t> semaphores </a:t>
            </a:r>
            <a:r>
              <a:rPr lang="en-US" altLang="zh-TW" dirty="0"/>
              <a:t>cannot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731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POSIX Named Semaphores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Creating create and open a named semaphore:</a:t>
            </a:r>
            <a:br>
              <a:rPr lang="en-US" altLang="zh-TW" sz="2400" dirty="0"/>
            </a:b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/>
            </a:r>
            <a:br>
              <a:rPr lang="en-US" altLang="zh-TW" sz="2400" dirty="0"/>
            </a:br>
            <a:endParaRPr lang="en-US" altLang="zh-TW" sz="2400" dirty="0"/>
          </a:p>
          <a:p>
            <a:r>
              <a:rPr lang="en-US" altLang="zh-TW" sz="2400" dirty="0"/>
              <a:t>Another process can access the semaphore by referring to its name </a:t>
            </a:r>
            <a:r>
              <a:rPr lang="en-US" altLang="zh-TW" sz="2400" b="1" dirty="0"/>
              <a:t>SEM</a:t>
            </a:r>
            <a:r>
              <a:rPr lang="en-US" altLang="zh-TW" sz="2400" dirty="0"/>
              <a:t>.</a:t>
            </a:r>
          </a:p>
          <a:p>
            <a:r>
              <a:rPr lang="en-US" altLang="zh-TW" sz="2400" dirty="0"/>
              <a:t>Acquiring and releasing the semaphore:</a:t>
            </a:r>
          </a:p>
          <a:p>
            <a:endParaRPr lang="zh-TW" alt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1988840"/>
            <a:ext cx="6840760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4993200"/>
            <a:ext cx="5616624" cy="1484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線接點 7"/>
          <p:cNvCxnSpPr/>
          <p:nvPr/>
        </p:nvCxnSpPr>
        <p:spPr>
          <a:xfrm>
            <a:off x="5303912" y="3212976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096000" y="3199886"/>
            <a:ext cx="792088" cy="130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176120" y="3199885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7896200" y="3196419"/>
            <a:ext cx="216024" cy="34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圓角矩形圖說文字 13"/>
          <p:cNvSpPr/>
          <p:nvPr/>
        </p:nvSpPr>
        <p:spPr>
          <a:xfrm>
            <a:off x="4439816" y="3345390"/>
            <a:ext cx="792088" cy="310493"/>
          </a:xfrm>
          <a:prstGeom prst="wedgeRoundRectCallout">
            <a:avLst>
              <a:gd name="adj1" fmla="val 57117"/>
              <a:gd name="adj2" fmla="val -97157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name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5458780" y="3331846"/>
            <a:ext cx="698376" cy="324036"/>
          </a:xfrm>
          <a:prstGeom prst="wedgeRoundRectCallout">
            <a:avLst>
              <a:gd name="adj1" fmla="val 55469"/>
              <a:gd name="adj2" fmla="val -91810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flag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圓角矩形圖說文字 15"/>
          <p:cNvSpPr/>
          <p:nvPr/>
        </p:nvSpPr>
        <p:spPr>
          <a:xfrm>
            <a:off x="6888089" y="3341784"/>
            <a:ext cx="784873" cy="314099"/>
          </a:xfrm>
          <a:prstGeom prst="wedgeRoundRectCallout">
            <a:avLst>
              <a:gd name="adj1" fmla="val -7511"/>
              <a:gd name="adj2" fmla="val -86934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mode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圓角矩形圖說文字 16"/>
          <p:cNvSpPr/>
          <p:nvPr/>
        </p:nvSpPr>
        <p:spPr>
          <a:xfrm>
            <a:off x="7872958" y="3353774"/>
            <a:ext cx="1319387" cy="302109"/>
          </a:xfrm>
          <a:prstGeom prst="wedgeRoundRectCallout">
            <a:avLst>
              <a:gd name="adj1" fmla="val -22227"/>
              <a:gd name="adj2" fmla="val -93063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Initial value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78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POSIX Unnamed Semaphores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95325"/>
            <a:ext cx="10972800" cy="4525963"/>
          </a:xfrm>
        </p:spPr>
        <p:txBody>
          <a:bodyPr/>
          <a:lstStyle/>
          <a:p>
            <a:r>
              <a:rPr lang="en-US" altLang="zh-TW" sz="2800" dirty="0"/>
              <a:t>Creating and initializing a unnamed semaphore:</a:t>
            </a:r>
            <a:br>
              <a:rPr lang="en-US" altLang="zh-TW" sz="2800" dirty="0"/>
            </a:b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/>
            </a:r>
            <a:br>
              <a:rPr lang="en-US" altLang="zh-TW" dirty="0"/>
            </a:br>
            <a:endParaRPr lang="en-US" altLang="zh-TW" dirty="0"/>
          </a:p>
          <a:p>
            <a:pPr marL="0" indent="0">
              <a:buNone/>
            </a:pPr>
            <a:r>
              <a:rPr lang="en-US" altLang="zh-TW" sz="2800" dirty="0"/>
              <a:t> </a:t>
            </a:r>
          </a:p>
          <a:p>
            <a:r>
              <a:rPr lang="en-US" altLang="zh-TW" sz="2800" dirty="0"/>
              <a:t>Acquiring and releasing the semaphore:</a:t>
            </a:r>
          </a:p>
          <a:p>
            <a:endParaRPr lang="zh-TW" altLang="en-US" dirty="0"/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951608"/>
            <a:ext cx="7056784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899" y="4411948"/>
            <a:ext cx="6242179" cy="21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圖說文字 5"/>
          <p:cNvSpPr/>
          <p:nvPr/>
        </p:nvSpPr>
        <p:spPr>
          <a:xfrm>
            <a:off x="1847528" y="3445194"/>
            <a:ext cx="2808312" cy="369831"/>
          </a:xfrm>
          <a:prstGeom prst="wedgeRoundRectCallout">
            <a:avLst>
              <a:gd name="adj1" fmla="val 45317"/>
              <a:gd name="adj2" fmla="val -115043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a pointer to the semaphore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圓角矩形圖說文字 6"/>
          <p:cNvSpPr/>
          <p:nvPr/>
        </p:nvSpPr>
        <p:spPr>
          <a:xfrm>
            <a:off x="4799856" y="3445194"/>
            <a:ext cx="2376264" cy="369831"/>
          </a:xfrm>
          <a:prstGeom prst="wedgeRoundRectCallout">
            <a:avLst>
              <a:gd name="adj1" fmla="val -30272"/>
              <a:gd name="adj2" fmla="val -116677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flag // level of sharing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圓角矩形圖說文字 7"/>
          <p:cNvSpPr/>
          <p:nvPr/>
        </p:nvSpPr>
        <p:spPr>
          <a:xfrm>
            <a:off x="7893268" y="3426605"/>
            <a:ext cx="1512168" cy="369832"/>
          </a:xfrm>
          <a:prstGeom prst="wedgeRoundRectCallout">
            <a:avLst>
              <a:gd name="adj1" fmla="val -192469"/>
              <a:gd name="adj2" fmla="val -129690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</a:rPr>
              <a:t>Initial value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40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Classic Problems of Synchronization</a:t>
            </a:r>
          </a:p>
          <a:p>
            <a:endParaRPr lang="en-US" altLang="zh-TW" sz="3600" b="1" dirty="0" smtClean="0">
              <a:solidFill>
                <a:srgbClr val="FF0000"/>
              </a:solidFill>
            </a:endParaRPr>
          </a:p>
          <a:p>
            <a:r>
              <a:rPr lang="en-US" altLang="zh-TW" sz="3600" b="1" dirty="0" smtClean="0">
                <a:solidFill>
                  <a:srgbClr val="FF0000"/>
                </a:solidFill>
              </a:rPr>
              <a:t>POSIX </a:t>
            </a:r>
            <a:r>
              <a:rPr lang="en-US" altLang="zh-TW" sz="3600" b="1" dirty="0">
                <a:solidFill>
                  <a:srgbClr val="FF0000"/>
                </a:solidFill>
              </a:rPr>
              <a:t>Synchronization</a:t>
            </a:r>
          </a:p>
          <a:p>
            <a:pPr lvl="1"/>
            <a:r>
              <a:rPr lang="en-US" altLang="zh-TW" dirty="0" smtClean="0"/>
              <a:t>POSIX Mutex Locks</a:t>
            </a:r>
          </a:p>
          <a:p>
            <a:pPr lvl="1"/>
            <a:r>
              <a:rPr lang="en-US" altLang="zh-TW" dirty="0" smtClean="0"/>
              <a:t>POSIX Semaphores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POSIX Condition Variables</a:t>
            </a:r>
            <a:endParaRPr lang="en-US" altLang="zh-TW" b="1" dirty="0">
              <a:solidFill>
                <a:srgbClr val="FF0000"/>
              </a:solidFill>
            </a:endParaRPr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0856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POSIX Condition </a:t>
            </a:r>
            <a:r>
              <a:rPr lang="en-US" altLang="zh-TW" dirty="0" smtClean="0"/>
              <a:t>Variables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Previously, </a:t>
            </a:r>
            <a:r>
              <a:rPr lang="en-US" altLang="zh-TW" b="1" dirty="0" smtClean="0"/>
              <a:t>condition variables </a:t>
            </a:r>
            <a:r>
              <a:rPr lang="en-US" altLang="zh-TW" dirty="0" smtClean="0"/>
              <a:t>are used within the context of a monitor</a:t>
            </a:r>
          </a:p>
          <a:p>
            <a:pPr lvl="1"/>
            <a:r>
              <a:rPr lang="en-US" altLang="zh-TW" dirty="0" smtClean="0"/>
              <a:t>The monitor provides a </a:t>
            </a:r>
            <a:r>
              <a:rPr lang="en-US" altLang="zh-TW" b="1" dirty="0" smtClean="0"/>
              <a:t>locking</a:t>
            </a:r>
            <a:r>
              <a:rPr lang="en-US" altLang="zh-TW" dirty="0" smtClean="0"/>
              <a:t> mechanism to ensure </a:t>
            </a:r>
            <a:r>
              <a:rPr lang="en-US" altLang="zh-TW" b="1" dirty="0" smtClean="0"/>
              <a:t>data integrity</a:t>
            </a:r>
          </a:p>
          <a:p>
            <a:r>
              <a:rPr lang="en-US" altLang="zh-TW" dirty="0" smtClean="0"/>
              <a:t>POSIX </a:t>
            </a:r>
            <a:r>
              <a:rPr lang="en-US" altLang="zh-TW" dirty="0"/>
              <a:t>is typically used in C/C++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These </a:t>
            </a:r>
            <a:r>
              <a:rPr lang="en-US" altLang="zh-TW" dirty="0"/>
              <a:t>languages do not provide a </a:t>
            </a:r>
            <a:r>
              <a:rPr lang="en-US" altLang="zh-TW" dirty="0" smtClean="0"/>
              <a:t>monitor </a:t>
            </a:r>
            <a:endParaRPr lang="en-US" altLang="zh-TW" dirty="0"/>
          </a:p>
          <a:p>
            <a:r>
              <a:rPr lang="en-US" altLang="zh-TW" dirty="0" smtClean="0"/>
              <a:t>Thus, POSIX condition variables are associated with a POSIX </a:t>
            </a:r>
            <a:r>
              <a:rPr lang="en-US" altLang="zh-TW" b="1" dirty="0" smtClean="0">
                <a:solidFill>
                  <a:srgbClr val="FF0000"/>
                </a:solidFill>
              </a:rPr>
              <a:t>mutex lock</a:t>
            </a:r>
          </a:p>
          <a:p>
            <a:pPr lvl="1"/>
            <a:r>
              <a:rPr lang="en-US" altLang="zh-TW" dirty="0" smtClean="0"/>
              <a:t>The mutex lock is used to provide mutual exclusion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0641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POSIX Condition Variables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525963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Creating and initializing the condition variable: </a:t>
            </a:r>
          </a:p>
          <a:p>
            <a:pPr marL="0" indent="0">
              <a:buNone/>
            </a:pPr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Thread waiting for the condition </a:t>
            </a:r>
            <a:r>
              <a:rPr lang="en-US" altLang="zh-TW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zh-TW" sz="2400" dirty="0"/>
              <a:t>to become true:</a:t>
            </a:r>
          </a:p>
          <a:p>
            <a:pPr lvl="1"/>
            <a:r>
              <a:rPr lang="en-US" altLang="zh-TW" sz="2000" dirty="0"/>
              <a:t>The </a:t>
            </a:r>
            <a:r>
              <a:rPr lang="en-US" altLang="zh-TW" sz="2000" b="1" dirty="0"/>
              <a:t>mutex lock </a:t>
            </a:r>
            <a:r>
              <a:rPr lang="en-US" altLang="zh-TW" sz="2000" dirty="0"/>
              <a:t>is used to protect the data in the conditional clause (i.e., a and b) from a possible race condition</a:t>
            </a:r>
          </a:p>
          <a:p>
            <a:pPr lvl="1"/>
            <a:r>
              <a:rPr lang="en-US" altLang="zh-TW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Pthread_condition_wait</a:t>
            </a:r>
            <a:r>
              <a:rPr lang="en-US" altLang="zh-TW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TW" sz="2000" dirty="0"/>
              <a:t>would </a:t>
            </a:r>
            <a:r>
              <a:rPr lang="en-US" altLang="zh-TW" sz="2000" dirty="0" smtClean="0"/>
              <a:t>release </a:t>
            </a:r>
            <a:r>
              <a:rPr lang="en-US" altLang="zh-TW" sz="2000" dirty="0"/>
              <a:t>the mutex lock</a:t>
            </a:r>
            <a:br>
              <a:rPr lang="en-US" altLang="zh-TW" sz="2000" dirty="0"/>
            </a:br>
            <a:endParaRPr lang="en-US" altLang="zh-TW" sz="2000" dirty="0"/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088" y="1814612"/>
            <a:ext cx="6480720" cy="147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群組 9"/>
          <p:cNvGrpSpPr/>
          <p:nvPr/>
        </p:nvGrpSpPr>
        <p:grpSpPr>
          <a:xfrm>
            <a:off x="2963652" y="4653136"/>
            <a:ext cx="6264696" cy="1944216"/>
            <a:chOff x="1439652" y="4293096"/>
            <a:chExt cx="6264696" cy="1944216"/>
          </a:xfrm>
        </p:grpSpPr>
        <p:pic>
          <p:nvPicPr>
            <p:cNvPr id="5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652" y="4293096"/>
              <a:ext cx="6264696" cy="1944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圓角矩形 5"/>
            <p:cNvSpPr/>
            <p:nvPr/>
          </p:nvSpPr>
          <p:spPr>
            <a:xfrm>
              <a:off x="1691680" y="4365104"/>
              <a:ext cx="3888432" cy="360040"/>
            </a:xfrm>
            <a:prstGeom prst="roundRect">
              <a:avLst/>
            </a:prstGeom>
            <a:noFill/>
            <a:ln w="381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1689138" y="5766123"/>
              <a:ext cx="4034989" cy="360040"/>
            </a:xfrm>
            <a:prstGeom prst="roundRect">
              <a:avLst/>
            </a:prstGeom>
            <a:noFill/>
            <a:ln w="38100"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" name="圓角矩形 10"/>
          <p:cNvSpPr/>
          <p:nvPr/>
        </p:nvSpPr>
        <p:spPr>
          <a:xfrm>
            <a:off x="3213138" y="5085184"/>
            <a:ext cx="2090774" cy="36004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22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POSIX Condition Variables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05293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A thread </a:t>
            </a:r>
            <a:r>
              <a:rPr lang="en-US" altLang="zh-TW" b="1" dirty="0"/>
              <a:t>signaling</a:t>
            </a:r>
            <a:r>
              <a:rPr lang="en-US" altLang="zh-TW" dirty="0"/>
              <a:t> another thread waiting on the condition </a:t>
            </a:r>
            <a:r>
              <a:rPr lang="en-US" altLang="zh-TW" dirty="0" smtClean="0"/>
              <a:t>variable via </a:t>
            </a:r>
            <a:r>
              <a:rPr lang="en-US" altLang="zh-TW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altLang="zh-TW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dirty="0" smtClean="0"/>
              <a:t>Once the mutex is released, the signaled thread owns the mutex and returns control from </a:t>
            </a:r>
            <a:r>
              <a:rPr lang="en-US" altLang="zh-TW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altLang="zh-TW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>
                <a:cs typeface="Courier New" panose="02070309020205020404" pitchFamily="49" charset="0"/>
              </a:rPr>
              <a:t>For safety, the signaled thread must put the conditional clause within a </a:t>
            </a:r>
            <a:r>
              <a:rPr lang="en-US" altLang="zh-TW" b="1" dirty="0" smtClean="0">
                <a:cs typeface="Courier New" panose="02070309020205020404" pitchFamily="49" charset="0"/>
              </a:rPr>
              <a:t>loop</a:t>
            </a:r>
            <a:r>
              <a:rPr lang="en-US" altLang="zh-TW" dirty="0" smtClean="0">
                <a:cs typeface="Courier New" panose="02070309020205020404" pitchFamily="49" charset="0"/>
              </a:rPr>
              <a:t> to </a:t>
            </a:r>
            <a:r>
              <a:rPr lang="en-US" altLang="zh-TW" b="1" dirty="0" smtClean="0">
                <a:cs typeface="Courier New" panose="02070309020205020404" pitchFamily="49" charset="0"/>
              </a:rPr>
              <a:t>re-check the condition</a:t>
            </a:r>
            <a:r>
              <a:rPr lang="en-US" altLang="zh-TW" dirty="0" smtClean="0">
                <a:cs typeface="Courier New" panose="02070309020205020404" pitchFamily="49" charset="0"/>
              </a:rPr>
              <a:t>, </a:t>
            </a:r>
            <a:r>
              <a:rPr lang="en-US" altLang="zh-TW" dirty="0">
                <a:cs typeface="Courier New" panose="02070309020205020404" pitchFamily="49" charset="0"/>
              </a:rPr>
              <a:t>i.e., while (a!=b</a:t>
            </a:r>
            <a:r>
              <a:rPr lang="en-US" altLang="zh-TW" dirty="0" smtClean="0">
                <a:cs typeface="Courier New" panose="02070309020205020404" pitchFamily="49" charset="0"/>
              </a:rPr>
              <a:t>), after being signaled </a:t>
            </a:r>
            <a:r>
              <a:rPr lang="en-US" altLang="zh-TW" sz="2900" dirty="0">
                <a:cs typeface="Courier New" panose="02070309020205020404" pitchFamily="49" charset="0"/>
              </a:rPr>
              <a:t>(see the previous slide)</a:t>
            </a:r>
            <a:endParaRPr lang="zh-TW" altLang="en-US" sz="2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8" y="4437112"/>
            <a:ext cx="6192688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30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14149</TotalTime>
  <Words>2072</Words>
  <Application>Microsoft Office PowerPoint</Application>
  <PresentationFormat>寬螢幕</PresentationFormat>
  <Paragraphs>565</Paragraphs>
  <Slides>71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71</vt:i4>
      </vt:variant>
    </vt:vector>
  </HeadingPairs>
  <TitlesOfParts>
    <vt:vector size="84" baseType="lpstr">
      <vt:lpstr>Arial Unicode MS</vt:lpstr>
      <vt:lpstr>MS PGothic</vt:lpstr>
      <vt:lpstr>新細明體</vt:lpstr>
      <vt:lpstr>標楷體</vt:lpstr>
      <vt:lpstr>Arial</vt:lpstr>
      <vt:lpstr>Calibri</vt:lpstr>
      <vt:lpstr>Consolas</vt:lpstr>
      <vt:lpstr>Courier New</vt:lpstr>
      <vt:lpstr>Helvetica</vt:lpstr>
      <vt:lpstr>Symbol</vt:lpstr>
      <vt:lpstr>Times New Roman</vt:lpstr>
      <vt:lpstr>Wingdings</vt:lpstr>
      <vt:lpstr>osnetppt</vt:lpstr>
      <vt:lpstr>Chapter 7    Synchronization Examples</vt:lpstr>
      <vt:lpstr>Outline</vt:lpstr>
      <vt:lpstr>有Race Condition的版本</vt:lpstr>
      <vt:lpstr>Example: Producer-Consumer Problem</vt:lpstr>
      <vt:lpstr>Bounded-Buffer : Shared-Memory Solution</vt:lpstr>
      <vt:lpstr>如第六章所述, 上述程式會產生race condition. Q: 假設使用semaphore, 如何debug?</vt:lpstr>
      <vt:lpstr>Q: 我們需要哪些semaphore?</vt:lpstr>
      <vt:lpstr>Q: 為什麼需要思考會被blocked的情形呢? </vt:lpstr>
      <vt:lpstr>Bounded-Buffer Problem</vt:lpstr>
      <vt:lpstr>Bounded-Buffer Problem</vt:lpstr>
      <vt:lpstr>Q: Producer的程式碼?</vt:lpstr>
      <vt:lpstr>Producer</vt:lpstr>
      <vt:lpstr>Q: Consumer的程式碼?</vt:lpstr>
      <vt:lpstr>Consumer</vt:lpstr>
      <vt:lpstr>Q: Semaphore Full的用途?</vt:lpstr>
      <vt:lpstr>Consumer Cannot Consume Data When Full is Empty (=0)</vt:lpstr>
      <vt:lpstr>Q: Semaphore Empty的用途?</vt:lpstr>
      <vt:lpstr>Producer Cannot Produce Data When Empty is Full (=N)</vt:lpstr>
      <vt:lpstr>Q: Semaphore mutex的用途?</vt:lpstr>
      <vt:lpstr>Producer and Consumer Cannot Access Buffer Simultaneously by Semaphore mutex</vt:lpstr>
      <vt:lpstr>Outline</vt:lpstr>
      <vt:lpstr>Readers-Writers Problem</vt:lpstr>
      <vt:lpstr>Readers-Writers Problem</vt:lpstr>
      <vt:lpstr>Q: 程式怎麼寫呢?</vt:lpstr>
      <vt:lpstr>Readers-Writers Problem</vt:lpstr>
      <vt:lpstr>Q: 為什麼需要read_count變數? </vt:lpstr>
      <vt:lpstr>Readers-Writers Problem</vt:lpstr>
      <vt:lpstr>Readers-Writers Problem</vt:lpstr>
      <vt:lpstr>Q: Writer的程式?</vt:lpstr>
      <vt:lpstr>The Structure of a Writer Process</vt:lpstr>
      <vt:lpstr>Q: Reader的程式?</vt:lpstr>
      <vt:lpstr>The Structure of a Reader Process</vt:lpstr>
      <vt:lpstr>Readers-Writers Problem</vt:lpstr>
      <vt:lpstr>Q: Semaphore rw_mutex的用途?</vt:lpstr>
      <vt:lpstr>rw_mutex的用途： 保護Data Set</vt:lpstr>
      <vt:lpstr>Readers-Writers Problem (Cont.)</vt:lpstr>
      <vt:lpstr>Readers-Writers Problem </vt:lpstr>
      <vt:lpstr>Q: Semaphore rw_mutex的用途?</vt:lpstr>
      <vt:lpstr>rw_mutex的用途： 保護Data Set (Cont.)</vt:lpstr>
      <vt:lpstr>Q: Semaphore mutex的用途?</vt:lpstr>
      <vt:lpstr>mutex的用途：保護read_count</vt:lpstr>
      <vt:lpstr>Readers-Writers Problem (Cont.)</vt:lpstr>
      <vt:lpstr>Readers-Writers Problem</vt:lpstr>
      <vt:lpstr>Outline</vt:lpstr>
      <vt:lpstr>Dining-Philosophers Problem</vt:lpstr>
      <vt:lpstr>Q:這個例子如何對應到實際的程式呢?</vt:lpstr>
      <vt:lpstr>Q: 假設使用semaphore, 需要幾個semaphores? </vt:lpstr>
      <vt:lpstr>Q: 程式怎麼寫呢?</vt:lpstr>
      <vt:lpstr>Solution 1: Using Semaphore for the Dining-Philosophers Problem</vt:lpstr>
      <vt:lpstr>Q: However, the previous solution may cause a deadlock. Why?</vt:lpstr>
      <vt:lpstr>Solution 1: Using Semaphore for the Dining-Philosophers Problem (Cont.)</vt:lpstr>
      <vt:lpstr>PowerPoint 簡報</vt:lpstr>
      <vt:lpstr>接下來介紹另外一個deadlock-free的解法 (使用Monitor)</vt:lpstr>
      <vt:lpstr>Solution 2: Using Monitor for the Dining-Philosophers Problem</vt:lpstr>
      <vt:lpstr>Solution 2: Using Monitor for the Dining-Philosophers Problem (Cont.)</vt:lpstr>
      <vt:lpstr>Monitor Solution to Dining Philosophers</vt:lpstr>
      <vt:lpstr>Monitor Solution to Dining Philosophers (Cont.)</vt:lpstr>
      <vt:lpstr>Dining-Philosophers Solutions Using Monitors (Cont.)</vt:lpstr>
      <vt:lpstr>PowerPoint 簡報</vt:lpstr>
      <vt:lpstr>Q: Although deadlock free but a philosopher may be starvation</vt:lpstr>
      <vt:lpstr>Outline</vt:lpstr>
      <vt:lpstr>POSIX Mutex Locks</vt:lpstr>
      <vt:lpstr>POSIX Mutex Locks API</vt:lpstr>
      <vt:lpstr>Outline</vt:lpstr>
      <vt:lpstr>POSIX Semaphores</vt:lpstr>
      <vt:lpstr>POSIX Named Semaphores</vt:lpstr>
      <vt:lpstr>POSIX Unnamed Semaphores</vt:lpstr>
      <vt:lpstr>Outline</vt:lpstr>
      <vt:lpstr>POSIX Condition Variables</vt:lpstr>
      <vt:lpstr>POSIX Condition Variables (Cont.)</vt:lpstr>
      <vt:lpstr>POSIX Condition Variables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2607</cp:revision>
  <dcterms:created xsi:type="dcterms:W3CDTF">2007-09-05T09:28:55Z</dcterms:created>
  <dcterms:modified xsi:type="dcterms:W3CDTF">2025-11-24T02:24:10Z</dcterms:modified>
</cp:coreProperties>
</file>