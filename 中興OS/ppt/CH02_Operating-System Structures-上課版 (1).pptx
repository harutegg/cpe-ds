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710" r:id="rId2"/>
    <p:sldMasterId id="2147483724" r:id="rId3"/>
    <p:sldMasterId id="2147483751" r:id="rId4"/>
    <p:sldMasterId id="2147483764" r:id="rId5"/>
    <p:sldMasterId id="2147483777" r:id="rId6"/>
    <p:sldMasterId id="2147483790" r:id="rId7"/>
  </p:sldMasterIdLst>
  <p:notesMasterIdLst>
    <p:notesMasterId r:id="rId112"/>
  </p:notesMasterIdLst>
  <p:handoutMasterIdLst>
    <p:handoutMasterId r:id="rId113"/>
  </p:handoutMasterIdLst>
  <p:sldIdLst>
    <p:sldId id="279" r:id="rId8"/>
    <p:sldId id="445" r:id="rId9"/>
    <p:sldId id="600" r:id="rId10"/>
    <p:sldId id="282" r:id="rId11"/>
    <p:sldId id="494" r:id="rId12"/>
    <p:sldId id="601" r:id="rId13"/>
    <p:sldId id="603" r:id="rId14"/>
    <p:sldId id="602" r:id="rId15"/>
    <p:sldId id="593" r:id="rId16"/>
    <p:sldId id="594" r:id="rId17"/>
    <p:sldId id="485" r:id="rId18"/>
    <p:sldId id="497" r:id="rId19"/>
    <p:sldId id="564" r:id="rId20"/>
    <p:sldId id="342" r:id="rId21"/>
    <p:sldId id="498" r:id="rId22"/>
    <p:sldId id="504" r:id="rId23"/>
    <p:sldId id="565" r:id="rId24"/>
    <p:sldId id="566" r:id="rId25"/>
    <p:sldId id="567" r:id="rId26"/>
    <p:sldId id="512" r:id="rId27"/>
    <p:sldId id="568" r:id="rId28"/>
    <p:sldId id="513" r:id="rId29"/>
    <p:sldId id="604" r:id="rId30"/>
    <p:sldId id="606" r:id="rId31"/>
    <p:sldId id="605" r:id="rId32"/>
    <p:sldId id="554" r:id="rId33"/>
    <p:sldId id="555" r:id="rId34"/>
    <p:sldId id="556" r:id="rId35"/>
    <p:sldId id="557" r:id="rId36"/>
    <p:sldId id="558" r:id="rId37"/>
    <p:sldId id="559" r:id="rId38"/>
    <p:sldId id="560" r:id="rId39"/>
    <p:sldId id="561" r:id="rId40"/>
    <p:sldId id="562" r:id="rId41"/>
    <p:sldId id="569" r:id="rId42"/>
    <p:sldId id="499" r:id="rId43"/>
    <p:sldId id="523" r:id="rId44"/>
    <p:sldId id="500" r:id="rId45"/>
    <p:sldId id="521" r:id="rId46"/>
    <p:sldId id="542" r:id="rId47"/>
    <p:sldId id="516" r:id="rId48"/>
    <p:sldId id="607" r:id="rId49"/>
    <p:sldId id="515" r:id="rId50"/>
    <p:sldId id="541" r:id="rId51"/>
    <p:sldId id="423" r:id="rId52"/>
    <p:sldId id="570" r:id="rId53"/>
    <p:sldId id="573" r:id="rId54"/>
    <p:sldId id="483" r:id="rId55"/>
    <p:sldId id="422" r:id="rId56"/>
    <p:sldId id="425" r:id="rId57"/>
    <p:sldId id="424" r:id="rId58"/>
    <p:sldId id="574" r:id="rId59"/>
    <p:sldId id="575" r:id="rId60"/>
    <p:sldId id="576" r:id="rId61"/>
    <p:sldId id="578" r:id="rId62"/>
    <p:sldId id="580" r:id="rId63"/>
    <p:sldId id="407" r:id="rId64"/>
    <p:sldId id="608" r:id="rId65"/>
    <p:sldId id="506" r:id="rId66"/>
    <p:sldId id="507" r:id="rId67"/>
    <p:sldId id="584" r:id="rId68"/>
    <p:sldId id="508" r:id="rId69"/>
    <p:sldId id="585" r:id="rId70"/>
    <p:sldId id="587" r:id="rId71"/>
    <p:sldId id="404" r:id="rId72"/>
    <p:sldId id="491" r:id="rId73"/>
    <p:sldId id="588" r:id="rId74"/>
    <p:sldId id="591" r:id="rId75"/>
    <p:sldId id="509" r:id="rId76"/>
    <p:sldId id="589" r:id="rId77"/>
    <p:sldId id="408" r:id="rId78"/>
    <p:sldId id="492" r:id="rId79"/>
    <p:sldId id="547" r:id="rId80"/>
    <p:sldId id="548" r:id="rId81"/>
    <p:sldId id="549" r:id="rId82"/>
    <p:sldId id="550" r:id="rId83"/>
    <p:sldId id="551" r:id="rId84"/>
    <p:sldId id="552" r:id="rId85"/>
    <p:sldId id="609" r:id="rId86"/>
    <p:sldId id="610" r:id="rId87"/>
    <p:sldId id="352" r:id="rId88"/>
    <p:sldId id="611" r:id="rId89"/>
    <p:sldId id="612" r:id="rId90"/>
    <p:sldId id="488" r:id="rId91"/>
    <p:sldId id="315" r:id="rId92"/>
    <p:sldId id="470" r:id="rId93"/>
    <p:sldId id="613" r:id="rId94"/>
    <p:sldId id="356" r:id="rId95"/>
    <p:sldId id="595" r:id="rId96"/>
    <p:sldId id="429" r:id="rId97"/>
    <p:sldId id="394" r:id="rId98"/>
    <p:sldId id="614" r:id="rId99"/>
    <p:sldId id="596" r:id="rId100"/>
    <p:sldId id="597" r:id="rId101"/>
    <p:sldId id="471" r:id="rId102"/>
    <p:sldId id="598" r:id="rId103"/>
    <p:sldId id="599" r:id="rId104"/>
    <p:sldId id="359" r:id="rId105"/>
    <p:sldId id="520" r:id="rId106"/>
    <p:sldId id="615" r:id="rId107"/>
    <p:sldId id="360" r:id="rId108"/>
    <p:sldId id="511" r:id="rId109"/>
    <p:sldId id="616" r:id="rId110"/>
    <p:sldId id="441" r:id="rId111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0033CC"/>
    <a:srgbClr val="33CCFF"/>
    <a:srgbClr val="33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6" autoAdjust="0"/>
    <p:restoredTop sz="94660"/>
  </p:normalViewPr>
  <p:slideViewPr>
    <p:cSldViewPr>
      <p:cViewPr varScale="1">
        <p:scale>
          <a:sx n="64" d="100"/>
          <a:sy n="64" d="100"/>
        </p:scale>
        <p:origin x="62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-2357" y="-8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117" Type="http://schemas.openxmlformats.org/officeDocument/2006/relationships/tableStyles" Target="tableStyles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07" Type="http://schemas.openxmlformats.org/officeDocument/2006/relationships/slide" Target="slides/slide100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113" Type="http://schemas.openxmlformats.org/officeDocument/2006/relationships/handoutMaster" Target="handoutMasters/handoutMaster1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08" Type="http://schemas.openxmlformats.org/officeDocument/2006/relationships/slide" Target="slides/slide101.xml"/><Relationship Id="rId54" Type="http://schemas.openxmlformats.org/officeDocument/2006/relationships/slide" Target="slides/slide47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slide" Target="slides/slide10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viewProps" Target="viewProps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theme" Target="theme/theme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476" cy="511897"/>
          </a:xfrm>
          <a:prstGeom prst="rect">
            <a:avLst/>
          </a:prstGeom>
        </p:spPr>
        <p:txBody>
          <a:bodyPr vert="horz" lIns="96515" tIns="48257" rIns="96515" bIns="4825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129" y="0"/>
            <a:ext cx="3076476" cy="511897"/>
          </a:xfrm>
          <a:prstGeom prst="rect">
            <a:avLst/>
          </a:prstGeom>
        </p:spPr>
        <p:txBody>
          <a:bodyPr vert="horz" lIns="96515" tIns="48257" rIns="96515" bIns="48257" rtlCol="0"/>
          <a:lstStyle>
            <a:lvl1pPr algn="r">
              <a:defRPr sz="1300"/>
            </a:lvl1pPr>
          </a:lstStyle>
          <a:p>
            <a:fld id="{E50F283D-A160-486B-8102-C24637019F1C}" type="datetimeFigureOut">
              <a:rPr lang="zh-TW" altLang="en-US" smtClean="0"/>
              <a:pPr/>
              <a:t>2025/7/26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055"/>
            <a:ext cx="3076476" cy="511897"/>
          </a:xfrm>
          <a:prstGeom prst="rect">
            <a:avLst/>
          </a:prstGeom>
        </p:spPr>
        <p:txBody>
          <a:bodyPr vert="horz" lIns="96515" tIns="48257" rIns="96515" bIns="4825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129" y="9721055"/>
            <a:ext cx="3076476" cy="511897"/>
          </a:xfrm>
          <a:prstGeom prst="rect">
            <a:avLst/>
          </a:prstGeom>
        </p:spPr>
        <p:txBody>
          <a:bodyPr vert="horz" lIns="96515" tIns="48257" rIns="96515" bIns="48257" rtlCol="0" anchor="b"/>
          <a:lstStyle>
            <a:lvl1pPr algn="r">
              <a:defRPr sz="1300"/>
            </a:lvl1pPr>
          </a:lstStyle>
          <a:p>
            <a:fld id="{050DA3EE-59D6-4228-85EF-7F0E4EFF1DC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773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29" y="0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0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609" y="4861359"/>
            <a:ext cx="5678083" cy="4605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30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055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29" y="9721055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fld id="{F147C74D-5C0C-47A2-AC14-FA0B949F9E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01620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備忘稿版面配置區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0484" name="投影片編號版面配置區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81169FFB-2DED-496D-9B76-B14BD7AF2B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57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備忘稿版面配置區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0484" name="投影片編號版面配置區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169FFB-2DED-496D-9B76-B14BD7AF2B93}" type="slidenum">
              <a:rPr kumimoji="1" lang="zh-TW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zh-TW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695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baseline="0">
                <a:effectLst/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="1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8BCA2-9290-4022-8C17-3C71BECAFB6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AA4E0-11AA-4DB0-B245-2B8505F908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7FB20-B7E3-40BA-8CF5-97F73F78CA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CC020-57DA-4103-82D0-232EFD68444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13513-B144-420C-90D1-99E5AAE0AB6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7F667-B628-431A-B00D-0222AC052E7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19B5D-7C1B-4B44-A839-F6FE5EB626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FDFEC-E08C-4696-BA10-B3CE8FF4B93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977DC-D703-4941-9B31-E38180F8F1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"/>
            <a:ext cx="2745317" cy="61261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039100" cy="61261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3FB5A-74FF-4021-97EC-69E6C38FBD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A5EB7-F31B-4C5C-A623-53DF00B5D3E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美工圖案版面配置區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718FF-8064-49A9-B28C-E58D865BB6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B6829-293E-4F97-AFD5-7766D18225D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448396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92A6F5-2AEE-4BE0-8680-3CEE9B8ED22A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5388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A56DC5E-CB0F-42C5-989D-E33535408DB2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6463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FA5D5F8-97CF-43BD-B43A-0B98BD763C08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7744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20FEBE9-94AB-430A-93E6-3D8A82670562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8181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16B2569-5B8B-470D-A3E2-C3981CD983F2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6249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2472AAE-E09F-4521-B933-A4A3A00B777D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3966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0F49858-A65F-4ED2-AB58-1492B569BD75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3525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CDBE4-A0D6-4E07-BBE8-31DF38424CD1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1765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045F46C-B8E9-4018-88F5-35029713FC02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0314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C94675C-BA99-47F3-B363-E0312B11D869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05916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FA90DA6-9F07-4189-8E05-07C53B6A28AD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4829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E0700BE-B22F-40A7-827E-F90DD44762F0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04250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77167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93403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46068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5620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4470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92707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10930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60236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2383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42533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822BF9-AF54-41FF-92E1-C40A9C17DE5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B0E928-3C4F-4A3C-B901-19B73E8E2726}" type="slidenum">
              <a:rPr lang="zh-TW" altLang="en-US" smtClean="0">
                <a:solidFill>
                  <a:prstClr val="black">
                    <a:tint val="75000"/>
                  </a:prstClr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2383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533085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6135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7862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7386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522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641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7862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009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839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7670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2273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782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9658268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2607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39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6200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6631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991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3610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7195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1551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30797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26813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0538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1114839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3395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030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5470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72464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0735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3650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3001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005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5164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64832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4239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70150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949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9346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401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7010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314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2543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792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282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190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61040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99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fld id="{0462C355-02D6-422E-9DA5-1995CBCF71D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81F3D5B-5678-4E97-A6CE-88940C4BB356}" type="slidenum">
              <a:rPr lang="en-US" altLang="zh-TW" smtClean="0"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161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462C355-02D6-422E-9DA5-1995CBCF71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350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94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10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4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38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47850" y="2997200"/>
            <a:ext cx="8458200" cy="1143000"/>
          </a:xfrm>
        </p:spPr>
        <p:txBody>
          <a:bodyPr anchor="b"/>
          <a:lstStyle/>
          <a:p>
            <a:pPr eaLnBrk="1" hangingPunct="1">
              <a:defRPr/>
            </a:pPr>
            <a:r>
              <a:rPr lang="en-US" altLang="zh-TW" b="1" dirty="0"/>
              <a:t>Chapter 2  </a:t>
            </a:r>
            <a:br>
              <a:rPr lang="en-US" altLang="zh-TW" b="1" dirty="0"/>
            </a:br>
            <a:r>
              <a:rPr lang="en-US" altLang="zh-TW" b="1" dirty="0"/>
              <a:t/>
            </a:r>
            <a:br>
              <a:rPr lang="en-US" altLang="zh-TW" b="1" dirty="0"/>
            </a:br>
            <a:r>
              <a:rPr lang="en-US" altLang="zh-TW" b="1" dirty="0"/>
              <a:t>Operating-System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7214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3544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Operating System Services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/>
              <a:t>OS provides </a:t>
            </a:r>
            <a:r>
              <a:rPr lang="en-US" altLang="zh-TW" sz="3600" dirty="0">
                <a:solidFill>
                  <a:srgbClr val="FF3300"/>
                </a:solidFill>
              </a:rPr>
              <a:t>services</a:t>
            </a:r>
            <a:r>
              <a:rPr lang="en-US" altLang="zh-TW" sz="3600" dirty="0"/>
              <a:t> to </a:t>
            </a:r>
            <a:r>
              <a:rPr lang="en-US" altLang="zh-TW" sz="3600" dirty="0" smtClean="0"/>
              <a:t>programs</a:t>
            </a:r>
            <a:endParaRPr lang="en-US" altLang="zh-TW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Program </a:t>
            </a:r>
            <a:r>
              <a:rPr lang="en-US" altLang="zh-TW" sz="3200" dirty="0"/>
              <a:t>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Manage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……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dirty="0"/>
          </a:p>
          <a:p>
            <a:pPr eaLnBrk="1" hangingPunct="1">
              <a:lnSpc>
                <a:spcPct val="90000"/>
              </a:lnSpc>
            </a:pPr>
            <a:endParaRPr lang="en-US" altLang="zh-TW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1487488" y="476673"/>
            <a:ext cx="9505056" cy="5904655"/>
            <a:chOff x="2063552" y="620689"/>
            <a:chExt cx="8147248" cy="5256583"/>
          </a:xfrm>
        </p:grpSpPr>
        <p:cxnSp>
          <p:nvCxnSpPr>
            <p:cNvPr id="5" name="直線接點 4"/>
            <p:cNvCxnSpPr/>
            <p:nvPr/>
          </p:nvCxnSpPr>
          <p:spPr>
            <a:xfrm>
              <a:off x="2063552" y="1329336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字方塊 5"/>
            <p:cNvSpPr txBox="1"/>
            <p:nvPr/>
          </p:nvSpPr>
          <p:spPr>
            <a:xfrm>
              <a:off x="9146397" y="1052736"/>
              <a:ext cx="891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/>
                  <a:ea typeface="新細明體" pitchFamily="18" charset="-120"/>
                </a:rPr>
                <a:t>User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/>
                <a:ea typeface="新細明體" pitchFamily="18" charset="-12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9152860" y="1296482"/>
              <a:ext cx="10106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200" b="1" dirty="0">
                  <a:solidFill>
                    <a:prstClr val="black"/>
                  </a:solidFill>
                  <a:latin typeface="Calibri" panose="020F0502020204030204"/>
                  <a:ea typeface="新細明體" pitchFamily="18" charset="-120"/>
                </a:rPr>
                <a:t>Kernel Mode</a:t>
              </a:r>
              <a:endParaRPr kumimoji="0" lang="zh-TW" altLang="en-US" sz="1200" b="1" dirty="0">
                <a:solidFill>
                  <a:prstClr val="black"/>
                </a:solidFill>
                <a:latin typeface="Calibri" panose="020F0502020204030204"/>
                <a:ea typeface="新細明體" pitchFamily="18" charset="-12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762107" y="630280"/>
              <a:ext cx="1463759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 2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2946228" y="620689"/>
              <a:ext cx="1371018" cy="4229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Program</a:t>
              </a:r>
              <a:r>
                <a:rPr kumimoji="0" lang="zh-TW" altLang="en-US" sz="1600" b="1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 </a:t>
              </a:r>
              <a:r>
                <a:rPr kumimoji="0" lang="en-US" altLang="zh-TW" sz="1600" b="1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1</a:t>
              </a:r>
              <a:endParaRPr kumimoji="0" lang="zh-TW" altLang="en-US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</p:txBody>
        </p:sp>
        <p:cxnSp>
          <p:nvCxnSpPr>
            <p:cNvPr id="18" name="直線接點 17"/>
            <p:cNvCxnSpPr/>
            <p:nvPr/>
          </p:nvCxnSpPr>
          <p:spPr>
            <a:xfrm>
              <a:off x="7146344" y="847923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線接點 170"/>
            <p:cNvCxnSpPr/>
            <p:nvPr/>
          </p:nvCxnSpPr>
          <p:spPr>
            <a:xfrm>
              <a:off x="2413378" y="5013176"/>
              <a:ext cx="7797422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圓角矩形 48"/>
            <p:cNvSpPr/>
            <p:nvPr/>
          </p:nvSpPr>
          <p:spPr>
            <a:xfrm>
              <a:off x="2063552" y="1573480"/>
              <a:ext cx="8147248" cy="3195551"/>
            </a:xfrm>
            <a:prstGeom prst="roundRect">
              <a:avLst/>
            </a:prstGeom>
            <a:solidFill>
              <a:srgbClr val="9FFDF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endPara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endParaRPr>
            </a:p>
            <a:p>
              <a:pPr algn="ctr">
                <a:defRPr/>
              </a:pPr>
              <a:r>
                <a:rPr lang="en-US" altLang="zh-TW" sz="2000" b="1" dirty="0">
                  <a:solidFill>
                    <a:sysClr val="windowText" lastClr="000000"/>
                  </a:solidFill>
                  <a:latin typeface="Calibri" panose="020F0502020204030204"/>
                  <a:ea typeface="微軟正黑體" pitchFamily="34" charset="-120"/>
                </a:rPr>
                <a:t>OS</a:t>
              </a:r>
            </a:p>
          </p:txBody>
        </p:sp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3849" y="1958953"/>
              <a:ext cx="7477125" cy="1914525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3640506" y="5301208"/>
              <a:ext cx="1512044" cy="5760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hardware 1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411986" y="5295159"/>
              <a:ext cx="1512044" cy="5760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latin typeface="Calibri" panose="020F0502020204030204" pitchFamily="34" charset="0"/>
                </a:rPr>
                <a:t>hardware 2</a:t>
              </a:r>
              <a:endParaRPr lang="zh-TW" alt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240098" y="5295159"/>
              <a:ext cx="1512044" cy="5760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>
                  <a:latin typeface="Calibri" panose="020F0502020204030204" pitchFamily="34" charset="0"/>
                </a:rPr>
                <a:t>hardware 3</a:t>
              </a:r>
              <a:endParaRPr lang="zh-TW" altLang="en-US" sz="2000" dirty="0">
                <a:latin typeface="Calibri" panose="020F0502020204030204" pitchFamily="34" charset="0"/>
              </a:endParaRPr>
            </a:p>
          </p:txBody>
        </p:sp>
        <p:cxnSp>
          <p:nvCxnSpPr>
            <p:cNvPr id="22" name="直線接點 21"/>
            <p:cNvCxnSpPr/>
            <p:nvPr/>
          </p:nvCxnSpPr>
          <p:spPr>
            <a:xfrm>
              <a:off x="8976321" y="5583191"/>
              <a:ext cx="317809" cy="0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System </a:t>
            </a:r>
            <a:r>
              <a:rPr lang="en-US" altLang="zh-TW" b="1" dirty="0">
                <a:solidFill>
                  <a:srgbClr val="FF0000"/>
                </a:solidFill>
              </a:rPr>
              <a:t>Calls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807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應用程式如何存取作業系統提供的服務呢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64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System Calls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What is System Calls?</a:t>
            </a:r>
          </a:p>
          <a:p>
            <a:pPr lvl="1" eaLnBrk="1" hangingPunct="1"/>
            <a:r>
              <a:rPr lang="en-US" altLang="zh-TW" dirty="0"/>
              <a:t>System calls versus APIs</a:t>
            </a:r>
          </a:p>
          <a:p>
            <a:pPr lvl="1" eaLnBrk="1" hangingPunct="1"/>
            <a:r>
              <a:rPr lang="en-US" altLang="zh-TW" dirty="0"/>
              <a:t>How to Pass Parameter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4442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>
                <a:effectLst/>
              </a:rPr>
              <a:t>Question:</a:t>
            </a:r>
            <a:r>
              <a:rPr lang="zh-TW" altLang="en-US" dirty="0" smtClean="0"/>
              <a:t>假設在</a:t>
            </a:r>
            <a:r>
              <a:rPr lang="en-US" altLang="zh-TW" dirty="0" smtClean="0"/>
              <a:t>C</a:t>
            </a:r>
            <a:r>
              <a:rPr lang="zh-TW" altLang="en-US" dirty="0" smtClean="0"/>
              <a:t>程式裡要</a:t>
            </a:r>
            <a:r>
              <a:rPr lang="zh-TW" altLang="en-US" dirty="0"/>
              <a:t>存取硬碟上</a:t>
            </a:r>
            <a:r>
              <a:rPr lang="zh-TW" altLang="en-US" dirty="0" smtClean="0"/>
              <a:t>的某個檔案</a:t>
            </a:r>
            <a:r>
              <a:rPr lang="en-US" altLang="zh-TW" dirty="0"/>
              <a:t>,</a:t>
            </a:r>
            <a:r>
              <a:rPr lang="zh-TW" altLang="en-US" dirty="0" smtClean="0"/>
              <a:t>如何做到</a:t>
            </a:r>
            <a:r>
              <a:rPr lang="zh-TW" altLang="en-US" dirty="0"/>
              <a:t>呢</a:t>
            </a:r>
            <a:r>
              <a:rPr lang="en-US" altLang="zh-TW" dirty="0"/>
              <a:t>?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一定是請</a:t>
            </a:r>
            <a:r>
              <a:rPr lang="en-US" altLang="zh-TW" dirty="0" smtClean="0"/>
              <a:t>OS</a:t>
            </a:r>
            <a:r>
              <a:rPr lang="zh-TW" altLang="en-US" dirty="0" smtClean="0"/>
              <a:t>執行</a:t>
            </a:r>
            <a:r>
              <a:rPr lang="en-US" altLang="zh-TW" dirty="0" smtClean="0"/>
              <a:t>!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13004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所以</a:t>
            </a:r>
            <a:r>
              <a:rPr lang="en-US" altLang="zh-TW" dirty="0"/>
              <a:t>, </a:t>
            </a:r>
            <a:r>
              <a:rPr lang="zh-TW" altLang="en-US" dirty="0"/>
              <a:t>如何請</a:t>
            </a:r>
            <a:r>
              <a:rPr lang="en-US" altLang="zh-TW" dirty="0"/>
              <a:t>OS</a:t>
            </a:r>
            <a:r>
              <a:rPr lang="zh-TW" altLang="en-US" dirty="0"/>
              <a:t>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呼叫</a:t>
            </a:r>
            <a:r>
              <a:rPr lang="en-US" altLang="zh-TW" dirty="0" smtClean="0"/>
              <a:t>OS</a:t>
            </a:r>
            <a:r>
              <a:rPr lang="zh-TW" altLang="en-US" dirty="0" smtClean="0"/>
              <a:t>提供的</a:t>
            </a:r>
            <a:r>
              <a:rPr lang="en-US" altLang="zh-TW" dirty="0" smtClean="0"/>
              <a:t>functions, 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:open(), read(), write(), close()…</a:t>
            </a:r>
          </a:p>
          <a:p>
            <a:r>
              <a:rPr lang="zh-TW" altLang="en-US" dirty="0" smtClean="0"/>
              <a:t>參看下頁例子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237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3D5FC1-28F5-4BBB-9883-76CB36CD41E3}" type="slidenum">
              <a:rPr kumimoji="0" lang="en-US" altLang="zh-TW" sz="1200">
                <a:latin typeface="Arial Black" panose="020B0A04020102020204" pitchFamily="34" charset="0"/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200">
              <a:latin typeface="Arial Black" panose="020B0A040201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3600"/>
              <a:t>Example</a:t>
            </a:r>
          </a:p>
        </p:txBody>
      </p:sp>
      <p:sp>
        <p:nvSpPr>
          <p:cNvPr id="19460" name="內容版面配置區 2"/>
          <p:cNvSpPr>
            <a:spLocks noGrp="1"/>
          </p:cNvSpPr>
          <p:nvPr/>
        </p:nvSpPr>
        <p:spPr bwMode="auto">
          <a:xfrm>
            <a:off x="1981200" y="1323975"/>
            <a:ext cx="7570788" cy="557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stdio.h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#include&lt;sys/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types.h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#include&lt;sys/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stat.h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fcntl.h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 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unistd.h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stdlib.h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	//for exit()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#include &lt;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string.h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&gt;	//for </a:t>
            </a:r>
            <a:r>
              <a:rPr lang="en-US" altLang="zh-TW" sz="1800" dirty="0" err="1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()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main(){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= open("myfile.txt", O_CREAT | O_WRONLY, 0600);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if 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&lt; 0){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("Failed to open the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fild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.\n");exit(1);	}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int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 size;	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size = write(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, "e",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("e") 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close(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fd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);		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("length of write data=%d \n", 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strlen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("e"));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zh-TW" sz="1800" dirty="0" err="1">
                <a:latin typeface="Arial" panose="020B0604020202020204" pitchFamily="34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("Number of bytes written on success=%d \n\n", size);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TW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	exit(0);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TW" sz="1800" dirty="0">
                <a:latin typeface="Arial" panose="020B0604020202020204" pitchFamily="34" charset="0"/>
                <a:ea typeface="新細明體" panose="02020500000000000000" pitchFamily="18" charset="-120"/>
              </a:rPr>
              <a:t>}</a:t>
            </a:r>
            <a:endParaRPr lang="zh-TW" altLang="en-US" sz="1800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2927648" y="3284984"/>
            <a:ext cx="5688632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圓角矩形 2"/>
          <p:cNvSpPr/>
          <p:nvPr/>
        </p:nvSpPr>
        <p:spPr>
          <a:xfrm>
            <a:off x="2927648" y="4365104"/>
            <a:ext cx="5760640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952349" y="6015139"/>
            <a:ext cx="5760640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927648" y="4653136"/>
            <a:ext cx="5760640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01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按照程式執行的規則，當呼叫</a:t>
            </a:r>
            <a:r>
              <a:rPr lang="en-US" altLang="zh-TW" b="1" dirty="0"/>
              <a:t>open()</a:t>
            </a:r>
            <a:r>
              <a:rPr lang="zh-TW" altLang="en-US" b="1" dirty="0"/>
              <a:t>時，程式應該會跳到對應的</a:t>
            </a:r>
            <a:r>
              <a:rPr lang="en-US" altLang="zh-TW" b="1" dirty="0"/>
              <a:t>open() function</a:t>
            </a:r>
            <a:r>
              <a:rPr lang="zh-TW" altLang="en-US" b="1" dirty="0"/>
              <a:t>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問題：</a:t>
            </a:r>
            <a:r>
              <a:rPr lang="en-US" altLang="zh-TW" dirty="0">
                <a:solidFill>
                  <a:srgbClr val="FF0000"/>
                </a:solidFill>
              </a:rPr>
              <a:t>open() function</a:t>
            </a:r>
            <a:r>
              <a:rPr lang="zh-TW" altLang="en-US" dirty="0">
                <a:solidFill>
                  <a:srgbClr val="FF0000"/>
                </a:solidFill>
              </a:rPr>
              <a:t>在哪裡？</a:t>
            </a:r>
          </a:p>
        </p:txBody>
      </p:sp>
    </p:spTree>
    <p:extLst>
      <p:ext uri="{BB962C8B-B14F-4D97-AF65-F5344CB8AC3E}">
        <p14:creationId xmlns:p14="http://schemas.microsoft.com/office/powerpoint/2010/main" val="116501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/>
              <a:t>open()</a:t>
            </a:r>
            <a:r>
              <a:rPr lang="zh-TW" altLang="en-US" b="1" dirty="0" smtClean="0"/>
              <a:t>在</a:t>
            </a:r>
            <a:r>
              <a:rPr lang="en-US" altLang="zh-TW" b="1" dirty="0" smtClean="0"/>
              <a:t>OS</a:t>
            </a:r>
            <a:r>
              <a:rPr lang="zh-TW" altLang="en-US" b="1" dirty="0" smtClean="0"/>
              <a:t>內部</a:t>
            </a:r>
            <a:r>
              <a:rPr lang="en-US" altLang="zh-TW" sz="2800" dirty="0" smtClean="0"/>
              <a:t>(see the following slide)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/>
              <a:t>這個例子：</a:t>
            </a:r>
            <a:r>
              <a:rPr lang="en-US" altLang="zh-TW" b="1" dirty="0"/>
              <a:t>open()</a:t>
            </a:r>
            <a:r>
              <a:rPr lang="zh-TW" altLang="en-US" b="1" dirty="0"/>
              <a:t>就是一個</a:t>
            </a:r>
            <a:r>
              <a:rPr lang="en-US" altLang="zh-TW" b="1" dirty="0"/>
              <a:t>system </a:t>
            </a:r>
            <a:r>
              <a:rPr lang="en-US" altLang="zh-TW" b="1" dirty="0" smtClean="0"/>
              <a:t>call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何謂</a:t>
            </a:r>
            <a:r>
              <a:rPr lang="en-US" altLang="zh-TW" dirty="0" smtClean="0"/>
              <a:t>system call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552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System Calls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b="1" dirty="0"/>
              <a:t>System calls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Functions provided by OS to provide service to user applications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Example: open(), read(), write(), close</a:t>
            </a:r>
            <a:r>
              <a:rPr lang="en-US" altLang="zh-TW" dirty="0" smtClean="0"/>
              <a:t>()……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/>
          </a:p>
          <a:p>
            <a:pPr eaLnBrk="1" hangingPunct="1">
              <a:spcBef>
                <a:spcPts val="600"/>
              </a:spcBef>
            </a:pPr>
            <a:r>
              <a:rPr lang="zh-TW" altLang="en-US" dirty="0" smtClean="0"/>
              <a:t>換言之</a:t>
            </a:r>
            <a:r>
              <a:rPr lang="en-US" altLang="zh-TW" dirty="0" smtClean="0"/>
              <a:t>, OS</a:t>
            </a:r>
            <a:r>
              <a:rPr lang="zh-TW" altLang="en-US" dirty="0" smtClean="0"/>
              <a:t>提供許多</a:t>
            </a:r>
            <a:r>
              <a:rPr lang="en-US" altLang="zh-TW" dirty="0" smtClean="0"/>
              <a:t>functions(system calls)</a:t>
            </a:r>
            <a:r>
              <a:rPr lang="zh-TW" altLang="en-US" dirty="0" smtClean="0"/>
              <a:t>給</a:t>
            </a:r>
            <a:r>
              <a:rPr lang="zh-TW" altLang="en-US" dirty="0" smtClean="0"/>
              <a:t>應用程式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應用程式藉由呼叫</a:t>
            </a:r>
            <a:r>
              <a:rPr lang="en-US" altLang="zh-TW" dirty="0" smtClean="0"/>
              <a:t>system call</a:t>
            </a:r>
            <a:r>
              <a:rPr lang="zh-TW" altLang="en-US" dirty="0" smtClean="0"/>
              <a:t>存取</a:t>
            </a:r>
            <a:r>
              <a:rPr lang="en-US" altLang="zh-TW" dirty="0" smtClean="0"/>
              <a:t>OS</a:t>
            </a:r>
            <a:r>
              <a:rPr lang="zh-TW" altLang="en-US" dirty="0" smtClean="0"/>
              <a:t>提供的服務</a:t>
            </a:r>
            <a:endParaRPr lang="en-US" altLang="zh-TW" dirty="0"/>
          </a:p>
          <a:p>
            <a:pPr eaLnBrk="1" hangingPunct="1">
              <a:spcBef>
                <a:spcPts val="600"/>
              </a:spcBef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063552" y="1401345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9146397" y="1124745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User Mode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9152860" y="1368491"/>
            <a:ext cx="1010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Kernel Mode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762107" y="630279"/>
            <a:ext cx="1463759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Program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read()…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2946228" y="620688"/>
            <a:ext cx="1371018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Program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 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open()…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cxnSp>
        <p:nvCxnSpPr>
          <p:cNvPr id="18" name="直線接點 17"/>
          <p:cNvCxnSpPr/>
          <p:nvPr/>
        </p:nvCxnSpPr>
        <p:spPr>
          <a:xfrm>
            <a:off x="7146344" y="847922"/>
            <a:ext cx="317809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AutoShape 284"/>
          <p:cNvSpPr>
            <a:spLocks noChangeArrowheads="1"/>
          </p:cNvSpPr>
          <p:nvPr/>
        </p:nvSpPr>
        <p:spPr bwMode="auto">
          <a:xfrm>
            <a:off x="3783762" y="5374221"/>
            <a:ext cx="4616494" cy="1059185"/>
          </a:xfrm>
          <a:prstGeom prst="flowChartMagneticDisk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Times New Roman" panose="02020603050405020304" pitchFamily="18" charset="0"/>
              </a:rPr>
              <a:t>Storage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cxnSp>
        <p:nvCxnSpPr>
          <p:cNvPr id="171" name="直線接點 170"/>
          <p:cNvCxnSpPr/>
          <p:nvPr/>
        </p:nvCxnSpPr>
        <p:spPr>
          <a:xfrm>
            <a:off x="2413378" y="5013176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6140564" y="1473289"/>
            <a:ext cx="1502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+mn-cs"/>
              </a:rPr>
              <a:t>open(), read()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2423592" y="1993582"/>
            <a:ext cx="7398372" cy="2775450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open()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	….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read()                                               OS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	…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cxnSp>
        <p:nvCxnSpPr>
          <p:cNvPr id="65" name="直線接點 23"/>
          <p:cNvCxnSpPr/>
          <p:nvPr/>
        </p:nvCxnSpPr>
        <p:spPr>
          <a:xfrm flipV="1">
            <a:off x="6106244" y="1124744"/>
            <a:ext cx="83" cy="82651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23"/>
          <p:cNvCxnSpPr/>
          <p:nvPr/>
        </p:nvCxnSpPr>
        <p:spPr>
          <a:xfrm flipV="1">
            <a:off x="6106244" y="4631047"/>
            <a:ext cx="83" cy="742169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3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err="1" smtClean="0"/>
              <a:t>Someof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Windows and Unix System Calls</a:t>
            </a:r>
          </a:p>
        </p:txBody>
      </p:sp>
      <p:pic>
        <p:nvPicPr>
          <p:cNvPr id="24579" name="Picture 6" descr="OS8-p6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577" y="1052737"/>
            <a:ext cx="7488237" cy="5532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圓角矩形 1"/>
          <p:cNvSpPr/>
          <p:nvPr/>
        </p:nvSpPr>
        <p:spPr>
          <a:xfrm>
            <a:off x="983432" y="3284984"/>
            <a:ext cx="9721080" cy="720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問題：為什麼</a:t>
            </a:r>
            <a:r>
              <a:rPr lang="en-US" altLang="zh-TW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system call</a:t>
            </a:r>
            <a:r>
              <a:rPr lang="zh-TW" altLang="en-US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介面不一樣</a:t>
            </a:r>
            <a:r>
              <a:rPr lang="en-US" altLang="zh-TW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?</a:t>
            </a:r>
            <a:endParaRPr lang="zh-TW" altLang="en-US" b="1" dirty="0">
              <a:solidFill>
                <a:srgbClr val="FF00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703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Question: </a:t>
            </a:r>
            <a:r>
              <a:rPr lang="zh-TW" altLang="en-US" dirty="0" smtClean="0"/>
              <a:t>呼叫</a:t>
            </a:r>
            <a:r>
              <a:rPr lang="en-US" altLang="zh-TW" dirty="0" smtClean="0"/>
              <a:t>system call, CPU</a:t>
            </a:r>
            <a:r>
              <a:rPr lang="zh-TW" altLang="en-US" dirty="0" smtClean="0"/>
              <a:t>如何跳到</a:t>
            </a:r>
            <a:r>
              <a:rPr lang="en-US" altLang="zh-TW" dirty="0" smtClean="0"/>
              <a:t>OS</a:t>
            </a:r>
            <a:r>
              <a:rPr lang="zh-TW" altLang="en-US" dirty="0" smtClean="0"/>
              <a:t>內部執行呢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C</a:t>
            </a:r>
            <a:r>
              <a:rPr lang="zh-TW" altLang="en-US" dirty="0" smtClean="0"/>
              <a:t>語言是假象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我們要看</a:t>
            </a:r>
            <a:r>
              <a:rPr lang="en-US" altLang="zh-TW" dirty="0" smtClean="0"/>
              <a:t>CPU 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621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呼叫</a:t>
            </a:r>
            <a:r>
              <a:rPr lang="en-US" altLang="zh-TW" dirty="0" smtClean="0"/>
              <a:t>open(), compiler</a:t>
            </a:r>
            <a:r>
              <a:rPr lang="zh-TW" altLang="en-US" dirty="0" smtClean="0"/>
              <a:t>會轉換為</a:t>
            </a:r>
            <a:r>
              <a:rPr lang="en-US" altLang="zh-TW" dirty="0" err="1" smtClean="0">
                <a:solidFill>
                  <a:srgbClr val="FF0000"/>
                </a:solidFill>
              </a:rPr>
              <a:t>int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CPU instruction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90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System Call Compilation</a:t>
            </a:r>
          </a:p>
        </p:txBody>
      </p:sp>
      <p:sp>
        <p:nvSpPr>
          <p:cNvPr id="13317" name="AutoShape 28"/>
          <p:cNvSpPr>
            <a:spLocks noChangeArrowheads="1"/>
          </p:cNvSpPr>
          <p:nvPr/>
        </p:nvSpPr>
        <p:spPr bwMode="auto">
          <a:xfrm>
            <a:off x="5179369" y="3653889"/>
            <a:ext cx="1924743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3318" name="Text Box 29"/>
          <p:cNvSpPr txBox="1">
            <a:spLocks noChangeArrowheads="1"/>
          </p:cNvSpPr>
          <p:nvPr/>
        </p:nvSpPr>
        <p:spPr bwMode="auto">
          <a:xfrm>
            <a:off x="5714751" y="3923764"/>
            <a:ext cx="957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anose="020F0502020204030204" pitchFamily="34" charset="0"/>
                <a:ea typeface="標楷體" pitchFamily="65" charset="-120"/>
              </a:rPr>
              <a:t>Compile</a:t>
            </a:r>
          </a:p>
        </p:txBody>
      </p:sp>
      <p:sp>
        <p:nvSpPr>
          <p:cNvPr id="3" name="圓角矩形 2"/>
          <p:cNvSpPr/>
          <p:nvPr/>
        </p:nvSpPr>
        <p:spPr>
          <a:xfrm>
            <a:off x="2927648" y="3042736"/>
            <a:ext cx="2160240" cy="15972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open();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zh-TW" alt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7248128" y="3055848"/>
            <a:ext cx="2160240" cy="15972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r>
              <a:rPr lang="en-US" altLang="zh-TW" sz="28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0x80;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zh-TW" alt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5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Calls (Cont.)</a:t>
            </a:r>
            <a:endParaRPr lang="zh-TW" altLang="en-US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int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0x10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;  // read();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8788" y="4005065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trap</a:t>
            </a:r>
          </a:p>
        </p:txBody>
      </p:sp>
      <p:sp>
        <p:nvSpPr>
          <p:cNvPr id="11" name="矩形 10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0;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7648" y="2924944"/>
            <a:ext cx="1080120" cy="432048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mode = 1;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58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Question: OS</a:t>
            </a:r>
            <a:r>
              <a:rPr lang="zh-TW" altLang="en-US" sz="4000" dirty="0" smtClean="0"/>
              <a:t>提供很多</a:t>
            </a:r>
            <a:r>
              <a:rPr lang="en-US" altLang="zh-TW" sz="4000" dirty="0" smtClean="0"/>
              <a:t>system calls, </a:t>
            </a:r>
            <a:r>
              <a:rPr lang="zh-TW" altLang="en-US" sz="4000" dirty="0" smtClean="0"/>
              <a:t>當</a:t>
            </a:r>
            <a:r>
              <a:rPr lang="en-US" altLang="zh-TW" sz="4000" dirty="0" smtClean="0"/>
              <a:t>CPU</a:t>
            </a:r>
            <a:r>
              <a:rPr lang="zh-TW" altLang="en-US" sz="4000" dirty="0" smtClean="0"/>
              <a:t>執行</a:t>
            </a:r>
            <a:r>
              <a:rPr lang="en-US" altLang="zh-TW" sz="4000" dirty="0" err="1" smtClean="0"/>
              <a:t>int</a:t>
            </a:r>
            <a:r>
              <a:rPr lang="en-US" altLang="zh-TW" sz="4000" dirty="0" smtClean="0"/>
              <a:t> instruction</a:t>
            </a:r>
            <a:r>
              <a:rPr lang="zh-TW" altLang="en-US" sz="4000" dirty="0" smtClean="0"/>
              <a:t>跳到</a:t>
            </a:r>
            <a:r>
              <a:rPr lang="en-US" altLang="zh-TW" sz="4000" dirty="0" smtClean="0"/>
              <a:t>OS</a:t>
            </a:r>
            <a:r>
              <a:rPr lang="zh-TW" altLang="en-US" sz="4000" dirty="0" smtClean="0"/>
              <a:t>執行時</a:t>
            </a:r>
            <a:r>
              <a:rPr lang="en-US" altLang="zh-TW" sz="4000" dirty="0" smtClean="0"/>
              <a:t>, OS</a:t>
            </a:r>
            <a:r>
              <a:rPr lang="zh-TW" altLang="en-US" sz="4000" dirty="0" smtClean="0"/>
              <a:t>如何知道應用程式呼叫哪一個</a:t>
            </a:r>
            <a:r>
              <a:rPr lang="en-US" altLang="zh-TW" sz="4000" dirty="0" smtClean="0"/>
              <a:t>system call?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567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Calls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525963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A </a:t>
            </a:r>
            <a:r>
              <a:rPr lang="en-US" altLang="zh-TW" sz="2800" b="1" dirty="0">
                <a:solidFill>
                  <a:srgbClr val="FF3300"/>
                </a:solidFill>
              </a:rPr>
              <a:t>number</a:t>
            </a:r>
            <a:r>
              <a:rPr lang="en-US" altLang="zh-TW" sz="2800" b="1" dirty="0"/>
              <a:t> </a:t>
            </a:r>
            <a:r>
              <a:rPr lang="en-US" altLang="zh-TW" sz="2800" dirty="0"/>
              <a:t>is associated with each system call</a:t>
            </a:r>
          </a:p>
          <a:p>
            <a:pPr eaLnBrk="1" hangingPunct="1"/>
            <a:r>
              <a:rPr lang="en-US" altLang="zh-TW" sz="2800" dirty="0"/>
              <a:t>OS maintain a </a:t>
            </a:r>
            <a:r>
              <a:rPr lang="en-US" altLang="zh-TW" sz="2800" b="1" dirty="0"/>
              <a:t>table </a:t>
            </a:r>
            <a:r>
              <a:rPr lang="en-US" altLang="zh-TW" sz="2800" dirty="0"/>
              <a:t>indexed according to these numbers</a:t>
            </a:r>
          </a:p>
          <a:p>
            <a:pPr lvl="1" eaLnBrk="1" hangingPunct="1"/>
            <a:endParaRPr lang="en-US" altLang="zh-TW" sz="2400" dirty="0"/>
          </a:p>
          <a:p>
            <a:pPr lvl="2" eaLnBrk="1" hangingPunct="1"/>
            <a:endParaRPr lang="en-US" altLang="zh-TW" sz="2000" dirty="0"/>
          </a:p>
          <a:p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775" t="9819" r="969" b="10077"/>
          <a:stretch>
            <a:fillRect/>
          </a:stretch>
        </p:blipFill>
        <p:spPr bwMode="auto">
          <a:xfrm>
            <a:off x="2135560" y="2564904"/>
            <a:ext cx="7485062" cy="38024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745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System Calls</a:t>
            </a:r>
          </a:p>
          <a:p>
            <a:pPr lvl="1" eaLnBrk="1" hangingPunct="1"/>
            <a:r>
              <a:rPr lang="en-US" altLang="zh-TW" dirty="0"/>
              <a:t>What is System Calls?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System calls versus APIs</a:t>
            </a:r>
          </a:p>
          <a:p>
            <a:pPr lvl="1" eaLnBrk="1" hangingPunct="1"/>
            <a:r>
              <a:rPr lang="en-US" altLang="zh-TW" dirty="0"/>
              <a:t>How to Pass Parameter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74955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APIs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0972800" cy="485313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However, </a:t>
            </a:r>
            <a:r>
              <a:rPr lang="en-US" altLang="zh-TW" sz="2800" b="1" dirty="0"/>
              <a:t>system calls </a:t>
            </a:r>
            <a:r>
              <a:rPr lang="en-US" altLang="zh-TW" sz="2800" dirty="0"/>
              <a:t>are often accessed </a:t>
            </a:r>
            <a:r>
              <a:rPr lang="en-US" altLang="zh-TW" sz="2800" b="1" dirty="0"/>
              <a:t>indirectly</a:t>
            </a:r>
            <a:r>
              <a:rPr lang="en-US" altLang="zh-TW" sz="2800" dirty="0"/>
              <a:t> via a </a:t>
            </a:r>
            <a:r>
              <a:rPr lang="en-US" altLang="zh-TW" sz="2800" b="1" dirty="0">
                <a:solidFill>
                  <a:srgbClr val="0000FF"/>
                </a:solidFill>
              </a:rPr>
              <a:t>Application Program Interface (API)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Rather than directly calling the system call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 err="1"/>
              <a:t>fopen</a:t>
            </a:r>
            <a:r>
              <a:rPr lang="en-US" altLang="zh-TW" sz="2400" dirty="0"/>
              <a:t>(), </a:t>
            </a:r>
            <a:r>
              <a:rPr lang="en-US" altLang="zh-TW" sz="2400" dirty="0" err="1"/>
              <a:t>fread</a:t>
            </a:r>
            <a:r>
              <a:rPr lang="en-US" altLang="zh-TW" sz="2400" dirty="0"/>
              <a:t>(), </a:t>
            </a:r>
            <a:r>
              <a:rPr lang="en-US" altLang="zh-TW" sz="2400" dirty="0" err="1"/>
              <a:t>fwrite</a:t>
            </a:r>
            <a:r>
              <a:rPr lang="en-US" altLang="zh-TW" sz="2400" dirty="0"/>
              <a:t>(), </a:t>
            </a:r>
            <a:r>
              <a:rPr lang="en-US" altLang="zh-TW" sz="2400" dirty="0" err="1"/>
              <a:t>printf</a:t>
            </a:r>
            <a:r>
              <a:rPr lang="en-US" altLang="zh-TW" sz="2400" dirty="0"/>
              <a:t>()….are APIs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See the following slide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6178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什麼是</a:t>
            </a:r>
            <a:r>
              <a:rPr lang="en-US" altLang="zh-TW" dirty="0" smtClean="0"/>
              <a:t>APIs?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Before discussing APIs, </a:t>
            </a:r>
            <a:r>
              <a:rPr lang="zh-TW" altLang="en-US" dirty="0"/>
              <a:t>我們先複習</a:t>
            </a:r>
            <a:r>
              <a:rPr lang="en-US" altLang="zh-TW" dirty="0"/>
              <a:t>Library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1346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013650" y="1198141"/>
            <a:ext cx="4194334" cy="5108575"/>
            <a:chOff x="3552" y="768"/>
            <a:chExt cx="2225" cy="321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552" y="768"/>
              <a:ext cx="1864" cy="18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add(int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++;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return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sub(int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--;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return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lvl="0"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abc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552" y="2668"/>
              <a:ext cx="1864" cy="131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sum(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arg1,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arg2) 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return (arg1+arg2);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xyz()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……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441" y="770"/>
              <a:ext cx="336" cy="279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2000" b="1" dirty="0" err="1">
                  <a:solidFill>
                    <a:srgbClr val="CC0000"/>
                  </a:solidFill>
                </a:rPr>
                <a:t>a.c</a:t>
              </a:r>
              <a:endParaRPr lang="en-US" altLang="zh-TW" sz="2000" b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11" name="Text Box 9">
            <a:extLst>
              <a:ext uri="{FF2B5EF4-FFF2-40B4-BE49-F238E27FC236}">
                <a16:creationId xmlns:a16="http://schemas.microsoft.com/office/drawing/2014/main" id="{BE5E79F6-5DB0-4811-9FF3-533329BFD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108" y="4203342"/>
            <a:ext cx="544359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b.c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6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8298097" y="2599348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7D023A-8978-4927-A79B-C490B6746CD4}"/>
              </a:ext>
            </a:extLst>
          </p:cNvPr>
          <p:cNvSpPr/>
          <p:nvPr/>
        </p:nvSpPr>
        <p:spPr>
          <a:xfrm>
            <a:off x="2165525" y="2658755"/>
            <a:ext cx="1253927" cy="15823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0147D79-B2AB-46E5-85EE-9E149FF45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223" y="2729309"/>
            <a:ext cx="490840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a.c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526" y="2729309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a.o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138A5CEE-622B-42EB-8F5A-D2A665080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223" y="3527837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b.c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272" y="3527837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5" name="箭號: 向右 72">
            <a:extLst>
              <a:ext uri="{FF2B5EF4-FFF2-40B4-BE49-F238E27FC236}">
                <a16:creationId xmlns:a16="http://schemas.microsoft.com/office/drawing/2014/main" id="{0E1EF81B-12ED-437A-8B9F-7221F5AC30FD}"/>
              </a:ext>
            </a:extLst>
          </p:cNvPr>
          <p:cNvSpPr/>
          <p:nvPr/>
        </p:nvSpPr>
        <p:spPr>
          <a:xfrm>
            <a:off x="6842265" y="3209991"/>
            <a:ext cx="1332371" cy="247294"/>
          </a:xfrm>
          <a:prstGeom prst="rightArrow">
            <a:avLst>
              <a:gd name="adj1" fmla="val 3837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9D8928-4F34-485B-A7D7-6DDDBB3390A5}"/>
              </a:ext>
            </a:extLst>
          </p:cNvPr>
          <p:cNvSpPr/>
          <p:nvPr/>
        </p:nvSpPr>
        <p:spPr>
          <a:xfrm>
            <a:off x="4151156" y="2658756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</a:rPr>
              <a:t>Compiler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BA5EA2-7725-401B-89F7-897C6F0D2EC9}"/>
              </a:ext>
            </a:extLst>
          </p:cNvPr>
          <p:cNvSpPr/>
          <p:nvPr/>
        </p:nvSpPr>
        <p:spPr>
          <a:xfrm>
            <a:off x="4149181" y="3457284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</a:rPr>
              <a:t>Compiler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C2C37EE-11CB-49C6-A59C-A3C32E59DA19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3046063" y="2977734"/>
            <a:ext cx="11050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C6F260A-1BB7-4F5C-8258-4483570DB1FF}"/>
              </a:ext>
            </a:extLst>
          </p:cNvPr>
          <p:cNvCxnSpPr>
            <a:stCxn id="20" idx="3"/>
          </p:cNvCxnSpPr>
          <p:nvPr/>
        </p:nvCxnSpPr>
        <p:spPr>
          <a:xfrm flipV="1">
            <a:off x="5405083" y="2977733"/>
            <a:ext cx="73170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D25B5879-4AE0-4A3D-ABDD-CD4798535A0F}"/>
              </a:ext>
            </a:extLst>
          </p:cNvPr>
          <p:cNvCxnSpPr/>
          <p:nvPr/>
        </p:nvCxnSpPr>
        <p:spPr>
          <a:xfrm>
            <a:off x="3060490" y="3776262"/>
            <a:ext cx="108869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2426" y="2760928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a.o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212" y="3390541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370465" y="2132856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libtmp.a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C6F260A-1BB7-4F5C-8258-4483570DB1FF}"/>
              </a:ext>
            </a:extLst>
          </p:cNvPr>
          <p:cNvCxnSpPr/>
          <p:nvPr/>
        </p:nvCxnSpPr>
        <p:spPr>
          <a:xfrm flipV="1">
            <a:off x="5387184" y="3794287"/>
            <a:ext cx="73170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6846045" y="2884874"/>
            <a:ext cx="1429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link utility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2907664" y="4869160"/>
            <a:ext cx="6406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</a:rPr>
              <a:t>Creating a library called </a:t>
            </a:r>
            <a:r>
              <a:rPr lang="en-US" altLang="zh-TW" b="1" dirty="0" err="1">
                <a:latin typeface="Calibri" panose="020F0502020204030204" pitchFamily="34" charset="0"/>
              </a:rPr>
              <a:t>libtmp.a</a:t>
            </a:r>
            <a:endParaRPr lang="en-US" altLang="zh-TW" b="1" dirty="0">
              <a:latin typeface="Calibri" panose="020F0502020204030204" pitchFamily="34" charset="0"/>
            </a:endParaRPr>
          </a:p>
          <a:p>
            <a:endParaRPr lang="zh-TW" altLang="en-US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59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5" grpId="0" animBg="1"/>
      <p:bldP spid="20" grpId="0" animBg="1"/>
      <p:bldP spid="21" grpId="0" animBg="1"/>
      <p:bldP spid="28" grpId="0" animBg="1"/>
      <p:bldP spid="29" grpId="0" animBg="1"/>
      <p:bldP spid="30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Compile source programs to object programs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gcc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c </a:t>
            </a:r>
            <a:r>
              <a:rPr lang="en-US" altLang="zh-TW" sz="2400" dirty="0" err="1"/>
              <a:t>main.c</a:t>
            </a:r>
            <a:endParaRPr lang="en-US" altLang="zh-TW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gcc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c </a:t>
            </a:r>
            <a:r>
              <a:rPr lang="en-US" altLang="zh-TW" sz="2400" dirty="0" err="1"/>
              <a:t>a.c</a:t>
            </a:r>
            <a:endParaRPr lang="en-US" altLang="zh-TW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gcc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c </a:t>
            </a:r>
            <a:r>
              <a:rPr lang="en-US" altLang="zh-TW" sz="2400" dirty="0" err="1"/>
              <a:t>b.c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Create/add/replace object programs into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ar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r </a:t>
            </a:r>
            <a:r>
              <a:rPr lang="en-US" altLang="zh-TW" sz="2400" dirty="0" err="1"/>
              <a:t>libtmp.a</a:t>
            </a:r>
            <a:r>
              <a:rPr lang="en-US" altLang="zh-TW" sz="2400" dirty="0"/>
              <a:t> </a:t>
            </a:r>
            <a:r>
              <a:rPr lang="en-US" altLang="zh-TW" sz="2400" dirty="0" err="1"/>
              <a:t>a.o</a:t>
            </a:r>
            <a:endParaRPr lang="en-US" altLang="zh-TW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ar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r </a:t>
            </a:r>
            <a:r>
              <a:rPr lang="en-US" altLang="zh-TW" sz="2400" dirty="0" err="1"/>
              <a:t>libtmp.a</a:t>
            </a:r>
            <a:r>
              <a:rPr lang="en-US" altLang="zh-TW" sz="2400" dirty="0"/>
              <a:t> </a:t>
            </a:r>
            <a:r>
              <a:rPr lang="en-US" altLang="zh-TW" sz="2400" dirty="0" err="1"/>
              <a:t>b.o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List contents of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ar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t </a:t>
            </a:r>
            <a:r>
              <a:rPr lang="en-US" altLang="zh-TW" sz="2400" dirty="0" err="1"/>
              <a:t>libtmp.a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Delete object programs from library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err="1"/>
              <a:t>ar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d </a:t>
            </a:r>
            <a:r>
              <a:rPr lang="en-US" altLang="zh-TW" sz="2400" dirty="0" err="1"/>
              <a:t>libtmp.a</a:t>
            </a:r>
            <a:r>
              <a:rPr lang="en-US" altLang="zh-TW" sz="2400" dirty="0"/>
              <a:t>  </a:t>
            </a:r>
            <a:r>
              <a:rPr lang="en-US" altLang="zh-TW" sz="2400" dirty="0" err="1"/>
              <a:t>b.o</a:t>
            </a:r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973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839416" y="1318358"/>
            <a:ext cx="10513168" cy="5111750"/>
            <a:chOff x="200" y="766"/>
            <a:chExt cx="5577" cy="322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00" y="766"/>
              <a:ext cx="2976" cy="308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#include &lt;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stdio.h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pPr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extern int  add(int);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extern int  sub(int);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extern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sum(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);</a:t>
              </a:r>
            </a:p>
            <a:p>
              <a:pPr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main()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ret1, ret2, ret3;</a:t>
              </a:r>
            </a:p>
            <a:p>
              <a:pPr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ret1 = add(5);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ret2 = sub(5);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ret3 = sum(ret1, ret2);</a:t>
              </a:r>
            </a:p>
            <a:p>
              <a:pPr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printf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("\n ret from add()= %d", ret1);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printf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("\n ret from sub()= %d", ret2);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printf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("\n ret from sum()= %d", ret3);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552" y="768"/>
              <a:ext cx="1864" cy="18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add(int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++;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return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sub(int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--;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return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arg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 lvl="0">
                <a:lnSpc>
                  <a:spcPct val="90000"/>
                </a:lnSpc>
              </a:pPr>
              <a:endParaRPr lang="en-US" altLang="zh-TW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abc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 {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pPr lvl="0"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552" y="2668"/>
              <a:ext cx="1864" cy="131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sum(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arg1, </a:t>
              </a: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arg2) 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return (arg1+arg2);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xyz()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 ……</a:t>
              </a:r>
            </a:p>
            <a:p>
              <a:pPr>
                <a:lnSpc>
                  <a:spcPct val="90000"/>
                </a:lnSpc>
              </a:pPr>
              <a:r>
                <a:rPr lang="en-US" altLang="zh-TW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576" y="783"/>
              <a:ext cx="600" cy="279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2000" b="1" dirty="0" err="1">
                  <a:solidFill>
                    <a:srgbClr val="CC0000"/>
                  </a:solidFill>
                </a:rPr>
                <a:t>main.c</a:t>
              </a:r>
              <a:endParaRPr lang="en-US" altLang="zh-TW" sz="2000" b="1" dirty="0">
                <a:solidFill>
                  <a:srgbClr val="CC0000"/>
                </a:solidFill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441" y="770"/>
              <a:ext cx="336" cy="279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2000" b="1" dirty="0" err="1">
                  <a:solidFill>
                    <a:srgbClr val="CC0000"/>
                  </a:solidFill>
                </a:rPr>
                <a:t>a.c</a:t>
              </a:r>
              <a:endParaRPr lang="en-US" altLang="zh-TW" sz="2000" b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11" name="Text Box 9">
            <a:extLst>
              <a:ext uri="{FF2B5EF4-FFF2-40B4-BE49-F238E27FC236}">
                <a16:creationId xmlns:a16="http://schemas.microsoft.com/office/drawing/2014/main" id="{BE5E79F6-5DB0-4811-9FF3-533329BFD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708" y="4336629"/>
            <a:ext cx="544359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b.c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0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5138703" y="1986918"/>
            <a:ext cx="1696122" cy="3614082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</a:t>
            </a:r>
            <a:r>
              <a:rPr lang="en-US" altLang="zh-TW" dirty="0"/>
              <a:t>of Programs Using Libraries in Linux (Cont.)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8E01AA-4B65-4798-BFD9-8B545C976B75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E7E2857D-3562-47AD-89A7-34E1EFBC8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558" y="2010376"/>
            <a:ext cx="1708162" cy="3600000"/>
          </a:xfrm>
          <a:prstGeom prst="flowChartPunchedCard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A738D134-F3F4-41CE-8ECF-6507861E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932" y="2237331"/>
            <a:ext cx="917239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main.c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051BB7D-B994-4364-BE16-CBBA40E8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783" y="2237331"/>
            <a:ext cx="931665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main.o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A79BD5-C8BB-4A85-BA45-DD2642ABB30B}"/>
              </a:ext>
            </a:extLst>
          </p:cNvPr>
          <p:cNvSpPr txBox="1"/>
          <p:nvPr/>
        </p:nvSpPr>
        <p:spPr>
          <a:xfrm>
            <a:off x="1250718" y="1693332"/>
            <a:ext cx="1429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Source file</a:t>
            </a:r>
            <a:endParaRPr lang="zh-TW" altLang="en-US" sz="2000" b="1" dirty="0">
              <a:latin typeface="Calibri" panose="020F0502020204030204" pitchFamily="34" charset="0"/>
            </a:endParaRPr>
          </a:p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5447928" y="1628800"/>
            <a:ext cx="1429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Object file</a:t>
            </a:r>
          </a:p>
          <a:p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704907-FC91-4650-97BA-979F0DCCBC32}"/>
              </a:ext>
            </a:extLst>
          </p:cNvPr>
          <p:cNvSpPr/>
          <p:nvPr/>
        </p:nvSpPr>
        <p:spPr>
          <a:xfrm>
            <a:off x="3233103" y="2166778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</a:rPr>
              <a:t>Compiler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619931C-121B-4BAE-9812-4EEC74FCB082}"/>
              </a:ext>
            </a:extLst>
          </p:cNvPr>
          <p:cNvCxnSpPr/>
          <p:nvPr/>
        </p:nvCxnSpPr>
        <p:spPr>
          <a:xfrm>
            <a:off x="2334170" y="2485756"/>
            <a:ext cx="89893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AFA698B-2725-4A9D-A502-D09FBDDDCA82}"/>
              </a:ext>
            </a:extLst>
          </p:cNvPr>
          <p:cNvCxnSpPr/>
          <p:nvPr/>
        </p:nvCxnSpPr>
        <p:spPr>
          <a:xfrm flipV="1">
            <a:off x="4487030" y="2485756"/>
            <a:ext cx="106675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5375560" y="3810376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889" y="3971956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a.o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675" y="4601569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5447928" y="3343884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libtmp.a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3051BB7D-B994-4364-BE16-CBBA40E8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384" y="2154258"/>
            <a:ext cx="931665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main.o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037842" y="1516483"/>
            <a:ext cx="2354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executable file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8588161" y="3717032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2490" y="3878612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a.o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276" y="4508225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b="1" dirty="0" err="1">
                <a:solidFill>
                  <a:srgbClr val="CC0000"/>
                </a:solidFill>
              </a:rPr>
              <a:t>b.o</a:t>
            </a:r>
            <a:endParaRPr lang="en-US" altLang="zh-TW" sz="2000" b="1" dirty="0">
              <a:solidFill>
                <a:srgbClr val="CC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660529" y="3260811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libtmp.a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箭號: 向右 72">
            <a:extLst>
              <a:ext uri="{FF2B5EF4-FFF2-40B4-BE49-F238E27FC236}">
                <a16:creationId xmlns:a16="http://schemas.microsoft.com/office/drawing/2014/main" id="{0E1EF81B-12ED-437A-8B9F-7221F5AC30FD}"/>
              </a:ext>
            </a:extLst>
          </p:cNvPr>
          <p:cNvSpPr/>
          <p:nvPr/>
        </p:nvSpPr>
        <p:spPr>
          <a:xfrm>
            <a:off x="7059326" y="3502086"/>
            <a:ext cx="956659" cy="317847"/>
          </a:xfrm>
          <a:prstGeom prst="rightArrow">
            <a:avLst>
              <a:gd name="adj1" fmla="val 3837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7118632" y="3131737"/>
            <a:ext cx="897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linker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953593" y="5868850"/>
            <a:ext cx="8097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0033CC"/>
                </a:solidFill>
                <a:latin typeface="Calibri" panose="020F0502020204030204" pitchFamily="34" charset="0"/>
              </a:rPr>
              <a:t>Link with </a:t>
            </a:r>
            <a:r>
              <a:rPr lang="en-US" altLang="zh-TW" sz="3200" b="1" dirty="0" err="1">
                <a:solidFill>
                  <a:srgbClr val="0033CC"/>
                </a:solidFill>
                <a:latin typeface="Calibri" panose="020F0502020204030204" pitchFamily="34" charset="0"/>
              </a:rPr>
              <a:t>libtmp.a</a:t>
            </a:r>
            <a:r>
              <a:rPr lang="en-US" altLang="zh-TW" sz="3200" b="1" dirty="0">
                <a:solidFill>
                  <a:srgbClr val="0033CC"/>
                </a:solidFill>
                <a:latin typeface="Calibri" panose="020F0502020204030204" pitchFamily="34" charset="0"/>
              </a:rPr>
              <a:t> to create the executable file</a:t>
            </a:r>
            <a:endParaRPr lang="zh-TW" altLang="en-US" sz="3200" b="1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2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" grpId="0" animBg="1"/>
      <p:bldP spid="8" grpId="0" animBg="1"/>
      <p:bldP spid="10" grpId="0"/>
      <p:bldP spid="11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複習</a:t>
            </a:r>
            <a:r>
              <a:rPr lang="zh-TW" altLang="en-US" dirty="0"/>
              <a:t>：</a:t>
            </a:r>
            <a:r>
              <a:rPr lang="en-US" altLang="zh-TW" dirty="0"/>
              <a:t>Linker</a:t>
            </a:r>
            <a:r>
              <a:rPr lang="zh-TW" altLang="en-US" dirty="0"/>
              <a:t>主要的工作是</a:t>
            </a:r>
            <a:r>
              <a:rPr lang="en-US" altLang="zh-TW" dirty="0"/>
              <a:t>resolve </a:t>
            </a:r>
            <a:r>
              <a:rPr lang="en-US" altLang="zh-TW" b="1" dirty="0"/>
              <a:t>external references</a:t>
            </a:r>
            <a:r>
              <a:rPr lang="en-US" altLang="zh-TW" dirty="0"/>
              <a:t> (</a:t>
            </a:r>
            <a:r>
              <a:rPr lang="zh-TW" altLang="en-US" dirty="0"/>
              <a:t>組合語言與系統程式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482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/>
              <a:t>Compile source programs to object programs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/>
              <a:t>gcc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c </a:t>
            </a:r>
            <a:r>
              <a:rPr lang="en-US" altLang="zh-TW" sz="2400" dirty="0" err="1"/>
              <a:t>main.c</a:t>
            </a:r>
            <a:endParaRPr lang="en-US" altLang="zh-TW" sz="2400" dirty="0"/>
          </a:p>
          <a:p>
            <a:pPr eaLnBrk="1" hangingPunct="1"/>
            <a:r>
              <a:rPr lang="en-US" altLang="zh-TW" sz="2800" dirty="0"/>
              <a:t>Using library in programs</a:t>
            </a:r>
          </a:p>
          <a:p>
            <a:pPr lvl="1" eaLnBrk="1" hangingPunct="1"/>
            <a:r>
              <a:rPr lang="en-US" altLang="zh-TW" sz="2400" dirty="0"/>
              <a:t>Ex. </a:t>
            </a:r>
            <a:r>
              <a:rPr lang="en-US" altLang="zh-TW" sz="2400" dirty="0" err="1"/>
              <a:t>gcc</a:t>
            </a:r>
            <a:r>
              <a:rPr lang="en-US" altLang="zh-TW" sz="2400" dirty="0"/>
              <a:t> </a:t>
            </a:r>
            <a:r>
              <a:rPr lang="en-US" altLang="zh-TW" sz="2400" dirty="0" err="1"/>
              <a:t>main.o</a:t>
            </a:r>
            <a:r>
              <a:rPr lang="en-US" altLang="zh-TW" sz="2400" dirty="0"/>
              <a:t> </a:t>
            </a:r>
            <a:r>
              <a:rPr lang="en-US" altLang="zh-TW" sz="2400" dirty="0" err="1"/>
              <a:t>libtmp.a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o </a:t>
            </a:r>
            <a:r>
              <a:rPr lang="en-US" altLang="zh-TW" sz="2400" dirty="0" err="1"/>
              <a:t>prog</a:t>
            </a:r>
            <a:endParaRPr lang="en-US" altLang="zh-TW" sz="2400" dirty="0"/>
          </a:p>
          <a:p>
            <a:pPr lvl="1" eaLnBrk="1" hangingPunct="1"/>
            <a:r>
              <a:rPr lang="en-US" altLang="zh-TW" sz="2400" dirty="0"/>
              <a:t>Ex. </a:t>
            </a:r>
            <a:r>
              <a:rPr lang="en-US" altLang="zh-TW" sz="2400" dirty="0" err="1"/>
              <a:t>gcc</a:t>
            </a:r>
            <a:r>
              <a:rPr lang="en-US" altLang="zh-TW" sz="2400" dirty="0"/>
              <a:t> </a:t>
            </a:r>
            <a:r>
              <a:rPr lang="en-US" altLang="zh-TW" sz="2400" dirty="0" err="1"/>
              <a:t>main.o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L.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 err="1">
                <a:solidFill>
                  <a:srgbClr val="FF0000"/>
                </a:solidFill>
              </a:rPr>
              <a:t>l</a:t>
            </a:r>
            <a:r>
              <a:rPr lang="en-US" altLang="zh-TW" sz="2400" dirty="0" err="1"/>
              <a:t>tmp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Arial" charset="0"/>
              </a:rPr>
              <a:t>–</a:t>
            </a:r>
            <a:r>
              <a:rPr lang="en-US" altLang="zh-TW" sz="2400" dirty="0"/>
              <a:t>o </a:t>
            </a:r>
            <a:r>
              <a:rPr lang="en-US" altLang="zh-TW" sz="2400" dirty="0" err="1"/>
              <a:t>prog</a:t>
            </a:r>
            <a:endParaRPr lang="en-US" altLang="zh-TW" sz="2400" dirty="0"/>
          </a:p>
          <a:p>
            <a:pPr eaLnBrk="1" hangingPunct="1"/>
            <a:r>
              <a:rPr lang="en-US" altLang="zh-TW" sz="2800" dirty="0"/>
              <a:t>Linking editor </a:t>
            </a:r>
          </a:p>
          <a:p>
            <a:pPr lvl="1" eaLnBrk="1" hangingPunct="1"/>
            <a:r>
              <a:rPr lang="en-US" altLang="zh-TW" sz="2400" b="1" dirty="0">
                <a:solidFill>
                  <a:srgbClr val="CC0000"/>
                </a:solidFill>
              </a:rPr>
              <a:t>ld</a:t>
            </a:r>
            <a:r>
              <a:rPr lang="en-US" altLang="zh-TW" sz="2400" dirty="0"/>
              <a:t> under </a:t>
            </a:r>
            <a:r>
              <a:rPr lang="en-US" altLang="zh-TW" sz="2400" dirty="0" err="1"/>
              <a:t>Liunx</a:t>
            </a:r>
            <a:endParaRPr lang="en-US" altLang="zh-TW" sz="2400" dirty="0"/>
          </a:p>
          <a:p>
            <a:pPr eaLnBrk="1" hangingPunct="1"/>
            <a:r>
              <a:rPr lang="en-US" altLang="zh-TW" sz="2800" dirty="0"/>
              <a:t>References</a:t>
            </a:r>
          </a:p>
          <a:p>
            <a:pPr lvl="1" eaLnBrk="1" hangingPunct="1"/>
            <a:r>
              <a:rPr lang="en-US" altLang="zh-TW" sz="2400" dirty="0"/>
              <a:t>man </a:t>
            </a:r>
            <a:r>
              <a:rPr lang="en-US" altLang="zh-TW" sz="2400" b="1" dirty="0">
                <a:solidFill>
                  <a:srgbClr val="CC0000"/>
                </a:solidFill>
              </a:rPr>
              <a:t>gcc </a:t>
            </a:r>
            <a:r>
              <a:rPr lang="en-US" altLang="zh-TW" sz="2400" dirty="0"/>
              <a:t>under Linux</a:t>
            </a:r>
          </a:p>
          <a:p>
            <a:pPr lvl="1" eaLnBrk="1" hangingPunct="1"/>
            <a:r>
              <a:rPr lang="en-US" altLang="zh-TW" sz="2400" dirty="0"/>
              <a:t>man </a:t>
            </a:r>
            <a:r>
              <a:rPr lang="en-US" altLang="zh-TW" sz="2400" b="1" dirty="0" err="1">
                <a:solidFill>
                  <a:srgbClr val="CC0000"/>
                </a:solidFill>
              </a:rPr>
              <a:t>ar</a:t>
            </a:r>
            <a:r>
              <a:rPr lang="en-US" altLang="zh-TW" sz="2400" dirty="0"/>
              <a:t> under Linux</a:t>
            </a:r>
          </a:p>
          <a:p>
            <a:pPr lvl="1" eaLnBrk="1" hangingPunct="1"/>
            <a:r>
              <a:rPr lang="en-US" altLang="zh-TW" sz="2400" dirty="0"/>
              <a:t>man </a:t>
            </a:r>
            <a:r>
              <a:rPr lang="en-US" altLang="zh-TW" sz="2400" b="1" dirty="0">
                <a:solidFill>
                  <a:srgbClr val="CC0000"/>
                </a:solidFill>
              </a:rPr>
              <a:t>ld</a:t>
            </a:r>
            <a:r>
              <a:rPr lang="en-US" altLang="zh-TW" sz="2400" dirty="0"/>
              <a:t> under Linux</a:t>
            </a:r>
          </a:p>
        </p:txBody>
      </p:sp>
    </p:spTree>
    <p:extLst>
      <p:ext uri="{BB962C8B-B14F-4D97-AF65-F5344CB8AC3E}">
        <p14:creationId xmlns:p14="http://schemas.microsoft.com/office/powerpoint/2010/main" val="129787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 smtClean="0"/>
              <a:t>在這個例子</a:t>
            </a:r>
            <a:r>
              <a:rPr lang="en-US" altLang="zh-TW" b="1" dirty="0" smtClean="0"/>
              <a:t>, add(), sub(), sum(), xyz()</a:t>
            </a:r>
            <a:r>
              <a:rPr lang="zh-TW" altLang="en-US" b="1" dirty="0" smtClean="0"/>
              <a:t>就是</a:t>
            </a:r>
            <a:r>
              <a:rPr lang="en-US" altLang="zh-TW" b="1" dirty="0" smtClean="0"/>
              <a:t>APIs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also have an OS Lab discussing how to create a library.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076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b="1" dirty="0"/>
              <a:t>複習結束</a:t>
            </a: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53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在目前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我們寫程式多半都是先呼叫</a:t>
            </a:r>
            <a:r>
              <a:rPr lang="en-US" altLang="zh-TW" sz="4000" dirty="0" smtClean="0"/>
              <a:t>Library</a:t>
            </a:r>
            <a:r>
              <a:rPr lang="zh-TW" altLang="en-US" sz="4000" dirty="0" smtClean="0"/>
              <a:t>提供的</a:t>
            </a:r>
            <a:r>
              <a:rPr lang="en-US" altLang="zh-TW" sz="4000" dirty="0" smtClean="0"/>
              <a:t>APIs, </a:t>
            </a:r>
            <a:r>
              <a:rPr lang="zh-TW" altLang="en-US" sz="4000" dirty="0" smtClean="0"/>
              <a:t>然後</a:t>
            </a:r>
            <a:r>
              <a:rPr lang="en-US" altLang="zh-TW" sz="4000" dirty="0" smtClean="0"/>
              <a:t>Library</a:t>
            </a:r>
            <a:r>
              <a:rPr lang="zh-TW" altLang="en-US" sz="4000" dirty="0" smtClean="0"/>
              <a:t>再做真正的</a:t>
            </a:r>
            <a:r>
              <a:rPr lang="en-US" altLang="zh-TW" sz="4000" dirty="0" smtClean="0"/>
              <a:t>system calls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當然也有直接呼叫</a:t>
            </a:r>
            <a:r>
              <a:rPr lang="en-US" altLang="zh-TW" dirty="0"/>
              <a:t>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983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063552" y="2553473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9146397" y="2276873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solidFill>
                  <a:prstClr val="black"/>
                </a:solidFill>
                <a:latin typeface="Calibri" panose="020F0502020204030204"/>
                <a:ea typeface="新細明體" pitchFamily="18" charset="-120"/>
              </a:rPr>
              <a:t>User Mode</a:t>
            </a:r>
            <a:endParaRPr kumimoji="0" lang="zh-TW" altLang="en-US" sz="1200" b="1" dirty="0">
              <a:solidFill>
                <a:prstClr val="black"/>
              </a:solidFill>
              <a:latin typeface="Calibri" panose="020F0502020204030204"/>
              <a:ea typeface="新細明體" pitchFamily="18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9152860" y="2520619"/>
            <a:ext cx="1010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solidFill>
                  <a:prstClr val="black"/>
                </a:solidFill>
                <a:latin typeface="Calibri" panose="020F0502020204030204"/>
                <a:ea typeface="新細明體" pitchFamily="18" charset="-120"/>
              </a:rPr>
              <a:t>Kernel Mode</a:t>
            </a:r>
            <a:endParaRPr kumimoji="0" lang="zh-TW" altLang="en-US" sz="1200" b="1" dirty="0">
              <a:solidFill>
                <a:prstClr val="black"/>
              </a:solidFill>
              <a:latin typeface="Calibri" panose="020F0502020204030204"/>
              <a:ea typeface="新細明體" pitchFamily="18" charset="-12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4762107" y="198231"/>
            <a:ext cx="1463759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Program 2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dirty="0" err="1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fopen</a:t>
            </a: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();</a:t>
            </a:r>
            <a:endParaRPr kumimoji="0" lang="zh-TW" altLang="en-US" sz="16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2946228" y="188640"/>
            <a:ext cx="1371018" cy="4229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Program</a:t>
            </a:r>
            <a:r>
              <a:rPr kumimoji="0" lang="zh-TW" altLang="en-US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6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1</a:t>
            </a:r>
            <a:endParaRPr kumimoji="0" lang="zh-TW" altLang="en-US" sz="16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</p:txBody>
      </p:sp>
      <p:cxnSp>
        <p:nvCxnSpPr>
          <p:cNvPr id="18" name="直線接點 17"/>
          <p:cNvCxnSpPr/>
          <p:nvPr/>
        </p:nvCxnSpPr>
        <p:spPr>
          <a:xfrm>
            <a:off x="7146344" y="415874"/>
            <a:ext cx="317809" cy="0"/>
          </a:xfrm>
          <a:prstGeom prst="line">
            <a:avLst/>
          </a:prstGeom>
          <a:ln w="38100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/>
          <p:cNvSpPr/>
          <p:nvPr/>
        </p:nvSpPr>
        <p:spPr>
          <a:xfrm>
            <a:off x="3613394" y="1017356"/>
            <a:ext cx="4922837" cy="128750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>
              <a:defRPr/>
            </a:pPr>
            <a:r>
              <a:rPr lang="en-US" altLang="zh-TW" sz="1600" b="1" dirty="0" err="1">
                <a:solidFill>
                  <a:prstClr val="black"/>
                </a:solidFill>
                <a:latin typeface="Calibri" panose="020F0502020204030204" pitchFamily="34" charset="0"/>
              </a:rPr>
              <a:t>fopen</a:t>
            </a:r>
            <a:r>
              <a:rPr lang="en-US" altLang="zh-TW" sz="1600" b="1" dirty="0">
                <a:solidFill>
                  <a:prstClr val="black"/>
                </a:solidFill>
                <a:latin typeface="Calibri" panose="020F0502020204030204" pitchFamily="34" charset="0"/>
              </a:rPr>
              <a:t>() {</a:t>
            </a:r>
          </a:p>
          <a:p>
            <a:pPr eaLnBrk="0" hangingPunct="0">
              <a:defRPr/>
            </a:pPr>
            <a:r>
              <a:rPr lang="en-US" altLang="zh-TW" sz="1600" b="1" dirty="0">
                <a:solidFill>
                  <a:prstClr val="black"/>
                </a:solidFill>
                <a:latin typeface="Calibri" panose="020F0502020204030204" pitchFamily="34" charset="0"/>
              </a:rPr>
              <a:t>	…</a:t>
            </a:r>
          </a:p>
          <a:p>
            <a:pPr eaLnBrk="0" hangingPunct="0">
              <a:defRPr/>
            </a:pPr>
            <a:r>
              <a:rPr lang="en-US" altLang="zh-TW" sz="1600" b="1" dirty="0">
                <a:solidFill>
                  <a:prstClr val="black"/>
                </a:solidFill>
                <a:latin typeface="Calibri" panose="020F0502020204030204" pitchFamily="34" charset="0"/>
              </a:rPr>
              <a:t>	open();</a:t>
            </a:r>
          </a:p>
          <a:p>
            <a:pPr eaLnBrk="0" hangingPunct="0">
              <a:defRPr/>
            </a:pPr>
            <a:r>
              <a:rPr lang="en-US" altLang="zh-TW" sz="1600" b="1" dirty="0">
                <a:solidFill>
                  <a:prstClr val="black"/>
                </a:solidFill>
                <a:latin typeface="Calibri" panose="020F0502020204030204" pitchFamily="34" charset="0"/>
              </a:rPr>
              <a:t>	…</a:t>
            </a:r>
          </a:p>
          <a:p>
            <a:pPr eaLnBrk="0" hangingPunct="0">
              <a:defRPr/>
            </a:pPr>
            <a:r>
              <a:rPr lang="en-US" altLang="zh-TW" sz="1600" b="1" dirty="0">
                <a:solidFill>
                  <a:prstClr val="black"/>
                </a:solidFill>
                <a:latin typeface="Calibri" panose="020F0502020204030204" pitchFamily="34" charset="0"/>
              </a:rPr>
              <a:t>}</a:t>
            </a:r>
            <a:endParaRPr lang="zh-TW" altLang="en-US" sz="16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cxnSp>
        <p:nvCxnSpPr>
          <p:cNvPr id="26" name="直線接點 23"/>
          <p:cNvCxnSpPr/>
          <p:nvPr/>
        </p:nvCxnSpPr>
        <p:spPr>
          <a:xfrm flipV="1">
            <a:off x="6074812" y="603972"/>
            <a:ext cx="0" cy="461690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圓角矩形 1"/>
          <p:cNvSpPr/>
          <p:nvPr/>
        </p:nvSpPr>
        <p:spPr>
          <a:xfrm>
            <a:off x="6528049" y="1426923"/>
            <a:ext cx="1716452" cy="41811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C library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AutoShape 284"/>
          <p:cNvSpPr>
            <a:spLocks noChangeArrowheads="1"/>
          </p:cNvSpPr>
          <p:nvPr/>
        </p:nvSpPr>
        <p:spPr bwMode="auto">
          <a:xfrm>
            <a:off x="3766565" y="5885507"/>
            <a:ext cx="4616494" cy="472358"/>
          </a:xfrm>
          <a:prstGeom prst="flowChartMagneticDisk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itchFamily="18" charset="-120"/>
                <a:cs typeface="Times New Roman" panose="02020603050405020304" pitchFamily="18" charset="0"/>
              </a:rPr>
              <a:t>Storage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itchFamily="18" charset="-120"/>
              <a:cs typeface="+mn-cs"/>
            </a:endParaRPr>
          </a:p>
        </p:txBody>
      </p:sp>
      <p:cxnSp>
        <p:nvCxnSpPr>
          <p:cNvPr id="27" name="直線接點 26"/>
          <p:cNvCxnSpPr/>
          <p:nvPr/>
        </p:nvCxnSpPr>
        <p:spPr>
          <a:xfrm>
            <a:off x="2327155" y="5584993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圓角矩形 28"/>
          <p:cNvSpPr/>
          <p:nvPr/>
        </p:nvSpPr>
        <p:spPr>
          <a:xfrm>
            <a:off x="2407058" y="2770044"/>
            <a:ext cx="7398372" cy="2562348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open()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	….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read()                                               OS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{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微軟正黑體" pitchFamily="34" charset="-120"/>
                <a:cs typeface="+mn-cs"/>
              </a:rPr>
              <a:t>	…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微軟正黑體" pitchFamily="34" charset="-120"/>
              <a:cs typeface="+mn-cs"/>
            </a:endParaRPr>
          </a:p>
        </p:txBody>
      </p:sp>
      <p:cxnSp>
        <p:nvCxnSpPr>
          <p:cNvPr id="30" name="直線接點 23"/>
          <p:cNvCxnSpPr/>
          <p:nvPr/>
        </p:nvCxnSpPr>
        <p:spPr>
          <a:xfrm flipV="1">
            <a:off x="6106244" y="2285327"/>
            <a:ext cx="83" cy="512291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23"/>
          <p:cNvCxnSpPr/>
          <p:nvPr/>
        </p:nvCxnSpPr>
        <p:spPr>
          <a:xfrm flipV="1">
            <a:off x="6096000" y="5373216"/>
            <a:ext cx="83" cy="512291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327155" y="6371072"/>
            <a:ext cx="81720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</a:rPr>
              <a:t>C program invoking </a:t>
            </a:r>
            <a:r>
              <a:rPr lang="en-US" altLang="zh-TW" sz="2000" i="1" dirty="0" err="1">
                <a:solidFill>
                  <a:srgbClr val="FF0000"/>
                </a:solidFill>
                <a:latin typeface="Calibri" panose="020F0502020204030204" pitchFamily="34" charset="0"/>
              </a:rPr>
              <a:t>fopen</a:t>
            </a:r>
            <a:r>
              <a:rPr lang="en-US" altLang="zh-TW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 ()</a:t>
            </a:r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</a:rPr>
              <a:t> library call, which in turn calls </a:t>
            </a:r>
            <a:r>
              <a:rPr lang="en-US" altLang="zh-TW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open ()</a:t>
            </a:r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</a:rPr>
              <a:t> system call</a:t>
            </a:r>
          </a:p>
        </p:txBody>
      </p:sp>
    </p:spTree>
    <p:extLst>
      <p:ext uri="{BB962C8B-B14F-4D97-AF65-F5344CB8AC3E}">
        <p14:creationId xmlns:p14="http://schemas.microsoft.com/office/powerpoint/2010/main" val="92700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838206"/>
          </a:xfrm>
        </p:spPr>
        <p:txBody>
          <a:bodyPr/>
          <a:lstStyle/>
          <a:p>
            <a:r>
              <a:rPr lang="en-US" altLang="zh-TW" sz="4000" dirty="0"/>
              <a:t>Example: </a:t>
            </a:r>
            <a:r>
              <a:rPr lang="en-US" altLang="zh-TW" sz="4000" dirty="0">
                <a:effectLst/>
              </a:rPr>
              <a:t>Standard C Library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3431704" y="1124744"/>
            <a:ext cx="7200800" cy="5126233"/>
            <a:chOff x="3935413" y="1384981"/>
            <a:chExt cx="7200800" cy="5126233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4511676" y="1384981"/>
              <a:ext cx="3097213" cy="15113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#include &lt;</a:t>
              </a:r>
              <a:r>
                <a:rPr kumimoji="1" lang="en-US" altLang="zh-TW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stdio.h</a:t>
              </a: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&gt;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int</a:t>
              </a: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main()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</a:t>
              </a:r>
              <a:r>
                <a:rPr kumimoji="1" lang="en-US" altLang="zh-TW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printf</a:t>
              </a: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(“Greeting”);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}</a:t>
              </a: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511676" y="3112181"/>
              <a:ext cx="3097213" cy="1223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printf()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int 0x80;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}</a:t>
              </a:r>
            </a:p>
          </p:txBody>
        </p:sp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3935413" y="2393043"/>
              <a:ext cx="1008062" cy="863600"/>
              <a:chOff x="1519" y="709"/>
              <a:chExt cx="635" cy="635"/>
            </a:xfrm>
          </p:grpSpPr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 flipH="1">
                <a:off x="1519" y="709"/>
                <a:ext cx="63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1519" y="709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1519" y="1344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</p:grp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4511676" y="4553631"/>
              <a:ext cx="3097213" cy="107984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write()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  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}</a:t>
              </a:r>
            </a:p>
          </p:txBody>
        </p:sp>
        <p:grpSp>
          <p:nvGrpSpPr>
            <p:cNvPr id="12" name="Group 10"/>
            <p:cNvGrpSpPr>
              <a:grpSpLocks/>
            </p:cNvGrpSpPr>
            <p:nvPr/>
          </p:nvGrpSpPr>
          <p:grpSpPr bwMode="auto">
            <a:xfrm>
              <a:off x="3935414" y="3832906"/>
              <a:ext cx="865187" cy="863600"/>
              <a:chOff x="1519" y="709"/>
              <a:chExt cx="635" cy="635"/>
            </a:xfrm>
          </p:grpSpPr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1519" y="709"/>
                <a:ext cx="63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1519" y="709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1519" y="1344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新細明體" pitchFamily="18" charset="-120"/>
                  <a:cs typeface="+mn-cs"/>
                </a:endParaRPr>
              </a:p>
            </p:txBody>
          </p:sp>
        </p:grp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4044156" y="6063688"/>
              <a:ext cx="4032250" cy="43338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Hardware</a:t>
              </a:r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8399909" y="1941659"/>
              <a:ext cx="1443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Application</a:t>
              </a: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7247781" y="3169545"/>
              <a:ext cx="3888432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C </a:t>
              </a:r>
              <a:r>
                <a:rPr lang="en-US" altLang="zh-TW" sz="2000" b="1" dirty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Library </a:t>
              </a:r>
            </a:p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TW" sz="2000" b="1" dirty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(</a:t>
              </a:r>
              <a:r>
                <a:rPr lang="en-US" altLang="zh-TW" sz="2000" b="1" dirty="0" err="1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libc</a:t>
              </a:r>
              <a:r>
                <a:rPr lang="en-US" altLang="zh-TW" sz="2000" b="1" dirty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provides a </a:t>
              </a:r>
              <a:r>
                <a:rPr lang="en-US" altLang="zh-TW" sz="2000" b="1" dirty="0">
                  <a:solidFill>
                    <a:srgbClr val="FF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wrapper</a:t>
              </a:r>
              <a:r>
                <a:rPr lang="en-US" altLang="zh-TW" sz="2000" b="1" dirty="0">
                  <a:solidFill>
                    <a:srgbClr val="000000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of system calls.)</a:t>
              </a: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8903965" y="4801554"/>
              <a:ext cx="5565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OS</a:t>
              </a:r>
            </a:p>
          </p:txBody>
        </p:sp>
        <p:sp>
          <p:nvSpPr>
            <p:cNvPr id="20" name="AutoShape 23"/>
            <p:cNvSpPr>
              <a:spLocks noChangeArrowheads="1"/>
            </p:cNvSpPr>
            <p:nvPr/>
          </p:nvSpPr>
          <p:spPr bwMode="auto">
            <a:xfrm>
              <a:off x="5817394" y="5704913"/>
              <a:ext cx="485775" cy="288925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8364691" y="6049549"/>
              <a:ext cx="1521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Hardware</a:t>
              </a:r>
            </a:p>
          </p:txBody>
        </p:sp>
      </p:grp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1847528" y="6344103"/>
            <a:ext cx="96050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C program invoking </a:t>
            </a:r>
            <a:r>
              <a:rPr kumimoji="1" lang="en-US" altLang="zh-TW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printf</a:t>
            </a: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()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 library call, which in turn calls </a:t>
            </a:r>
            <a:r>
              <a:rPr kumimoji="1" lang="en-US" altLang="zh-TW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write()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 system call</a:t>
            </a:r>
          </a:p>
        </p:txBody>
      </p:sp>
    </p:spTree>
    <p:extLst>
      <p:ext uri="{BB962C8B-B14F-4D97-AF65-F5344CB8AC3E}">
        <p14:creationId xmlns:p14="http://schemas.microsoft.com/office/powerpoint/2010/main" val="144908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在上述的例子，</a:t>
            </a:r>
            <a:r>
              <a:rPr lang="en-US" altLang="zh-TW" b="1" dirty="0" err="1"/>
              <a:t>fopen</a:t>
            </a:r>
            <a:r>
              <a:rPr lang="en-US" altLang="zh-TW" b="1" dirty="0"/>
              <a:t>(), </a:t>
            </a:r>
            <a:r>
              <a:rPr lang="en-US" altLang="zh-TW" b="1" dirty="0" err="1"/>
              <a:t>fread</a:t>
            </a:r>
            <a:r>
              <a:rPr lang="en-US" altLang="zh-TW" b="1" dirty="0"/>
              <a:t>(), </a:t>
            </a:r>
            <a:r>
              <a:rPr lang="en-US" altLang="zh-TW" b="1" dirty="0" err="1"/>
              <a:t>printf</a:t>
            </a:r>
            <a:r>
              <a:rPr lang="en-US" altLang="zh-TW" b="1" dirty="0" smtClean="0"/>
              <a:t>()……</a:t>
            </a:r>
            <a:r>
              <a:rPr lang="zh-TW" altLang="en-US" b="1" dirty="0" smtClean="0"/>
              <a:t>都是</a:t>
            </a:r>
            <a:r>
              <a:rPr lang="en-US" altLang="zh-TW" b="1" dirty="0"/>
              <a:t>API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07107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zh-TW" dirty="0"/>
              <a:t>System Call and APIs</a:t>
            </a:r>
            <a:endParaRPr lang="zh-TW" altLang="en-US" dirty="0">
              <a:effectLst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999656" y="1702021"/>
            <a:ext cx="6696744" cy="4535291"/>
            <a:chOff x="2999656" y="1916832"/>
            <a:chExt cx="5687293" cy="3959227"/>
          </a:xfrm>
        </p:grpSpPr>
        <p:sp>
          <p:nvSpPr>
            <p:cNvPr id="32771" name="Rectangle 4"/>
            <p:cNvSpPr>
              <a:spLocks noChangeArrowheads="1"/>
            </p:cNvSpPr>
            <p:nvPr/>
          </p:nvSpPr>
          <p:spPr bwMode="auto">
            <a:xfrm>
              <a:off x="2999656" y="1916832"/>
              <a:ext cx="4752528" cy="5032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Application Program</a:t>
              </a:r>
            </a:p>
          </p:txBody>
        </p:sp>
        <p:sp>
          <p:nvSpPr>
            <p:cNvPr id="32772" name="Line 5"/>
            <p:cNvSpPr>
              <a:spLocks noChangeShapeType="1"/>
            </p:cNvSpPr>
            <p:nvPr/>
          </p:nvSpPr>
          <p:spPr bwMode="auto">
            <a:xfrm>
              <a:off x="6168008" y="2420070"/>
              <a:ext cx="0" cy="6477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32773" name="Rectangle 6"/>
            <p:cNvSpPr>
              <a:spLocks noChangeArrowheads="1"/>
            </p:cNvSpPr>
            <p:nvPr/>
          </p:nvSpPr>
          <p:spPr bwMode="auto">
            <a:xfrm>
              <a:off x="4511824" y="3059038"/>
              <a:ext cx="4175125" cy="6556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Library API Function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(</a:t>
              </a:r>
              <a:r>
                <a:rPr kumimoji="1" lang="en-US" altLang="zh-TW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Ex:C</a:t>
              </a: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 Library, Windows Library)</a:t>
              </a:r>
            </a:p>
          </p:txBody>
        </p:sp>
        <p:sp>
          <p:nvSpPr>
            <p:cNvPr id="32774" name="Line 7"/>
            <p:cNvSpPr>
              <a:spLocks noChangeShapeType="1"/>
            </p:cNvSpPr>
            <p:nvPr/>
          </p:nvSpPr>
          <p:spPr bwMode="auto">
            <a:xfrm>
              <a:off x="6168008" y="3714675"/>
              <a:ext cx="0" cy="576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32775" name="Rectangle 9"/>
            <p:cNvSpPr>
              <a:spLocks noChangeArrowheads="1"/>
            </p:cNvSpPr>
            <p:nvPr/>
          </p:nvSpPr>
          <p:spPr bwMode="auto">
            <a:xfrm>
              <a:off x="3287688" y="4293321"/>
              <a:ext cx="3888432" cy="503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OS Function</a:t>
              </a:r>
            </a:p>
          </p:txBody>
        </p:sp>
        <p:sp>
          <p:nvSpPr>
            <p:cNvPr id="32776" name="Line 10"/>
            <p:cNvSpPr>
              <a:spLocks noChangeShapeType="1"/>
            </p:cNvSpPr>
            <p:nvPr/>
          </p:nvSpPr>
          <p:spPr bwMode="auto">
            <a:xfrm>
              <a:off x="5375919" y="4796558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  <p:sp>
          <p:nvSpPr>
            <p:cNvPr id="32779" name="Rectangle 13"/>
            <p:cNvSpPr>
              <a:spLocks noChangeArrowheads="1"/>
            </p:cNvSpPr>
            <p:nvPr/>
          </p:nvSpPr>
          <p:spPr bwMode="auto">
            <a:xfrm>
              <a:off x="3971776" y="5372821"/>
              <a:ext cx="2808287" cy="5032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panose="02020500000000000000" pitchFamily="18" charset="-120"/>
                  <a:cs typeface="+mn-cs"/>
                </a:rPr>
                <a:t>Hardware</a:t>
              </a: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4079776" y="2411337"/>
              <a:ext cx="0" cy="18795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067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1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3D5FC1-28F5-4BBB-9883-76CB36CD41E3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dirty="0"/>
              <a:t>Calling System Call and APIs: Example</a:t>
            </a:r>
          </a:p>
        </p:txBody>
      </p:sp>
      <p:sp>
        <p:nvSpPr>
          <p:cNvPr id="19460" name="內容版面配置區 2"/>
          <p:cNvSpPr>
            <a:spLocks noGrp="1"/>
          </p:cNvSpPr>
          <p:nvPr/>
        </p:nvSpPr>
        <p:spPr bwMode="auto">
          <a:xfrm>
            <a:off x="1981200" y="1323975"/>
            <a:ext cx="7570788" cy="557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#include&lt;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stdio.h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  #include&lt;sys/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types.h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  #include&lt;sys/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stat.h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#include&lt;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fcntl.h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   #include&lt;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unistd.h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#include&lt;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stdlib.h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	//for exit()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string.h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&gt;	//for 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strlen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main(){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= open("myfile.txt", O_CREAT | O_WRONLY, 0600);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if (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&lt; 0){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printf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("Failed to open the 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fild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.\n");exit(1);	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size;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size = write(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, "e", 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strlen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("e") 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close(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fd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);	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printf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("length of write data=%d \n", 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strlen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("e"));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</a:t>
            </a:r>
            <a:r>
              <a:rPr kumimoji="1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printf</a:t>
            </a: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("Number of bytes written on success=%d \n\n", size);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	exit(0);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}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2927648" y="3284984"/>
            <a:ext cx="5688632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2927648" y="4365104"/>
            <a:ext cx="5760640" cy="3048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2952349" y="6015139"/>
            <a:ext cx="5760640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3863752" y="3861048"/>
            <a:ext cx="4752528" cy="288032"/>
          </a:xfrm>
          <a:prstGeom prst="round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56947" y="5245993"/>
            <a:ext cx="6019373" cy="588171"/>
          </a:xfrm>
          <a:prstGeom prst="round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2927648" y="4672800"/>
            <a:ext cx="5760640" cy="3048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21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System Call and APIs</a:t>
            </a:r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38309" y="1700808"/>
            <a:ext cx="9145016" cy="4321175"/>
          </a:xfrm>
          <a:noFill/>
        </p:spPr>
      </p:pic>
      <p:sp>
        <p:nvSpPr>
          <p:cNvPr id="2" name="圓角矩形 1"/>
          <p:cNvSpPr/>
          <p:nvPr/>
        </p:nvSpPr>
        <p:spPr>
          <a:xfrm>
            <a:off x="3791744" y="3789040"/>
            <a:ext cx="720080" cy="288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53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什麼是</a:t>
            </a:r>
            <a:r>
              <a:rPr lang="en-US" altLang="zh-TW" dirty="0" smtClean="0"/>
              <a:t>APIs?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API</a:t>
            </a:r>
            <a:r>
              <a:rPr lang="en-US" altLang="zh-TW" dirty="0"/>
              <a:t>: a set of functions </a:t>
            </a:r>
            <a:r>
              <a:rPr lang="en-US" altLang="zh-TW" dirty="0" smtClean="0"/>
              <a:t>provided by </a:t>
            </a:r>
            <a:r>
              <a:rPr lang="en-US" altLang="zh-TW" dirty="0" smtClean="0">
                <a:solidFill>
                  <a:srgbClr val="FF0000"/>
                </a:solidFill>
              </a:rPr>
              <a:t>library</a:t>
            </a:r>
            <a:r>
              <a:rPr lang="en-US" altLang="zh-TW" dirty="0" smtClean="0"/>
              <a:t> that </a:t>
            </a:r>
            <a:r>
              <a:rPr lang="en-US" altLang="zh-TW" dirty="0"/>
              <a:t>can be called by the programs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63529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Three </a:t>
            </a:r>
            <a:r>
              <a:rPr lang="en-US" altLang="zh-TW" dirty="0"/>
              <a:t>most common APIs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Win32 API</a:t>
            </a:r>
            <a:r>
              <a:rPr lang="en-US" altLang="zh-TW" dirty="0"/>
              <a:t> for Windows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POSIX API</a:t>
            </a:r>
            <a:r>
              <a:rPr lang="en-US" altLang="zh-TW" dirty="0"/>
              <a:t> for POSIX-based systems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/>
              <a:t>All versions of UNIX, Linux, and Mac OS X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FF3300"/>
                </a:solidFill>
              </a:rPr>
              <a:t>Java API</a:t>
            </a:r>
            <a:r>
              <a:rPr lang="en-US" altLang="zh-TW" dirty="0"/>
              <a:t> for the Java virtual machine (JVM)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/>
              <a:t>Supported by </a:t>
            </a:r>
            <a:r>
              <a:rPr lang="en-US" altLang="zh-TW" b="1" dirty="0">
                <a:solidFill>
                  <a:srgbClr val="FF3300"/>
                </a:solidFill>
              </a:rPr>
              <a:t>library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Kernel32.lib is the library of Win32 API (see the following slide)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842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ffectLst/>
              </a:rPr>
              <a:t>複習：組合語言</a:t>
            </a:r>
            <a:r>
              <a:rPr lang="en-US" altLang="zh-TW" dirty="0">
                <a:effectLst/>
              </a:rPr>
              <a:t>(Linking to </a:t>
            </a:r>
            <a:r>
              <a:rPr lang="en-US" altLang="zh-TW">
                <a:effectLst/>
              </a:rPr>
              <a:t>a Library)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The two LIB files: irvine32.lib, and kernel32.lib</a:t>
            </a:r>
          </a:p>
          <a:p>
            <a:pPr lvl="1"/>
            <a:r>
              <a:rPr lang="en-US" altLang="zh-TW" sz="2200" dirty="0"/>
              <a:t>The irvine32.lib is provided by book</a:t>
            </a:r>
            <a:r>
              <a:rPr lang="en-US" altLang="zh-TW" sz="2200" dirty="0">
                <a:latin typeface="Arial" charset="0"/>
              </a:rPr>
              <a:t>’</a:t>
            </a:r>
            <a:r>
              <a:rPr lang="en-US" altLang="zh-TW" sz="2200" dirty="0"/>
              <a:t>s author</a:t>
            </a:r>
          </a:p>
          <a:p>
            <a:pPr lvl="1"/>
            <a:r>
              <a:rPr lang="en-US" altLang="zh-TW" sz="2200" dirty="0"/>
              <a:t>The kernel32.lib is part of the Microsoft </a:t>
            </a:r>
            <a:r>
              <a:rPr lang="en-US" altLang="zh-TW" sz="2200" i="1" dirty="0"/>
              <a:t>Win32 Software Development Kit (SDK)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230497" y="2924944"/>
          <a:ext cx="5760639" cy="360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VISIO" r:id="rId3" imgW="2042160" imgH="1321308" progId="">
                  <p:embed/>
                </p:oleObj>
              </mc:Choice>
              <mc:Fallback>
                <p:oleObj name="VISIO" r:id="rId3" imgW="2042160" imgH="1321308" progId="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636" t="-2808" r="1819" b="-3859"/>
                      <a:stretch>
                        <a:fillRect/>
                      </a:stretch>
                    </p:blipFill>
                    <p:spPr bwMode="auto">
                      <a:xfrm>
                        <a:off x="3230497" y="2924944"/>
                        <a:ext cx="5760639" cy="360404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201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8" name="Rectangle 4"/>
          <p:cNvSpPr>
            <a:spLocks noGrp="1" noChangeArrowheads="1"/>
          </p:cNvSpPr>
          <p:nvPr>
            <p:ph type="title"/>
          </p:nvPr>
        </p:nvSpPr>
        <p:spPr>
          <a:xfrm>
            <a:off x="2067719" y="116633"/>
            <a:ext cx="8229600" cy="5492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Some of POSIX APIs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1199456" y="981223"/>
            <a:ext cx="10225136" cy="5472113"/>
            <a:chOff x="2424113" y="836613"/>
            <a:chExt cx="7556500" cy="5472113"/>
          </a:xfrm>
        </p:grpSpPr>
        <p:pic>
          <p:nvPicPr>
            <p:cNvPr id="20483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24113" y="836614"/>
              <a:ext cx="2392362" cy="541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84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16500" y="836613"/>
              <a:ext cx="2332038" cy="5467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85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80325" y="882651"/>
              <a:ext cx="2300288" cy="5426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Question: </a:t>
            </a:r>
            <a:r>
              <a:rPr lang="zh-TW" altLang="en-US" dirty="0" smtClean="0"/>
              <a:t>為什麼要先呼叫</a:t>
            </a:r>
            <a:r>
              <a:rPr lang="en-US" altLang="zh-TW" dirty="0" smtClean="0"/>
              <a:t>APIs,</a:t>
            </a:r>
            <a:r>
              <a:rPr lang="zh-TW" altLang="en-US" dirty="0" smtClean="0"/>
              <a:t>再由</a:t>
            </a:r>
            <a:r>
              <a:rPr lang="en-US" altLang="zh-TW" dirty="0" smtClean="0"/>
              <a:t>APIs</a:t>
            </a:r>
            <a:r>
              <a:rPr lang="zh-TW" altLang="en-US" dirty="0" smtClean="0"/>
              <a:t>做真正的</a:t>
            </a:r>
            <a:r>
              <a:rPr lang="en-US" altLang="zh-TW" dirty="0" smtClean="0"/>
              <a:t>system call?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98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Why use APIs rather than system calls?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Portability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Application using APIs can be compiled and run on another platform </a:t>
            </a:r>
            <a:r>
              <a:rPr lang="en-US" altLang="zh-TW" dirty="0" smtClean="0"/>
              <a:t>without modification (see </a:t>
            </a:r>
            <a:r>
              <a:rPr lang="en-US" altLang="zh-TW" dirty="0"/>
              <a:t>the following </a:t>
            </a:r>
            <a:r>
              <a:rPr lang="en-US" altLang="zh-TW" dirty="0" smtClean="0"/>
              <a:t>slides)</a:t>
            </a:r>
            <a:endParaRPr lang="en-US" altLang="zh-TW" dirty="0"/>
          </a:p>
          <a:p>
            <a:pPr lvl="2" eaLnBrk="1" hangingPunct="1">
              <a:spcBef>
                <a:spcPts val="600"/>
              </a:spcBef>
            </a:pP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Easier to </a:t>
            </a:r>
            <a:r>
              <a:rPr lang="en-US" altLang="zh-TW" dirty="0" smtClean="0"/>
              <a:t>use</a:t>
            </a:r>
          </a:p>
          <a:p>
            <a:pPr lvl="2" eaLnBrk="1" hangingPunct="1"/>
            <a:r>
              <a:rPr lang="en-US" altLang="zh-TW" dirty="0"/>
              <a:t>System calls often be more detailed and difficult to use than APIs </a:t>
            </a:r>
          </a:p>
          <a:p>
            <a:pPr lvl="2" eaLnBrk="1" hangingPunct="1">
              <a:spcBef>
                <a:spcPts val="600"/>
              </a:spcBef>
            </a:pPr>
            <a:endParaRPr lang="en-US" altLang="zh-TW" dirty="0"/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8640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Why use APIs rather than system calls?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Portability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Application using APIs can be compiled and run on another platform </a:t>
            </a:r>
            <a:r>
              <a:rPr lang="en-US" altLang="zh-TW" dirty="0" smtClean="0"/>
              <a:t>without modification (see </a:t>
            </a:r>
            <a:r>
              <a:rPr lang="en-US" altLang="zh-TW" dirty="0"/>
              <a:t>the following </a:t>
            </a:r>
            <a:r>
              <a:rPr lang="en-US" altLang="zh-TW" dirty="0" smtClean="0"/>
              <a:t>slides)</a:t>
            </a:r>
            <a:endParaRPr lang="en-US" altLang="zh-TW" dirty="0"/>
          </a:p>
          <a:p>
            <a:pPr lvl="2" eaLnBrk="1" hangingPunct="1">
              <a:spcBef>
                <a:spcPts val="600"/>
              </a:spcBef>
            </a:pP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Easier to </a:t>
            </a:r>
            <a:r>
              <a:rPr lang="en-US" altLang="zh-TW" dirty="0" smtClean="0"/>
              <a:t>use</a:t>
            </a:r>
          </a:p>
          <a:p>
            <a:pPr lvl="2" eaLnBrk="1" hangingPunct="1"/>
            <a:r>
              <a:rPr lang="en-US" altLang="zh-TW" dirty="0"/>
              <a:t>System calls often be more detailed and difficult to use than APIs </a:t>
            </a:r>
          </a:p>
          <a:p>
            <a:pPr lvl="2" eaLnBrk="1" hangingPunct="1">
              <a:spcBef>
                <a:spcPts val="600"/>
              </a:spcBef>
            </a:pPr>
            <a:endParaRPr lang="en-US" altLang="zh-TW" dirty="0"/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7476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Some of Windows </a:t>
            </a:r>
            <a:r>
              <a:rPr lang="en-US" altLang="zh-TW" sz="4000" dirty="0"/>
              <a:t>and Unix System Calls</a:t>
            </a:r>
          </a:p>
        </p:txBody>
      </p:sp>
      <p:pic>
        <p:nvPicPr>
          <p:cNvPr id="24579" name="Picture 6" descr="OS8-p6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9416" y="1209253"/>
            <a:ext cx="10513168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Portability (Cont.)</a:t>
            </a:r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 flipV="1">
            <a:off x="1992313" y="3644900"/>
            <a:ext cx="8280400" cy="396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70360" name="Text Box 24"/>
          <p:cNvSpPr txBox="1">
            <a:spLocks noChangeArrowheads="1"/>
          </p:cNvSpPr>
          <p:nvPr/>
        </p:nvSpPr>
        <p:spPr bwMode="auto">
          <a:xfrm>
            <a:off x="4871864" y="2132856"/>
            <a:ext cx="221297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dirty="0">
                <a:latin typeface="Calibri" panose="020F0502020204030204" pitchFamily="34" charset="0"/>
              </a:rPr>
              <a:t>Need to modify </a:t>
            </a:r>
          </a:p>
          <a:p>
            <a:pPr algn="ctr"/>
            <a:r>
              <a:rPr lang="en-US" altLang="zh-TW" sz="2400" b="1" i="1" dirty="0" smtClean="0">
                <a:latin typeface="Calibri" panose="020F0502020204030204" pitchFamily="34" charset="0"/>
              </a:rPr>
              <a:t>the source </a:t>
            </a:r>
            <a:r>
              <a:rPr lang="en-US" altLang="zh-TW" sz="2400" b="1" i="1" dirty="0">
                <a:latin typeface="Calibri" panose="020F0502020204030204" pitchFamily="34" charset="0"/>
              </a:rPr>
              <a:t>code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473576" y="1412876"/>
            <a:ext cx="3135313" cy="720725"/>
            <a:chOff x="1858" y="890"/>
            <a:chExt cx="2156" cy="454"/>
          </a:xfrm>
        </p:grpSpPr>
        <p:sp>
          <p:nvSpPr>
            <p:cNvPr id="26643" name="AutoShape 23"/>
            <p:cNvSpPr>
              <a:spLocks noChangeArrowheads="1"/>
            </p:cNvSpPr>
            <p:nvPr/>
          </p:nvSpPr>
          <p:spPr bwMode="auto">
            <a:xfrm>
              <a:off x="1858" y="1163"/>
              <a:ext cx="2156" cy="181"/>
            </a:xfrm>
            <a:prstGeom prst="rightArrow">
              <a:avLst>
                <a:gd name="adj1" fmla="val 50000"/>
                <a:gd name="adj2" fmla="val 29779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6644" name="Text Box 26"/>
            <p:cNvSpPr txBox="1">
              <a:spLocks noChangeArrowheads="1"/>
            </p:cNvSpPr>
            <p:nvPr/>
          </p:nvSpPr>
          <p:spPr bwMode="auto">
            <a:xfrm>
              <a:off x="2144" y="890"/>
              <a:ext cx="157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 dirty="0">
                  <a:latin typeface="Calibri" panose="020F0502020204030204" pitchFamily="34" charset="0"/>
                </a:rPr>
                <a:t>Change to Linux </a:t>
              </a:r>
            </a:p>
          </p:txBody>
        </p:sp>
      </p:grpSp>
      <p:grpSp>
        <p:nvGrpSpPr>
          <p:cNvPr id="26630" name="Group 37"/>
          <p:cNvGrpSpPr>
            <a:grpSpLocks/>
          </p:cNvGrpSpPr>
          <p:nvPr/>
        </p:nvGrpSpPr>
        <p:grpSpPr bwMode="auto">
          <a:xfrm>
            <a:off x="2135188" y="1260476"/>
            <a:ext cx="2252662" cy="4905375"/>
            <a:chOff x="249" y="794"/>
            <a:chExt cx="1419" cy="3090"/>
          </a:xfrm>
        </p:grpSpPr>
        <p:sp>
          <p:nvSpPr>
            <p:cNvPr id="26639" name="Rectangle 5"/>
            <p:cNvSpPr>
              <a:spLocks noChangeArrowheads="1"/>
            </p:cNvSpPr>
            <p:nvPr/>
          </p:nvSpPr>
          <p:spPr bwMode="auto">
            <a:xfrm>
              <a:off x="295" y="794"/>
              <a:ext cx="1315" cy="1003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  <a:p>
              <a:pPr algn="ctr" eaLnBrk="0" hangingPunct="0"/>
              <a:r>
                <a:rPr kumimoji="0" lang="en-US" altLang="zh-TW" sz="2000" i="1">
                  <a:latin typeface="Calibri" panose="020F0502020204030204" pitchFamily="34" charset="0"/>
                </a:rPr>
                <a:t>CreateProcess()</a:t>
              </a:r>
            </a:p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</p:txBody>
        </p:sp>
        <p:sp>
          <p:nvSpPr>
            <p:cNvPr id="26640" name="Rectangle 7"/>
            <p:cNvSpPr>
              <a:spLocks noChangeArrowheads="1"/>
            </p:cNvSpPr>
            <p:nvPr/>
          </p:nvSpPr>
          <p:spPr bwMode="auto">
            <a:xfrm>
              <a:off x="249" y="2654"/>
              <a:ext cx="1406" cy="1230"/>
            </a:xfrm>
            <a:prstGeom prst="rect">
              <a:avLst/>
            </a:prstGeom>
            <a:gradFill rotWithShape="1">
              <a:gsLst>
                <a:gs pos="0">
                  <a:srgbClr val="66FF33"/>
                </a:gs>
                <a:gs pos="100000">
                  <a:srgbClr val="2F7618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endParaRPr kumimoji="0" lang="en-US" altLang="zh-TW" sz="24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  <a:p>
              <a:pPr algn="ctr" eaLnBrk="0" hangingPunct="0"/>
              <a:r>
                <a:rPr kumimoji="0" lang="en-US" altLang="zh-TW" sz="2400" b="1">
                  <a:solidFill>
                    <a:srgbClr val="FF3300"/>
                  </a:solidFill>
                  <a:latin typeface="Calibri" panose="020F0502020204030204" pitchFamily="34" charset="0"/>
                </a:rPr>
                <a:t>Windows</a:t>
              </a:r>
            </a:p>
          </p:txBody>
        </p:sp>
        <p:sp>
          <p:nvSpPr>
            <p:cNvPr id="26641" name="Line 10"/>
            <p:cNvSpPr>
              <a:spLocks noChangeShapeType="1"/>
            </p:cNvSpPr>
            <p:nvPr/>
          </p:nvSpPr>
          <p:spPr bwMode="auto">
            <a:xfrm>
              <a:off x="975" y="1842"/>
              <a:ext cx="0" cy="81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6642" name="Text Box 28"/>
            <p:cNvSpPr txBox="1">
              <a:spLocks noChangeArrowheads="1"/>
            </p:cNvSpPr>
            <p:nvPr/>
          </p:nvSpPr>
          <p:spPr bwMode="auto">
            <a:xfrm>
              <a:off x="294" y="2704"/>
              <a:ext cx="13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CreateProcess()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7751763" y="1260476"/>
            <a:ext cx="2159000" cy="4905375"/>
            <a:chOff x="4105" y="794"/>
            <a:chExt cx="1360" cy="3090"/>
          </a:xfrm>
        </p:grpSpPr>
        <p:sp>
          <p:nvSpPr>
            <p:cNvPr id="26635" name="Rectangle 19"/>
            <p:cNvSpPr>
              <a:spLocks noChangeArrowheads="1"/>
            </p:cNvSpPr>
            <p:nvPr/>
          </p:nvSpPr>
          <p:spPr bwMode="auto">
            <a:xfrm>
              <a:off x="4105" y="794"/>
              <a:ext cx="1315" cy="1003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  <a:p>
              <a:pPr algn="ctr" eaLnBrk="0" hangingPunct="0"/>
              <a:r>
                <a:rPr kumimoji="0" lang="en-US" altLang="zh-TW" sz="20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fork()</a:t>
              </a:r>
            </a:p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</p:txBody>
        </p:sp>
        <p:sp>
          <p:nvSpPr>
            <p:cNvPr id="26636" name="Rectangle 21"/>
            <p:cNvSpPr>
              <a:spLocks noChangeArrowheads="1"/>
            </p:cNvSpPr>
            <p:nvPr/>
          </p:nvSpPr>
          <p:spPr bwMode="auto">
            <a:xfrm>
              <a:off x="4150" y="2654"/>
              <a:ext cx="1315" cy="1230"/>
            </a:xfrm>
            <a:prstGeom prst="rect">
              <a:avLst/>
            </a:prstGeom>
            <a:gradFill rotWithShape="1">
              <a:gsLst>
                <a:gs pos="0">
                  <a:srgbClr val="66FF33"/>
                </a:gs>
                <a:gs pos="100000">
                  <a:srgbClr val="2F7618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endParaRPr kumimoji="0" lang="en-US" altLang="zh-TW" sz="24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  <a:p>
              <a:pPr algn="ctr" eaLnBrk="0" hangingPunct="0"/>
              <a:r>
                <a:rPr kumimoji="0" lang="en-US" altLang="zh-TW" sz="2400" b="1">
                  <a:solidFill>
                    <a:srgbClr val="FF3300"/>
                  </a:solidFill>
                  <a:latin typeface="Calibri" panose="020F0502020204030204" pitchFamily="34" charset="0"/>
                </a:rPr>
                <a:t>Linux</a:t>
              </a:r>
            </a:p>
          </p:txBody>
        </p:sp>
        <p:sp>
          <p:nvSpPr>
            <p:cNvPr id="26637" name="Line 22"/>
            <p:cNvSpPr>
              <a:spLocks noChangeShapeType="1"/>
            </p:cNvSpPr>
            <p:nvPr/>
          </p:nvSpPr>
          <p:spPr bwMode="auto">
            <a:xfrm>
              <a:off x="4785" y="1797"/>
              <a:ext cx="0" cy="85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6638" name="Text Box 29"/>
            <p:cNvSpPr txBox="1">
              <a:spLocks noChangeArrowheads="1"/>
            </p:cNvSpPr>
            <p:nvPr/>
          </p:nvSpPr>
          <p:spPr bwMode="auto">
            <a:xfrm>
              <a:off x="4513" y="2704"/>
              <a:ext cx="5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fork()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4325939" y="4364040"/>
            <a:ext cx="3475037" cy="1119188"/>
            <a:chOff x="1765" y="2749"/>
            <a:chExt cx="2189" cy="705"/>
          </a:xfrm>
        </p:grpSpPr>
        <p:sp>
          <p:nvSpPr>
            <p:cNvPr id="26633" name="AutoShape 33"/>
            <p:cNvSpPr>
              <a:spLocks noChangeArrowheads="1"/>
            </p:cNvSpPr>
            <p:nvPr/>
          </p:nvSpPr>
          <p:spPr bwMode="auto">
            <a:xfrm>
              <a:off x="1882" y="2749"/>
              <a:ext cx="1996" cy="227"/>
            </a:xfrm>
            <a:prstGeom prst="leftRightArrow">
              <a:avLst>
                <a:gd name="adj1" fmla="val 50000"/>
                <a:gd name="adj2" fmla="val 17585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6634" name="Text Box 34"/>
            <p:cNvSpPr txBox="1">
              <a:spLocks noChangeArrowheads="1"/>
            </p:cNvSpPr>
            <p:nvPr/>
          </p:nvSpPr>
          <p:spPr bwMode="auto">
            <a:xfrm>
              <a:off x="1765" y="2931"/>
              <a:ext cx="2189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since system call interface</a:t>
              </a:r>
            </a:p>
            <a:p>
              <a:pPr algn="ctr"/>
              <a:r>
                <a:rPr lang="en-US" altLang="zh-TW" sz="24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 is different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70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6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Portability</a:t>
            </a:r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 flipV="1">
            <a:off x="1992313" y="3644900"/>
            <a:ext cx="8280400" cy="3968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4656139" y="1268414"/>
            <a:ext cx="2725737" cy="720725"/>
            <a:chOff x="1973" y="799"/>
            <a:chExt cx="1717" cy="454"/>
          </a:xfrm>
        </p:grpSpPr>
        <p:sp>
          <p:nvSpPr>
            <p:cNvPr id="25623" name="AutoShape 31"/>
            <p:cNvSpPr>
              <a:spLocks noChangeArrowheads="1"/>
            </p:cNvSpPr>
            <p:nvPr/>
          </p:nvSpPr>
          <p:spPr bwMode="auto">
            <a:xfrm>
              <a:off x="2018" y="1072"/>
              <a:ext cx="1633" cy="181"/>
            </a:xfrm>
            <a:prstGeom prst="rightArrow">
              <a:avLst>
                <a:gd name="adj1" fmla="val 50000"/>
                <a:gd name="adj2" fmla="val 22555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24" name="Text Box 32"/>
            <p:cNvSpPr txBox="1">
              <a:spLocks noChangeArrowheads="1"/>
            </p:cNvSpPr>
            <p:nvPr/>
          </p:nvSpPr>
          <p:spPr bwMode="auto">
            <a:xfrm>
              <a:off x="1973" y="799"/>
              <a:ext cx="17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Change to VxWorks</a:t>
              </a:r>
            </a:p>
          </p:txBody>
        </p:sp>
      </p:grpSp>
      <p:sp>
        <p:nvSpPr>
          <p:cNvPr id="269348" name="Text Box 36"/>
          <p:cNvSpPr txBox="1">
            <a:spLocks noChangeArrowheads="1"/>
          </p:cNvSpPr>
          <p:nvPr/>
        </p:nvSpPr>
        <p:spPr bwMode="auto">
          <a:xfrm>
            <a:off x="4563688" y="2060576"/>
            <a:ext cx="294715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dirty="0">
                <a:latin typeface="Calibri" panose="020F0502020204030204" pitchFamily="34" charset="0"/>
              </a:rPr>
              <a:t>Don’t need to modify </a:t>
            </a:r>
          </a:p>
          <a:p>
            <a:pPr algn="ctr"/>
            <a:r>
              <a:rPr lang="en-US" altLang="zh-TW" sz="2400" b="1" i="1" dirty="0" smtClean="0">
                <a:latin typeface="Calibri" panose="020F0502020204030204" pitchFamily="34" charset="0"/>
              </a:rPr>
              <a:t>the source </a:t>
            </a:r>
            <a:r>
              <a:rPr lang="en-US" altLang="zh-TW" sz="2400" b="1" i="1" dirty="0">
                <a:latin typeface="Calibri" panose="020F0502020204030204" pitchFamily="34" charset="0"/>
              </a:rPr>
              <a:t>code</a:t>
            </a:r>
          </a:p>
        </p:txBody>
      </p:sp>
      <p:grpSp>
        <p:nvGrpSpPr>
          <p:cNvPr id="25606" name="Group 44"/>
          <p:cNvGrpSpPr>
            <a:grpSpLocks/>
          </p:cNvGrpSpPr>
          <p:nvPr/>
        </p:nvGrpSpPr>
        <p:grpSpPr bwMode="auto">
          <a:xfrm>
            <a:off x="1847851" y="1116013"/>
            <a:ext cx="2519363" cy="4913312"/>
            <a:chOff x="386" y="703"/>
            <a:chExt cx="1587" cy="3095"/>
          </a:xfrm>
        </p:grpSpPr>
        <p:sp>
          <p:nvSpPr>
            <p:cNvPr id="25617" name="Rectangle 4"/>
            <p:cNvSpPr>
              <a:spLocks noChangeArrowheads="1"/>
            </p:cNvSpPr>
            <p:nvPr/>
          </p:nvSpPr>
          <p:spPr bwMode="auto">
            <a:xfrm>
              <a:off x="521" y="703"/>
              <a:ext cx="1270" cy="589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  <a:p>
              <a:pPr algn="ctr" eaLnBrk="0" hangingPunct="0"/>
              <a:r>
                <a:rPr kumimoji="0" lang="en-US" altLang="zh-TW" sz="2000" i="1">
                  <a:latin typeface="Calibri" panose="020F0502020204030204" pitchFamily="34" charset="0"/>
                </a:rPr>
                <a:t>pthread_create()</a:t>
              </a:r>
            </a:p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</p:txBody>
        </p:sp>
        <p:sp>
          <p:nvSpPr>
            <p:cNvPr id="25618" name="Rectangle 6"/>
            <p:cNvSpPr>
              <a:spLocks noChangeArrowheads="1"/>
            </p:cNvSpPr>
            <p:nvPr/>
          </p:nvSpPr>
          <p:spPr bwMode="auto">
            <a:xfrm>
              <a:off x="386" y="2659"/>
              <a:ext cx="1587" cy="1139"/>
            </a:xfrm>
            <a:prstGeom prst="rect">
              <a:avLst/>
            </a:prstGeom>
            <a:gradFill rotWithShape="1">
              <a:gsLst>
                <a:gs pos="0">
                  <a:srgbClr val="66FF33"/>
                </a:gs>
                <a:gs pos="100000">
                  <a:srgbClr val="2F7618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400" b="1">
                  <a:solidFill>
                    <a:srgbClr val="FF3300"/>
                  </a:solidFill>
                  <a:latin typeface="Calibri" panose="020F0502020204030204" pitchFamily="34" charset="0"/>
                </a:rPr>
                <a:t>Linux</a:t>
              </a:r>
            </a:p>
          </p:txBody>
        </p:sp>
        <p:sp>
          <p:nvSpPr>
            <p:cNvPr id="25619" name="Line 12"/>
            <p:cNvSpPr>
              <a:spLocks noChangeShapeType="1"/>
            </p:cNvSpPr>
            <p:nvPr/>
          </p:nvSpPr>
          <p:spPr bwMode="auto">
            <a:xfrm>
              <a:off x="1156" y="1292"/>
              <a:ext cx="1" cy="45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20" name="Rectangle 20"/>
            <p:cNvSpPr>
              <a:spLocks noChangeArrowheads="1"/>
            </p:cNvSpPr>
            <p:nvPr/>
          </p:nvSpPr>
          <p:spPr bwMode="auto">
            <a:xfrm>
              <a:off x="475" y="1746"/>
              <a:ext cx="1452" cy="440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400" b="1">
                  <a:solidFill>
                    <a:srgbClr val="0033CC"/>
                  </a:solidFill>
                  <a:latin typeface="Calibri" panose="020F0502020204030204" pitchFamily="34" charset="0"/>
                </a:rPr>
                <a:t>POSIX Library</a:t>
              </a:r>
            </a:p>
          </p:txBody>
        </p:sp>
        <p:sp>
          <p:nvSpPr>
            <p:cNvPr id="25621" name="Line 21"/>
            <p:cNvSpPr>
              <a:spLocks noChangeShapeType="1"/>
            </p:cNvSpPr>
            <p:nvPr/>
          </p:nvSpPr>
          <p:spPr bwMode="auto">
            <a:xfrm>
              <a:off x="1156" y="2154"/>
              <a:ext cx="1" cy="4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22" name="Text Box 38"/>
            <p:cNvSpPr txBox="1">
              <a:spLocks noChangeArrowheads="1"/>
            </p:cNvSpPr>
            <p:nvPr/>
          </p:nvSpPr>
          <p:spPr bwMode="auto">
            <a:xfrm>
              <a:off x="884" y="2704"/>
              <a:ext cx="57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fork()</a:t>
              </a: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7824788" y="1125538"/>
            <a:ext cx="2519362" cy="4895850"/>
            <a:chOff x="3652" y="709"/>
            <a:chExt cx="1587" cy="3084"/>
          </a:xfrm>
        </p:grpSpPr>
        <p:sp>
          <p:nvSpPr>
            <p:cNvPr id="25611" name="Rectangle 24"/>
            <p:cNvSpPr>
              <a:spLocks noChangeArrowheads="1"/>
            </p:cNvSpPr>
            <p:nvPr/>
          </p:nvSpPr>
          <p:spPr bwMode="auto">
            <a:xfrm>
              <a:off x="3833" y="709"/>
              <a:ext cx="1270" cy="589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  <a:p>
              <a:pPr algn="ctr" eaLnBrk="0" hangingPunct="0"/>
              <a:r>
                <a:rPr kumimoji="0" lang="en-US" altLang="zh-TW" sz="20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pthread_create()</a:t>
              </a:r>
            </a:p>
            <a:p>
              <a:pPr algn="ctr" eaLnBrk="0" hangingPunct="0"/>
              <a:r>
                <a:rPr kumimoji="0" lang="en-US" altLang="zh-TW" sz="2000">
                  <a:latin typeface="Calibri" panose="020F0502020204030204" pitchFamily="34" charset="0"/>
                </a:rPr>
                <a:t>…</a:t>
              </a:r>
            </a:p>
          </p:txBody>
        </p:sp>
        <p:sp>
          <p:nvSpPr>
            <p:cNvPr id="25612" name="Line 27"/>
            <p:cNvSpPr>
              <a:spLocks noChangeShapeType="1"/>
            </p:cNvSpPr>
            <p:nvPr/>
          </p:nvSpPr>
          <p:spPr bwMode="auto">
            <a:xfrm>
              <a:off x="4468" y="1292"/>
              <a:ext cx="0" cy="45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13" name="Rectangle 28"/>
            <p:cNvSpPr>
              <a:spLocks noChangeArrowheads="1"/>
            </p:cNvSpPr>
            <p:nvPr/>
          </p:nvSpPr>
          <p:spPr bwMode="auto">
            <a:xfrm>
              <a:off x="3787" y="1746"/>
              <a:ext cx="1452" cy="440"/>
            </a:xfrm>
            <a:prstGeom prst="rect">
              <a:avLst/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400" b="1">
                  <a:solidFill>
                    <a:srgbClr val="0033CC"/>
                  </a:solidFill>
                  <a:latin typeface="Calibri" panose="020F0502020204030204" pitchFamily="34" charset="0"/>
                </a:rPr>
                <a:t>POSIX Library</a:t>
              </a:r>
            </a:p>
          </p:txBody>
        </p:sp>
        <p:sp>
          <p:nvSpPr>
            <p:cNvPr id="25614" name="Line 29"/>
            <p:cNvSpPr>
              <a:spLocks noChangeShapeType="1"/>
            </p:cNvSpPr>
            <p:nvPr/>
          </p:nvSpPr>
          <p:spPr bwMode="auto">
            <a:xfrm>
              <a:off x="4468" y="2154"/>
              <a:ext cx="0" cy="4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15" name="Rectangle 39"/>
            <p:cNvSpPr>
              <a:spLocks noChangeArrowheads="1"/>
            </p:cNvSpPr>
            <p:nvPr/>
          </p:nvSpPr>
          <p:spPr bwMode="auto">
            <a:xfrm>
              <a:off x="3652" y="2654"/>
              <a:ext cx="1587" cy="1139"/>
            </a:xfrm>
            <a:prstGeom prst="rect">
              <a:avLst/>
            </a:prstGeom>
            <a:gradFill rotWithShape="1">
              <a:gsLst>
                <a:gs pos="0">
                  <a:srgbClr val="66FF33"/>
                </a:gs>
                <a:gs pos="100000">
                  <a:srgbClr val="2F7618"/>
                </a:gs>
              </a:gsLst>
              <a:lin ang="5400000" scaled="1"/>
            </a:gra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0" hangingPunct="0"/>
              <a:r>
                <a:rPr kumimoji="0" lang="en-US" altLang="zh-TW" sz="2400" b="1">
                  <a:solidFill>
                    <a:srgbClr val="FF3300"/>
                  </a:solidFill>
                  <a:latin typeface="Calibri" panose="020F0502020204030204" pitchFamily="34" charset="0"/>
                </a:rPr>
                <a:t>VxWorks</a:t>
              </a:r>
            </a:p>
          </p:txBody>
        </p:sp>
        <p:sp>
          <p:nvSpPr>
            <p:cNvPr id="25616" name="Text Box 40"/>
            <p:cNvSpPr txBox="1">
              <a:spLocks noChangeArrowheads="1"/>
            </p:cNvSpPr>
            <p:nvPr/>
          </p:nvSpPr>
          <p:spPr bwMode="auto">
            <a:xfrm>
              <a:off x="3878" y="2704"/>
              <a:ext cx="12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b="1" i="1">
                  <a:latin typeface="Calibri" panose="020F0502020204030204" pitchFamily="34" charset="0"/>
                </a:rPr>
                <a:t>new_thread()</a:t>
              </a:r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4338639" y="4364040"/>
            <a:ext cx="3446463" cy="1119188"/>
            <a:chOff x="1773" y="2749"/>
            <a:chExt cx="2171" cy="705"/>
          </a:xfrm>
        </p:grpSpPr>
        <p:sp>
          <p:nvSpPr>
            <p:cNvPr id="25609" name="AutoShape 42"/>
            <p:cNvSpPr>
              <a:spLocks noChangeArrowheads="1"/>
            </p:cNvSpPr>
            <p:nvPr/>
          </p:nvSpPr>
          <p:spPr bwMode="auto">
            <a:xfrm>
              <a:off x="1882" y="2749"/>
              <a:ext cx="1996" cy="227"/>
            </a:xfrm>
            <a:prstGeom prst="leftRightArrow">
              <a:avLst>
                <a:gd name="adj1" fmla="val 50000"/>
                <a:gd name="adj2" fmla="val 17585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610" name="Text Box 43"/>
            <p:cNvSpPr txBox="1">
              <a:spLocks noChangeArrowheads="1"/>
            </p:cNvSpPr>
            <p:nvPr/>
          </p:nvSpPr>
          <p:spPr bwMode="auto">
            <a:xfrm>
              <a:off x="1773" y="2931"/>
              <a:ext cx="2171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even system call interface</a:t>
              </a:r>
            </a:p>
            <a:p>
              <a:pPr algn="ctr"/>
              <a:r>
                <a:rPr lang="en-US" altLang="zh-TW" sz="2400" b="1" i="1">
                  <a:solidFill>
                    <a:srgbClr val="FF3300"/>
                  </a:solidFill>
                  <a:latin typeface="Calibri" panose="020F0502020204030204" pitchFamily="34" charset="0"/>
                </a:rPr>
                <a:t> is different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69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2693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69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69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4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Why use APIs rather than system calls?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/>
              <a:t>Portability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Application using APIs can be compiled and run on another platform </a:t>
            </a:r>
            <a:r>
              <a:rPr lang="en-US" altLang="zh-TW" dirty="0" smtClean="0"/>
              <a:t>without modification (see </a:t>
            </a:r>
            <a:r>
              <a:rPr lang="en-US" altLang="zh-TW" dirty="0"/>
              <a:t>the following </a:t>
            </a:r>
            <a:r>
              <a:rPr lang="en-US" altLang="zh-TW" dirty="0" smtClean="0"/>
              <a:t>slides)</a:t>
            </a:r>
            <a:endParaRPr lang="en-US" altLang="zh-TW" dirty="0"/>
          </a:p>
          <a:p>
            <a:pPr lvl="2" eaLnBrk="1" hangingPunct="1">
              <a:spcBef>
                <a:spcPts val="600"/>
              </a:spcBef>
            </a:pP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TW" b="1" dirty="0">
                <a:solidFill>
                  <a:srgbClr val="FF3300"/>
                </a:solidFill>
              </a:rPr>
              <a:t>Easier to </a:t>
            </a:r>
            <a:r>
              <a:rPr lang="en-US" altLang="zh-TW" b="1" dirty="0" smtClean="0">
                <a:solidFill>
                  <a:srgbClr val="FF3300"/>
                </a:solidFill>
              </a:rPr>
              <a:t>use</a:t>
            </a:r>
          </a:p>
          <a:p>
            <a:pPr lvl="2" eaLnBrk="1" hangingPunct="1"/>
            <a:r>
              <a:rPr lang="en-US" altLang="zh-TW" dirty="0"/>
              <a:t>System calls often be more detailed and difficult to use than APIs </a:t>
            </a:r>
            <a:endParaRPr lang="en-US" altLang="zh-TW" dirty="0" smtClean="0"/>
          </a:p>
          <a:p>
            <a:pPr lvl="2" eaLnBrk="1" hangingPunct="1"/>
            <a:r>
              <a:rPr lang="en-US" altLang="zh-TW" dirty="0" smtClean="0"/>
              <a:t>Example: </a:t>
            </a:r>
            <a:r>
              <a:rPr lang="en-US" altLang="zh-TW" b="1" dirty="0" err="1" smtClean="0"/>
              <a:t>printf</a:t>
            </a:r>
            <a:r>
              <a:rPr lang="en-US" altLang="zh-TW" b="1" dirty="0"/>
              <a:t>() </a:t>
            </a:r>
            <a:r>
              <a:rPr lang="en-US" altLang="zh-TW" dirty="0" smtClean="0"/>
              <a:t>provides </a:t>
            </a:r>
            <a:r>
              <a:rPr lang="en-US" altLang="zh-TW" b="1" dirty="0">
                <a:solidFill>
                  <a:srgbClr val="FF0000"/>
                </a:solidFill>
              </a:rPr>
              <a:t>output formatting</a:t>
            </a:r>
            <a:r>
              <a:rPr lang="en-US" altLang="zh-TW" dirty="0"/>
              <a:t>, whereas </a:t>
            </a:r>
            <a:r>
              <a:rPr lang="en-US" altLang="zh-TW" b="1" dirty="0" smtClean="0"/>
              <a:t>write</a:t>
            </a:r>
            <a:r>
              <a:rPr lang="en-US" altLang="zh-TW" b="1" dirty="0"/>
              <a:t>() </a:t>
            </a:r>
            <a:r>
              <a:rPr lang="en-US" altLang="zh-TW" dirty="0"/>
              <a:t>system call just outputs </a:t>
            </a:r>
            <a:r>
              <a:rPr lang="en-US" altLang="zh-TW" b="1" dirty="0"/>
              <a:t>a block of bytes</a:t>
            </a:r>
          </a:p>
          <a:p>
            <a:pPr lvl="2" eaLnBrk="1" hangingPunct="1"/>
            <a:endParaRPr lang="en-US" altLang="zh-TW" dirty="0"/>
          </a:p>
          <a:p>
            <a:pPr lvl="2" eaLnBrk="1" hangingPunct="1">
              <a:spcBef>
                <a:spcPts val="600"/>
              </a:spcBef>
            </a:pPr>
            <a:endParaRPr lang="en-US" altLang="zh-TW" dirty="0"/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6026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例子</a:t>
            </a:r>
            <a:r>
              <a:rPr lang="en-US" altLang="zh-TW" dirty="0" smtClean="0"/>
              <a:t>: </a:t>
            </a:r>
            <a:r>
              <a:rPr lang="zh-TW" altLang="en-US" dirty="0" smtClean="0"/>
              <a:t>假設</a:t>
            </a:r>
            <a:r>
              <a:rPr lang="zh-TW" altLang="en-US" dirty="0" smtClean="0"/>
              <a:t>你要在銀幕上印</a:t>
            </a:r>
            <a:r>
              <a:rPr lang="zh-TW" altLang="en-US" dirty="0"/>
              <a:t>出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“</a:t>
            </a:r>
            <a:r>
              <a:rPr lang="en-US" altLang="zh-TW" b="0" dirty="0" smtClean="0"/>
              <a:t>You </a:t>
            </a:r>
            <a:r>
              <a:rPr lang="en-US" altLang="zh-TW" b="0" dirty="0"/>
              <a:t>are 20 years old</a:t>
            </a:r>
            <a:r>
              <a:rPr lang="en-US" altLang="zh-TW" b="0" dirty="0" smtClean="0"/>
              <a:t>.”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分別使用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() C library function</a:t>
            </a:r>
            <a:r>
              <a:rPr lang="zh-TW" altLang="en-US" dirty="0" smtClean="0"/>
              <a:t>和</a:t>
            </a:r>
            <a:r>
              <a:rPr lang="en-US" altLang="zh-TW" dirty="0" smtClean="0"/>
              <a:t>write() 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643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Calling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() C Library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main()</a:t>
            </a:r>
          </a:p>
          <a:p>
            <a:pPr marL="0" indent="0">
              <a:buNone/>
            </a:pPr>
            <a:r>
              <a:rPr lang="en-US" altLang="zh-TW" dirty="0"/>
              <a:t>{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	unsigned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age = 20;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printf</a:t>
            </a:r>
            <a:r>
              <a:rPr lang="en-US" altLang="zh-TW" dirty="0"/>
              <a:t>("You are %d years old.\n", age</a:t>
            </a:r>
            <a:r>
              <a:rPr lang="en-US" altLang="zh-TW" dirty="0" smtClean="0"/>
              <a:t>);</a:t>
            </a:r>
          </a:p>
          <a:p>
            <a:pPr marL="0" indent="0">
              <a:buNone/>
            </a:pPr>
            <a:r>
              <a:rPr lang="en-US" altLang="zh-TW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269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Calling write() System </a:t>
            </a:r>
            <a:r>
              <a:rPr lang="en-US" altLang="zh-TW" dirty="0" smtClean="0"/>
              <a:t>Call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864097"/>
            <a:ext cx="10972800" cy="57332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800" dirty="0" err="1"/>
              <a:t>int</a:t>
            </a:r>
            <a:r>
              <a:rPr lang="en-US" altLang="zh-TW" sz="1800" dirty="0"/>
              <a:t> main() {</a:t>
            </a:r>
            <a:br>
              <a:rPr lang="en-US" altLang="zh-TW" sz="1800" dirty="0"/>
            </a:br>
            <a:r>
              <a:rPr lang="en-US" altLang="zh-TW" sz="1800" dirty="0" smtClean="0"/>
              <a:t>	</a:t>
            </a:r>
            <a:r>
              <a:rPr lang="en-US" altLang="zh-TW" sz="1800" dirty="0" err="1" smtClean="0"/>
              <a:t>int</a:t>
            </a:r>
            <a:r>
              <a:rPr lang="en-US" altLang="zh-TW" sz="1800" dirty="0" smtClean="0"/>
              <a:t> </a:t>
            </a:r>
            <a:r>
              <a:rPr lang="en-US" altLang="zh-TW" sz="1800" dirty="0" err="1"/>
              <a:t>num</a:t>
            </a:r>
            <a:r>
              <a:rPr lang="en-US" altLang="zh-TW" sz="1800" dirty="0"/>
              <a:t> = 20;</a:t>
            </a:r>
            <a:br>
              <a:rPr lang="en-US" altLang="zh-TW" sz="1800" dirty="0"/>
            </a:br>
            <a:r>
              <a:rPr lang="en-US" altLang="zh-TW" sz="1800" dirty="0" smtClean="0"/>
              <a:t>	char </a:t>
            </a:r>
            <a:r>
              <a:rPr lang="en-US" altLang="zh-TW" sz="1800" dirty="0"/>
              <a:t>digits[10]; // </a:t>
            </a:r>
            <a:r>
              <a:rPr lang="zh-TW" altLang="en-US" sz="1800" dirty="0"/>
              <a:t>暫存每一位數字（反向存）</a:t>
            </a:r>
            <a:br>
              <a:rPr lang="zh-TW" altLang="en-US" sz="1800" dirty="0"/>
            </a:br>
            <a:r>
              <a:rPr lang="en-US" altLang="zh-TW" sz="1800" dirty="0" smtClean="0"/>
              <a:t>	</a:t>
            </a:r>
            <a:r>
              <a:rPr lang="en-US" altLang="zh-TW" sz="1800" dirty="0" err="1" smtClean="0"/>
              <a:t>int</a:t>
            </a:r>
            <a:r>
              <a:rPr lang="en-US" altLang="zh-TW" sz="1800" dirty="0" smtClean="0"/>
              <a:t> </a:t>
            </a:r>
            <a:r>
              <a:rPr lang="en-US" altLang="zh-TW" sz="1800" dirty="0" err="1"/>
              <a:t>len</a:t>
            </a:r>
            <a:r>
              <a:rPr lang="en-US" altLang="zh-TW" sz="1800" dirty="0"/>
              <a:t> = 0;</a:t>
            </a:r>
            <a:br>
              <a:rPr lang="en-US" altLang="zh-TW" sz="1800" dirty="0"/>
            </a:br>
            <a:r>
              <a:rPr lang="en-US" altLang="zh-TW" sz="1800" dirty="0"/>
              <a:t/>
            </a:r>
            <a:br>
              <a:rPr lang="en-US" altLang="zh-TW" sz="1800" dirty="0"/>
            </a:br>
            <a:r>
              <a:rPr lang="en-US" altLang="zh-TW" sz="1800" dirty="0" smtClean="0"/>
              <a:t>	</a:t>
            </a:r>
            <a:r>
              <a:rPr lang="en-US" altLang="zh-TW" sz="1800" b="1" dirty="0" smtClean="0">
                <a:solidFill>
                  <a:srgbClr val="FF3300"/>
                </a:solidFill>
              </a:rPr>
              <a:t>// </a:t>
            </a:r>
            <a:r>
              <a:rPr lang="zh-TW" altLang="en-US" sz="1800" b="1" dirty="0">
                <a:solidFill>
                  <a:srgbClr val="FF3300"/>
                </a:solidFill>
              </a:rPr>
              <a:t>將整數轉換為字元（反向存入 </a:t>
            </a:r>
            <a:r>
              <a:rPr lang="en-US" altLang="zh-TW" sz="1800" b="1" dirty="0">
                <a:solidFill>
                  <a:srgbClr val="FF3300"/>
                </a:solidFill>
              </a:rPr>
              <a:t>digits[]</a:t>
            </a:r>
            <a:r>
              <a:rPr lang="zh-TW" altLang="en-US" sz="1800" b="1" dirty="0">
                <a:solidFill>
                  <a:srgbClr val="FF3300"/>
                </a:solidFill>
              </a:rPr>
              <a:t>）</a:t>
            </a:r>
            <a:br>
              <a:rPr lang="zh-TW" altLang="en-US" sz="1800" b="1" dirty="0">
                <a:solidFill>
                  <a:srgbClr val="FF3300"/>
                </a:solidFill>
              </a:rPr>
            </a:br>
            <a:r>
              <a:rPr lang="en-US" altLang="zh-TW" sz="1800" b="1" dirty="0" smtClean="0">
                <a:solidFill>
                  <a:srgbClr val="FF3300"/>
                </a:solidFill>
              </a:rPr>
              <a:t>	while </a:t>
            </a:r>
            <a:r>
              <a:rPr lang="en-US" altLang="zh-TW" sz="1800" b="1" dirty="0">
                <a:solidFill>
                  <a:srgbClr val="FF3300"/>
                </a:solidFill>
              </a:rPr>
              <a:t>(</a:t>
            </a:r>
            <a:r>
              <a:rPr lang="en-US" altLang="zh-TW" sz="1800" b="1" dirty="0" err="1">
                <a:solidFill>
                  <a:srgbClr val="FF3300"/>
                </a:solidFill>
              </a:rPr>
              <a:t>num</a:t>
            </a:r>
            <a:r>
              <a:rPr lang="en-US" altLang="zh-TW" sz="1800" b="1" dirty="0">
                <a:solidFill>
                  <a:srgbClr val="FF3300"/>
                </a:solidFill>
              </a:rPr>
              <a:t> &gt; 0) {</a:t>
            </a:r>
            <a:br>
              <a:rPr lang="en-US" altLang="zh-TW" sz="1800" b="1" dirty="0">
                <a:solidFill>
                  <a:srgbClr val="FF3300"/>
                </a:solidFill>
              </a:rPr>
            </a:br>
            <a:r>
              <a:rPr lang="en-US" altLang="zh-TW" sz="1800" b="1" dirty="0" smtClean="0">
                <a:solidFill>
                  <a:srgbClr val="FF3300"/>
                </a:solidFill>
              </a:rPr>
              <a:t>		</a:t>
            </a:r>
            <a:r>
              <a:rPr lang="en-US" altLang="zh-TW" sz="1800" b="1" dirty="0" err="1" smtClean="0">
                <a:solidFill>
                  <a:srgbClr val="FF3300"/>
                </a:solidFill>
              </a:rPr>
              <a:t>int</a:t>
            </a:r>
            <a:r>
              <a:rPr lang="en-US" altLang="zh-TW" sz="1800" b="1" dirty="0" smtClean="0">
                <a:solidFill>
                  <a:srgbClr val="FF3300"/>
                </a:solidFill>
              </a:rPr>
              <a:t> </a:t>
            </a:r>
            <a:r>
              <a:rPr lang="en-US" altLang="zh-TW" sz="1800" b="1" dirty="0">
                <a:solidFill>
                  <a:srgbClr val="FF3300"/>
                </a:solidFill>
              </a:rPr>
              <a:t>digit = </a:t>
            </a:r>
            <a:r>
              <a:rPr lang="en-US" altLang="zh-TW" sz="1800" b="1" dirty="0" err="1">
                <a:solidFill>
                  <a:srgbClr val="FF3300"/>
                </a:solidFill>
              </a:rPr>
              <a:t>num</a:t>
            </a:r>
            <a:r>
              <a:rPr lang="en-US" altLang="zh-TW" sz="1800" b="1" dirty="0">
                <a:solidFill>
                  <a:srgbClr val="FF3300"/>
                </a:solidFill>
              </a:rPr>
              <a:t> % 10;</a:t>
            </a:r>
            <a:br>
              <a:rPr lang="en-US" altLang="zh-TW" sz="1800" b="1" dirty="0">
                <a:solidFill>
                  <a:srgbClr val="FF3300"/>
                </a:solidFill>
              </a:rPr>
            </a:br>
            <a:r>
              <a:rPr lang="en-US" altLang="zh-TW" sz="1800" b="1" dirty="0" smtClean="0">
                <a:solidFill>
                  <a:srgbClr val="FF3300"/>
                </a:solidFill>
              </a:rPr>
              <a:t>		digits[</a:t>
            </a:r>
            <a:r>
              <a:rPr lang="en-US" altLang="zh-TW" sz="1800" b="1" dirty="0" err="1" smtClean="0">
                <a:solidFill>
                  <a:srgbClr val="FF3300"/>
                </a:solidFill>
              </a:rPr>
              <a:t>len</a:t>
            </a:r>
            <a:r>
              <a:rPr lang="en-US" altLang="zh-TW" sz="1800" b="1" dirty="0">
                <a:solidFill>
                  <a:srgbClr val="FF3300"/>
                </a:solidFill>
              </a:rPr>
              <a:t>++] = '0' + digit;</a:t>
            </a:r>
            <a:br>
              <a:rPr lang="en-US" altLang="zh-TW" sz="1800" b="1" dirty="0">
                <a:solidFill>
                  <a:srgbClr val="FF3300"/>
                </a:solidFill>
              </a:rPr>
            </a:br>
            <a:r>
              <a:rPr lang="en-US" altLang="zh-TW" sz="1800" b="1" dirty="0" smtClean="0">
                <a:solidFill>
                  <a:srgbClr val="FF3300"/>
                </a:solidFill>
              </a:rPr>
              <a:t>		</a:t>
            </a:r>
            <a:r>
              <a:rPr lang="en-US" altLang="zh-TW" sz="1800" b="1" dirty="0" err="1" smtClean="0">
                <a:solidFill>
                  <a:srgbClr val="FF3300"/>
                </a:solidFill>
              </a:rPr>
              <a:t>num</a:t>
            </a:r>
            <a:r>
              <a:rPr lang="en-US" altLang="zh-TW" sz="1800" b="1" dirty="0" smtClean="0">
                <a:solidFill>
                  <a:srgbClr val="FF3300"/>
                </a:solidFill>
              </a:rPr>
              <a:t> </a:t>
            </a:r>
            <a:r>
              <a:rPr lang="en-US" altLang="zh-TW" sz="1800" b="1" dirty="0">
                <a:solidFill>
                  <a:srgbClr val="FF3300"/>
                </a:solidFill>
              </a:rPr>
              <a:t>= </a:t>
            </a:r>
            <a:r>
              <a:rPr lang="en-US" altLang="zh-TW" sz="1800" b="1" dirty="0" err="1">
                <a:solidFill>
                  <a:srgbClr val="FF3300"/>
                </a:solidFill>
              </a:rPr>
              <a:t>num</a:t>
            </a:r>
            <a:r>
              <a:rPr lang="en-US" altLang="zh-TW" sz="1800" b="1" dirty="0">
                <a:solidFill>
                  <a:srgbClr val="FF3300"/>
                </a:solidFill>
              </a:rPr>
              <a:t> / 10;</a:t>
            </a:r>
            <a:br>
              <a:rPr lang="en-US" altLang="zh-TW" sz="1800" b="1" dirty="0">
                <a:solidFill>
                  <a:srgbClr val="FF3300"/>
                </a:solidFill>
              </a:rPr>
            </a:br>
            <a:r>
              <a:rPr lang="en-US" altLang="zh-TW" sz="1800" b="1" dirty="0" smtClean="0">
                <a:solidFill>
                  <a:srgbClr val="FF3300"/>
                </a:solidFill>
              </a:rPr>
              <a:t>	}</a:t>
            </a:r>
            <a:br>
              <a:rPr lang="en-US" altLang="zh-TW" sz="1800" b="1" dirty="0" smtClean="0">
                <a:solidFill>
                  <a:srgbClr val="FF3300"/>
                </a:solidFill>
              </a:rPr>
            </a:br>
            <a:r>
              <a:rPr lang="en-US" altLang="zh-TW" sz="1800" dirty="0"/>
              <a:t/>
            </a:r>
            <a:br>
              <a:rPr lang="en-US" altLang="zh-TW" sz="1800" dirty="0"/>
            </a:br>
            <a:r>
              <a:rPr lang="en-US" altLang="zh-TW" sz="1800" dirty="0" smtClean="0"/>
              <a:t>	// </a:t>
            </a:r>
            <a:r>
              <a:rPr lang="zh-TW" altLang="en-US" sz="1800" dirty="0"/>
              <a:t>先寫固定文字</a:t>
            </a:r>
            <a:br>
              <a:rPr lang="zh-TW" altLang="en-US" sz="1800" dirty="0"/>
            </a:br>
            <a:r>
              <a:rPr lang="en-US" altLang="zh-TW" sz="1800" dirty="0" smtClean="0"/>
              <a:t>	write(1</a:t>
            </a:r>
            <a:r>
              <a:rPr lang="en-US" altLang="zh-TW" sz="1800" dirty="0"/>
              <a:t>, "You are ", 8);</a:t>
            </a:r>
            <a:br>
              <a:rPr lang="en-US" altLang="zh-TW" sz="1800" dirty="0"/>
            </a:br>
            <a:r>
              <a:rPr lang="en-US" altLang="zh-TW" sz="1800" dirty="0" smtClean="0"/>
              <a:t>	// </a:t>
            </a:r>
            <a:r>
              <a:rPr lang="zh-TW" altLang="en-US" sz="1800" dirty="0"/>
              <a:t>反向寫出數字（從最高位開始）</a:t>
            </a:r>
            <a:br>
              <a:rPr lang="zh-TW" altLang="en-US" sz="1800" dirty="0"/>
            </a:br>
            <a:r>
              <a:rPr lang="en-US" altLang="zh-TW" sz="1800" dirty="0" smtClean="0"/>
              <a:t>	for </a:t>
            </a:r>
            <a:r>
              <a:rPr lang="en-US" altLang="zh-TW" sz="1800" dirty="0"/>
              <a:t>(</a:t>
            </a:r>
            <a:r>
              <a:rPr lang="en-US" altLang="zh-TW" sz="1800" dirty="0" err="1"/>
              <a:t>int</a:t>
            </a:r>
            <a:r>
              <a:rPr lang="en-US" altLang="zh-TW" sz="1800" dirty="0"/>
              <a:t> </a:t>
            </a:r>
            <a:r>
              <a:rPr lang="en-US" altLang="zh-TW" sz="1800" dirty="0" err="1"/>
              <a:t>i</a:t>
            </a:r>
            <a:r>
              <a:rPr lang="en-US" altLang="zh-TW" sz="1800" dirty="0"/>
              <a:t> = </a:t>
            </a:r>
            <a:r>
              <a:rPr lang="en-US" altLang="zh-TW" sz="1800" dirty="0" err="1"/>
              <a:t>len</a:t>
            </a:r>
            <a:r>
              <a:rPr lang="en-US" altLang="zh-TW" sz="1800" dirty="0"/>
              <a:t> - 1; </a:t>
            </a:r>
            <a:r>
              <a:rPr lang="en-US" altLang="zh-TW" sz="1800" dirty="0" err="1"/>
              <a:t>i</a:t>
            </a:r>
            <a:r>
              <a:rPr lang="en-US" altLang="zh-TW" sz="1800" dirty="0"/>
              <a:t> &gt;= 0; </a:t>
            </a:r>
            <a:r>
              <a:rPr lang="en-US" altLang="zh-TW" sz="1800" dirty="0" err="1"/>
              <a:t>i</a:t>
            </a:r>
            <a:r>
              <a:rPr lang="en-US" altLang="zh-TW" sz="1800" dirty="0"/>
              <a:t>--) {</a:t>
            </a:r>
            <a:br>
              <a:rPr lang="en-US" altLang="zh-TW" sz="1800" dirty="0"/>
            </a:br>
            <a:r>
              <a:rPr lang="en-US" altLang="zh-TW" sz="1800" dirty="0" smtClean="0"/>
              <a:t>		write(1</a:t>
            </a:r>
            <a:r>
              <a:rPr lang="en-US" altLang="zh-TW" sz="1800" dirty="0"/>
              <a:t>, &amp;digits[</a:t>
            </a:r>
            <a:r>
              <a:rPr lang="en-US" altLang="zh-TW" sz="1800" dirty="0" err="1"/>
              <a:t>i</a:t>
            </a:r>
            <a:r>
              <a:rPr lang="en-US" altLang="zh-TW" sz="1800" dirty="0"/>
              <a:t>], 1);</a:t>
            </a:r>
            <a:br>
              <a:rPr lang="en-US" altLang="zh-TW" sz="1800" dirty="0"/>
            </a:br>
            <a:r>
              <a:rPr lang="en-US" altLang="zh-TW" sz="1800" dirty="0" smtClean="0"/>
              <a:t>	}</a:t>
            </a:r>
            <a:r>
              <a:rPr lang="en-US" altLang="zh-TW" sz="1800" dirty="0"/>
              <a:t/>
            </a:r>
            <a:br>
              <a:rPr lang="en-US" altLang="zh-TW" sz="1800" dirty="0"/>
            </a:br>
            <a:r>
              <a:rPr lang="en-US" altLang="zh-TW" sz="1800" dirty="0" smtClean="0"/>
              <a:t>	// </a:t>
            </a:r>
            <a:r>
              <a:rPr lang="zh-TW" altLang="en-US" sz="1800" dirty="0"/>
              <a:t>再寫剩下的句子</a:t>
            </a:r>
            <a:br>
              <a:rPr lang="zh-TW" altLang="en-US" sz="1800" dirty="0"/>
            </a:br>
            <a:r>
              <a:rPr lang="en-US" altLang="zh-TW" sz="1800" dirty="0" smtClean="0"/>
              <a:t>	write(1</a:t>
            </a:r>
            <a:r>
              <a:rPr lang="en-US" altLang="zh-TW" sz="1800" dirty="0"/>
              <a:t>, " years old.\n", 13</a:t>
            </a:r>
            <a:r>
              <a:rPr lang="en-US" altLang="zh-TW" sz="1800" dirty="0" smtClean="0"/>
              <a:t>);	return </a:t>
            </a:r>
            <a:r>
              <a:rPr lang="en-US" altLang="zh-TW" sz="1800" dirty="0"/>
              <a:t>0;</a:t>
            </a:r>
            <a:br>
              <a:rPr lang="en-US" altLang="zh-TW" sz="1800" dirty="0"/>
            </a:br>
            <a:r>
              <a:rPr lang="en-US" altLang="zh-TW" sz="1800" dirty="0" smtClean="0"/>
              <a:t>}</a:t>
            </a:r>
            <a:r>
              <a:rPr lang="en-US" altLang="zh-TW" sz="1800" dirty="0"/>
              <a:t/>
            </a:r>
            <a:br>
              <a:rPr lang="en-US" altLang="zh-TW" sz="1800" dirty="0"/>
            </a:b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9205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心得</a:t>
            </a:r>
            <a:r>
              <a:rPr lang="en-US" altLang="zh-TW" dirty="0" smtClean="0"/>
              <a:t>:</a:t>
            </a:r>
            <a:r>
              <a:rPr lang="zh-TW" altLang="en-US" dirty="0" smtClean="0"/>
              <a:t> 呼叫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()</a:t>
            </a:r>
            <a:r>
              <a:rPr lang="zh-TW" altLang="en-US" dirty="0" smtClean="0"/>
              <a:t>比呼叫</a:t>
            </a:r>
            <a:r>
              <a:rPr lang="en-US" altLang="zh-TW" dirty="0" smtClean="0"/>
              <a:t>write() system call</a:t>
            </a:r>
            <a:r>
              <a:rPr lang="zh-TW" altLang="en-US" dirty="0" smtClean="0"/>
              <a:t>方便許多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我們</a:t>
            </a:r>
            <a:r>
              <a:rPr lang="zh-TW" altLang="en-US" dirty="0"/>
              <a:t>會有一個作業系統</a:t>
            </a:r>
            <a:r>
              <a:rPr lang="zh-TW" altLang="en-US" dirty="0" smtClean="0"/>
              <a:t>實驗比較兩者的差異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48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Summary</a:t>
            </a:r>
            <a:endParaRPr lang="en-US" altLang="zh-TW" dirty="0"/>
          </a:p>
        </p:txBody>
      </p:sp>
      <p:grpSp>
        <p:nvGrpSpPr>
          <p:cNvPr id="3" name="群組 2"/>
          <p:cNvGrpSpPr/>
          <p:nvPr/>
        </p:nvGrpSpPr>
        <p:grpSpPr>
          <a:xfrm>
            <a:off x="911424" y="1341363"/>
            <a:ext cx="10225136" cy="5039965"/>
            <a:chOff x="911424" y="1268760"/>
            <a:chExt cx="10225136" cy="5039965"/>
          </a:xfrm>
        </p:grpSpPr>
        <p:pic>
          <p:nvPicPr>
            <p:cNvPr id="2867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03512" y="1306513"/>
              <a:ext cx="8928991" cy="5002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矩形 1"/>
            <p:cNvSpPr/>
            <p:nvPr/>
          </p:nvSpPr>
          <p:spPr>
            <a:xfrm>
              <a:off x="2351584" y="126876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847528" y="215273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11424" y="378904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336360" y="436510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655840" y="5363277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79778" y="3635085"/>
              <a:ext cx="720080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System Calls</a:t>
            </a:r>
          </a:p>
          <a:p>
            <a:pPr lvl="1" eaLnBrk="1" hangingPunct="1"/>
            <a:r>
              <a:rPr lang="en-US" altLang="zh-TW" dirty="0"/>
              <a:t>What is System Calls?</a:t>
            </a:r>
          </a:p>
          <a:p>
            <a:pPr lvl="1" eaLnBrk="1" hangingPunct="1"/>
            <a:r>
              <a:rPr lang="en-US" altLang="zh-TW" dirty="0"/>
              <a:t>System calls versus APIs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How to Pass Parameter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8384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問題：當</a:t>
            </a:r>
            <a:r>
              <a:rPr lang="zh-TW" altLang="en-US" b="1" dirty="0" smtClean="0"/>
              <a:t>呼叫</a:t>
            </a:r>
            <a:r>
              <a:rPr lang="en-US" altLang="zh-TW" b="1" dirty="0" smtClean="0"/>
              <a:t>system call</a:t>
            </a:r>
            <a:r>
              <a:rPr lang="zh-TW" altLang="en-US" b="1" dirty="0" smtClean="0"/>
              <a:t>時</a:t>
            </a:r>
            <a:r>
              <a:rPr lang="zh-TW" altLang="en-US" b="1" dirty="0"/>
              <a:t>，如何傳遞</a:t>
            </a:r>
            <a:r>
              <a:rPr lang="zh-TW" altLang="en-US" b="1" dirty="0" smtClean="0"/>
              <a:t>參數給作業系統？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如下圖：應用程式如何傳遞參數給作業系統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664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12474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SYS_XYZ(…);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14893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SYS_XYZ()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35981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182959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9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你要拿東西給同學</a:t>
            </a:r>
            <a:r>
              <a:rPr lang="en-US" altLang="zh-TW" dirty="0" smtClean="0"/>
              <a:t>, </a:t>
            </a:r>
            <a:r>
              <a:rPr lang="zh-TW" altLang="en-US" dirty="0" smtClean="0"/>
              <a:t>可是你們不會碰面</a:t>
            </a:r>
            <a:r>
              <a:rPr lang="en-US" altLang="zh-TW" dirty="0" smtClean="0"/>
              <a:t>!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你</a:t>
            </a:r>
            <a:r>
              <a:rPr lang="en-US" altLang="zh-TW" dirty="0" smtClean="0"/>
              <a:t>=</a:t>
            </a:r>
            <a:r>
              <a:rPr lang="zh-TW" altLang="en-US" dirty="0" smtClean="0"/>
              <a:t>應用程式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東西</a:t>
            </a:r>
            <a:r>
              <a:rPr lang="en-US" altLang="zh-TW" dirty="0" smtClean="0"/>
              <a:t>=</a:t>
            </a:r>
            <a:r>
              <a:rPr lang="zh-TW" altLang="en-US" dirty="0" smtClean="0"/>
              <a:t>參數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同學</a:t>
            </a:r>
            <a:r>
              <a:rPr lang="en-US" altLang="zh-TW" dirty="0" smtClean="0"/>
              <a:t>=</a:t>
            </a:r>
            <a:r>
              <a:rPr lang="zh-TW" altLang="en-US" dirty="0" smtClean="0"/>
              <a:t>作業系統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你們</a:t>
            </a:r>
            <a:r>
              <a:rPr lang="zh-TW" altLang="en-US" dirty="0"/>
              <a:t>不會</a:t>
            </a:r>
            <a:r>
              <a:rPr lang="zh-TW" altLang="en-US" dirty="0" smtClean="0"/>
              <a:t>碰面</a:t>
            </a:r>
            <a:r>
              <a:rPr lang="en-US" altLang="zh-TW" dirty="0" smtClean="0"/>
              <a:t>=</a:t>
            </a:r>
            <a:r>
              <a:rPr lang="zh-TW" altLang="en-US" dirty="0" smtClean="0"/>
              <a:t>在</a:t>
            </a:r>
            <a:r>
              <a:rPr lang="zh-TW" altLang="en-US" dirty="0"/>
              <a:t>記憶體的不同</a:t>
            </a:r>
            <a:r>
              <a:rPr lang="zh-TW" altLang="en-US" dirty="0" smtClean="0"/>
              <a:t>位置</a:t>
            </a:r>
            <a:endParaRPr lang="en-US" altLang="zh-TW" dirty="0" smtClean="0"/>
          </a:p>
          <a:p>
            <a:r>
              <a:rPr lang="en-US" altLang="zh-TW" sz="2800" b="1" dirty="0" smtClean="0"/>
              <a:t>Sol: </a:t>
            </a:r>
            <a:r>
              <a:rPr lang="zh-TW" altLang="en-US" sz="2800" b="1" dirty="0" smtClean="0"/>
              <a:t>放在一個你們彼此都會存取的地方</a:t>
            </a:r>
            <a:r>
              <a:rPr lang="en-US" altLang="zh-TW" sz="2800" b="1" dirty="0" smtClean="0"/>
              <a:t>(</a:t>
            </a:r>
            <a:r>
              <a:rPr lang="zh-TW" altLang="en-US" sz="2800" b="1" dirty="0" smtClean="0"/>
              <a:t>例如</a:t>
            </a:r>
            <a:r>
              <a:rPr lang="en-US" altLang="zh-TW" sz="2800" b="1" dirty="0" smtClean="0"/>
              <a:t>:338</a:t>
            </a:r>
            <a:r>
              <a:rPr lang="zh-TW" altLang="en-US" sz="2800" b="1" dirty="0" smtClean="0"/>
              <a:t>教室</a:t>
            </a:r>
            <a:r>
              <a:rPr lang="en-US" altLang="zh-TW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1851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Idea: Storage Hierarchy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1268760"/>
            <a:ext cx="8156575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9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System Call Parameter Passing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Three methods used to pass parameters to the OS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b="1" dirty="0">
                <a:solidFill>
                  <a:srgbClr val="FF3300"/>
                </a:solidFill>
              </a:rPr>
              <a:t>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In some cases, may be more parameters than registers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block</a:t>
            </a:r>
            <a:r>
              <a:rPr lang="en-US" altLang="zh-TW" b="1" dirty="0"/>
              <a:t> </a:t>
            </a:r>
            <a:r>
              <a:rPr lang="en-US" altLang="zh-TW" b="1" dirty="0">
                <a:solidFill>
                  <a:srgbClr val="FF3300"/>
                </a:solidFill>
              </a:rPr>
              <a:t>in memory</a:t>
            </a:r>
            <a:r>
              <a:rPr lang="en-US" altLang="zh-TW" dirty="0"/>
              <a:t>, and </a:t>
            </a:r>
            <a:r>
              <a:rPr lang="en-US" altLang="zh-TW" dirty="0" smtClean="0"/>
              <a:t>the starting address </a:t>
            </a:r>
            <a:r>
              <a:rPr lang="en-US" altLang="zh-TW" dirty="0"/>
              <a:t>of block passed </a:t>
            </a: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register</a:t>
            </a:r>
            <a:r>
              <a:rPr lang="en-US" altLang="zh-TW" b="1" dirty="0"/>
              <a:t>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Taken by Linux and Solaris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b="1" dirty="0">
                <a:solidFill>
                  <a:srgbClr val="FF3300"/>
                </a:solidFill>
              </a:rPr>
              <a:t>stack</a:t>
            </a:r>
            <a:endParaRPr lang="en-US" altLang="zh-TW" b="1" dirty="0"/>
          </a:p>
          <a:p>
            <a:pPr lvl="2" eaLnBrk="1" hangingPunct="1">
              <a:spcBef>
                <a:spcPts val="600"/>
              </a:spcBef>
            </a:pPr>
            <a:r>
              <a:rPr lang="en-US" altLang="zh-TW" dirty="0" smtClean="0"/>
              <a:t>Programs </a:t>
            </a:r>
            <a:r>
              <a:rPr lang="en-US" altLang="zh-TW" dirty="0"/>
              <a:t>p</a:t>
            </a:r>
            <a:r>
              <a:rPr lang="en-US" altLang="zh-TW" dirty="0" smtClean="0"/>
              <a:t>ushed </a:t>
            </a:r>
            <a:r>
              <a:rPr lang="en-US" altLang="zh-TW" dirty="0"/>
              <a:t>onto the stack and popped off the stack by the </a:t>
            </a:r>
            <a:r>
              <a:rPr lang="en-US" altLang="zh-TW" dirty="0" smtClean="0"/>
              <a:t>OS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442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System Call Parameter Passing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Three methods used to pass parameters to the OS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b="1" dirty="0">
                <a:solidFill>
                  <a:srgbClr val="FF3300"/>
                </a:solidFill>
              </a:rPr>
              <a:t>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In some cases, may be more parameters than registers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a block in memory, and </a:t>
            </a:r>
            <a:r>
              <a:rPr lang="en-US" altLang="zh-TW" dirty="0" smtClean="0"/>
              <a:t>the starting address </a:t>
            </a:r>
            <a:r>
              <a:rPr lang="en-US" altLang="zh-TW" dirty="0"/>
              <a:t>of block passed </a:t>
            </a:r>
            <a:r>
              <a:rPr lang="en-US" altLang="zh-TW" dirty="0" smtClean="0"/>
              <a:t>in </a:t>
            </a:r>
            <a:r>
              <a:rPr lang="en-US" altLang="zh-TW" dirty="0"/>
              <a:t>a register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Taken by Linux and Solaris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stack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 smtClean="0"/>
              <a:t>Programs </a:t>
            </a:r>
            <a:r>
              <a:rPr lang="en-US" altLang="zh-TW" dirty="0"/>
              <a:t>p</a:t>
            </a:r>
            <a:r>
              <a:rPr lang="en-US" altLang="zh-TW" dirty="0" smtClean="0"/>
              <a:t>ushed </a:t>
            </a:r>
            <a:r>
              <a:rPr lang="en-US" altLang="zh-TW" dirty="0"/>
              <a:t>onto the stack and popped off the stack by the </a:t>
            </a:r>
            <a:r>
              <a:rPr lang="en-US" altLang="zh-TW" dirty="0" smtClean="0"/>
              <a:t>OS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32310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Passing Parameters to System Calls: CPU Registers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95775" y="1884364"/>
            <a:ext cx="2520950" cy="125253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b="1" dirty="0" err="1"/>
              <a:t>mov</a:t>
            </a:r>
            <a:r>
              <a:rPr lang="en-US" altLang="zh-TW" sz="2000" b="1" dirty="0"/>
              <a:t> </a:t>
            </a:r>
            <a:r>
              <a:rPr lang="en-US" altLang="zh-TW" sz="2000" b="1" dirty="0" err="1"/>
              <a:t>eax</a:t>
            </a:r>
            <a:r>
              <a:rPr lang="en-US" altLang="zh-TW" sz="2000" b="1" dirty="0"/>
              <a:t>, 10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b="1" dirty="0" err="1"/>
              <a:t>mov</a:t>
            </a:r>
            <a:r>
              <a:rPr lang="en-US" altLang="zh-TW" sz="2000" b="1" dirty="0"/>
              <a:t> </a:t>
            </a:r>
            <a:r>
              <a:rPr lang="en-US" altLang="zh-TW" sz="2000" b="1" dirty="0" err="1"/>
              <a:t>ebx</a:t>
            </a:r>
            <a:r>
              <a:rPr lang="en-US" altLang="zh-TW" sz="2000" b="1" dirty="0"/>
              <a:t>, 20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b="1" dirty="0" err="1"/>
              <a:t>int</a:t>
            </a:r>
            <a:r>
              <a:rPr lang="en-US" altLang="zh-TW" sz="2000" b="1" dirty="0"/>
              <a:t> SYS_XYZ;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b="1" dirty="0"/>
              <a:t>……</a:t>
            </a: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2424113" y="3541713"/>
            <a:ext cx="72009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4151313" y="1812926"/>
            <a:ext cx="2449512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8235950" y="3103564"/>
            <a:ext cx="1531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User Mode</a:t>
            </a: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8256589" y="3613150"/>
            <a:ext cx="15281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Kernel Mode</a:t>
            </a:r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5159375" y="2820989"/>
            <a:ext cx="0" cy="1512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0729" name="Text Box 10"/>
          <p:cNvSpPr txBox="1">
            <a:spLocks noChangeArrowheads="1"/>
          </p:cNvSpPr>
          <p:nvPr/>
        </p:nvSpPr>
        <p:spPr bwMode="auto">
          <a:xfrm>
            <a:off x="3719513" y="4333876"/>
            <a:ext cx="4608512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SYS_XYZ :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     </a:t>
            </a:r>
            <a:r>
              <a:rPr lang="en-US" altLang="zh-TW" sz="2000" b="1" dirty="0" err="1">
                <a:latin typeface="Calibri" panose="020F0502020204030204" pitchFamily="34" charset="0"/>
              </a:rPr>
              <a:t>mov</a:t>
            </a:r>
            <a:r>
              <a:rPr lang="en-US" altLang="zh-TW" sz="2000" b="1" dirty="0">
                <a:latin typeface="Calibri" panose="020F0502020204030204" pitchFamily="34" charset="0"/>
              </a:rPr>
              <a:t>   a, </a:t>
            </a:r>
            <a:r>
              <a:rPr lang="en-US" altLang="zh-TW" sz="2000" b="1" dirty="0" err="1">
                <a:latin typeface="Calibri" panose="020F0502020204030204" pitchFamily="34" charset="0"/>
              </a:rPr>
              <a:t>eax</a:t>
            </a:r>
            <a:r>
              <a:rPr lang="en-US" altLang="zh-TW" sz="2000" b="1" dirty="0">
                <a:latin typeface="Calibri" panose="020F0502020204030204" pitchFamily="34" charset="0"/>
              </a:rPr>
              <a:t>;	a = 10;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     </a:t>
            </a:r>
            <a:r>
              <a:rPr lang="en-US" altLang="zh-TW" sz="2000" b="1" dirty="0" err="1">
                <a:latin typeface="Calibri" panose="020F0502020204030204" pitchFamily="34" charset="0"/>
              </a:rPr>
              <a:t>mov</a:t>
            </a:r>
            <a:r>
              <a:rPr lang="en-US" altLang="zh-TW" sz="2000" b="1" dirty="0">
                <a:latin typeface="Calibri" panose="020F0502020204030204" pitchFamily="34" charset="0"/>
              </a:rPr>
              <a:t>   b, </a:t>
            </a:r>
            <a:r>
              <a:rPr lang="en-US" altLang="zh-TW" sz="2000" b="1" dirty="0" err="1">
                <a:latin typeface="Calibri" panose="020F0502020204030204" pitchFamily="34" charset="0"/>
              </a:rPr>
              <a:t>ebx</a:t>
            </a:r>
            <a:r>
              <a:rPr lang="en-US" altLang="zh-TW" sz="2000" b="1" dirty="0">
                <a:latin typeface="Calibri" panose="020F0502020204030204" pitchFamily="34" charset="0"/>
              </a:rPr>
              <a:t>;   b = 20;</a:t>
            </a:r>
          </a:p>
          <a:p>
            <a:r>
              <a:rPr lang="en-US" altLang="zh-TW" sz="2000" b="1" dirty="0">
                <a:latin typeface="Calibri" panose="020F0502020204030204" pitchFamily="34" charset="0"/>
              </a:rPr>
              <a:t>     ……</a:t>
            </a:r>
          </a:p>
          <a:p>
            <a:endParaRPr lang="en-US" altLang="zh-TW" sz="2000" b="1" dirty="0">
              <a:latin typeface="Calibri" panose="020F0502020204030204" pitchFamily="34" charset="0"/>
            </a:endParaRP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5232400" y="3613151"/>
            <a:ext cx="1379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system_call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/>
              <a:t>Passing Parameters to System Calls: CPU Registers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10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20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int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0x10;  //SYS_XYZ;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SYS_XYZ()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{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466905" y="2851945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40186"/>
              </p:ext>
            </p:extLst>
          </p:nvPr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88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System Call Parameter Passing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Three methods used to pass parameters to the OS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In some cases, </a:t>
            </a:r>
            <a:r>
              <a:rPr lang="en-US" altLang="zh-TW" dirty="0" smtClean="0"/>
              <a:t>may be more parameters than </a:t>
            </a:r>
            <a:r>
              <a:rPr lang="en-US" altLang="zh-TW" dirty="0"/>
              <a:t>registers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block</a:t>
            </a:r>
            <a:r>
              <a:rPr lang="en-US" altLang="zh-TW" b="1" dirty="0"/>
              <a:t> </a:t>
            </a:r>
            <a:r>
              <a:rPr lang="en-US" altLang="zh-TW" b="1" dirty="0">
                <a:solidFill>
                  <a:srgbClr val="FF3300"/>
                </a:solidFill>
              </a:rPr>
              <a:t>in memory</a:t>
            </a:r>
            <a:r>
              <a:rPr lang="en-US" altLang="zh-TW" dirty="0"/>
              <a:t>, and </a:t>
            </a:r>
            <a:r>
              <a:rPr lang="en-US" altLang="zh-TW" dirty="0" smtClean="0"/>
              <a:t>the starting address </a:t>
            </a:r>
            <a:r>
              <a:rPr lang="en-US" altLang="zh-TW" dirty="0"/>
              <a:t>of block passed </a:t>
            </a: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register</a:t>
            </a:r>
            <a:r>
              <a:rPr lang="en-US" altLang="zh-TW" b="1" dirty="0"/>
              <a:t>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Taken by Linux and Solaris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stack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 smtClean="0"/>
              <a:t>Programs </a:t>
            </a:r>
            <a:r>
              <a:rPr lang="en-US" altLang="zh-TW" dirty="0"/>
              <a:t>p</a:t>
            </a:r>
            <a:r>
              <a:rPr lang="en-US" altLang="zh-TW" dirty="0" smtClean="0"/>
              <a:t>ushed </a:t>
            </a:r>
            <a:r>
              <a:rPr lang="en-US" altLang="zh-TW" dirty="0"/>
              <a:t>onto the stack </a:t>
            </a:r>
            <a:r>
              <a:rPr lang="en-US" altLang="zh-TW" dirty="0" smtClean="0"/>
              <a:t>and </a:t>
            </a:r>
            <a:r>
              <a:rPr lang="en-US" altLang="zh-TW" dirty="0"/>
              <a:t>popped off the stack by the </a:t>
            </a:r>
            <a:r>
              <a:rPr lang="en-US" altLang="zh-TW" dirty="0" smtClean="0"/>
              <a:t>OS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4330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Passing Parameters to System Calls: Memory Block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8608" y="1628230"/>
            <a:ext cx="1871663" cy="12525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 dirty="0" err="1"/>
              <a:t>mov</a:t>
            </a:r>
            <a:r>
              <a:rPr lang="en-US" altLang="zh-TW" sz="1800" dirty="0"/>
              <a:t> </a:t>
            </a:r>
            <a:r>
              <a:rPr lang="en-US" altLang="zh-TW" sz="1800" dirty="0" err="1"/>
              <a:t>eax</a:t>
            </a:r>
            <a:r>
              <a:rPr lang="en-US" altLang="zh-TW" sz="1800" dirty="0"/>
              <a:t>, 0x1000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 dirty="0" err="1"/>
              <a:t>int</a:t>
            </a:r>
            <a:r>
              <a:rPr lang="en-US" altLang="zh-TW" sz="1800" dirty="0"/>
              <a:t> SYS_XYZ;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……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3936083" y="3501479"/>
            <a:ext cx="37433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944146" y="1556792"/>
            <a:ext cx="2160587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1750" name="Text Box 7"/>
          <p:cNvSpPr txBox="1">
            <a:spLocks noChangeArrowheads="1"/>
          </p:cNvSpPr>
          <p:nvPr/>
        </p:nvSpPr>
        <p:spPr bwMode="auto">
          <a:xfrm>
            <a:off x="3791620" y="3644354"/>
            <a:ext cx="13319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Calibri" panose="020F0502020204030204" pitchFamily="34" charset="0"/>
              </a:rPr>
              <a:t>Kernel Mode</a:t>
            </a:r>
          </a:p>
        </p:txBody>
      </p:sp>
      <p:sp>
        <p:nvSpPr>
          <p:cNvPr id="31751" name="Line 8"/>
          <p:cNvSpPr>
            <a:spLocks noChangeShapeType="1"/>
          </p:cNvSpPr>
          <p:nvPr/>
        </p:nvSpPr>
        <p:spPr bwMode="auto">
          <a:xfrm>
            <a:off x="5952207" y="2564855"/>
            <a:ext cx="0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1752" name="Text Box 9"/>
          <p:cNvSpPr txBox="1">
            <a:spLocks noChangeArrowheads="1"/>
          </p:cNvSpPr>
          <p:nvPr/>
        </p:nvSpPr>
        <p:spPr bwMode="auto">
          <a:xfrm>
            <a:off x="4439320" y="4477792"/>
            <a:ext cx="446499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TW" sz="2000" dirty="0" smtClean="0">
              <a:latin typeface="Calibri" panose="020F0502020204030204" pitchFamily="34" charset="0"/>
            </a:endParaRPr>
          </a:p>
          <a:p>
            <a:r>
              <a:rPr lang="en-US" altLang="zh-TW" sz="2000" dirty="0" smtClean="0">
                <a:latin typeface="Calibri" panose="020F0502020204030204" pitchFamily="34" charset="0"/>
              </a:rPr>
              <a:t>SYS_XYZ </a:t>
            </a:r>
            <a:r>
              <a:rPr lang="en-US" altLang="zh-TW" sz="2000" dirty="0">
                <a:latin typeface="Calibri" panose="020F0502020204030204" pitchFamily="34" charset="0"/>
              </a:rPr>
              <a:t>: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     user parameters pointed by </a:t>
            </a:r>
            <a:r>
              <a:rPr lang="en-US" altLang="zh-TW" sz="2000" dirty="0" err="1">
                <a:latin typeface="Calibri" panose="020F0502020204030204" pitchFamily="34" charset="0"/>
              </a:rPr>
              <a:t>eax</a:t>
            </a:r>
            <a:endParaRPr lang="en-US" altLang="zh-TW" sz="2000" dirty="0">
              <a:latin typeface="Calibri" panose="020F0502020204030204" pitchFamily="34" charset="0"/>
            </a:endParaRPr>
          </a:p>
          <a:p>
            <a:r>
              <a:rPr lang="en-US" altLang="zh-TW" sz="2000" dirty="0">
                <a:latin typeface="Calibri" panose="020F0502020204030204" pitchFamily="34" charset="0"/>
              </a:rPr>
              <a:t>     ……</a:t>
            </a:r>
          </a:p>
          <a:p>
            <a:endParaRPr lang="en-US" altLang="zh-TW" sz="2000" dirty="0">
              <a:latin typeface="Calibri" panose="020F0502020204030204" pitchFamily="34" charset="0"/>
            </a:endParaRPr>
          </a:p>
        </p:txBody>
      </p:sp>
      <p:sp>
        <p:nvSpPr>
          <p:cNvPr id="31753" name="Text Box 10"/>
          <p:cNvSpPr txBox="1">
            <a:spLocks noChangeArrowheads="1"/>
          </p:cNvSpPr>
          <p:nvPr/>
        </p:nvSpPr>
        <p:spPr bwMode="auto">
          <a:xfrm>
            <a:off x="6168107" y="3644355"/>
            <a:ext cx="1379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system_call</a:t>
            </a:r>
          </a:p>
        </p:txBody>
      </p:sp>
      <p:sp>
        <p:nvSpPr>
          <p:cNvPr id="31754" name="Text Box 11"/>
          <p:cNvSpPr txBox="1">
            <a:spLocks noChangeArrowheads="1"/>
          </p:cNvSpPr>
          <p:nvPr/>
        </p:nvSpPr>
        <p:spPr bwMode="auto">
          <a:xfrm>
            <a:off x="3791621" y="2949029"/>
            <a:ext cx="15319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600" b="1" dirty="0">
                <a:latin typeface="Calibri" panose="020F0502020204030204" pitchFamily="34" charset="0"/>
              </a:rPr>
              <a:t>User Mode</a:t>
            </a:r>
          </a:p>
        </p:txBody>
      </p:sp>
    </p:spTree>
    <p:extLst>
      <p:ext uri="{BB962C8B-B14F-4D97-AF65-F5344CB8AC3E}">
        <p14:creationId xmlns:p14="http://schemas.microsoft.com/office/powerpoint/2010/main" val="367158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/>
              <a:t>Passing Parameters to System Calls: Memory Block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872678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move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0x1000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0x10;  //SYS_XYZ;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SYS_XYZ()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read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  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from [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466905" y="2851945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73479" y="4005063"/>
            <a:ext cx="731520" cy="20826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4394897" y="2280140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304597" y="2708920"/>
            <a:ext cx="2267903" cy="48399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</a:rPr>
              <a:t>greetings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75085"/>
              </p:ext>
            </p:extLst>
          </p:nvPr>
        </p:nvGraphicFramePr>
        <p:xfrm>
          <a:off x="2639616" y="2991232"/>
          <a:ext cx="1725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1149376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345695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0x1000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3313608-53DE-4838-9FC0-432097964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02829"/>
              </p:ext>
            </p:extLst>
          </p:nvPr>
        </p:nvGraphicFramePr>
        <p:xfrm>
          <a:off x="8184232" y="2492896"/>
          <a:ext cx="13921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795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92737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345695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0x1000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88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System Call Parameter Passing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dirty="0"/>
              <a:t>Three methods used to pass parameters to the OS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b="1" dirty="0">
                <a:solidFill>
                  <a:srgbClr val="FF3300"/>
                </a:solidFill>
              </a:rPr>
              <a:t>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In some cases, may be more parameters than registers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block</a:t>
            </a:r>
            <a:r>
              <a:rPr lang="en-US" altLang="zh-TW" b="1" dirty="0"/>
              <a:t> </a:t>
            </a:r>
            <a:r>
              <a:rPr lang="en-US" altLang="zh-TW" b="1" dirty="0">
                <a:solidFill>
                  <a:srgbClr val="FF3300"/>
                </a:solidFill>
              </a:rPr>
              <a:t>in memory</a:t>
            </a:r>
            <a:r>
              <a:rPr lang="en-US" altLang="zh-TW" dirty="0"/>
              <a:t>, and </a:t>
            </a:r>
            <a:r>
              <a:rPr lang="en-US" altLang="zh-TW" dirty="0" smtClean="0"/>
              <a:t>the starting address </a:t>
            </a:r>
            <a:r>
              <a:rPr lang="en-US" altLang="zh-TW" dirty="0"/>
              <a:t>of block passed </a:t>
            </a:r>
            <a:r>
              <a:rPr lang="en-US" altLang="zh-TW" dirty="0" smtClean="0"/>
              <a:t>in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3300"/>
                </a:solidFill>
              </a:rPr>
              <a:t>register</a:t>
            </a:r>
            <a:r>
              <a:rPr lang="en-US" altLang="zh-TW" b="1" dirty="0"/>
              <a:t>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dirty="0"/>
              <a:t>Taken by Linux and Solaris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In </a:t>
            </a:r>
            <a:r>
              <a:rPr lang="en-US" altLang="zh-TW" b="1" dirty="0">
                <a:solidFill>
                  <a:srgbClr val="FF3300"/>
                </a:solidFill>
              </a:rPr>
              <a:t>stack</a:t>
            </a:r>
            <a:endParaRPr lang="en-US" altLang="zh-TW" b="1" dirty="0"/>
          </a:p>
          <a:p>
            <a:pPr lvl="2" eaLnBrk="1" hangingPunct="1">
              <a:spcBef>
                <a:spcPts val="600"/>
              </a:spcBef>
            </a:pPr>
            <a:r>
              <a:rPr lang="en-US" altLang="zh-TW" dirty="0" smtClean="0"/>
              <a:t>Programs </a:t>
            </a:r>
            <a:r>
              <a:rPr lang="en-US" altLang="zh-TW" dirty="0"/>
              <a:t>p</a:t>
            </a:r>
            <a:r>
              <a:rPr lang="en-US" altLang="zh-TW" dirty="0" smtClean="0"/>
              <a:t>ushed </a:t>
            </a:r>
            <a:r>
              <a:rPr lang="en-US" altLang="zh-TW" dirty="0"/>
              <a:t>onto the stack and popped off the stack by the </a:t>
            </a:r>
            <a:r>
              <a:rPr lang="en-US" altLang="zh-TW" dirty="0" smtClean="0"/>
              <a:t>OS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962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Passing Parameters to System Calls: Stack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95775" y="2044700"/>
            <a:ext cx="2520950" cy="12525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push 10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push 20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 err="1"/>
              <a:t>int</a:t>
            </a:r>
            <a:r>
              <a:rPr lang="en-US" altLang="zh-TW" sz="2000" dirty="0"/>
              <a:t> SYS_XYZ;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000" dirty="0"/>
              <a:t>……</a:t>
            </a:r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2424113" y="3702050"/>
            <a:ext cx="7200900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4151313" y="1973264"/>
            <a:ext cx="2449512" cy="1368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8235950" y="3263901"/>
            <a:ext cx="1531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User Mode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8256589" y="3773488"/>
            <a:ext cx="15281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Kernel Mode</a:t>
            </a:r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5159375" y="2981325"/>
            <a:ext cx="0" cy="151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3719513" y="4494214"/>
            <a:ext cx="4608512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SYS_XYZ:</a:t>
            </a:r>
          </a:p>
          <a:p>
            <a:r>
              <a:rPr lang="en-US" altLang="zh-TW" sz="2000">
                <a:latin typeface="Calibri" panose="020F0502020204030204" pitchFamily="34" charset="0"/>
              </a:rPr>
              <a:t>     pop a;     // a = 20;</a:t>
            </a:r>
          </a:p>
          <a:p>
            <a:r>
              <a:rPr lang="en-US" altLang="zh-TW" sz="2000">
                <a:latin typeface="Calibri" panose="020F0502020204030204" pitchFamily="34" charset="0"/>
              </a:rPr>
              <a:t>     pop b;    //  b = 10;</a:t>
            </a:r>
          </a:p>
          <a:p>
            <a:r>
              <a:rPr lang="en-US" altLang="zh-TW" sz="2000">
                <a:latin typeface="Calibri" panose="020F0502020204030204" pitchFamily="34" charset="0"/>
              </a:rPr>
              <a:t>    ……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5232400" y="3773489"/>
            <a:ext cx="1379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>
                <a:latin typeface="Calibri" panose="020F0502020204030204" pitchFamily="34" charset="0"/>
              </a:rPr>
              <a:t>system_call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/>
              <a:t>Passing Parameters to System Calls: Stack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8727" y="1384924"/>
            <a:ext cx="2265362" cy="2304726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push 10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push 20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int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0x10;  //SYS_XYZ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b="1" i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b="1" i="1" dirty="0" smtClean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b="1" i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b="1" i="1" dirty="0" smtClean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SYS_XYZ()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{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dirty="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466905" y="2851945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30306"/>
              </p:ext>
            </p:extLst>
          </p:nvPr>
        </p:nvGraphicFramePr>
        <p:xfrm>
          <a:off x="6324118" y="2708920"/>
          <a:ext cx="224838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382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US" altLang="zh-TW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sp>
        <p:nvSpPr>
          <p:cNvPr id="8" name="弧形箭號 (左彎) 7"/>
          <p:cNvSpPr/>
          <p:nvPr/>
        </p:nvSpPr>
        <p:spPr>
          <a:xfrm flipV="1">
            <a:off x="8673479" y="4005063"/>
            <a:ext cx="731520" cy="20826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51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事實上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你已經學過如何傳遞參數了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組合語言第八章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(Advanced Procedures)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958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Procedure Parameters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altLang="zh-TW" sz="2800" dirty="0"/>
              <a:t>Two types of procedure </a:t>
            </a:r>
            <a:r>
              <a:rPr lang="en-US" altLang="zh-TW" sz="2800" dirty="0" smtClean="0"/>
              <a:t>parameters</a:t>
            </a:r>
          </a:p>
          <a:p>
            <a:pPr lvl="1">
              <a:spcBef>
                <a:spcPts val="600"/>
              </a:spcBef>
            </a:pPr>
            <a:r>
              <a:rPr lang="en-US" altLang="zh-TW" sz="2600" b="1" dirty="0" smtClean="0">
                <a:solidFill>
                  <a:srgbClr val="FF3300"/>
                </a:solidFill>
              </a:rPr>
              <a:t>Register parameters</a:t>
            </a:r>
          </a:p>
          <a:p>
            <a:pPr lvl="1">
              <a:spcBef>
                <a:spcPts val="600"/>
              </a:spcBef>
            </a:pPr>
            <a:r>
              <a:rPr lang="en-US" altLang="zh-TW" sz="2600" b="1" dirty="0" smtClean="0">
                <a:solidFill>
                  <a:srgbClr val="FF3300"/>
                </a:solidFill>
              </a:rPr>
              <a:t>Stack parameters</a:t>
            </a:r>
          </a:p>
          <a:p>
            <a:pPr>
              <a:spcBef>
                <a:spcPts val="600"/>
              </a:spcBef>
            </a:pPr>
            <a:endParaRPr lang="en-US" altLang="zh-TW" sz="2800" b="1" i="1" dirty="0" smtClean="0">
              <a:solidFill>
                <a:srgbClr val="FF3300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TW" sz="2800" b="1" dirty="0" smtClean="0">
                <a:solidFill>
                  <a:srgbClr val="FF3300"/>
                </a:solidFill>
              </a:rPr>
              <a:t>Register </a:t>
            </a:r>
            <a:r>
              <a:rPr lang="en-US" altLang="zh-TW" sz="2800" b="1" dirty="0">
                <a:solidFill>
                  <a:srgbClr val="FF3300"/>
                </a:solidFill>
              </a:rPr>
              <a:t>parameters</a:t>
            </a:r>
          </a:p>
          <a:p>
            <a:pPr lvl="1">
              <a:spcBef>
                <a:spcPts val="600"/>
              </a:spcBef>
            </a:pPr>
            <a:r>
              <a:rPr lang="en-US" altLang="zh-TW" sz="2600" dirty="0"/>
              <a:t>Intended to optimize for program execution speed</a:t>
            </a:r>
          </a:p>
          <a:p>
            <a:pPr lvl="2">
              <a:spcBef>
                <a:spcPts val="600"/>
              </a:spcBef>
            </a:pPr>
            <a:r>
              <a:rPr lang="en-US" altLang="zh-TW" sz="2200" b="1" dirty="0"/>
              <a:t>But not always true! (see the page. </a:t>
            </a:r>
            <a:r>
              <a:rPr lang="en-US" altLang="zh-TW" sz="2200" b="1" dirty="0" smtClean="0"/>
              <a:t>10)</a:t>
            </a:r>
            <a:endParaRPr lang="en-US" altLang="zh-TW" sz="2200" b="1" dirty="0"/>
          </a:p>
          <a:p>
            <a:pPr>
              <a:spcBef>
                <a:spcPts val="600"/>
              </a:spcBef>
            </a:pPr>
            <a:endParaRPr lang="en-US" altLang="zh-TW" sz="2800" b="1" i="1" dirty="0" smtClean="0">
              <a:solidFill>
                <a:srgbClr val="FF3300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TW" sz="2800" b="1" dirty="0" smtClean="0">
                <a:solidFill>
                  <a:srgbClr val="FF3300"/>
                </a:solidFill>
              </a:rPr>
              <a:t>Stack </a:t>
            </a:r>
            <a:r>
              <a:rPr lang="en-US" altLang="zh-TW" sz="2800" b="1" dirty="0">
                <a:solidFill>
                  <a:srgbClr val="FF3300"/>
                </a:solidFill>
              </a:rPr>
              <a:t>parameters</a:t>
            </a:r>
          </a:p>
          <a:p>
            <a:pPr lvl="1">
              <a:spcBef>
                <a:spcPts val="600"/>
              </a:spcBef>
            </a:pPr>
            <a:r>
              <a:rPr lang="en-US" altLang="zh-TW" sz="2600" dirty="0"/>
              <a:t>Nearly all high-level language uses them</a:t>
            </a:r>
            <a:endParaRPr lang="zh-TW" altLang="en-US" sz="2400" dirty="0"/>
          </a:p>
          <a:p>
            <a:pPr>
              <a:spcBef>
                <a:spcPts val="600"/>
              </a:spcBef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81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Register </a:t>
            </a:r>
            <a:r>
              <a:rPr lang="en-US" altLang="zh-TW" dirty="0" smtClean="0">
                <a:effectLst/>
              </a:rPr>
              <a:t>Parameter </a:t>
            </a:r>
            <a:r>
              <a:rPr lang="en-US" altLang="zh-TW" dirty="0" err="1" smtClean="0">
                <a:effectLst/>
              </a:rPr>
              <a:t>v.s</a:t>
            </a:r>
            <a:r>
              <a:rPr lang="en-US" altLang="zh-TW" dirty="0">
                <a:effectLst/>
              </a:rPr>
              <a:t>. Stack Parameters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051" y="1412875"/>
            <a:ext cx="10972800" cy="1872109"/>
          </a:xfrm>
        </p:spPr>
        <p:txBody>
          <a:bodyPr/>
          <a:lstStyle/>
          <a:p>
            <a:r>
              <a:rPr lang="en-US" altLang="zh-TW" dirty="0"/>
              <a:t>Imagine two possible ways of calling the </a:t>
            </a:r>
            <a:r>
              <a:rPr lang="en-US" altLang="zh-TW" dirty="0" err="1"/>
              <a:t>DumpMem</a:t>
            </a:r>
            <a:r>
              <a:rPr lang="en-US" altLang="zh-TW" dirty="0"/>
              <a:t> procedure.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31504" y="3860800"/>
            <a:ext cx="3657600" cy="12963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7160" tIns="182880" rIns="137160" bIns="182880"/>
          <a:lstStyle/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mov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esi,OFFSET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mov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ecx,LENGTHOF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mov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ebx,TYPE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call </a:t>
            </a: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DumpMem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456040" y="3860800"/>
            <a:ext cx="3429000" cy="12963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7160" tIns="182880" rIns="137160" bIns="182880"/>
          <a:lstStyle/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push OFFSET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push LENGTHOF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push TYPE array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3657600" algn="l"/>
                <a:tab pos="4114800" algn="l"/>
              </a:tabLst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call DumpMem</a:t>
            </a:r>
          </a:p>
        </p:txBody>
      </p:sp>
    </p:spTree>
    <p:extLst>
      <p:ext uri="{BB962C8B-B14F-4D97-AF65-F5344CB8AC3E}">
        <p14:creationId xmlns:p14="http://schemas.microsoft.com/office/powerpoint/2010/main" val="209936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>
                <a:effectLst/>
              </a:rPr>
              <a:t>Register Parameter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call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runner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runner: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 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a, 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b, </a:t>
            </a:r>
            <a:r>
              <a:rPr kumimoji="0" lang="en-US" altLang="zh-TW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endParaRPr kumimoji="0" lang="en-US" altLang="zh-TW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}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451663" y="3161110"/>
            <a:ext cx="1855475" cy="120399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03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 smtClean="0"/>
              <a:t>Stack </a:t>
            </a:r>
            <a:r>
              <a:rPr lang="en-US" altLang="zh-TW" sz="4000" dirty="0" smtClean="0">
                <a:effectLst/>
              </a:rPr>
              <a:t>Parameter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 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push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call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runner;</a:t>
            </a:r>
            <a:endParaRPr kumimoji="0" lang="en-US" altLang="zh-TW" sz="2000" b="1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runner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: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access 10;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 access 20;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    ……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4466905" y="2851945"/>
            <a:ext cx="1857213" cy="201721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6307138" y="3197372"/>
          <a:ext cx="2274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175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sp>
        <p:nvSpPr>
          <p:cNvPr id="8" name="弧形箭號 (左彎) 7"/>
          <p:cNvSpPr/>
          <p:nvPr/>
        </p:nvSpPr>
        <p:spPr>
          <a:xfrm flipV="1">
            <a:off x="8673479" y="4005063"/>
            <a:ext cx="731520" cy="20826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大括弧 2"/>
          <p:cNvSpPr/>
          <p:nvPr/>
        </p:nvSpPr>
        <p:spPr>
          <a:xfrm>
            <a:off x="8673478" y="2719387"/>
            <a:ext cx="45719" cy="1205321"/>
          </a:xfrm>
          <a:prstGeom prst="rightBrace">
            <a:avLst/>
          </a:prstGeom>
          <a:noFill/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861818" y="3239658"/>
            <a:ext cx="837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stack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24118" y="2719387"/>
            <a:ext cx="2248382" cy="441723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09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mtClean="0"/>
              <a:t>複習結束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81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/>
              <a:t>System Calls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Operating-System </a:t>
            </a:r>
            <a:r>
              <a:rPr lang="en-US" altLang="zh-TW" b="1" dirty="0">
                <a:solidFill>
                  <a:srgbClr val="FF0000"/>
                </a:solidFill>
              </a:rPr>
              <a:t>Design and Implementation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196840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/>
              <a:t>System Calls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Operating-System </a:t>
            </a:r>
            <a:r>
              <a:rPr lang="en-US" altLang="zh-TW" b="1" dirty="0">
                <a:solidFill>
                  <a:srgbClr val="FF0000"/>
                </a:solidFill>
              </a:rPr>
              <a:t>Design and Implementation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Mechanism and policies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Operating-System Structure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303590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Mechanisms and Policies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Example: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Mechanism: priority-based systems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Policy: A program have priority over B program or vice versa.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800" dirty="0"/>
              <a:t>Important principle to separate </a:t>
            </a:r>
            <a:r>
              <a:rPr lang="en-US" altLang="zh-TW" sz="2800" dirty="0"/>
              <a:t>mechanism and policies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Mechanism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b="1" i="1" dirty="0">
                <a:solidFill>
                  <a:srgbClr val="FF3300"/>
                </a:solidFill>
              </a:rPr>
              <a:t>How</a:t>
            </a:r>
            <a:r>
              <a:rPr lang="en-US" altLang="zh-TW" sz="2000" dirty="0"/>
              <a:t> to do it?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Should be </a:t>
            </a:r>
            <a:r>
              <a:rPr lang="en-US" altLang="zh-TW" sz="2000" b="1" dirty="0"/>
              <a:t>insensitive</a:t>
            </a:r>
            <a:r>
              <a:rPr lang="en-US" altLang="zh-TW" sz="2000" dirty="0"/>
              <a:t> to changes in policy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Policy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b="1" i="1" dirty="0">
                <a:solidFill>
                  <a:srgbClr val="FF3300"/>
                </a:solidFill>
              </a:rPr>
              <a:t>What</a:t>
            </a:r>
            <a:r>
              <a:rPr lang="en-US" altLang="zh-TW" sz="2000" dirty="0"/>
              <a:t> will be done?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Likely to change across places or over time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Separation of policy from mechanism for </a:t>
            </a:r>
            <a:r>
              <a:rPr lang="en-US" altLang="zh-TW" sz="2400" b="1" i="1" dirty="0">
                <a:solidFill>
                  <a:srgbClr val="FF3300"/>
                </a:solidFill>
              </a:rPr>
              <a:t>flexibility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dirty="0"/>
              <a:t>Layered approach</a:t>
            </a:r>
          </a:p>
          <a:p>
            <a:pPr lvl="1" eaLnBrk="1" hangingPunct="1"/>
            <a:r>
              <a:rPr lang="en-US" altLang="zh-TW" dirty="0"/>
              <a:t>Microkernels</a:t>
            </a:r>
          </a:p>
          <a:p>
            <a:pPr lvl="1" eaLnBrk="1" hangingPunct="1"/>
            <a:r>
              <a:rPr lang="en-US" altLang="zh-TW" dirty="0"/>
              <a:t>Modules</a:t>
            </a:r>
          </a:p>
          <a:p>
            <a:pPr lvl="1" eaLnBrk="1" hangingPunct="1"/>
            <a:r>
              <a:rPr lang="en-US" altLang="zh-TW" dirty="0"/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9021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Monolithic (</a:t>
            </a:r>
            <a:r>
              <a:rPr lang="zh-TW" altLang="en-US" b="1" dirty="0">
                <a:solidFill>
                  <a:srgbClr val="FF0000"/>
                </a:solidFill>
              </a:rPr>
              <a:t>龐大的</a:t>
            </a:r>
            <a:r>
              <a:rPr lang="en-US" altLang="zh-TW" b="1" dirty="0">
                <a:solidFill>
                  <a:srgbClr val="FF0000"/>
                </a:solidFill>
              </a:rPr>
              <a:t>) structure</a:t>
            </a:r>
          </a:p>
          <a:p>
            <a:pPr lvl="1" eaLnBrk="1" hangingPunct="1"/>
            <a:r>
              <a:rPr lang="en-US" altLang="zh-TW" dirty="0"/>
              <a:t>Layered approach</a:t>
            </a:r>
          </a:p>
          <a:p>
            <a:pPr lvl="1" eaLnBrk="1" hangingPunct="1"/>
            <a:r>
              <a:rPr lang="en-US" altLang="zh-TW" dirty="0"/>
              <a:t>Microkernels</a:t>
            </a:r>
          </a:p>
          <a:p>
            <a:pPr lvl="1" eaLnBrk="1" hangingPunct="1"/>
            <a:r>
              <a:rPr lang="en-US" altLang="zh-TW" dirty="0"/>
              <a:t>Modules</a:t>
            </a:r>
          </a:p>
          <a:p>
            <a:pPr lvl="1" eaLnBrk="1" hangingPunct="1"/>
            <a:r>
              <a:rPr lang="en-US" altLang="zh-TW" dirty="0"/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7731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Monolithic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Do not have well-defined structures</a:t>
            </a:r>
          </a:p>
          <a:p>
            <a:endParaRPr lang="en-US" altLang="zh-TW" dirty="0"/>
          </a:p>
          <a:p>
            <a:r>
              <a:rPr lang="en-US" altLang="zh-TW" dirty="0"/>
              <a:t>Examples</a:t>
            </a:r>
          </a:p>
          <a:p>
            <a:pPr lvl="1"/>
            <a:r>
              <a:rPr lang="en-US" altLang="zh-TW" dirty="0"/>
              <a:t>MS-DOS:  </a:t>
            </a:r>
          </a:p>
          <a:p>
            <a:pPr lvl="1"/>
            <a:r>
              <a:rPr lang="en-US" altLang="zh-TW" dirty="0"/>
              <a:t>Original UNIX -</a:t>
            </a:r>
          </a:p>
          <a:p>
            <a:pPr lvl="2"/>
            <a:r>
              <a:rPr lang="en-US" altLang="zh-TW" dirty="0"/>
              <a:t>Everything between the </a:t>
            </a:r>
            <a:r>
              <a:rPr lang="en-US" altLang="zh-TW" b="1" dirty="0"/>
              <a:t>system call interface </a:t>
            </a:r>
            <a:r>
              <a:rPr lang="en-US" altLang="zh-TW" dirty="0"/>
              <a:t>and </a:t>
            </a:r>
            <a:r>
              <a:rPr lang="en-US" altLang="zh-TW" b="1" dirty="0"/>
              <a:t>physical hardware </a:t>
            </a:r>
            <a:r>
              <a:rPr lang="en-US" altLang="zh-TW" dirty="0"/>
              <a:t>is the kernel.</a:t>
            </a:r>
          </a:p>
          <a:p>
            <a:pPr lvl="2"/>
            <a:r>
              <a:rPr lang="en-US" altLang="zh-TW" dirty="0"/>
              <a:t>An enormous amount of functions </a:t>
            </a:r>
            <a:r>
              <a:rPr lang="en-US" altLang="zh-TW" b="1" dirty="0"/>
              <a:t>in one level</a:t>
            </a:r>
            <a:r>
              <a:rPr lang="en-US" altLang="zh-TW" dirty="0"/>
              <a:t>=&gt; </a:t>
            </a:r>
            <a:r>
              <a:rPr lang="en-US" altLang="zh-TW" b="1" i="1" dirty="0">
                <a:solidFill>
                  <a:srgbClr val="FF0000"/>
                </a:solidFill>
              </a:rPr>
              <a:t>monolithic (</a:t>
            </a:r>
            <a:r>
              <a:rPr lang="zh-TW" altLang="en-US" b="1" i="1" dirty="0">
                <a:solidFill>
                  <a:srgbClr val="FF0000"/>
                </a:solidFill>
              </a:rPr>
              <a:t>龐大的</a:t>
            </a:r>
            <a:r>
              <a:rPr lang="en-US" altLang="zh-TW" b="1" i="1" dirty="0">
                <a:solidFill>
                  <a:srgbClr val="FF0000"/>
                </a:solidFill>
              </a:rPr>
              <a:t>) kernel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23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Original UNIX Architecture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689" y="1268761"/>
            <a:ext cx="7740848" cy="4824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92313" y="53752"/>
            <a:ext cx="8229600" cy="1143000"/>
          </a:xfrm>
        </p:spPr>
        <p:txBody>
          <a:bodyPr/>
          <a:lstStyle/>
          <a:p>
            <a:r>
              <a:rPr lang="en-US" altLang="zh-TW" dirty="0"/>
              <a:t>Monolithic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dirty="0"/>
              <a:t>Bad: Difficult to implement and extend</a:t>
            </a:r>
          </a:p>
          <a:p>
            <a:pPr lvl="1" eaLnBrk="1" hangingPunct="1"/>
            <a:r>
              <a:rPr lang="en-US" altLang="zh-TW" dirty="0"/>
              <a:t>Good: Have a distinct performance advantage</a:t>
            </a:r>
          </a:p>
          <a:p>
            <a:pPr lvl="2" eaLnBrk="1" hangingPunct="1"/>
            <a:r>
              <a:rPr lang="en-US" altLang="zh-TW" b="1" dirty="0"/>
              <a:t>Very little overhead </a:t>
            </a:r>
            <a:r>
              <a:rPr lang="en-US" altLang="zh-TW" dirty="0"/>
              <a:t>in the system-call interface and communication within the kernel is </a:t>
            </a:r>
            <a:r>
              <a:rPr lang="en-US" altLang="zh-TW" b="1" dirty="0"/>
              <a:t>fast</a:t>
            </a:r>
          </a:p>
          <a:p>
            <a:pPr lvl="2"/>
            <a:r>
              <a:rPr lang="en-US" altLang="zh-TW" dirty="0"/>
              <a:t>Discussed later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Thus, UNIX, Linux and Windows are monolithic kernels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730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Layered approach</a:t>
            </a:r>
          </a:p>
          <a:p>
            <a:pPr lvl="1" eaLnBrk="1" hangingPunct="1"/>
            <a:r>
              <a:rPr lang="en-US" altLang="zh-TW" dirty="0"/>
              <a:t>Microkernels</a:t>
            </a:r>
          </a:p>
          <a:p>
            <a:pPr lvl="1" eaLnBrk="1" hangingPunct="1"/>
            <a:r>
              <a:rPr lang="en-US" altLang="zh-TW" dirty="0"/>
              <a:t>Modules</a:t>
            </a:r>
          </a:p>
          <a:p>
            <a:pPr lvl="1" eaLnBrk="1" hangingPunct="1"/>
            <a:r>
              <a:rPr lang="en-US" altLang="zh-TW" dirty="0"/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18917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Layered Approach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800" dirty="0"/>
              <a:t>OS is divided into a number of layers</a:t>
            </a:r>
          </a:p>
          <a:p>
            <a:pPr eaLnBrk="1" hangingPunct="1">
              <a:spcBef>
                <a:spcPts val="600"/>
              </a:spcBef>
            </a:pPr>
            <a:endParaRPr lang="en-US" altLang="zh-TW" sz="2800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sz="2800" dirty="0" smtClean="0"/>
              <a:t>Layer </a:t>
            </a:r>
            <a:r>
              <a:rPr lang="en-US" altLang="zh-TW" sz="2800" dirty="0"/>
              <a:t>approach: each layer uses </a:t>
            </a:r>
            <a:r>
              <a:rPr lang="en-US" altLang="zh-TW" sz="2800" i="1" dirty="0">
                <a:solidFill>
                  <a:srgbClr val="FF3300"/>
                </a:solidFill>
              </a:rPr>
              <a:t>functions</a:t>
            </a:r>
            <a:r>
              <a:rPr lang="en-US" altLang="zh-TW" sz="2800" dirty="0"/>
              <a:t> </a:t>
            </a:r>
            <a:r>
              <a:rPr lang="en-US" altLang="zh-TW" sz="2800" i="1" dirty="0">
                <a:solidFill>
                  <a:srgbClr val="FF3300"/>
                </a:solidFill>
              </a:rPr>
              <a:t>and services of only lower-level layers</a:t>
            </a:r>
          </a:p>
          <a:p>
            <a:pPr eaLnBrk="1" hangingPunct="1">
              <a:spcBef>
                <a:spcPts val="600"/>
              </a:spcBef>
            </a:pPr>
            <a:endParaRPr lang="en-US" altLang="zh-TW" sz="2800" dirty="0" smtClean="0"/>
          </a:p>
          <a:p>
            <a:pPr eaLnBrk="1" hangingPunct="1">
              <a:spcBef>
                <a:spcPts val="600"/>
              </a:spcBef>
            </a:pPr>
            <a:r>
              <a:rPr lang="en-US" altLang="zh-TW" sz="2800" dirty="0" smtClean="0"/>
              <a:t>Advantages</a:t>
            </a:r>
            <a:r>
              <a:rPr lang="en-US" altLang="zh-TW" sz="2800" dirty="0"/>
              <a:t>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Simplicity of construction and debugging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Starts from the lowest layer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Information hiding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Do not have to know the details of the other layers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TCP/IP and OSI </a:t>
            </a:r>
            <a:r>
              <a:rPr lang="en-US" altLang="zh-TW" dirty="0" smtClean="0"/>
              <a:t>Model</a:t>
            </a:r>
            <a:endParaRPr lang="zh-TW" alt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5480" y="1325564"/>
            <a:ext cx="9145016" cy="499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99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File </a:t>
            </a:r>
            <a:r>
              <a:rPr lang="en-US" altLang="zh-TW" sz="4000" dirty="0"/>
              <a:t>System Organized into Layers</a:t>
            </a: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 l="31671" t="1004" r="31880" b="1004"/>
          <a:stretch>
            <a:fillRect/>
          </a:stretch>
        </p:blipFill>
        <p:spPr bwMode="auto">
          <a:xfrm>
            <a:off x="3648075" y="1268760"/>
            <a:ext cx="4535488" cy="511457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Layered Approach (Cont.)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Difficulties</a:t>
            </a:r>
          </a:p>
          <a:p>
            <a:pPr lvl="1" eaLnBrk="1" hangingPunct="1"/>
            <a:r>
              <a:rPr lang="en-US" altLang="zh-TW" dirty="0"/>
              <a:t>Hard to determine the number of layers</a:t>
            </a:r>
          </a:p>
          <a:p>
            <a:pPr lvl="1" eaLnBrk="1" hangingPunct="1"/>
            <a:r>
              <a:rPr lang="en-US" altLang="zh-TW" dirty="0"/>
              <a:t>Hard to define functionality of each layer</a:t>
            </a:r>
          </a:p>
          <a:p>
            <a:pPr lvl="1" eaLnBrk="1" hangingPunct="1"/>
            <a:r>
              <a:rPr lang="en-US" altLang="zh-TW" dirty="0"/>
              <a:t>Less efficient</a:t>
            </a:r>
          </a:p>
          <a:p>
            <a:pPr lvl="2" eaLnBrk="1" hangingPunct="1"/>
            <a:r>
              <a:rPr lang="en-US" altLang="zh-TW" dirty="0"/>
              <a:t>A service may involve multiple layers</a:t>
            </a:r>
          </a:p>
          <a:p>
            <a:pPr lvl="2" eaLnBrk="1" hangingPunct="1"/>
            <a:r>
              <a:rPr lang="en-US" altLang="zh-TW" dirty="0"/>
              <a:t>But each layer adds overhead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Trend: </a:t>
            </a:r>
            <a:r>
              <a:rPr lang="en-US" altLang="zh-TW" i="1" dirty="0">
                <a:solidFill>
                  <a:srgbClr val="FF3300"/>
                </a:solidFill>
              </a:rPr>
              <a:t>fewer layers</a:t>
            </a:r>
            <a:r>
              <a:rPr lang="en-US" altLang="zh-TW" dirty="0"/>
              <a:t> with more functionality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dirty="0"/>
              <a:t>Layered approach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Microkernels</a:t>
            </a:r>
          </a:p>
          <a:p>
            <a:pPr lvl="1" eaLnBrk="1" hangingPunct="1"/>
            <a:r>
              <a:rPr lang="en-US" altLang="zh-TW" dirty="0"/>
              <a:t>Modules</a:t>
            </a:r>
          </a:p>
          <a:p>
            <a:pPr lvl="1" eaLnBrk="1" hangingPunct="1"/>
            <a:r>
              <a:rPr lang="en-US" altLang="zh-TW" dirty="0"/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5479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Question: UNIX </a:t>
            </a:r>
            <a:r>
              <a:rPr lang="en-US" altLang="zh-TW" dirty="0"/>
              <a:t>became large and difficult to </a:t>
            </a:r>
            <a:r>
              <a:rPr lang="en-US" altLang="zh-TW" dirty="0" smtClean="0"/>
              <a:t>manage (</a:t>
            </a:r>
            <a:r>
              <a:rPr lang="en-US" altLang="zh-TW" dirty="0"/>
              <a:t>OS</a:t>
            </a:r>
            <a:r>
              <a:rPr lang="zh-TW" altLang="en-US" dirty="0"/>
              <a:t>太龐大</a:t>
            </a:r>
            <a:r>
              <a:rPr lang="zh-TW" altLang="en-US" dirty="0" smtClean="0"/>
              <a:t>了</a:t>
            </a:r>
            <a:r>
              <a:rPr lang="en-US" altLang="zh-TW" dirty="0" smtClean="0"/>
              <a:t>).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縮小</a:t>
            </a:r>
            <a:r>
              <a:rPr lang="en-US" altLang="zh-TW" dirty="0" smtClean="0"/>
              <a:t>! </a:t>
            </a:r>
            <a:r>
              <a:rPr lang="zh-TW" altLang="en-US" dirty="0" smtClean="0"/>
              <a:t>但如何縮小</a:t>
            </a:r>
            <a:r>
              <a:rPr lang="en-US" altLang="zh-TW" dirty="0" smtClean="0"/>
              <a:t>OS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208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Microkernel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/>
              <a:t>Idea: moves as much from the kernel into </a:t>
            </a:r>
            <a:r>
              <a:rPr lang="en-US" altLang="zh-TW" sz="3600" b="1" dirty="0">
                <a:solidFill>
                  <a:srgbClr val="FF3300"/>
                </a:solidFill>
              </a:rPr>
              <a:t>user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A smaller </a:t>
            </a:r>
            <a:r>
              <a:rPr lang="en-US" altLang="zh-TW" sz="3200" dirty="0" smtClean="0"/>
              <a:t>kernel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zh-TW" altLang="en-US" sz="3200" dirty="0" smtClean="0"/>
              <a:t>移到</a:t>
            </a:r>
            <a:r>
              <a:rPr lang="en-US" altLang="zh-TW" sz="3200" dirty="0" smtClean="0"/>
              <a:t>user space</a:t>
            </a:r>
            <a:r>
              <a:rPr lang="zh-TW" altLang="en-US" sz="3200" dirty="0" smtClean="0"/>
              <a:t>的稱為</a:t>
            </a:r>
            <a:r>
              <a:rPr lang="en-US" altLang="zh-TW" sz="3200" b="1" dirty="0" smtClean="0">
                <a:solidFill>
                  <a:srgbClr val="FF3300"/>
                </a:solidFill>
              </a:rPr>
              <a:t>services</a:t>
            </a:r>
            <a:r>
              <a:rPr lang="en-US" altLang="zh-TW" sz="3200" dirty="0" smtClean="0"/>
              <a:t> (or </a:t>
            </a:r>
            <a:r>
              <a:rPr lang="en-US" altLang="zh-TW" sz="3200" b="1" dirty="0" smtClean="0">
                <a:solidFill>
                  <a:srgbClr val="FF3300"/>
                </a:solidFill>
              </a:rPr>
              <a:t>servers</a:t>
            </a:r>
            <a:r>
              <a:rPr lang="en-US" altLang="zh-TW" sz="3200" dirty="0" smtClean="0"/>
              <a:t>)</a:t>
            </a:r>
            <a:endParaRPr lang="en-US" altLang="zh-TW" sz="3200" dirty="0"/>
          </a:p>
          <a:p>
            <a:pPr lvl="1" eaLnBrk="1" hangingPunct="1">
              <a:lnSpc>
                <a:spcPct val="90000"/>
              </a:lnSpc>
            </a:pPr>
            <a:endParaRPr lang="en-US" altLang="zh-TW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Mach</a:t>
            </a:r>
            <a:r>
              <a:rPr lang="en-US" altLang="zh-TW" sz="3200" dirty="0"/>
              <a:t>: the first microkernel by </a:t>
            </a:r>
            <a:r>
              <a:rPr lang="en-US" altLang="zh-TW" sz="3200" b="1" dirty="0"/>
              <a:t>CMU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b="1" dirty="0" smtClean="0"/>
          </a:p>
          <a:p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395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Microkernel System Structure </a:t>
            </a:r>
            <a:r>
              <a:rPr lang="en-US" altLang="en-US" sz="3600" dirty="0" smtClean="0"/>
              <a:t>(Introduced Later)</a:t>
            </a:r>
            <a:endParaRPr lang="zh-TW" altLang="en-US" sz="3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644650"/>
            <a:ext cx="10657184" cy="45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4943872" y="1196752"/>
            <a:ext cx="10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40216" y="1196752"/>
            <a:ext cx="10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8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4800" dirty="0" smtClean="0">
                <a:solidFill>
                  <a:schemeClr val="tx1"/>
                </a:solidFill>
              </a:rPr>
              <a:t>Q1: What </a:t>
            </a:r>
            <a:r>
              <a:rPr lang="en-US" altLang="zh-TW" sz="4800" dirty="0">
                <a:solidFill>
                  <a:schemeClr val="tx1"/>
                </a:solidFill>
              </a:rPr>
              <a:t>a microkernel should provide </a:t>
            </a:r>
            <a:r>
              <a:rPr lang="en-US" altLang="zh-TW" sz="4800" dirty="0" smtClean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dirty="0" err="1" smtClean="0"/>
              <a:t>Ans</a:t>
            </a:r>
            <a:r>
              <a:rPr lang="en-US" altLang="zh-TW" b="0" dirty="0"/>
              <a:t>: </a:t>
            </a:r>
            <a:r>
              <a:rPr lang="en-US" altLang="zh-TW" b="0" dirty="0" smtClean="0"/>
              <a:t>minimal </a:t>
            </a:r>
            <a:r>
              <a:rPr lang="en-US" altLang="zh-TW" dirty="0">
                <a:solidFill>
                  <a:srgbClr val="FF3300"/>
                </a:solidFill>
              </a:rPr>
              <a:t>process</a:t>
            </a:r>
            <a:r>
              <a:rPr lang="en-US" altLang="zh-TW" b="0" dirty="0"/>
              <a:t> </a:t>
            </a:r>
            <a:r>
              <a:rPr lang="en-US" altLang="zh-TW" dirty="0">
                <a:solidFill>
                  <a:srgbClr val="FF3300"/>
                </a:solidFill>
              </a:rPr>
              <a:t>management</a:t>
            </a:r>
            <a:r>
              <a:rPr lang="en-US" altLang="zh-TW" b="0" dirty="0" smtClean="0"/>
              <a:t> and </a:t>
            </a:r>
            <a:r>
              <a:rPr lang="en-US" altLang="zh-TW" dirty="0">
                <a:solidFill>
                  <a:srgbClr val="FF3300"/>
                </a:solidFill>
              </a:rPr>
              <a:t>memory management</a:t>
            </a:r>
            <a:r>
              <a:rPr lang="en-US" altLang="zh-TW" b="0" dirty="0"/>
              <a:t>, and a </a:t>
            </a:r>
            <a:r>
              <a:rPr lang="en-US" altLang="zh-TW" dirty="0">
                <a:solidFill>
                  <a:srgbClr val="FF3300"/>
                </a:solidFill>
              </a:rPr>
              <a:t>communication</a:t>
            </a:r>
            <a:r>
              <a:rPr lang="en-US" altLang="zh-TW" b="0" dirty="0"/>
              <a:t> </a:t>
            </a:r>
            <a:r>
              <a:rPr lang="en-US" altLang="zh-TW" b="0" dirty="0" smtClean="0"/>
              <a:t>facility (introduced later)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20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Q2:</a:t>
            </a:r>
            <a:r>
              <a:rPr lang="zh-TW" altLang="en-US" sz="4000" dirty="0" smtClean="0"/>
              <a:t>如果應用程式要存取檔案系統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但是檔案系統現在也是一個應用程式</a:t>
            </a:r>
            <a:r>
              <a:rPr lang="en-US" altLang="zh-TW" sz="4000" dirty="0" smtClean="0"/>
              <a:t>(</a:t>
            </a:r>
            <a:r>
              <a:rPr lang="en-US" altLang="zh-TW" sz="4000" dirty="0" smtClean="0">
                <a:solidFill>
                  <a:srgbClr val="FF3300"/>
                </a:solidFill>
              </a:rPr>
              <a:t>services</a:t>
            </a:r>
            <a:r>
              <a:rPr lang="en-US" altLang="zh-TW" sz="4000" dirty="0" smtClean="0"/>
              <a:t>), </a:t>
            </a:r>
            <a:r>
              <a:rPr lang="zh-TW" altLang="en-US" sz="4000" dirty="0" smtClean="0"/>
              <a:t>怎麼辦呢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lvl="0" indent="-342900" algn="l" eaLnBrk="1" hangingPunct="1">
              <a:lnSpc>
                <a:spcPct val="90000"/>
              </a:lnSpc>
              <a:buFontTx/>
              <a:buChar char="•"/>
            </a:pPr>
            <a:endParaRPr lang="en-US" altLang="zh-TW" sz="2800" smtClean="0">
              <a:solidFill>
                <a:srgbClr val="000000"/>
              </a:solidFill>
            </a:endParaRPr>
          </a:p>
          <a:p>
            <a:pPr marL="342900" lvl="0" indent="-342900" algn="l" eaLnBrk="1" hangingPunct="1">
              <a:lnSpc>
                <a:spcPct val="90000"/>
              </a:lnSpc>
              <a:buFontTx/>
              <a:buChar char="•"/>
            </a:pPr>
            <a:r>
              <a:rPr lang="en-US" altLang="zh-TW" sz="2800" dirty="0" smtClean="0">
                <a:solidFill>
                  <a:srgbClr val="000000"/>
                </a:solidFill>
              </a:rPr>
              <a:t>By</a:t>
            </a:r>
            <a:r>
              <a:rPr lang="en-US" altLang="zh-TW" sz="2800" dirty="0" smtClean="0">
                <a:solidFill>
                  <a:srgbClr val="FF3300"/>
                </a:solidFill>
              </a:rPr>
              <a:t> message passing</a:t>
            </a:r>
            <a:r>
              <a:rPr lang="en-US" altLang="zh-TW" sz="2800" dirty="0" smtClean="0">
                <a:solidFill>
                  <a:srgbClr val="000000"/>
                </a:solidFill>
              </a:rPr>
              <a:t> communication </a:t>
            </a:r>
            <a:r>
              <a:rPr lang="en-US" altLang="zh-TW" sz="2800" dirty="0">
                <a:solidFill>
                  <a:srgbClr val="000000"/>
                </a:solidFill>
              </a:rPr>
              <a:t>facility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Provide communication between </a:t>
            </a:r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client programs</a:t>
            </a: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 and the various</a:t>
            </a:r>
            <a:r>
              <a:rPr lang="en-US" altLang="zh-TW" sz="2400" i="1" dirty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 </a:t>
            </a:r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services </a:t>
            </a: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(introduced later)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20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Microkernel (Cont.)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Easier to extend the OS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By adding </a:t>
            </a:r>
            <a:r>
              <a:rPr lang="en-US" altLang="zh-TW" sz="2000" b="1" dirty="0">
                <a:solidFill>
                  <a:srgbClr val="FF0000"/>
                </a:solidFill>
              </a:rPr>
              <a:t>new services </a:t>
            </a:r>
            <a:r>
              <a:rPr lang="en-US" altLang="zh-TW" sz="2000" dirty="0"/>
              <a:t>and do not require kernel modification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Easier to port the OS to new architectures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The kernel is small and the changes tend to be fewer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More reliable and more secure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Most services are running as user processes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If a service failed, the rest of the OS remains untouched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Disadvantages</a:t>
            </a:r>
            <a:r>
              <a:rPr lang="en-US" altLang="zh-TW" sz="28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i="1" dirty="0">
                <a:solidFill>
                  <a:srgbClr val="FF3300"/>
                </a:solidFill>
              </a:rPr>
              <a:t>Performance overhead by </a:t>
            </a:r>
            <a:r>
              <a:rPr lang="en-US" altLang="zh-TW" sz="2400" b="1" i="1" dirty="0">
                <a:solidFill>
                  <a:srgbClr val="0000FF"/>
                </a:solidFill>
              </a:rPr>
              <a:t>message passing </a:t>
            </a:r>
            <a:r>
              <a:rPr lang="en-US" altLang="zh-TW" sz="2400" b="1" i="1" dirty="0">
                <a:solidFill>
                  <a:srgbClr val="FF3300"/>
                </a:solidFill>
              </a:rPr>
              <a:t>between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Window NT: microkernel, Windows XP: a monolithic kernel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為什麼</a:t>
            </a:r>
            <a:r>
              <a:rPr lang="en-US" altLang="zh-TW" b="1" dirty="0"/>
              <a:t>Message Passing</a:t>
            </a:r>
            <a:r>
              <a:rPr lang="zh-TW" altLang="en-US" b="1" dirty="0"/>
              <a:t>會造成很大的</a:t>
            </a:r>
            <a:r>
              <a:rPr lang="en-US" altLang="zh-TW" b="1" dirty="0"/>
              <a:t>overhead</a:t>
            </a:r>
            <a:r>
              <a:rPr lang="zh-TW" altLang="en-US" b="1" dirty="0"/>
              <a:t>呢？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第三章我們會介紹</a:t>
            </a:r>
          </a:p>
        </p:txBody>
      </p:sp>
    </p:spTree>
    <p:extLst>
      <p:ext uri="{BB962C8B-B14F-4D97-AF65-F5344CB8AC3E}">
        <p14:creationId xmlns:p14="http://schemas.microsoft.com/office/powerpoint/2010/main" val="302287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dirty="0"/>
              <a:t>Layered approach</a:t>
            </a:r>
          </a:p>
          <a:p>
            <a:pPr lvl="1" eaLnBrk="1" hangingPunct="1"/>
            <a:r>
              <a:rPr lang="en-US" altLang="zh-TW" dirty="0"/>
              <a:t>Microkernels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Modules</a:t>
            </a:r>
          </a:p>
          <a:p>
            <a:pPr lvl="1" eaLnBrk="1" hangingPunct="1"/>
            <a:r>
              <a:rPr lang="en-US" altLang="zh-TW" dirty="0"/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3784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Modules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/>
              <a:t>Best current methodology in OS design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3600" dirty="0"/>
              <a:t>An OS consists 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A core kernel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A set of </a:t>
            </a:r>
            <a:r>
              <a:rPr lang="en-US" altLang="zh-TW" sz="3200" b="1" dirty="0">
                <a:solidFill>
                  <a:srgbClr val="FF0000"/>
                </a:solidFill>
              </a:rPr>
              <a:t>loadable kernel modules (LKMs) </a:t>
            </a:r>
            <a:r>
              <a:rPr lang="en-US" altLang="zh-TW" sz="3200" dirty="0"/>
              <a:t>that can </a:t>
            </a:r>
            <a:r>
              <a:rPr lang="en-US" altLang="zh-TW" sz="3200" b="1" dirty="0"/>
              <a:t>dynamically loadable</a:t>
            </a:r>
            <a:r>
              <a:rPr lang="en-US" altLang="zh-TW" sz="3200" b="1" i="1" dirty="0"/>
              <a:t> </a:t>
            </a:r>
            <a:r>
              <a:rPr lang="en-US" altLang="zh-TW" sz="3200" dirty="0"/>
              <a:t>at </a:t>
            </a:r>
            <a:r>
              <a:rPr lang="en-US" altLang="zh-TW" sz="3200" b="1" dirty="0"/>
              <a:t>run time</a:t>
            </a:r>
          </a:p>
          <a:p>
            <a:pPr lvl="2" eaLnBrk="1" hangingPunct="1">
              <a:lnSpc>
                <a:spcPct val="90000"/>
              </a:lnSpc>
            </a:pPr>
            <a:endParaRPr lang="en-US" altLang="zh-TW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Modules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963080"/>
            <a:ext cx="8001000" cy="255415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32" y="1268760"/>
            <a:ext cx="3781425" cy="136677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085" y="1283054"/>
            <a:ext cx="3781425" cy="1366779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6370683" y="6627168"/>
            <a:ext cx="5793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b="1" i="1" dirty="0">
                <a:latin typeface="Calibri" panose="020F0502020204030204" pitchFamily="34" charset="0"/>
              </a:rPr>
              <a:t>https://www.researchgate.net/figure/Interaction-of-Linux-kernel-modules-with-their-environment_fig1_299373758</a:t>
            </a:r>
            <a:endParaRPr lang="zh-TW" altLang="en-US" sz="900" b="1" i="1" dirty="0">
              <a:latin typeface="Calibri" panose="020F050202020403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67408" y="5805264"/>
            <a:ext cx="11180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 smtClean="0"/>
              <a:t>Linux kernel consists of a </a:t>
            </a:r>
            <a:r>
              <a:rPr lang="en-US" altLang="zh-TW" sz="2800" b="1" dirty="0">
                <a:solidFill>
                  <a:srgbClr val="FF3300"/>
                </a:solidFill>
              </a:rPr>
              <a:t>core kernel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and a set of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kernel </a:t>
            </a:r>
            <a:r>
              <a:rPr lang="en-US" altLang="zh-TW" sz="2800" b="1" dirty="0">
                <a:solidFill>
                  <a:srgbClr val="FF3300"/>
                </a:solidFill>
              </a:rPr>
              <a:t>modules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2351584" y="4188685"/>
            <a:ext cx="1368152" cy="7128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863752" y="4178897"/>
            <a:ext cx="1368152" cy="7128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5408172" y="4198472"/>
            <a:ext cx="1368152" cy="7128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7998025" y="4168958"/>
            <a:ext cx="1368152" cy="7128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zh-TW" altLang="en-US" sz="2400" b="1" dirty="0">
              <a:solidFill>
                <a:srgbClr val="FF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88088" y="4005064"/>
            <a:ext cx="982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>
                <a:solidFill>
                  <a:srgbClr val="FF3300"/>
                </a:solidFill>
              </a:rPr>
              <a:t>…..</a:t>
            </a:r>
            <a:endParaRPr lang="zh-TW" altLang="en-US" sz="40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3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Operating System Services</a:t>
            </a:r>
          </a:p>
          <a:p>
            <a:pPr eaLnBrk="1" hangingPunct="1"/>
            <a:r>
              <a:rPr lang="en-US" altLang="zh-TW" dirty="0" smtClean="0"/>
              <a:t>System </a:t>
            </a:r>
            <a:r>
              <a:rPr lang="en-US" altLang="zh-TW" dirty="0"/>
              <a:t>Calls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Design and Implementation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Operating-System Structure</a:t>
            </a:r>
          </a:p>
          <a:p>
            <a:pPr lvl="1" eaLnBrk="1" hangingPunct="1"/>
            <a:r>
              <a:rPr lang="en-US" altLang="zh-TW" dirty="0"/>
              <a:t>Monolithic structure</a:t>
            </a:r>
          </a:p>
          <a:p>
            <a:pPr lvl="1" eaLnBrk="1" hangingPunct="1"/>
            <a:r>
              <a:rPr lang="en-US" altLang="zh-TW" dirty="0"/>
              <a:t>Layered approach</a:t>
            </a:r>
          </a:p>
          <a:p>
            <a:pPr lvl="1" eaLnBrk="1" hangingPunct="1"/>
            <a:r>
              <a:rPr lang="en-US" altLang="zh-TW" dirty="0"/>
              <a:t>Microkernels</a:t>
            </a:r>
          </a:p>
          <a:p>
            <a:pPr lvl="1" eaLnBrk="1" hangingPunct="1"/>
            <a:r>
              <a:rPr lang="en-US" altLang="zh-TW" dirty="0"/>
              <a:t>Modules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Hybrid systems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809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Hybrid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Modern operating systems do not adopt a single structure</a:t>
            </a:r>
          </a:p>
          <a:p>
            <a:pPr lvl="1"/>
            <a:r>
              <a:rPr lang="en-US" altLang="zh-TW" b="1" dirty="0"/>
              <a:t>Hybrid</a:t>
            </a:r>
            <a:r>
              <a:rPr lang="en-US" altLang="zh-TW" dirty="0"/>
              <a:t> systems combine multiple structures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Linux is </a:t>
            </a:r>
            <a:r>
              <a:rPr lang="en-US" altLang="zh-TW" b="1" dirty="0"/>
              <a:t>monolithic</a:t>
            </a:r>
            <a:r>
              <a:rPr lang="en-US" altLang="zh-TW" dirty="0"/>
              <a:t>, </a:t>
            </a:r>
          </a:p>
          <a:p>
            <a:pPr lvl="2"/>
            <a:r>
              <a:rPr lang="en-US" altLang="zh-TW" dirty="0"/>
              <a:t>+ </a:t>
            </a:r>
            <a:r>
              <a:rPr lang="en-US" altLang="zh-TW" b="1" dirty="0"/>
              <a:t>modules </a:t>
            </a:r>
            <a:r>
              <a:rPr lang="en-US" altLang="zh-TW" dirty="0"/>
              <a:t>for dynamic loading of functionality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Windows is mostly </a:t>
            </a:r>
            <a:r>
              <a:rPr lang="en-US" altLang="zh-TW" b="1" dirty="0">
                <a:solidFill>
                  <a:srgbClr val="FF0000"/>
                </a:solidFill>
              </a:rPr>
              <a:t>monolithic</a:t>
            </a:r>
          </a:p>
          <a:p>
            <a:pPr lvl="2"/>
            <a:r>
              <a:rPr lang="en-US" altLang="zh-TW" dirty="0"/>
              <a:t>+ </a:t>
            </a:r>
            <a:r>
              <a:rPr lang="en-US" altLang="zh-TW" b="1" dirty="0"/>
              <a:t>personalities (user-level services) </a:t>
            </a:r>
            <a:r>
              <a:rPr lang="en-US" altLang="zh-TW" b="1" dirty="0">
                <a:solidFill>
                  <a:srgbClr val="FF0000"/>
                </a:solidFill>
              </a:rPr>
              <a:t>(microkernel)</a:t>
            </a:r>
            <a:r>
              <a:rPr lang="en-US" altLang="zh-TW" dirty="0"/>
              <a:t> </a:t>
            </a:r>
            <a:endParaRPr lang="en-US" altLang="zh-TW" b="1" i="1" dirty="0"/>
          </a:p>
          <a:p>
            <a:pPr lvl="2"/>
            <a:r>
              <a:rPr lang="en-US" altLang="zh-TW" dirty="0"/>
              <a:t>+ </a:t>
            </a:r>
            <a:r>
              <a:rPr lang="en-US" altLang="zh-TW" b="1" dirty="0"/>
              <a:t>modular </a:t>
            </a:r>
            <a:r>
              <a:rPr lang="en-US" altLang="zh-TW" dirty="0"/>
              <a:t>for dynamic loading of functionality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8389</TotalTime>
  <Words>3075</Words>
  <Application>Microsoft Office PowerPoint</Application>
  <PresentationFormat>寬螢幕</PresentationFormat>
  <Paragraphs>862</Paragraphs>
  <Slides>104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7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104</vt:i4>
      </vt:variant>
    </vt:vector>
  </HeadingPairs>
  <TitlesOfParts>
    <vt:vector size="123" baseType="lpstr">
      <vt:lpstr>Arial Unicode MS</vt:lpstr>
      <vt:lpstr>微軟正黑體</vt:lpstr>
      <vt:lpstr>新細明體</vt:lpstr>
      <vt:lpstr>標楷體</vt:lpstr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osnetppt</vt:lpstr>
      <vt:lpstr>3_osnetppt</vt:lpstr>
      <vt:lpstr>Office 佈景主題</vt:lpstr>
      <vt:lpstr>2_osnetppt</vt:lpstr>
      <vt:lpstr>4_osnetppt</vt:lpstr>
      <vt:lpstr>5_osnetppt</vt:lpstr>
      <vt:lpstr>6_osnetppt</vt:lpstr>
      <vt:lpstr>VISIO</vt:lpstr>
      <vt:lpstr>Chapter 2    Operating-System Structures</vt:lpstr>
      <vt:lpstr>Outline</vt:lpstr>
      <vt:lpstr>Outline</vt:lpstr>
      <vt:lpstr>Operating System Services</vt:lpstr>
      <vt:lpstr>PowerPoint 簡報</vt:lpstr>
      <vt:lpstr>Outline</vt:lpstr>
      <vt:lpstr>Q:應用程式如何存取作業系統提供的服務呢?</vt:lpstr>
      <vt:lpstr>Outline</vt:lpstr>
      <vt:lpstr>Question:假設在C程式裡要存取硬碟上的某個檔案,如何做到呢?</vt:lpstr>
      <vt:lpstr>Question: 所以, 如何請OS執行呢?</vt:lpstr>
      <vt:lpstr>Example</vt:lpstr>
      <vt:lpstr>按照程式執行的規則，當呼叫open()時，程式應該會跳到對應的open() function。</vt:lpstr>
      <vt:lpstr>open()在OS內部(see the following slide) 這個例子：open()就是一個system call</vt:lpstr>
      <vt:lpstr>System Calls</vt:lpstr>
      <vt:lpstr>PowerPoint 簡報</vt:lpstr>
      <vt:lpstr>Someof Windows and Unix System Calls</vt:lpstr>
      <vt:lpstr>Question: 呼叫system call, CPU如何跳到OS內部執行呢?</vt:lpstr>
      <vt:lpstr>呼叫open(), compiler會轉換為int 的CPU instruction</vt:lpstr>
      <vt:lpstr>System Call Compilation</vt:lpstr>
      <vt:lpstr>System Calls (Cont.)</vt:lpstr>
      <vt:lpstr>Question: OS提供很多system calls, 當CPU執行int instruction跳到OS執行時, OS如何知道應用程式呼叫哪一個system call?</vt:lpstr>
      <vt:lpstr>System Calls (Cont.)</vt:lpstr>
      <vt:lpstr>Outline</vt:lpstr>
      <vt:lpstr>APIs</vt:lpstr>
      <vt:lpstr>Q: 什麼是APIs?</vt:lpstr>
      <vt:lpstr>Example of Programs Using Libraries in Linux</vt:lpstr>
      <vt:lpstr>Example of Programs Using Libraries in Linux (Cont.)</vt:lpstr>
      <vt:lpstr>Example of Programs Using Libraries in Linux (Cont.)</vt:lpstr>
      <vt:lpstr>Example of Programs Using Libraries in Linux (Cont.)</vt:lpstr>
      <vt:lpstr>Example of Programs Using Libraries in Linux (Cont.)</vt:lpstr>
      <vt:lpstr>複習：Linker主要的工作是resolve external references (組合語言與系統程式)</vt:lpstr>
      <vt:lpstr>Example of Programs Using Libraries in Linux (Cont.)</vt:lpstr>
      <vt:lpstr>在這個例子, add(), sub(), sum(), xyz()就是APIs</vt:lpstr>
      <vt:lpstr>複習結束</vt:lpstr>
      <vt:lpstr>在目前, 我們寫程式多半都是先呼叫Library提供的APIs, 然後Library再做真正的system calls</vt:lpstr>
      <vt:lpstr>PowerPoint 簡報</vt:lpstr>
      <vt:lpstr>Example: Standard C Library</vt:lpstr>
      <vt:lpstr>在上述的例子，fopen(), fread(), printf()……都是API</vt:lpstr>
      <vt:lpstr>System Call and APIs</vt:lpstr>
      <vt:lpstr>Calling System Call and APIs: Example</vt:lpstr>
      <vt:lpstr>System Call and APIs</vt:lpstr>
      <vt:lpstr>Q: 什麼是APIs?</vt:lpstr>
      <vt:lpstr>APIs</vt:lpstr>
      <vt:lpstr>複習：組合語言(Linking to a Library)</vt:lpstr>
      <vt:lpstr>Some of POSIX APIs</vt:lpstr>
      <vt:lpstr>Question: 為什麼要先呼叫APIs,再由APIs做真正的system call?</vt:lpstr>
      <vt:lpstr>APIs (Cont.)</vt:lpstr>
      <vt:lpstr>APIs (Cont.)</vt:lpstr>
      <vt:lpstr>Some of Windows and Unix System Calls</vt:lpstr>
      <vt:lpstr>Portability (Cont.)</vt:lpstr>
      <vt:lpstr>Portability</vt:lpstr>
      <vt:lpstr>APIs (Cont.)</vt:lpstr>
      <vt:lpstr>例子: 假設你要在銀幕上印出 “You are 20 years old.”</vt:lpstr>
      <vt:lpstr>Calling printf() C Library Function</vt:lpstr>
      <vt:lpstr>Calling write() System Call</vt:lpstr>
      <vt:lpstr>心得: 呼叫printf()比呼叫write() system call方便許多!</vt:lpstr>
      <vt:lpstr>Summary</vt:lpstr>
      <vt:lpstr>Outline</vt:lpstr>
      <vt:lpstr>問題：當呼叫system call時，如何傳遞參數給作業系統？</vt:lpstr>
      <vt:lpstr>PowerPoint 簡報</vt:lpstr>
      <vt:lpstr>Hint: 你要拿東西給同學, 可是你們不會碰面!怎麼辦呢?</vt:lpstr>
      <vt:lpstr>Idea: Storage Hierarchy</vt:lpstr>
      <vt:lpstr>System Call Parameter Passing</vt:lpstr>
      <vt:lpstr>System Call Parameter Passing</vt:lpstr>
      <vt:lpstr>Passing Parameters to System Calls: CPU Registers</vt:lpstr>
      <vt:lpstr>Passing Parameters to System Calls: CPU Registers</vt:lpstr>
      <vt:lpstr>System Call Parameter Passing</vt:lpstr>
      <vt:lpstr>Passing Parameters to System Calls: Memory Block</vt:lpstr>
      <vt:lpstr>Passing Parameters to System Calls: Memory Block</vt:lpstr>
      <vt:lpstr>System Call Parameter Passing</vt:lpstr>
      <vt:lpstr>Passing Parameters to System Calls: Stack</vt:lpstr>
      <vt:lpstr>Passing Parameters to System Calls: Stack</vt:lpstr>
      <vt:lpstr>事實上, 你已經學過如何傳遞參數了!</vt:lpstr>
      <vt:lpstr>Procedure Parameters</vt:lpstr>
      <vt:lpstr>Register Parameter v.s. Stack Parameters</vt:lpstr>
      <vt:lpstr>Register Parameter</vt:lpstr>
      <vt:lpstr>Stack Parameter</vt:lpstr>
      <vt:lpstr>複習結束</vt:lpstr>
      <vt:lpstr>Outline</vt:lpstr>
      <vt:lpstr>Outline</vt:lpstr>
      <vt:lpstr>Mechanisms and Policies</vt:lpstr>
      <vt:lpstr>Outline</vt:lpstr>
      <vt:lpstr>Outline</vt:lpstr>
      <vt:lpstr>Monolithic Structure</vt:lpstr>
      <vt:lpstr>Original UNIX Architecture</vt:lpstr>
      <vt:lpstr>Monolithic Structure</vt:lpstr>
      <vt:lpstr>Outline</vt:lpstr>
      <vt:lpstr>Layered Approach</vt:lpstr>
      <vt:lpstr>TCP/IP and OSI Model</vt:lpstr>
      <vt:lpstr>File System Organized into Layers</vt:lpstr>
      <vt:lpstr>Layered Approach (Cont.)</vt:lpstr>
      <vt:lpstr>Outline</vt:lpstr>
      <vt:lpstr>Question: UNIX became large and difficult to manage (OS太龐大了). 怎麼辦呢?</vt:lpstr>
      <vt:lpstr>Microkernel</vt:lpstr>
      <vt:lpstr>Microkernel System Structure (Introduced Later)</vt:lpstr>
      <vt:lpstr>Q1: What a microkernel should provide ?</vt:lpstr>
      <vt:lpstr>Q2:如果應用程式要存取檔案系統, 但是檔案系統現在也是一個應用程式(services), 怎麼辦呢?</vt:lpstr>
      <vt:lpstr>Microkernel (Cont.)</vt:lpstr>
      <vt:lpstr>為什麼Message Passing會造成很大的overhead呢？</vt:lpstr>
      <vt:lpstr>Outline</vt:lpstr>
      <vt:lpstr>Modules</vt:lpstr>
      <vt:lpstr>Modules</vt:lpstr>
      <vt:lpstr>Outline</vt:lpstr>
      <vt:lpstr>Hybrid Systems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1659</cp:revision>
  <dcterms:created xsi:type="dcterms:W3CDTF">2007-09-05T09:28:55Z</dcterms:created>
  <dcterms:modified xsi:type="dcterms:W3CDTF">2025-07-26T00:26:49Z</dcterms:modified>
</cp:coreProperties>
</file>