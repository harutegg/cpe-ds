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  <p:sldMasterId id="2147483835" r:id="rId2"/>
    <p:sldMasterId id="2147483847" r:id="rId3"/>
    <p:sldMasterId id="2147483859" r:id="rId4"/>
    <p:sldMasterId id="2147483871" r:id="rId5"/>
  </p:sldMasterIdLst>
  <p:notesMasterIdLst>
    <p:notesMasterId r:id="rId217"/>
  </p:notesMasterIdLst>
  <p:sldIdLst>
    <p:sldId id="280" r:id="rId6"/>
    <p:sldId id="281" r:id="rId7"/>
    <p:sldId id="473" r:id="rId8"/>
    <p:sldId id="651" r:id="rId9"/>
    <p:sldId id="688" r:id="rId10"/>
    <p:sldId id="556" r:id="rId11"/>
    <p:sldId id="617" r:id="rId12"/>
    <p:sldId id="689" r:id="rId13"/>
    <p:sldId id="690" r:id="rId14"/>
    <p:sldId id="618" r:id="rId15"/>
    <p:sldId id="569" r:id="rId16"/>
    <p:sldId id="570" r:id="rId17"/>
    <p:sldId id="571" r:id="rId18"/>
    <p:sldId id="619" r:id="rId19"/>
    <p:sldId id="620" r:id="rId20"/>
    <p:sldId id="531" r:id="rId21"/>
    <p:sldId id="576" r:id="rId22"/>
    <p:sldId id="529" r:id="rId23"/>
    <p:sldId id="530" r:id="rId24"/>
    <p:sldId id="691" r:id="rId25"/>
    <p:sldId id="622" r:id="rId26"/>
    <p:sldId id="400" r:id="rId27"/>
    <p:sldId id="587" r:id="rId28"/>
    <p:sldId id="588" r:id="rId29"/>
    <p:sldId id="589" r:id="rId30"/>
    <p:sldId id="406" r:id="rId31"/>
    <p:sldId id="407" r:id="rId32"/>
    <p:sldId id="692" r:id="rId33"/>
    <p:sldId id="623" r:id="rId34"/>
    <p:sldId id="621" r:id="rId35"/>
    <p:sldId id="475" r:id="rId36"/>
    <p:sldId id="535" r:id="rId37"/>
    <p:sldId id="476" r:id="rId38"/>
    <p:sldId id="624" r:id="rId39"/>
    <p:sldId id="625" r:id="rId40"/>
    <p:sldId id="574" r:id="rId41"/>
    <p:sldId id="693" r:id="rId42"/>
    <p:sldId id="694" r:id="rId43"/>
    <p:sldId id="626" r:id="rId44"/>
    <p:sldId id="628" r:id="rId45"/>
    <p:sldId id="627" r:id="rId46"/>
    <p:sldId id="629" r:id="rId47"/>
    <p:sldId id="477" r:id="rId48"/>
    <p:sldId id="346" r:id="rId49"/>
    <p:sldId id="695" r:id="rId50"/>
    <p:sldId id="478" r:id="rId51"/>
    <p:sldId id="630" r:id="rId52"/>
    <p:sldId id="633" r:id="rId53"/>
    <p:sldId id="634" r:id="rId54"/>
    <p:sldId id="635" r:id="rId55"/>
    <p:sldId id="636" r:id="rId56"/>
    <p:sldId id="637" r:id="rId57"/>
    <p:sldId id="350" r:id="rId58"/>
    <p:sldId id="431" r:id="rId59"/>
    <p:sldId id="696" r:id="rId60"/>
    <p:sldId id="537" r:id="rId61"/>
    <p:sldId id="575" r:id="rId62"/>
    <p:sldId id="479" r:id="rId63"/>
    <p:sldId id="638" r:id="rId64"/>
    <p:sldId id="591" r:id="rId65"/>
    <p:sldId id="602" r:id="rId66"/>
    <p:sldId id="603" r:id="rId67"/>
    <p:sldId id="599" r:id="rId68"/>
    <p:sldId id="600" r:id="rId69"/>
    <p:sldId id="586" r:id="rId70"/>
    <p:sldId id="462" r:id="rId71"/>
    <p:sldId id="558" r:id="rId72"/>
    <p:sldId id="353" r:id="rId73"/>
    <p:sldId id="481" r:id="rId74"/>
    <p:sldId id="639" r:id="rId75"/>
    <p:sldId id="640" r:id="rId76"/>
    <p:sldId id="641" r:id="rId77"/>
    <p:sldId id="643" r:id="rId78"/>
    <p:sldId id="644" r:id="rId79"/>
    <p:sldId id="645" r:id="rId80"/>
    <p:sldId id="646" r:id="rId81"/>
    <p:sldId id="647" r:id="rId82"/>
    <p:sldId id="648" r:id="rId83"/>
    <p:sldId id="649" r:id="rId84"/>
    <p:sldId id="652" r:id="rId85"/>
    <p:sldId id="538" r:id="rId86"/>
    <p:sldId id="441" r:id="rId87"/>
    <p:sldId id="654" r:id="rId88"/>
    <p:sldId id="658" r:id="rId89"/>
    <p:sldId id="434" r:id="rId90"/>
    <p:sldId id="653" r:id="rId91"/>
    <p:sldId id="657" r:id="rId92"/>
    <p:sldId id="656" r:id="rId93"/>
    <p:sldId id="697" r:id="rId94"/>
    <p:sldId id="655" r:id="rId95"/>
    <p:sldId id="698" r:id="rId96"/>
    <p:sldId id="482" r:id="rId97"/>
    <p:sldId id="560" r:id="rId98"/>
    <p:sldId id="357" r:id="rId99"/>
    <p:sldId id="358" r:id="rId100"/>
    <p:sldId id="359" r:id="rId101"/>
    <p:sldId id="483" r:id="rId102"/>
    <p:sldId id="360" r:id="rId103"/>
    <p:sldId id="414" r:id="rId104"/>
    <p:sldId id="362" r:id="rId105"/>
    <p:sldId id="415" r:id="rId106"/>
    <p:sldId id="484" r:id="rId107"/>
    <p:sldId id="485" r:id="rId108"/>
    <p:sldId id="561" r:id="rId109"/>
    <p:sldId id="577" r:id="rId110"/>
    <p:sldId id="659" r:id="rId111"/>
    <p:sldId id="610" r:id="rId112"/>
    <p:sldId id="609" r:id="rId113"/>
    <p:sldId id="661" r:id="rId114"/>
    <p:sldId id="486" r:id="rId115"/>
    <p:sldId id="662" r:id="rId116"/>
    <p:sldId id="664" r:id="rId117"/>
    <p:sldId id="302" r:id="rId118"/>
    <p:sldId id="578" r:id="rId119"/>
    <p:sldId id="699" r:id="rId120"/>
    <p:sldId id="700" r:id="rId121"/>
    <p:sldId id="701" r:id="rId122"/>
    <p:sldId id="702" r:id="rId123"/>
    <p:sldId id="665" r:id="rId124"/>
    <p:sldId id="366" r:id="rId125"/>
    <p:sldId id="367" r:id="rId126"/>
    <p:sldId id="368" r:id="rId127"/>
    <p:sldId id="608" r:id="rId128"/>
    <p:sldId id="666" r:id="rId129"/>
    <p:sldId id="703" r:id="rId130"/>
    <p:sldId id="582" r:id="rId131"/>
    <p:sldId id="667" r:id="rId132"/>
    <p:sldId id="304" r:id="rId133"/>
    <p:sldId id="704" r:id="rId134"/>
    <p:sldId id="705" r:id="rId135"/>
    <p:sldId id="706" r:id="rId136"/>
    <p:sldId id="707" r:id="rId137"/>
    <p:sldId id="490" r:id="rId138"/>
    <p:sldId id="544" r:id="rId139"/>
    <p:sldId id="583" r:id="rId140"/>
    <p:sldId id="581" r:id="rId141"/>
    <p:sldId id="668" r:id="rId142"/>
    <p:sldId id="487" r:id="rId143"/>
    <p:sldId id="670" r:id="rId144"/>
    <p:sldId id="708" r:id="rId145"/>
    <p:sldId id="671" r:id="rId146"/>
    <p:sldId id="489" r:id="rId147"/>
    <p:sldId id="460" r:id="rId148"/>
    <p:sldId id="435" r:id="rId149"/>
    <p:sldId id="672" r:id="rId150"/>
    <p:sldId id="579" r:id="rId151"/>
    <p:sldId id="607" r:id="rId152"/>
    <p:sldId id="492" r:id="rId153"/>
    <p:sldId id="307" r:id="rId154"/>
    <p:sldId id="585" r:id="rId155"/>
    <p:sldId id="493" r:id="rId156"/>
    <p:sldId id="673" r:id="rId157"/>
    <p:sldId id="437" r:id="rId158"/>
    <p:sldId id="709" r:id="rId159"/>
    <p:sldId id="494" r:id="rId160"/>
    <p:sldId id="495" r:id="rId161"/>
    <p:sldId id="496" r:id="rId162"/>
    <p:sldId id="497" r:id="rId163"/>
    <p:sldId id="674" r:id="rId164"/>
    <p:sldId id="675" r:id="rId165"/>
    <p:sldId id="676" r:id="rId166"/>
    <p:sldId id="376" r:id="rId167"/>
    <p:sldId id="550" r:id="rId168"/>
    <p:sldId id="377" r:id="rId169"/>
    <p:sldId id="677" r:id="rId170"/>
    <p:sldId id="498" r:id="rId171"/>
    <p:sldId id="679" r:id="rId172"/>
    <p:sldId id="678" r:id="rId173"/>
    <p:sldId id="552" r:id="rId174"/>
    <p:sldId id="680" r:id="rId175"/>
    <p:sldId id="681" r:id="rId176"/>
    <p:sldId id="553" r:id="rId177"/>
    <p:sldId id="554" r:id="rId178"/>
    <p:sldId id="499" r:id="rId179"/>
    <p:sldId id="500" r:id="rId180"/>
    <p:sldId id="380" r:id="rId181"/>
    <p:sldId id="683" r:id="rId182"/>
    <p:sldId id="682" r:id="rId183"/>
    <p:sldId id="453" r:id="rId184"/>
    <p:sldId id="684" r:id="rId185"/>
    <p:sldId id="685" r:id="rId186"/>
    <p:sldId id="505" r:id="rId187"/>
    <p:sldId id="382" r:id="rId188"/>
    <p:sldId id="686" r:id="rId189"/>
    <p:sldId id="504" r:id="rId190"/>
    <p:sldId id="506" r:id="rId191"/>
    <p:sldId id="457" r:id="rId192"/>
    <p:sldId id="383" r:id="rId193"/>
    <p:sldId id="384" r:id="rId194"/>
    <p:sldId id="439" r:id="rId195"/>
    <p:sldId id="385" r:id="rId196"/>
    <p:sldId id="507" r:id="rId197"/>
    <p:sldId id="386" r:id="rId198"/>
    <p:sldId id="320" r:id="rId199"/>
    <p:sldId id="687" r:id="rId200"/>
    <p:sldId id="508" r:id="rId201"/>
    <p:sldId id="387" r:id="rId202"/>
    <p:sldId id="390" r:id="rId203"/>
    <p:sldId id="322" r:id="rId204"/>
    <p:sldId id="388" r:id="rId205"/>
    <p:sldId id="509" r:id="rId206"/>
    <p:sldId id="611" r:id="rId207"/>
    <p:sldId id="519" r:id="rId208"/>
    <p:sldId id="532" r:id="rId209"/>
    <p:sldId id="520" r:id="rId210"/>
    <p:sldId id="512" r:id="rId211"/>
    <p:sldId id="510" r:id="rId212"/>
    <p:sldId id="454" r:id="rId213"/>
    <p:sldId id="511" r:id="rId214"/>
    <p:sldId id="456" r:id="rId215"/>
    <p:sldId id="513" r:id="rId216"/>
  </p:sldIdLst>
  <p:sldSz cx="12192000" cy="6858000"/>
  <p:notesSz cx="6645275" cy="977582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36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ECFF"/>
    <a:srgbClr val="8ED1D8"/>
    <a:srgbClr val="76E4F0"/>
    <a:srgbClr val="66CCFF"/>
    <a:srgbClr val="FF3300"/>
    <a:srgbClr val="996633"/>
    <a:srgbClr val="66FF3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94660"/>
  </p:normalViewPr>
  <p:slideViewPr>
    <p:cSldViewPr>
      <p:cViewPr varScale="1">
        <p:scale>
          <a:sx n="70" d="100"/>
          <a:sy n="70" d="100"/>
        </p:scale>
        <p:origin x="104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2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63" Type="http://schemas.openxmlformats.org/officeDocument/2006/relationships/slide" Target="slides/slide58.xml"/><Relationship Id="rId84" Type="http://schemas.openxmlformats.org/officeDocument/2006/relationships/slide" Target="slides/slide79.xml"/><Relationship Id="rId138" Type="http://schemas.openxmlformats.org/officeDocument/2006/relationships/slide" Target="slides/slide133.xml"/><Relationship Id="rId159" Type="http://schemas.openxmlformats.org/officeDocument/2006/relationships/slide" Target="slides/slide154.xml"/><Relationship Id="rId170" Type="http://schemas.openxmlformats.org/officeDocument/2006/relationships/slide" Target="slides/slide165.xml"/><Relationship Id="rId191" Type="http://schemas.openxmlformats.org/officeDocument/2006/relationships/slide" Target="slides/slide186.xml"/><Relationship Id="rId205" Type="http://schemas.openxmlformats.org/officeDocument/2006/relationships/slide" Target="slides/slide200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53" Type="http://schemas.openxmlformats.org/officeDocument/2006/relationships/slide" Target="slides/slide48.xml"/><Relationship Id="rId74" Type="http://schemas.openxmlformats.org/officeDocument/2006/relationships/slide" Target="slides/slide69.xml"/><Relationship Id="rId128" Type="http://schemas.openxmlformats.org/officeDocument/2006/relationships/slide" Target="slides/slide123.xml"/><Relationship Id="rId149" Type="http://schemas.openxmlformats.org/officeDocument/2006/relationships/slide" Target="slides/slide144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90.xml"/><Relationship Id="rId160" Type="http://schemas.openxmlformats.org/officeDocument/2006/relationships/slide" Target="slides/slide155.xml"/><Relationship Id="rId181" Type="http://schemas.openxmlformats.org/officeDocument/2006/relationships/slide" Target="slides/slide176.xml"/><Relationship Id="rId216" Type="http://schemas.openxmlformats.org/officeDocument/2006/relationships/slide" Target="slides/slide211.xml"/><Relationship Id="rId22" Type="http://schemas.openxmlformats.org/officeDocument/2006/relationships/slide" Target="slides/slide17.xml"/><Relationship Id="rId43" Type="http://schemas.openxmlformats.org/officeDocument/2006/relationships/slide" Target="slides/slide38.xml"/><Relationship Id="rId64" Type="http://schemas.openxmlformats.org/officeDocument/2006/relationships/slide" Target="slides/slide59.xml"/><Relationship Id="rId118" Type="http://schemas.openxmlformats.org/officeDocument/2006/relationships/slide" Target="slides/slide113.xml"/><Relationship Id="rId139" Type="http://schemas.openxmlformats.org/officeDocument/2006/relationships/slide" Target="slides/slide134.xml"/><Relationship Id="rId85" Type="http://schemas.openxmlformats.org/officeDocument/2006/relationships/slide" Target="slides/slide80.xml"/><Relationship Id="rId150" Type="http://schemas.openxmlformats.org/officeDocument/2006/relationships/slide" Target="slides/slide145.xml"/><Relationship Id="rId171" Type="http://schemas.openxmlformats.org/officeDocument/2006/relationships/slide" Target="slides/slide166.xml"/><Relationship Id="rId192" Type="http://schemas.openxmlformats.org/officeDocument/2006/relationships/slide" Target="slides/slide187.xml"/><Relationship Id="rId206" Type="http://schemas.openxmlformats.org/officeDocument/2006/relationships/slide" Target="slides/slide201.xml"/><Relationship Id="rId12" Type="http://schemas.openxmlformats.org/officeDocument/2006/relationships/slide" Target="slides/slide7.xml"/><Relationship Id="rId33" Type="http://schemas.openxmlformats.org/officeDocument/2006/relationships/slide" Target="slides/slide28.xml"/><Relationship Id="rId108" Type="http://schemas.openxmlformats.org/officeDocument/2006/relationships/slide" Target="slides/slide103.xml"/><Relationship Id="rId129" Type="http://schemas.openxmlformats.org/officeDocument/2006/relationships/slide" Target="slides/slide124.xml"/><Relationship Id="rId54" Type="http://schemas.openxmlformats.org/officeDocument/2006/relationships/slide" Target="slides/slide49.xml"/><Relationship Id="rId75" Type="http://schemas.openxmlformats.org/officeDocument/2006/relationships/slide" Target="slides/slide70.xml"/><Relationship Id="rId96" Type="http://schemas.openxmlformats.org/officeDocument/2006/relationships/slide" Target="slides/slide91.xml"/><Relationship Id="rId140" Type="http://schemas.openxmlformats.org/officeDocument/2006/relationships/slide" Target="slides/slide135.xml"/><Relationship Id="rId161" Type="http://schemas.openxmlformats.org/officeDocument/2006/relationships/slide" Target="slides/slide156.xml"/><Relationship Id="rId182" Type="http://schemas.openxmlformats.org/officeDocument/2006/relationships/slide" Target="slides/slide177.xml"/><Relationship Id="rId21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3" Type="http://schemas.openxmlformats.org/officeDocument/2006/relationships/slide" Target="slides/slide18.xml"/><Relationship Id="rId119" Type="http://schemas.openxmlformats.org/officeDocument/2006/relationships/slide" Target="slides/slide114.xml"/><Relationship Id="rId44" Type="http://schemas.openxmlformats.org/officeDocument/2006/relationships/slide" Target="slides/slide39.xml"/><Relationship Id="rId65" Type="http://schemas.openxmlformats.org/officeDocument/2006/relationships/slide" Target="slides/slide60.xml"/><Relationship Id="rId86" Type="http://schemas.openxmlformats.org/officeDocument/2006/relationships/slide" Target="slides/slide81.xml"/><Relationship Id="rId130" Type="http://schemas.openxmlformats.org/officeDocument/2006/relationships/slide" Target="slides/slide125.xml"/><Relationship Id="rId151" Type="http://schemas.openxmlformats.org/officeDocument/2006/relationships/slide" Target="slides/slide146.xml"/><Relationship Id="rId172" Type="http://schemas.openxmlformats.org/officeDocument/2006/relationships/slide" Target="slides/slide167.xml"/><Relationship Id="rId193" Type="http://schemas.openxmlformats.org/officeDocument/2006/relationships/slide" Target="slides/slide188.xml"/><Relationship Id="rId207" Type="http://schemas.openxmlformats.org/officeDocument/2006/relationships/slide" Target="slides/slide202.xml"/><Relationship Id="rId13" Type="http://schemas.openxmlformats.org/officeDocument/2006/relationships/slide" Target="slides/slide8.xml"/><Relationship Id="rId109" Type="http://schemas.openxmlformats.org/officeDocument/2006/relationships/slide" Target="slides/slide104.xml"/><Relationship Id="rId34" Type="http://schemas.openxmlformats.org/officeDocument/2006/relationships/slide" Target="slides/slide29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20" Type="http://schemas.openxmlformats.org/officeDocument/2006/relationships/slide" Target="slides/slide115.xml"/><Relationship Id="rId141" Type="http://schemas.openxmlformats.org/officeDocument/2006/relationships/slide" Target="slides/slide136.xml"/><Relationship Id="rId7" Type="http://schemas.openxmlformats.org/officeDocument/2006/relationships/slide" Target="slides/slide2.xml"/><Relationship Id="rId162" Type="http://schemas.openxmlformats.org/officeDocument/2006/relationships/slide" Target="slides/slide157.xml"/><Relationship Id="rId183" Type="http://schemas.openxmlformats.org/officeDocument/2006/relationships/slide" Target="slides/slide178.xml"/><Relationship Id="rId218" Type="http://schemas.openxmlformats.org/officeDocument/2006/relationships/presProps" Target="presProps.xml"/><Relationship Id="rId24" Type="http://schemas.openxmlformats.org/officeDocument/2006/relationships/slide" Target="slides/slide19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slide" Target="slides/slide105.xml"/><Relationship Id="rId131" Type="http://schemas.openxmlformats.org/officeDocument/2006/relationships/slide" Target="slides/slide126.xml"/><Relationship Id="rId152" Type="http://schemas.openxmlformats.org/officeDocument/2006/relationships/slide" Target="slides/slide147.xml"/><Relationship Id="rId173" Type="http://schemas.openxmlformats.org/officeDocument/2006/relationships/slide" Target="slides/slide168.xml"/><Relationship Id="rId194" Type="http://schemas.openxmlformats.org/officeDocument/2006/relationships/slide" Target="slides/slide189.xml"/><Relationship Id="rId208" Type="http://schemas.openxmlformats.org/officeDocument/2006/relationships/slide" Target="slides/slide203.xml"/><Relationship Id="rId14" Type="http://schemas.openxmlformats.org/officeDocument/2006/relationships/slide" Target="slides/slide9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121" Type="http://schemas.openxmlformats.org/officeDocument/2006/relationships/slide" Target="slides/slide116.xml"/><Relationship Id="rId142" Type="http://schemas.openxmlformats.org/officeDocument/2006/relationships/slide" Target="slides/slide137.xml"/><Relationship Id="rId163" Type="http://schemas.openxmlformats.org/officeDocument/2006/relationships/slide" Target="slides/slide158.xml"/><Relationship Id="rId184" Type="http://schemas.openxmlformats.org/officeDocument/2006/relationships/slide" Target="slides/slide179.xml"/><Relationship Id="rId189" Type="http://schemas.openxmlformats.org/officeDocument/2006/relationships/slide" Target="slides/slide184.xml"/><Relationship Id="rId219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4" Type="http://schemas.openxmlformats.org/officeDocument/2006/relationships/slide" Target="slides/slide209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116" Type="http://schemas.openxmlformats.org/officeDocument/2006/relationships/slide" Target="slides/slide111.xml"/><Relationship Id="rId137" Type="http://schemas.openxmlformats.org/officeDocument/2006/relationships/slide" Target="slides/slide132.xml"/><Relationship Id="rId158" Type="http://schemas.openxmlformats.org/officeDocument/2006/relationships/slide" Target="slides/slide153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slide" Target="slides/slide106.xml"/><Relationship Id="rId132" Type="http://schemas.openxmlformats.org/officeDocument/2006/relationships/slide" Target="slides/slide127.xml"/><Relationship Id="rId153" Type="http://schemas.openxmlformats.org/officeDocument/2006/relationships/slide" Target="slides/slide148.xml"/><Relationship Id="rId174" Type="http://schemas.openxmlformats.org/officeDocument/2006/relationships/slide" Target="slides/slide169.xml"/><Relationship Id="rId179" Type="http://schemas.openxmlformats.org/officeDocument/2006/relationships/slide" Target="slides/slide174.xml"/><Relationship Id="rId195" Type="http://schemas.openxmlformats.org/officeDocument/2006/relationships/slide" Target="slides/slide190.xml"/><Relationship Id="rId209" Type="http://schemas.openxmlformats.org/officeDocument/2006/relationships/slide" Target="slides/slide204.xml"/><Relationship Id="rId190" Type="http://schemas.openxmlformats.org/officeDocument/2006/relationships/slide" Target="slides/slide185.xml"/><Relationship Id="rId204" Type="http://schemas.openxmlformats.org/officeDocument/2006/relationships/slide" Target="slides/slide199.xml"/><Relationship Id="rId220" Type="http://schemas.openxmlformats.org/officeDocument/2006/relationships/theme" Target="theme/theme1.xml"/><Relationship Id="rId15" Type="http://schemas.openxmlformats.org/officeDocument/2006/relationships/slide" Target="slides/slide10.xml"/><Relationship Id="rId36" Type="http://schemas.openxmlformats.org/officeDocument/2006/relationships/slide" Target="slides/slide31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27" Type="http://schemas.openxmlformats.org/officeDocument/2006/relationships/slide" Target="slides/slide12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52" Type="http://schemas.openxmlformats.org/officeDocument/2006/relationships/slide" Target="slides/slide47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122" Type="http://schemas.openxmlformats.org/officeDocument/2006/relationships/slide" Target="slides/slide117.xml"/><Relationship Id="rId143" Type="http://schemas.openxmlformats.org/officeDocument/2006/relationships/slide" Target="slides/slide138.xml"/><Relationship Id="rId148" Type="http://schemas.openxmlformats.org/officeDocument/2006/relationships/slide" Target="slides/slide143.xml"/><Relationship Id="rId164" Type="http://schemas.openxmlformats.org/officeDocument/2006/relationships/slide" Target="slides/slide159.xml"/><Relationship Id="rId169" Type="http://schemas.openxmlformats.org/officeDocument/2006/relationships/slide" Target="slides/slide164.xml"/><Relationship Id="rId185" Type="http://schemas.openxmlformats.org/officeDocument/2006/relationships/slide" Target="slides/slide18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80" Type="http://schemas.openxmlformats.org/officeDocument/2006/relationships/slide" Target="slides/slide175.xml"/><Relationship Id="rId210" Type="http://schemas.openxmlformats.org/officeDocument/2006/relationships/slide" Target="slides/slide205.xml"/><Relationship Id="rId215" Type="http://schemas.openxmlformats.org/officeDocument/2006/relationships/slide" Target="slides/slide210.xml"/><Relationship Id="rId26" Type="http://schemas.openxmlformats.org/officeDocument/2006/relationships/slide" Target="slides/slide21.xml"/><Relationship Id="rId47" Type="http://schemas.openxmlformats.org/officeDocument/2006/relationships/slide" Target="slides/slide42.xml"/><Relationship Id="rId68" Type="http://schemas.openxmlformats.org/officeDocument/2006/relationships/slide" Target="slides/slide63.xml"/><Relationship Id="rId89" Type="http://schemas.openxmlformats.org/officeDocument/2006/relationships/slide" Target="slides/slide84.xml"/><Relationship Id="rId112" Type="http://schemas.openxmlformats.org/officeDocument/2006/relationships/slide" Target="slides/slide107.xml"/><Relationship Id="rId133" Type="http://schemas.openxmlformats.org/officeDocument/2006/relationships/slide" Target="slides/slide128.xml"/><Relationship Id="rId154" Type="http://schemas.openxmlformats.org/officeDocument/2006/relationships/slide" Target="slides/slide149.xml"/><Relationship Id="rId175" Type="http://schemas.openxmlformats.org/officeDocument/2006/relationships/slide" Target="slides/slide170.xml"/><Relationship Id="rId196" Type="http://schemas.openxmlformats.org/officeDocument/2006/relationships/slide" Target="slides/slide191.xml"/><Relationship Id="rId200" Type="http://schemas.openxmlformats.org/officeDocument/2006/relationships/slide" Target="slides/slide195.xml"/><Relationship Id="rId16" Type="http://schemas.openxmlformats.org/officeDocument/2006/relationships/slide" Target="slides/slide11.xml"/><Relationship Id="rId221" Type="http://schemas.openxmlformats.org/officeDocument/2006/relationships/tableStyles" Target="tableStyles.xml"/><Relationship Id="rId37" Type="http://schemas.openxmlformats.org/officeDocument/2006/relationships/slide" Target="slides/slide32.xml"/><Relationship Id="rId58" Type="http://schemas.openxmlformats.org/officeDocument/2006/relationships/slide" Target="slides/slide53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123" Type="http://schemas.openxmlformats.org/officeDocument/2006/relationships/slide" Target="slides/slide118.xml"/><Relationship Id="rId144" Type="http://schemas.openxmlformats.org/officeDocument/2006/relationships/slide" Target="slides/slide139.xml"/><Relationship Id="rId90" Type="http://schemas.openxmlformats.org/officeDocument/2006/relationships/slide" Target="slides/slide85.xml"/><Relationship Id="rId165" Type="http://schemas.openxmlformats.org/officeDocument/2006/relationships/slide" Target="slides/slide160.xml"/><Relationship Id="rId186" Type="http://schemas.openxmlformats.org/officeDocument/2006/relationships/slide" Target="slides/slide181.xml"/><Relationship Id="rId211" Type="http://schemas.openxmlformats.org/officeDocument/2006/relationships/slide" Target="slides/slide206.xml"/><Relationship Id="rId27" Type="http://schemas.openxmlformats.org/officeDocument/2006/relationships/slide" Target="slides/slide22.xml"/><Relationship Id="rId48" Type="http://schemas.openxmlformats.org/officeDocument/2006/relationships/slide" Target="slides/slide43.xml"/><Relationship Id="rId69" Type="http://schemas.openxmlformats.org/officeDocument/2006/relationships/slide" Target="slides/slide64.xml"/><Relationship Id="rId113" Type="http://schemas.openxmlformats.org/officeDocument/2006/relationships/slide" Target="slides/slide108.xml"/><Relationship Id="rId134" Type="http://schemas.openxmlformats.org/officeDocument/2006/relationships/slide" Target="slides/slide129.xml"/><Relationship Id="rId80" Type="http://schemas.openxmlformats.org/officeDocument/2006/relationships/slide" Target="slides/slide75.xml"/><Relationship Id="rId155" Type="http://schemas.openxmlformats.org/officeDocument/2006/relationships/slide" Target="slides/slide150.xml"/><Relationship Id="rId176" Type="http://schemas.openxmlformats.org/officeDocument/2006/relationships/slide" Target="slides/slide171.xml"/><Relationship Id="rId197" Type="http://schemas.openxmlformats.org/officeDocument/2006/relationships/slide" Target="slides/slide192.xml"/><Relationship Id="rId201" Type="http://schemas.openxmlformats.org/officeDocument/2006/relationships/slide" Target="slides/slide196.xml"/><Relationship Id="rId17" Type="http://schemas.openxmlformats.org/officeDocument/2006/relationships/slide" Target="slides/slide12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24" Type="http://schemas.openxmlformats.org/officeDocument/2006/relationships/slide" Target="slides/slide119.xml"/><Relationship Id="rId70" Type="http://schemas.openxmlformats.org/officeDocument/2006/relationships/slide" Target="slides/slide65.xml"/><Relationship Id="rId91" Type="http://schemas.openxmlformats.org/officeDocument/2006/relationships/slide" Target="slides/slide86.xml"/><Relationship Id="rId145" Type="http://schemas.openxmlformats.org/officeDocument/2006/relationships/slide" Target="slides/slide140.xml"/><Relationship Id="rId166" Type="http://schemas.openxmlformats.org/officeDocument/2006/relationships/slide" Target="slides/slide161.xml"/><Relationship Id="rId187" Type="http://schemas.openxmlformats.org/officeDocument/2006/relationships/slide" Target="slides/slide182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07.xml"/><Relationship Id="rId28" Type="http://schemas.openxmlformats.org/officeDocument/2006/relationships/slide" Target="slides/slide23.xml"/><Relationship Id="rId49" Type="http://schemas.openxmlformats.org/officeDocument/2006/relationships/slide" Target="slides/slide44.xml"/><Relationship Id="rId114" Type="http://schemas.openxmlformats.org/officeDocument/2006/relationships/slide" Target="slides/slide109.xml"/><Relationship Id="rId60" Type="http://schemas.openxmlformats.org/officeDocument/2006/relationships/slide" Target="slides/slide55.xml"/><Relationship Id="rId81" Type="http://schemas.openxmlformats.org/officeDocument/2006/relationships/slide" Target="slides/slide76.xml"/><Relationship Id="rId135" Type="http://schemas.openxmlformats.org/officeDocument/2006/relationships/slide" Target="slides/slide130.xml"/><Relationship Id="rId156" Type="http://schemas.openxmlformats.org/officeDocument/2006/relationships/slide" Target="slides/slide151.xml"/><Relationship Id="rId177" Type="http://schemas.openxmlformats.org/officeDocument/2006/relationships/slide" Target="slides/slide172.xml"/><Relationship Id="rId198" Type="http://schemas.openxmlformats.org/officeDocument/2006/relationships/slide" Target="slides/slide193.xml"/><Relationship Id="rId202" Type="http://schemas.openxmlformats.org/officeDocument/2006/relationships/slide" Target="slides/slide197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50" Type="http://schemas.openxmlformats.org/officeDocument/2006/relationships/slide" Target="slides/slide45.xml"/><Relationship Id="rId104" Type="http://schemas.openxmlformats.org/officeDocument/2006/relationships/slide" Target="slides/slide99.xml"/><Relationship Id="rId125" Type="http://schemas.openxmlformats.org/officeDocument/2006/relationships/slide" Target="slides/slide120.xml"/><Relationship Id="rId146" Type="http://schemas.openxmlformats.org/officeDocument/2006/relationships/slide" Target="slides/slide141.xml"/><Relationship Id="rId167" Type="http://schemas.openxmlformats.org/officeDocument/2006/relationships/slide" Target="slides/slide162.xml"/><Relationship Id="rId188" Type="http://schemas.openxmlformats.org/officeDocument/2006/relationships/slide" Target="slides/slide183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13" Type="http://schemas.openxmlformats.org/officeDocument/2006/relationships/slide" Target="slides/slide20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40" Type="http://schemas.openxmlformats.org/officeDocument/2006/relationships/slide" Target="slides/slide35.xml"/><Relationship Id="rId115" Type="http://schemas.openxmlformats.org/officeDocument/2006/relationships/slide" Target="slides/slide110.xml"/><Relationship Id="rId136" Type="http://schemas.openxmlformats.org/officeDocument/2006/relationships/slide" Target="slides/slide131.xml"/><Relationship Id="rId157" Type="http://schemas.openxmlformats.org/officeDocument/2006/relationships/slide" Target="slides/slide152.xml"/><Relationship Id="rId178" Type="http://schemas.openxmlformats.org/officeDocument/2006/relationships/slide" Target="slides/slide173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9" Type="http://schemas.openxmlformats.org/officeDocument/2006/relationships/slide" Target="slides/slide194.xml"/><Relationship Id="rId203" Type="http://schemas.openxmlformats.org/officeDocument/2006/relationships/slide" Target="slides/slide198.xml"/><Relationship Id="rId19" Type="http://schemas.openxmlformats.org/officeDocument/2006/relationships/slide" Target="slides/slide14.xml"/><Relationship Id="rId30" Type="http://schemas.openxmlformats.org/officeDocument/2006/relationships/slide" Target="slides/slide25.xml"/><Relationship Id="rId105" Type="http://schemas.openxmlformats.org/officeDocument/2006/relationships/slide" Target="slides/slide100.xml"/><Relationship Id="rId126" Type="http://schemas.openxmlformats.org/officeDocument/2006/relationships/slide" Target="slides/slide121.xml"/><Relationship Id="rId147" Type="http://schemas.openxmlformats.org/officeDocument/2006/relationships/slide" Target="slides/slide142.xml"/><Relationship Id="rId168" Type="http://schemas.openxmlformats.org/officeDocument/2006/relationships/slide" Target="slides/slide16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3963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13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5088" y="733425"/>
            <a:ext cx="6515100" cy="36655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11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5163" y="4643438"/>
            <a:ext cx="5314950" cy="4398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211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5288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11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3963" y="9285288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E4D940D-1F24-4B0C-B62D-DF4FCFF387F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835830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65088" y="733425"/>
            <a:ext cx="6515100" cy="366553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4D940D-1F24-4B0C-B62D-DF4FCFF387FD}" type="slidenum">
              <a:rPr lang="en-US" altLang="zh-TW" smtClean="0"/>
              <a:pPr>
                <a:defRPr/>
              </a:pPr>
              <a:t>16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922527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65088" y="733425"/>
            <a:ext cx="6515100" cy="366553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4D940D-1F24-4B0C-B62D-DF4FCFF387FD}" type="slidenum">
              <a:rPr lang="en-US" altLang="zh-TW" smtClean="0"/>
              <a:pPr>
                <a:defRPr/>
              </a:pPr>
              <a:t>22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81842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65088" y="733425"/>
            <a:ext cx="6515100" cy="366553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4D940D-1F24-4B0C-B62D-DF4FCFF387FD}" type="slidenum">
              <a:rPr lang="en-US" altLang="zh-TW" smtClean="0"/>
              <a:pPr>
                <a:defRPr/>
              </a:pPr>
              <a:t>198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02116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96200D-C580-4272-A35E-60917CBD1536}" type="slidenum">
              <a:rPr lang="en-US" altLang="zh-TW" smtClean="0"/>
              <a:pPr>
                <a:defRPr/>
              </a:pPr>
              <a:t>202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79667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C6AEBC-AB5B-403C-9713-61468BF715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ABE66-145B-43F3-87D5-C5CBE67EE54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24417" y="1484313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12417" y="1484313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63923-0C3E-497E-866B-6EDE41A3DFB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5D2E59-BCE5-4529-B626-1F5C8A9FF7A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1FD2B2-1563-455D-8D29-F524E614776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6C0DE4-A04A-452D-BA32-79676CBE47F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187D52-C234-4951-9F21-21DB291066F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1E892-58AC-412D-91F6-6683F05F689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527F46-2C1B-407D-A223-364BA22348B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54017" y="115889"/>
            <a:ext cx="2743200" cy="5894387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24417" y="115889"/>
            <a:ext cx="8026400" cy="589438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F15DA8-0D69-46D5-85A2-1C60824F03C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5888"/>
            <a:ext cx="109728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09600" y="1412875"/>
            <a:ext cx="5384800" cy="47132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412875"/>
            <a:ext cx="5384800" cy="47132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CDD7-C1B8-464F-88BD-56BB3641CA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29726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Slide_iconblue_pc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24634" y="6010275"/>
            <a:ext cx="1348317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691607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B0A2B1-AD20-4166-B6D5-5B145BA6031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19037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385228-623B-4451-AE5F-DC9B995EBC9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91075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268413"/>
            <a:ext cx="5384800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268413"/>
            <a:ext cx="5384800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39481-F962-4F85-9E1B-554F3CA4721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38371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64DE2E-C83E-4954-B893-149E183B01FF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0729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4632AD-9D6A-45CC-A1CF-8EF7EBEC225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03548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03F6A1-8A0B-4905-8C4D-A2A89273829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76223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8101C-A27A-4027-B24D-6AD0C5A41673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08256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310DE6-F0B5-4BB5-93AA-2CCD573E1E0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31894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45A9B3-FB01-4448-ABE2-4F80DA56BB6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52078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51900" y="47625"/>
            <a:ext cx="2745317" cy="60785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47625"/>
            <a:ext cx="8039100" cy="60785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3A3035-2733-4190-AD0D-DBCC8048BEE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8889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2" descr="Slide_iconblue_pc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24634" y="6010275"/>
            <a:ext cx="1348317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16783107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B0A2B1-AD20-4166-B6D5-5B145BA6031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98404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4385228-623B-4451-AE5F-DC9B995EBC9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94788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268413"/>
            <a:ext cx="5384800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268413"/>
            <a:ext cx="5384800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39481-F962-4F85-9E1B-554F3CA4721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37517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F64DE2E-C83E-4954-B893-149E183B01FF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47730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4632AD-9D6A-45CC-A1CF-8EF7EBEC225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48279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03F6A1-8A0B-4905-8C4D-A2A89273829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2879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28101C-A27A-4027-B24D-6AD0C5A41673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4715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310DE6-F0B5-4BB5-93AA-2CCD573E1E0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0018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45A9B3-FB01-4448-ABE2-4F80DA56BB6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18170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51900" y="47625"/>
            <a:ext cx="2745317" cy="60785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47625"/>
            <a:ext cx="8039100" cy="60785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3A3035-2733-4190-AD0D-DBCC8048BEE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37841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2040169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4D4BB2-6766-4561-BC06-F552BFADA6F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63172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7454202-1D94-4F40-BF1C-2B28CDC5AFA7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71008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F59911-C564-410A-B93B-2F735A8FE358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690987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8E878F-EED9-40BE-A34B-8E294055A8D1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8787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0458FE-58C5-40CD-A089-063BEF5C9E9E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45561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CFF96D-3F97-4EED-A2CE-E2DD9497B7BE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43376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490473-F383-46E9-847B-A62E2A0F4CB4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321337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9CC5E8-09D8-49E9-851F-C2B04BD1C92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342045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291F42-F963-425A-8513-31CE11AA8D4B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562529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51900" y="115889"/>
            <a:ext cx="2745317" cy="601027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1" y="115889"/>
            <a:ext cx="8039100" cy="601027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FE3674-CDC6-4F01-8D00-CCBFD24D340A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914877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231275021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116632"/>
            <a:ext cx="109728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F06792-2767-43F4-A335-D8A37CCA3850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19573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D90982-AB66-46A4-A1FF-EC3140B35B5D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953889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27051" y="1412875"/>
            <a:ext cx="53848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15051" y="1412875"/>
            <a:ext cx="53848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38B244-3745-40D0-BE05-59D46F502FAE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581513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9314AB-8309-4AD6-9FFB-F7146D0BE65A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2447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8E01AA-4B65-4798-BFD9-8B545C976B75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2884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6901DFC-AF09-44D6-ABE0-8E54496024F7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853169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7D644F4-34C4-4C48-9219-F64F8F4D0DB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31456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EE7853-2D7D-4C18-8FA5-DDE0E7A7B919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552583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6A417F6-521E-48E2-ACCA-8C01A79B2926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007517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0734" y="0"/>
            <a:ext cx="2766484" cy="616585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27051" y="0"/>
            <a:ext cx="8100483" cy="61658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35DCB0-626D-4CFF-A48C-95AD28109B0E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37353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0"/>
            <a:ext cx="10972800" cy="1143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527051" y="1412875"/>
            <a:ext cx="5384800" cy="47529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15051" y="1412875"/>
            <a:ext cx="5384800" cy="47529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F819CAA-295F-41C1-9BE8-5D25C285959C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937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11588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4417" y="1484313"/>
            <a:ext cx="109728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aseline="0">
                <a:latin typeface="Calibri" panose="020F0502020204030204" pitchFamily="34" charset="0"/>
                <a:ea typeface="標楷體" panose="03000509000000000000" pitchFamily="65" charset="-120"/>
              </a:defRPr>
            </a:lvl1pPr>
          </a:lstStyle>
          <a:p>
            <a:pPr>
              <a:defRPr/>
            </a:pPr>
            <a:fld id="{05F422F2-3991-4C27-9325-2E046A807592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4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ts val="768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68413"/>
            <a:ext cx="10972800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新細明體" pitchFamily="18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FB7576-D5A1-4124-A8A2-2098A4E88BCF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0014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68413"/>
            <a:ext cx="10972800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新細明體" pitchFamily="18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新細明體" pitchFamily="18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FB7576-D5A1-4124-A8A2-2098A4E88BCF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6765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11588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6C360E-DEBE-4CF7-8E6B-B96E06B1CFEE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584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7051" y="1412875"/>
            <a:ext cx="10972800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BCB6A0-5727-44B3-A5FA-EBD6BAD529E2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6251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  <p:sldLayoutId id="2147483883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 baseline="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anose="020F0502020204030204" pitchFamily="34" charset="0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ts val="600"/>
        </a:spcBef>
        <a:spcAft>
          <a:spcPct val="0"/>
        </a:spcAft>
        <a:buChar char="•"/>
        <a:defRPr kumimoji="1" sz="32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ts val="600"/>
        </a:spcBef>
        <a:spcAft>
          <a:spcPct val="0"/>
        </a:spcAft>
        <a:buChar char="–"/>
        <a:defRPr kumimoji="1" sz="28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ts val="600"/>
        </a:spcBef>
        <a:spcAft>
          <a:spcPct val="0"/>
        </a:spcAft>
        <a:buChar char="•"/>
        <a:defRPr kumimoji="1" sz="24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ts val="600"/>
        </a:spcBef>
        <a:spcAft>
          <a:spcPct val="0"/>
        </a:spcAft>
        <a:buChar char="–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ts val="600"/>
        </a:spcBef>
        <a:spcAft>
          <a:spcPct val="0"/>
        </a:spcAft>
        <a:buChar char="»"/>
        <a:defRPr kumimoji="1" sz="2000" baseline="0">
          <a:solidFill>
            <a:schemeClr val="tx1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cienceprog.com/embedded-c-program-libraries-and-linking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9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4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130426"/>
            <a:ext cx="7772400" cy="23780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5400"/>
              <a:t>Chapter 9:</a:t>
            </a:r>
            <a:r>
              <a:rPr lang="en-US" altLang="zh-TW" sz="4000"/>
              <a:t> </a:t>
            </a:r>
            <a:r>
              <a:rPr lang="en-US" altLang="zh-TW" sz="4000" dirty="0"/>
              <a:t/>
            </a:r>
            <a:br>
              <a:rPr lang="en-US" altLang="zh-TW" sz="4000" dirty="0"/>
            </a:br>
            <a:r>
              <a:rPr lang="en-US" altLang="zh-TW" sz="4000" dirty="0"/>
              <a:t/>
            </a:r>
            <a:br>
              <a:rPr lang="en-US" altLang="zh-TW" sz="4000" dirty="0"/>
            </a:br>
            <a:r>
              <a:rPr lang="en-US" altLang="zh-TW" sz="5400" dirty="0">
                <a:solidFill>
                  <a:schemeClr val="tx1"/>
                </a:solidFill>
              </a:rPr>
              <a:t>Memory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Background</a:t>
            </a:r>
          </a:p>
          <a:p>
            <a:pPr eaLnBrk="1" hangingPunct="1"/>
            <a:r>
              <a:rPr lang="en-US" altLang="zh-TW" dirty="0" smtClean="0"/>
              <a:t>Contiguous Memory Allocation</a:t>
            </a:r>
          </a:p>
          <a:p>
            <a:pPr eaLnBrk="1" hangingPunct="1"/>
            <a:r>
              <a:rPr lang="en-US" altLang="zh-TW" dirty="0" smtClean="0"/>
              <a:t>Paging</a:t>
            </a:r>
          </a:p>
          <a:p>
            <a:pPr eaLnBrk="1" hangingPunct="1"/>
            <a:r>
              <a:rPr lang="en-US" altLang="zh-TW" dirty="0" smtClean="0"/>
              <a:t>Structure of the Page Table</a:t>
            </a:r>
          </a:p>
          <a:p>
            <a:pPr eaLnBrk="1" hangingPunct="1"/>
            <a:r>
              <a:rPr lang="en-US" altLang="zh-TW" dirty="0" smtClean="0"/>
              <a:t>Swapping</a:t>
            </a:r>
          </a:p>
          <a:p>
            <a:pPr eaLnBrk="1" hangingPunct="1"/>
            <a:r>
              <a:rPr lang="en-US" altLang="zh-TW" dirty="0" smtClean="0"/>
              <a:t>Example: Intel 32 and 64-bit Architectures</a:t>
            </a:r>
          </a:p>
          <a:p>
            <a:pPr eaLnBrk="1" hangingPunct="1"/>
            <a:r>
              <a:rPr lang="en-US" altLang="zh-TW" dirty="0" smtClean="0"/>
              <a:t>Example: ARMv8 Architecture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24417" y="1484312"/>
            <a:ext cx="10972800" cy="4897015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Background</a:t>
            </a:r>
          </a:p>
          <a:p>
            <a:pPr lvl="1" eaLnBrk="1" hangingPunct="1"/>
            <a:r>
              <a:rPr lang="en-US" altLang="zh-TW" b="1" dirty="0" smtClean="0">
                <a:solidFill>
                  <a:srgbClr val="FF0000"/>
                </a:solidFill>
              </a:rPr>
              <a:t>Address Binding</a:t>
            </a:r>
          </a:p>
          <a:p>
            <a:pPr lvl="1" eaLnBrk="1" hangingPunct="1"/>
            <a:r>
              <a:rPr lang="en-US" altLang="zh-TW" dirty="0" smtClean="0"/>
              <a:t>Logical Versus Physical Address Space</a:t>
            </a:r>
          </a:p>
          <a:p>
            <a:pPr lvl="1" eaLnBrk="1" hangingPunct="1"/>
            <a:r>
              <a:rPr lang="en-US" altLang="zh-TW" dirty="0" smtClean="0"/>
              <a:t>Dynamic Loading</a:t>
            </a:r>
          </a:p>
          <a:p>
            <a:pPr lvl="1" eaLnBrk="1" hangingPunct="1"/>
            <a:r>
              <a:rPr lang="en-US" altLang="zh-TW" dirty="0" smtClean="0"/>
              <a:t>Dynamic Linking and Shared Library</a:t>
            </a:r>
          </a:p>
          <a:p>
            <a:pPr eaLnBrk="1" hangingPunct="1"/>
            <a:r>
              <a:rPr lang="en-US" altLang="zh-TW" dirty="0" smtClean="0"/>
              <a:t>Contiguous Memory Allocation</a:t>
            </a:r>
          </a:p>
          <a:p>
            <a:pPr eaLnBrk="1" hangingPunct="1"/>
            <a:r>
              <a:rPr lang="en-US" altLang="zh-TW" dirty="0" smtClean="0"/>
              <a:t>Paging</a:t>
            </a:r>
          </a:p>
          <a:p>
            <a:pPr eaLnBrk="1" hangingPunct="1"/>
            <a:r>
              <a:rPr lang="en-US" altLang="zh-TW" dirty="0" smtClean="0"/>
              <a:t>Structure of the Page Table</a:t>
            </a:r>
          </a:p>
          <a:p>
            <a:pPr eaLnBrk="1" hangingPunct="1"/>
            <a:r>
              <a:rPr lang="en-US" altLang="zh-TW" dirty="0" smtClean="0"/>
              <a:t>Swapping</a:t>
            </a:r>
          </a:p>
          <a:p>
            <a:pPr eaLnBrk="1" hangingPunct="1"/>
            <a:r>
              <a:rPr lang="en-US" altLang="zh-TW" dirty="0" smtClean="0"/>
              <a:t>Example: Intel 32 and 64-bit Architectures</a:t>
            </a:r>
          </a:p>
          <a:p>
            <a:pPr eaLnBrk="1" hangingPunct="1"/>
            <a:r>
              <a:rPr lang="en-US" altLang="zh-TW" dirty="0" smtClean="0"/>
              <a:t>Example: ARMv8 Architecture</a:t>
            </a:r>
          </a:p>
        </p:txBody>
      </p:sp>
    </p:spTree>
    <p:extLst>
      <p:ext uri="{BB962C8B-B14F-4D97-AF65-F5344CB8AC3E}">
        <p14:creationId xmlns:p14="http://schemas.microsoft.com/office/powerpoint/2010/main" val="532407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Background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TW" b="1" dirty="0"/>
              <a:t>Main memory </a:t>
            </a:r>
            <a:r>
              <a:rPr lang="en-US" altLang="zh-TW" dirty="0"/>
              <a:t>and </a:t>
            </a:r>
            <a:r>
              <a:rPr lang="en-US" altLang="zh-TW" b="1" dirty="0"/>
              <a:t>registers</a:t>
            </a:r>
            <a:r>
              <a:rPr lang="en-US" altLang="zh-TW" dirty="0"/>
              <a:t> are only storage CPU can access directly</a:t>
            </a:r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Thus, program </a:t>
            </a:r>
            <a:r>
              <a:rPr lang="en-US" altLang="zh-TW" dirty="0"/>
              <a:t>must be brought (from disk) into memory </a:t>
            </a:r>
          </a:p>
          <a:p>
            <a:pPr>
              <a:lnSpc>
                <a:spcPct val="110000"/>
              </a:lnSpc>
            </a:pP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602879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>
              <a:defRPr/>
            </a:pPr>
            <a:r>
              <a:rPr lang="en-US" altLang="zh-TW" dirty="0"/>
              <a:t>A Computer System</a:t>
            </a:r>
          </a:p>
        </p:txBody>
      </p:sp>
      <p:pic>
        <p:nvPicPr>
          <p:cNvPr id="22532" name="Picture 5"/>
          <p:cNvPicPr>
            <a:picLocks noChangeAspect="1" noChangeArrowheads="1"/>
          </p:cNvPicPr>
          <p:nvPr/>
        </p:nvPicPr>
        <p:blipFill>
          <a:blip r:embed="rId2" cstate="print"/>
          <a:srcRect l="427" t="17949" r="427" b="17664"/>
          <a:stretch>
            <a:fillRect/>
          </a:stretch>
        </p:blipFill>
        <p:spPr bwMode="auto">
          <a:xfrm>
            <a:off x="1271464" y="1412776"/>
            <a:ext cx="9649072" cy="4824534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F06792-2767-43F4-A335-D8A37CCA3850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2567608" y="3502537"/>
            <a:ext cx="288032" cy="718551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2088327" y="2956881"/>
            <a:ext cx="1589666" cy="400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latin typeface="Calibri" panose="020F0502020204030204" pitchFamily="34" charset="0"/>
              </a:rPr>
              <a:t>CPU registers</a:t>
            </a:r>
          </a:p>
        </p:txBody>
      </p:sp>
    </p:spTree>
    <p:extLst>
      <p:ext uri="{BB962C8B-B14F-4D97-AF65-F5344CB8AC3E}">
        <p14:creationId xmlns:p14="http://schemas.microsoft.com/office/powerpoint/2010/main" val="325329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3600" dirty="0">
                <a:solidFill>
                  <a:srgbClr val="FF0000"/>
                </a:solidFill>
              </a:rPr>
              <a:t>Question: </a:t>
            </a:r>
            <a:r>
              <a:rPr lang="en-US" altLang="zh-TW" sz="3600" dirty="0" smtClean="0">
                <a:solidFill>
                  <a:srgbClr val="FF0000"/>
                </a:solidFill>
              </a:rPr>
              <a:t>Programmers </a:t>
            </a:r>
            <a:r>
              <a:rPr lang="en-US" altLang="zh-TW" sz="3600" dirty="0">
                <a:solidFill>
                  <a:srgbClr val="FF0000"/>
                </a:solidFill>
              </a:rPr>
              <a:t>use variables. </a:t>
            </a:r>
            <a:r>
              <a:rPr lang="en-US" altLang="zh-TW" sz="3600" dirty="0" smtClean="0">
                <a:solidFill>
                  <a:srgbClr val="FF0000"/>
                </a:solidFill>
              </a:rPr>
              <a:t/>
            </a:r>
            <a:br>
              <a:rPr lang="en-US" altLang="zh-TW" sz="3600" dirty="0" smtClean="0">
                <a:solidFill>
                  <a:srgbClr val="FF0000"/>
                </a:solidFill>
              </a:rPr>
            </a:br>
            <a:r>
              <a:rPr lang="en-US" altLang="zh-TW" sz="3600" dirty="0" smtClean="0">
                <a:solidFill>
                  <a:srgbClr val="FF0000"/>
                </a:solidFill>
              </a:rPr>
              <a:t>But</a:t>
            </a:r>
            <a:r>
              <a:rPr lang="en-US" altLang="zh-TW" sz="3600" dirty="0">
                <a:solidFill>
                  <a:srgbClr val="FF0000"/>
                </a:solidFill>
              </a:rPr>
              <a:t>, </a:t>
            </a:r>
            <a:r>
              <a:rPr lang="en-US" altLang="zh-TW" sz="3600" dirty="0" smtClean="0">
                <a:solidFill>
                  <a:srgbClr val="FF0000"/>
                </a:solidFill>
              </a:rPr>
              <a:t>CPUs access </a:t>
            </a:r>
            <a:r>
              <a:rPr lang="en-US" altLang="zh-TW" sz="3600" dirty="0">
                <a:solidFill>
                  <a:srgbClr val="FF0000"/>
                </a:solidFill>
              </a:rPr>
              <a:t>memory by addresses. </a:t>
            </a:r>
            <a:r>
              <a:rPr lang="zh-TW" altLang="en-US" sz="3600" dirty="0" smtClean="0">
                <a:solidFill>
                  <a:srgbClr val="FF0000"/>
                </a:solidFill>
              </a:rPr>
              <a:t>怎麼辦呢</a:t>
            </a:r>
            <a:r>
              <a:rPr lang="en-US" altLang="zh-TW" sz="3600" dirty="0" smtClean="0">
                <a:solidFill>
                  <a:srgbClr val="FF0000"/>
                </a:solidFill>
              </a:rPr>
              <a:t>?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Hint: see the following slide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41009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投影片編號版面配置區 5"/>
          <p:cNvSpPr>
            <a:spLocks noGrp="1"/>
          </p:cNvSpPr>
          <p:nvPr>
            <p:ph type="sldNum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endParaRPr kumimoji="0" lang="en-US" altLang="zh-TW" u="none" dirty="0" smtClean="0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4000" dirty="0" smtClean="0"/>
              <a:t>複習：</a:t>
            </a:r>
            <a:r>
              <a:rPr lang="en-US" altLang="zh-TW" sz="4000" dirty="0" smtClean="0"/>
              <a:t>Example </a:t>
            </a:r>
            <a:r>
              <a:rPr lang="en-US" altLang="zh-TW" sz="4000" dirty="0"/>
              <a:t>of a SIC Assembler Language </a:t>
            </a:r>
            <a:r>
              <a:rPr lang="en-US" altLang="zh-TW" sz="4000" dirty="0" smtClean="0"/>
              <a:t>Program</a:t>
            </a:r>
            <a:endParaRPr lang="en-US" altLang="zh-TW" sz="4000" dirty="0"/>
          </a:p>
        </p:txBody>
      </p:sp>
      <p:grpSp>
        <p:nvGrpSpPr>
          <p:cNvPr id="11268" name="Group 4"/>
          <p:cNvGrpSpPr>
            <a:grpSpLocks/>
          </p:cNvGrpSpPr>
          <p:nvPr/>
        </p:nvGrpSpPr>
        <p:grpSpPr bwMode="auto">
          <a:xfrm>
            <a:off x="1487488" y="1412777"/>
            <a:ext cx="8424862" cy="5157789"/>
            <a:chOff x="816" y="1198"/>
            <a:chExt cx="4224" cy="3122"/>
          </a:xfrm>
        </p:grpSpPr>
        <p:pic>
          <p:nvPicPr>
            <p:cNvPr id="11269" name="Picture 5" descr="f22a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" y="1198"/>
              <a:ext cx="4224" cy="3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70" name="Oval 6"/>
            <p:cNvSpPr>
              <a:spLocks noChangeArrowheads="1"/>
            </p:cNvSpPr>
            <p:nvPr/>
          </p:nvSpPr>
          <p:spPr bwMode="auto">
            <a:xfrm>
              <a:off x="2496" y="1728"/>
              <a:ext cx="1296" cy="144"/>
            </a:xfrm>
            <a:prstGeom prst="ellipse">
              <a:avLst/>
            </a:prstGeom>
            <a:noFill/>
            <a:ln w="31750">
              <a:solidFill>
                <a:srgbClr val="3366FF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1271" name="Oval 7"/>
            <p:cNvSpPr>
              <a:spLocks noChangeArrowheads="1"/>
            </p:cNvSpPr>
            <p:nvPr/>
          </p:nvSpPr>
          <p:spPr bwMode="auto">
            <a:xfrm>
              <a:off x="2592" y="2352"/>
              <a:ext cx="1296" cy="192"/>
            </a:xfrm>
            <a:prstGeom prst="ellipse">
              <a:avLst/>
            </a:prstGeom>
            <a:noFill/>
            <a:ln w="31750">
              <a:solidFill>
                <a:srgbClr val="FF000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1272" name="Oval 8"/>
            <p:cNvSpPr>
              <a:spLocks noChangeArrowheads="1"/>
            </p:cNvSpPr>
            <p:nvPr/>
          </p:nvSpPr>
          <p:spPr bwMode="auto">
            <a:xfrm>
              <a:off x="2544" y="3120"/>
              <a:ext cx="1296" cy="144"/>
            </a:xfrm>
            <a:prstGeom prst="ellipse">
              <a:avLst/>
            </a:prstGeom>
            <a:noFill/>
            <a:ln w="31750">
              <a:solidFill>
                <a:srgbClr val="FF000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1273" name="Oval 9"/>
            <p:cNvSpPr>
              <a:spLocks noChangeArrowheads="1"/>
            </p:cNvSpPr>
            <p:nvPr/>
          </p:nvSpPr>
          <p:spPr bwMode="auto">
            <a:xfrm>
              <a:off x="2544" y="1872"/>
              <a:ext cx="1296" cy="192"/>
            </a:xfrm>
            <a:prstGeom prst="ellipse">
              <a:avLst/>
            </a:prstGeom>
            <a:noFill/>
            <a:ln w="31750">
              <a:solidFill>
                <a:srgbClr val="FF000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1274" name="Oval 10"/>
            <p:cNvSpPr>
              <a:spLocks noChangeArrowheads="1"/>
            </p:cNvSpPr>
            <p:nvPr/>
          </p:nvSpPr>
          <p:spPr bwMode="auto">
            <a:xfrm>
              <a:off x="2496" y="3264"/>
              <a:ext cx="1296" cy="288"/>
            </a:xfrm>
            <a:prstGeom prst="ellipse">
              <a:avLst/>
            </a:prstGeom>
            <a:noFill/>
            <a:ln w="31750">
              <a:solidFill>
                <a:srgbClr val="3366FF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1275" name="Rectangle 11"/>
            <p:cNvSpPr>
              <a:spLocks noChangeArrowheads="1"/>
            </p:cNvSpPr>
            <p:nvPr/>
          </p:nvSpPr>
          <p:spPr bwMode="auto">
            <a:xfrm>
              <a:off x="1968" y="1872"/>
              <a:ext cx="2016" cy="768"/>
            </a:xfrm>
            <a:prstGeom prst="rect">
              <a:avLst/>
            </a:prstGeom>
            <a:noFill/>
            <a:ln w="25400">
              <a:solidFill>
                <a:srgbClr val="C0C0C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2965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3600" dirty="0">
                <a:solidFill>
                  <a:srgbClr val="FF0000"/>
                </a:solidFill>
              </a:rPr>
              <a:t>Question: </a:t>
            </a:r>
            <a:r>
              <a:rPr lang="en-US" altLang="zh-TW" sz="3600" dirty="0" smtClean="0">
                <a:solidFill>
                  <a:srgbClr val="FF0000"/>
                </a:solidFill>
              </a:rPr>
              <a:t>Programmers </a:t>
            </a:r>
            <a:r>
              <a:rPr lang="en-US" altLang="zh-TW" sz="3600" dirty="0">
                <a:solidFill>
                  <a:srgbClr val="FF0000"/>
                </a:solidFill>
              </a:rPr>
              <a:t>use variables. </a:t>
            </a:r>
            <a:r>
              <a:rPr lang="en-US" altLang="zh-TW" sz="3600" dirty="0" smtClean="0">
                <a:solidFill>
                  <a:srgbClr val="FF0000"/>
                </a:solidFill>
              </a:rPr>
              <a:t/>
            </a:r>
            <a:br>
              <a:rPr lang="en-US" altLang="zh-TW" sz="3600" dirty="0" smtClean="0">
                <a:solidFill>
                  <a:srgbClr val="FF0000"/>
                </a:solidFill>
              </a:rPr>
            </a:br>
            <a:r>
              <a:rPr lang="en-US" altLang="zh-TW" sz="3600" dirty="0" smtClean="0">
                <a:solidFill>
                  <a:srgbClr val="FF0000"/>
                </a:solidFill>
              </a:rPr>
              <a:t>But</a:t>
            </a:r>
            <a:r>
              <a:rPr lang="en-US" altLang="zh-TW" sz="3600" dirty="0">
                <a:solidFill>
                  <a:srgbClr val="FF0000"/>
                </a:solidFill>
              </a:rPr>
              <a:t>, </a:t>
            </a:r>
            <a:r>
              <a:rPr lang="en-US" altLang="zh-TW" sz="3600" dirty="0" smtClean="0">
                <a:solidFill>
                  <a:srgbClr val="FF0000"/>
                </a:solidFill>
              </a:rPr>
              <a:t>CPUs access </a:t>
            </a:r>
            <a:r>
              <a:rPr lang="en-US" altLang="zh-TW" sz="3600" dirty="0">
                <a:solidFill>
                  <a:srgbClr val="FF0000"/>
                </a:solidFill>
              </a:rPr>
              <a:t>memory by addresses. </a:t>
            </a:r>
            <a:r>
              <a:rPr lang="zh-TW" altLang="en-US" sz="3600" dirty="0" smtClean="0">
                <a:solidFill>
                  <a:srgbClr val="FF0000"/>
                </a:solidFill>
              </a:rPr>
              <a:t>怎麼辦呢</a:t>
            </a:r>
            <a:r>
              <a:rPr lang="en-US" altLang="zh-TW" sz="3600" dirty="0" smtClean="0">
                <a:solidFill>
                  <a:srgbClr val="FF0000"/>
                </a:solidFill>
              </a:rPr>
              <a:t>?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</a:t>
            </a:r>
            <a:r>
              <a:rPr lang="en-US" altLang="zh-TW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altLang="zh-TW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Address </a:t>
            </a:r>
            <a:r>
              <a:rPr lang="en-US" altLang="zh-TW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Binding</a:t>
            </a:r>
          </a:p>
          <a:p>
            <a:r>
              <a:rPr lang="zh-TW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將變數轉化為記憶體位</a:t>
            </a:r>
            <a:r>
              <a:rPr lang="zh-TW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址</a:t>
            </a:r>
            <a:endParaRPr lang="en-US" altLang="zh-TW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61689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Binding of Instructions and Data to Memory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kumimoji="0" lang="en-US" altLang="zh-TW" b="1" dirty="0">
                <a:solidFill>
                  <a:srgbClr val="FF0000"/>
                </a:solidFill>
              </a:rPr>
              <a:t>Address binding</a:t>
            </a:r>
            <a:r>
              <a:rPr kumimoji="0" lang="en-US" altLang="zh-TW" dirty="0"/>
              <a:t>: a mapping from one address space to </a:t>
            </a:r>
            <a:r>
              <a:rPr kumimoji="0" lang="en-US" altLang="zh-TW" dirty="0" smtClean="0"/>
              <a:t>the </a:t>
            </a:r>
            <a:r>
              <a:rPr kumimoji="0" lang="en-US" altLang="zh-TW" b="1" dirty="0" smtClean="0"/>
              <a:t>actual</a:t>
            </a:r>
            <a:r>
              <a:rPr kumimoji="0" lang="en-US" altLang="zh-TW" dirty="0" smtClean="0"/>
              <a:t> memory address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</a:pPr>
            <a:endParaRPr lang="en-US" altLang="zh-TW" sz="2500" dirty="0"/>
          </a:p>
          <a:p>
            <a:pPr>
              <a:lnSpc>
                <a:spcPct val="120000"/>
              </a:lnSpc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48364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何時轉換呢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看程式開發過程中會經過哪些步驟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3219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Program Development Steps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TW" dirty="0" smtClean="0"/>
              <a:t>User </a:t>
            </a:r>
            <a:r>
              <a:rPr lang="en-US" altLang="zh-TW" dirty="0"/>
              <a:t>programs go through several steps before being run</a:t>
            </a:r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Source </a:t>
            </a:r>
            <a:r>
              <a:rPr lang="en-US" altLang="zh-TW" dirty="0"/>
              <a:t>code </a:t>
            </a:r>
            <a:r>
              <a:rPr lang="en-US" altLang="zh-TW" b="1" dirty="0">
                <a:solidFill>
                  <a:srgbClr val="3366FF"/>
                </a:solidFill>
              </a:rPr>
              <a:t>compiled</a:t>
            </a:r>
            <a:r>
              <a:rPr lang="en-US" altLang="zh-TW" dirty="0"/>
              <a:t> into </a:t>
            </a:r>
            <a:r>
              <a:rPr lang="en-US" altLang="zh-TW" b="1" dirty="0"/>
              <a:t>object files </a:t>
            </a:r>
            <a:endParaRPr lang="en-US" altLang="zh-TW" b="1" dirty="0" smtClean="0"/>
          </a:p>
          <a:p>
            <a:pPr lvl="1">
              <a:lnSpc>
                <a:spcPct val="120000"/>
              </a:lnSpc>
            </a:pPr>
            <a:endParaRPr lang="en-US" altLang="zh-TW" b="1" dirty="0" smtClean="0">
              <a:solidFill>
                <a:srgbClr val="3366FF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US" altLang="zh-TW" b="1" dirty="0" smtClean="0">
                <a:solidFill>
                  <a:srgbClr val="3366FF"/>
                </a:solidFill>
              </a:rPr>
              <a:t>Linker </a:t>
            </a:r>
            <a:r>
              <a:rPr lang="en-US" altLang="zh-TW" dirty="0"/>
              <a:t>combines these </a:t>
            </a:r>
            <a:r>
              <a:rPr lang="en-US" altLang="zh-TW" dirty="0" smtClean="0"/>
              <a:t>object files into </a:t>
            </a:r>
            <a:r>
              <a:rPr lang="en-US" altLang="zh-TW" dirty="0"/>
              <a:t>single binary </a:t>
            </a:r>
            <a:r>
              <a:rPr lang="en-US" altLang="zh-TW" b="1" dirty="0">
                <a:solidFill>
                  <a:srgbClr val="3366FF"/>
                </a:solidFill>
              </a:rPr>
              <a:t>executable</a:t>
            </a:r>
            <a:r>
              <a:rPr lang="en-US" altLang="zh-TW" dirty="0"/>
              <a:t> file</a:t>
            </a:r>
          </a:p>
          <a:p>
            <a:pPr lvl="2">
              <a:lnSpc>
                <a:spcPct val="120000"/>
              </a:lnSpc>
            </a:pPr>
            <a:r>
              <a:rPr lang="en-US" altLang="zh-TW" dirty="0"/>
              <a:t>Also brings in </a:t>
            </a:r>
            <a:r>
              <a:rPr lang="en-US" altLang="zh-TW" b="1" dirty="0">
                <a:solidFill>
                  <a:srgbClr val="FF0000"/>
                </a:solidFill>
              </a:rPr>
              <a:t>(statically linked) </a:t>
            </a:r>
            <a:r>
              <a:rPr lang="en-US" altLang="zh-TW" b="1" dirty="0" smtClean="0">
                <a:solidFill>
                  <a:srgbClr val="FF0000"/>
                </a:solidFill>
              </a:rPr>
              <a:t>libraries</a:t>
            </a:r>
            <a:endParaRPr lang="en-US" altLang="zh-TW" b="1" dirty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</a:pPr>
            <a:endParaRPr lang="en-US" altLang="zh-TW" b="1" dirty="0" smtClean="0">
              <a:solidFill>
                <a:srgbClr val="3366FF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US" altLang="zh-TW" b="1" dirty="0" smtClean="0">
                <a:solidFill>
                  <a:srgbClr val="3366FF"/>
                </a:solidFill>
              </a:rPr>
              <a:t>Loader</a:t>
            </a:r>
            <a:r>
              <a:rPr lang="en-US" altLang="zh-TW" dirty="0" smtClean="0"/>
              <a:t> brought the program (as </a:t>
            </a:r>
            <a:r>
              <a:rPr lang="en-US" altLang="zh-TW" b="1" dirty="0">
                <a:solidFill>
                  <a:srgbClr val="FF0000"/>
                </a:solidFill>
              </a:rPr>
              <a:t>binary </a:t>
            </a:r>
            <a:r>
              <a:rPr lang="en-US" altLang="zh-TW" b="1" dirty="0" smtClean="0">
                <a:solidFill>
                  <a:srgbClr val="FF0000"/>
                </a:solidFill>
              </a:rPr>
              <a:t>executable</a:t>
            </a:r>
            <a:r>
              <a:rPr lang="en-US" altLang="zh-TW" dirty="0" smtClean="0"/>
              <a:t> on secondary storage) into memory to be executed</a:t>
            </a:r>
          </a:p>
        </p:txBody>
      </p:sp>
    </p:spTree>
    <p:extLst>
      <p:ext uri="{BB962C8B-B14F-4D97-AF65-F5344CB8AC3E}">
        <p14:creationId xmlns:p14="http://schemas.microsoft.com/office/powerpoint/2010/main" val="3278772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Role of the Linker and Loader</a:t>
            </a:r>
            <a:endParaRPr lang="zh-TW" altLang="en-US" dirty="0"/>
          </a:p>
        </p:txBody>
      </p:sp>
      <p:pic>
        <p:nvPicPr>
          <p:cNvPr id="3" name="Content Placeholder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15680" y="1052736"/>
            <a:ext cx="6624736" cy="5526360"/>
          </a:xfrm>
          <a:prstGeom prst="rect">
            <a:avLst/>
          </a:prstGeom>
        </p:spPr>
      </p:pic>
      <p:sp>
        <p:nvSpPr>
          <p:cNvPr id="6" name="橢圓 5"/>
          <p:cNvSpPr/>
          <p:nvPr/>
        </p:nvSpPr>
        <p:spPr>
          <a:xfrm>
            <a:off x="2567608" y="3861048"/>
            <a:ext cx="1908212" cy="770384"/>
          </a:xfrm>
          <a:prstGeom prst="ellipse">
            <a:avLst/>
          </a:prstGeom>
          <a:solidFill>
            <a:srgbClr val="CCECF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700" dirty="0">
                <a:solidFill>
                  <a:schemeClr val="tx1"/>
                </a:solidFill>
                <a:latin typeface="Calibri" panose="020F0502020204030204" pitchFamily="34" charset="0"/>
              </a:rPr>
              <a:t>statically linked library</a:t>
            </a:r>
          </a:p>
        </p:txBody>
      </p:sp>
      <p:cxnSp>
        <p:nvCxnSpPr>
          <p:cNvPr id="8" name="直線單箭頭接點 7"/>
          <p:cNvCxnSpPr>
            <a:stCxn id="6" idx="6"/>
          </p:cNvCxnSpPr>
          <p:nvPr/>
        </p:nvCxnSpPr>
        <p:spPr>
          <a:xfrm flipV="1">
            <a:off x="4475820" y="3933056"/>
            <a:ext cx="252028" cy="313184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27848" y="1988841"/>
            <a:ext cx="1440160" cy="3600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30977" y="5301208"/>
            <a:ext cx="1440160" cy="3600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727848" y="5949280"/>
            <a:ext cx="1440160" cy="6298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9074" y="1710066"/>
            <a:ext cx="1733550" cy="6477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4071" y="3508598"/>
            <a:ext cx="1314450" cy="2152650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4432" y="5840685"/>
            <a:ext cx="1895475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79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Binding of Instructions and Data to Memory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kumimoji="0" lang="en-US" altLang="zh-TW" b="1" dirty="0" smtClean="0">
                <a:solidFill>
                  <a:srgbClr val="FF0000"/>
                </a:solidFill>
              </a:rPr>
              <a:t>Question</a:t>
            </a:r>
            <a:r>
              <a:rPr kumimoji="0" lang="en-US" altLang="zh-TW" dirty="0" smtClean="0"/>
              <a:t>: when to perform the binding?</a:t>
            </a:r>
          </a:p>
          <a:p>
            <a:pPr>
              <a:lnSpc>
                <a:spcPct val="120000"/>
              </a:lnSpc>
            </a:pPr>
            <a:endParaRPr kumimoji="0" lang="en-US" altLang="zh-TW" b="1" dirty="0" smtClean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kumimoji="0" lang="en-US" altLang="zh-TW" b="1" dirty="0" smtClean="0">
                <a:solidFill>
                  <a:srgbClr val="FF0000"/>
                </a:solidFill>
              </a:rPr>
              <a:t>Solutions</a:t>
            </a:r>
            <a:r>
              <a:rPr lang="en-US" altLang="zh-TW" dirty="0" smtClean="0"/>
              <a:t>: binding can be performed at </a:t>
            </a:r>
            <a:r>
              <a:rPr lang="en-US" altLang="zh-TW" b="1" dirty="0" smtClean="0"/>
              <a:t>compiler time</a:t>
            </a:r>
            <a:r>
              <a:rPr lang="en-US" altLang="zh-TW" dirty="0" smtClean="0"/>
              <a:t>, </a:t>
            </a:r>
            <a:r>
              <a:rPr lang="en-US" altLang="zh-TW" b="1" dirty="0" smtClean="0"/>
              <a:t>loading time</a:t>
            </a:r>
            <a:r>
              <a:rPr lang="en-US" altLang="zh-TW" dirty="0" smtClean="0"/>
              <a:t>, or </a:t>
            </a:r>
            <a:r>
              <a:rPr lang="en-US" altLang="zh-TW" b="1" dirty="0" smtClean="0"/>
              <a:t>execution time</a:t>
            </a:r>
            <a:r>
              <a:rPr lang="en-US" altLang="zh-TW" dirty="0" smtClean="0"/>
              <a:t>.</a:t>
            </a:r>
            <a:endParaRPr lang="zh-TW" altLang="en-US" dirty="0" smtClean="0"/>
          </a:p>
          <a:p>
            <a:pPr eaLnBrk="1" hangingPunct="1">
              <a:lnSpc>
                <a:spcPct val="120000"/>
              </a:lnSpc>
              <a:spcBef>
                <a:spcPts val="600"/>
              </a:spcBef>
            </a:pPr>
            <a:endParaRPr lang="en-US" altLang="zh-TW" sz="2800" dirty="0"/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</a:pPr>
            <a:endParaRPr lang="en-US" altLang="zh-TW" sz="2500" dirty="0"/>
          </a:p>
          <a:p>
            <a:pPr>
              <a:lnSpc>
                <a:spcPct val="120000"/>
              </a:lnSpc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56390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Address Binding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Binding of Instructions and Data to </a:t>
            </a:r>
            <a:r>
              <a:rPr lang="en-US" altLang="zh-TW" dirty="0" smtClean="0"/>
              <a:t>Memory</a:t>
            </a:r>
          </a:p>
          <a:p>
            <a:pPr lvl="1"/>
            <a:r>
              <a:rPr lang="en-US" altLang="zh-TW" dirty="0" smtClean="0"/>
              <a:t>At </a:t>
            </a:r>
            <a:r>
              <a:rPr lang="en-US" altLang="zh-TW" dirty="0"/>
              <a:t>compile time: e.g., SIC </a:t>
            </a:r>
            <a:r>
              <a:rPr lang="en-US" altLang="zh-TW" dirty="0" smtClean="0"/>
              <a:t>computer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At </a:t>
            </a:r>
            <a:r>
              <a:rPr lang="en-US" altLang="zh-TW" dirty="0"/>
              <a:t>load time: e.g., SIC/XE </a:t>
            </a:r>
            <a:r>
              <a:rPr lang="en-US" altLang="zh-TW" dirty="0" smtClean="0"/>
              <a:t>computer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At </a:t>
            </a:r>
            <a:r>
              <a:rPr lang="en-US" altLang="zh-TW" dirty="0"/>
              <a:t>execution time: e.g., x86 computer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7550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Address Binding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Binding of Instructions and Data to </a:t>
            </a:r>
            <a:r>
              <a:rPr lang="en-US" altLang="zh-TW" sz="3600" dirty="0" smtClean="0"/>
              <a:t>Memory</a:t>
            </a:r>
          </a:p>
          <a:p>
            <a:pPr lvl="1"/>
            <a:r>
              <a:rPr lang="en-US" altLang="zh-TW" sz="3200" b="1" dirty="0" smtClean="0">
                <a:solidFill>
                  <a:srgbClr val="FF0000"/>
                </a:solidFill>
              </a:rPr>
              <a:t>At </a:t>
            </a:r>
            <a:r>
              <a:rPr lang="en-US" altLang="zh-TW" sz="3200" b="1" dirty="0">
                <a:solidFill>
                  <a:srgbClr val="FF0000"/>
                </a:solidFill>
              </a:rPr>
              <a:t>compile time: e.g., SIC </a:t>
            </a:r>
            <a:r>
              <a:rPr lang="en-US" altLang="zh-TW" sz="3200" b="1" dirty="0" smtClean="0">
                <a:solidFill>
                  <a:srgbClr val="FF0000"/>
                </a:solidFill>
              </a:rPr>
              <a:t>computer</a:t>
            </a:r>
          </a:p>
          <a:p>
            <a:pPr lvl="1"/>
            <a:endParaRPr lang="en-US" altLang="zh-TW" sz="3200" dirty="0" smtClean="0"/>
          </a:p>
          <a:p>
            <a:pPr lvl="1"/>
            <a:r>
              <a:rPr lang="en-US" altLang="zh-TW" sz="3200" dirty="0" smtClean="0"/>
              <a:t>At </a:t>
            </a:r>
            <a:r>
              <a:rPr lang="en-US" altLang="zh-TW" sz="3200" dirty="0"/>
              <a:t>load time: e.g., SIC/XE </a:t>
            </a:r>
            <a:r>
              <a:rPr lang="en-US" altLang="zh-TW" sz="3200" dirty="0" smtClean="0"/>
              <a:t>computer</a:t>
            </a:r>
          </a:p>
          <a:p>
            <a:pPr lvl="1"/>
            <a:endParaRPr lang="en-US" altLang="zh-TW" sz="3200" dirty="0" smtClean="0"/>
          </a:p>
          <a:p>
            <a:pPr lvl="1"/>
            <a:r>
              <a:rPr lang="en-US" altLang="zh-TW" sz="3200" dirty="0" smtClean="0"/>
              <a:t>At </a:t>
            </a:r>
            <a:r>
              <a:rPr lang="en-US" altLang="zh-TW" sz="3200" dirty="0"/>
              <a:t>execution time: e.g., x86 </a:t>
            </a:r>
            <a:r>
              <a:rPr lang="en-US" altLang="zh-TW" sz="3200" dirty="0" smtClean="0"/>
              <a:t>computer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298891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Binding at </a:t>
            </a:r>
            <a:r>
              <a:rPr lang="en-US" altLang="zh-TW" dirty="0" smtClean="0"/>
              <a:t>Compiler Time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TW" dirty="0"/>
              <a:t>Assume </a:t>
            </a:r>
            <a:r>
              <a:rPr lang="en-US" altLang="zh-TW" b="1" dirty="0">
                <a:solidFill>
                  <a:srgbClr val="0000FF"/>
                </a:solidFill>
              </a:rPr>
              <a:t>compiler time binding</a:t>
            </a:r>
            <a:endParaRPr lang="en-US" altLang="zh-TW" sz="2800" dirty="0"/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TW" dirty="0"/>
              <a:t>Addresses in the source program are generally </a:t>
            </a:r>
            <a:r>
              <a:rPr lang="en-US" altLang="zh-TW" b="1" dirty="0"/>
              <a:t>symbolic</a:t>
            </a: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TW" dirty="0"/>
              <a:t>such as the count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</a:pPr>
            <a:endParaRPr lang="en-US" altLang="zh-TW" dirty="0" smtClean="0"/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TW" dirty="0" smtClean="0"/>
              <a:t>A </a:t>
            </a:r>
            <a:r>
              <a:rPr lang="en-US" altLang="zh-TW" dirty="0"/>
              <a:t>compiler bind </a:t>
            </a:r>
            <a:r>
              <a:rPr lang="en-US" altLang="zh-TW" b="1" dirty="0"/>
              <a:t>symbolic addresses </a:t>
            </a:r>
            <a:r>
              <a:rPr lang="en-US" altLang="zh-TW" dirty="0"/>
              <a:t>to </a:t>
            </a:r>
            <a:r>
              <a:rPr lang="en-US" altLang="zh-TW" b="1" dirty="0"/>
              <a:t>absolute addresses</a:t>
            </a: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TW" dirty="0"/>
              <a:t>such as 74014</a:t>
            </a:r>
          </a:p>
        </p:txBody>
      </p:sp>
    </p:spTree>
    <p:extLst>
      <p:ext uri="{BB962C8B-B14F-4D97-AF65-F5344CB8AC3E}">
        <p14:creationId xmlns:p14="http://schemas.microsoft.com/office/powerpoint/2010/main" val="2321004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投影片編號版面配置區 5"/>
          <p:cNvSpPr>
            <a:spLocks noGrp="1"/>
          </p:cNvSpPr>
          <p:nvPr>
            <p:ph type="sldNum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endParaRPr kumimoji="0" lang="en-US" altLang="zh-TW" u="none" dirty="0" smtClean="0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z="4000" dirty="0" smtClean="0"/>
              <a:t>複習：</a:t>
            </a:r>
            <a:r>
              <a:rPr lang="en-US" altLang="zh-TW" sz="4000" dirty="0" smtClean="0"/>
              <a:t>Example </a:t>
            </a:r>
            <a:r>
              <a:rPr lang="en-US" altLang="zh-TW" sz="4000" dirty="0"/>
              <a:t>of a SIC Assembler Language </a:t>
            </a:r>
            <a:r>
              <a:rPr lang="en-US" altLang="zh-TW" sz="4000" dirty="0" smtClean="0"/>
              <a:t>Program</a:t>
            </a:r>
            <a:endParaRPr lang="en-US" altLang="zh-TW" sz="4000" dirty="0"/>
          </a:p>
        </p:txBody>
      </p:sp>
      <p:grpSp>
        <p:nvGrpSpPr>
          <p:cNvPr id="11268" name="Group 4"/>
          <p:cNvGrpSpPr>
            <a:grpSpLocks/>
          </p:cNvGrpSpPr>
          <p:nvPr/>
        </p:nvGrpSpPr>
        <p:grpSpPr bwMode="auto">
          <a:xfrm>
            <a:off x="1487488" y="1412777"/>
            <a:ext cx="8424862" cy="5157789"/>
            <a:chOff x="816" y="1198"/>
            <a:chExt cx="4224" cy="3122"/>
          </a:xfrm>
        </p:grpSpPr>
        <p:pic>
          <p:nvPicPr>
            <p:cNvPr id="11269" name="Picture 5" descr="f22a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" y="1198"/>
              <a:ext cx="4224" cy="3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70" name="Oval 6"/>
            <p:cNvSpPr>
              <a:spLocks noChangeArrowheads="1"/>
            </p:cNvSpPr>
            <p:nvPr/>
          </p:nvSpPr>
          <p:spPr bwMode="auto">
            <a:xfrm>
              <a:off x="2496" y="1728"/>
              <a:ext cx="1296" cy="144"/>
            </a:xfrm>
            <a:prstGeom prst="ellipse">
              <a:avLst/>
            </a:prstGeom>
            <a:noFill/>
            <a:ln w="31750">
              <a:solidFill>
                <a:srgbClr val="3366FF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1271" name="Oval 7"/>
            <p:cNvSpPr>
              <a:spLocks noChangeArrowheads="1"/>
            </p:cNvSpPr>
            <p:nvPr/>
          </p:nvSpPr>
          <p:spPr bwMode="auto">
            <a:xfrm>
              <a:off x="2592" y="2352"/>
              <a:ext cx="1296" cy="192"/>
            </a:xfrm>
            <a:prstGeom prst="ellipse">
              <a:avLst/>
            </a:prstGeom>
            <a:noFill/>
            <a:ln w="31750">
              <a:solidFill>
                <a:srgbClr val="FF000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1272" name="Oval 8"/>
            <p:cNvSpPr>
              <a:spLocks noChangeArrowheads="1"/>
            </p:cNvSpPr>
            <p:nvPr/>
          </p:nvSpPr>
          <p:spPr bwMode="auto">
            <a:xfrm>
              <a:off x="2544" y="3120"/>
              <a:ext cx="1296" cy="144"/>
            </a:xfrm>
            <a:prstGeom prst="ellipse">
              <a:avLst/>
            </a:prstGeom>
            <a:noFill/>
            <a:ln w="31750">
              <a:solidFill>
                <a:srgbClr val="FF000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1273" name="Oval 9"/>
            <p:cNvSpPr>
              <a:spLocks noChangeArrowheads="1"/>
            </p:cNvSpPr>
            <p:nvPr/>
          </p:nvSpPr>
          <p:spPr bwMode="auto">
            <a:xfrm>
              <a:off x="2544" y="1872"/>
              <a:ext cx="1296" cy="192"/>
            </a:xfrm>
            <a:prstGeom prst="ellipse">
              <a:avLst/>
            </a:prstGeom>
            <a:noFill/>
            <a:ln w="31750">
              <a:solidFill>
                <a:srgbClr val="FF000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1274" name="Oval 10"/>
            <p:cNvSpPr>
              <a:spLocks noChangeArrowheads="1"/>
            </p:cNvSpPr>
            <p:nvPr/>
          </p:nvSpPr>
          <p:spPr bwMode="auto">
            <a:xfrm>
              <a:off x="2496" y="3264"/>
              <a:ext cx="1296" cy="288"/>
            </a:xfrm>
            <a:prstGeom prst="ellipse">
              <a:avLst/>
            </a:prstGeom>
            <a:noFill/>
            <a:ln w="31750">
              <a:solidFill>
                <a:srgbClr val="3366FF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1275" name="Rectangle 11"/>
            <p:cNvSpPr>
              <a:spLocks noChangeArrowheads="1"/>
            </p:cNvSpPr>
            <p:nvPr/>
          </p:nvSpPr>
          <p:spPr bwMode="auto">
            <a:xfrm>
              <a:off x="1968" y="1872"/>
              <a:ext cx="2016" cy="768"/>
            </a:xfrm>
            <a:prstGeom prst="rect">
              <a:avLst/>
            </a:prstGeom>
            <a:noFill/>
            <a:ln w="25400">
              <a:solidFill>
                <a:srgbClr val="C0C0C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9265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Binding at Compile Time</a:t>
            </a:r>
          </a:p>
        </p:txBody>
      </p:sp>
      <p:grpSp>
        <p:nvGrpSpPr>
          <p:cNvPr id="13315" name="Group 3"/>
          <p:cNvGrpSpPr>
            <a:grpSpLocks/>
          </p:cNvGrpSpPr>
          <p:nvPr/>
        </p:nvGrpSpPr>
        <p:grpSpPr bwMode="auto">
          <a:xfrm>
            <a:off x="1866900" y="1798639"/>
            <a:ext cx="2408238" cy="4327525"/>
            <a:chOff x="729" y="1133"/>
            <a:chExt cx="1517" cy="2726"/>
          </a:xfrm>
        </p:grpSpPr>
        <p:sp>
          <p:nvSpPr>
            <p:cNvPr id="13332" name="Rectangle 4"/>
            <p:cNvSpPr>
              <a:spLocks noChangeArrowheads="1"/>
            </p:cNvSpPr>
            <p:nvPr/>
          </p:nvSpPr>
          <p:spPr bwMode="auto">
            <a:xfrm>
              <a:off x="928" y="1610"/>
              <a:ext cx="1160" cy="203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3333" name="Text Box 5"/>
            <p:cNvSpPr txBox="1">
              <a:spLocks noChangeArrowheads="1"/>
            </p:cNvSpPr>
            <p:nvPr/>
          </p:nvSpPr>
          <p:spPr bwMode="auto">
            <a:xfrm>
              <a:off x="802" y="1133"/>
              <a:ext cx="717" cy="40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 dirty="0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  <a:t>Symbolic</a:t>
              </a:r>
              <a:br>
                <a:rPr lang="en-US" altLang="zh-TW" sz="1800" b="1" dirty="0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</a:br>
              <a:r>
                <a:rPr lang="en-US" altLang="zh-TW" sz="1800" dirty="0">
                  <a:latin typeface="Calibri" panose="020F0502020204030204" pitchFamily="34" charset="0"/>
                  <a:ea typeface="標楷體" pitchFamily="65" charset="-120"/>
                </a:rPr>
                <a:t>Addresses</a:t>
              </a:r>
            </a:p>
          </p:txBody>
        </p:sp>
        <p:sp>
          <p:nvSpPr>
            <p:cNvPr id="13334" name="Text Box 6"/>
            <p:cNvSpPr txBox="1">
              <a:spLocks noChangeArrowheads="1"/>
            </p:cNvSpPr>
            <p:nvPr/>
          </p:nvSpPr>
          <p:spPr bwMode="auto">
            <a:xfrm>
              <a:off x="925" y="1613"/>
              <a:ext cx="692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b="1">
                  <a:latin typeface="Calibri" panose="020F0502020204030204" pitchFamily="34" charset="0"/>
                  <a:ea typeface="標楷體" pitchFamily="65" charset="-120"/>
                </a:rPr>
                <a:t>PROGRAM</a:t>
              </a:r>
            </a:p>
          </p:txBody>
        </p:sp>
        <p:sp>
          <p:nvSpPr>
            <p:cNvPr id="13335" name="Text Box 7"/>
            <p:cNvSpPr txBox="1">
              <a:spLocks noChangeArrowheads="1"/>
            </p:cNvSpPr>
            <p:nvPr/>
          </p:nvSpPr>
          <p:spPr bwMode="auto">
            <a:xfrm>
              <a:off x="925" y="1968"/>
              <a:ext cx="672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b="1" dirty="0">
                  <a:latin typeface="Calibri" panose="020F0502020204030204" pitchFamily="34" charset="0"/>
                  <a:ea typeface="標楷體" pitchFamily="65" charset="-120"/>
                </a:rPr>
                <a:t>JUMP  </a:t>
              </a:r>
              <a:r>
                <a:rPr lang="en-US" altLang="zh-TW" sz="1600" b="1" dirty="0" err="1">
                  <a:latin typeface="Calibri" panose="020F0502020204030204" pitchFamily="34" charset="0"/>
                  <a:ea typeface="標楷體" pitchFamily="65" charset="-120"/>
                </a:rPr>
                <a:t>abc</a:t>
              </a:r>
              <a:endParaRPr lang="en-US" altLang="zh-TW" sz="1600" b="1" dirty="0">
                <a:latin typeface="Calibri" panose="020F0502020204030204" pitchFamily="34" charset="0"/>
                <a:ea typeface="標楷體" pitchFamily="65" charset="-120"/>
              </a:endParaRPr>
            </a:p>
          </p:txBody>
        </p:sp>
        <p:sp>
          <p:nvSpPr>
            <p:cNvPr id="13336" name="Text Box 8"/>
            <p:cNvSpPr txBox="1">
              <a:spLocks noChangeArrowheads="1"/>
            </p:cNvSpPr>
            <p:nvPr/>
          </p:nvSpPr>
          <p:spPr bwMode="auto">
            <a:xfrm>
              <a:off x="925" y="2505"/>
              <a:ext cx="646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b="1" dirty="0">
                  <a:latin typeface="Calibri" panose="020F0502020204030204" pitchFamily="34" charset="0"/>
                  <a:ea typeface="標楷體" pitchFamily="65" charset="-120"/>
                </a:rPr>
                <a:t>LOAD  xyz</a:t>
              </a:r>
            </a:p>
          </p:txBody>
        </p:sp>
        <p:sp>
          <p:nvSpPr>
            <p:cNvPr id="13337" name="Line 9"/>
            <p:cNvSpPr>
              <a:spLocks noChangeShapeType="1"/>
            </p:cNvSpPr>
            <p:nvPr/>
          </p:nvSpPr>
          <p:spPr bwMode="auto">
            <a:xfrm>
              <a:off x="928" y="2817"/>
              <a:ext cx="11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3338" name="Text Box 10"/>
            <p:cNvSpPr txBox="1">
              <a:spLocks noChangeArrowheads="1"/>
            </p:cNvSpPr>
            <p:nvPr/>
          </p:nvSpPr>
          <p:spPr bwMode="auto">
            <a:xfrm>
              <a:off x="925" y="2828"/>
              <a:ext cx="396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b="1">
                  <a:latin typeface="Calibri" panose="020F0502020204030204" pitchFamily="34" charset="0"/>
                  <a:ea typeface="標楷體" pitchFamily="65" charset="-120"/>
                </a:rPr>
                <a:t>DATA</a:t>
              </a:r>
            </a:p>
          </p:txBody>
        </p:sp>
        <p:sp>
          <p:nvSpPr>
            <p:cNvPr id="13339" name="Text Box 11"/>
            <p:cNvSpPr txBox="1">
              <a:spLocks noChangeArrowheads="1"/>
            </p:cNvSpPr>
            <p:nvPr/>
          </p:nvSpPr>
          <p:spPr bwMode="auto">
            <a:xfrm>
              <a:off x="729" y="2189"/>
              <a:ext cx="486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b="1" dirty="0">
                  <a:latin typeface="Calibri" panose="020F0502020204030204" pitchFamily="34" charset="0"/>
                  <a:ea typeface="標楷體" pitchFamily="65" charset="-120"/>
                </a:rPr>
                <a:t>     </a:t>
              </a:r>
              <a:r>
                <a:rPr lang="en-US" altLang="zh-TW" sz="1600" b="1" dirty="0" err="1">
                  <a:latin typeface="Calibri" panose="020F0502020204030204" pitchFamily="34" charset="0"/>
                  <a:ea typeface="標楷體" pitchFamily="65" charset="-120"/>
                </a:rPr>
                <a:t>abc</a:t>
              </a:r>
              <a:r>
                <a:rPr lang="en-US" altLang="zh-TW" sz="1600" b="1" dirty="0">
                  <a:latin typeface="Calibri" panose="020F0502020204030204" pitchFamily="34" charset="0"/>
                  <a:ea typeface="標楷體" pitchFamily="65" charset="-120"/>
                </a:rPr>
                <a:t>:</a:t>
              </a:r>
            </a:p>
          </p:txBody>
        </p:sp>
        <p:sp>
          <p:nvSpPr>
            <p:cNvPr id="13340" name="Text Box 12"/>
            <p:cNvSpPr txBox="1">
              <a:spLocks noChangeArrowheads="1"/>
            </p:cNvSpPr>
            <p:nvPr/>
          </p:nvSpPr>
          <p:spPr bwMode="auto">
            <a:xfrm>
              <a:off x="729" y="3199"/>
              <a:ext cx="637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b="1" dirty="0">
                  <a:latin typeface="Calibri" panose="020F0502020204030204" pitchFamily="34" charset="0"/>
                  <a:ea typeface="標楷體" pitchFamily="65" charset="-120"/>
                </a:rPr>
                <a:t>      </a:t>
              </a:r>
              <a:r>
                <a:rPr lang="en-US" altLang="zh-TW" sz="1600" b="1" dirty="0" err="1">
                  <a:latin typeface="Calibri" panose="020F0502020204030204" pitchFamily="34" charset="0"/>
                  <a:ea typeface="標楷體" pitchFamily="65" charset="-120"/>
                </a:rPr>
                <a:t>int</a:t>
              </a:r>
              <a:r>
                <a:rPr lang="en-US" altLang="zh-TW" sz="1600" b="1" dirty="0">
                  <a:latin typeface="Calibri" panose="020F0502020204030204" pitchFamily="34" charset="0"/>
                  <a:ea typeface="標楷體" pitchFamily="65" charset="-120"/>
                </a:rPr>
                <a:t> xyz</a:t>
              </a:r>
            </a:p>
          </p:txBody>
        </p:sp>
        <p:sp>
          <p:nvSpPr>
            <p:cNvPr id="13341" name="Freeform 13"/>
            <p:cNvSpPr>
              <a:spLocks/>
            </p:cNvSpPr>
            <p:nvPr/>
          </p:nvSpPr>
          <p:spPr bwMode="auto">
            <a:xfrm>
              <a:off x="1543" y="2067"/>
              <a:ext cx="703" cy="237"/>
            </a:xfrm>
            <a:custGeom>
              <a:avLst/>
              <a:gdLst>
                <a:gd name="T0" fmla="*/ 0 w 703"/>
                <a:gd name="T1" fmla="*/ 0 h 237"/>
                <a:gd name="T2" fmla="*/ 703 w 703"/>
                <a:gd name="T3" fmla="*/ 0 h 237"/>
                <a:gd name="T4" fmla="*/ 703 w 703"/>
                <a:gd name="T5" fmla="*/ 237 h 237"/>
                <a:gd name="T6" fmla="*/ 174 w 703"/>
                <a:gd name="T7" fmla="*/ 237 h 2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3"/>
                <a:gd name="T13" fmla="*/ 0 h 237"/>
                <a:gd name="T14" fmla="*/ 703 w 703"/>
                <a:gd name="T15" fmla="*/ 237 h 2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3" h="237">
                  <a:moveTo>
                    <a:pt x="0" y="0"/>
                  </a:moveTo>
                  <a:lnTo>
                    <a:pt x="703" y="0"/>
                  </a:lnTo>
                  <a:lnTo>
                    <a:pt x="703" y="237"/>
                  </a:lnTo>
                  <a:lnTo>
                    <a:pt x="174" y="237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3342" name="Freeform 14"/>
            <p:cNvSpPr>
              <a:spLocks/>
            </p:cNvSpPr>
            <p:nvPr/>
          </p:nvSpPr>
          <p:spPr bwMode="auto">
            <a:xfrm>
              <a:off x="1543" y="2635"/>
              <a:ext cx="703" cy="647"/>
            </a:xfrm>
            <a:custGeom>
              <a:avLst/>
              <a:gdLst>
                <a:gd name="T0" fmla="*/ 0 w 703"/>
                <a:gd name="T1" fmla="*/ 0 h 237"/>
                <a:gd name="T2" fmla="*/ 703 w 703"/>
                <a:gd name="T3" fmla="*/ 0 h 237"/>
                <a:gd name="T4" fmla="*/ 703 w 703"/>
                <a:gd name="T5" fmla="*/ 1766 h 237"/>
                <a:gd name="T6" fmla="*/ 174 w 703"/>
                <a:gd name="T7" fmla="*/ 1766 h 2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3"/>
                <a:gd name="T13" fmla="*/ 0 h 237"/>
                <a:gd name="T14" fmla="*/ 703 w 703"/>
                <a:gd name="T15" fmla="*/ 237 h 2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3" h="237">
                  <a:moveTo>
                    <a:pt x="0" y="0"/>
                  </a:moveTo>
                  <a:lnTo>
                    <a:pt x="703" y="0"/>
                  </a:lnTo>
                  <a:lnTo>
                    <a:pt x="703" y="237"/>
                  </a:lnTo>
                  <a:lnTo>
                    <a:pt x="174" y="237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3343" name="Text Box 15"/>
            <p:cNvSpPr txBox="1">
              <a:spLocks noChangeArrowheads="1"/>
            </p:cNvSpPr>
            <p:nvPr/>
          </p:nvSpPr>
          <p:spPr bwMode="auto">
            <a:xfrm>
              <a:off x="980" y="3626"/>
              <a:ext cx="856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>
                  <a:latin typeface="Calibri" panose="020F0502020204030204" pitchFamily="34" charset="0"/>
                  <a:ea typeface="標楷體" pitchFamily="65" charset="-120"/>
                </a:rPr>
                <a:t>Source Code</a:t>
              </a:r>
            </a:p>
          </p:txBody>
        </p:sp>
      </p:grpSp>
      <p:grpSp>
        <p:nvGrpSpPr>
          <p:cNvPr id="13316" name="Group 16"/>
          <p:cNvGrpSpPr>
            <a:grpSpLocks/>
          </p:cNvGrpSpPr>
          <p:nvPr/>
        </p:nvGrpSpPr>
        <p:grpSpPr bwMode="auto">
          <a:xfrm>
            <a:off x="5407026" y="1798639"/>
            <a:ext cx="3444875" cy="4327525"/>
            <a:chOff x="2959" y="1133"/>
            <a:chExt cx="2170" cy="2726"/>
          </a:xfrm>
        </p:grpSpPr>
        <p:sp>
          <p:nvSpPr>
            <p:cNvPr id="13321" name="Rectangle 17"/>
            <p:cNvSpPr>
              <a:spLocks noChangeArrowheads="1"/>
            </p:cNvSpPr>
            <p:nvPr/>
          </p:nvSpPr>
          <p:spPr bwMode="auto">
            <a:xfrm>
              <a:off x="3333" y="1610"/>
              <a:ext cx="1160" cy="203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3322" name="Text Box 18"/>
            <p:cNvSpPr txBox="1">
              <a:spLocks noChangeArrowheads="1"/>
            </p:cNvSpPr>
            <p:nvPr/>
          </p:nvSpPr>
          <p:spPr bwMode="auto">
            <a:xfrm>
              <a:off x="3283" y="1133"/>
              <a:ext cx="1846" cy="40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  <a:t>Absolute Addresses</a:t>
              </a:r>
              <a:r>
                <a:rPr lang="en-US" altLang="zh-TW" sz="1800">
                  <a:latin typeface="Calibri" panose="020F0502020204030204" pitchFamily="34" charset="0"/>
                  <a:ea typeface="標楷體" pitchFamily="65" charset="-120"/>
                </a:rPr>
                <a:t/>
              </a:r>
              <a:br>
                <a:rPr lang="en-US" altLang="zh-TW" sz="1800">
                  <a:latin typeface="Calibri" panose="020F0502020204030204" pitchFamily="34" charset="0"/>
                  <a:ea typeface="標楷體" pitchFamily="65" charset="-120"/>
                </a:rPr>
              </a:br>
              <a:r>
                <a:rPr lang="en-US" altLang="zh-TW" sz="1800">
                  <a:latin typeface="Calibri" panose="020F0502020204030204" pitchFamily="34" charset="0"/>
                  <a:ea typeface="標楷體" pitchFamily="65" charset="-120"/>
                </a:rPr>
                <a:t>(Physical Memory Addresses)</a:t>
              </a:r>
            </a:p>
          </p:txBody>
        </p:sp>
        <p:sp>
          <p:nvSpPr>
            <p:cNvPr id="13323" name="Text Box 19"/>
            <p:cNvSpPr txBox="1">
              <a:spLocks noChangeArrowheads="1"/>
            </p:cNvSpPr>
            <p:nvPr/>
          </p:nvSpPr>
          <p:spPr bwMode="auto">
            <a:xfrm>
              <a:off x="2959" y="1630"/>
              <a:ext cx="347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>
                  <a:latin typeface="Calibri" panose="020F0502020204030204" pitchFamily="34" charset="0"/>
                  <a:ea typeface="標楷體" pitchFamily="65" charset="-120"/>
                </a:rPr>
                <a:t>1024</a:t>
              </a:r>
            </a:p>
          </p:txBody>
        </p:sp>
        <p:sp>
          <p:nvSpPr>
            <p:cNvPr id="13324" name="Text Box 20"/>
            <p:cNvSpPr txBox="1">
              <a:spLocks noChangeArrowheads="1"/>
            </p:cNvSpPr>
            <p:nvPr/>
          </p:nvSpPr>
          <p:spPr bwMode="auto">
            <a:xfrm>
              <a:off x="3330" y="1985"/>
              <a:ext cx="66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>
                  <a:latin typeface="Calibri" panose="020F0502020204030204" pitchFamily="34" charset="0"/>
                  <a:ea typeface="標楷體" pitchFamily="65" charset="-120"/>
                </a:rPr>
                <a:t>JUMP  1424</a:t>
              </a:r>
            </a:p>
          </p:txBody>
        </p:sp>
        <p:sp>
          <p:nvSpPr>
            <p:cNvPr id="13325" name="Text Box 21"/>
            <p:cNvSpPr txBox="1">
              <a:spLocks noChangeArrowheads="1"/>
            </p:cNvSpPr>
            <p:nvPr/>
          </p:nvSpPr>
          <p:spPr bwMode="auto">
            <a:xfrm>
              <a:off x="3330" y="2522"/>
              <a:ext cx="65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>
                  <a:latin typeface="Calibri" panose="020F0502020204030204" pitchFamily="34" charset="0"/>
                  <a:ea typeface="標楷體" pitchFamily="65" charset="-120"/>
                </a:rPr>
                <a:t>LOAD  2224</a:t>
              </a:r>
            </a:p>
          </p:txBody>
        </p:sp>
        <p:sp>
          <p:nvSpPr>
            <p:cNvPr id="13326" name="Line 22"/>
            <p:cNvSpPr>
              <a:spLocks noChangeShapeType="1"/>
            </p:cNvSpPr>
            <p:nvPr/>
          </p:nvSpPr>
          <p:spPr bwMode="auto">
            <a:xfrm>
              <a:off x="3333" y="2817"/>
              <a:ext cx="11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3327" name="Text Box 23"/>
            <p:cNvSpPr txBox="1">
              <a:spLocks noChangeArrowheads="1"/>
            </p:cNvSpPr>
            <p:nvPr/>
          </p:nvSpPr>
          <p:spPr bwMode="auto">
            <a:xfrm>
              <a:off x="2959" y="2206"/>
              <a:ext cx="347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>
                  <a:latin typeface="Calibri" panose="020F0502020204030204" pitchFamily="34" charset="0"/>
                  <a:ea typeface="標楷體" pitchFamily="65" charset="-120"/>
                </a:rPr>
                <a:t>1424</a:t>
              </a:r>
            </a:p>
          </p:txBody>
        </p:sp>
        <p:sp>
          <p:nvSpPr>
            <p:cNvPr id="13328" name="Text Box 24"/>
            <p:cNvSpPr txBox="1">
              <a:spLocks noChangeArrowheads="1"/>
            </p:cNvSpPr>
            <p:nvPr/>
          </p:nvSpPr>
          <p:spPr bwMode="auto">
            <a:xfrm>
              <a:off x="2959" y="3216"/>
              <a:ext cx="347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>
                  <a:latin typeface="Calibri" panose="020F0502020204030204" pitchFamily="34" charset="0"/>
                  <a:ea typeface="標楷體" pitchFamily="65" charset="-120"/>
                </a:rPr>
                <a:t>2224</a:t>
              </a:r>
            </a:p>
          </p:txBody>
        </p:sp>
        <p:sp>
          <p:nvSpPr>
            <p:cNvPr id="13329" name="Freeform 25"/>
            <p:cNvSpPr>
              <a:spLocks/>
            </p:cNvSpPr>
            <p:nvPr/>
          </p:nvSpPr>
          <p:spPr bwMode="auto">
            <a:xfrm>
              <a:off x="4398" y="2067"/>
              <a:ext cx="703" cy="237"/>
            </a:xfrm>
            <a:custGeom>
              <a:avLst/>
              <a:gdLst>
                <a:gd name="T0" fmla="*/ 0 w 703"/>
                <a:gd name="T1" fmla="*/ 0 h 237"/>
                <a:gd name="T2" fmla="*/ 703 w 703"/>
                <a:gd name="T3" fmla="*/ 0 h 237"/>
                <a:gd name="T4" fmla="*/ 703 w 703"/>
                <a:gd name="T5" fmla="*/ 237 h 237"/>
                <a:gd name="T6" fmla="*/ 174 w 703"/>
                <a:gd name="T7" fmla="*/ 237 h 2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3"/>
                <a:gd name="T13" fmla="*/ 0 h 237"/>
                <a:gd name="T14" fmla="*/ 703 w 703"/>
                <a:gd name="T15" fmla="*/ 237 h 2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3" h="237">
                  <a:moveTo>
                    <a:pt x="0" y="0"/>
                  </a:moveTo>
                  <a:lnTo>
                    <a:pt x="703" y="0"/>
                  </a:lnTo>
                  <a:lnTo>
                    <a:pt x="703" y="237"/>
                  </a:lnTo>
                  <a:lnTo>
                    <a:pt x="174" y="237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3330" name="Freeform 26"/>
            <p:cNvSpPr>
              <a:spLocks/>
            </p:cNvSpPr>
            <p:nvPr/>
          </p:nvSpPr>
          <p:spPr bwMode="auto">
            <a:xfrm>
              <a:off x="4398" y="2635"/>
              <a:ext cx="703" cy="647"/>
            </a:xfrm>
            <a:custGeom>
              <a:avLst/>
              <a:gdLst>
                <a:gd name="T0" fmla="*/ 0 w 703"/>
                <a:gd name="T1" fmla="*/ 0 h 237"/>
                <a:gd name="T2" fmla="*/ 703 w 703"/>
                <a:gd name="T3" fmla="*/ 0 h 237"/>
                <a:gd name="T4" fmla="*/ 703 w 703"/>
                <a:gd name="T5" fmla="*/ 1766 h 237"/>
                <a:gd name="T6" fmla="*/ 174 w 703"/>
                <a:gd name="T7" fmla="*/ 1766 h 2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3"/>
                <a:gd name="T13" fmla="*/ 0 h 237"/>
                <a:gd name="T14" fmla="*/ 703 w 703"/>
                <a:gd name="T15" fmla="*/ 237 h 2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3" h="237">
                  <a:moveTo>
                    <a:pt x="0" y="0"/>
                  </a:moveTo>
                  <a:lnTo>
                    <a:pt x="703" y="0"/>
                  </a:lnTo>
                  <a:lnTo>
                    <a:pt x="703" y="237"/>
                  </a:lnTo>
                  <a:lnTo>
                    <a:pt x="174" y="237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3331" name="Text Box 27"/>
            <p:cNvSpPr txBox="1">
              <a:spLocks noChangeArrowheads="1"/>
            </p:cNvSpPr>
            <p:nvPr/>
          </p:nvSpPr>
          <p:spPr bwMode="auto">
            <a:xfrm>
              <a:off x="3235" y="3626"/>
              <a:ext cx="1451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>
                  <a:latin typeface="Calibri" panose="020F0502020204030204" pitchFamily="34" charset="0"/>
                  <a:ea typeface="標楷體" pitchFamily="65" charset="-120"/>
                </a:rPr>
                <a:t>Absolute Load Module</a:t>
              </a:r>
            </a:p>
          </p:txBody>
        </p:sp>
      </p:grpSp>
      <p:sp>
        <p:nvSpPr>
          <p:cNvPr id="13317" name="AutoShape 28"/>
          <p:cNvSpPr>
            <a:spLocks noChangeArrowheads="1"/>
          </p:cNvSpPr>
          <p:nvPr/>
        </p:nvSpPr>
        <p:spPr bwMode="auto">
          <a:xfrm>
            <a:off x="4459289" y="3883025"/>
            <a:ext cx="1227137" cy="312738"/>
          </a:xfrm>
          <a:prstGeom prst="chevron">
            <a:avLst>
              <a:gd name="adj" fmla="val 98096"/>
            </a:avLst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TW" altLang="zh-TW" sz="1800">
              <a:solidFill>
                <a:schemeClr val="accent2"/>
              </a:solidFill>
              <a:latin typeface="Calibri" panose="020F0502020204030204" pitchFamily="34" charset="0"/>
              <a:ea typeface="標楷體" pitchFamily="65" charset="-120"/>
            </a:endParaRPr>
          </a:p>
        </p:txBody>
      </p:sp>
      <p:sp>
        <p:nvSpPr>
          <p:cNvPr id="13318" name="Text Box 29"/>
          <p:cNvSpPr txBox="1">
            <a:spLocks noChangeArrowheads="1"/>
          </p:cNvSpPr>
          <p:nvPr/>
        </p:nvSpPr>
        <p:spPr bwMode="auto">
          <a:xfrm>
            <a:off x="4530726" y="4152900"/>
            <a:ext cx="95731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latin typeface="Calibri" panose="020F0502020204030204" pitchFamily="34" charset="0"/>
                <a:ea typeface="標楷體" pitchFamily="65" charset="-120"/>
              </a:rPr>
              <a:t>Compile</a:t>
            </a:r>
          </a:p>
        </p:txBody>
      </p:sp>
      <p:sp>
        <p:nvSpPr>
          <p:cNvPr id="13319" name="AutoShape 31"/>
          <p:cNvSpPr>
            <a:spLocks noChangeArrowheads="1"/>
          </p:cNvSpPr>
          <p:nvPr/>
        </p:nvSpPr>
        <p:spPr bwMode="auto">
          <a:xfrm>
            <a:off x="9272589" y="3883025"/>
            <a:ext cx="1227137" cy="312738"/>
          </a:xfrm>
          <a:prstGeom prst="chevron">
            <a:avLst>
              <a:gd name="adj" fmla="val 98096"/>
            </a:avLst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TW" altLang="zh-TW" sz="1800">
              <a:solidFill>
                <a:schemeClr val="accent2"/>
              </a:solidFill>
              <a:latin typeface="Calibri" panose="020F0502020204030204" pitchFamily="34" charset="0"/>
              <a:ea typeface="標楷體" pitchFamily="65" charset="-120"/>
            </a:endParaRPr>
          </a:p>
        </p:txBody>
      </p:sp>
      <p:sp>
        <p:nvSpPr>
          <p:cNvPr id="13320" name="Text Box 32"/>
          <p:cNvSpPr txBox="1">
            <a:spLocks noChangeArrowheads="1"/>
          </p:cNvSpPr>
          <p:nvPr/>
        </p:nvSpPr>
        <p:spPr bwMode="auto">
          <a:xfrm>
            <a:off x="9532938" y="4152900"/>
            <a:ext cx="561372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latin typeface="Calibri" panose="020F0502020204030204" pitchFamily="34" charset="0"/>
                <a:ea typeface="標楷體" pitchFamily="65" charset="-120"/>
              </a:rPr>
              <a:t>Link</a:t>
            </a:r>
          </a:p>
        </p:txBody>
      </p:sp>
    </p:spTree>
    <p:extLst>
      <p:ext uri="{BB962C8B-B14F-4D97-AF65-F5344CB8AC3E}">
        <p14:creationId xmlns:p14="http://schemas.microsoft.com/office/powerpoint/2010/main" val="2330077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Binding at Compile Time (Cont.)</a:t>
            </a:r>
          </a:p>
        </p:txBody>
      </p:sp>
      <p:grpSp>
        <p:nvGrpSpPr>
          <p:cNvPr id="14339" name="Group 3"/>
          <p:cNvGrpSpPr>
            <a:grpSpLocks/>
          </p:cNvGrpSpPr>
          <p:nvPr/>
        </p:nvGrpSpPr>
        <p:grpSpPr bwMode="auto">
          <a:xfrm>
            <a:off x="3979864" y="1798639"/>
            <a:ext cx="3444875" cy="4327525"/>
            <a:chOff x="2959" y="1133"/>
            <a:chExt cx="2170" cy="2726"/>
          </a:xfrm>
        </p:grpSpPr>
        <p:sp>
          <p:nvSpPr>
            <p:cNvPr id="14342" name="Rectangle 4"/>
            <p:cNvSpPr>
              <a:spLocks noChangeArrowheads="1"/>
            </p:cNvSpPr>
            <p:nvPr/>
          </p:nvSpPr>
          <p:spPr bwMode="auto">
            <a:xfrm>
              <a:off x="3333" y="1610"/>
              <a:ext cx="1160" cy="203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4343" name="Text Box 5"/>
            <p:cNvSpPr txBox="1">
              <a:spLocks noChangeArrowheads="1"/>
            </p:cNvSpPr>
            <p:nvPr/>
          </p:nvSpPr>
          <p:spPr bwMode="auto">
            <a:xfrm>
              <a:off x="3283" y="1133"/>
              <a:ext cx="1846" cy="40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>
                  <a:latin typeface="Calibri" panose="020F0502020204030204" pitchFamily="34" charset="0"/>
                  <a:ea typeface="標楷體" pitchFamily="65" charset="-120"/>
                </a:rPr>
                <a:t>Absolute Addresses</a:t>
              </a:r>
              <a:br>
                <a:rPr lang="en-US" altLang="zh-TW" sz="1800">
                  <a:latin typeface="Calibri" panose="020F0502020204030204" pitchFamily="34" charset="0"/>
                  <a:ea typeface="標楷體" pitchFamily="65" charset="-120"/>
                </a:rPr>
              </a:br>
              <a:r>
                <a:rPr lang="en-US" altLang="zh-TW" sz="1800">
                  <a:latin typeface="Calibri" panose="020F0502020204030204" pitchFamily="34" charset="0"/>
                  <a:ea typeface="標楷體" pitchFamily="65" charset="-120"/>
                </a:rPr>
                <a:t>(Physical Memory Addresses)</a:t>
              </a:r>
            </a:p>
          </p:txBody>
        </p:sp>
        <p:sp>
          <p:nvSpPr>
            <p:cNvPr id="14344" name="Text Box 6"/>
            <p:cNvSpPr txBox="1">
              <a:spLocks noChangeArrowheads="1"/>
            </p:cNvSpPr>
            <p:nvPr/>
          </p:nvSpPr>
          <p:spPr bwMode="auto">
            <a:xfrm>
              <a:off x="2959" y="1630"/>
              <a:ext cx="347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>
                  <a:latin typeface="Calibri" panose="020F0502020204030204" pitchFamily="34" charset="0"/>
                  <a:ea typeface="標楷體" pitchFamily="65" charset="-120"/>
                </a:rPr>
                <a:t>1024</a:t>
              </a:r>
            </a:p>
          </p:txBody>
        </p:sp>
        <p:sp>
          <p:nvSpPr>
            <p:cNvPr id="14345" name="Text Box 7"/>
            <p:cNvSpPr txBox="1">
              <a:spLocks noChangeArrowheads="1"/>
            </p:cNvSpPr>
            <p:nvPr/>
          </p:nvSpPr>
          <p:spPr bwMode="auto">
            <a:xfrm>
              <a:off x="3330" y="1985"/>
              <a:ext cx="66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>
                  <a:latin typeface="Calibri" panose="020F0502020204030204" pitchFamily="34" charset="0"/>
                  <a:ea typeface="標楷體" pitchFamily="65" charset="-120"/>
                </a:rPr>
                <a:t>JUMP  1424</a:t>
              </a:r>
            </a:p>
          </p:txBody>
        </p:sp>
        <p:sp>
          <p:nvSpPr>
            <p:cNvPr id="14346" name="Text Box 8"/>
            <p:cNvSpPr txBox="1">
              <a:spLocks noChangeArrowheads="1"/>
            </p:cNvSpPr>
            <p:nvPr/>
          </p:nvSpPr>
          <p:spPr bwMode="auto">
            <a:xfrm>
              <a:off x="3330" y="2522"/>
              <a:ext cx="65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>
                  <a:latin typeface="Calibri" panose="020F0502020204030204" pitchFamily="34" charset="0"/>
                  <a:ea typeface="標楷體" pitchFamily="65" charset="-120"/>
                </a:rPr>
                <a:t>LOAD  2224</a:t>
              </a:r>
            </a:p>
          </p:txBody>
        </p:sp>
        <p:sp>
          <p:nvSpPr>
            <p:cNvPr id="14347" name="Line 9"/>
            <p:cNvSpPr>
              <a:spLocks noChangeShapeType="1"/>
            </p:cNvSpPr>
            <p:nvPr/>
          </p:nvSpPr>
          <p:spPr bwMode="auto">
            <a:xfrm>
              <a:off x="3333" y="2817"/>
              <a:ext cx="11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4348" name="Text Box 10"/>
            <p:cNvSpPr txBox="1">
              <a:spLocks noChangeArrowheads="1"/>
            </p:cNvSpPr>
            <p:nvPr/>
          </p:nvSpPr>
          <p:spPr bwMode="auto">
            <a:xfrm>
              <a:off x="2959" y="2206"/>
              <a:ext cx="347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>
                  <a:latin typeface="Calibri" panose="020F0502020204030204" pitchFamily="34" charset="0"/>
                  <a:ea typeface="標楷體" pitchFamily="65" charset="-120"/>
                </a:rPr>
                <a:t>1424</a:t>
              </a:r>
            </a:p>
          </p:txBody>
        </p:sp>
        <p:sp>
          <p:nvSpPr>
            <p:cNvPr id="14349" name="Text Box 11"/>
            <p:cNvSpPr txBox="1">
              <a:spLocks noChangeArrowheads="1"/>
            </p:cNvSpPr>
            <p:nvPr/>
          </p:nvSpPr>
          <p:spPr bwMode="auto">
            <a:xfrm>
              <a:off x="2959" y="3216"/>
              <a:ext cx="347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>
                  <a:latin typeface="Calibri" panose="020F0502020204030204" pitchFamily="34" charset="0"/>
                  <a:ea typeface="標楷體" pitchFamily="65" charset="-120"/>
                </a:rPr>
                <a:t>2224</a:t>
              </a:r>
            </a:p>
          </p:txBody>
        </p:sp>
        <p:sp>
          <p:nvSpPr>
            <p:cNvPr id="14350" name="Freeform 12"/>
            <p:cNvSpPr>
              <a:spLocks/>
            </p:cNvSpPr>
            <p:nvPr/>
          </p:nvSpPr>
          <p:spPr bwMode="auto">
            <a:xfrm>
              <a:off x="4398" y="2067"/>
              <a:ext cx="703" cy="237"/>
            </a:xfrm>
            <a:custGeom>
              <a:avLst/>
              <a:gdLst>
                <a:gd name="T0" fmla="*/ 0 w 703"/>
                <a:gd name="T1" fmla="*/ 0 h 237"/>
                <a:gd name="T2" fmla="*/ 703 w 703"/>
                <a:gd name="T3" fmla="*/ 0 h 237"/>
                <a:gd name="T4" fmla="*/ 703 w 703"/>
                <a:gd name="T5" fmla="*/ 237 h 237"/>
                <a:gd name="T6" fmla="*/ 174 w 703"/>
                <a:gd name="T7" fmla="*/ 237 h 2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3"/>
                <a:gd name="T13" fmla="*/ 0 h 237"/>
                <a:gd name="T14" fmla="*/ 703 w 703"/>
                <a:gd name="T15" fmla="*/ 237 h 2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3" h="237">
                  <a:moveTo>
                    <a:pt x="0" y="0"/>
                  </a:moveTo>
                  <a:lnTo>
                    <a:pt x="703" y="0"/>
                  </a:lnTo>
                  <a:lnTo>
                    <a:pt x="703" y="237"/>
                  </a:lnTo>
                  <a:lnTo>
                    <a:pt x="174" y="237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4351" name="Freeform 13"/>
            <p:cNvSpPr>
              <a:spLocks/>
            </p:cNvSpPr>
            <p:nvPr/>
          </p:nvSpPr>
          <p:spPr bwMode="auto">
            <a:xfrm>
              <a:off x="4398" y="2635"/>
              <a:ext cx="703" cy="647"/>
            </a:xfrm>
            <a:custGeom>
              <a:avLst/>
              <a:gdLst>
                <a:gd name="T0" fmla="*/ 0 w 703"/>
                <a:gd name="T1" fmla="*/ 0 h 237"/>
                <a:gd name="T2" fmla="*/ 703 w 703"/>
                <a:gd name="T3" fmla="*/ 0 h 237"/>
                <a:gd name="T4" fmla="*/ 703 w 703"/>
                <a:gd name="T5" fmla="*/ 1766 h 237"/>
                <a:gd name="T6" fmla="*/ 174 w 703"/>
                <a:gd name="T7" fmla="*/ 1766 h 2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3"/>
                <a:gd name="T13" fmla="*/ 0 h 237"/>
                <a:gd name="T14" fmla="*/ 703 w 703"/>
                <a:gd name="T15" fmla="*/ 237 h 2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3" h="237">
                  <a:moveTo>
                    <a:pt x="0" y="0"/>
                  </a:moveTo>
                  <a:lnTo>
                    <a:pt x="703" y="0"/>
                  </a:lnTo>
                  <a:lnTo>
                    <a:pt x="703" y="237"/>
                  </a:lnTo>
                  <a:lnTo>
                    <a:pt x="174" y="237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4352" name="Text Box 14"/>
            <p:cNvSpPr txBox="1">
              <a:spLocks noChangeArrowheads="1"/>
            </p:cNvSpPr>
            <p:nvPr/>
          </p:nvSpPr>
          <p:spPr bwMode="auto">
            <a:xfrm>
              <a:off x="3235" y="3626"/>
              <a:ext cx="1321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dirty="0">
                  <a:latin typeface="Calibri" panose="020F0502020204030204" pitchFamily="34" charset="0"/>
                  <a:ea typeface="標楷體" pitchFamily="65" charset="-120"/>
                </a:rPr>
                <a:t>Process Image (Part)</a:t>
              </a:r>
            </a:p>
          </p:txBody>
        </p:sp>
      </p:grpSp>
      <p:sp>
        <p:nvSpPr>
          <p:cNvPr id="14340" name="AutoShape 15"/>
          <p:cNvSpPr>
            <a:spLocks noChangeArrowheads="1"/>
          </p:cNvSpPr>
          <p:nvPr/>
        </p:nvSpPr>
        <p:spPr bwMode="auto">
          <a:xfrm>
            <a:off x="2395539" y="3670300"/>
            <a:ext cx="1227137" cy="312738"/>
          </a:xfrm>
          <a:prstGeom prst="chevron">
            <a:avLst>
              <a:gd name="adj" fmla="val 98096"/>
            </a:avLst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TW" altLang="zh-TW" sz="1800">
              <a:solidFill>
                <a:schemeClr val="accent2"/>
              </a:solidFill>
              <a:latin typeface="Calibri" panose="020F0502020204030204" pitchFamily="34" charset="0"/>
              <a:ea typeface="標楷體" pitchFamily="65" charset="-120"/>
            </a:endParaRPr>
          </a:p>
        </p:txBody>
      </p:sp>
      <p:sp>
        <p:nvSpPr>
          <p:cNvPr id="14341" name="Text Box 16"/>
          <p:cNvSpPr txBox="1">
            <a:spLocks noChangeArrowheads="1"/>
          </p:cNvSpPr>
          <p:nvPr/>
        </p:nvSpPr>
        <p:spPr bwMode="auto">
          <a:xfrm>
            <a:off x="2655889" y="3940175"/>
            <a:ext cx="63671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latin typeface="Calibri" panose="020F0502020204030204" pitchFamily="34" charset="0"/>
                <a:ea typeface="標楷體" pitchFamily="65" charset="-120"/>
              </a:rPr>
              <a:t>Load</a:t>
            </a:r>
          </a:p>
        </p:txBody>
      </p:sp>
    </p:spTree>
    <p:extLst>
      <p:ext uri="{BB962C8B-B14F-4D97-AF65-F5344CB8AC3E}">
        <p14:creationId xmlns:p14="http://schemas.microsoft.com/office/powerpoint/2010/main" val="154408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Compiler time</a:t>
            </a:r>
            <a:r>
              <a:rPr lang="zh-TW" altLang="en-US" dirty="0" smtClean="0"/>
              <a:t>做</a:t>
            </a:r>
            <a:r>
              <a:rPr lang="en-US" altLang="zh-TW" dirty="0" smtClean="0"/>
              <a:t>binding</a:t>
            </a:r>
            <a:r>
              <a:rPr lang="zh-TW" altLang="en-US" dirty="0" smtClean="0"/>
              <a:t>有什麼缺點呢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3498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Address Binding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Binding of Instructions and Data to </a:t>
            </a:r>
            <a:r>
              <a:rPr lang="en-US" altLang="zh-TW" sz="3600" dirty="0" smtClean="0"/>
              <a:t>Memory</a:t>
            </a:r>
          </a:p>
          <a:p>
            <a:pPr lvl="1"/>
            <a:r>
              <a:rPr lang="en-US" altLang="zh-TW" sz="3200" dirty="0" smtClean="0"/>
              <a:t>At </a:t>
            </a:r>
            <a:r>
              <a:rPr lang="en-US" altLang="zh-TW" sz="3200" dirty="0"/>
              <a:t>compile time: e.g., SIC </a:t>
            </a:r>
            <a:r>
              <a:rPr lang="en-US" altLang="zh-TW" sz="3200" dirty="0" smtClean="0"/>
              <a:t>computer</a:t>
            </a:r>
          </a:p>
          <a:p>
            <a:pPr lvl="1"/>
            <a:endParaRPr lang="en-US" altLang="zh-TW" sz="3200" dirty="0" smtClean="0"/>
          </a:p>
          <a:p>
            <a:pPr lvl="1"/>
            <a:r>
              <a:rPr lang="en-US" altLang="zh-TW" sz="3200" b="1" dirty="0" smtClean="0">
                <a:solidFill>
                  <a:srgbClr val="FF0000"/>
                </a:solidFill>
              </a:rPr>
              <a:t>At </a:t>
            </a:r>
            <a:r>
              <a:rPr lang="en-US" altLang="zh-TW" sz="3200" b="1" dirty="0">
                <a:solidFill>
                  <a:srgbClr val="FF0000"/>
                </a:solidFill>
              </a:rPr>
              <a:t>load time: e.g., SIC/XE </a:t>
            </a:r>
            <a:r>
              <a:rPr lang="en-US" altLang="zh-TW" sz="3200" b="1" dirty="0" smtClean="0">
                <a:solidFill>
                  <a:srgbClr val="FF0000"/>
                </a:solidFill>
              </a:rPr>
              <a:t>computer</a:t>
            </a:r>
          </a:p>
          <a:p>
            <a:pPr lvl="1"/>
            <a:endParaRPr lang="en-US" altLang="zh-TW" sz="3200" dirty="0" smtClean="0"/>
          </a:p>
          <a:p>
            <a:pPr lvl="1"/>
            <a:r>
              <a:rPr lang="en-US" altLang="zh-TW" sz="3200" dirty="0" smtClean="0"/>
              <a:t>At </a:t>
            </a:r>
            <a:r>
              <a:rPr lang="en-US" altLang="zh-TW" sz="3200" dirty="0"/>
              <a:t>execution time: e.g., x86 </a:t>
            </a:r>
            <a:r>
              <a:rPr lang="en-US" altLang="zh-TW" sz="3200" dirty="0" smtClean="0"/>
              <a:t>computer</a:t>
            </a:r>
            <a:endParaRPr lang="en-US" altLang="zh-TW" sz="3600" dirty="0"/>
          </a:p>
          <a:p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73673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Binding at </a:t>
            </a:r>
            <a:r>
              <a:rPr lang="en-US" altLang="zh-TW" dirty="0" smtClean="0"/>
              <a:t>Loading Time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TW" dirty="0"/>
              <a:t>Assume </a:t>
            </a:r>
            <a:r>
              <a:rPr lang="en-US" altLang="zh-TW" b="1" dirty="0">
                <a:solidFill>
                  <a:srgbClr val="0000FF"/>
                </a:solidFill>
              </a:rPr>
              <a:t>loading time binding</a:t>
            </a:r>
            <a:endParaRPr lang="en-US" altLang="zh-TW" sz="2800" dirty="0"/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</a:pPr>
            <a:endParaRPr lang="en-US" altLang="zh-TW" dirty="0" smtClean="0"/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TW" dirty="0" smtClean="0"/>
              <a:t>A </a:t>
            </a:r>
            <a:r>
              <a:rPr lang="en-US" altLang="zh-TW" dirty="0"/>
              <a:t>compiler bind </a:t>
            </a:r>
            <a:r>
              <a:rPr lang="en-US" altLang="zh-TW" b="1" dirty="0"/>
              <a:t>symbolic addresses </a:t>
            </a:r>
            <a:r>
              <a:rPr lang="en-US" altLang="zh-TW" dirty="0"/>
              <a:t>to </a:t>
            </a:r>
            <a:r>
              <a:rPr lang="en-US" altLang="zh-TW" b="1" dirty="0"/>
              <a:t>relocatable addresses</a:t>
            </a: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TW" dirty="0"/>
              <a:t>such as “</a:t>
            </a:r>
            <a:r>
              <a:rPr lang="en-US" altLang="zh-TW" dirty="0">
                <a:solidFill>
                  <a:srgbClr val="0000FF"/>
                </a:solidFill>
              </a:rPr>
              <a:t>14 bytes from beginning of this module</a:t>
            </a:r>
            <a:r>
              <a:rPr lang="en-US" altLang="zh-TW" dirty="0"/>
              <a:t>”</a:t>
            </a: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</a:pPr>
            <a:endParaRPr lang="en-US" altLang="zh-TW" dirty="0" smtClean="0"/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TW" dirty="0" smtClean="0"/>
              <a:t>Linker </a:t>
            </a:r>
            <a:r>
              <a:rPr lang="en-US" altLang="zh-TW" dirty="0"/>
              <a:t>or loader bind </a:t>
            </a:r>
            <a:r>
              <a:rPr lang="en-US" altLang="zh-TW" b="1" dirty="0"/>
              <a:t>relocatable addresses </a:t>
            </a:r>
            <a:r>
              <a:rPr lang="en-US" altLang="zh-TW" dirty="0"/>
              <a:t>to </a:t>
            </a:r>
            <a:r>
              <a:rPr lang="en-US" altLang="zh-TW" b="1" dirty="0"/>
              <a:t>absolute addresses</a:t>
            </a: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</a:pPr>
            <a:r>
              <a:rPr lang="en-US" altLang="zh-TW" dirty="0"/>
              <a:t>such as 74014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投影片編號版面配置區 5"/>
          <p:cNvSpPr>
            <a:spLocks noGrp="1"/>
          </p:cNvSpPr>
          <p:nvPr>
            <p:ph type="sldNum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68ACD671-9EA7-44B6-918D-3875251EB1C7}" type="slidenum">
              <a:rPr kumimoji="0" lang="en-US" altLang="zh-TW" u="none" smtClean="0">
                <a:latin typeface="Arial" panose="020B0604020202020204" pitchFamily="34" charset="0"/>
              </a:rPr>
              <a:pPr/>
              <a:t>23</a:t>
            </a:fld>
            <a:endParaRPr kumimoji="0" lang="en-US" altLang="zh-TW" u="none" smtClean="0">
              <a:latin typeface="Arial" panose="020B0604020202020204" pitchFamily="34" charset="0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smtClean="0"/>
              <a:t>Example of a SIC/XE Program (Fig 2.5,2.6)</a:t>
            </a:r>
          </a:p>
        </p:txBody>
      </p:sp>
      <p:grpSp>
        <p:nvGrpSpPr>
          <p:cNvPr id="43012" name="Group 5"/>
          <p:cNvGrpSpPr>
            <a:grpSpLocks/>
          </p:cNvGrpSpPr>
          <p:nvPr/>
        </p:nvGrpSpPr>
        <p:grpSpPr bwMode="auto">
          <a:xfrm>
            <a:off x="911919" y="1340768"/>
            <a:ext cx="10080625" cy="4706937"/>
            <a:chOff x="912" y="1104"/>
            <a:chExt cx="4464" cy="3113"/>
          </a:xfrm>
        </p:grpSpPr>
        <p:pic>
          <p:nvPicPr>
            <p:cNvPr id="43013" name="Picture 6" descr="f26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" y="1104"/>
              <a:ext cx="4464" cy="3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15" name="Oval 8"/>
            <p:cNvSpPr>
              <a:spLocks noChangeArrowheads="1"/>
            </p:cNvSpPr>
            <p:nvPr/>
          </p:nvSpPr>
          <p:spPr bwMode="auto">
            <a:xfrm>
              <a:off x="2736" y="2016"/>
              <a:ext cx="1296" cy="192"/>
            </a:xfrm>
            <a:prstGeom prst="ellipse">
              <a:avLst/>
            </a:prstGeom>
            <a:noFill/>
            <a:ln w="31750">
              <a:solidFill>
                <a:srgbClr val="0000FF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43017" name="Oval 10"/>
            <p:cNvSpPr>
              <a:spLocks noChangeArrowheads="1"/>
            </p:cNvSpPr>
            <p:nvPr/>
          </p:nvSpPr>
          <p:spPr bwMode="auto">
            <a:xfrm>
              <a:off x="2784" y="2544"/>
              <a:ext cx="1296" cy="192"/>
            </a:xfrm>
            <a:prstGeom prst="ellipse">
              <a:avLst/>
            </a:prstGeom>
            <a:noFill/>
            <a:ln w="31750">
              <a:solidFill>
                <a:srgbClr val="0000FF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43019" name="Oval 12"/>
            <p:cNvSpPr>
              <a:spLocks noChangeArrowheads="1"/>
            </p:cNvSpPr>
            <p:nvPr/>
          </p:nvSpPr>
          <p:spPr bwMode="auto">
            <a:xfrm>
              <a:off x="2784" y="3360"/>
              <a:ext cx="1296" cy="144"/>
            </a:xfrm>
            <a:prstGeom prst="ellipse">
              <a:avLst/>
            </a:prstGeom>
            <a:noFill/>
            <a:ln w="31750">
              <a:solidFill>
                <a:srgbClr val="0000FF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u="sng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7991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投影片編號版面配置區 5"/>
          <p:cNvSpPr>
            <a:spLocks noGrp="1"/>
          </p:cNvSpPr>
          <p:nvPr>
            <p:ph type="sldNum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7697E749-B984-4FAE-AFB9-7F51B4A2CDBD}" type="slidenum">
              <a:rPr kumimoji="0" lang="en-US" altLang="zh-TW" u="none" smtClean="0">
                <a:latin typeface="Arial" panose="020B0604020202020204" pitchFamily="34" charset="0"/>
              </a:rPr>
              <a:pPr/>
              <a:t>24</a:t>
            </a:fld>
            <a:endParaRPr kumimoji="0" lang="en-US" altLang="zh-TW" u="none" smtClean="0">
              <a:latin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smtClean="0"/>
              <a:t>Example of a SIC/XE Program (Fig 2.5,2.6) (Cont.)</a:t>
            </a:r>
          </a:p>
        </p:txBody>
      </p:sp>
      <p:pic>
        <p:nvPicPr>
          <p:cNvPr id="44037" name="Picture 5" descr="f26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63" y="1484784"/>
            <a:ext cx="9866312" cy="482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9332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投影片編號版面配置區 5"/>
          <p:cNvSpPr>
            <a:spLocks noGrp="1"/>
          </p:cNvSpPr>
          <p:nvPr>
            <p:ph type="sldNum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u="sng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7A96C3EC-5F7B-4B91-891D-FAA64E34F4B1}" type="slidenum">
              <a:rPr kumimoji="0" lang="en-US" altLang="zh-TW" u="none" smtClean="0">
                <a:latin typeface="Arial" panose="020B0604020202020204" pitchFamily="34" charset="0"/>
              </a:rPr>
              <a:pPr/>
              <a:t>25</a:t>
            </a:fld>
            <a:endParaRPr kumimoji="0" lang="en-US" altLang="zh-TW" u="none" smtClean="0">
              <a:latin typeface="Arial" panose="020B0604020202020204" pitchFamily="34" charset="0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smtClean="0"/>
              <a:t>Example of a SIC/XE Program (Fig 2.5,2.6) (Cont.)</a:t>
            </a:r>
          </a:p>
        </p:txBody>
      </p:sp>
      <p:pic>
        <p:nvPicPr>
          <p:cNvPr id="45060" name="Picture 4" descr="f26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1484784"/>
            <a:ext cx="9648825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7462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Binding at Loader Time</a:t>
            </a:r>
          </a:p>
        </p:txBody>
      </p:sp>
      <p:grpSp>
        <p:nvGrpSpPr>
          <p:cNvPr id="15363" name="Group 3"/>
          <p:cNvGrpSpPr>
            <a:grpSpLocks/>
          </p:cNvGrpSpPr>
          <p:nvPr/>
        </p:nvGrpSpPr>
        <p:grpSpPr bwMode="auto">
          <a:xfrm>
            <a:off x="5840413" y="1798639"/>
            <a:ext cx="3322638" cy="4327525"/>
            <a:chOff x="3440" y="1133"/>
            <a:chExt cx="2093" cy="2726"/>
          </a:xfrm>
        </p:grpSpPr>
        <p:sp>
          <p:nvSpPr>
            <p:cNvPr id="15381" name="Rectangle 4"/>
            <p:cNvSpPr>
              <a:spLocks noChangeArrowheads="1"/>
            </p:cNvSpPr>
            <p:nvPr/>
          </p:nvSpPr>
          <p:spPr bwMode="auto">
            <a:xfrm>
              <a:off x="3765" y="1610"/>
              <a:ext cx="1160" cy="203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5382" name="Text Box 5"/>
            <p:cNvSpPr txBox="1">
              <a:spLocks noChangeArrowheads="1"/>
            </p:cNvSpPr>
            <p:nvPr/>
          </p:nvSpPr>
          <p:spPr bwMode="auto">
            <a:xfrm>
              <a:off x="3656" y="1133"/>
              <a:ext cx="1427" cy="40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  <a:t>Relative (Relocatable)</a:t>
              </a:r>
            </a:p>
            <a:p>
              <a:r>
                <a:rPr lang="en-US" altLang="zh-TW" sz="1800" b="1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  <a:t>Addresses</a:t>
              </a:r>
            </a:p>
          </p:txBody>
        </p:sp>
        <p:sp>
          <p:nvSpPr>
            <p:cNvPr id="15383" name="Text Box 6"/>
            <p:cNvSpPr txBox="1">
              <a:spLocks noChangeArrowheads="1"/>
            </p:cNvSpPr>
            <p:nvPr/>
          </p:nvSpPr>
          <p:spPr bwMode="auto">
            <a:xfrm>
              <a:off x="3573" y="1532"/>
              <a:ext cx="178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>
                  <a:latin typeface="Calibri" panose="020F0502020204030204" pitchFamily="34" charset="0"/>
                  <a:ea typeface="標楷體" pitchFamily="65" charset="-120"/>
                </a:rPr>
                <a:t>0</a:t>
              </a:r>
            </a:p>
          </p:txBody>
        </p:sp>
        <p:sp>
          <p:nvSpPr>
            <p:cNvPr id="15384" name="Text Box 7"/>
            <p:cNvSpPr txBox="1">
              <a:spLocks noChangeArrowheads="1"/>
            </p:cNvSpPr>
            <p:nvPr/>
          </p:nvSpPr>
          <p:spPr bwMode="auto">
            <a:xfrm>
              <a:off x="3762" y="1985"/>
              <a:ext cx="610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>
                  <a:latin typeface="Calibri" panose="020F0502020204030204" pitchFamily="34" charset="0"/>
                  <a:ea typeface="標楷體" pitchFamily="65" charset="-120"/>
                </a:rPr>
                <a:t>JUMP  400</a:t>
              </a:r>
            </a:p>
          </p:txBody>
        </p:sp>
        <p:sp>
          <p:nvSpPr>
            <p:cNvPr id="15385" name="Text Box 8"/>
            <p:cNvSpPr txBox="1">
              <a:spLocks noChangeArrowheads="1"/>
            </p:cNvSpPr>
            <p:nvPr/>
          </p:nvSpPr>
          <p:spPr bwMode="auto">
            <a:xfrm>
              <a:off x="3762" y="2522"/>
              <a:ext cx="65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>
                  <a:latin typeface="Calibri" panose="020F0502020204030204" pitchFamily="34" charset="0"/>
                  <a:ea typeface="標楷體" pitchFamily="65" charset="-120"/>
                </a:rPr>
                <a:t>LOAD  1200</a:t>
              </a:r>
            </a:p>
          </p:txBody>
        </p:sp>
        <p:sp>
          <p:nvSpPr>
            <p:cNvPr id="15386" name="Line 9"/>
            <p:cNvSpPr>
              <a:spLocks noChangeShapeType="1"/>
            </p:cNvSpPr>
            <p:nvPr/>
          </p:nvSpPr>
          <p:spPr bwMode="auto">
            <a:xfrm>
              <a:off x="3765" y="2817"/>
              <a:ext cx="11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5387" name="Text Box 10"/>
            <p:cNvSpPr txBox="1">
              <a:spLocks noChangeArrowheads="1"/>
            </p:cNvSpPr>
            <p:nvPr/>
          </p:nvSpPr>
          <p:spPr bwMode="auto">
            <a:xfrm>
              <a:off x="3462" y="2207"/>
              <a:ext cx="289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>
                  <a:latin typeface="Calibri" panose="020F0502020204030204" pitchFamily="34" charset="0"/>
                  <a:ea typeface="標楷體" pitchFamily="65" charset="-120"/>
                </a:rPr>
                <a:t>400</a:t>
              </a:r>
            </a:p>
          </p:txBody>
        </p:sp>
        <p:sp>
          <p:nvSpPr>
            <p:cNvPr id="15388" name="Text Box 11"/>
            <p:cNvSpPr txBox="1">
              <a:spLocks noChangeArrowheads="1"/>
            </p:cNvSpPr>
            <p:nvPr/>
          </p:nvSpPr>
          <p:spPr bwMode="auto">
            <a:xfrm>
              <a:off x="3440" y="3210"/>
              <a:ext cx="347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>
                  <a:latin typeface="Calibri" panose="020F0502020204030204" pitchFamily="34" charset="0"/>
                  <a:ea typeface="標楷體" pitchFamily="65" charset="-120"/>
                </a:rPr>
                <a:t>1200</a:t>
              </a:r>
            </a:p>
          </p:txBody>
        </p:sp>
        <p:sp>
          <p:nvSpPr>
            <p:cNvPr id="15389" name="Freeform 12"/>
            <p:cNvSpPr>
              <a:spLocks/>
            </p:cNvSpPr>
            <p:nvPr/>
          </p:nvSpPr>
          <p:spPr bwMode="auto">
            <a:xfrm>
              <a:off x="4830" y="2067"/>
              <a:ext cx="703" cy="237"/>
            </a:xfrm>
            <a:custGeom>
              <a:avLst/>
              <a:gdLst>
                <a:gd name="T0" fmla="*/ 0 w 703"/>
                <a:gd name="T1" fmla="*/ 0 h 237"/>
                <a:gd name="T2" fmla="*/ 703 w 703"/>
                <a:gd name="T3" fmla="*/ 0 h 237"/>
                <a:gd name="T4" fmla="*/ 703 w 703"/>
                <a:gd name="T5" fmla="*/ 237 h 237"/>
                <a:gd name="T6" fmla="*/ 174 w 703"/>
                <a:gd name="T7" fmla="*/ 237 h 2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3"/>
                <a:gd name="T13" fmla="*/ 0 h 237"/>
                <a:gd name="T14" fmla="*/ 703 w 703"/>
                <a:gd name="T15" fmla="*/ 237 h 2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3" h="237">
                  <a:moveTo>
                    <a:pt x="0" y="0"/>
                  </a:moveTo>
                  <a:lnTo>
                    <a:pt x="703" y="0"/>
                  </a:lnTo>
                  <a:lnTo>
                    <a:pt x="703" y="237"/>
                  </a:lnTo>
                  <a:lnTo>
                    <a:pt x="174" y="237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5390" name="Freeform 13"/>
            <p:cNvSpPr>
              <a:spLocks/>
            </p:cNvSpPr>
            <p:nvPr/>
          </p:nvSpPr>
          <p:spPr bwMode="auto">
            <a:xfrm>
              <a:off x="4830" y="2635"/>
              <a:ext cx="703" cy="647"/>
            </a:xfrm>
            <a:custGeom>
              <a:avLst/>
              <a:gdLst>
                <a:gd name="T0" fmla="*/ 0 w 703"/>
                <a:gd name="T1" fmla="*/ 0 h 237"/>
                <a:gd name="T2" fmla="*/ 703 w 703"/>
                <a:gd name="T3" fmla="*/ 0 h 237"/>
                <a:gd name="T4" fmla="*/ 703 w 703"/>
                <a:gd name="T5" fmla="*/ 1766 h 237"/>
                <a:gd name="T6" fmla="*/ 174 w 703"/>
                <a:gd name="T7" fmla="*/ 1766 h 2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3"/>
                <a:gd name="T13" fmla="*/ 0 h 237"/>
                <a:gd name="T14" fmla="*/ 703 w 703"/>
                <a:gd name="T15" fmla="*/ 237 h 2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3" h="237">
                  <a:moveTo>
                    <a:pt x="0" y="0"/>
                  </a:moveTo>
                  <a:lnTo>
                    <a:pt x="703" y="0"/>
                  </a:lnTo>
                  <a:lnTo>
                    <a:pt x="703" y="237"/>
                  </a:lnTo>
                  <a:lnTo>
                    <a:pt x="174" y="237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5391" name="Text Box 14"/>
            <p:cNvSpPr txBox="1">
              <a:spLocks noChangeArrowheads="1"/>
            </p:cNvSpPr>
            <p:nvPr/>
          </p:nvSpPr>
          <p:spPr bwMode="auto">
            <a:xfrm>
              <a:off x="3667" y="3626"/>
              <a:ext cx="1397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>
                  <a:latin typeface="Calibri" panose="020F0502020204030204" pitchFamily="34" charset="0"/>
                  <a:ea typeface="標楷體" pitchFamily="65" charset="-120"/>
                </a:rPr>
                <a:t>Relative Load Module</a:t>
              </a:r>
            </a:p>
          </p:txBody>
        </p:sp>
      </p:grpSp>
      <p:grpSp>
        <p:nvGrpSpPr>
          <p:cNvPr id="15364" name="Group 15"/>
          <p:cNvGrpSpPr>
            <a:grpSpLocks/>
          </p:cNvGrpSpPr>
          <p:nvPr/>
        </p:nvGrpSpPr>
        <p:grpSpPr bwMode="auto">
          <a:xfrm>
            <a:off x="1847852" y="1798639"/>
            <a:ext cx="2397125" cy="4327525"/>
            <a:chOff x="736" y="1133"/>
            <a:chExt cx="1510" cy="2726"/>
          </a:xfrm>
        </p:grpSpPr>
        <p:sp>
          <p:nvSpPr>
            <p:cNvPr id="15369" name="Rectangle 16"/>
            <p:cNvSpPr>
              <a:spLocks noChangeArrowheads="1"/>
            </p:cNvSpPr>
            <p:nvPr/>
          </p:nvSpPr>
          <p:spPr bwMode="auto">
            <a:xfrm>
              <a:off x="928" y="1610"/>
              <a:ext cx="1160" cy="203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5370" name="Text Box 17"/>
            <p:cNvSpPr txBox="1">
              <a:spLocks noChangeArrowheads="1"/>
            </p:cNvSpPr>
            <p:nvPr/>
          </p:nvSpPr>
          <p:spPr bwMode="auto">
            <a:xfrm>
              <a:off x="802" y="1133"/>
              <a:ext cx="717" cy="40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  <a:t>Symbolic</a:t>
              </a:r>
              <a:br>
                <a:rPr lang="en-US" altLang="zh-TW" sz="1800" b="1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</a:br>
              <a:r>
                <a:rPr lang="en-US" altLang="zh-TW" sz="1800">
                  <a:latin typeface="Calibri" panose="020F0502020204030204" pitchFamily="34" charset="0"/>
                  <a:ea typeface="標楷體" pitchFamily="65" charset="-120"/>
                </a:rPr>
                <a:t>Addresses</a:t>
              </a:r>
            </a:p>
          </p:txBody>
        </p:sp>
        <p:sp>
          <p:nvSpPr>
            <p:cNvPr id="15371" name="Text Box 18"/>
            <p:cNvSpPr txBox="1">
              <a:spLocks noChangeArrowheads="1"/>
            </p:cNvSpPr>
            <p:nvPr/>
          </p:nvSpPr>
          <p:spPr bwMode="auto">
            <a:xfrm>
              <a:off x="925" y="1613"/>
              <a:ext cx="692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b="1">
                  <a:latin typeface="Calibri" panose="020F0502020204030204" pitchFamily="34" charset="0"/>
                  <a:ea typeface="標楷體" pitchFamily="65" charset="-120"/>
                </a:rPr>
                <a:t>PROGRAM</a:t>
              </a:r>
            </a:p>
          </p:txBody>
        </p:sp>
        <p:sp>
          <p:nvSpPr>
            <p:cNvPr id="15372" name="Text Box 19"/>
            <p:cNvSpPr txBox="1">
              <a:spLocks noChangeArrowheads="1"/>
            </p:cNvSpPr>
            <p:nvPr/>
          </p:nvSpPr>
          <p:spPr bwMode="auto">
            <a:xfrm>
              <a:off x="925" y="1968"/>
              <a:ext cx="626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b="1" dirty="0">
                  <a:latin typeface="Calibri" panose="020F0502020204030204" pitchFamily="34" charset="0"/>
                  <a:ea typeface="標楷體" pitchFamily="65" charset="-120"/>
                </a:rPr>
                <a:t>JUMP </a:t>
              </a:r>
              <a:r>
                <a:rPr lang="en-US" altLang="zh-TW" sz="1600" b="1" dirty="0" smtClean="0">
                  <a:latin typeface="Calibri" panose="020F0502020204030204" pitchFamily="34" charset="0"/>
                  <a:ea typeface="標楷體" pitchFamily="65" charset="-120"/>
                </a:rPr>
                <a:t>xyz</a:t>
              </a:r>
              <a:endParaRPr lang="en-US" altLang="zh-TW" sz="1600" b="1" dirty="0">
                <a:latin typeface="Calibri" panose="020F0502020204030204" pitchFamily="34" charset="0"/>
                <a:ea typeface="標楷體" pitchFamily="65" charset="-120"/>
              </a:endParaRPr>
            </a:p>
          </p:txBody>
        </p:sp>
        <p:sp>
          <p:nvSpPr>
            <p:cNvPr id="15373" name="Text Box 20"/>
            <p:cNvSpPr txBox="1">
              <a:spLocks noChangeArrowheads="1"/>
            </p:cNvSpPr>
            <p:nvPr/>
          </p:nvSpPr>
          <p:spPr bwMode="auto">
            <a:xfrm>
              <a:off x="925" y="2505"/>
              <a:ext cx="662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b="1" dirty="0">
                  <a:latin typeface="Calibri" panose="020F0502020204030204" pitchFamily="34" charset="0"/>
                  <a:ea typeface="標楷體" pitchFamily="65" charset="-120"/>
                </a:rPr>
                <a:t>LOAD  </a:t>
              </a:r>
              <a:r>
                <a:rPr lang="en-US" altLang="zh-TW" sz="1600" b="1" dirty="0" err="1" smtClean="0">
                  <a:latin typeface="Calibri" panose="020F0502020204030204" pitchFamily="34" charset="0"/>
                  <a:ea typeface="標楷體" pitchFamily="65" charset="-120"/>
                </a:rPr>
                <a:t>abc</a:t>
              </a:r>
              <a:endParaRPr lang="en-US" altLang="zh-TW" sz="1600" b="1" dirty="0">
                <a:latin typeface="Calibri" panose="020F0502020204030204" pitchFamily="34" charset="0"/>
                <a:ea typeface="標楷體" pitchFamily="65" charset="-120"/>
              </a:endParaRPr>
            </a:p>
          </p:txBody>
        </p:sp>
        <p:sp>
          <p:nvSpPr>
            <p:cNvPr id="15374" name="Line 21"/>
            <p:cNvSpPr>
              <a:spLocks noChangeShapeType="1"/>
            </p:cNvSpPr>
            <p:nvPr/>
          </p:nvSpPr>
          <p:spPr bwMode="auto">
            <a:xfrm>
              <a:off x="928" y="2817"/>
              <a:ext cx="11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5375" name="Text Box 22"/>
            <p:cNvSpPr txBox="1">
              <a:spLocks noChangeArrowheads="1"/>
            </p:cNvSpPr>
            <p:nvPr/>
          </p:nvSpPr>
          <p:spPr bwMode="auto">
            <a:xfrm>
              <a:off x="925" y="2828"/>
              <a:ext cx="396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b="1">
                  <a:latin typeface="Calibri" panose="020F0502020204030204" pitchFamily="34" charset="0"/>
                  <a:ea typeface="標楷體" pitchFamily="65" charset="-120"/>
                </a:rPr>
                <a:t>DATA</a:t>
              </a:r>
            </a:p>
          </p:txBody>
        </p:sp>
        <p:sp>
          <p:nvSpPr>
            <p:cNvPr id="15376" name="Text Box 23"/>
            <p:cNvSpPr txBox="1">
              <a:spLocks noChangeArrowheads="1"/>
            </p:cNvSpPr>
            <p:nvPr/>
          </p:nvSpPr>
          <p:spPr bwMode="auto">
            <a:xfrm>
              <a:off x="736" y="2189"/>
              <a:ext cx="499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b="1" dirty="0">
                  <a:latin typeface="Calibri" panose="020F0502020204030204" pitchFamily="34" charset="0"/>
                  <a:ea typeface="標楷體" pitchFamily="65" charset="-120"/>
                </a:rPr>
                <a:t>      </a:t>
              </a:r>
              <a:r>
                <a:rPr lang="en-US" altLang="zh-TW" sz="1600" b="1" dirty="0" smtClean="0">
                  <a:latin typeface="Calibri" panose="020F0502020204030204" pitchFamily="34" charset="0"/>
                  <a:ea typeface="標楷體" pitchFamily="65" charset="-120"/>
                </a:rPr>
                <a:t>xyz:</a:t>
              </a:r>
              <a:endParaRPr lang="en-US" altLang="zh-TW" sz="1600" b="1" dirty="0">
                <a:latin typeface="Calibri" panose="020F0502020204030204" pitchFamily="34" charset="0"/>
                <a:ea typeface="標楷體" pitchFamily="65" charset="-120"/>
              </a:endParaRPr>
            </a:p>
          </p:txBody>
        </p:sp>
        <p:sp>
          <p:nvSpPr>
            <p:cNvPr id="15377" name="Text Box 24"/>
            <p:cNvSpPr txBox="1">
              <a:spLocks noChangeArrowheads="1"/>
            </p:cNvSpPr>
            <p:nvPr/>
          </p:nvSpPr>
          <p:spPr bwMode="auto">
            <a:xfrm>
              <a:off x="922" y="3200"/>
              <a:ext cx="333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b="1" dirty="0" err="1" smtClean="0">
                  <a:latin typeface="Calibri" panose="020F0502020204030204" pitchFamily="34" charset="0"/>
                  <a:ea typeface="標楷體" pitchFamily="65" charset="-120"/>
                </a:rPr>
                <a:t>abc</a:t>
              </a:r>
              <a:r>
                <a:rPr lang="en-US" altLang="zh-TW" sz="1600" b="1" dirty="0" smtClean="0">
                  <a:latin typeface="Calibri" panose="020F0502020204030204" pitchFamily="34" charset="0"/>
                  <a:ea typeface="標楷體" pitchFamily="65" charset="-120"/>
                </a:rPr>
                <a:t> </a:t>
              </a:r>
              <a:endParaRPr lang="en-US" altLang="zh-TW" sz="1600" b="1" dirty="0">
                <a:latin typeface="Calibri" panose="020F0502020204030204" pitchFamily="34" charset="0"/>
                <a:ea typeface="標楷體" pitchFamily="65" charset="-120"/>
              </a:endParaRPr>
            </a:p>
          </p:txBody>
        </p:sp>
        <p:sp>
          <p:nvSpPr>
            <p:cNvPr id="15378" name="Freeform 25"/>
            <p:cNvSpPr>
              <a:spLocks/>
            </p:cNvSpPr>
            <p:nvPr/>
          </p:nvSpPr>
          <p:spPr bwMode="auto">
            <a:xfrm>
              <a:off x="1543" y="2067"/>
              <a:ext cx="703" cy="237"/>
            </a:xfrm>
            <a:custGeom>
              <a:avLst/>
              <a:gdLst>
                <a:gd name="T0" fmla="*/ 0 w 703"/>
                <a:gd name="T1" fmla="*/ 0 h 237"/>
                <a:gd name="T2" fmla="*/ 703 w 703"/>
                <a:gd name="T3" fmla="*/ 0 h 237"/>
                <a:gd name="T4" fmla="*/ 703 w 703"/>
                <a:gd name="T5" fmla="*/ 237 h 237"/>
                <a:gd name="T6" fmla="*/ 174 w 703"/>
                <a:gd name="T7" fmla="*/ 237 h 2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3"/>
                <a:gd name="T13" fmla="*/ 0 h 237"/>
                <a:gd name="T14" fmla="*/ 703 w 703"/>
                <a:gd name="T15" fmla="*/ 237 h 2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3" h="237">
                  <a:moveTo>
                    <a:pt x="0" y="0"/>
                  </a:moveTo>
                  <a:lnTo>
                    <a:pt x="703" y="0"/>
                  </a:lnTo>
                  <a:lnTo>
                    <a:pt x="703" y="237"/>
                  </a:lnTo>
                  <a:lnTo>
                    <a:pt x="174" y="237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5379" name="Freeform 26"/>
            <p:cNvSpPr>
              <a:spLocks/>
            </p:cNvSpPr>
            <p:nvPr/>
          </p:nvSpPr>
          <p:spPr bwMode="auto">
            <a:xfrm>
              <a:off x="1543" y="2635"/>
              <a:ext cx="703" cy="647"/>
            </a:xfrm>
            <a:custGeom>
              <a:avLst/>
              <a:gdLst>
                <a:gd name="T0" fmla="*/ 0 w 703"/>
                <a:gd name="T1" fmla="*/ 0 h 237"/>
                <a:gd name="T2" fmla="*/ 703 w 703"/>
                <a:gd name="T3" fmla="*/ 0 h 237"/>
                <a:gd name="T4" fmla="*/ 703 w 703"/>
                <a:gd name="T5" fmla="*/ 1766 h 237"/>
                <a:gd name="T6" fmla="*/ 174 w 703"/>
                <a:gd name="T7" fmla="*/ 1766 h 2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3"/>
                <a:gd name="T13" fmla="*/ 0 h 237"/>
                <a:gd name="T14" fmla="*/ 703 w 703"/>
                <a:gd name="T15" fmla="*/ 237 h 2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3" h="237">
                  <a:moveTo>
                    <a:pt x="0" y="0"/>
                  </a:moveTo>
                  <a:lnTo>
                    <a:pt x="703" y="0"/>
                  </a:lnTo>
                  <a:lnTo>
                    <a:pt x="703" y="237"/>
                  </a:lnTo>
                  <a:lnTo>
                    <a:pt x="174" y="237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5380" name="Text Box 27"/>
            <p:cNvSpPr txBox="1">
              <a:spLocks noChangeArrowheads="1"/>
            </p:cNvSpPr>
            <p:nvPr/>
          </p:nvSpPr>
          <p:spPr bwMode="auto">
            <a:xfrm>
              <a:off x="980" y="3626"/>
              <a:ext cx="856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>
                  <a:latin typeface="Calibri" panose="020F0502020204030204" pitchFamily="34" charset="0"/>
                  <a:ea typeface="標楷體" pitchFamily="65" charset="-120"/>
                </a:rPr>
                <a:t>Source Code</a:t>
              </a:r>
            </a:p>
          </p:txBody>
        </p:sp>
      </p:grpSp>
      <p:sp>
        <p:nvSpPr>
          <p:cNvPr id="15365" name="AutoShape 28"/>
          <p:cNvSpPr>
            <a:spLocks noChangeArrowheads="1"/>
          </p:cNvSpPr>
          <p:nvPr/>
        </p:nvSpPr>
        <p:spPr bwMode="auto">
          <a:xfrm>
            <a:off x="4613275" y="3883025"/>
            <a:ext cx="1227138" cy="312738"/>
          </a:xfrm>
          <a:prstGeom prst="chevron">
            <a:avLst>
              <a:gd name="adj" fmla="val 98096"/>
            </a:avLst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TW" altLang="zh-TW" sz="1800">
              <a:solidFill>
                <a:schemeClr val="accent2"/>
              </a:solidFill>
              <a:latin typeface="Calibri" panose="020F0502020204030204" pitchFamily="34" charset="0"/>
              <a:ea typeface="標楷體" pitchFamily="65" charset="-120"/>
            </a:endParaRPr>
          </a:p>
        </p:txBody>
      </p:sp>
      <p:sp>
        <p:nvSpPr>
          <p:cNvPr id="15366" name="Text Box 29"/>
          <p:cNvSpPr txBox="1">
            <a:spLocks noChangeArrowheads="1"/>
          </p:cNvSpPr>
          <p:nvPr/>
        </p:nvSpPr>
        <p:spPr bwMode="auto">
          <a:xfrm>
            <a:off x="4684714" y="4152900"/>
            <a:ext cx="95731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latin typeface="Calibri" panose="020F0502020204030204" pitchFamily="34" charset="0"/>
                <a:ea typeface="標楷體" pitchFamily="65" charset="-120"/>
              </a:rPr>
              <a:t>Compile</a:t>
            </a:r>
          </a:p>
        </p:txBody>
      </p:sp>
      <p:sp>
        <p:nvSpPr>
          <p:cNvPr id="15367" name="AutoShape 30"/>
          <p:cNvSpPr>
            <a:spLocks noChangeArrowheads="1"/>
          </p:cNvSpPr>
          <p:nvPr/>
        </p:nvSpPr>
        <p:spPr bwMode="auto">
          <a:xfrm>
            <a:off x="9272589" y="3883025"/>
            <a:ext cx="1227137" cy="312738"/>
          </a:xfrm>
          <a:prstGeom prst="chevron">
            <a:avLst>
              <a:gd name="adj" fmla="val 98096"/>
            </a:avLst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TW" altLang="zh-TW" sz="1800">
              <a:solidFill>
                <a:schemeClr val="accent2"/>
              </a:solidFill>
              <a:latin typeface="Calibri" panose="020F0502020204030204" pitchFamily="34" charset="0"/>
              <a:ea typeface="標楷體" pitchFamily="65" charset="-120"/>
            </a:endParaRPr>
          </a:p>
        </p:txBody>
      </p:sp>
      <p:sp>
        <p:nvSpPr>
          <p:cNvPr id="15368" name="Text Box 31"/>
          <p:cNvSpPr txBox="1">
            <a:spLocks noChangeArrowheads="1"/>
          </p:cNvSpPr>
          <p:nvPr/>
        </p:nvSpPr>
        <p:spPr bwMode="auto">
          <a:xfrm>
            <a:off x="9532938" y="4152900"/>
            <a:ext cx="561372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latin typeface="Calibri" panose="020F0502020204030204" pitchFamily="34" charset="0"/>
                <a:ea typeface="標楷體" pitchFamily="65" charset="-120"/>
              </a:rPr>
              <a:t>Link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Binding at Loader Time (Cont.)</a:t>
            </a:r>
          </a:p>
        </p:txBody>
      </p:sp>
      <p:grpSp>
        <p:nvGrpSpPr>
          <p:cNvPr id="16387" name="Group 3"/>
          <p:cNvGrpSpPr>
            <a:grpSpLocks/>
          </p:cNvGrpSpPr>
          <p:nvPr/>
        </p:nvGrpSpPr>
        <p:grpSpPr bwMode="auto">
          <a:xfrm>
            <a:off x="3979864" y="1798639"/>
            <a:ext cx="3444875" cy="4327525"/>
            <a:chOff x="2959" y="1133"/>
            <a:chExt cx="2170" cy="2726"/>
          </a:xfrm>
        </p:grpSpPr>
        <p:sp>
          <p:nvSpPr>
            <p:cNvPr id="16390" name="Rectangle 4"/>
            <p:cNvSpPr>
              <a:spLocks noChangeArrowheads="1"/>
            </p:cNvSpPr>
            <p:nvPr/>
          </p:nvSpPr>
          <p:spPr bwMode="auto">
            <a:xfrm>
              <a:off x="3333" y="1610"/>
              <a:ext cx="1160" cy="203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6391" name="Text Box 5"/>
            <p:cNvSpPr txBox="1">
              <a:spLocks noChangeArrowheads="1"/>
            </p:cNvSpPr>
            <p:nvPr/>
          </p:nvSpPr>
          <p:spPr bwMode="auto">
            <a:xfrm>
              <a:off x="3283" y="1133"/>
              <a:ext cx="1846" cy="40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>
                  <a:latin typeface="Calibri" panose="020F0502020204030204" pitchFamily="34" charset="0"/>
                  <a:ea typeface="標楷體" pitchFamily="65" charset="-120"/>
                </a:rPr>
                <a:t>Absolute Addresses</a:t>
              </a:r>
              <a:br>
                <a:rPr lang="en-US" altLang="zh-TW" sz="1800">
                  <a:latin typeface="Calibri" panose="020F0502020204030204" pitchFamily="34" charset="0"/>
                  <a:ea typeface="標楷體" pitchFamily="65" charset="-120"/>
                </a:rPr>
              </a:br>
              <a:r>
                <a:rPr lang="en-US" altLang="zh-TW" sz="1800">
                  <a:latin typeface="Calibri" panose="020F0502020204030204" pitchFamily="34" charset="0"/>
                  <a:ea typeface="標楷體" pitchFamily="65" charset="-120"/>
                </a:rPr>
                <a:t>(Physical Memory Addresses)</a:t>
              </a:r>
            </a:p>
          </p:txBody>
        </p:sp>
        <p:sp>
          <p:nvSpPr>
            <p:cNvPr id="16392" name="Text Box 6"/>
            <p:cNvSpPr txBox="1">
              <a:spLocks noChangeArrowheads="1"/>
            </p:cNvSpPr>
            <p:nvPr/>
          </p:nvSpPr>
          <p:spPr bwMode="auto">
            <a:xfrm>
              <a:off x="2959" y="1630"/>
              <a:ext cx="347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>
                  <a:latin typeface="Calibri" panose="020F0502020204030204" pitchFamily="34" charset="0"/>
                  <a:ea typeface="標楷體" pitchFamily="65" charset="-120"/>
                </a:rPr>
                <a:t>1024</a:t>
              </a:r>
            </a:p>
          </p:txBody>
        </p:sp>
        <p:sp>
          <p:nvSpPr>
            <p:cNvPr id="16393" name="Text Box 7"/>
            <p:cNvSpPr txBox="1">
              <a:spLocks noChangeArrowheads="1"/>
            </p:cNvSpPr>
            <p:nvPr/>
          </p:nvSpPr>
          <p:spPr bwMode="auto">
            <a:xfrm>
              <a:off x="3330" y="1985"/>
              <a:ext cx="66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>
                  <a:latin typeface="Calibri" panose="020F0502020204030204" pitchFamily="34" charset="0"/>
                  <a:ea typeface="標楷體" pitchFamily="65" charset="-120"/>
                </a:rPr>
                <a:t>JUMP  1424</a:t>
              </a:r>
            </a:p>
          </p:txBody>
        </p:sp>
        <p:sp>
          <p:nvSpPr>
            <p:cNvPr id="16394" name="Text Box 8"/>
            <p:cNvSpPr txBox="1">
              <a:spLocks noChangeArrowheads="1"/>
            </p:cNvSpPr>
            <p:nvPr/>
          </p:nvSpPr>
          <p:spPr bwMode="auto">
            <a:xfrm>
              <a:off x="3330" y="2522"/>
              <a:ext cx="65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>
                  <a:latin typeface="Calibri" panose="020F0502020204030204" pitchFamily="34" charset="0"/>
                  <a:ea typeface="標楷體" pitchFamily="65" charset="-120"/>
                </a:rPr>
                <a:t>LOAD  2224</a:t>
              </a:r>
            </a:p>
          </p:txBody>
        </p:sp>
        <p:sp>
          <p:nvSpPr>
            <p:cNvPr id="16395" name="Line 9"/>
            <p:cNvSpPr>
              <a:spLocks noChangeShapeType="1"/>
            </p:cNvSpPr>
            <p:nvPr/>
          </p:nvSpPr>
          <p:spPr bwMode="auto">
            <a:xfrm>
              <a:off x="3333" y="2817"/>
              <a:ext cx="11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6396" name="Text Box 10"/>
            <p:cNvSpPr txBox="1">
              <a:spLocks noChangeArrowheads="1"/>
            </p:cNvSpPr>
            <p:nvPr/>
          </p:nvSpPr>
          <p:spPr bwMode="auto">
            <a:xfrm>
              <a:off x="2959" y="2206"/>
              <a:ext cx="347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>
                  <a:latin typeface="Calibri" panose="020F0502020204030204" pitchFamily="34" charset="0"/>
                  <a:ea typeface="標楷體" pitchFamily="65" charset="-120"/>
                </a:rPr>
                <a:t>1424</a:t>
              </a:r>
            </a:p>
          </p:txBody>
        </p:sp>
        <p:sp>
          <p:nvSpPr>
            <p:cNvPr id="16397" name="Text Box 11"/>
            <p:cNvSpPr txBox="1">
              <a:spLocks noChangeArrowheads="1"/>
            </p:cNvSpPr>
            <p:nvPr/>
          </p:nvSpPr>
          <p:spPr bwMode="auto">
            <a:xfrm>
              <a:off x="2959" y="3216"/>
              <a:ext cx="347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>
                  <a:latin typeface="Calibri" panose="020F0502020204030204" pitchFamily="34" charset="0"/>
                  <a:ea typeface="標楷體" pitchFamily="65" charset="-120"/>
                </a:rPr>
                <a:t>2224</a:t>
              </a:r>
            </a:p>
          </p:txBody>
        </p:sp>
        <p:sp>
          <p:nvSpPr>
            <p:cNvPr id="16398" name="Freeform 12"/>
            <p:cNvSpPr>
              <a:spLocks/>
            </p:cNvSpPr>
            <p:nvPr/>
          </p:nvSpPr>
          <p:spPr bwMode="auto">
            <a:xfrm>
              <a:off x="4398" y="2067"/>
              <a:ext cx="703" cy="237"/>
            </a:xfrm>
            <a:custGeom>
              <a:avLst/>
              <a:gdLst>
                <a:gd name="T0" fmla="*/ 0 w 703"/>
                <a:gd name="T1" fmla="*/ 0 h 237"/>
                <a:gd name="T2" fmla="*/ 703 w 703"/>
                <a:gd name="T3" fmla="*/ 0 h 237"/>
                <a:gd name="T4" fmla="*/ 703 w 703"/>
                <a:gd name="T5" fmla="*/ 237 h 237"/>
                <a:gd name="T6" fmla="*/ 174 w 703"/>
                <a:gd name="T7" fmla="*/ 237 h 2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3"/>
                <a:gd name="T13" fmla="*/ 0 h 237"/>
                <a:gd name="T14" fmla="*/ 703 w 703"/>
                <a:gd name="T15" fmla="*/ 237 h 2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3" h="237">
                  <a:moveTo>
                    <a:pt x="0" y="0"/>
                  </a:moveTo>
                  <a:lnTo>
                    <a:pt x="703" y="0"/>
                  </a:lnTo>
                  <a:lnTo>
                    <a:pt x="703" y="237"/>
                  </a:lnTo>
                  <a:lnTo>
                    <a:pt x="174" y="237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6399" name="Freeform 13"/>
            <p:cNvSpPr>
              <a:spLocks/>
            </p:cNvSpPr>
            <p:nvPr/>
          </p:nvSpPr>
          <p:spPr bwMode="auto">
            <a:xfrm>
              <a:off x="4398" y="2635"/>
              <a:ext cx="703" cy="647"/>
            </a:xfrm>
            <a:custGeom>
              <a:avLst/>
              <a:gdLst>
                <a:gd name="T0" fmla="*/ 0 w 703"/>
                <a:gd name="T1" fmla="*/ 0 h 237"/>
                <a:gd name="T2" fmla="*/ 703 w 703"/>
                <a:gd name="T3" fmla="*/ 0 h 237"/>
                <a:gd name="T4" fmla="*/ 703 w 703"/>
                <a:gd name="T5" fmla="*/ 1766 h 237"/>
                <a:gd name="T6" fmla="*/ 174 w 703"/>
                <a:gd name="T7" fmla="*/ 1766 h 2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3"/>
                <a:gd name="T13" fmla="*/ 0 h 237"/>
                <a:gd name="T14" fmla="*/ 703 w 703"/>
                <a:gd name="T15" fmla="*/ 237 h 2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3" h="237">
                  <a:moveTo>
                    <a:pt x="0" y="0"/>
                  </a:moveTo>
                  <a:lnTo>
                    <a:pt x="703" y="0"/>
                  </a:lnTo>
                  <a:lnTo>
                    <a:pt x="703" y="237"/>
                  </a:lnTo>
                  <a:lnTo>
                    <a:pt x="174" y="237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6400" name="Text Box 14"/>
            <p:cNvSpPr txBox="1">
              <a:spLocks noChangeArrowheads="1"/>
            </p:cNvSpPr>
            <p:nvPr/>
          </p:nvSpPr>
          <p:spPr bwMode="auto">
            <a:xfrm>
              <a:off x="3235" y="3626"/>
              <a:ext cx="1321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>
                  <a:latin typeface="Calibri" panose="020F0502020204030204" pitchFamily="34" charset="0"/>
                  <a:ea typeface="標楷體" pitchFamily="65" charset="-120"/>
                </a:rPr>
                <a:t>Process Image (Part)</a:t>
              </a:r>
            </a:p>
          </p:txBody>
        </p:sp>
      </p:grpSp>
      <p:sp>
        <p:nvSpPr>
          <p:cNvPr id="16388" name="AutoShape 15"/>
          <p:cNvSpPr>
            <a:spLocks noChangeArrowheads="1"/>
          </p:cNvSpPr>
          <p:nvPr/>
        </p:nvSpPr>
        <p:spPr bwMode="auto">
          <a:xfrm>
            <a:off x="2395539" y="3670300"/>
            <a:ext cx="1227137" cy="312738"/>
          </a:xfrm>
          <a:prstGeom prst="chevron">
            <a:avLst>
              <a:gd name="adj" fmla="val 98096"/>
            </a:avLst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TW" altLang="zh-TW" sz="1800">
              <a:solidFill>
                <a:schemeClr val="accent2"/>
              </a:solidFill>
              <a:latin typeface="Calibri" panose="020F0502020204030204" pitchFamily="34" charset="0"/>
              <a:ea typeface="標楷體" pitchFamily="65" charset="-120"/>
            </a:endParaRPr>
          </a:p>
        </p:txBody>
      </p:sp>
      <p:sp>
        <p:nvSpPr>
          <p:cNvPr id="16389" name="Text Box 16"/>
          <p:cNvSpPr txBox="1">
            <a:spLocks noChangeArrowheads="1"/>
          </p:cNvSpPr>
          <p:nvPr/>
        </p:nvSpPr>
        <p:spPr bwMode="auto">
          <a:xfrm>
            <a:off x="2655889" y="3940175"/>
            <a:ext cx="63671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latin typeface="Calibri" panose="020F0502020204030204" pitchFamily="34" charset="0"/>
                <a:ea typeface="標楷體" pitchFamily="65" charset="-120"/>
              </a:rPr>
              <a:t>Load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3600" dirty="0" smtClean="0"/>
              <a:t>Loading time</a:t>
            </a:r>
            <a:r>
              <a:rPr lang="zh-TW" altLang="en-US" sz="3600" dirty="0" smtClean="0"/>
              <a:t> 做</a:t>
            </a:r>
            <a:r>
              <a:rPr lang="en-US" altLang="zh-TW" sz="3600" dirty="0" smtClean="0"/>
              <a:t>binding</a:t>
            </a:r>
            <a:r>
              <a:rPr lang="zh-TW" altLang="en-US" sz="3600" dirty="0" smtClean="0"/>
              <a:t>很好</a:t>
            </a:r>
            <a:r>
              <a:rPr lang="en-US" altLang="zh-TW" sz="3600" dirty="0" smtClean="0"/>
              <a:t>, </a:t>
            </a:r>
            <a:r>
              <a:rPr lang="zh-TW" altLang="en-US" sz="3600" dirty="0" smtClean="0"/>
              <a:t>但是因為記憶體管理的特性</a:t>
            </a:r>
            <a:r>
              <a:rPr lang="en-US" altLang="zh-TW" sz="3600" dirty="0" smtClean="0"/>
              <a:t>, </a:t>
            </a:r>
            <a:r>
              <a:rPr lang="zh-TW" altLang="en-US" sz="3600" dirty="0" smtClean="0"/>
              <a:t>所以目前使用</a:t>
            </a:r>
            <a:r>
              <a:rPr lang="en-US" altLang="zh-TW" sz="3600" dirty="0" smtClean="0"/>
              <a:t>execution time binding</a:t>
            </a:r>
            <a:endParaRPr lang="zh-TW" altLang="en-US" sz="36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3751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Address Binding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Binding of Instructions and Data to </a:t>
            </a:r>
            <a:r>
              <a:rPr lang="en-US" altLang="zh-TW" sz="3600" dirty="0" smtClean="0"/>
              <a:t>Memory</a:t>
            </a:r>
          </a:p>
          <a:p>
            <a:pPr lvl="1"/>
            <a:r>
              <a:rPr lang="en-US" altLang="zh-TW" sz="3200" dirty="0" smtClean="0"/>
              <a:t>At </a:t>
            </a:r>
            <a:r>
              <a:rPr lang="en-US" altLang="zh-TW" sz="3200" dirty="0"/>
              <a:t>compile time: e.g., SIC </a:t>
            </a:r>
            <a:r>
              <a:rPr lang="en-US" altLang="zh-TW" sz="3200" dirty="0" smtClean="0"/>
              <a:t>computer</a:t>
            </a:r>
          </a:p>
          <a:p>
            <a:pPr lvl="1"/>
            <a:endParaRPr lang="en-US" altLang="zh-TW" sz="3200" dirty="0" smtClean="0"/>
          </a:p>
          <a:p>
            <a:pPr lvl="1"/>
            <a:r>
              <a:rPr lang="en-US" altLang="zh-TW" sz="3200" dirty="0" smtClean="0"/>
              <a:t>At </a:t>
            </a:r>
            <a:r>
              <a:rPr lang="en-US" altLang="zh-TW" sz="3200" dirty="0"/>
              <a:t>load time: e.g., SIC/XE </a:t>
            </a:r>
            <a:r>
              <a:rPr lang="en-US" altLang="zh-TW" sz="3200" dirty="0" smtClean="0"/>
              <a:t>computer</a:t>
            </a:r>
          </a:p>
          <a:p>
            <a:pPr lvl="1"/>
            <a:endParaRPr lang="en-US" altLang="zh-TW" sz="3200" dirty="0" smtClean="0"/>
          </a:p>
          <a:p>
            <a:pPr lvl="1"/>
            <a:r>
              <a:rPr lang="en-US" altLang="zh-TW" sz="3200" b="1" dirty="0" smtClean="0">
                <a:solidFill>
                  <a:srgbClr val="FF0000"/>
                </a:solidFill>
              </a:rPr>
              <a:t>At </a:t>
            </a:r>
            <a:r>
              <a:rPr lang="en-US" altLang="zh-TW" sz="3200" b="1" dirty="0">
                <a:solidFill>
                  <a:srgbClr val="FF0000"/>
                </a:solidFill>
              </a:rPr>
              <a:t>execution time: e.g., x86 computer</a:t>
            </a:r>
          </a:p>
          <a:p>
            <a:pPr lvl="2"/>
            <a:r>
              <a:rPr lang="zh-TW" altLang="en-US" sz="2800" dirty="0" smtClean="0"/>
              <a:t>本章會介紹</a:t>
            </a:r>
            <a:endParaRPr lang="en-US" altLang="zh-TW" sz="2800" dirty="0"/>
          </a:p>
          <a:p>
            <a:endParaRPr lang="en-US" altLang="zh-TW" sz="3600" dirty="0"/>
          </a:p>
          <a:p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045073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 smtClean="0"/>
              <a:t>Summary: Binding </a:t>
            </a:r>
            <a:r>
              <a:rPr lang="en-US" altLang="zh-TW" sz="3600" dirty="0"/>
              <a:t>of Instructions and Data to Memory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b="1" dirty="0">
                <a:solidFill>
                  <a:srgbClr val="0000FF"/>
                </a:solidFill>
              </a:rPr>
              <a:t>At compile time:</a:t>
            </a:r>
            <a:r>
              <a:rPr lang="en-US" altLang="zh-TW" dirty="0"/>
              <a:t> </a:t>
            </a:r>
            <a:r>
              <a:rPr lang="en-US" altLang="zh-TW" dirty="0" smtClean="0"/>
              <a:t>e.g</a:t>
            </a:r>
            <a:r>
              <a:rPr lang="en-US" altLang="zh-TW" dirty="0"/>
              <a:t>., SIC computer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Compiler </a:t>
            </a:r>
            <a:r>
              <a:rPr lang="en-US" altLang="zh-TW" dirty="0"/>
              <a:t>generate </a:t>
            </a:r>
            <a:r>
              <a:rPr lang="en-US" altLang="zh-TW" b="1" dirty="0">
                <a:solidFill>
                  <a:srgbClr val="FF3300"/>
                </a:solidFill>
              </a:rPr>
              <a:t>absolute </a:t>
            </a:r>
            <a:r>
              <a:rPr lang="en-US" altLang="zh-TW" b="1" dirty="0" smtClean="0">
                <a:solidFill>
                  <a:srgbClr val="FF3300"/>
                </a:solidFill>
              </a:rPr>
              <a:t>code</a:t>
            </a:r>
            <a:endParaRPr lang="en-US" altLang="zh-TW" dirty="0" smtClean="0"/>
          </a:p>
          <a:p>
            <a:pPr lvl="1"/>
            <a:r>
              <a:rPr lang="en-US" altLang="zh-TW" dirty="0"/>
              <a:t>Memory location must known a </a:t>
            </a:r>
            <a:r>
              <a:rPr lang="en-US" altLang="zh-TW" dirty="0" smtClean="0"/>
              <a:t>priori</a:t>
            </a:r>
          </a:p>
          <a:p>
            <a:pPr lvl="1"/>
            <a:r>
              <a:rPr lang="en-US" altLang="zh-TW" dirty="0" smtClean="0"/>
              <a:t>The program must be loaded at fixed address</a:t>
            </a:r>
          </a:p>
          <a:p>
            <a:r>
              <a:rPr lang="en-US" altLang="zh-TW" b="1" dirty="0" smtClean="0">
                <a:solidFill>
                  <a:srgbClr val="0000FF"/>
                </a:solidFill>
              </a:rPr>
              <a:t>At load time: </a:t>
            </a:r>
            <a:r>
              <a:rPr lang="en-US" altLang="zh-TW" dirty="0" smtClean="0"/>
              <a:t>e.g., SIC/XE computer</a:t>
            </a:r>
            <a:endParaRPr lang="en-US" altLang="zh-TW" b="1" dirty="0" smtClean="0">
              <a:solidFill>
                <a:srgbClr val="0000FF"/>
              </a:solidFill>
            </a:endParaRPr>
          </a:p>
          <a:p>
            <a:pPr lvl="1"/>
            <a:r>
              <a:rPr lang="en-US" altLang="zh-TW" dirty="0" smtClean="0"/>
              <a:t>Compiler </a:t>
            </a:r>
            <a:r>
              <a:rPr lang="en-US" altLang="zh-TW" dirty="0"/>
              <a:t>must generate </a:t>
            </a:r>
            <a:r>
              <a:rPr lang="en-US" altLang="zh-TW" b="1" dirty="0">
                <a:solidFill>
                  <a:srgbClr val="FF3300"/>
                </a:solidFill>
              </a:rPr>
              <a:t>relocatable </a:t>
            </a:r>
            <a:r>
              <a:rPr lang="en-US" altLang="zh-TW" b="1" dirty="0" smtClean="0">
                <a:solidFill>
                  <a:srgbClr val="FF3300"/>
                </a:solidFill>
              </a:rPr>
              <a:t>code </a:t>
            </a:r>
            <a:endParaRPr lang="en-US" altLang="zh-TW" dirty="0" smtClean="0"/>
          </a:p>
          <a:p>
            <a:pPr lvl="1"/>
            <a:r>
              <a:rPr kumimoji="0" lang="en-US" altLang="zh-TW" dirty="0"/>
              <a:t>Loader binds </a:t>
            </a:r>
            <a:r>
              <a:rPr kumimoji="0" lang="en-US" altLang="zh-TW" b="1" dirty="0" err="1"/>
              <a:t>relocatable</a:t>
            </a:r>
            <a:r>
              <a:rPr kumimoji="0" lang="en-US" altLang="zh-TW" b="1" dirty="0"/>
              <a:t> addresses</a:t>
            </a:r>
            <a:r>
              <a:rPr kumimoji="0" lang="en-US" altLang="zh-TW" dirty="0"/>
              <a:t> to </a:t>
            </a:r>
            <a:r>
              <a:rPr kumimoji="0" lang="en-US" altLang="zh-TW" b="1" dirty="0"/>
              <a:t>absolute </a:t>
            </a:r>
            <a:r>
              <a:rPr kumimoji="0" lang="en-US" altLang="zh-TW" b="1" dirty="0" smtClean="0"/>
              <a:t>address</a:t>
            </a:r>
          </a:p>
          <a:p>
            <a:r>
              <a:rPr lang="en-US" altLang="zh-TW" b="1" dirty="0">
                <a:solidFill>
                  <a:srgbClr val="0000FF"/>
                </a:solidFill>
              </a:rPr>
              <a:t>At execution time: e.g</a:t>
            </a:r>
            <a:r>
              <a:rPr lang="en-US" altLang="zh-TW" dirty="0"/>
              <a:t>., x86 </a:t>
            </a:r>
            <a:r>
              <a:rPr lang="en-US" altLang="zh-TW" dirty="0" smtClean="0"/>
              <a:t>computer</a:t>
            </a:r>
          </a:p>
          <a:p>
            <a:pPr lvl="1"/>
            <a:r>
              <a:rPr lang="en-US" altLang="zh-TW" dirty="0"/>
              <a:t>Need </a:t>
            </a:r>
            <a:r>
              <a:rPr lang="en-US" altLang="zh-TW" b="1" dirty="0">
                <a:solidFill>
                  <a:srgbClr val="FF3300"/>
                </a:solidFill>
              </a:rPr>
              <a:t>hardware</a:t>
            </a:r>
            <a:r>
              <a:rPr lang="en-US" altLang="zh-TW" dirty="0"/>
              <a:t> support for address </a:t>
            </a:r>
            <a:r>
              <a:rPr lang="en-US" altLang="zh-TW" dirty="0" smtClean="0"/>
              <a:t>maps</a:t>
            </a:r>
          </a:p>
          <a:p>
            <a:pPr lvl="1"/>
            <a:r>
              <a:rPr lang="en-US" altLang="zh-TW" dirty="0" smtClean="0"/>
              <a:t>Used in current computers</a:t>
            </a:r>
            <a:r>
              <a:rPr lang="en-US" altLang="zh-TW" dirty="0"/>
              <a:t> (paging</a:t>
            </a:r>
            <a:r>
              <a:rPr lang="en-US" altLang="zh-TW" dirty="0" smtClean="0"/>
              <a:t>, </a:t>
            </a:r>
            <a:r>
              <a:rPr lang="en-US" altLang="zh-TW" dirty="0" smtClean="0"/>
              <a:t>swapping)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11355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24417" y="1484312"/>
            <a:ext cx="10972800" cy="5113039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Background</a:t>
            </a:r>
          </a:p>
          <a:p>
            <a:pPr lvl="1" eaLnBrk="1" hangingPunct="1"/>
            <a:r>
              <a:rPr lang="en-US" altLang="zh-TW" dirty="0" smtClean="0"/>
              <a:t>Address Binding</a:t>
            </a:r>
          </a:p>
          <a:p>
            <a:pPr lvl="1" eaLnBrk="1" hangingPunct="1"/>
            <a:r>
              <a:rPr lang="en-US" altLang="zh-TW" b="1" dirty="0" smtClean="0">
                <a:solidFill>
                  <a:srgbClr val="FF0000"/>
                </a:solidFill>
              </a:rPr>
              <a:t>Logical Versus Physical Address Space</a:t>
            </a:r>
          </a:p>
          <a:p>
            <a:pPr lvl="1" eaLnBrk="1" hangingPunct="1"/>
            <a:r>
              <a:rPr lang="en-US" altLang="zh-TW" dirty="0" smtClean="0"/>
              <a:t>Dynamic Loading</a:t>
            </a:r>
          </a:p>
          <a:p>
            <a:pPr lvl="1" eaLnBrk="1" hangingPunct="1"/>
            <a:r>
              <a:rPr lang="en-US" altLang="zh-TW" dirty="0" smtClean="0"/>
              <a:t>Dynamic Linking and Shared Library</a:t>
            </a:r>
          </a:p>
          <a:p>
            <a:pPr eaLnBrk="1" hangingPunct="1"/>
            <a:r>
              <a:rPr lang="en-US" altLang="zh-TW" dirty="0" smtClean="0"/>
              <a:t>Contiguous Memory Allocation</a:t>
            </a:r>
          </a:p>
          <a:p>
            <a:pPr eaLnBrk="1" hangingPunct="1"/>
            <a:r>
              <a:rPr lang="en-US" altLang="zh-TW" dirty="0" smtClean="0"/>
              <a:t>Paging</a:t>
            </a:r>
          </a:p>
          <a:p>
            <a:pPr eaLnBrk="1" hangingPunct="1"/>
            <a:r>
              <a:rPr lang="en-US" altLang="zh-TW" dirty="0" smtClean="0"/>
              <a:t>Structure of the Page Table</a:t>
            </a:r>
          </a:p>
          <a:p>
            <a:pPr eaLnBrk="1" hangingPunct="1"/>
            <a:r>
              <a:rPr lang="en-US" altLang="zh-TW" dirty="0" smtClean="0"/>
              <a:t>Swapping</a:t>
            </a:r>
          </a:p>
          <a:p>
            <a:pPr eaLnBrk="1" hangingPunct="1"/>
            <a:r>
              <a:rPr lang="en-US" altLang="zh-TW" dirty="0" smtClean="0"/>
              <a:t>Example: Intel 32 and 64-bit Architectures</a:t>
            </a:r>
          </a:p>
          <a:p>
            <a:pPr eaLnBrk="1" hangingPunct="1"/>
            <a:r>
              <a:rPr lang="en-US" altLang="zh-TW" dirty="0" smtClean="0"/>
              <a:t>Example: ARMv8 Architecture</a:t>
            </a:r>
          </a:p>
        </p:txBody>
      </p:sp>
    </p:spTree>
    <p:extLst>
      <p:ext uri="{BB962C8B-B14F-4D97-AF65-F5344CB8AC3E}">
        <p14:creationId xmlns:p14="http://schemas.microsoft.com/office/powerpoint/2010/main" val="3516013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 bwMode="auto">
          <a:xfrm>
            <a:off x="2135560" y="260648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 baseline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r>
              <a:rPr lang="en-US" altLang="zh-TW" kern="0" dirty="0" smtClean="0">
                <a:solidFill>
                  <a:schemeClr val="tx1"/>
                </a:solidFill>
              </a:rPr>
              <a:t>Current computers have </a:t>
            </a:r>
            <a:r>
              <a:rPr lang="en-US" altLang="zh-TW" kern="0">
                <a:solidFill>
                  <a:srgbClr val="0000FF"/>
                </a:solidFill>
              </a:rPr>
              <a:t>execution-time </a:t>
            </a:r>
            <a:r>
              <a:rPr lang="en-US" altLang="zh-TW" kern="0" smtClean="0">
                <a:solidFill>
                  <a:srgbClr val="0000FF"/>
                </a:solidFill>
              </a:rPr>
              <a:t>binding</a:t>
            </a:r>
            <a:endParaRPr lang="zh-TW" altLang="en-US" kern="0" dirty="0">
              <a:solidFill>
                <a:schemeClr val="tx1"/>
              </a:solidFill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 bwMode="auto">
          <a:xfrm>
            <a:off x="1521260" y="2787193"/>
            <a:ext cx="90010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 baseline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r>
              <a:rPr lang="en-US" altLang="zh-TW" kern="0" dirty="0">
                <a:solidFill>
                  <a:schemeClr val="tx1"/>
                </a:solidFill>
              </a:rPr>
              <a:t>The </a:t>
            </a:r>
            <a:r>
              <a:rPr lang="en-US" altLang="zh-TW" kern="0" dirty="0">
                <a:solidFill>
                  <a:srgbClr val="0000FF"/>
                </a:solidFill>
              </a:rPr>
              <a:t>addresses generated by CPU </a:t>
            </a:r>
            <a:r>
              <a:rPr lang="en-US" altLang="zh-TW" kern="0" dirty="0">
                <a:solidFill>
                  <a:schemeClr val="tx1"/>
                </a:solidFill>
              </a:rPr>
              <a:t>are </a:t>
            </a:r>
            <a:r>
              <a:rPr lang="en-US" altLang="zh-TW" kern="0" dirty="0">
                <a:solidFill>
                  <a:srgbClr val="FF0000"/>
                </a:solidFill>
              </a:rPr>
              <a:t>different</a:t>
            </a:r>
            <a:r>
              <a:rPr lang="en-US" altLang="zh-TW" kern="0" dirty="0">
                <a:solidFill>
                  <a:schemeClr val="tx1"/>
                </a:solidFill>
              </a:rPr>
              <a:t> from </a:t>
            </a:r>
            <a:r>
              <a:rPr lang="en-US" altLang="zh-TW" kern="0" dirty="0">
                <a:solidFill>
                  <a:srgbClr val="0000FF"/>
                </a:solidFill>
              </a:rPr>
              <a:t>that seen by </a:t>
            </a:r>
            <a:r>
              <a:rPr lang="en-US" altLang="zh-TW" kern="0" dirty="0" smtClean="0">
                <a:solidFill>
                  <a:srgbClr val="0000FF"/>
                </a:solidFill>
              </a:rPr>
              <a:t>memory</a:t>
            </a:r>
            <a:endParaRPr lang="zh-TW" altLang="en-US" kern="0" dirty="0">
              <a:solidFill>
                <a:srgbClr val="0000FF"/>
              </a:solidFill>
            </a:endParaRPr>
          </a:p>
        </p:txBody>
      </p:sp>
      <p:sp>
        <p:nvSpPr>
          <p:cNvPr id="7" name="向下箭號 6"/>
          <p:cNvSpPr/>
          <p:nvPr/>
        </p:nvSpPr>
        <p:spPr>
          <a:xfrm>
            <a:off x="5779444" y="1787748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/>
          <p:cNvGrpSpPr/>
          <p:nvPr/>
        </p:nvGrpSpPr>
        <p:grpSpPr>
          <a:xfrm>
            <a:off x="2063552" y="4365104"/>
            <a:ext cx="7920880" cy="2158627"/>
            <a:chOff x="2135560" y="4552674"/>
            <a:chExt cx="7920880" cy="2158627"/>
          </a:xfrm>
        </p:grpSpPr>
        <p:pic>
          <p:nvPicPr>
            <p:cNvPr id="5" name="Picture 4" descr="W:\os-book\OS10\slide-dir\os-figures\9_04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5560" y="4552674"/>
              <a:ext cx="7920880" cy="2158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矩形 1"/>
            <p:cNvSpPr/>
            <p:nvPr/>
          </p:nvSpPr>
          <p:spPr>
            <a:xfrm>
              <a:off x="5231904" y="4941168"/>
              <a:ext cx="1800200" cy="13681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" name="不等於 2"/>
            <p:cNvSpPr/>
            <p:nvPr/>
          </p:nvSpPr>
          <p:spPr>
            <a:xfrm>
              <a:off x="5303912" y="5182982"/>
              <a:ext cx="1656184" cy="898010"/>
            </a:xfrm>
            <a:prstGeom prst="mathNotEqual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4532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Logical vs. Physical Address Space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TW" b="1" dirty="0">
                <a:solidFill>
                  <a:srgbClr val="FF0000"/>
                </a:solidFill>
              </a:rPr>
              <a:t>Logical address </a:t>
            </a:r>
            <a:r>
              <a:rPr lang="en-US" altLang="zh-TW" dirty="0"/>
              <a:t>– generated by </a:t>
            </a:r>
            <a:r>
              <a:rPr lang="en-US" altLang="zh-TW" b="1" dirty="0" smtClean="0"/>
              <a:t>CPU</a:t>
            </a:r>
            <a:r>
              <a:rPr lang="en-US" altLang="zh-TW" dirty="0"/>
              <a:t>; also referred to as </a:t>
            </a:r>
            <a:r>
              <a:rPr lang="en-US" altLang="zh-TW" b="1" dirty="0">
                <a:solidFill>
                  <a:srgbClr val="FF0000"/>
                </a:solidFill>
              </a:rPr>
              <a:t>virtual address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TW" b="1" dirty="0">
                <a:solidFill>
                  <a:srgbClr val="FF0000"/>
                </a:solidFill>
              </a:rPr>
              <a:t>Physical address </a:t>
            </a:r>
            <a:r>
              <a:rPr lang="en-US" altLang="zh-TW" dirty="0"/>
              <a:t>– addresses seen by the </a:t>
            </a:r>
            <a:r>
              <a:rPr lang="en-US" altLang="zh-TW" b="1" dirty="0"/>
              <a:t>memory unit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zh-TW" b="1" dirty="0" smtClean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TW" b="1" dirty="0" smtClean="0"/>
              <a:t>Logical </a:t>
            </a:r>
            <a:r>
              <a:rPr lang="en-US" altLang="zh-TW" b="1" dirty="0"/>
              <a:t>address </a:t>
            </a:r>
            <a:r>
              <a:rPr lang="en-US" altLang="zh-TW" b="1" dirty="0" smtClean="0"/>
              <a:t>space</a:t>
            </a:r>
            <a:r>
              <a:rPr lang="en-US" altLang="zh-TW" dirty="0"/>
              <a:t> </a:t>
            </a:r>
            <a:endParaRPr lang="en-US" altLang="zh-TW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zh-TW" dirty="0" smtClean="0"/>
              <a:t>All </a:t>
            </a:r>
            <a:r>
              <a:rPr lang="en-US" altLang="zh-TW" dirty="0"/>
              <a:t>logical addresses generated by a program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TW" b="1" dirty="0"/>
              <a:t>Physical address </a:t>
            </a:r>
            <a:r>
              <a:rPr lang="en-US" altLang="zh-TW" b="1" dirty="0" smtClean="0"/>
              <a:t>space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zh-TW" dirty="0" smtClean="0"/>
              <a:t>Set </a:t>
            </a:r>
            <a:r>
              <a:rPr lang="en-US" altLang="zh-TW" dirty="0"/>
              <a:t>of physical addresses corresponding to these logical </a:t>
            </a:r>
            <a:r>
              <a:rPr lang="en-US" altLang="zh-TW" dirty="0" smtClean="0"/>
              <a:t>addresses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48359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Q1: </a:t>
            </a:r>
            <a:r>
              <a:rPr lang="zh-TW" altLang="en-US" dirty="0" smtClean="0"/>
              <a:t>為什麼要</a:t>
            </a:r>
            <a:r>
              <a:rPr lang="en-US" altLang="zh-TW" dirty="0" smtClean="0"/>
              <a:t>dynamic binding?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Shown later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90914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Q2: </a:t>
            </a:r>
            <a:r>
              <a:rPr lang="zh-TW" altLang="en-US" dirty="0" smtClean="0"/>
              <a:t>所以</a:t>
            </a:r>
            <a:r>
              <a:rPr lang="en-US" altLang="zh-TW" dirty="0" smtClean="0"/>
              <a:t>CPU</a:t>
            </a:r>
            <a:r>
              <a:rPr lang="zh-TW" altLang="en-US" dirty="0" smtClean="0"/>
              <a:t>送出來的</a:t>
            </a:r>
            <a:r>
              <a:rPr lang="en-US" altLang="zh-TW" dirty="0" smtClean="0"/>
              <a:t>logical address</a:t>
            </a:r>
            <a:r>
              <a:rPr lang="zh-TW" altLang="en-US" dirty="0" smtClean="0"/>
              <a:t>必須轉換為</a:t>
            </a:r>
            <a:r>
              <a:rPr lang="en-US" altLang="zh-TW" dirty="0" smtClean="0"/>
              <a:t>physical address, </a:t>
            </a:r>
            <a:r>
              <a:rPr lang="zh-TW" altLang="en-US" dirty="0" smtClean="0"/>
              <a:t>由誰負責轉換呢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see the following slide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6325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Memory-Management Unit (</a:t>
            </a:r>
            <a:r>
              <a:rPr lang="en-US" altLang="zh-TW" sz="3600" dirty="0"/>
              <a:t>MMU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smtClean="0"/>
              <a:t>Run-time</a:t>
            </a:r>
            <a:r>
              <a:rPr lang="en-US" altLang="zh-TW" dirty="0" smtClean="0"/>
              <a:t> </a:t>
            </a:r>
            <a:r>
              <a:rPr lang="en-US" altLang="zh-TW" dirty="0"/>
              <a:t>mapping from </a:t>
            </a:r>
            <a:r>
              <a:rPr lang="en-US" altLang="zh-TW" b="1" dirty="0">
                <a:solidFill>
                  <a:srgbClr val="FF0000"/>
                </a:solidFill>
              </a:rPr>
              <a:t>virtual</a:t>
            </a:r>
            <a:r>
              <a:rPr lang="en-US" altLang="zh-TW" dirty="0"/>
              <a:t> to </a:t>
            </a:r>
            <a:r>
              <a:rPr lang="en-US" altLang="zh-TW" b="1" dirty="0">
                <a:solidFill>
                  <a:srgbClr val="FF0000"/>
                </a:solidFill>
              </a:rPr>
              <a:t>physical</a:t>
            </a:r>
            <a:r>
              <a:rPr lang="en-US" altLang="zh-TW" dirty="0"/>
              <a:t> addresses is performed by </a:t>
            </a:r>
            <a:r>
              <a:rPr lang="en-US" altLang="zh-TW" b="1" dirty="0">
                <a:solidFill>
                  <a:srgbClr val="0000FF"/>
                </a:solidFill>
              </a:rPr>
              <a:t>MMU</a:t>
            </a:r>
            <a:r>
              <a:rPr lang="en-US" altLang="zh-TW" dirty="0"/>
              <a:t> (</a:t>
            </a:r>
            <a:r>
              <a:rPr lang="en-US" altLang="zh-TW" b="1" dirty="0">
                <a:solidFill>
                  <a:srgbClr val="0000FF"/>
                </a:solidFill>
              </a:rPr>
              <a:t>Memory-Management Unit</a:t>
            </a:r>
            <a:r>
              <a:rPr lang="en-US" altLang="zh-TW" dirty="0" smtClean="0"/>
              <a:t>)</a:t>
            </a:r>
          </a:p>
          <a:p>
            <a:r>
              <a:rPr lang="en-US" altLang="zh-TW" b="1" dirty="0"/>
              <a:t>MMU</a:t>
            </a:r>
            <a:r>
              <a:rPr lang="en-US" altLang="zh-TW" dirty="0"/>
              <a:t>: a hardware device that maps virtual to physical </a:t>
            </a:r>
            <a:r>
              <a:rPr lang="en-US" altLang="zh-TW" dirty="0" smtClean="0"/>
              <a:t>address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Picture 4" descr="W:\os-book\OS10\slide-dir\os-figures\9_0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3457650"/>
            <a:ext cx="6408712" cy="27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117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為什麼不是</a:t>
            </a:r>
            <a:r>
              <a:rPr lang="en-US" altLang="zh-TW" dirty="0" smtClean="0"/>
              <a:t>OS</a:t>
            </a:r>
            <a:r>
              <a:rPr lang="zh-TW" altLang="en-US" dirty="0" smtClean="0"/>
              <a:t>負責轉換呢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1633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4000" dirty="0" smtClean="0">
                <a:effectLst/>
              </a:rPr>
              <a:t>OS</a:t>
            </a:r>
            <a:r>
              <a:rPr lang="zh-TW" altLang="en-US" sz="4000" dirty="0" smtClean="0">
                <a:effectLst/>
              </a:rPr>
              <a:t>不知道發生</a:t>
            </a:r>
            <a:r>
              <a:rPr lang="zh-TW" altLang="en-US" sz="4000" dirty="0">
                <a:effectLst/>
              </a:rPr>
              <a:t>記憶體</a:t>
            </a:r>
            <a:r>
              <a:rPr lang="zh-TW" altLang="en-US" sz="4000" dirty="0" smtClean="0">
                <a:effectLst/>
              </a:rPr>
              <a:t>存取</a:t>
            </a:r>
            <a:endParaRPr lang="en-US" altLang="zh-TW" sz="4000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4"/>
            <a:ext cx="2265362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mov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10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mov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temp, </a:t>
            </a:r>
            <a:r>
              <a:rPr kumimoji="0" lang="en-US" altLang="zh-TW" sz="20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endParaRPr kumimoji="0" lang="en-US" altLang="zh-TW" sz="2000" b="1" i="1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07138" y="4114007"/>
            <a:ext cx="2265362" cy="1763265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394619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 flipH="1">
            <a:off x="4385089" y="204867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807495" y="2978230"/>
          <a:ext cx="138906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</a:tbl>
          </a:graphicData>
        </a:graphic>
      </p:graphicFrame>
      <p:cxnSp>
        <p:nvCxnSpPr>
          <p:cNvPr id="19" name="直線單箭頭接點 18"/>
          <p:cNvCxnSpPr/>
          <p:nvPr/>
        </p:nvCxnSpPr>
        <p:spPr>
          <a:xfrm flipH="1">
            <a:off x="4399688" y="243721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6B2569-5B8B-470D-A3E2-C3981CD983F2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723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Q3: </a:t>
            </a:r>
            <a:r>
              <a:rPr lang="zh-TW" altLang="en-US" dirty="0" smtClean="0"/>
              <a:t>如何轉換呢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</a:t>
            </a:r>
            <a:r>
              <a:rPr lang="zh-TW" altLang="en-US" dirty="0" smtClean="0"/>
              <a:t>看個簡單的例子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7502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Simple MMU Using a Relocation Register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zh-TW" dirty="0" smtClean="0"/>
              <a:t>Example</a:t>
            </a:r>
            <a:r>
              <a:rPr lang="en-US" altLang="zh-TW" dirty="0"/>
              <a:t>: a simple MMU</a:t>
            </a:r>
          </a:p>
          <a:p>
            <a:pPr lvl="1">
              <a:lnSpc>
                <a:spcPct val="110000"/>
              </a:lnSpc>
            </a:pPr>
            <a:r>
              <a:rPr lang="zh-TW" altLang="en-US" dirty="0" smtClean="0"/>
              <a:t>假設</a:t>
            </a:r>
            <a:r>
              <a:rPr lang="en-US" altLang="zh-TW" dirty="0" smtClean="0"/>
              <a:t>compiler</a:t>
            </a:r>
            <a:r>
              <a:rPr lang="zh-TW" altLang="en-US" dirty="0" smtClean="0"/>
              <a:t>產生的起始位置為</a:t>
            </a:r>
            <a:r>
              <a:rPr lang="en-US" altLang="zh-TW" dirty="0" smtClean="0"/>
              <a:t>0</a:t>
            </a:r>
          </a:p>
          <a:p>
            <a:pPr lvl="1">
              <a:lnSpc>
                <a:spcPct val="110000"/>
              </a:lnSpc>
            </a:pPr>
            <a:r>
              <a:rPr lang="zh-TW" altLang="en-US" dirty="0" smtClean="0"/>
              <a:t>但是</a:t>
            </a:r>
            <a:r>
              <a:rPr lang="en-US" altLang="zh-TW" dirty="0" smtClean="0"/>
              <a:t>loader</a:t>
            </a:r>
            <a:r>
              <a:rPr lang="zh-TW" altLang="en-US" dirty="0" smtClean="0"/>
              <a:t>將程式載入到記憶體起始位置為</a:t>
            </a:r>
            <a:r>
              <a:rPr lang="en-US" altLang="zh-TW" dirty="0" smtClean="0"/>
              <a:t>14000</a:t>
            </a:r>
            <a:r>
              <a:rPr lang="zh-TW" altLang="en-US" dirty="0" smtClean="0"/>
              <a:t>的地方</a:t>
            </a:r>
            <a:endParaRPr lang="en-US" altLang="zh-TW" dirty="0" smtClean="0"/>
          </a:p>
          <a:p>
            <a:pPr lvl="1">
              <a:lnSpc>
                <a:spcPct val="110000"/>
              </a:lnSpc>
            </a:pPr>
            <a:r>
              <a:rPr lang="zh-TW" altLang="en-US" dirty="0"/>
              <a:t>如下圖</a:t>
            </a:r>
            <a:endParaRPr lang="en-US" altLang="zh-TW" dirty="0"/>
          </a:p>
          <a:p>
            <a:pPr>
              <a:lnSpc>
                <a:spcPct val="110000"/>
              </a:lnSpc>
            </a:pPr>
            <a:endParaRPr lang="en-US" altLang="zh-TW" dirty="0" smtClean="0"/>
          </a:p>
          <a:p>
            <a:pPr>
              <a:lnSpc>
                <a:spcPct val="110000"/>
              </a:lnSpc>
            </a:pPr>
            <a:r>
              <a:rPr lang="en-US" altLang="zh-TW" dirty="0" smtClean="0"/>
              <a:t>Q: </a:t>
            </a:r>
            <a:r>
              <a:rPr lang="zh-TW" altLang="en-US" dirty="0" smtClean="0"/>
              <a:t>怎麼辦呢</a:t>
            </a:r>
            <a:r>
              <a:rPr lang="en-US" altLang="zh-TW" dirty="0" smtClean="0"/>
              <a:t>?</a:t>
            </a:r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The </a:t>
            </a:r>
            <a:r>
              <a:rPr lang="en-US" altLang="zh-TW" b="1" dirty="0">
                <a:solidFill>
                  <a:srgbClr val="FF0000"/>
                </a:solidFill>
              </a:rPr>
              <a:t>relocation register </a:t>
            </a:r>
            <a:r>
              <a:rPr lang="en-US" altLang="zh-TW" dirty="0"/>
              <a:t>is added to every (virtual) address</a:t>
            </a:r>
          </a:p>
          <a:p>
            <a:pPr>
              <a:lnSpc>
                <a:spcPct val="110000"/>
              </a:lnSpc>
            </a:pP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0055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 Simple MMU Using a Relocation Register</a:t>
            </a:r>
            <a:endParaRPr lang="zh-TW" altLang="en-US" dirty="0"/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2" cstate="print"/>
          <a:srcRect l="841" t="3482" r="1089" b="3784"/>
          <a:stretch>
            <a:fillRect/>
          </a:stretch>
        </p:blipFill>
        <p:spPr bwMode="auto">
          <a:xfrm>
            <a:off x="1848246" y="1772816"/>
            <a:ext cx="7704138" cy="4222554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30383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事實上</a:t>
            </a:r>
            <a:r>
              <a:rPr lang="en-US" altLang="zh-TW" dirty="0" smtClean="0"/>
              <a:t>, </a:t>
            </a:r>
            <a:r>
              <a:rPr lang="zh-TW" altLang="en-US" dirty="0" smtClean="0"/>
              <a:t>目前使用的方法更強悍</a:t>
            </a:r>
            <a:r>
              <a:rPr lang="en-US" altLang="zh-TW" dirty="0" smtClean="0"/>
              <a:t>~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8665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24417" y="1484312"/>
            <a:ext cx="10972800" cy="5041031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Background</a:t>
            </a:r>
          </a:p>
          <a:p>
            <a:pPr lvl="1" eaLnBrk="1" hangingPunct="1"/>
            <a:r>
              <a:rPr lang="en-US" altLang="zh-TW" dirty="0" smtClean="0"/>
              <a:t>Address Binding</a:t>
            </a:r>
          </a:p>
          <a:p>
            <a:pPr lvl="1" eaLnBrk="1" hangingPunct="1"/>
            <a:r>
              <a:rPr lang="en-US" altLang="zh-TW" dirty="0" smtClean="0"/>
              <a:t>Logical Versus Physical Address Space</a:t>
            </a:r>
          </a:p>
          <a:p>
            <a:pPr lvl="1" eaLnBrk="1" hangingPunct="1"/>
            <a:r>
              <a:rPr lang="en-US" altLang="zh-TW" b="1" dirty="0" smtClean="0">
                <a:solidFill>
                  <a:srgbClr val="FF0000"/>
                </a:solidFill>
              </a:rPr>
              <a:t>Dynamic Loading</a:t>
            </a:r>
          </a:p>
          <a:p>
            <a:pPr lvl="1" eaLnBrk="1" hangingPunct="1"/>
            <a:r>
              <a:rPr lang="en-US" altLang="zh-TW" dirty="0" smtClean="0"/>
              <a:t>Dynamic Linking and Shared Library</a:t>
            </a:r>
          </a:p>
          <a:p>
            <a:pPr eaLnBrk="1" hangingPunct="1"/>
            <a:r>
              <a:rPr lang="en-US" altLang="zh-TW" dirty="0" smtClean="0"/>
              <a:t>Contiguous Memory Allocation</a:t>
            </a:r>
          </a:p>
          <a:p>
            <a:pPr eaLnBrk="1" hangingPunct="1"/>
            <a:r>
              <a:rPr lang="en-US" altLang="zh-TW" dirty="0" smtClean="0"/>
              <a:t>Paging</a:t>
            </a:r>
          </a:p>
          <a:p>
            <a:pPr eaLnBrk="1" hangingPunct="1"/>
            <a:r>
              <a:rPr lang="en-US" altLang="zh-TW" dirty="0" smtClean="0"/>
              <a:t>Structure of the Page Table</a:t>
            </a:r>
          </a:p>
          <a:p>
            <a:pPr eaLnBrk="1" hangingPunct="1"/>
            <a:r>
              <a:rPr lang="en-US" altLang="zh-TW" dirty="0" smtClean="0"/>
              <a:t>Swapping</a:t>
            </a:r>
          </a:p>
          <a:p>
            <a:pPr eaLnBrk="1" hangingPunct="1"/>
            <a:r>
              <a:rPr lang="en-US" altLang="zh-TW" dirty="0" smtClean="0"/>
              <a:t>Example: Intel 32 and 64-bit Architectures</a:t>
            </a:r>
          </a:p>
          <a:p>
            <a:pPr eaLnBrk="1" hangingPunct="1"/>
            <a:r>
              <a:rPr lang="en-US" altLang="zh-TW" dirty="0" smtClean="0"/>
              <a:t>Example: ARMv8 Architecture</a:t>
            </a:r>
          </a:p>
        </p:txBody>
      </p:sp>
    </p:spTree>
    <p:extLst>
      <p:ext uri="{BB962C8B-B14F-4D97-AF65-F5344CB8AC3E}">
        <p14:creationId xmlns:p14="http://schemas.microsoft.com/office/powerpoint/2010/main" val="671189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Dynamic Loading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dirty="0" smtClean="0"/>
              <a:t>So far, the entire program must be in physical memory for </a:t>
            </a:r>
            <a:r>
              <a:rPr lang="en-US" altLang="zh-TW" dirty="0" smtClean="0"/>
              <a:t>execution</a:t>
            </a:r>
          </a:p>
          <a:p>
            <a:pPr eaLnBrk="1" hangingPunct="1">
              <a:lnSpc>
                <a:spcPct val="110000"/>
              </a:lnSpc>
            </a:pPr>
            <a:endParaRPr lang="en-US" altLang="zh-TW" dirty="0" smtClean="0"/>
          </a:p>
          <a:p>
            <a:pPr eaLnBrk="1" hangingPunct="1">
              <a:lnSpc>
                <a:spcPct val="110000"/>
              </a:lnSpc>
            </a:pPr>
            <a:r>
              <a:rPr lang="zh-TW" altLang="en-US" b="1" dirty="0" smtClean="0">
                <a:solidFill>
                  <a:srgbClr val="FF0000"/>
                </a:solidFill>
              </a:rPr>
              <a:t>但是</a:t>
            </a:r>
            <a:r>
              <a:rPr lang="en-US" altLang="zh-TW" b="1" dirty="0" smtClean="0">
                <a:solidFill>
                  <a:srgbClr val="FF0000"/>
                </a:solidFill>
              </a:rPr>
              <a:t>, </a:t>
            </a:r>
            <a:r>
              <a:rPr lang="zh-TW" altLang="en-US" b="1" dirty="0" smtClean="0">
                <a:solidFill>
                  <a:srgbClr val="FF0000"/>
                </a:solidFill>
              </a:rPr>
              <a:t>有需要嗎</a:t>
            </a:r>
            <a:r>
              <a:rPr lang="en-US" altLang="zh-TW" b="1" dirty="0" smtClean="0">
                <a:solidFill>
                  <a:srgbClr val="FF0000"/>
                </a:solidFill>
              </a:rPr>
              <a:t>?</a:t>
            </a:r>
            <a:endParaRPr lang="en-US" altLang="zh-TW" b="1" dirty="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110000"/>
              </a:lnSpc>
            </a:pPr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Dynamic Loading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b="1" dirty="0" smtClean="0"/>
              <a:t>Sol.: </a:t>
            </a:r>
            <a:r>
              <a:rPr lang="en-US" altLang="zh-TW" b="1" dirty="0" smtClean="0">
                <a:solidFill>
                  <a:srgbClr val="FF3300"/>
                </a:solidFill>
              </a:rPr>
              <a:t>Dynamic </a:t>
            </a:r>
            <a:r>
              <a:rPr lang="en-US" altLang="zh-TW" b="1" dirty="0" smtClean="0">
                <a:solidFill>
                  <a:srgbClr val="FF3300"/>
                </a:solidFill>
              </a:rPr>
              <a:t>Loading</a:t>
            </a:r>
            <a:endParaRPr lang="en-US" altLang="zh-TW" dirty="0" smtClean="0"/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 smtClean="0"/>
              <a:t>A routine is not loaded until it is </a:t>
            </a:r>
            <a:r>
              <a:rPr lang="en-US" altLang="zh-TW" dirty="0" smtClean="0"/>
              <a:t>called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/>
              <a:t>Useful when large amounts of code are needed to handle </a:t>
            </a:r>
            <a:r>
              <a:rPr lang="en-US" altLang="zh-TW" b="1" dirty="0"/>
              <a:t>infrequently</a:t>
            </a:r>
            <a:r>
              <a:rPr lang="en-US" altLang="zh-TW" dirty="0"/>
              <a:t> occurring cases</a:t>
            </a:r>
          </a:p>
          <a:p>
            <a:pPr lvl="1" eaLnBrk="1" hangingPunct="1">
              <a:lnSpc>
                <a:spcPct val="110000"/>
              </a:lnSpc>
            </a:pPr>
            <a:endParaRPr lang="en-US" altLang="zh-TW" dirty="0" smtClean="0"/>
          </a:p>
          <a:p>
            <a:pPr eaLnBrk="1" hangingPunct="1">
              <a:lnSpc>
                <a:spcPct val="110000"/>
              </a:lnSpc>
            </a:pPr>
            <a:r>
              <a:rPr lang="zh-TW" altLang="en-US" dirty="0" smtClean="0"/>
              <a:t>優點</a:t>
            </a:r>
            <a:r>
              <a:rPr lang="en-US" altLang="zh-TW" dirty="0" smtClean="0"/>
              <a:t>: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dirty="0" smtClean="0"/>
              <a:t>Better </a:t>
            </a:r>
            <a:r>
              <a:rPr lang="en-US" altLang="zh-TW" dirty="0" smtClean="0"/>
              <a:t>memory-space utilization 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TW" dirty="0" smtClean="0"/>
              <a:t>Unused routine is never </a:t>
            </a:r>
            <a:r>
              <a:rPr lang="en-US" altLang="zh-TW" dirty="0" smtClean="0"/>
              <a:t>loaded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974191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24417" y="1484312"/>
            <a:ext cx="10972800" cy="4969023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Background</a:t>
            </a:r>
          </a:p>
          <a:p>
            <a:pPr lvl="1" eaLnBrk="1" hangingPunct="1"/>
            <a:r>
              <a:rPr lang="en-US" altLang="zh-TW" dirty="0" smtClean="0"/>
              <a:t>Address Binding</a:t>
            </a:r>
          </a:p>
          <a:p>
            <a:pPr lvl="1" eaLnBrk="1" hangingPunct="1"/>
            <a:r>
              <a:rPr lang="en-US" altLang="zh-TW" dirty="0" smtClean="0"/>
              <a:t>Logical Versus Physical Address Space</a:t>
            </a:r>
          </a:p>
          <a:p>
            <a:pPr lvl="1" eaLnBrk="1" hangingPunct="1"/>
            <a:r>
              <a:rPr lang="en-US" altLang="zh-TW" dirty="0" smtClean="0"/>
              <a:t>Dynamic Loading</a:t>
            </a:r>
          </a:p>
          <a:p>
            <a:pPr lvl="1" eaLnBrk="1" hangingPunct="1"/>
            <a:r>
              <a:rPr lang="en-US" altLang="zh-TW" b="1" dirty="0" smtClean="0">
                <a:solidFill>
                  <a:srgbClr val="FF3300"/>
                </a:solidFill>
              </a:rPr>
              <a:t>Dynamic Linking and Shared Library</a:t>
            </a:r>
          </a:p>
          <a:p>
            <a:pPr eaLnBrk="1" hangingPunct="1"/>
            <a:r>
              <a:rPr lang="en-US" altLang="zh-TW" dirty="0" smtClean="0"/>
              <a:t>Contiguous Memory Allocation</a:t>
            </a:r>
          </a:p>
          <a:p>
            <a:pPr eaLnBrk="1" hangingPunct="1"/>
            <a:r>
              <a:rPr lang="en-US" altLang="zh-TW" dirty="0" smtClean="0"/>
              <a:t>Paging</a:t>
            </a:r>
          </a:p>
          <a:p>
            <a:pPr eaLnBrk="1" hangingPunct="1"/>
            <a:r>
              <a:rPr lang="en-US" altLang="zh-TW" dirty="0" smtClean="0"/>
              <a:t>Structure of the Page Table</a:t>
            </a:r>
          </a:p>
          <a:p>
            <a:pPr eaLnBrk="1" hangingPunct="1"/>
            <a:r>
              <a:rPr lang="en-US" altLang="zh-TW" dirty="0" smtClean="0"/>
              <a:t>Swapping</a:t>
            </a:r>
          </a:p>
          <a:p>
            <a:pPr eaLnBrk="1" hangingPunct="1"/>
            <a:r>
              <a:rPr lang="en-US" altLang="zh-TW" dirty="0" smtClean="0"/>
              <a:t>Example: Intel 32 and 64-bit Architectures</a:t>
            </a:r>
          </a:p>
          <a:p>
            <a:pPr eaLnBrk="1" hangingPunct="1"/>
            <a:r>
              <a:rPr lang="en-US" altLang="zh-TW" dirty="0" smtClean="0"/>
              <a:t>Example: ARMv8 Architecture</a:t>
            </a:r>
          </a:p>
        </p:txBody>
      </p:sp>
    </p:spTree>
    <p:extLst>
      <p:ext uri="{BB962C8B-B14F-4D97-AF65-F5344CB8AC3E}">
        <p14:creationId xmlns:p14="http://schemas.microsoft.com/office/powerpoint/2010/main" val="3298013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複習：</a:t>
            </a:r>
            <a:r>
              <a:rPr lang="en-US" altLang="zh-TW" dirty="0" smtClean="0"/>
              <a:t>Linking</a:t>
            </a:r>
            <a:r>
              <a:rPr lang="zh-TW" altLang="en-US" dirty="0" smtClean="0"/>
              <a:t>做了什麼事情呢？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Resolve </a:t>
            </a:r>
            <a:r>
              <a:rPr lang="en-US" altLang="zh-TW" b="1" dirty="0" smtClean="0">
                <a:solidFill>
                  <a:srgbClr val="FF0000"/>
                </a:solidFill>
              </a:rPr>
              <a:t>External References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167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/>
              <a:t>Example </a:t>
            </a:r>
            <a:r>
              <a:rPr lang="en-US" altLang="zh-TW" sz="4000" dirty="0"/>
              <a:t>of Programs Using Libraries in Linux</a:t>
            </a:r>
            <a:endParaRPr lang="zh-TW" altLang="en-US" sz="4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F06792-2767-43F4-A335-D8A37CCA3850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4013650" y="1198141"/>
            <a:ext cx="4194334" cy="5108575"/>
            <a:chOff x="3552" y="768"/>
            <a:chExt cx="2225" cy="3218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552" y="768"/>
              <a:ext cx="1864" cy="181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int add(int </a:t>
              </a:r>
              <a:r>
                <a:rPr kumimoji="1" lang="en-US" altLang="zh-TW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arg</a:t>
              </a: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) {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   </a:t>
              </a:r>
              <a:r>
                <a:rPr kumimoji="1" lang="en-US" altLang="zh-TW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arg</a:t>
              </a: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++;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   return </a:t>
              </a:r>
              <a:r>
                <a:rPr kumimoji="1" lang="en-US" altLang="zh-TW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arg</a:t>
              </a: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;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}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int sub(int   </a:t>
              </a:r>
              <a:r>
                <a:rPr kumimoji="1" lang="en-US" altLang="zh-TW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arg</a:t>
              </a: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) {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   </a:t>
              </a:r>
              <a:r>
                <a:rPr kumimoji="1" lang="en-US" altLang="zh-TW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arg</a:t>
              </a: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--;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   return </a:t>
              </a:r>
              <a:r>
                <a:rPr kumimoji="1" lang="en-US" altLang="zh-TW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arg</a:t>
              </a: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;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}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新細明體" charset="-120"/>
                <a:cs typeface="Courier New" panose="02070309020205020404" pitchFamily="49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int</a:t>
              </a: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 </a:t>
              </a:r>
              <a:r>
                <a:rPr kumimoji="1" lang="en-US" altLang="zh-TW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abc</a:t>
              </a: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() {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…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552" y="2668"/>
              <a:ext cx="1864" cy="131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int</a:t>
              </a: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 sum(</a:t>
              </a:r>
              <a:r>
                <a:rPr kumimoji="1" lang="en-US" altLang="zh-TW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int</a:t>
              </a: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  arg1, </a:t>
              </a:r>
              <a:r>
                <a:rPr kumimoji="1" lang="en-US" altLang="zh-TW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int</a:t>
              </a: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 arg2) 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{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    return (arg1+arg2);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}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int</a:t>
              </a: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 xyz()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{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      ……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5441" y="770"/>
              <a:ext cx="336" cy="279"/>
            </a:xfrm>
            <a:prstGeom prst="round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/>
                  <a:ea typeface="新細明體"/>
                  <a:cs typeface="+mn-cs"/>
                </a:rPr>
                <a:t>a.c</a:t>
              </a:r>
              <a:endPara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endParaRPr>
            </a:p>
          </p:txBody>
        </p:sp>
      </p:grpSp>
      <p:sp>
        <p:nvSpPr>
          <p:cNvPr id="11" name="Text Box 9">
            <a:extLst>
              <a:ext uri="{FF2B5EF4-FFF2-40B4-BE49-F238E27FC236}">
                <a16:creationId xmlns:a16="http://schemas.microsoft.com/office/drawing/2014/main" id="{BE5E79F6-5DB0-4811-9FF3-533329BFD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9108" y="4203342"/>
            <a:ext cx="544359" cy="442674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b.c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2325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/>
              <a:t>Example </a:t>
            </a:r>
            <a:r>
              <a:rPr lang="en-US" altLang="zh-TW" sz="4000" dirty="0"/>
              <a:t>of Programs Using Libraries in Linux (Cont.)</a:t>
            </a:r>
            <a:endParaRPr lang="zh-TW" altLang="en-US" sz="4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F06792-2767-43F4-A335-D8A37CCA3850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70D74D-D1EF-41F6-9A7C-B2C804EACC91}"/>
              </a:ext>
            </a:extLst>
          </p:cNvPr>
          <p:cNvSpPr/>
          <p:nvPr/>
        </p:nvSpPr>
        <p:spPr>
          <a:xfrm>
            <a:off x="8298097" y="2599348"/>
            <a:ext cx="1253927" cy="15823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7D023A-8978-4927-A79B-C490B6746CD4}"/>
              </a:ext>
            </a:extLst>
          </p:cNvPr>
          <p:cNvSpPr/>
          <p:nvPr/>
        </p:nvSpPr>
        <p:spPr>
          <a:xfrm>
            <a:off x="2165525" y="2658755"/>
            <a:ext cx="1253927" cy="15823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B0147D79-B2AB-46E5-85EE-9E149FF45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223" y="2729309"/>
            <a:ext cx="490840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a.c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9BE9005-17DC-4D27-B8C8-A79E1995A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9526" y="2729309"/>
            <a:ext cx="505267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a.o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138A5CEE-622B-42EB-8F5A-D2A665080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223" y="3527837"/>
            <a:ext cx="505267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b.c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0AB6B4C7-28A5-4E60-A230-7FB5F9362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9272" y="3527837"/>
            <a:ext cx="519694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b.o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5" name="箭號: 向右 72">
            <a:extLst>
              <a:ext uri="{FF2B5EF4-FFF2-40B4-BE49-F238E27FC236}">
                <a16:creationId xmlns:a16="http://schemas.microsoft.com/office/drawing/2014/main" id="{0E1EF81B-12ED-437A-8B9F-7221F5AC30FD}"/>
              </a:ext>
            </a:extLst>
          </p:cNvPr>
          <p:cNvSpPr/>
          <p:nvPr/>
        </p:nvSpPr>
        <p:spPr>
          <a:xfrm>
            <a:off x="6842265" y="3209991"/>
            <a:ext cx="1332371" cy="247294"/>
          </a:xfrm>
          <a:prstGeom prst="rightArrow">
            <a:avLst>
              <a:gd name="adj1" fmla="val 38376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99D8928-4F34-485B-A7D7-6DDDBB3390A5}"/>
              </a:ext>
            </a:extLst>
          </p:cNvPr>
          <p:cNvSpPr/>
          <p:nvPr/>
        </p:nvSpPr>
        <p:spPr>
          <a:xfrm>
            <a:off x="4151156" y="2658756"/>
            <a:ext cx="1253927" cy="6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Compiler</a:t>
            </a:r>
            <a:endParaRPr kumimoji="1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3BA5EA2-7725-401B-89F7-897C6F0D2EC9}"/>
              </a:ext>
            </a:extLst>
          </p:cNvPr>
          <p:cNvSpPr/>
          <p:nvPr/>
        </p:nvSpPr>
        <p:spPr>
          <a:xfrm>
            <a:off x="4149181" y="3457284"/>
            <a:ext cx="1253927" cy="6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Compiler</a:t>
            </a:r>
            <a:endParaRPr kumimoji="1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2C2C37EE-11CB-49C6-A59C-A3C32E59DA19}"/>
              </a:ext>
            </a:extLst>
          </p:cNvPr>
          <p:cNvCxnSpPr>
            <a:stCxn id="8" idx="3"/>
            <a:endCxn id="20" idx="1"/>
          </p:cNvCxnSpPr>
          <p:nvPr/>
        </p:nvCxnSpPr>
        <p:spPr>
          <a:xfrm>
            <a:off x="3046063" y="2977734"/>
            <a:ext cx="110509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6C6F260A-1BB7-4F5C-8258-4483570DB1FF}"/>
              </a:ext>
            </a:extLst>
          </p:cNvPr>
          <p:cNvCxnSpPr>
            <a:stCxn id="20" idx="3"/>
          </p:cNvCxnSpPr>
          <p:nvPr/>
        </p:nvCxnSpPr>
        <p:spPr>
          <a:xfrm flipV="1">
            <a:off x="5405083" y="2977733"/>
            <a:ext cx="73170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D25B5879-4AE0-4A3D-ABDD-CD4798535A0F}"/>
              </a:ext>
            </a:extLst>
          </p:cNvPr>
          <p:cNvCxnSpPr/>
          <p:nvPr/>
        </p:nvCxnSpPr>
        <p:spPr>
          <a:xfrm>
            <a:off x="3060490" y="3776262"/>
            <a:ext cx="1088691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8" name="Text Box 9">
            <a:extLst>
              <a:ext uri="{FF2B5EF4-FFF2-40B4-BE49-F238E27FC236}">
                <a16:creationId xmlns:a16="http://schemas.microsoft.com/office/drawing/2014/main" id="{29BE9005-17DC-4D27-B8C8-A79E1995A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2426" y="2760928"/>
            <a:ext cx="505267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a.o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9" name="Text Box 9">
            <a:extLst>
              <a:ext uri="{FF2B5EF4-FFF2-40B4-BE49-F238E27FC236}">
                <a16:creationId xmlns:a16="http://schemas.microsoft.com/office/drawing/2014/main" id="{0AB6B4C7-28A5-4E60-A230-7FB5F9362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5212" y="3390541"/>
            <a:ext cx="519694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b.o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1EC71B6-1AD4-4623-886A-762854EDFE70}"/>
              </a:ext>
            </a:extLst>
          </p:cNvPr>
          <p:cNvSpPr txBox="1"/>
          <p:nvPr/>
        </p:nvSpPr>
        <p:spPr>
          <a:xfrm>
            <a:off x="8370465" y="2132856"/>
            <a:ext cx="1253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libtmp.a</a:t>
            </a:r>
            <a:endParaRPr kumimoji="1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6C6F260A-1BB7-4F5C-8258-4483570DB1FF}"/>
              </a:ext>
            </a:extLst>
          </p:cNvPr>
          <p:cNvCxnSpPr/>
          <p:nvPr/>
        </p:nvCxnSpPr>
        <p:spPr>
          <a:xfrm flipV="1">
            <a:off x="5387184" y="3794287"/>
            <a:ext cx="73170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61EC71B6-1AD4-4623-886A-762854EDFE70}"/>
              </a:ext>
            </a:extLst>
          </p:cNvPr>
          <p:cNvSpPr txBox="1"/>
          <p:nvPr/>
        </p:nvSpPr>
        <p:spPr>
          <a:xfrm>
            <a:off x="6846045" y="2884874"/>
            <a:ext cx="1429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link utility</a:t>
            </a:r>
            <a:endParaRPr kumimoji="1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2907664" y="4869160"/>
            <a:ext cx="64063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Creating a library called </a:t>
            </a:r>
            <a:r>
              <a:rPr kumimoji="1" lang="en-US" altLang="zh-TW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libtmp.a</a:t>
            </a:r>
            <a:endParaRPr kumimoji="1" lang="en-US" altLang="zh-TW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charset="-120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8402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2" grpId="0" animBg="1"/>
      <p:bldP spid="15" grpId="0" animBg="1"/>
      <p:bldP spid="20" grpId="0" animBg="1"/>
      <p:bldP spid="21" grpId="0" animBg="1"/>
      <p:bldP spid="28" grpId="0" animBg="1"/>
      <p:bldP spid="29" grpId="0" animBg="1"/>
      <p:bldP spid="30" grpId="0"/>
      <p:bldP spid="3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/>
              <a:t>Example </a:t>
            </a:r>
            <a:r>
              <a:rPr lang="en-US" altLang="zh-TW" sz="4000" dirty="0"/>
              <a:t>of Programs Using Libraries in Linux (Cont.)</a:t>
            </a:r>
            <a:endParaRPr lang="zh-TW" altLang="en-US" sz="4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F06792-2767-43F4-A335-D8A37CCA3850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3359696" y="1485478"/>
            <a:ext cx="5610039" cy="4895850"/>
            <a:chOff x="200" y="766"/>
            <a:chExt cx="2976" cy="3084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200" y="766"/>
              <a:ext cx="2976" cy="3084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#include &lt;</a:t>
              </a:r>
              <a:r>
                <a:rPr kumimoji="1" lang="en-US" altLang="zh-TW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stdio.h</a:t>
              </a: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&gt;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新細明體" charset="-120"/>
                <a:cs typeface="Courier New" panose="02070309020205020404" pitchFamily="49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extern int  add(int);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extern int  sub(int);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extern </a:t>
              </a:r>
              <a:r>
                <a:rPr kumimoji="1" lang="en-US" altLang="zh-TW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int</a:t>
              </a: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  sum(</a:t>
              </a:r>
              <a:r>
                <a:rPr kumimoji="1" lang="en-US" altLang="zh-TW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int</a:t>
              </a: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, </a:t>
              </a:r>
              <a:r>
                <a:rPr kumimoji="1" lang="en-US" altLang="zh-TW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int</a:t>
              </a: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);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新細明體" charset="-120"/>
                <a:cs typeface="Courier New" panose="02070309020205020404" pitchFamily="49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main()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{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      </a:t>
              </a:r>
              <a:r>
                <a:rPr kumimoji="1" lang="en-US" altLang="zh-TW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int</a:t>
              </a: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 ret1, ret2, ret3;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新細明體" charset="-120"/>
                <a:cs typeface="Courier New" panose="02070309020205020404" pitchFamily="49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      ret1 = add(5);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      ret2 = sub(5);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      ret3 = sum(ret1, ret2);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新細明體" charset="-120"/>
                <a:cs typeface="Courier New" panose="02070309020205020404" pitchFamily="49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      </a:t>
              </a:r>
              <a:r>
                <a:rPr kumimoji="1" lang="en-US" altLang="zh-TW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printf</a:t>
              </a: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("\n ret from add()= %d", ret1);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      </a:t>
              </a:r>
              <a:r>
                <a:rPr kumimoji="1" lang="en-US" altLang="zh-TW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printf</a:t>
              </a: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("\n ret from sub()= %d", ret2);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      </a:t>
              </a:r>
              <a:r>
                <a:rPr kumimoji="1" lang="en-US" altLang="zh-TW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printf</a:t>
              </a: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("\n ret from sum()= %d", ret3);</a:t>
              </a:r>
            </a:p>
            <a:p>
              <a:pPr marL="0" marR="0" lvl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新細明體" charset="-12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2576" y="783"/>
              <a:ext cx="600" cy="279"/>
            </a:xfrm>
            <a:prstGeom prst="round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/>
                  <a:ea typeface="新細明體"/>
                  <a:cs typeface="+mn-cs"/>
                </a:rPr>
                <a:t>main.c</a:t>
              </a:r>
              <a:endPara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014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7470D74D-D1EF-41F6-9A7C-B2C804EACC91}"/>
              </a:ext>
            </a:extLst>
          </p:cNvPr>
          <p:cNvSpPr/>
          <p:nvPr/>
        </p:nvSpPr>
        <p:spPr>
          <a:xfrm>
            <a:off x="5138703" y="1986918"/>
            <a:ext cx="1696122" cy="3614082"/>
          </a:xfrm>
          <a:prstGeom prst="rect">
            <a:avLst/>
          </a:prstGeom>
          <a:noFill/>
          <a:ln w="28575">
            <a:solidFill>
              <a:srgbClr val="FF33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 </a:t>
            </a:r>
            <a:r>
              <a:rPr lang="en-US" altLang="zh-TW" dirty="0"/>
              <a:t>Example of Programs Using </a:t>
            </a:r>
            <a:r>
              <a:rPr lang="en-US" altLang="zh-TW" dirty="0" smtClean="0"/>
              <a:t>Libraries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8E01AA-4B65-4798-BFD9-8B545C976B75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E7E2857D-3562-47AD-89A7-34E1EFBC8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558" y="2010376"/>
            <a:ext cx="1708162" cy="3600000"/>
          </a:xfrm>
          <a:prstGeom prst="flowChartPunchedCard">
            <a:avLst/>
          </a:prstGeom>
          <a:solidFill>
            <a:srgbClr val="FFFF00"/>
          </a:solidFill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A738D134-F3F4-41CE-8ECF-6507861EF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6932" y="2237331"/>
            <a:ext cx="917239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main.c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3051BB7D-B994-4364-BE16-CBBA40E8A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783" y="2237331"/>
            <a:ext cx="931665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main.o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6A79BD5-C8BB-4A85-BA45-DD2642ABB30B}"/>
              </a:ext>
            </a:extLst>
          </p:cNvPr>
          <p:cNvSpPr txBox="1"/>
          <p:nvPr/>
        </p:nvSpPr>
        <p:spPr>
          <a:xfrm>
            <a:off x="1250718" y="1693332"/>
            <a:ext cx="14298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Source file</a:t>
            </a:r>
            <a:endParaRPr kumimoji="1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charset="-120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charset="-120"/>
              <a:cs typeface="+mn-cs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1EC71B6-1AD4-4623-886A-762854EDFE70}"/>
              </a:ext>
            </a:extLst>
          </p:cNvPr>
          <p:cNvSpPr txBox="1"/>
          <p:nvPr/>
        </p:nvSpPr>
        <p:spPr>
          <a:xfrm>
            <a:off x="5447928" y="1628800"/>
            <a:ext cx="14298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Object file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704907-FC91-4650-97BA-979F0DCCBC32}"/>
              </a:ext>
            </a:extLst>
          </p:cNvPr>
          <p:cNvSpPr/>
          <p:nvPr/>
        </p:nvSpPr>
        <p:spPr>
          <a:xfrm>
            <a:off x="3233103" y="2166778"/>
            <a:ext cx="1253927" cy="6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Compiler</a:t>
            </a:r>
            <a:endParaRPr kumimoji="1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A619931C-121B-4BAE-9812-4EEC74FCB082}"/>
              </a:ext>
            </a:extLst>
          </p:cNvPr>
          <p:cNvCxnSpPr/>
          <p:nvPr/>
        </p:nvCxnSpPr>
        <p:spPr>
          <a:xfrm>
            <a:off x="2334170" y="2485756"/>
            <a:ext cx="89893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4AFA698B-2725-4A9D-A502-D09FBDDDCA82}"/>
              </a:ext>
            </a:extLst>
          </p:cNvPr>
          <p:cNvCxnSpPr/>
          <p:nvPr/>
        </p:nvCxnSpPr>
        <p:spPr>
          <a:xfrm flipV="1">
            <a:off x="4487030" y="2485756"/>
            <a:ext cx="106675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7470D74D-D1EF-41F6-9A7C-B2C804EACC91}"/>
              </a:ext>
            </a:extLst>
          </p:cNvPr>
          <p:cNvSpPr/>
          <p:nvPr/>
        </p:nvSpPr>
        <p:spPr>
          <a:xfrm>
            <a:off x="5375560" y="3810376"/>
            <a:ext cx="1253927" cy="15823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5" name="Text Box 9">
            <a:extLst>
              <a:ext uri="{FF2B5EF4-FFF2-40B4-BE49-F238E27FC236}">
                <a16:creationId xmlns:a16="http://schemas.microsoft.com/office/drawing/2014/main" id="{29BE9005-17DC-4D27-B8C8-A79E1995A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9889" y="3971956"/>
            <a:ext cx="505267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a.o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0AB6B4C7-28A5-4E60-A230-7FB5F9362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2675" y="4601569"/>
            <a:ext cx="519694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b.o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1EC71B6-1AD4-4623-886A-762854EDFE70}"/>
              </a:ext>
            </a:extLst>
          </p:cNvPr>
          <p:cNvSpPr txBox="1"/>
          <p:nvPr/>
        </p:nvSpPr>
        <p:spPr>
          <a:xfrm>
            <a:off x="5447928" y="3343884"/>
            <a:ext cx="1253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libtmp.a</a:t>
            </a:r>
            <a:endParaRPr kumimoji="1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</p:txBody>
      </p:sp>
      <p:sp>
        <p:nvSpPr>
          <p:cNvPr id="20" name="Text Box 8">
            <a:extLst>
              <a:ext uri="{FF2B5EF4-FFF2-40B4-BE49-F238E27FC236}">
                <a16:creationId xmlns:a16="http://schemas.microsoft.com/office/drawing/2014/main" id="{3051BB7D-B994-4364-BE16-CBBA40E8A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6384" y="2154258"/>
            <a:ext cx="931665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main.o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61EC71B6-1AD4-4623-886A-762854EDFE70}"/>
              </a:ext>
            </a:extLst>
          </p:cNvPr>
          <p:cNvSpPr txBox="1"/>
          <p:nvPr/>
        </p:nvSpPr>
        <p:spPr>
          <a:xfrm>
            <a:off x="8037842" y="1516483"/>
            <a:ext cx="2354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executable file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470D74D-D1EF-41F6-9A7C-B2C804EACC91}"/>
              </a:ext>
            </a:extLst>
          </p:cNvPr>
          <p:cNvSpPr/>
          <p:nvPr/>
        </p:nvSpPr>
        <p:spPr>
          <a:xfrm>
            <a:off x="8588161" y="3717032"/>
            <a:ext cx="1253927" cy="15823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3" name="Text Box 9">
            <a:extLst>
              <a:ext uri="{FF2B5EF4-FFF2-40B4-BE49-F238E27FC236}">
                <a16:creationId xmlns:a16="http://schemas.microsoft.com/office/drawing/2014/main" id="{29BE9005-17DC-4D27-B8C8-A79E1995A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2490" y="3878612"/>
            <a:ext cx="505267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a.o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4" name="Text Box 9">
            <a:extLst>
              <a:ext uri="{FF2B5EF4-FFF2-40B4-BE49-F238E27FC236}">
                <a16:creationId xmlns:a16="http://schemas.microsoft.com/office/drawing/2014/main" id="{0AB6B4C7-28A5-4E60-A230-7FB5F9362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5276" y="4508225"/>
            <a:ext cx="519694" cy="496848"/>
          </a:xfrm>
          <a:prstGeom prst="flowChartPunchedCard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b.o</a:t>
            </a:r>
            <a:endParaRPr kumimoji="1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1EC71B6-1AD4-4623-886A-762854EDFE70}"/>
              </a:ext>
            </a:extLst>
          </p:cNvPr>
          <p:cNvSpPr txBox="1"/>
          <p:nvPr/>
        </p:nvSpPr>
        <p:spPr>
          <a:xfrm>
            <a:off x="8660529" y="3260811"/>
            <a:ext cx="1253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libtmp.a</a:t>
            </a:r>
            <a:endParaRPr kumimoji="1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</p:txBody>
      </p:sp>
      <p:sp>
        <p:nvSpPr>
          <p:cNvPr id="26" name="箭號: 向右 72">
            <a:extLst>
              <a:ext uri="{FF2B5EF4-FFF2-40B4-BE49-F238E27FC236}">
                <a16:creationId xmlns:a16="http://schemas.microsoft.com/office/drawing/2014/main" id="{0E1EF81B-12ED-437A-8B9F-7221F5AC30FD}"/>
              </a:ext>
            </a:extLst>
          </p:cNvPr>
          <p:cNvSpPr/>
          <p:nvPr/>
        </p:nvSpPr>
        <p:spPr>
          <a:xfrm>
            <a:off x="7059326" y="3502086"/>
            <a:ext cx="956659" cy="317847"/>
          </a:xfrm>
          <a:prstGeom prst="rightArrow">
            <a:avLst>
              <a:gd name="adj1" fmla="val 38376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61EC71B6-1AD4-4623-886A-762854EDFE70}"/>
              </a:ext>
            </a:extLst>
          </p:cNvPr>
          <p:cNvSpPr txBox="1"/>
          <p:nvPr/>
        </p:nvSpPr>
        <p:spPr>
          <a:xfrm>
            <a:off x="7118632" y="3131737"/>
            <a:ext cx="8973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linker</a:t>
            </a:r>
            <a:endParaRPr kumimoji="1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1953593" y="5868850"/>
            <a:ext cx="80978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Link with </a:t>
            </a:r>
            <a:r>
              <a:rPr kumimoji="1" lang="en-US" altLang="zh-TW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libtmp.a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libri" panose="020F0502020204030204" pitchFamily="34" charset="0"/>
                <a:ea typeface="新細明體" charset="-120"/>
                <a:cs typeface="+mn-cs"/>
              </a:rPr>
              <a:t> to create the executable file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Calibri" panose="020F0502020204030204" pitchFamily="34" charset="0"/>
              <a:ea typeface="新細明體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755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5" grpId="0" animBg="1"/>
      <p:bldP spid="8" grpId="0" animBg="1"/>
      <p:bldP spid="10" grpId="0"/>
      <p:bldP spid="11" grpId="0" animBg="1"/>
      <p:bldP spid="20" grpId="0" animBg="1"/>
      <p:bldP spid="21" grpId="0"/>
      <p:bldP spid="22" grpId="0" animBg="1"/>
      <p:bldP spid="23" grpId="0" animBg="1"/>
      <p:bldP spid="24" grpId="0" animBg="1"/>
      <p:bldP spid="25" grpId="0"/>
      <p:bldP spid="26" grpId="0" animBg="1"/>
      <p:bldP spid="2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dirty="0" smtClean="0"/>
              <a:t>複習完畢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7101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Dynamic Linking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Static linking</a:t>
            </a:r>
          </a:p>
          <a:p>
            <a:pPr lvl="1" eaLnBrk="1" hangingPunct="1"/>
            <a:r>
              <a:rPr lang="zh-TW" altLang="en-US" dirty="0" smtClean="0"/>
              <a:t>如前面的例子</a:t>
            </a:r>
            <a:endParaRPr lang="en-US" altLang="zh-TW" dirty="0" smtClean="0"/>
          </a:p>
          <a:p>
            <a:pPr lvl="1" eaLnBrk="1" hangingPunct="1"/>
            <a:r>
              <a:rPr lang="en-US" altLang="zh-TW" dirty="0" smtClean="0"/>
              <a:t>System </a:t>
            </a:r>
            <a:r>
              <a:rPr lang="en-US" altLang="zh-TW" dirty="0"/>
              <a:t>libraries and program code </a:t>
            </a:r>
            <a:r>
              <a:rPr lang="en-US" altLang="zh-TW" b="1" dirty="0">
                <a:solidFill>
                  <a:srgbClr val="FF0000"/>
                </a:solidFill>
              </a:rPr>
              <a:t>combined</a:t>
            </a:r>
            <a:r>
              <a:rPr lang="en-US" altLang="zh-TW" dirty="0"/>
              <a:t> into the binary program image </a:t>
            </a:r>
            <a:r>
              <a:rPr lang="en-US" altLang="zh-TW" b="1" dirty="0"/>
              <a:t>before execution </a:t>
            </a:r>
          </a:p>
          <a:p>
            <a:pPr lvl="1" eaLnBrk="1" hangingPunct="1"/>
            <a:r>
              <a:rPr lang="en-US" altLang="zh-TW" dirty="0"/>
              <a:t>Waste space for </a:t>
            </a:r>
            <a:r>
              <a:rPr lang="en-US" altLang="zh-TW" b="1" dirty="0">
                <a:solidFill>
                  <a:srgbClr val="FF0000"/>
                </a:solidFill>
              </a:rPr>
              <a:t>shared </a:t>
            </a:r>
            <a:r>
              <a:rPr lang="en-US" altLang="zh-TW" b="1" dirty="0" smtClean="0">
                <a:solidFill>
                  <a:srgbClr val="FF0000"/>
                </a:solidFill>
              </a:rPr>
              <a:t>libraries </a:t>
            </a:r>
            <a:r>
              <a:rPr lang="en-US" altLang="zh-TW" dirty="0" smtClean="0"/>
              <a:t>(see the following slide)</a:t>
            </a:r>
            <a:endParaRPr lang="en-US" altLang="zh-TW" dirty="0"/>
          </a:p>
          <a:p>
            <a:pPr eaLnBrk="1" hangingPunct="1">
              <a:lnSpc>
                <a:spcPct val="110000"/>
              </a:lnSpc>
            </a:pPr>
            <a:endParaRPr lang="en-US" altLang="zh-TW" dirty="0"/>
          </a:p>
          <a:p>
            <a:pPr eaLnBrk="1" hangingPunct="1">
              <a:lnSpc>
                <a:spcPct val="110000"/>
              </a:lnSpc>
            </a:pPr>
            <a:r>
              <a:rPr lang="en-US" altLang="zh-TW" b="1" dirty="0" smtClean="0">
                <a:solidFill>
                  <a:srgbClr val="FF0000"/>
                </a:solidFill>
              </a:rPr>
              <a:t>Q: </a:t>
            </a:r>
            <a:r>
              <a:rPr lang="zh-TW" altLang="en-US" b="1" dirty="0" smtClean="0">
                <a:solidFill>
                  <a:srgbClr val="FF0000"/>
                </a:solidFill>
              </a:rPr>
              <a:t>怎麼辦呢</a:t>
            </a:r>
            <a:r>
              <a:rPr lang="en-US" altLang="zh-TW" b="1" dirty="0" smtClean="0">
                <a:solidFill>
                  <a:srgbClr val="FF0000"/>
                </a:solidFill>
              </a:rPr>
              <a:t>?</a:t>
            </a:r>
            <a:endParaRPr lang="en-US" altLang="zh-TW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/>
              <a:t>Static Linking </a:t>
            </a:r>
            <a:r>
              <a:rPr lang="en-US" altLang="zh-TW" sz="4000" dirty="0" err="1"/>
              <a:t>v.s</a:t>
            </a:r>
            <a:r>
              <a:rPr lang="en-US" altLang="zh-TW" sz="4000" dirty="0"/>
              <a:t>. Dynamic Linking</a:t>
            </a:r>
          </a:p>
        </p:txBody>
      </p:sp>
      <p:pic>
        <p:nvPicPr>
          <p:cNvPr id="22532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72064" y="1557338"/>
            <a:ext cx="4659714" cy="4319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3" name="Text Box 8"/>
          <p:cNvSpPr txBox="1">
            <a:spLocks noChangeArrowheads="1"/>
          </p:cNvSpPr>
          <p:nvPr/>
        </p:nvSpPr>
        <p:spPr bwMode="auto">
          <a:xfrm>
            <a:off x="6746876" y="6461126"/>
            <a:ext cx="3921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000" i="1">
                <a:latin typeface="Times New Roman" pitchFamily="18" charset="0"/>
                <a:hlinkClick r:id="rId3"/>
              </a:rPr>
              <a:t>http://www.scienceprog.com/embedded-c-program-libraries-and-linking/</a:t>
            </a:r>
            <a:endParaRPr lang="en-US" altLang="zh-TW" sz="1000" i="1">
              <a:latin typeface="Times New Roman" pitchFamily="18" charset="0"/>
            </a:endParaRPr>
          </a:p>
          <a:p>
            <a:r>
              <a:rPr lang="en-US" altLang="zh-TW" sz="1000" i="1">
                <a:latin typeface="Times New Roman" pitchFamily="18" charset="0"/>
              </a:rPr>
              <a:t>http://www.scienceprog.com/embedded-c-program-libraries-and-linking/</a:t>
            </a:r>
          </a:p>
        </p:txBody>
      </p:sp>
      <p:grpSp>
        <p:nvGrpSpPr>
          <p:cNvPr id="2" name="群組 1"/>
          <p:cNvGrpSpPr/>
          <p:nvPr/>
        </p:nvGrpSpPr>
        <p:grpSpPr>
          <a:xfrm>
            <a:off x="1035456" y="1557338"/>
            <a:ext cx="5075361" cy="4464050"/>
            <a:chOff x="1035456" y="1557338"/>
            <a:chExt cx="5075361" cy="4464050"/>
          </a:xfrm>
        </p:grpSpPr>
        <p:pic>
          <p:nvPicPr>
            <p:cNvPr id="22531" name="Picture 6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035456" y="1557338"/>
              <a:ext cx="5075361" cy="4464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2534" name="Rectangle 9"/>
            <p:cNvSpPr>
              <a:spLocks noChangeArrowheads="1"/>
            </p:cNvSpPr>
            <p:nvPr/>
          </p:nvSpPr>
          <p:spPr bwMode="auto">
            <a:xfrm>
              <a:off x="4616084" y="3548637"/>
              <a:ext cx="269882" cy="2304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 dirty="0">
                  <a:latin typeface="Sitka Text" panose="02000505000000020004" pitchFamily="2" charset="0"/>
                </a:rPr>
                <a:t>a</a:t>
              </a:r>
            </a:p>
          </p:txBody>
        </p:sp>
        <p:sp>
          <p:nvSpPr>
            <p:cNvPr id="22535" name="Rectangle 10"/>
            <p:cNvSpPr>
              <a:spLocks noChangeArrowheads="1"/>
            </p:cNvSpPr>
            <p:nvPr/>
          </p:nvSpPr>
          <p:spPr bwMode="auto">
            <a:xfrm>
              <a:off x="2782889" y="3573463"/>
              <a:ext cx="287337" cy="2159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b="1">
                  <a:latin typeface="Times New Roman" pitchFamily="18" charset="0"/>
                </a:rPr>
                <a:t>so</a:t>
              </a:r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2187690" y="3528759"/>
              <a:ext cx="269882" cy="23046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 dirty="0" smtClean="0">
                  <a:latin typeface="Sitka Text" panose="02000505000000020004" pitchFamily="2" charset="0"/>
                </a:rPr>
                <a:t>so</a:t>
              </a:r>
              <a:endParaRPr lang="en-US" altLang="zh-TW" sz="2400" dirty="0">
                <a:latin typeface="Sitka Text" panose="02000505000000020004" pitchFamily="2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Dynamic Linking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dirty="0" smtClean="0"/>
              <a:t>Sol.: </a:t>
            </a:r>
            <a:r>
              <a:rPr lang="en-US" altLang="zh-TW" b="1" dirty="0" smtClean="0">
                <a:solidFill>
                  <a:srgbClr val="FF0000"/>
                </a:solidFill>
              </a:rPr>
              <a:t>Dynamic </a:t>
            </a:r>
            <a:r>
              <a:rPr lang="en-US" altLang="zh-TW" b="1" dirty="0">
                <a:solidFill>
                  <a:srgbClr val="FF0000"/>
                </a:solidFill>
              </a:rPr>
              <a:t>linking</a:t>
            </a:r>
          </a:p>
          <a:p>
            <a:pPr lvl="1" eaLnBrk="1" hangingPunct="1"/>
            <a:r>
              <a:rPr lang="en-US" altLang="zh-TW" dirty="0"/>
              <a:t>Linking postponed until </a:t>
            </a:r>
            <a:r>
              <a:rPr lang="en-US" altLang="zh-TW" b="1" dirty="0"/>
              <a:t>execution time</a:t>
            </a:r>
          </a:p>
        </p:txBody>
      </p:sp>
    </p:spTree>
    <p:extLst>
      <p:ext uri="{BB962C8B-B14F-4D97-AF65-F5344CB8AC3E}">
        <p14:creationId xmlns:p14="http://schemas.microsoft.com/office/powerpoint/2010/main" val="2484905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dirty="0"/>
              <a:t>Static Linking </a:t>
            </a:r>
            <a:r>
              <a:rPr lang="en-US" altLang="zh-TW" sz="4000" dirty="0" err="1"/>
              <a:t>v.s</a:t>
            </a:r>
            <a:r>
              <a:rPr lang="en-US" altLang="zh-TW" sz="4000" dirty="0"/>
              <a:t>. Dynamic Linking</a:t>
            </a:r>
          </a:p>
        </p:txBody>
      </p:sp>
      <p:grpSp>
        <p:nvGrpSpPr>
          <p:cNvPr id="4" name="群組 3"/>
          <p:cNvGrpSpPr/>
          <p:nvPr/>
        </p:nvGrpSpPr>
        <p:grpSpPr>
          <a:xfrm>
            <a:off x="1847528" y="1169876"/>
            <a:ext cx="8136904" cy="5526360"/>
            <a:chOff x="1847528" y="1169876"/>
            <a:chExt cx="8136904" cy="5526360"/>
          </a:xfrm>
        </p:grpSpPr>
        <p:pic>
          <p:nvPicPr>
            <p:cNvPr id="3" name="Content Placeholder 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351584" y="1169876"/>
              <a:ext cx="7632848" cy="5526360"/>
            </a:xfrm>
            <a:prstGeom prst="rect">
              <a:avLst/>
            </a:prstGeom>
          </p:spPr>
        </p:pic>
        <p:sp>
          <p:nvSpPr>
            <p:cNvPr id="6" name="橢圓 5"/>
            <p:cNvSpPr/>
            <p:nvPr/>
          </p:nvSpPr>
          <p:spPr>
            <a:xfrm>
              <a:off x="1847528" y="4005064"/>
              <a:ext cx="1908212" cy="770384"/>
            </a:xfrm>
            <a:prstGeom prst="ellipse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700" dirty="0">
                  <a:solidFill>
                    <a:schemeClr val="tx1"/>
                  </a:solidFill>
                  <a:latin typeface="Calibri" panose="020F0502020204030204" pitchFamily="34" charset="0"/>
                </a:rPr>
                <a:t>statically linked library</a:t>
              </a:r>
            </a:p>
          </p:txBody>
        </p:sp>
        <p:cxnSp>
          <p:nvCxnSpPr>
            <p:cNvPr id="8" name="直線單箭頭接點 7"/>
            <p:cNvCxnSpPr>
              <a:stCxn id="6" idx="6"/>
            </p:cNvCxnSpPr>
            <p:nvPr/>
          </p:nvCxnSpPr>
          <p:spPr>
            <a:xfrm flipV="1">
              <a:off x="3755740" y="4077072"/>
              <a:ext cx="252028" cy="313184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2063552" y="4077072"/>
            <a:ext cx="1440160" cy="6480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279576" y="5517232"/>
            <a:ext cx="1440160" cy="6480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17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Dynamic </a:t>
            </a:r>
            <a:r>
              <a:rPr lang="en-US" altLang="zh-TW" dirty="0" smtClean="0"/>
              <a:t>Linking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4417" y="1484312"/>
            <a:ext cx="10972800" cy="4753000"/>
          </a:xfrm>
        </p:spPr>
        <p:txBody>
          <a:bodyPr>
            <a:normAutofit/>
          </a:bodyPr>
          <a:lstStyle/>
          <a:p>
            <a:r>
              <a:rPr lang="en-US" altLang="zh-TW" dirty="0"/>
              <a:t>Modern </a:t>
            </a:r>
            <a:r>
              <a:rPr lang="en-US" altLang="zh-TW" dirty="0" smtClean="0"/>
              <a:t>systems </a:t>
            </a:r>
            <a:r>
              <a:rPr lang="en-US" altLang="zh-TW" dirty="0"/>
              <a:t>don’t </a:t>
            </a:r>
            <a:r>
              <a:rPr lang="en-US" altLang="zh-TW" b="1" dirty="0" smtClean="0"/>
              <a:t>statically</a:t>
            </a:r>
            <a:r>
              <a:rPr lang="en-US" altLang="zh-TW" dirty="0" smtClean="0"/>
              <a:t> link </a:t>
            </a:r>
            <a:r>
              <a:rPr lang="en-US" altLang="zh-TW" b="1" dirty="0"/>
              <a:t>libraries</a:t>
            </a:r>
            <a:r>
              <a:rPr lang="en-US" altLang="zh-TW" dirty="0"/>
              <a:t> into executables</a:t>
            </a:r>
          </a:p>
          <a:p>
            <a:pPr lvl="1"/>
            <a:r>
              <a:rPr lang="en-US" altLang="zh-TW" dirty="0" smtClean="0"/>
              <a:t>Instead, </a:t>
            </a:r>
            <a:r>
              <a:rPr lang="en-US" altLang="zh-TW" b="1" dirty="0">
                <a:solidFill>
                  <a:srgbClr val="3366FF"/>
                </a:solidFill>
              </a:rPr>
              <a:t>dynamically linked </a:t>
            </a:r>
            <a:r>
              <a:rPr lang="en-US" altLang="zh-TW" b="1" dirty="0" smtClean="0">
                <a:solidFill>
                  <a:srgbClr val="3366FF"/>
                </a:solidFill>
              </a:rPr>
              <a:t>libraries (DLL) </a:t>
            </a:r>
            <a:r>
              <a:rPr lang="en-US" altLang="zh-TW" dirty="0" smtClean="0"/>
              <a:t>is used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A dynamically linked library is linked and loaded if it is </a:t>
            </a:r>
            <a:r>
              <a:rPr lang="en-US" altLang="zh-TW" b="1" dirty="0" smtClean="0"/>
              <a:t>required</a:t>
            </a:r>
            <a:r>
              <a:rPr lang="en-US" altLang="zh-TW" dirty="0" smtClean="0"/>
              <a:t> during </a:t>
            </a:r>
            <a:r>
              <a:rPr lang="en-US" altLang="zh-TW" b="1" dirty="0" smtClean="0"/>
              <a:t>run time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/>
              <a:t>dynamically linked library </a:t>
            </a:r>
            <a:r>
              <a:rPr lang="en-US" altLang="zh-TW" dirty="0" smtClean="0"/>
              <a:t>is </a:t>
            </a:r>
            <a:r>
              <a:rPr lang="en-US" altLang="zh-TW" b="1" dirty="0" smtClean="0"/>
              <a:t>shared</a:t>
            </a:r>
            <a:r>
              <a:rPr lang="en-US" altLang="zh-TW" dirty="0" smtClean="0"/>
              <a:t> (</a:t>
            </a:r>
            <a:r>
              <a:rPr lang="en-US" altLang="zh-TW" dirty="0"/>
              <a:t>loaded once</a:t>
            </a:r>
            <a:r>
              <a:rPr lang="en-US" altLang="zh-TW" dirty="0" smtClean="0"/>
              <a:t>)</a:t>
            </a:r>
          </a:p>
          <a:p>
            <a:pPr lvl="2"/>
            <a:r>
              <a:rPr lang="en-US" altLang="zh-TW" dirty="0" smtClean="0"/>
              <a:t>Savings in memory use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84717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Dynamic Linking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TW" dirty="0" smtClean="0"/>
              <a:t>Advantages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dirty="0" smtClean="0"/>
              <a:t>Reduce </a:t>
            </a:r>
            <a:r>
              <a:rPr lang="en-US" altLang="zh-TW" dirty="0"/>
              <a:t>the size of </a:t>
            </a:r>
            <a:r>
              <a:rPr lang="en-US" altLang="zh-TW" dirty="0" smtClean="0"/>
              <a:t>an executable </a:t>
            </a:r>
            <a:r>
              <a:rPr lang="en-US" altLang="zh-TW" dirty="0"/>
              <a:t>image </a:t>
            </a:r>
            <a:r>
              <a:rPr lang="en-US" altLang="zh-TW" dirty="0" smtClean="0"/>
              <a:t>and used memory size.</a:t>
            </a:r>
            <a:endParaRPr lang="en-US" altLang="zh-TW" dirty="0"/>
          </a:p>
          <a:p>
            <a:pPr lvl="1" eaLnBrk="1" hangingPunct="1">
              <a:lnSpc>
                <a:spcPct val="120000"/>
              </a:lnSpc>
            </a:pPr>
            <a:r>
              <a:rPr lang="en-US" altLang="zh-TW" dirty="0" smtClean="0"/>
              <a:t>Particularly </a:t>
            </a:r>
            <a:r>
              <a:rPr lang="en-US" altLang="zh-TW" dirty="0"/>
              <a:t>useful for </a:t>
            </a:r>
            <a:r>
              <a:rPr lang="en-US" altLang="zh-TW" b="1" dirty="0"/>
              <a:t>libraries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zh-TW" dirty="0" smtClean="0"/>
              <a:t>Libraries </a:t>
            </a:r>
            <a:r>
              <a:rPr lang="en-US" altLang="zh-TW" dirty="0"/>
              <a:t>can be </a:t>
            </a:r>
            <a:r>
              <a:rPr lang="en-US" altLang="zh-TW" b="1" dirty="0"/>
              <a:t>shared</a:t>
            </a:r>
            <a:r>
              <a:rPr lang="en-US" altLang="zh-TW" dirty="0"/>
              <a:t> among multiple </a:t>
            </a:r>
            <a:r>
              <a:rPr lang="en-US" altLang="zh-TW" dirty="0" smtClean="0"/>
              <a:t>processes</a:t>
            </a:r>
          </a:p>
          <a:p>
            <a:pPr lvl="3" eaLnBrk="1" hangingPunct="1">
              <a:lnSpc>
                <a:spcPct val="120000"/>
              </a:lnSpc>
            </a:pPr>
            <a:r>
              <a:rPr lang="en-US" altLang="zh-TW" sz="2200" dirty="0"/>
              <a:t>Only one instance is needed</a:t>
            </a:r>
          </a:p>
          <a:p>
            <a:pPr lvl="3" eaLnBrk="1" hangingPunct="1">
              <a:lnSpc>
                <a:spcPct val="120000"/>
              </a:lnSpc>
            </a:pPr>
            <a:r>
              <a:rPr lang="en-US" altLang="zh-TW" sz="2200" dirty="0"/>
              <a:t>Needs to be loaded in main memory </a:t>
            </a:r>
            <a:r>
              <a:rPr lang="en-US" altLang="zh-TW" sz="2200" b="1" dirty="0">
                <a:solidFill>
                  <a:srgbClr val="FF3300"/>
                </a:solidFill>
              </a:rPr>
              <a:t>only once</a:t>
            </a:r>
          </a:p>
          <a:p>
            <a:pPr eaLnBrk="1" hangingPunct="1">
              <a:lnSpc>
                <a:spcPct val="120000"/>
              </a:lnSpc>
            </a:pPr>
            <a:endParaRPr lang="en-US" altLang="zh-TW" dirty="0" smtClean="0"/>
          </a:p>
          <a:p>
            <a:pPr eaLnBrk="1" hangingPunct="1">
              <a:lnSpc>
                <a:spcPct val="120000"/>
              </a:lnSpc>
            </a:pPr>
            <a:r>
              <a:rPr lang="en-US" altLang="zh-TW" dirty="0" smtClean="0"/>
              <a:t>Such libraries are called </a:t>
            </a:r>
            <a:r>
              <a:rPr lang="en-US" altLang="zh-TW" b="1" dirty="0" smtClean="0">
                <a:solidFill>
                  <a:srgbClr val="FF3300"/>
                </a:solidFill>
              </a:rPr>
              <a:t>dynamically linked library (DLLs) </a:t>
            </a:r>
            <a:r>
              <a:rPr lang="en-US" altLang="zh-TW" dirty="0" smtClean="0"/>
              <a:t>or </a:t>
            </a:r>
            <a:r>
              <a:rPr lang="en-US" altLang="zh-TW" b="1" dirty="0" smtClean="0">
                <a:solidFill>
                  <a:srgbClr val="FF3300"/>
                </a:solidFill>
              </a:rPr>
              <a:t>shared library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dirty="0"/>
              <a:t>Windows: </a:t>
            </a:r>
            <a:r>
              <a:rPr lang="en-US" altLang="zh-TW" dirty="0" smtClean="0"/>
              <a:t>.</a:t>
            </a:r>
            <a:r>
              <a:rPr lang="en-US" altLang="zh-TW" dirty="0"/>
              <a:t>DLL file</a:t>
            </a:r>
            <a:r>
              <a:rPr lang="fr-CA" altLang="zh-TW" dirty="0"/>
              <a:t>s</a:t>
            </a:r>
            <a:endParaRPr lang="en-US" altLang="zh-TW" dirty="0"/>
          </a:p>
          <a:p>
            <a:pPr lvl="1" eaLnBrk="1" hangingPunct="1">
              <a:lnSpc>
                <a:spcPct val="120000"/>
              </a:lnSpc>
            </a:pPr>
            <a:r>
              <a:rPr lang="en-US" altLang="zh-TW" dirty="0"/>
              <a:t>Unix: </a:t>
            </a:r>
            <a:r>
              <a:rPr lang="en-US" altLang="zh-TW" dirty="0" smtClean="0"/>
              <a:t>.</a:t>
            </a:r>
            <a:r>
              <a:rPr lang="en-US" altLang="zh-TW" dirty="0"/>
              <a:t>so file</a:t>
            </a:r>
            <a:r>
              <a:rPr lang="fr-CA" altLang="zh-TW" dirty="0"/>
              <a:t>s</a:t>
            </a:r>
            <a:r>
              <a:rPr lang="en-US" altLang="zh-TW" dirty="0"/>
              <a:t> (shared library</a:t>
            </a:r>
            <a:r>
              <a:rPr lang="en-US" altLang="zh-TW" dirty="0" smtClean="0"/>
              <a:t>)</a:t>
            </a:r>
          </a:p>
          <a:p>
            <a:pPr lvl="1" eaLnBrk="1" hangingPunct="1">
              <a:lnSpc>
                <a:spcPct val="120000"/>
              </a:lnSpc>
            </a:pPr>
            <a:endParaRPr lang="en-US" altLang="zh-TW" b="1" dirty="0" smtClean="0">
              <a:solidFill>
                <a:srgbClr val="FF3300"/>
              </a:solidFill>
            </a:endParaRPr>
          </a:p>
          <a:p>
            <a:pPr>
              <a:lnSpc>
                <a:spcPct val="120000"/>
              </a:lnSpc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08884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Dynamic Loading</a:t>
            </a:r>
            <a:r>
              <a:rPr lang="zh-TW" altLang="en-US" dirty="0" smtClean="0"/>
              <a:t>和</a:t>
            </a:r>
            <a:r>
              <a:rPr lang="en-US" altLang="zh-TW" dirty="0" smtClean="0"/>
              <a:t>Dynamic Linking</a:t>
            </a:r>
            <a:r>
              <a:rPr lang="zh-TW" altLang="en-US" dirty="0" smtClean="0"/>
              <a:t>到底有什麼不同呢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See the following example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30154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See the following slides</a:t>
            </a:r>
          </a:p>
          <a:p>
            <a:r>
              <a:rPr lang="en-US" altLang="zh-TW" dirty="0" smtClean="0"/>
              <a:t>1. load program X into memory (via exec())</a:t>
            </a:r>
          </a:p>
          <a:p>
            <a:r>
              <a:rPr lang="en-US" altLang="zh-TW" dirty="0" smtClean="0"/>
              <a:t>2</a:t>
            </a:r>
            <a:r>
              <a:rPr lang="en-US" altLang="zh-TW" dirty="0"/>
              <a:t>.</a:t>
            </a:r>
            <a:r>
              <a:rPr lang="en-US" altLang="zh-TW" dirty="0" smtClean="0"/>
              <a:t> When X calls </a:t>
            </a:r>
            <a:r>
              <a:rPr lang="en-US" altLang="zh-TW" dirty="0" err="1" smtClean="0"/>
              <a:t>printf</a:t>
            </a:r>
            <a:r>
              <a:rPr lang="en-US" altLang="zh-TW" dirty="0" smtClean="0"/>
              <a:t>() (it’s address is zero when compiling)</a:t>
            </a:r>
          </a:p>
          <a:p>
            <a:pPr lvl="1"/>
            <a:r>
              <a:rPr lang="en-US" altLang="zh-TW" dirty="0" smtClean="0"/>
              <a:t>Load </a:t>
            </a:r>
            <a:r>
              <a:rPr lang="en-US" altLang="zh-TW" dirty="0" err="1" smtClean="0"/>
              <a:t>libc</a:t>
            </a:r>
            <a:r>
              <a:rPr lang="en-US" altLang="zh-TW" dirty="0" smtClean="0"/>
              <a:t> =&gt; </a:t>
            </a:r>
            <a:r>
              <a:rPr lang="en-US" altLang="zh-TW" b="1" dirty="0" smtClean="0">
                <a:solidFill>
                  <a:srgbClr val="FF0000"/>
                </a:solidFill>
              </a:rPr>
              <a:t>dynamic loading</a:t>
            </a:r>
          </a:p>
          <a:p>
            <a:pPr lvl="1"/>
            <a:r>
              <a:rPr lang="en-US" altLang="zh-TW" dirty="0" smtClean="0"/>
              <a:t>Resolve external references =&gt; </a:t>
            </a:r>
            <a:r>
              <a:rPr lang="en-US" altLang="zh-TW" b="1" dirty="0" smtClean="0">
                <a:solidFill>
                  <a:srgbClr val="FF0000"/>
                </a:solidFill>
              </a:rPr>
              <a:t>dynamic linking</a:t>
            </a:r>
          </a:p>
          <a:p>
            <a:pPr lvl="2"/>
            <a:r>
              <a:rPr lang="en-US" altLang="zh-TW" dirty="0" smtClean="0"/>
              <a:t>Modify 000000 to say, 0x350060</a:t>
            </a:r>
          </a:p>
          <a:p>
            <a:r>
              <a:rPr lang="en-US" altLang="zh-TW" dirty="0" smtClean="0"/>
              <a:t>3. Later, Y is also loaded into memory via exec()</a:t>
            </a:r>
          </a:p>
          <a:p>
            <a:r>
              <a:rPr lang="en-US" altLang="zh-TW" dirty="0" smtClean="0"/>
              <a:t>4. When Y calls </a:t>
            </a:r>
            <a:r>
              <a:rPr lang="en-US" altLang="zh-TW" dirty="0" err="1" smtClean="0"/>
              <a:t>printf</a:t>
            </a:r>
            <a:r>
              <a:rPr lang="en-US" altLang="zh-TW" dirty="0" smtClean="0"/>
              <a:t>() </a:t>
            </a:r>
            <a:r>
              <a:rPr lang="en-US" altLang="zh-TW" dirty="0"/>
              <a:t>(it’s address is </a:t>
            </a:r>
            <a:r>
              <a:rPr lang="en-US" altLang="zh-TW" dirty="0" smtClean="0"/>
              <a:t>also zero </a:t>
            </a:r>
            <a:r>
              <a:rPr lang="en-US" altLang="zh-TW" dirty="0"/>
              <a:t>when compiling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Resolve external reference =&gt; </a:t>
            </a:r>
            <a:r>
              <a:rPr lang="en-US" altLang="zh-TW" b="1" dirty="0" smtClean="0">
                <a:solidFill>
                  <a:srgbClr val="FF0000"/>
                </a:solidFill>
              </a:rPr>
              <a:t>dynamic linking</a:t>
            </a:r>
          </a:p>
          <a:p>
            <a:pPr lvl="2"/>
            <a:r>
              <a:rPr lang="en-US" altLang="zh-TW" dirty="0"/>
              <a:t>Modify 000000 to </a:t>
            </a:r>
            <a:r>
              <a:rPr lang="en-US" altLang="zh-TW" dirty="0" smtClean="0"/>
              <a:t>0x350060</a:t>
            </a:r>
          </a:p>
          <a:p>
            <a:pPr marL="914400" lvl="2" indent="0">
              <a:buNone/>
            </a:pP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895909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load program X into memory </a:t>
            </a:r>
            <a:r>
              <a:rPr lang="en-US" altLang="zh-TW" dirty="0" smtClean="0"/>
              <a:t>via </a:t>
            </a:r>
            <a:r>
              <a:rPr lang="en-US" altLang="zh-TW" dirty="0"/>
              <a:t>exec</a:t>
            </a:r>
            <a:r>
              <a:rPr lang="en-US" altLang="zh-TW" dirty="0" smtClean="0"/>
              <a:t>()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39824" y="6237312"/>
            <a:ext cx="10972800" cy="486837"/>
          </a:xfrm>
        </p:spPr>
        <p:txBody>
          <a:bodyPr>
            <a:normAutofit/>
          </a:bodyPr>
          <a:lstStyle/>
          <a:p>
            <a:pPr marL="457200" lvl="1" indent="0" algn="ctr">
              <a:buNone/>
            </a:pPr>
            <a:r>
              <a:rPr lang="en-US" altLang="zh-TW" sz="2400" dirty="0" smtClean="0"/>
              <a:t>Notably, the external reference to </a:t>
            </a:r>
            <a:r>
              <a:rPr lang="en-US" altLang="zh-TW" sz="2400" dirty="0" err="1" smtClean="0"/>
              <a:t>printf</a:t>
            </a:r>
            <a:r>
              <a:rPr lang="en-US" altLang="zh-TW" sz="2400" dirty="0" smtClean="0"/>
              <a:t>()’s address is 000000</a:t>
            </a:r>
            <a:endParaRPr lang="zh-TW" altLang="en-US" sz="2400" dirty="0"/>
          </a:p>
        </p:txBody>
      </p:sp>
      <p:grpSp>
        <p:nvGrpSpPr>
          <p:cNvPr id="15" name="群組 14"/>
          <p:cNvGrpSpPr/>
          <p:nvPr/>
        </p:nvGrpSpPr>
        <p:grpSpPr>
          <a:xfrm>
            <a:off x="335360" y="1772816"/>
            <a:ext cx="11342113" cy="4338836"/>
            <a:chOff x="298503" y="1772816"/>
            <a:chExt cx="11342113" cy="4914900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06766" y="2780928"/>
              <a:ext cx="4133850" cy="2124075"/>
            </a:xfrm>
            <a:prstGeom prst="rect">
              <a:avLst/>
            </a:prstGeom>
          </p:spPr>
        </p:pic>
        <p:grpSp>
          <p:nvGrpSpPr>
            <p:cNvPr id="5" name="群組 4"/>
            <p:cNvGrpSpPr/>
            <p:nvPr/>
          </p:nvGrpSpPr>
          <p:grpSpPr>
            <a:xfrm>
              <a:off x="3540621" y="1772816"/>
              <a:ext cx="3419475" cy="4914900"/>
              <a:chOff x="2135560" y="1412776"/>
              <a:chExt cx="3419475" cy="4914900"/>
            </a:xfrm>
          </p:grpSpPr>
          <p:grpSp>
            <p:nvGrpSpPr>
              <p:cNvPr id="6" name="群組 5"/>
              <p:cNvGrpSpPr/>
              <p:nvPr/>
            </p:nvGrpSpPr>
            <p:grpSpPr>
              <a:xfrm>
                <a:off x="2135560" y="1412776"/>
                <a:ext cx="3419475" cy="4914900"/>
                <a:chOff x="1271464" y="1196752"/>
                <a:chExt cx="3419475" cy="4914900"/>
              </a:xfrm>
            </p:grpSpPr>
            <p:pic>
              <p:nvPicPr>
                <p:cNvPr id="8" name="圖片 7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71464" y="1196752"/>
                  <a:ext cx="3419475" cy="4914900"/>
                </a:xfrm>
                <a:prstGeom prst="rect">
                  <a:avLst/>
                </a:prstGeom>
              </p:spPr>
            </p:pic>
            <p:sp>
              <p:nvSpPr>
                <p:cNvPr id="9" name="文字方塊 8"/>
                <p:cNvSpPr txBox="1"/>
                <p:nvPr/>
              </p:nvSpPr>
              <p:spPr>
                <a:xfrm flipH="1">
                  <a:off x="4059898" y="2463726"/>
                  <a:ext cx="7200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800" b="1" dirty="0" smtClean="0">
                      <a:latin typeface="Calibri" panose="020F0502020204030204" pitchFamily="34" charset="0"/>
                      <a:cs typeface="Calibri" panose="020F0502020204030204" pitchFamily="34" charset="0"/>
                    </a:rPr>
                    <a:t>X</a:t>
                  </a:r>
                  <a:endParaRPr lang="zh-TW" altLang="en-US" sz="1800" b="1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" name="文字方塊 9"/>
                <p:cNvSpPr txBox="1"/>
                <p:nvPr/>
              </p:nvSpPr>
              <p:spPr>
                <a:xfrm flipH="1">
                  <a:off x="4079776" y="4571836"/>
                  <a:ext cx="7200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800" b="1" dirty="0" smtClean="0">
                      <a:latin typeface="Calibri" panose="020F0502020204030204" pitchFamily="34" charset="0"/>
                      <a:cs typeface="Calibri" panose="020F0502020204030204" pitchFamily="34" charset="0"/>
                    </a:rPr>
                    <a:t>Y</a:t>
                  </a:r>
                  <a:endParaRPr lang="zh-TW" altLang="en-US" sz="1800" b="1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2927648" y="3501008"/>
                  <a:ext cx="1224136" cy="3600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2400" b="1" dirty="0" err="1" smtClean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libc</a:t>
                  </a:r>
                  <a:endParaRPr lang="zh-TW" altLang="en-US" sz="2400" b="1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7" name="矩形 6"/>
              <p:cNvSpPr/>
              <p:nvPr/>
            </p:nvSpPr>
            <p:spPr>
              <a:xfrm>
                <a:off x="3327444" y="2504376"/>
                <a:ext cx="2120484" cy="17537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800" dirty="0" smtClean="0">
                    <a:solidFill>
                      <a:srgbClr val="FF0000"/>
                    </a:solidFill>
                  </a:rPr>
                  <a:t>000000</a:t>
                </a:r>
                <a:endParaRPr lang="zh-TW" altLang="en-US" sz="18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2" name="矩形圖說文字 11"/>
            <p:cNvSpPr/>
            <p:nvPr/>
          </p:nvSpPr>
          <p:spPr>
            <a:xfrm>
              <a:off x="298503" y="2798496"/>
              <a:ext cx="2808312" cy="612648"/>
            </a:xfrm>
            <a:prstGeom prst="wedgeRectCallout">
              <a:avLst>
                <a:gd name="adj1" fmla="val 105870"/>
                <a:gd name="adj2" fmla="val -16994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b="1" dirty="0" smtClean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external reference to </a:t>
              </a:r>
              <a:r>
                <a:rPr lang="en-US" altLang="zh-TW" sz="2000" b="1" dirty="0" err="1" smtClean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printf</a:t>
              </a:r>
              <a:r>
                <a:rPr lang="en-US" altLang="zh-TW" sz="2000" b="1" dirty="0" smtClean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()</a:t>
              </a:r>
              <a:endParaRPr lang="zh-TW" altLang="en-US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5375920" y="3933056"/>
              <a:ext cx="864096" cy="57606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5303911" y="4869160"/>
              <a:ext cx="1224137" cy="6480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6" name="矩形 15"/>
          <p:cNvSpPr/>
          <p:nvPr/>
        </p:nvSpPr>
        <p:spPr>
          <a:xfrm>
            <a:off x="9984432" y="3501008"/>
            <a:ext cx="1728192" cy="1162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4801614" y="3960488"/>
            <a:ext cx="2088232" cy="20882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946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When X calls </a:t>
            </a:r>
            <a:r>
              <a:rPr lang="en-US" altLang="zh-TW" dirty="0" err="1"/>
              <a:t>printf</a:t>
            </a:r>
            <a:r>
              <a:rPr lang="en-US" altLang="zh-TW" dirty="0"/>
              <a:t>() </a:t>
            </a:r>
            <a:endParaRPr lang="zh-TW" altLang="en-US" dirty="0"/>
          </a:p>
        </p:txBody>
      </p:sp>
      <p:grpSp>
        <p:nvGrpSpPr>
          <p:cNvPr id="15" name="群組 14"/>
          <p:cNvGrpSpPr/>
          <p:nvPr/>
        </p:nvGrpSpPr>
        <p:grpSpPr>
          <a:xfrm>
            <a:off x="370511" y="1484784"/>
            <a:ext cx="11342113" cy="4338836"/>
            <a:chOff x="298503" y="1772816"/>
            <a:chExt cx="11342113" cy="4914900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06766" y="2780928"/>
              <a:ext cx="4133850" cy="2124075"/>
            </a:xfrm>
            <a:prstGeom prst="rect">
              <a:avLst/>
            </a:prstGeom>
          </p:spPr>
        </p:pic>
        <p:grpSp>
          <p:nvGrpSpPr>
            <p:cNvPr id="5" name="群組 4"/>
            <p:cNvGrpSpPr/>
            <p:nvPr/>
          </p:nvGrpSpPr>
          <p:grpSpPr>
            <a:xfrm>
              <a:off x="3540621" y="1772816"/>
              <a:ext cx="3419475" cy="4914900"/>
              <a:chOff x="2135560" y="1412776"/>
              <a:chExt cx="3419475" cy="4914900"/>
            </a:xfrm>
          </p:grpSpPr>
          <p:grpSp>
            <p:nvGrpSpPr>
              <p:cNvPr id="6" name="群組 5"/>
              <p:cNvGrpSpPr/>
              <p:nvPr/>
            </p:nvGrpSpPr>
            <p:grpSpPr>
              <a:xfrm>
                <a:off x="2135560" y="1412776"/>
                <a:ext cx="3419475" cy="4914900"/>
                <a:chOff x="1271464" y="1196752"/>
                <a:chExt cx="3419475" cy="4914900"/>
              </a:xfrm>
            </p:grpSpPr>
            <p:pic>
              <p:nvPicPr>
                <p:cNvPr id="8" name="圖片 7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71464" y="1196752"/>
                  <a:ext cx="3419475" cy="4914900"/>
                </a:xfrm>
                <a:prstGeom prst="rect">
                  <a:avLst/>
                </a:prstGeom>
              </p:spPr>
            </p:pic>
            <p:sp>
              <p:nvSpPr>
                <p:cNvPr id="9" name="文字方塊 8"/>
                <p:cNvSpPr txBox="1"/>
                <p:nvPr/>
              </p:nvSpPr>
              <p:spPr>
                <a:xfrm flipH="1">
                  <a:off x="4059898" y="2463726"/>
                  <a:ext cx="7200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800" b="1" dirty="0" smtClean="0">
                      <a:latin typeface="Calibri" panose="020F0502020204030204" pitchFamily="34" charset="0"/>
                      <a:cs typeface="Calibri" panose="020F0502020204030204" pitchFamily="34" charset="0"/>
                    </a:rPr>
                    <a:t>X</a:t>
                  </a:r>
                  <a:endParaRPr lang="zh-TW" altLang="en-US" sz="1800" b="1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" name="文字方塊 9"/>
                <p:cNvSpPr txBox="1"/>
                <p:nvPr/>
              </p:nvSpPr>
              <p:spPr>
                <a:xfrm flipH="1">
                  <a:off x="4079776" y="4571836"/>
                  <a:ext cx="7200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800" b="1" dirty="0" smtClean="0">
                      <a:latin typeface="Calibri" panose="020F0502020204030204" pitchFamily="34" charset="0"/>
                      <a:cs typeface="Calibri" panose="020F0502020204030204" pitchFamily="34" charset="0"/>
                    </a:rPr>
                    <a:t>Y</a:t>
                  </a:r>
                  <a:endParaRPr lang="zh-TW" altLang="en-US" sz="1800" b="1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2927648" y="3501008"/>
                  <a:ext cx="1224136" cy="3600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2400" b="1" dirty="0" err="1" smtClean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libc</a:t>
                  </a:r>
                  <a:endParaRPr lang="zh-TW" altLang="en-US" sz="2400" b="1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7" name="矩形 6"/>
              <p:cNvSpPr/>
              <p:nvPr/>
            </p:nvSpPr>
            <p:spPr>
              <a:xfrm>
                <a:off x="3327444" y="2504376"/>
                <a:ext cx="2120484" cy="17537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800" dirty="0">
                    <a:solidFill>
                      <a:srgbClr val="FF0000"/>
                    </a:solidFill>
                  </a:rPr>
                  <a:t>350060</a:t>
                </a:r>
                <a:endParaRPr lang="zh-TW" altLang="en-US" sz="18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2" name="矩形圖說文字 11"/>
            <p:cNvSpPr/>
            <p:nvPr/>
          </p:nvSpPr>
          <p:spPr>
            <a:xfrm>
              <a:off x="298503" y="2798496"/>
              <a:ext cx="2808312" cy="612648"/>
            </a:xfrm>
            <a:prstGeom prst="wedgeRectCallout">
              <a:avLst>
                <a:gd name="adj1" fmla="val 105870"/>
                <a:gd name="adj2" fmla="val -16994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b="1" dirty="0" smtClean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external reference to </a:t>
              </a:r>
              <a:r>
                <a:rPr lang="en-US" altLang="zh-TW" sz="2000" b="1" dirty="0" err="1" smtClean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printf</a:t>
              </a:r>
              <a:r>
                <a:rPr lang="en-US" altLang="zh-TW" sz="2000" b="1" dirty="0" smtClean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()</a:t>
              </a:r>
              <a:endParaRPr lang="zh-TW" altLang="en-US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03911" y="4869160"/>
              <a:ext cx="1224137" cy="6480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7" name="矩形 16"/>
          <p:cNvSpPr/>
          <p:nvPr/>
        </p:nvSpPr>
        <p:spPr>
          <a:xfrm>
            <a:off x="9984432" y="3202565"/>
            <a:ext cx="1728192" cy="1162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4799856" y="3346189"/>
            <a:ext cx="2120484" cy="154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 err="1" smtClean="0">
                <a:solidFill>
                  <a:srgbClr val="FF0000"/>
                </a:solidFill>
              </a:rPr>
              <a:t>Printf</a:t>
            </a:r>
            <a:r>
              <a:rPr lang="en-US" altLang="zh-TW" sz="1800" dirty="0" smtClean="0">
                <a:solidFill>
                  <a:srgbClr val="FF0000"/>
                </a:solidFill>
              </a:rPr>
              <a:t>{};</a:t>
            </a:r>
            <a:endParaRPr lang="zh-TW" altLang="en-US" sz="1800" dirty="0">
              <a:solidFill>
                <a:srgbClr val="FF0000"/>
              </a:solidFill>
            </a:endParaRPr>
          </a:p>
        </p:txBody>
      </p:sp>
      <p:sp>
        <p:nvSpPr>
          <p:cNvPr id="19" name="矩形圖說文字 18"/>
          <p:cNvSpPr/>
          <p:nvPr/>
        </p:nvSpPr>
        <p:spPr>
          <a:xfrm>
            <a:off x="407368" y="3284984"/>
            <a:ext cx="2808312" cy="540841"/>
          </a:xfrm>
          <a:prstGeom prst="wedgeRectCallout">
            <a:avLst>
              <a:gd name="adj1" fmla="val 105870"/>
              <a:gd name="adj2" fmla="val -16994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350060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845576" y="4254789"/>
            <a:ext cx="2088232" cy="15150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325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766" y="2420888"/>
            <a:ext cx="4133850" cy="2124075"/>
          </a:xfrm>
          <a:prstGeom prst="rect">
            <a:avLst/>
          </a:prstGeom>
        </p:spPr>
      </p:pic>
      <p:sp>
        <p:nvSpPr>
          <p:cNvPr id="8" name="標題 1"/>
          <p:cNvSpPr txBox="1">
            <a:spLocks/>
          </p:cNvSpPr>
          <p:nvPr/>
        </p:nvSpPr>
        <p:spPr>
          <a:xfrm>
            <a:off x="624417" y="115888"/>
            <a:ext cx="109728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 baseline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r>
              <a:rPr lang="en-US" altLang="zh-TW" kern="0" dirty="0" smtClean="0"/>
              <a:t>Example: </a:t>
            </a:r>
            <a:r>
              <a:rPr lang="en-US" altLang="zh-TW" dirty="0"/>
              <a:t>load program </a:t>
            </a:r>
            <a:r>
              <a:rPr lang="en-US" altLang="zh-TW" dirty="0" smtClean="0"/>
              <a:t>Y </a:t>
            </a:r>
            <a:r>
              <a:rPr lang="en-US" altLang="zh-TW" dirty="0"/>
              <a:t>into memory via exec()</a:t>
            </a:r>
            <a:endParaRPr lang="zh-TW" altLang="en-US" kern="0" dirty="0"/>
          </a:p>
        </p:txBody>
      </p:sp>
      <p:grpSp>
        <p:nvGrpSpPr>
          <p:cNvPr id="13" name="群組 12"/>
          <p:cNvGrpSpPr/>
          <p:nvPr/>
        </p:nvGrpSpPr>
        <p:grpSpPr>
          <a:xfrm>
            <a:off x="3540621" y="1412776"/>
            <a:ext cx="3419475" cy="4914900"/>
            <a:chOff x="2135560" y="1412776"/>
            <a:chExt cx="3419475" cy="4914900"/>
          </a:xfrm>
        </p:grpSpPr>
        <p:grpSp>
          <p:nvGrpSpPr>
            <p:cNvPr id="7" name="群組 6"/>
            <p:cNvGrpSpPr/>
            <p:nvPr/>
          </p:nvGrpSpPr>
          <p:grpSpPr>
            <a:xfrm>
              <a:off x="2135560" y="1412776"/>
              <a:ext cx="3419475" cy="4914900"/>
              <a:chOff x="1271464" y="1196752"/>
              <a:chExt cx="3419475" cy="4914900"/>
            </a:xfrm>
          </p:grpSpPr>
          <p:pic>
            <p:nvPicPr>
              <p:cNvPr id="2" name="圖片 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1464" y="1196752"/>
                <a:ext cx="3419475" cy="4914900"/>
              </a:xfrm>
              <a:prstGeom prst="rect">
                <a:avLst/>
              </a:prstGeom>
            </p:spPr>
          </p:pic>
          <p:sp>
            <p:nvSpPr>
              <p:cNvPr id="4" name="文字方塊 3"/>
              <p:cNvSpPr txBox="1"/>
              <p:nvPr/>
            </p:nvSpPr>
            <p:spPr>
              <a:xfrm flipH="1">
                <a:off x="4059898" y="2463726"/>
                <a:ext cx="72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800" b="1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X</a:t>
                </a:r>
                <a:endParaRPr lang="zh-TW" altLang="en-US" sz="18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" name="文字方塊 4"/>
              <p:cNvSpPr txBox="1"/>
              <p:nvPr/>
            </p:nvSpPr>
            <p:spPr>
              <a:xfrm flipH="1">
                <a:off x="4079776" y="4571836"/>
                <a:ext cx="72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800" b="1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Y</a:t>
                </a:r>
                <a:endParaRPr lang="zh-TW" altLang="en-US" sz="18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2927648" y="3501008"/>
                <a:ext cx="1224136" cy="3600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400" b="1" dirty="0" err="1" smtClean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libc</a:t>
                </a:r>
                <a:endParaRPr lang="zh-TW" altLang="en-US" sz="2400" b="1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3327444" y="2504376"/>
              <a:ext cx="2120484" cy="1753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800" dirty="0">
                  <a:solidFill>
                    <a:srgbClr val="FF0000"/>
                  </a:solidFill>
                </a:rPr>
                <a:t>350060</a:t>
              </a:r>
              <a:endParaRPr lang="zh-TW" altLang="en-US" sz="1800" dirty="0">
                <a:solidFill>
                  <a:srgbClr val="FF0000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327444" y="5168672"/>
              <a:ext cx="2160240" cy="2045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800" dirty="0" smtClean="0">
                  <a:solidFill>
                    <a:srgbClr val="FF0000"/>
                  </a:solidFill>
                </a:rPr>
                <a:t>000000</a:t>
              </a:r>
              <a:endParaRPr lang="zh-TW" altLang="en-US" sz="18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1" name="矩形圖說文字 10"/>
          <p:cNvSpPr/>
          <p:nvPr/>
        </p:nvSpPr>
        <p:spPr>
          <a:xfrm>
            <a:off x="298503" y="2438456"/>
            <a:ext cx="2808312" cy="612648"/>
          </a:xfrm>
          <a:prstGeom prst="wedgeRectCallout">
            <a:avLst>
              <a:gd name="adj1" fmla="val 105870"/>
              <a:gd name="adj2" fmla="val -16994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 reference to </a:t>
            </a:r>
            <a:r>
              <a:rPr lang="en-US" altLang="zh-TW" sz="2000" b="1" dirty="0" err="1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printf</a:t>
            </a:r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矩形圖說文字 11"/>
          <p:cNvSpPr/>
          <p:nvPr/>
        </p:nvSpPr>
        <p:spPr>
          <a:xfrm>
            <a:off x="281634" y="5270944"/>
            <a:ext cx="2808312" cy="612648"/>
          </a:xfrm>
          <a:prstGeom prst="wedgeRectCallout">
            <a:avLst>
              <a:gd name="adj1" fmla="val 106931"/>
              <a:gd name="adj2" fmla="val -57551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 reference to </a:t>
            </a:r>
            <a:r>
              <a:rPr lang="en-US" altLang="zh-TW" sz="2000" b="1" dirty="0" err="1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printf</a:t>
            </a:r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912424" y="3346581"/>
            <a:ext cx="1728192" cy="1162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4727848" y="3562213"/>
            <a:ext cx="2120484" cy="154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 err="1" smtClean="0">
                <a:solidFill>
                  <a:srgbClr val="FF0000"/>
                </a:solidFill>
              </a:rPr>
              <a:t>Printf</a:t>
            </a:r>
            <a:r>
              <a:rPr lang="en-US" altLang="zh-TW" sz="1800" dirty="0" smtClean="0">
                <a:solidFill>
                  <a:srgbClr val="FF0000"/>
                </a:solidFill>
              </a:rPr>
              <a:t>{};</a:t>
            </a:r>
            <a:endParaRPr lang="zh-TW" altLang="en-US" sz="1800" dirty="0">
              <a:solidFill>
                <a:srgbClr val="FF0000"/>
              </a:solidFill>
            </a:endParaRPr>
          </a:p>
        </p:txBody>
      </p:sp>
      <p:sp>
        <p:nvSpPr>
          <p:cNvPr id="16" name="矩形圖說文字 15"/>
          <p:cNvSpPr/>
          <p:nvPr/>
        </p:nvSpPr>
        <p:spPr>
          <a:xfrm>
            <a:off x="335360" y="3501008"/>
            <a:ext cx="2808312" cy="540841"/>
          </a:xfrm>
          <a:prstGeom prst="wedgeRectCallout">
            <a:avLst>
              <a:gd name="adj1" fmla="val 105870"/>
              <a:gd name="adj2" fmla="val -16994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350060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754136" y="5538004"/>
            <a:ext cx="2088232" cy="7107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1305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766" y="2420888"/>
            <a:ext cx="4133850" cy="2124075"/>
          </a:xfrm>
          <a:prstGeom prst="rect">
            <a:avLst/>
          </a:prstGeom>
        </p:spPr>
      </p:pic>
      <p:sp>
        <p:nvSpPr>
          <p:cNvPr id="8" name="標題 1"/>
          <p:cNvSpPr txBox="1">
            <a:spLocks/>
          </p:cNvSpPr>
          <p:nvPr/>
        </p:nvSpPr>
        <p:spPr>
          <a:xfrm>
            <a:off x="624417" y="115888"/>
            <a:ext cx="109728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 baseline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標楷體" panose="03000509000000000000" pitchFamily="65" charset="-12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新細明體" pitchFamily="18" charset="-120"/>
              </a:defRPr>
            </a:lvl9pPr>
          </a:lstStyle>
          <a:p>
            <a:r>
              <a:rPr lang="en-US" altLang="zh-TW" kern="0" dirty="0" smtClean="0"/>
              <a:t>Example: </a:t>
            </a:r>
            <a:r>
              <a:rPr lang="en-US" altLang="zh-TW" dirty="0"/>
              <a:t>When </a:t>
            </a:r>
            <a:r>
              <a:rPr lang="en-US" altLang="zh-TW" dirty="0" smtClean="0"/>
              <a:t>Y </a:t>
            </a:r>
            <a:r>
              <a:rPr lang="en-US" altLang="zh-TW" dirty="0"/>
              <a:t>calls </a:t>
            </a:r>
            <a:r>
              <a:rPr lang="en-US" altLang="zh-TW" dirty="0" err="1"/>
              <a:t>printf</a:t>
            </a:r>
            <a:r>
              <a:rPr lang="en-US" altLang="zh-TW" dirty="0"/>
              <a:t>() </a:t>
            </a:r>
            <a:endParaRPr lang="zh-TW" altLang="en-US" kern="0" dirty="0"/>
          </a:p>
        </p:txBody>
      </p:sp>
      <p:grpSp>
        <p:nvGrpSpPr>
          <p:cNvPr id="13" name="群組 12"/>
          <p:cNvGrpSpPr/>
          <p:nvPr/>
        </p:nvGrpSpPr>
        <p:grpSpPr>
          <a:xfrm>
            <a:off x="3540621" y="1412776"/>
            <a:ext cx="3419475" cy="4914900"/>
            <a:chOff x="2135560" y="1412776"/>
            <a:chExt cx="3419475" cy="4914900"/>
          </a:xfrm>
        </p:grpSpPr>
        <p:grpSp>
          <p:nvGrpSpPr>
            <p:cNvPr id="7" name="群組 6"/>
            <p:cNvGrpSpPr/>
            <p:nvPr/>
          </p:nvGrpSpPr>
          <p:grpSpPr>
            <a:xfrm>
              <a:off x="2135560" y="1412776"/>
              <a:ext cx="3419475" cy="4914900"/>
              <a:chOff x="1271464" y="1196752"/>
              <a:chExt cx="3419475" cy="4914900"/>
            </a:xfrm>
          </p:grpSpPr>
          <p:pic>
            <p:nvPicPr>
              <p:cNvPr id="2" name="圖片 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1464" y="1196752"/>
                <a:ext cx="3419475" cy="4914900"/>
              </a:xfrm>
              <a:prstGeom prst="rect">
                <a:avLst/>
              </a:prstGeom>
            </p:spPr>
          </p:pic>
          <p:sp>
            <p:nvSpPr>
              <p:cNvPr id="4" name="文字方塊 3"/>
              <p:cNvSpPr txBox="1"/>
              <p:nvPr/>
            </p:nvSpPr>
            <p:spPr>
              <a:xfrm flipH="1">
                <a:off x="4059898" y="2463726"/>
                <a:ext cx="72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800" b="1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X</a:t>
                </a:r>
                <a:endParaRPr lang="zh-TW" altLang="en-US" sz="18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" name="文字方塊 4"/>
              <p:cNvSpPr txBox="1"/>
              <p:nvPr/>
            </p:nvSpPr>
            <p:spPr>
              <a:xfrm flipH="1">
                <a:off x="4079776" y="4571836"/>
                <a:ext cx="72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800" b="1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Y</a:t>
                </a:r>
                <a:endParaRPr lang="zh-TW" altLang="en-US" sz="18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2927648" y="3501008"/>
                <a:ext cx="1224136" cy="3600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400" b="1" dirty="0" err="1" smtClean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libc</a:t>
                </a:r>
                <a:endParaRPr lang="zh-TW" altLang="en-US" sz="2400" b="1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3327444" y="2504376"/>
              <a:ext cx="2120484" cy="1753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800" dirty="0">
                  <a:solidFill>
                    <a:srgbClr val="FF0000"/>
                  </a:solidFill>
                </a:rPr>
                <a:t>350060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3327444" y="5168672"/>
              <a:ext cx="2160240" cy="2045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800" dirty="0">
                  <a:solidFill>
                    <a:srgbClr val="FF0000"/>
                  </a:solidFill>
                </a:rPr>
                <a:t>350060</a:t>
              </a:r>
            </a:p>
          </p:txBody>
        </p:sp>
      </p:grpSp>
      <p:sp>
        <p:nvSpPr>
          <p:cNvPr id="11" name="矩形圖說文字 10"/>
          <p:cNvSpPr/>
          <p:nvPr/>
        </p:nvSpPr>
        <p:spPr>
          <a:xfrm>
            <a:off x="298503" y="2438456"/>
            <a:ext cx="2808312" cy="612648"/>
          </a:xfrm>
          <a:prstGeom prst="wedgeRectCallout">
            <a:avLst>
              <a:gd name="adj1" fmla="val 105870"/>
              <a:gd name="adj2" fmla="val -16994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 reference to </a:t>
            </a:r>
            <a:r>
              <a:rPr lang="en-US" altLang="zh-TW" sz="2000" b="1" dirty="0" err="1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printf</a:t>
            </a:r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矩形圖說文字 11"/>
          <p:cNvSpPr/>
          <p:nvPr/>
        </p:nvSpPr>
        <p:spPr>
          <a:xfrm>
            <a:off x="281634" y="5270944"/>
            <a:ext cx="2808312" cy="612648"/>
          </a:xfrm>
          <a:prstGeom prst="wedgeRectCallout">
            <a:avLst>
              <a:gd name="adj1" fmla="val 106931"/>
              <a:gd name="adj2" fmla="val -57551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 reference to </a:t>
            </a:r>
            <a:r>
              <a:rPr lang="en-US" altLang="zh-TW" sz="2000" b="1" dirty="0" err="1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printf</a:t>
            </a:r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912424" y="3356992"/>
            <a:ext cx="1728192" cy="1162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4727848" y="3562213"/>
            <a:ext cx="2120484" cy="1548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dirty="0" err="1" smtClean="0">
                <a:solidFill>
                  <a:srgbClr val="FF0000"/>
                </a:solidFill>
              </a:rPr>
              <a:t>Printf</a:t>
            </a:r>
            <a:r>
              <a:rPr lang="en-US" altLang="zh-TW" sz="1800" dirty="0" smtClean="0">
                <a:solidFill>
                  <a:srgbClr val="FF0000"/>
                </a:solidFill>
              </a:rPr>
              <a:t>{};</a:t>
            </a:r>
            <a:endParaRPr lang="zh-TW" altLang="en-US" sz="1800" dirty="0">
              <a:solidFill>
                <a:srgbClr val="FF0000"/>
              </a:solidFill>
            </a:endParaRPr>
          </a:p>
        </p:txBody>
      </p:sp>
      <p:sp>
        <p:nvSpPr>
          <p:cNvPr id="17" name="矩形圖說文字 16"/>
          <p:cNvSpPr/>
          <p:nvPr/>
        </p:nvSpPr>
        <p:spPr>
          <a:xfrm>
            <a:off x="335360" y="3501008"/>
            <a:ext cx="2808312" cy="540841"/>
          </a:xfrm>
          <a:prstGeom prst="wedgeRectCallout">
            <a:avLst>
              <a:gd name="adj1" fmla="val 105870"/>
              <a:gd name="adj2" fmla="val -16994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350060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5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作業系統實驗會有一個</a:t>
            </a:r>
            <a:r>
              <a:rPr lang="en-US" altLang="zh-TW" dirty="0" smtClean="0"/>
              <a:t>Static Linking vs </a:t>
            </a:r>
            <a:r>
              <a:rPr lang="en-US" altLang="zh-TW"/>
              <a:t>Dynamic </a:t>
            </a:r>
            <a:r>
              <a:rPr lang="en-US" altLang="zh-TW" smtClean="0"/>
              <a:t>Linking</a:t>
            </a:r>
            <a:r>
              <a:rPr lang="zh-TW" altLang="en-US" smtClean="0"/>
              <a:t>的</a:t>
            </a:r>
            <a:r>
              <a:rPr lang="zh-TW" altLang="en-US" dirty="0" smtClean="0"/>
              <a:t>實驗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6839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 smtClean="0"/>
              <a:t>Background</a:t>
            </a:r>
          </a:p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Contiguous Memory Allocation</a:t>
            </a:r>
          </a:p>
          <a:p>
            <a:pPr eaLnBrk="1" hangingPunct="1"/>
            <a:r>
              <a:rPr lang="en-US" altLang="zh-TW" dirty="0" smtClean="0"/>
              <a:t>Paging</a:t>
            </a:r>
          </a:p>
          <a:p>
            <a:pPr eaLnBrk="1" hangingPunct="1"/>
            <a:r>
              <a:rPr lang="en-US" altLang="zh-TW" dirty="0" smtClean="0"/>
              <a:t>Structure of the Page Table</a:t>
            </a:r>
          </a:p>
          <a:p>
            <a:pPr eaLnBrk="1" hangingPunct="1"/>
            <a:r>
              <a:rPr lang="en-US" altLang="zh-TW" dirty="0" smtClean="0"/>
              <a:t>Swapping</a:t>
            </a:r>
          </a:p>
          <a:p>
            <a:pPr eaLnBrk="1" hangingPunct="1"/>
            <a:r>
              <a:rPr lang="en-US" altLang="zh-TW" dirty="0" smtClean="0"/>
              <a:t>Example: Intel 32 and 64-bit Architectures</a:t>
            </a:r>
          </a:p>
          <a:p>
            <a:pPr eaLnBrk="1" hangingPunct="1"/>
            <a:r>
              <a:rPr lang="en-US" altLang="zh-TW" dirty="0" smtClean="0"/>
              <a:t>Example: ARMv8 Architecture</a:t>
            </a:r>
          </a:p>
        </p:txBody>
      </p:sp>
    </p:spTree>
    <p:extLst>
      <p:ext uri="{BB962C8B-B14F-4D97-AF65-F5344CB8AC3E}">
        <p14:creationId xmlns:p14="http://schemas.microsoft.com/office/powerpoint/2010/main" val="2123959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How to Allocate Memory to a Process?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rgbClr val="0000FF"/>
                </a:solidFill>
              </a:rPr>
              <a:t>Sol. Contiguous Memory </a:t>
            </a:r>
            <a:r>
              <a:rPr lang="en-US" altLang="zh-TW" b="1" dirty="0" smtClean="0">
                <a:solidFill>
                  <a:srgbClr val="0000FF"/>
                </a:solidFill>
              </a:rPr>
              <a:t>Allocation</a:t>
            </a:r>
            <a:endParaRPr lang="zh-TW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306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Contiguous Memory Allocation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b="1" dirty="0" smtClean="0">
                <a:solidFill>
                  <a:srgbClr val="0000FF"/>
                </a:solidFill>
              </a:rPr>
              <a:t>Contiguous </a:t>
            </a:r>
            <a:r>
              <a:rPr lang="en-US" altLang="zh-TW" sz="2800" b="1" dirty="0">
                <a:solidFill>
                  <a:srgbClr val="0000FF"/>
                </a:solidFill>
              </a:rPr>
              <a:t>memory allocation</a:t>
            </a:r>
          </a:p>
          <a:p>
            <a:pPr lvl="1" eaLnBrk="1" hangingPunct="1"/>
            <a:r>
              <a:rPr lang="en-US" altLang="zh-TW" sz="2400" dirty="0"/>
              <a:t>Each process is contained a single contiguous </a:t>
            </a:r>
            <a:endParaRPr lang="en-US" altLang="zh-TW" sz="2400" dirty="0" smtClean="0"/>
          </a:p>
          <a:p>
            <a:pPr marL="457200" lvl="1" indent="0" eaLnBrk="1" hangingPunct="1">
              <a:buNone/>
            </a:pPr>
            <a:r>
              <a:rPr lang="en-US" altLang="zh-TW" sz="2400" dirty="0"/>
              <a:t> </a:t>
            </a:r>
            <a:r>
              <a:rPr lang="en-US" altLang="zh-TW" sz="2400" dirty="0" smtClean="0"/>
              <a:t>   section </a:t>
            </a:r>
            <a:r>
              <a:rPr lang="en-US" altLang="zh-TW" sz="2400" dirty="0"/>
              <a:t>of memory</a:t>
            </a:r>
          </a:p>
          <a:p>
            <a:pPr lvl="1" eaLnBrk="1" hangingPunct="1"/>
            <a:endParaRPr lang="en-US" altLang="zh-TW" sz="2400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200" y="1484313"/>
            <a:ext cx="3419475" cy="4914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dirty="0" smtClean="0"/>
              <a:t>Background</a:t>
            </a:r>
          </a:p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Contiguous Memory Allocation</a:t>
            </a:r>
          </a:p>
          <a:p>
            <a:pPr lvl="1" eaLnBrk="1" hangingPunct="1"/>
            <a:r>
              <a:rPr lang="en-US" altLang="zh-TW" b="1" dirty="0" smtClean="0">
                <a:solidFill>
                  <a:srgbClr val="FF3300"/>
                </a:solidFill>
              </a:rPr>
              <a:t>Memory Protection</a:t>
            </a:r>
          </a:p>
          <a:p>
            <a:pPr lvl="1" eaLnBrk="1" hangingPunct="1"/>
            <a:r>
              <a:rPr lang="en-US" altLang="zh-TW" dirty="0" smtClean="0"/>
              <a:t>Memory Allocation</a:t>
            </a:r>
          </a:p>
          <a:p>
            <a:pPr lvl="1" eaLnBrk="1" hangingPunct="1"/>
            <a:r>
              <a:rPr lang="en-US" altLang="zh-TW" dirty="0" smtClean="0"/>
              <a:t>Fragmentation</a:t>
            </a:r>
          </a:p>
          <a:p>
            <a:pPr eaLnBrk="1" hangingPunct="1"/>
            <a:r>
              <a:rPr lang="en-US" altLang="zh-TW" dirty="0" smtClean="0"/>
              <a:t>Paging</a:t>
            </a:r>
          </a:p>
          <a:p>
            <a:pPr eaLnBrk="1" hangingPunct="1"/>
            <a:r>
              <a:rPr lang="en-US" altLang="zh-TW" dirty="0" smtClean="0"/>
              <a:t>Structure of the Page Table</a:t>
            </a:r>
          </a:p>
          <a:p>
            <a:pPr eaLnBrk="1" hangingPunct="1"/>
            <a:r>
              <a:rPr lang="en-US" altLang="zh-TW" dirty="0" smtClean="0"/>
              <a:t>Swapping</a:t>
            </a:r>
          </a:p>
          <a:p>
            <a:pPr eaLnBrk="1" hangingPunct="1"/>
            <a:r>
              <a:rPr lang="en-US" altLang="zh-TW" dirty="0" smtClean="0"/>
              <a:t>Example: Intel 32 and 64-bit Architectures</a:t>
            </a:r>
          </a:p>
          <a:p>
            <a:pPr eaLnBrk="1" hangingPunct="1"/>
            <a:r>
              <a:rPr lang="en-US" altLang="zh-TW" dirty="0" smtClean="0"/>
              <a:t>Example: ARMv8 Architecture</a:t>
            </a:r>
          </a:p>
        </p:txBody>
      </p:sp>
    </p:spTree>
    <p:extLst>
      <p:ext uri="{BB962C8B-B14F-4D97-AF65-F5344CB8AC3E}">
        <p14:creationId xmlns:p14="http://schemas.microsoft.com/office/powerpoint/2010/main" val="3642931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Background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TW" dirty="0" smtClean="0"/>
              <a:t>Two concerns of memory</a:t>
            </a:r>
            <a:endParaRPr lang="en-US" altLang="zh-TW" dirty="0"/>
          </a:p>
          <a:p>
            <a:pPr lvl="1">
              <a:lnSpc>
                <a:spcPct val="110000"/>
              </a:lnSpc>
            </a:pPr>
            <a:r>
              <a:rPr lang="en-US" altLang="zh-TW" b="1" dirty="0"/>
              <a:t>Access </a:t>
            </a:r>
            <a:r>
              <a:rPr lang="en-US" altLang="zh-TW" b="1" dirty="0" smtClean="0"/>
              <a:t>speed</a:t>
            </a:r>
            <a:endParaRPr lang="en-US" altLang="zh-TW" b="1" dirty="0"/>
          </a:p>
          <a:p>
            <a:pPr lvl="1">
              <a:lnSpc>
                <a:spcPct val="110000"/>
              </a:lnSpc>
            </a:pPr>
            <a:endParaRPr lang="en-US" altLang="zh-TW" b="1" dirty="0" smtClean="0"/>
          </a:p>
          <a:p>
            <a:pPr lvl="1">
              <a:lnSpc>
                <a:spcPct val="110000"/>
              </a:lnSpc>
            </a:pPr>
            <a:r>
              <a:rPr lang="en-US" altLang="zh-TW" b="1" dirty="0" smtClean="0">
                <a:solidFill>
                  <a:srgbClr val="FF0000"/>
                </a:solidFill>
              </a:rPr>
              <a:t>Protection </a:t>
            </a:r>
            <a:r>
              <a:rPr lang="en-US" altLang="zh-TW" b="1" dirty="0">
                <a:solidFill>
                  <a:srgbClr val="FF0000"/>
                </a:solidFill>
              </a:rPr>
              <a:t>of </a:t>
            </a:r>
            <a:r>
              <a:rPr lang="en-US" altLang="zh-TW" b="1" dirty="0" smtClean="0">
                <a:solidFill>
                  <a:srgbClr val="FF0000"/>
                </a:solidFill>
              </a:rPr>
              <a:t>memory</a:t>
            </a:r>
            <a:endParaRPr lang="en-US" altLang="zh-TW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702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</a:t>
            </a:r>
            <a:r>
              <a:rPr lang="zh-TW" altLang="en-US" dirty="0" smtClean="0"/>
              <a:t> </a:t>
            </a:r>
            <a:r>
              <a:rPr lang="zh-TW" altLang="en-US" dirty="0"/>
              <a:t>何謂</a:t>
            </a:r>
            <a:r>
              <a:rPr lang="zh-TW" altLang="en-US" dirty="0" smtClean="0"/>
              <a:t>記憶體保護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TW" dirty="0" err="1" smtClean="0"/>
              <a:t>Ans</a:t>
            </a:r>
            <a:r>
              <a:rPr lang="en-US" altLang="zh-TW" dirty="0" smtClean="0"/>
              <a:t>: </a:t>
            </a:r>
            <a:r>
              <a:rPr lang="en-US" altLang="en-US" dirty="0" smtClean="0"/>
              <a:t>Need </a:t>
            </a:r>
            <a:r>
              <a:rPr lang="en-US" altLang="en-US" dirty="0"/>
              <a:t>to ensure that a process can only access its own </a:t>
            </a:r>
            <a:r>
              <a:rPr lang="en-US" altLang="en-US" dirty="0" smtClean="0"/>
              <a:t>space </a:t>
            </a:r>
            <a:r>
              <a:rPr lang="en-US" altLang="zh-TW" sz="2400" dirty="0" smtClean="0"/>
              <a:t>(see the following slide)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45575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Protection of Memory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3791744" y="1484784"/>
            <a:ext cx="4143375" cy="4607719"/>
            <a:chOff x="3719514" y="1917625"/>
            <a:chExt cx="4143375" cy="4607719"/>
          </a:xfrm>
        </p:grpSpPr>
        <p:pic>
          <p:nvPicPr>
            <p:cNvPr id="8196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16727" t="876" r="16431" b="876"/>
            <a:stretch>
              <a:fillRect/>
            </a:stretch>
          </p:blipFill>
          <p:spPr bwMode="auto">
            <a:xfrm>
              <a:off x="3719514" y="1917625"/>
              <a:ext cx="4143375" cy="4607719"/>
            </a:xfrm>
            <a:prstGeom prst="rect">
              <a:avLst/>
            </a:prstGeom>
            <a:noFill/>
            <a:ln w="38100" cmpd="dbl">
              <a:solidFill>
                <a:srgbClr val="CC6600"/>
              </a:solidFill>
              <a:miter lim="800000"/>
              <a:headEnd/>
              <a:tailEnd/>
            </a:ln>
          </p:spPr>
        </p:pic>
        <p:sp>
          <p:nvSpPr>
            <p:cNvPr id="2" name="矩形 1"/>
            <p:cNvSpPr/>
            <p:nvPr/>
          </p:nvSpPr>
          <p:spPr>
            <a:xfrm>
              <a:off x="6312024" y="3212976"/>
              <a:ext cx="1512168" cy="2016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" name="弧形箭號 (左彎) 4"/>
          <p:cNvSpPr/>
          <p:nvPr/>
        </p:nvSpPr>
        <p:spPr>
          <a:xfrm flipV="1">
            <a:off x="6345557" y="1772816"/>
            <a:ext cx="731520" cy="2016224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9" name="弧形箭號 (左彎) 8"/>
          <p:cNvSpPr/>
          <p:nvPr/>
        </p:nvSpPr>
        <p:spPr>
          <a:xfrm flipV="1">
            <a:off x="6345557" y="2554238"/>
            <a:ext cx="731520" cy="143063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6" name="乘號 5"/>
          <p:cNvSpPr/>
          <p:nvPr/>
        </p:nvSpPr>
        <p:spPr>
          <a:xfrm>
            <a:off x="6591698" y="2421643"/>
            <a:ext cx="914400" cy="914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乘號 10"/>
          <p:cNvSpPr/>
          <p:nvPr/>
        </p:nvSpPr>
        <p:spPr>
          <a:xfrm>
            <a:off x="6617912" y="2946648"/>
            <a:ext cx="914400" cy="914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5609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9" grpId="0" animBg="1"/>
      <p:bldP spid="6" grpId="0" animBg="1"/>
      <p:bldP spid="6" grpId="1" animBg="1"/>
      <p:bldP spid="1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Q: </a:t>
            </a:r>
            <a:r>
              <a:rPr lang="zh-TW" altLang="en-US" dirty="0">
                <a:solidFill>
                  <a:schemeClr val="tx1"/>
                </a:solidFill>
              </a:rPr>
              <a:t>如何</a:t>
            </a:r>
            <a:r>
              <a:rPr lang="zh-TW" altLang="en-US" dirty="0" smtClean="0">
                <a:solidFill>
                  <a:schemeClr val="tx1"/>
                </a:solidFill>
              </a:rPr>
              <a:t>實現記憶體保護</a:t>
            </a:r>
            <a:r>
              <a:rPr lang="en-US" altLang="zh-TW" dirty="0">
                <a:solidFill>
                  <a:schemeClr val="tx1"/>
                </a:solidFill>
              </a:rPr>
              <a:t>?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</a:t>
            </a:r>
            <a:r>
              <a:rPr lang="zh-TW" altLang="en-US" dirty="0" smtClean="0"/>
              <a:t>每一此存取記憶體時</a:t>
            </a:r>
            <a:r>
              <a:rPr lang="en-US" altLang="zh-TW" dirty="0" smtClean="0"/>
              <a:t>, </a:t>
            </a:r>
            <a:r>
              <a:rPr lang="zh-TW" altLang="en-US" dirty="0" smtClean="0"/>
              <a:t>一定要檢查是否合法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6114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Q: </a:t>
            </a:r>
            <a:r>
              <a:rPr lang="zh-TW" altLang="en-US" dirty="0">
                <a:solidFill>
                  <a:schemeClr val="tx1"/>
                </a:solidFill>
              </a:rPr>
              <a:t>誰負責提供記憶體保護</a:t>
            </a:r>
            <a:r>
              <a:rPr lang="en-US" altLang="zh-TW" dirty="0">
                <a:solidFill>
                  <a:schemeClr val="tx1"/>
                </a:solidFill>
              </a:rPr>
              <a:t>?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631504" y="3886200"/>
            <a:ext cx="8731696" cy="1752600"/>
          </a:xfrm>
        </p:spPr>
        <p:txBody>
          <a:bodyPr/>
          <a:lstStyle/>
          <a:p>
            <a:pPr eaLnBrk="1" hangingPunct="1"/>
            <a:r>
              <a:rPr lang="en-US" altLang="zh-TW" dirty="0" err="1" smtClean="0"/>
              <a:t>Ans</a:t>
            </a:r>
            <a:r>
              <a:rPr lang="en-US" altLang="zh-TW" dirty="0" smtClean="0"/>
              <a:t>: Protection </a:t>
            </a:r>
            <a:r>
              <a:rPr lang="en-US" altLang="zh-TW" dirty="0"/>
              <a:t>is provided by the </a:t>
            </a:r>
            <a:r>
              <a:rPr lang="en-US" altLang="zh-TW" b="1" dirty="0" smtClean="0">
                <a:solidFill>
                  <a:srgbClr val="FF3300"/>
                </a:solidFill>
              </a:rPr>
              <a:t>hardware (MMU)</a:t>
            </a:r>
            <a:endParaRPr lang="en-US" altLang="zh-TW" b="1" dirty="0">
              <a:solidFill>
                <a:srgbClr val="FF3300"/>
              </a:solidFill>
            </a:endParaRPr>
          </a:p>
          <a:p>
            <a:pPr marL="457200" lvl="1" indent="0" algn="ctr" eaLnBrk="1" hangingPunct="1">
              <a:buNone/>
            </a:pPr>
            <a:r>
              <a:rPr lang="zh-TW" altLang="en-US" b="1" dirty="0" smtClean="0"/>
              <a:t>不是</a:t>
            </a:r>
            <a:r>
              <a:rPr lang="en-US" altLang="zh-TW" b="1" dirty="0" smtClean="0"/>
              <a:t>OS! </a:t>
            </a:r>
            <a:r>
              <a:rPr lang="zh-TW" altLang="en-US" b="1" dirty="0" smtClean="0"/>
              <a:t>注意</a:t>
            </a:r>
            <a:r>
              <a:rPr lang="en-US" altLang="zh-TW" b="1" dirty="0" smtClean="0"/>
              <a:t>, </a:t>
            </a:r>
            <a:r>
              <a:rPr lang="en-US" altLang="zh-TW" dirty="0" smtClean="0"/>
              <a:t>OS </a:t>
            </a:r>
            <a:r>
              <a:rPr lang="en-US" altLang="zh-TW" dirty="0"/>
              <a:t>doesn’t intervene between the CPU and </a:t>
            </a:r>
            <a:r>
              <a:rPr lang="en-US" altLang="zh-TW" dirty="0" smtClean="0"/>
              <a:t>memory accesses (see the following slide)</a:t>
            </a:r>
            <a:endParaRPr lang="en-US" altLang="zh-TW" dirty="0"/>
          </a:p>
          <a:p>
            <a:endParaRPr lang="zh-TW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770263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4000" dirty="0" smtClean="0">
                <a:effectLst/>
              </a:rPr>
              <a:t>OS</a:t>
            </a:r>
            <a:r>
              <a:rPr lang="zh-TW" altLang="en-US" sz="4000" dirty="0" smtClean="0">
                <a:effectLst/>
              </a:rPr>
              <a:t>不知道發生</a:t>
            </a:r>
            <a:r>
              <a:rPr lang="zh-TW" altLang="en-US" sz="4000" dirty="0">
                <a:effectLst/>
              </a:rPr>
              <a:t>記憶體</a:t>
            </a:r>
            <a:r>
              <a:rPr lang="zh-TW" altLang="en-US" sz="4000" dirty="0" smtClean="0">
                <a:effectLst/>
              </a:rPr>
              <a:t>存取</a:t>
            </a:r>
            <a:endParaRPr lang="en-US" altLang="zh-TW" sz="4000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4"/>
            <a:ext cx="2265362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mov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 </a:t>
            </a:r>
            <a:r>
              <a:rPr kumimoji="0" lang="en-US" altLang="zh-TW" sz="2000" b="1" i="1" dirty="0" err="1">
                <a:solidFill>
                  <a:srgbClr val="FF3300"/>
                </a:solidFill>
                <a:ea typeface="新細明體" panose="02020500000000000000" pitchFamily="18" charset="-120"/>
              </a:rPr>
              <a:t>eax</a:t>
            </a:r>
            <a:r>
              <a:rPr kumimoji="0" lang="en-US" altLang="zh-TW" sz="2000" b="1" i="1" dirty="0">
                <a:solidFill>
                  <a:srgbClr val="FF3300"/>
                </a:solidFill>
                <a:ea typeface="新細明體" panose="02020500000000000000" pitchFamily="18" charset="-120"/>
              </a:rPr>
              <a:t>, </a:t>
            </a:r>
            <a:r>
              <a:rPr kumimoji="0" lang="en-US" altLang="zh-TW" sz="2000" b="1" i="1" dirty="0" smtClean="0">
                <a:solidFill>
                  <a:srgbClr val="FF3300"/>
                </a:solidFill>
                <a:ea typeface="新細明體" panose="02020500000000000000" pitchFamily="18" charset="-120"/>
              </a:rPr>
              <a:t>10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mov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temp, </a:t>
            </a:r>
            <a:r>
              <a:rPr kumimoji="0" lang="en-US" altLang="zh-TW" sz="20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endParaRPr kumimoji="0" lang="en-US" altLang="zh-TW" sz="2000" b="1" i="1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dirty="0" smtClean="0">
                <a:solidFill>
                  <a:srgbClr val="FF3300"/>
                </a:solidFill>
                <a:ea typeface="新細明體" panose="02020500000000000000" pitchFamily="18" charset="-120"/>
              </a:rPr>
              <a:t>…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07138" y="4114007"/>
            <a:ext cx="2265362" cy="1763265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394619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 flipH="1">
            <a:off x="4385089" y="204867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807495" y="2978230"/>
          <a:ext cx="138906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</a:tbl>
          </a:graphicData>
        </a:graphic>
      </p:graphicFrame>
      <p:cxnSp>
        <p:nvCxnSpPr>
          <p:cNvPr id="19" name="直線單箭頭接點 18"/>
          <p:cNvCxnSpPr/>
          <p:nvPr/>
        </p:nvCxnSpPr>
        <p:spPr>
          <a:xfrm flipH="1">
            <a:off x="4399688" y="243721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6B2569-5B8B-470D-A3E2-C3981CD983F2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0362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solidFill>
                  <a:schemeClr val="tx1"/>
                </a:solidFill>
              </a:rPr>
              <a:t>看一個簡單的例子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dirty="0" smtClean="0"/>
              <a:t>假設是</a:t>
            </a:r>
            <a:r>
              <a:rPr lang="en-US" altLang="zh-TW" dirty="0" smtClean="0"/>
              <a:t>compiler time/load time</a:t>
            </a:r>
            <a:r>
              <a:rPr lang="zh-TW" altLang="en-US" dirty="0" smtClean="0"/>
              <a:t>做</a:t>
            </a:r>
            <a:r>
              <a:rPr lang="en-US" altLang="zh-TW" dirty="0" smtClean="0"/>
              <a:t>binding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03940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A Simple Example: Basic Hardware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dirty="0" smtClean="0"/>
              <a:t>(Base + Limit)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scheme</a:t>
            </a:r>
          </a:p>
          <a:p>
            <a:pPr eaLnBrk="1" hangingPunct="1"/>
            <a:r>
              <a:rPr lang="en-US" altLang="zh-TW" sz="3600" dirty="0" smtClean="0"/>
              <a:t>A </a:t>
            </a:r>
            <a:r>
              <a:rPr lang="en-US" altLang="zh-TW" sz="3600" dirty="0"/>
              <a:t>simple method: </a:t>
            </a:r>
            <a:r>
              <a:rPr lang="en-US" altLang="zh-TW" sz="3600" dirty="0" smtClean="0"/>
              <a:t>MMU </a:t>
            </a:r>
            <a:r>
              <a:rPr lang="en-US" altLang="zh-TW" sz="3600" dirty="0"/>
              <a:t>provides two registers</a:t>
            </a:r>
          </a:p>
          <a:p>
            <a:pPr lvl="1" eaLnBrk="1" hangingPunct="1"/>
            <a:r>
              <a:rPr lang="en-US" altLang="zh-TW" sz="3200" b="1" dirty="0" smtClean="0"/>
              <a:t>Base </a:t>
            </a:r>
            <a:r>
              <a:rPr lang="en-US" altLang="zh-TW" sz="3200" b="1" dirty="0"/>
              <a:t>register: </a:t>
            </a:r>
            <a:r>
              <a:rPr lang="en-US" altLang="zh-TW" sz="3200" dirty="0"/>
              <a:t>hold the smallest memory address</a:t>
            </a:r>
          </a:p>
          <a:p>
            <a:pPr lvl="1" eaLnBrk="1" hangingPunct="1"/>
            <a:r>
              <a:rPr lang="en-US" altLang="zh-TW" sz="3200" b="1" dirty="0" smtClean="0"/>
              <a:t>Limit </a:t>
            </a:r>
            <a:r>
              <a:rPr lang="en-US" altLang="zh-TW" sz="3200" b="1" dirty="0"/>
              <a:t>register: </a:t>
            </a:r>
            <a:r>
              <a:rPr lang="en-US" altLang="zh-TW" sz="3200" dirty="0"/>
              <a:t>specify the size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US" altLang="zh-TW" b="1" dirty="0" smtClean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TW" b="1" dirty="0" smtClean="0">
                <a:solidFill>
                  <a:srgbClr val="FF0000"/>
                </a:solidFill>
              </a:rPr>
              <a:t>MMU</a:t>
            </a:r>
            <a:r>
              <a:rPr lang="en-US" altLang="zh-TW" dirty="0" smtClean="0"/>
              <a:t> </a:t>
            </a:r>
            <a:endParaRPr lang="en-US" altLang="zh-TW" dirty="0"/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TW" b="1" dirty="0">
                <a:solidFill>
                  <a:srgbClr val="0000FF"/>
                </a:solidFill>
              </a:rPr>
              <a:t>Protect</a:t>
            </a:r>
            <a:r>
              <a:rPr lang="en-US" altLang="zh-TW" dirty="0"/>
              <a:t> the memory </a:t>
            </a:r>
            <a:r>
              <a:rPr lang="en-US" altLang="zh-TW" dirty="0" smtClean="0"/>
              <a:t>by</a:t>
            </a:r>
            <a:r>
              <a:rPr lang="en-US" altLang="zh-TW" b="1" dirty="0"/>
              <a:t> </a:t>
            </a:r>
            <a:r>
              <a:rPr lang="en-US" altLang="zh-TW" b="1" dirty="0" smtClean="0"/>
              <a:t>base and limit</a:t>
            </a:r>
            <a:r>
              <a:rPr lang="en-US" altLang="zh-TW" dirty="0" smtClean="0"/>
              <a:t> </a:t>
            </a:r>
            <a:r>
              <a:rPr lang="en-US" altLang="zh-TW" dirty="0"/>
              <a:t>register</a:t>
            </a:r>
          </a:p>
          <a:p>
            <a:pPr eaLnBrk="1" hangingPunct="1"/>
            <a:endParaRPr lang="en-US" altLang="zh-TW" sz="3600" dirty="0" smtClean="0"/>
          </a:p>
        </p:txBody>
      </p:sp>
    </p:spTree>
    <p:extLst>
      <p:ext uri="{BB962C8B-B14F-4D97-AF65-F5344CB8AC3E}">
        <p14:creationId xmlns:p14="http://schemas.microsoft.com/office/powerpoint/2010/main" val="352455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800" dirty="0" smtClean="0"/>
              <a:t>Base and Limit Registers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551384" y="1340768"/>
            <a:ext cx="10972800" cy="433312"/>
          </a:xfrm>
        </p:spPr>
        <p:txBody>
          <a:bodyPr>
            <a:noAutofit/>
          </a:bodyPr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zh-TW" sz="2800" dirty="0"/>
              <a:t>A pair of </a:t>
            </a:r>
            <a:r>
              <a:rPr lang="en-US" altLang="zh-TW" sz="2800" b="1" dirty="0">
                <a:solidFill>
                  <a:srgbClr val="FF0000"/>
                </a:solidFill>
              </a:rPr>
              <a:t>base</a:t>
            </a:r>
            <a:r>
              <a:rPr lang="en-US" altLang="zh-TW" sz="2800" dirty="0"/>
              <a:t> and</a:t>
            </a:r>
            <a:r>
              <a:rPr lang="en-US" altLang="zh-TW" sz="2800" b="1" dirty="0">
                <a:solidFill>
                  <a:srgbClr val="FF0000"/>
                </a:solidFill>
              </a:rPr>
              <a:t> limit</a:t>
            </a:r>
            <a:r>
              <a:rPr lang="en-US" altLang="zh-TW" sz="2800" dirty="0"/>
              <a:t> registers define the logical address space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 cstate="print"/>
          <a:srcRect l="16727" t="876" r="16431" b="876"/>
          <a:stretch>
            <a:fillRect/>
          </a:stretch>
        </p:blipFill>
        <p:spPr bwMode="auto">
          <a:xfrm>
            <a:off x="3719514" y="1917625"/>
            <a:ext cx="4143375" cy="4607719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84458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/>
              <a:t>Hardware Address Protection with Base and Limit Registers</a:t>
            </a:r>
          </a:p>
        </p:txBody>
      </p:sp>
      <p:pic>
        <p:nvPicPr>
          <p:cNvPr id="9219" name="Picture 5"/>
          <p:cNvPicPr>
            <a:picLocks noChangeAspect="1" noChangeArrowheads="1"/>
          </p:cNvPicPr>
          <p:nvPr/>
        </p:nvPicPr>
        <p:blipFill>
          <a:blip r:embed="rId2" cstate="print"/>
          <a:srcRect l="465" t="20837" r="443" b="21426"/>
          <a:stretch>
            <a:fillRect/>
          </a:stretch>
        </p:blipFill>
        <p:spPr bwMode="auto">
          <a:xfrm>
            <a:off x="2208213" y="2204865"/>
            <a:ext cx="7740650" cy="4320878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9220" name="Text Box 6"/>
          <p:cNvSpPr txBox="1">
            <a:spLocks noChangeArrowheads="1"/>
          </p:cNvSpPr>
          <p:nvPr/>
        </p:nvSpPr>
        <p:spPr bwMode="auto">
          <a:xfrm>
            <a:off x="2208213" y="1621013"/>
            <a:ext cx="789806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200" b="1" dirty="0">
                <a:solidFill>
                  <a:srgbClr val="FF3300"/>
                </a:solidFill>
                <a:latin typeface="Calibri" panose="020F0502020204030204" pitchFamily="34" charset="0"/>
              </a:rPr>
              <a:t>On each memory access --</a:t>
            </a:r>
            <a:r>
              <a:rPr lang="en-US" altLang="en-US" sz="2200" dirty="0">
                <a:latin typeface="Calibri" panose="020F0502020204030204" pitchFamily="34" charset="0"/>
              </a:rPr>
              <a:t> </a:t>
            </a:r>
            <a:r>
              <a:rPr lang="en-US" altLang="en-US" sz="2200" dirty="0" smtClean="0">
                <a:latin typeface="Calibri" panose="020F0502020204030204" pitchFamily="34" charset="0"/>
              </a:rPr>
              <a:t>MMU </a:t>
            </a:r>
            <a:r>
              <a:rPr lang="en-US" altLang="en-US" sz="2200" dirty="0">
                <a:latin typeface="Calibri" panose="020F0502020204030204" pitchFamily="34" charset="0"/>
              </a:rPr>
              <a:t>must check </a:t>
            </a:r>
            <a:r>
              <a:rPr lang="en-US" altLang="en-US" sz="2200" b="1" dirty="0">
                <a:latin typeface="Calibri" panose="020F0502020204030204" pitchFamily="34" charset="0"/>
              </a:rPr>
              <a:t>every memory access</a:t>
            </a:r>
            <a:endParaRPr lang="en-US" altLang="zh-TW" sz="2200" b="1" dirty="0">
              <a:solidFill>
                <a:srgbClr val="FF33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565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solidFill>
                  <a:schemeClr val="tx1"/>
                </a:solidFill>
              </a:rPr>
              <a:t>再看一個簡單的例子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dirty="0" smtClean="0"/>
              <a:t>假設是</a:t>
            </a:r>
            <a:r>
              <a:rPr lang="en-US" altLang="zh-TW" dirty="0" smtClean="0"/>
              <a:t>execution time</a:t>
            </a:r>
            <a:r>
              <a:rPr lang="zh-TW" altLang="en-US" dirty="0" smtClean="0"/>
              <a:t>做</a:t>
            </a:r>
            <a:r>
              <a:rPr lang="en-US" altLang="zh-TW" dirty="0" smtClean="0"/>
              <a:t>binding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13909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 Protection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4417" y="1484312"/>
            <a:ext cx="10972800" cy="504103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TW" dirty="0" smtClean="0"/>
              <a:t>(Relocation </a:t>
            </a:r>
            <a:r>
              <a:rPr lang="en-US" altLang="zh-TW" dirty="0"/>
              <a:t>+ Limit)</a:t>
            </a:r>
            <a:r>
              <a:rPr lang="zh-TW" altLang="en-US" dirty="0"/>
              <a:t> </a:t>
            </a:r>
            <a:r>
              <a:rPr lang="en-US" altLang="zh-TW" dirty="0" smtClean="0"/>
              <a:t>scheme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TW" dirty="0" smtClean="0"/>
              <a:t>Assume</a:t>
            </a:r>
            <a:r>
              <a:rPr lang="en-US" altLang="zh-TW" sz="3000" dirty="0" smtClean="0"/>
              <a:t> (see the following slide)</a:t>
            </a:r>
            <a:r>
              <a:rPr lang="en-US" altLang="zh-TW" dirty="0" smtClean="0"/>
              <a:t> 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TW" dirty="0" smtClean="0"/>
              <a:t>The program’s starting address generated by compiler is </a:t>
            </a:r>
            <a:r>
              <a:rPr lang="en-US" altLang="zh-TW" b="1" dirty="0" smtClean="0"/>
              <a:t>0x0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TW" altLang="en-US" dirty="0"/>
              <a:t>程式大小</a:t>
            </a:r>
            <a:r>
              <a:rPr lang="zh-TW" altLang="en-US" dirty="0" smtClean="0"/>
              <a:t>為</a:t>
            </a:r>
            <a:r>
              <a:rPr lang="en-US" altLang="zh-TW" dirty="0" smtClean="0"/>
              <a:t>0x1600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TW" altLang="en-US" dirty="0"/>
              <a:t>程式被載入到</a:t>
            </a:r>
            <a:r>
              <a:rPr lang="zh-TW" altLang="en-US" dirty="0" smtClean="0"/>
              <a:t>記憶體起始位置為</a:t>
            </a:r>
            <a:r>
              <a:rPr lang="en-US" altLang="zh-TW" dirty="0" smtClean="0"/>
              <a:t>0x2000</a:t>
            </a:r>
            <a:r>
              <a:rPr lang="zh-TW" altLang="en-US" dirty="0" smtClean="0"/>
              <a:t>的位址</a:t>
            </a:r>
            <a:endParaRPr lang="en-US" altLang="zh-TW" dirty="0" smtClean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TW" b="1" dirty="0" smtClean="0"/>
              <a:t>Relocation register: </a:t>
            </a:r>
            <a:r>
              <a:rPr lang="en-US" altLang="zh-TW" dirty="0"/>
              <a:t>contains value of smallest </a:t>
            </a:r>
            <a:r>
              <a:rPr lang="en-US" altLang="zh-TW" dirty="0" smtClean="0"/>
              <a:t>address (0x2000)</a:t>
            </a:r>
            <a:endParaRPr lang="en-US" altLang="zh-TW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TW" b="1" dirty="0"/>
              <a:t>Limit </a:t>
            </a:r>
            <a:r>
              <a:rPr lang="en-US" altLang="zh-TW" b="1" dirty="0" smtClean="0"/>
              <a:t>register: </a:t>
            </a:r>
            <a:r>
              <a:rPr lang="en-US" altLang="zh-TW" dirty="0"/>
              <a:t>contains range of </a:t>
            </a:r>
            <a:r>
              <a:rPr lang="en-US" altLang="zh-TW" dirty="0" smtClean="0"/>
              <a:t>addresses (0x1600)</a:t>
            </a:r>
            <a:endParaRPr lang="en-US" altLang="zh-TW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TW" b="1" dirty="0">
                <a:solidFill>
                  <a:srgbClr val="FF0000"/>
                </a:solidFill>
              </a:rPr>
              <a:t>MMU</a:t>
            </a:r>
            <a:r>
              <a:rPr lang="en-US" altLang="zh-TW" dirty="0"/>
              <a:t> 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TW" b="1" dirty="0">
                <a:solidFill>
                  <a:srgbClr val="FF0000"/>
                </a:solidFill>
              </a:rPr>
              <a:t>Memory protection: </a:t>
            </a:r>
            <a:r>
              <a:rPr lang="en-US" altLang="zh-TW" dirty="0" smtClean="0"/>
              <a:t>By </a:t>
            </a:r>
            <a:r>
              <a:rPr lang="en-US" altLang="zh-TW" b="1" dirty="0" smtClean="0"/>
              <a:t>limit</a:t>
            </a:r>
            <a:r>
              <a:rPr lang="en-US" altLang="zh-TW" dirty="0" smtClean="0"/>
              <a:t> register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TW" b="1" dirty="0" smtClean="0">
                <a:solidFill>
                  <a:srgbClr val="FF0000"/>
                </a:solidFill>
              </a:rPr>
              <a:t>Run-time binding: </a:t>
            </a:r>
            <a:r>
              <a:rPr lang="en-US" altLang="zh-TW" dirty="0" smtClean="0"/>
              <a:t>maps </a:t>
            </a:r>
            <a:r>
              <a:rPr lang="en-US" altLang="zh-TW" b="1" dirty="0" smtClean="0"/>
              <a:t>logical address </a:t>
            </a:r>
            <a:r>
              <a:rPr lang="en-US" altLang="zh-TW" b="1" dirty="0" smtClean="0">
                <a:solidFill>
                  <a:srgbClr val="FF0000"/>
                </a:solidFill>
              </a:rPr>
              <a:t>dynamically</a:t>
            </a:r>
            <a:r>
              <a:rPr lang="en-US" altLang="zh-TW" dirty="0" smtClean="0"/>
              <a:t> to </a:t>
            </a:r>
            <a:r>
              <a:rPr lang="en-US" altLang="zh-TW" b="1" dirty="0" smtClean="0"/>
              <a:t>physical address</a:t>
            </a: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en-US" altLang="zh-TW" b="1" dirty="0" smtClean="0"/>
              <a:t>Relocation register </a:t>
            </a:r>
            <a:r>
              <a:rPr lang="en-US" altLang="zh-TW" dirty="0" smtClean="0"/>
              <a:t>is added to every address generated by a user process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47877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80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TW" sz="4000" dirty="0"/>
              <a:t>Hardware Support for Relocation and Limit Registers</a:t>
            </a:r>
          </a:p>
        </p:txBody>
      </p:sp>
      <p:pic>
        <p:nvPicPr>
          <p:cNvPr id="11" name="Picture 4" descr="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25" y="2473500"/>
            <a:ext cx="7717383" cy="3635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075360" y="2271551"/>
            <a:ext cx="4680520" cy="3837439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6925877" y="1848857"/>
            <a:ext cx="92365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FF3300"/>
                </a:solidFill>
                <a:latin typeface="Calibri" panose="020F0502020204030204" pitchFamily="34" charset="0"/>
              </a:rPr>
              <a:t>MMU</a:t>
            </a:r>
          </a:p>
        </p:txBody>
      </p:sp>
      <p:sp>
        <p:nvSpPr>
          <p:cNvPr id="9220" name="Text Box 6"/>
          <p:cNvSpPr txBox="1">
            <a:spLocks noChangeArrowheads="1"/>
          </p:cNvSpPr>
          <p:nvPr/>
        </p:nvSpPr>
        <p:spPr bwMode="auto">
          <a:xfrm>
            <a:off x="3851225" y="1394952"/>
            <a:ext cx="3670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FF3300"/>
                </a:solidFill>
                <a:latin typeface="Calibri" panose="020F0502020204030204" pitchFamily="34" charset="0"/>
              </a:rPr>
              <a:t>On each memory access ---</a:t>
            </a:r>
          </a:p>
        </p:txBody>
      </p:sp>
      <p:grpSp>
        <p:nvGrpSpPr>
          <p:cNvPr id="23" name="Group 3"/>
          <p:cNvGrpSpPr>
            <a:grpSpLocks/>
          </p:cNvGrpSpPr>
          <p:nvPr/>
        </p:nvGrpSpPr>
        <p:grpSpPr bwMode="auto">
          <a:xfrm>
            <a:off x="335360" y="1582615"/>
            <a:ext cx="2703859" cy="4327525"/>
            <a:chOff x="3440" y="1133"/>
            <a:chExt cx="2093" cy="2726"/>
          </a:xfrm>
        </p:grpSpPr>
        <p:sp>
          <p:nvSpPr>
            <p:cNvPr id="24" name="Rectangle 4"/>
            <p:cNvSpPr>
              <a:spLocks noChangeArrowheads="1"/>
            </p:cNvSpPr>
            <p:nvPr/>
          </p:nvSpPr>
          <p:spPr bwMode="auto">
            <a:xfrm>
              <a:off x="3765" y="1610"/>
              <a:ext cx="1160" cy="203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25" name="Text Box 5"/>
            <p:cNvSpPr txBox="1">
              <a:spLocks noChangeArrowheads="1"/>
            </p:cNvSpPr>
            <p:nvPr/>
          </p:nvSpPr>
          <p:spPr bwMode="auto">
            <a:xfrm>
              <a:off x="3656" y="1133"/>
              <a:ext cx="1427" cy="40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 dirty="0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  <a:t>Relative </a:t>
              </a:r>
              <a:r>
                <a:rPr lang="en-US" altLang="zh-TW" sz="1800" b="1" dirty="0" smtClean="0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  <a:t>(Relocatable)</a:t>
              </a:r>
            </a:p>
            <a:p>
              <a:r>
                <a:rPr lang="en-US" altLang="zh-TW" sz="1800" b="1" dirty="0" smtClean="0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  <a:t>Addresses</a:t>
              </a:r>
              <a:endParaRPr lang="en-US" altLang="zh-TW" sz="1800" b="1" dirty="0">
                <a:solidFill>
                  <a:srgbClr val="FF3300"/>
                </a:solidFill>
                <a:latin typeface="Calibri" panose="020F0502020204030204" pitchFamily="34" charset="0"/>
                <a:ea typeface="標楷體" pitchFamily="65" charset="-120"/>
              </a:endParaRPr>
            </a:p>
          </p:txBody>
        </p:sp>
        <p:sp>
          <p:nvSpPr>
            <p:cNvPr id="26" name="Text Box 6"/>
            <p:cNvSpPr txBox="1">
              <a:spLocks noChangeArrowheads="1"/>
            </p:cNvSpPr>
            <p:nvPr/>
          </p:nvSpPr>
          <p:spPr bwMode="auto">
            <a:xfrm>
              <a:off x="3573" y="1532"/>
              <a:ext cx="178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>
                  <a:latin typeface="Calibri" panose="020F0502020204030204" pitchFamily="34" charset="0"/>
                  <a:ea typeface="標楷體" pitchFamily="65" charset="-120"/>
                </a:rPr>
                <a:t>0</a:t>
              </a:r>
            </a:p>
          </p:txBody>
        </p:sp>
        <p:sp>
          <p:nvSpPr>
            <p:cNvPr id="27" name="Text Box 7"/>
            <p:cNvSpPr txBox="1">
              <a:spLocks noChangeArrowheads="1"/>
            </p:cNvSpPr>
            <p:nvPr/>
          </p:nvSpPr>
          <p:spPr bwMode="auto">
            <a:xfrm>
              <a:off x="3762" y="1985"/>
              <a:ext cx="610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>
                  <a:latin typeface="Calibri" panose="020F0502020204030204" pitchFamily="34" charset="0"/>
                  <a:ea typeface="標楷體" pitchFamily="65" charset="-120"/>
                </a:rPr>
                <a:t>JUMP  400</a:t>
              </a:r>
            </a:p>
          </p:txBody>
        </p:sp>
        <p:sp>
          <p:nvSpPr>
            <p:cNvPr id="28" name="Text Box 8"/>
            <p:cNvSpPr txBox="1">
              <a:spLocks noChangeArrowheads="1"/>
            </p:cNvSpPr>
            <p:nvPr/>
          </p:nvSpPr>
          <p:spPr bwMode="auto">
            <a:xfrm>
              <a:off x="3762" y="2522"/>
              <a:ext cx="65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>
                  <a:latin typeface="Calibri" panose="020F0502020204030204" pitchFamily="34" charset="0"/>
                  <a:ea typeface="標楷體" pitchFamily="65" charset="-120"/>
                </a:rPr>
                <a:t>LOAD  1200</a:t>
              </a:r>
            </a:p>
          </p:txBody>
        </p:sp>
        <p:sp>
          <p:nvSpPr>
            <p:cNvPr id="29" name="Line 9"/>
            <p:cNvSpPr>
              <a:spLocks noChangeShapeType="1"/>
            </p:cNvSpPr>
            <p:nvPr/>
          </p:nvSpPr>
          <p:spPr bwMode="auto">
            <a:xfrm>
              <a:off x="3765" y="2817"/>
              <a:ext cx="11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30" name="Text Box 10"/>
            <p:cNvSpPr txBox="1">
              <a:spLocks noChangeArrowheads="1"/>
            </p:cNvSpPr>
            <p:nvPr/>
          </p:nvSpPr>
          <p:spPr bwMode="auto">
            <a:xfrm>
              <a:off x="3462" y="2207"/>
              <a:ext cx="289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>
                  <a:latin typeface="Calibri" panose="020F0502020204030204" pitchFamily="34" charset="0"/>
                  <a:ea typeface="標楷體" pitchFamily="65" charset="-120"/>
                </a:rPr>
                <a:t>400</a:t>
              </a:r>
            </a:p>
          </p:txBody>
        </p:sp>
        <p:sp>
          <p:nvSpPr>
            <p:cNvPr id="31" name="Text Box 11"/>
            <p:cNvSpPr txBox="1">
              <a:spLocks noChangeArrowheads="1"/>
            </p:cNvSpPr>
            <p:nvPr/>
          </p:nvSpPr>
          <p:spPr bwMode="auto">
            <a:xfrm>
              <a:off x="3440" y="3210"/>
              <a:ext cx="347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>
                  <a:latin typeface="Calibri" panose="020F0502020204030204" pitchFamily="34" charset="0"/>
                  <a:ea typeface="標楷體" pitchFamily="65" charset="-120"/>
                </a:rPr>
                <a:t>1200</a:t>
              </a:r>
            </a:p>
          </p:txBody>
        </p:sp>
        <p:sp>
          <p:nvSpPr>
            <p:cNvPr id="32" name="Freeform 12"/>
            <p:cNvSpPr>
              <a:spLocks/>
            </p:cNvSpPr>
            <p:nvPr/>
          </p:nvSpPr>
          <p:spPr bwMode="auto">
            <a:xfrm>
              <a:off x="4830" y="2067"/>
              <a:ext cx="703" cy="237"/>
            </a:xfrm>
            <a:custGeom>
              <a:avLst/>
              <a:gdLst>
                <a:gd name="T0" fmla="*/ 0 w 703"/>
                <a:gd name="T1" fmla="*/ 0 h 237"/>
                <a:gd name="T2" fmla="*/ 703 w 703"/>
                <a:gd name="T3" fmla="*/ 0 h 237"/>
                <a:gd name="T4" fmla="*/ 703 w 703"/>
                <a:gd name="T5" fmla="*/ 237 h 237"/>
                <a:gd name="T6" fmla="*/ 174 w 703"/>
                <a:gd name="T7" fmla="*/ 237 h 2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3"/>
                <a:gd name="T13" fmla="*/ 0 h 237"/>
                <a:gd name="T14" fmla="*/ 703 w 703"/>
                <a:gd name="T15" fmla="*/ 237 h 2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3" h="237">
                  <a:moveTo>
                    <a:pt x="0" y="0"/>
                  </a:moveTo>
                  <a:lnTo>
                    <a:pt x="703" y="0"/>
                  </a:lnTo>
                  <a:lnTo>
                    <a:pt x="703" y="237"/>
                  </a:lnTo>
                  <a:lnTo>
                    <a:pt x="174" y="237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33" name="Freeform 13"/>
            <p:cNvSpPr>
              <a:spLocks/>
            </p:cNvSpPr>
            <p:nvPr/>
          </p:nvSpPr>
          <p:spPr bwMode="auto">
            <a:xfrm>
              <a:off x="4830" y="2635"/>
              <a:ext cx="703" cy="647"/>
            </a:xfrm>
            <a:custGeom>
              <a:avLst/>
              <a:gdLst>
                <a:gd name="T0" fmla="*/ 0 w 703"/>
                <a:gd name="T1" fmla="*/ 0 h 237"/>
                <a:gd name="T2" fmla="*/ 703 w 703"/>
                <a:gd name="T3" fmla="*/ 0 h 237"/>
                <a:gd name="T4" fmla="*/ 703 w 703"/>
                <a:gd name="T5" fmla="*/ 1766 h 237"/>
                <a:gd name="T6" fmla="*/ 174 w 703"/>
                <a:gd name="T7" fmla="*/ 1766 h 2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3"/>
                <a:gd name="T13" fmla="*/ 0 h 237"/>
                <a:gd name="T14" fmla="*/ 703 w 703"/>
                <a:gd name="T15" fmla="*/ 237 h 2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3" h="237">
                  <a:moveTo>
                    <a:pt x="0" y="0"/>
                  </a:moveTo>
                  <a:lnTo>
                    <a:pt x="703" y="0"/>
                  </a:lnTo>
                  <a:lnTo>
                    <a:pt x="703" y="237"/>
                  </a:lnTo>
                  <a:lnTo>
                    <a:pt x="174" y="237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34" name="Text Box 14"/>
            <p:cNvSpPr txBox="1">
              <a:spLocks noChangeArrowheads="1"/>
            </p:cNvSpPr>
            <p:nvPr/>
          </p:nvSpPr>
          <p:spPr bwMode="auto">
            <a:xfrm>
              <a:off x="3667" y="3626"/>
              <a:ext cx="1397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>
                  <a:latin typeface="Calibri" panose="020F0502020204030204" pitchFamily="34" charset="0"/>
                  <a:ea typeface="標楷體" pitchFamily="65" charset="-120"/>
                </a:rPr>
                <a:t>Relative Load Module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263352" y="1484784"/>
            <a:ext cx="3024336" cy="46085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/>
          <p:cNvSpPr/>
          <p:nvPr/>
        </p:nvSpPr>
        <p:spPr>
          <a:xfrm>
            <a:off x="3696929" y="1379926"/>
            <a:ext cx="8087702" cy="49293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335360" y="5425281"/>
            <a:ext cx="550151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400" b="1" dirty="0" smtClean="0">
                <a:latin typeface="Calibri" panose="020F0502020204030204" pitchFamily="34" charset="0"/>
                <a:ea typeface="標楷體" pitchFamily="65" charset="-120"/>
              </a:rPr>
              <a:t>1600</a:t>
            </a:r>
            <a:endParaRPr lang="en-US" altLang="zh-TW" sz="1400" b="1" dirty="0">
              <a:latin typeface="Calibri" panose="020F0502020204030204" pitchFamily="34" charset="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3200" dirty="0"/>
              <a:t>Q: </a:t>
            </a:r>
            <a:r>
              <a:rPr lang="en-US" altLang="zh-TW" sz="3200" dirty="0" smtClean="0"/>
              <a:t>Relocation (or base), and Limit </a:t>
            </a:r>
            <a:r>
              <a:rPr lang="en-US" altLang="zh-TW" sz="3200" dirty="0"/>
              <a:t>registers can only be loaded (by </a:t>
            </a:r>
            <a:r>
              <a:rPr lang="en-US" altLang="zh-TW" sz="3200" dirty="0">
                <a:solidFill>
                  <a:srgbClr val="FF0000"/>
                </a:solidFill>
              </a:rPr>
              <a:t>privileged instructions</a:t>
            </a:r>
            <a:r>
              <a:rPr lang="en-US" altLang="zh-TW" sz="3200" dirty="0"/>
              <a:t>) by the OS. Why</a:t>
            </a:r>
            <a:r>
              <a:rPr lang="en-US" altLang="zh-TW" sz="3200" dirty="0" smtClean="0"/>
              <a:t>?</a:t>
            </a:r>
            <a:endParaRPr lang="zh-TW" altLang="en-US" sz="32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modifying these two registers are privilege instructions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24640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3600" dirty="0" smtClean="0"/>
              <a:t>當</a:t>
            </a:r>
            <a:r>
              <a:rPr lang="en-US" altLang="zh-TW" sz="3600" dirty="0" smtClean="0">
                <a:solidFill>
                  <a:srgbClr val="FF0000"/>
                </a:solidFill>
              </a:rPr>
              <a:t>process</a:t>
            </a:r>
            <a:r>
              <a:rPr lang="en-US" altLang="zh-TW" sz="3600" dirty="0" smtClean="0"/>
              <a:t> </a:t>
            </a:r>
            <a:r>
              <a:rPr lang="en-US" altLang="zh-TW" sz="3600" dirty="0">
                <a:solidFill>
                  <a:srgbClr val="FF0000"/>
                </a:solidFill>
              </a:rPr>
              <a:t>context </a:t>
            </a:r>
            <a:r>
              <a:rPr lang="en-US" altLang="zh-TW" sz="3600" dirty="0" smtClean="0">
                <a:solidFill>
                  <a:srgbClr val="FF0000"/>
                </a:solidFill>
              </a:rPr>
              <a:t>switch, </a:t>
            </a:r>
            <a:r>
              <a:rPr lang="en-US" altLang="zh-TW" sz="3600" dirty="0" smtClean="0"/>
              <a:t>OS </a:t>
            </a:r>
            <a:r>
              <a:rPr lang="zh-TW" altLang="en-US" sz="3600" dirty="0" smtClean="0"/>
              <a:t>必須重新載入</a:t>
            </a:r>
            <a:r>
              <a:rPr lang="en-US" altLang="zh-TW" sz="3600" dirty="0" smtClean="0"/>
              <a:t> relocation (or base) </a:t>
            </a:r>
            <a:r>
              <a:rPr lang="en-US" altLang="zh-TW" sz="3600" dirty="0"/>
              <a:t>and limit registers </a:t>
            </a:r>
            <a:r>
              <a:rPr lang="zh-TW" altLang="en-US" sz="3600" dirty="0" smtClean="0"/>
              <a:t>的值</a:t>
            </a:r>
            <a:r>
              <a:rPr lang="en-US" altLang="zh-TW" sz="3600" dirty="0" smtClean="0"/>
              <a:t>.</a:t>
            </a:r>
            <a:endParaRPr lang="zh-TW" altLang="en-US" sz="36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See </a:t>
            </a:r>
            <a:r>
              <a:rPr lang="en-US" altLang="zh-TW" dirty="0"/>
              <a:t>the </a:t>
            </a:r>
            <a:r>
              <a:rPr lang="en-US" altLang="zh-TW" dirty="0" smtClean="0"/>
              <a:t>following slide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6770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 dirty="0"/>
              <a:t>CPU Switch From Process to Process</a:t>
            </a:r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7568" y="1933259"/>
            <a:ext cx="7416800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4428466" y="6237312"/>
            <a:ext cx="9780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i="1" dirty="0">
                <a:latin typeface="Calibri" panose="020F0502020204030204" pitchFamily="34" charset="0"/>
              </a:rPr>
              <a:t>process</a:t>
            </a:r>
            <a:r>
              <a:rPr lang="en-US" altLang="zh-TW" sz="1800" b="1" i="1" baseline="-25000" dirty="0">
                <a:latin typeface="Calibri" panose="020F0502020204030204" pitchFamily="34" charset="0"/>
              </a:rPr>
              <a:t>0</a:t>
            </a:r>
            <a:endParaRPr lang="en-US" altLang="zh-TW" sz="1800" b="1" i="1" dirty="0">
              <a:latin typeface="Calibri" panose="020F0502020204030204" pitchFamily="34" charset="0"/>
            </a:endParaRP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7731622" y="6237312"/>
            <a:ext cx="9780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i="1" dirty="0">
                <a:latin typeface="Calibri" panose="020F0502020204030204" pitchFamily="34" charset="0"/>
              </a:rPr>
              <a:t>process</a:t>
            </a:r>
            <a:r>
              <a:rPr lang="en-US" altLang="zh-TW" sz="1800" b="1" i="1" baseline="-25000" dirty="0"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37894" name="Text Box 6"/>
          <p:cNvSpPr txBox="1">
            <a:spLocks noChangeArrowheads="1"/>
          </p:cNvSpPr>
          <p:nvPr/>
        </p:nvSpPr>
        <p:spPr bwMode="auto">
          <a:xfrm>
            <a:off x="5064153" y="2060848"/>
            <a:ext cx="68480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i="1" dirty="0">
                <a:latin typeface="Calibri" panose="020F0502020204030204" pitchFamily="34" charset="0"/>
              </a:rPr>
              <a:t>PCB</a:t>
            </a:r>
            <a:r>
              <a:rPr lang="en-US" altLang="zh-TW" sz="2000" b="1" i="1" baseline="-25000" dirty="0">
                <a:latin typeface="Calibri" panose="020F0502020204030204" pitchFamily="34" charset="0"/>
              </a:rPr>
              <a:t>0</a:t>
            </a:r>
            <a:endParaRPr lang="en-US" altLang="zh-TW" sz="2000" b="1" i="1" dirty="0">
              <a:latin typeface="Calibri" panose="020F0502020204030204" pitchFamily="34" charset="0"/>
            </a:endParaRPr>
          </a:p>
        </p:txBody>
      </p:sp>
      <p:sp>
        <p:nvSpPr>
          <p:cNvPr id="37895" name="Text Box 7"/>
          <p:cNvSpPr txBox="1">
            <a:spLocks noChangeArrowheads="1"/>
          </p:cNvSpPr>
          <p:nvPr/>
        </p:nvSpPr>
        <p:spPr bwMode="auto">
          <a:xfrm>
            <a:off x="7715847" y="2060848"/>
            <a:ext cx="68480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i="1" dirty="0">
                <a:latin typeface="Calibri" panose="020F0502020204030204" pitchFamily="34" charset="0"/>
              </a:rPr>
              <a:t>PCB</a:t>
            </a:r>
            <a:r>
              <a:rPr lang="en-US" altLang="zh-TW" sz="2000" b="1" i="1" baseline="-25000" dirty="0">
                <a:latin typeface="Calibri" panose="020F0502020204030204" pitchFamily="34" charset="0"/>
              </a:rPr>
              <a:t>1</a:t>
            </a:r>
            <a:endParaRPr lang="en-US" altLang="zh-TW" sz="2000" b="1" i="1" dirty="0">
              <a:latin typeface="Calibri" panose="020F0502020204030204" pitchFamily="34" charset="0"/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 cstate="print"/>
          <a:srcRect l="16727" t="876" r="16431" b="876"/>
          <a:stretch>
            <a:fillRect/>
          </a:stretch>
        </p:blipFill>
        <p:spPr bwMode="auto">
          <a:xfrm>
            <a:off x="1550328" y="1241872"/>
            <a:ext cx="2160240" cy="3312368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10" name="圓角矩形 9"/>
          <p:cNvSpPr/>
          <p:nvPr/>
        </p:nvSpPr>
        <p:spPr>
          <a:xfrm>
            <a:off x="2927648" y="2753137"/>
            <a:ext cx="720080" cy="31582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圓角矩形 1"/>
          <p:cNvSpPr/>
          <p:nvPr/>
        </p:nvSpPr>
        <p:spPr>
          <a:xfrm>
            <a:off x="3008998" y="2658120"/>
            <a:ext cx="782920" cy="28803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schemeClr val="tx1"/>
                </a:solidFill>
                <a:latin typeface="Calibri" panose="020F0502020204030204" pitchFamily="34" charset="0"/>
              </a:rPr>
              <a:t>relocation</a:t>
            </a:r>
            <a:endParaRPr lang="zh-TW" altLang="en-US" sz="105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圓角矩形 10"/>
          <p:cNvSpPr/>
          <p:nvPr/>
        </p:nvSpPr>
        <p:spPr>
          <a:xfrm>
            <a:off x="3498902" y="4890676"/>
            <a:ext cx="1859128" cy="33793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solidFill>
                  <a:srgbClr val="FF0000"/>
                </a:solidFill>
                <a:latin typeface="Calibri" panose="020F0502020204030204" pitchFamily="34" charset="0"/>
              </a:rPr>
              <a:t>relocation (300040)</a:t>
            </a:r>
          </a:p>
          <a:p>
            <a:pPr algn="ctr"/>
            <a:r>
              <a:rPr lang="en-US" altLang="zh-TW" sz="1600" b="1" dirty="0">
                <a:solidFill>
                  <a:srgbClr val="FF0000"/>
                </a:solidFill>
                <a:latin typeface="Calibri" panose="020F0502020204030204" pitchFamily="34" charset="0"/>
              </a:rPr>
              <a:t>Limit (120900)</a:t>
            </a:r>
            <a:endParaRPr lang="zh-TW" altLang="en-US" sz="16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圓角矩形 11"/>
          <p:cNvSpPr/>
          <p:nvPr/>
        </p:nvSpPr>
        <p:spPr>
          <a:xfrm>
            <a:off x="7896200" y="4866275"/>
            <a:ext cx="1859128" cy="33793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solidFill>
                  <a:srgbClr val="FF0000"/>
                </a:solidFill>
                <a:latin typeface="Calibri" panose="020F0502020204030204" pitchFamily="34" charset="0"/>
              </a:rPr>
              <a:t>relocation (420940)</a:t>
            </a:r>
          </a:p>
          <a:p>
            <a:pPr algn="ctr"/>
            <a:r>
              <a:rPr lang="en-US" altLang="zh-TW" sz="1600" b="1" dirty="0">
                <a:solidFill>
                  <a:srgbClr val="FF0000"/>
                </a:solidFill>
                <a:latin typeface="Calibri" panose="020F0502020204030204" pitchFamily="34" charset="0"/>
              </a:rPr>
              <a:t>Limit (459060)</a:t>
            </a:r>
            <a:endParaRPr lang="zh-TW" altLang="en-US" sz="16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3600" dirty="0" smtClean="0"/>
              <a:t>Q: </a:t>
            </a:r>
            <a:r>
              <a:rPr lang="zh-TW" altLang="en-US" sz="3600" dirty="0" smtClean="0"/>
              <a:t>當</a:t>
            </a:r>
            <a:r>
              <a:rPr lang="en-US" altLang="zh-TW" sz="3600" dirty="0" smtClean="0">
                <a:solidFill>
                  <a:srgbClr val="FF0000"/>
                </a:solidFill>
              </a:rPr>
              <a:t>thread</a:t>
            </a:r>
            <a:r>
              <a:rPr lang="en-US" altLang="zh-TW" sz="3600" dirty="0" smtClean="0"/>
              <a:t> </a:t>
            </a:r>
            <a:r>
              <a:rPr lang="en-US" altLang="zh-TW" sz="3600" dirty="0" smtClean="0">
                <a:solidFill>
                  <a:srgbClr val="FF0000"/>
                </a:solidFill>
              </a:rPr>
              <a:t>context switch, </a:t>
            </a:r>
            <a:r>
              <a:rPr lang="en-US" altLang="zh-TW" sz="3600" dirty="0" smtClean="0"/>
              <a:t>OS</a:t>
            </a:r>
            <a:r>
              <a:rPr lang="zh-TW" altLang="en-US" sz="3600" dirty="0" smtClean="0"/>
              <a:t>是否也必須重新載入</a:t>
            </a:r>
            <a:r>
              <a:rPr lang="en-US" altLang="zh-TW" sz="3600" dirty="0" smtClean="0"/>
              <a:t> relocation (or base) and limit registers </a:t>
            </a:r>
            <a:r>
              <a:rPr lang="zh-TW" altLang="en-US" sz="3600" dirty="0" smtClean="0"/>
              <a:t>的值呢</a:t>
            </a:r>
            <a:r>
              <a:rPr lang="en-US" altLang="zh-TW" sz="3600" dirty="0" smtClean="0"/>
              <a:t>? Why?</a:t>
            </a:r>
            <a:endParaRPr lang="zh-TW" altLang="en-US" sz="36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1938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/>
              <a:t>Solution : Multiple </a:t>
            </a:r>
            <a:r>
              <a:rPr lang="en-US" altLang="zh-TW" sz="4000" dirty="0">
                <a:solidFill>
                  <a:srgbClr val="FF0000"/>
                </a:solidFill>
              </a:rPr>
              <a:t>Threads</a:t>
            </a:r>
            <a:r>
              <a:rPr lang="en-US" altLang="zh-TW" sz="4000" dirty="0"/>
              <a:t> Solution</a:t>
            </a:r>
            <a:endParaRPr lang="zh-TW" altLang="en-US" sz="4000" dirty="0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6116627" y="1988245"/>
            <a:ext cx="1655763" cy="40324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239867" y="1556197"/>
            <a:ext cx="1584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memory</a:t>
            </a:r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6116626" y="2277170"/>
            <a:ext cx="1657350" cy="1295400"/>
            <a:chOff x="1066" y="1253"/>
            <a:chExt cx="1044" cy="816"/>
          </a:xfrm>
        </p:grpSpPr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1066" y="1253"/>
              <a:ext cx="1044" cy="27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code</a:t>
              </a:r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1066" y="1525"/>
              <a:ext cx="1044" cy="272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data</a:t>
              </a:r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1066" y="1797"/>
              <a:ext cx="1044" cy="272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TW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新細明體" pitchFamily="18" charset="-120"/>
                  <a:cs typeface="+mn-cs"/>
                </a:rPr>
                <a:t>stack</a:t>
              </a:r>
              <a:endPara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endParaRPr>
            </a:p>
          </p:txBody>
        </p:sp>
      </p:grpSp>
      <p:sp>
        <p:nvSpPr>
          <p:cNvPr id="9" name="流程圖: 替代處理程序 1"/>
          <p:cNvSpPr/>
          <p:nvPr/>
        </p:nvSpPr>
        <p:spPr>
          <a:xfrm>
            <a:off x="4100402" y="2563738"/>
            <a:ext cx="1202432" cy="612648"/>
          </a:xfrm>
          <a:prstGeom prst="flowChartAlternateProcess">
            <a:avLst/>
          </a:prstGeom>
          <a:solidFill>
            <a:srgbClr val="BBE0E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Thread 1</a:t>
            </a:r>
            <a:endParaRPr kumimoji="1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alibri" panose="020F0502020204030204" pitchFamily="34" charset="0"/>
              <a:ea typeface="新細明體"/>
              <a:cs typeface="+mn-cs"/>
            </a:endParaRPr>
          </a:p>
        </p:txBody>
      </p:sp>
      <p:sp>
        <p:nvSpPr>
          <p:cNvPr id="10" name="流程圖: 替代處理程序 30"/>
          <p:cNvSpPr/>
          <p:nvPr/>
        </p:nvSpPr>
        <p:spPr>
          <a:xfrm>
            <a:off x="4100402" y="3536432"/>
            <a:ext cx="1202432" cy="612648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b="1" dirty="0" smtClean="0">
                <a:solidFill>
                  <a:srgbClr val="3333FF"/>
                </a:solidFill>
                <a:latin typeface="Calibri" panose="020F0502020204030204" pitchFamily="34" charset="0"/>
                <a:ea typeface="新細明體"/>
              </a:rPr>
              <a:t>Thread</a:t>
            </a:r>
            <a:r>
              <a:rPr kumimoji="1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 </a:t>
            </a: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2</a:t>
            </a:r>
            <a:endParaRPr kumimoji="1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alibri" panose="020F0502020204030204" pitchFamily="34" charset="0"/>
              <a:ea typeface="新細明體"/>
              <a:cs typeface="+mn-cs"/>
            </a:endParaRPr>
          </a:p>
        </p:txBody>
      </p:sp>
      <p:sp>
        <p:nvSpPr>
          <p:cNvPr id="11" name="流程圖: 替代處理程序 31"/>
          <p:cNvSpPr/>
          <p:nvPr/>
        </p:nvSpPr>
        <p:spPr>
          <a:xfrm>
            <a:off x="4100402" y="4472536"/>
            <a:ext cx="1202432" cy="612648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Thread </a:t>
            </a: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3</a:t>
            </a:r>
            <a:endParaRPr kumimoji="1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alibri" panose="020F0502020204030204" pitchFamily="34" charset="0"/>
              <a:ea typeface="新細明體"/>
              <a:cs typeface="+mn-cs"/>
            </a:endParaRPr>
          </a:p>
        </p:txBody>
      </p:sp>
      <p:sp>
        <p:nvSpPr>
          <p:cNvPr id="12" name="流程圖: 替代處理程序 32"/>
          <p:cNvSpPr/>
          <p:nvPr/>
        </p:nvSpPr>
        <p:spPr>
          <a:xfrm>
            <a:off x="4100402" y="5480648"/>
            <a:ext cx="1202432" cy="612648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Thread </a:t>
            </a: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4</a:t>
            </a:r>
            <a:endParaRPr kumimoji="1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alibri" panose="020F0502020204030204" pitchFamily="34" charset="0"/>
              <a:ea typeface="新細明體"/>
              <a:cs typeface="+mn-cs"/>
            </a:endParaRPr>
          </a:p>
        </p:txBody>
      </p:sp>
      <p:cxnSp>
        <p:nvCxnSpPr>
          <p:cNvPr id="13" name="直線單箭頭接點 12"/>
          <p:cNvCxnSpPr>
            <a:stCxn id="9" idx="3"/>
            <a:endCxn id="6" idx="1"/>
          </p:cNvCxnSpPr>
          <p:nvPr/>
        </p:nvCxnSpPr>
        <p:spPr>
          <a:xfrm flipV="1">
            <a:off x="5302834" y="2493070"/>
            <a:ext cx="813792" cy="376992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44"/>
          <p:cNvSpPr>
            <a:spLocks noChangeArrowheads="1"/>
          </p:cNvSpPr>
          <p:nvPr/>
        </p:nvSpPr>
        <p:spPr bwMode="auto">
          <a:xfrm>
            <a:off x="6115460" y="3572570"/>
            <a:ext cx="1657350" cy="431800"/>
          </a:xfrm>
          <a:prstGeom prst="rect">
            <a:avLst/>
          </a:prstGeom>
          <a:solidFill>
            <a:srgbClr val="CC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stack</a:t>
            </a:r>
          </a:p>
        </p:txBody>
      </p:sp>
      <p:cxnSp>
        <p:nvCxnSpPr>
          <p:cNvPr id="19" name="直線單箭頭接點 18"/>
          <p:cNvCxnSpPr/>
          <p:nvPr/>
        </p:nvCxnSpPr>
        <p:spPr>
          <a:xfrm flipV="1">
            <a:off x="5335604" y="2657897"/>
            <a:ext cx="711819" cy="1211140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5323434" y="2891920"/>
            <a:ext cx="723988" cy="2003987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V="1">
            <a:off x="5344034" y="3096367"/>
            <a:ext cx="703388" cy="2757060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44"/>
          <p:cNvSpPr>
            <a:spLocks noChangeArrowheads="1"/>
          </p:cNvSpPr>
          <p:nvPr/>
        </p:nvSpPr>
        <p:spPr bwMode="auto">
          <a:xfrm>
            <a:off x="6115039" y="4000931"/>
            <a:ext cx="1657350" cy="431800"/>
          </a:xfrm>
          <a:prstGeom prst="rect">
            <a:avLst/>
          </a:prstGeom>
          <a:solidFill>
            <a:srgbClr val="CC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stack</a:t>
            </a:r>
          </a:p>
        </p:txBody>
      </p:sp>
      <p:sp>
        <p:nvSpPr>
          <p:cNvPr id="25" name="Rectangle 44"/>
          <p:cNvSpPr>
            <a:spLocks noChangeArrowheads="1"/>
          </p:cNvSpPr>
          <p:nvPr/>
        </p:nvSpPr>
        <p:spPr bwMode="auto">
          <a:xfrm>
            <a:off x="6115460" y="4436517"/>
            <a:ext cx="1657350" cy="431800"/>
          </a:xfrm>
          <a:prstGeom prst="rect">
            <a:avLst/>
          </a:prstGeom>
          <a:solidFill>
            <a:srgbClr val="CC66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stack</a:t>
            </a:r>
          </a:p>
        </p:txBody>
      </p:sp>
      <p:cxnSp>
        <p:nvCxnSpPr>
          <p:cNvPr id="26" name="直線單箭頭接點 25"/>
          <p:cNvCxnSpPr>
            <a:endCxn id="18" idx="1"/>
          </p:cNvCxnSpPr>
          <p:nvPr/>
        </p:nvCxnSpPr>
        <p:spPr>
          <a:xfrm flipV="1">
            <a:off x="5335604" y="3788470"/>
            <a:ext cx="779857" cy="80568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endCxn id="24" idx="1"/>
          </p:cNvCxnSpPr>
          <p:nvPr/>
        </p:nvCxnSpPr>
        <p:spPr>
          <a:xfrm flipV="1">
            <a:off x="5313927" y="4216831"/>
            <a:ext cx="801112" cy="634084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endCxn id="25" idx="1"/>
          </p:cNvCxnSpPr>
          <p:nvPr/>
        </p:nvCxnSpPr>
        <p:spPr>
          <a:xfrm flipV="1">
            <a:off x="5317664" y="4652417"/>
            <a:ext cx="797797" cy="1173108"/>
          </a:xfrm>
          <a:prstGeom prst="straightConnector1">
            <a:avLst/>
          </a:prstGeom>
          <a:ln w="7620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流程圖: 程序 28"/>
          <p:cNvSpPr/>
          <p:nvPr/>
        </p:nvSpPr>
        <p:spPr>
          <a:xfrm>
            <a:off x="6047423" y="2204269"/>
            <a:ext cx="1776769" cy="2691638"/>
          </a:xfrm>
          <a:prstGeom prst="flowChartProcess">
            <a:avLst/>
          </a:prstGeom>
          <a:noFill/>
          <a:ln w="38100">
            <a:solidFill>
              <a:srgbClr val="0066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新細明體"/>
              <a:cs typeface="+mn-cs"/>
            </a:endParaRPr>
          </a:p>
        </p:txBody>
      </p:sp>
      <p:sp>
        <p:nvSpPr>
          <p:cNvPr id="30" name="圓角矩形圖說文字 29"/>
          <p:cNvSpPr/>
          <p:nvPr/>
        </p:nvSpPr>
        <p:spPr>
          <a:xfrm>
            <a:off x="4028394" y="1556197"/>
            <a:ext cx="1368152" cy="612648"/>
          </a:xfrm>
          <a:prstGeom prst="wedgeRoundRectCallout">
            <a:avLst>
              <a:gd name="adj1" fmla="val 90558"/>
              <a:gd name="adj2" fmla="val 54208"/>
              <a:gd name="adj3" fmla="val 16667"/>
            </a:avLst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新細明體"/>
                <a:cs typeface="+mn-cs"/>
              </a:rPr>
              <a:t>one process</a:t>
            </a:r>
            <a:endParaRPr kumimoji="1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7191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 animBg="1"/>
      <p:bldP spid="25" grpId="0" animBg="1"/>
      <p:bldP spid="29" grpId="0" animBg="1"/>
      <p:bldP spid="30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4000" dirty="0" smtClean="0"/>
              <a:t>複習</a:t>
            </a:r>
            <a:r>
              <a:rPr lang="en-US" altLang="zh-TW" sz="4000" dirty="0" smtClean="0"/>
              <a:t>:</a:t>
            </a:r>
            <a:r>
              <a:rPr lang="zh-TW" altLang="en-US" sz="4000" dirty="0" smtClean="0"/>
              <a:t> 所以</a:t>
            </a:r>
            <a:r>
              <a:rPr lang="en-US" altLang="zh-TW" sz="4000" dirty="0" smtClean="0"/>
              <a:t>,</a:t>
            </a:r>
            <a:r>
              <a:rPr lang="zh-TW" altLang="en-US" sz="4000" dirty="0" smtClean="0"/>
              <a:t>第四章提到</a:t>
            </a:r>
            <a:r>
              <a:rPr lang="en-US" altLang="zh-TW" sz="4000" dirty="0" smtClean="0"/>
              <a:t>thread context switch overhead</a:t>
            </a:r>
            <a:r>
              <a:rPr lang="zh-TW" altLang="en-US" sz="4000" dirty="0" smtClean="0"/>
              <a:t>小於</a:t>
            </a:r>
            <a:r>
              <a:rPr lang="en-US" altLang="zh-TW" sz="4000" dirty="0" smtClean="0"/>
              <a:t>process context switch overhead</a:t>
            </a:r>
            <a:endParaRPr lang="zh-TW" altLang="en-US" sz="40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dirty="0"/>
              <a:t>後面</a:t>
            </a:r>
            <a:r>
              <a:rPr lang="zh-TW" altLang="en-US" dirty="0" smtClean="0"/>
              <a:t>會</a:t>
            </a:r>
            <a:r>
              <a:rPr lang="zh-TW" altLang="en-US" dirty="0"/>
              <a:t>再看到</a:t>
            </a:r>
          </a:p>
        </p:txBody>
      </p:sp>
    </p:spTree>
    <p:extLst>
      <p:ext uri="{BB962C8B-B14F-4D97-AF65-F5344CB8AC3E}">
        <p14:creationId xmlns:p14="http://schemas.microsoft.com/office/powerpoint/2010/main" val="3870858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/>
          <p:cNvSpPr/>
          <p:nvPr/>
        </p:nvSpPr>
        <p:spPr>
          <a:xfrm>
            <a:off x="5911888" y="1763279"/>
            <a:ext cx="3080388" cy="42315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TW" altLang="en-US" sz="3600" dirty="0" smtClean="0">
                <a:effectLst/>
              </a:rPr>
              <a:t>複習</a:t>
            </a:r>
            <a:r>
              <a:rPr lang="en-US" altLang="zh-TW" sz="3600" dirty="0" smtClean="0">
                <a:effectLst/>
              </a:rPr>
              <a:t>:</a:t>
            </a:r>
            <a:r>
              <a:rPr lang="zh-TW" altLang="en-US" sz="3600" dirty="0" smtClean="0">
                <a:effectLst/>
              </a:rPr>
              <a:t> </a:t>
            </a:r>
            <a:r>
              <a:rPr lang="en-US" altLang="zh-TW" sz="3600" dirty="0" smtClean="0">
                <a:effectLst/>
              </a:rPr>
              <a:t>Context </a:t>
            </a:r>
            <a:r>
              <a:rPr lang="en-US" altLang="zh-TW" sz="3600" dirty="0">
                <a:effectLst/>
              </a:rPr>
              <a:t>Switches between Threads </a:t>
            </a:r>
            <a:br>
              <a:rPr lang="en-US" altLang="zh-TW" sz="3600" dirty="0">
                <a:effectLst/>
              </a:rPr>
            </a:br>
            <a:r>
              <a:rPr lang="en-US" altLang="zh-TW" sz="3600" dirty="0">
                <a:effectLst/>
              </a:rPr>
              <a:t>- Similar to Context Switch between Processes</a:t>
            </a:r>
            <a:endParaRPr lang="zh-TW" altLang="en-US" sz="3600" dirty="0">
              <a:effectLst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19821" y="4466729"/>
            <a:ext cx="1728192" cy="15361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487488" y="4869161"/>
            <a:ext cx="1403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800" b="1" dirty="0">
                <a:solidFill>
                  <a:srgbClr val="FF0000"/>
                </a:solidFill>
                <a:latin typeface="Calibri" pitchFamily="34" charset="0"/>
              </a:rPr>
              <a:t>TCB </a:t>
            </a:r>
          </a:p>
          <a:p>
            <a:pPr algn="ctr"/>
            <a:r>
              <a:rPr lang="en-US" altLang="zh-TW" sz="1800" b="1" dirty="0">
                <a:solidFill>
                  <a:srgbClr val="FF0000"/>
                </a:solidFill>
                <a:latin typeface="Calibri" pitchFamily="34" charset="0"/>
              </a:rPr>
              <a:t>(in memory)</a:t>
            </a:r>
            <a:endParaRPr lang="zh-TW" altLang="en-US" sz="1800" b="1" dirty="0">
              <a:solidFill>
                <a:srgbClr val="FF0000"/>
              </a:solidFill>
              <a:latin typeface="Calibri" pitchFamily="34" charset="0"/>
            </a:endParaRPr>
          </a:p>
        </p:txBody>
      </p:sp>
      <p:cxnSp>
        <p:nvCxnSpPr>
          <p:cNvPr id="11" name="直線接點 10"/>
          <p:cNvCxnSpPr/>
          <p:nvPr/>
        </p:nvCxnSpPr>
        <p:spPr>
          <a:xfrm>
            <a:off x="2819821" y="4466729"/>
            <a:ext cx="17281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2812560" y="5229200"/>
            <a:ext cx="17281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>
            <a:off x="2819821" y="6002841"/>
            <a:ext cx="17281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5951984" y="1762938"/>
            <a:ext cx="30243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main()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{</a:t>
            </a:r>
          </a:p>
          <a:p>
            <a:r>
              <a:rPr lang="en-US" altLang="zh-TW" sz="1800">
                <a:solidFill>
                  <a:srgbClr val="000000"/>
                </a:solidFill>
                <a:latin typeface="Calibri" pitchFamily="34" charset="0"/>
              </a:rPr>
              <a:t>    </a:t>
            </a:r>
            <a:endParaRPr lang="en-US" altLang="zh-TW" sz="1800" dirty="0">
              <a:solidFill>
                <a:srgbClr val="000000"/>
              </a:solidFill>
              <a:latin typeface="Calibri" pitchFamily="34" charset="0"/>
            </a:endParaRP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.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a = a +1;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</a:t>
            </a:r>
            <a:r>
              <a:rPr lang="en-US" altLang="zh-TW" sz="1800" dirty="0" err="1">
                <a:solidFill>
                  <a:srgbClr val="000000"/>
                </a:solidFill>
                <a:latin typeface="Calibri" pitchFamily="34" charset="0"/>
              </a:rPr>
              <a:t>pthread_create</a:t>
            </a:r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(..runner());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}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runner()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{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.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.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b = b + 5;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    c = b * 10;</a:t>
            </a:r>
          </a:p>
          <a:p>
            <a:r>
              <a:rPr lang="en-US" altLang="zh-TW" sz="1800" dirty="0">
                <a:solidFill>
                  <a:srgbClr val="000000"/>
                </a:solidFill>
                <a:latin typeface="Calibri" pitchFamily="34" charset="0"/>
              </a:rPr>
              <a:t>}</a:t>
            </a:r>
            <a:endParaRPr lang="zh-TW" altLang="en-US" sz="180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44" name="直線單箭頭接點 43"/>
          <p:cNvCxnSpPr/>
          <p:nvPr/>
        </p:nvCxnSpPr>
        <p:spPr>
          <a:xfrm>
            <a:off x="5171009" y="1895074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文字方塊 44"/>
          <p:cNvSpPr txBox="1"/>
          <p:nvPr/>
        </p:nvSpPr>
        <p:spPr>
          <a:xfrm>
            <a:off x="5031836" y="1607688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itchFamily="34" charset="0"/>
              </a:rPr>
              <a:t>Thread 1</a:t>
            </a:r>
            <a:endParaRPr lang="zh-TW" altLang="en-US" sz="1200" b="1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56" name="直線單箭頭接點 55"/>
          <p:cNvCxnSpPr/>
          <p:nvPr/>
        </p:nvCxnSpPr>
        <p:spPr>
          <a:xfrm>
            <a:off x="5171009" y="2964489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5171009" y="3284984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文字方塊 60"/>
          <p:cNvSpPr txBox="1"/>
          <p:nvPr/>
        </p:nvSpPr>
        <p:spPr>
          <a:xfrm>
            <a:off x="5031836" y="2656362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itchFamily="34" charset="0"/>
              </a:rPr>
              <a:t>Thread 1</a:t>
            </a:r>
            <a:endParaRPr lang="zh-TW" altLang="en-US" sz="1200" b="1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5031836" y="2986073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itchFamily="34" charset="0"/>
              </a:rPr>
              <a:t>Thread 1</a:t>
            </a:r>
            <a:endParaRPr lang="zh-TW" altLang="en-US" sz="1200" b="1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4341325" y="3296394"/>
            <a:ext cx="1128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solidFill>
                  <a:srgbClr val="FF0000"/>
                </a:solidFill>
                <a:latin typeface="Calibri" pitchFamily="34" charset="0"/>
              </a:rPr>
              <a:t>Context switch</a:t>
            </a:r>
            <a:endParaRPr lang="zh-TW" altLang="en-US" sz="1200" b="1" dirty="0">
              <a:solidFill>
                <a:srgbClr val="FF0000"/>
              </a:solidFill>
              <a:latin typeface="Calibri" pitchFamily="34" charset="0"/>
            </a:endParaRPr>
          </a:p>
        </p:txBody>
      </p:sp>
      <p:cxnSp>
        <p:nvCxnSpPr>
          <p:cNvPr id="63" name="直線單箭頭接點 62"/>
          <p:cNvCxnSpPr/>
          <p:nvPr/>
        </p:nvCxnSpPr>
        <p:spPr>
          <a:xfrm flipH="1">
            <a:off x="9161672" y="3879061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/>
          <p:nvPr/>
        </p:nvCxnSpPr>
        <p:spPr>
          <a:xfrm flipH="1">
            <a:off x="9223501" y="4965284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/>
          <p:nvPr/>
        </p:nvCxnSpPr>
        <p:spPr>
          <a:xfrm flipH="1">
            <a:off x="9223501" y="5322792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文字方塊 65"/>
          <p:cNvSpPr txBox="1"/>
          <p:nvPr/>
        </p:nvSpPr>
        <p:spPr>
          <a:xfrm>
            <a:off x="9048328" y="3562640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itchFamily="34" charset="0"/>
              </a:rPr>
              <a:t>Thread 2</a:t>
            </a:r>
            <a:endParaRPr lang="zh-TW" altLang="en-US" sz="1200" b="1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9134151" y="4660680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itchFamily="34" charset="0"/>
              </a:rPr>
              <a:t>Thread 2</a:t>
            </a:r>
            <a:endParaRPr lang="zh-TW" altLang="en-US" sz="1200" b="1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9143224" y="5018187"/>
            <a:ext cx="936104" cy="275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solidFill>
                  <a:srgbClr val="000000"/>
                </a:solidFill>
                <a:latin typeface="Calibri" pitchFamily="34" charset="0"/>
              </a:rPr>
              <a:t>Thread 2</a:t>
            </a:r>
            <a:endParaRPr lang="zh-TW" altLang="en-US" sz="1200" b="1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9192345" y="5343600"/>
            <a:ext cx="1425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solidFill>
                  <a:srgbClr val="FF0000"/>
                </a:solidFill>
                <a:latin typeface="Calibri" pitchFamily="34" charset="0"/>
              </a:rPr>
              <a:t>Context switch</a:t>
            </a:r>
          </a:p>
          <a:p>
            <a:r>
              <a:rPr lang="en-US" altLang="zh-TW" sz="1200" b="1" dirty="0">
                <a:solidFill>
                  <a:srgbClr val="FF0000"/>
                </a:solidFill>
                <a:latin typeface="Calibri" pitchFamily="34" charset="0"/>
              </a:rPr>
              <a:t>Change to Thread 1</a:t>
            </a:r>
            <a:endParaRPr lang="zh-TW" altLang="en-US" sz="1200" b="1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2639617" y="1384458"/>
            <a:ext cx="2088599" cy="1271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sz="2400" b="1" dirty="0">
              <a:solidFill>
                <a:srgbClr val="FF0000"/>
              </a:solidFill>
              <a:latin typeface="Calibri" pitchFamily="34" charset="0"/>
            </a:endParaRPr>
          </a:p>
          <a:p>
            <a:pPr algn="ctr"/>
            <a:endParaRPr lang="en-US" altLang="zh-TW" sz="2800" b="1" dirty="0">
              <a:solidFill>
                <a:srgbClr val="FF0000"/>
              </a:solidFill>
              <a:latin typeface="Calibri" pitchFamily="34" charset="0"/>
            </a:endParaRPr>
          </a:p>
          <a:p>
            <a:pPr algn="ctr"/>
            <a:r>
              <a:rPr lang="en-US" altLang="zh-TW" sz="2800" b="1" dirty="0">
                <a:solidFill>
                  <a:srgbClr val="FF0000"/>
                </a:solidFill>
                <a:latin typeface="Calibri" pitchFamily="34" charset="0"/>
              </a:rPr>
              <a:t>CPU</a:t>
            </a:r>
          </a:p>
          <a:p>
            <a:pPr algn="ctr"/>
            <a:r>
              <a:rPr lang="en-US" altLang="zh-TW" sz="1800" b="1" dirty="0" err="1">
                <a:solidFill>
                  <a:srgbClr val="FF0000"/>
                </a:solidFill>
                <a:latin typeface="Calibri" pitchFamily="34" charset="0"/>
              </a:rPr>
              <a:t>eax</a:t>
            </a:r>
            <a:r>
              <a:rPr lang="en-US" altLang="zh-TW" sz="1800" b="1" dirty="0">
                <a:solidFill>
                  <a:srgbClr val="FF0000"/>
                </a:solidFill>
                <a:latin typeface="Calibri" pitchFamily="34" charset="0"/>
              </a:rPr>
              <a:t> = 8 ; </a:t>
            </a:r>
          </a:p>
          <a:p>
            <a:pPr algn="ctr"/>
            <a:r>
              <a:rPr lang="en-US" altLang="zh-TW" sz="1800" b="1" dirty="0" err="1">
                <a:solidFill>
                  <a:srgbClr val="FF0000"/>
                </a:solidFill>
                <a:latin typeface="Calibri" pitchFamily="34" charset="0"/>
              </a:rPr>
              <a:t>ebx</a:t>
            </a:r>
            <a:r>
              <a:rPr lang="en-US" altLang="zh-TW" sz="1800" b="1" dirty="0">
                <a:solidFill>
                  <a:srgbClr val="FF0000"/>
                </a:solidFill>
                <a:latin typeface="Calibri" pitchFamily="34" charset="0"/>
              </a:rPr>
              <a:t> = 11;</a:t>
            </a:r>
            <a:endParaRPr lang="zh-TW" altLang="en-US" sz="1800" b="1" dirty="0">
              <a:solidFill>
                <a:srgbClr val="FF0000"/>
              </a:solidFill>
              <a:latin typeface="Calibri" pitchFamily="34" charset="0"/>
            </a:endParaRPr>
          </a:p>
          <a:p>
            <a:pPr algn="ctr"/>
            <a:endParaRPr lang="en-US" altLang="zh-TW" sz="1600" b="1" dirty="0">
              <a:solidFill>
                <a:srgbClr val="FF0000"/>
              </a:solidFill>
              <a:latin typeface="Calibri" pitchFamily="34" charset="0"/>
            </a:endParaRPr>
          </a:p>
          <a:p>
            <a:pPr algn="ctr"/>
            <a:endParaRPr lang="en-US" altLang="zh-TW" sz="2400" b="1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2817962" y="4716434"/>
            <a:ext cx="16938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0" b="1" dirty="0" err="1">
                <a:solidFill>
                  <a:srgbClr val="FF0000"/>
                </a:solidFill>
                <a:latin typeface="Calibri" pitchFamily="34" charset="0"/>
              </a:rPr>
              <a:t>eax</a:t>
            </a:r>
            <a:r>
              <a:rPr lang="en-US" altLang="zh-TW" sz="1600" b="1" dirty="0">
                <a:solidFill>
                  <a:srgbClr val="FF0000"/>
                </a:solidFill>
                <a:latin typeface="Calibri" pitchFamily="34" charset="0"/>
              </a:rPr>
              <a:t> = 8 ; </a:t>
            </a:r>
            <a:r>
              <a:rPr lang="en-US" altLang="zh-TW" sz="1600" b="1" dirty="0" err="1">
                <a:solidFill>
                  <a:srgbClr val="FF0000"/>
                </a:solidFill>
                <a:latin typeface="Calibri" pitchFamily="34" charset="0"/>
              </a:rPr>
              <a:t>ebx</a:t>
            </a:r>
            <a:r>
              <a:rPr lang="en-US" altLang="zh-TW" sz="1600" b="1" dirty="0">
                <a:solidFill>
                  <a:srgbClr val="FF0000"/>
                </a:solidFill>
                <a:latin typeface="Calibri" pitchFamily="34" charset="0"/>
              </a:rPr>
              <a:t> = 11;</a:t>
            </a:r>
            <a:endParaRPr lang="zh-TW" altLang="en-US" sz="1600" b="1" dirty="0">
              <a:solidFill>
                <a:srgbClr val="FF0000"/>
              </a:solidFill>
              <a:latin typeface="Calibri" pitchFamily="34" charset="0"/>
            </a:endParaRPr>
          </a:p>
          <a:p>
            <a:endParaRPr lang="zh-TW" altLang="en-US" sz="160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2772674" y="5604620"/>
            <a:ext cx="1822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0" b="1" dirty="0" err="1">
                <a:solidFill>
                  <a:srgbClr val="FF0000"/>
                </a:solidFill>
                <a:latin typeface="Calibri" pitchFamily="34" charset="0"/>
              </a:rPr>
              <a:t>eax</a:t>
            </a:r>
            <a:r>
              <a:rPr lang="en-US" altLang="zh-TW" sz="1600" b="1" dirty="0">
                <a:solidFill>
                  <a:srgbClr val="FF0000"/>
                </a:solidFill>
                <a:latin typeface="Calibri" pitchFamily="34" charset="0"/>
              </a:rPr>
              <a:t> = 3 ; </a:t>
            </a:r>
            <a:r>
              <a:rPr lang="en-US" altLang="zh-TW" sz="1600" b="1" dirty="0" err="1">
                <a:solidFill>
                  <a:srgbClr val="FF0000"/>
                </a:solidFill>
                <a:latin typeface="Calibri" pitchFamily="34" charset="0"/>
              </a:rPr>
              <a:t>ebx</a:t>
            </a:r>
            <a:r>
              <a:rPr lang="en-US" altLang="zh-TW" sz="1600" b="1" dirty="0">
                <a:solidFill>
                  <a:srgbClr val="FF0000"/>
                </a:solidFill>
                <a:latin typeface="Calibri" pitchFamily="34" charset="0"/>
              </a:rPr>
              <a:t> = 19;</a:t>
            </a:r>
            <a:endParaRPr lang="zh-TW" altLang="en-US" sz="1600" b="1" dirty="0">
              <a:solidFill>
                <a:srgbClr val="FF0000"/>
              </a:solidFill>
              <a:latin typeface="Calibri" pitchFamily="34" charset="0"/>
            </a:endParaRPr>
          </a:p>
          <a:p>
            <a:endParaRPr lang="zh-TW" altLang="en-US" sz="1600" dirty="0">
              <a:solidFill>
                <a:srgbClr val="000000"/>
              </a:solidFill>
              <a:latin typeface="Calibri" pitchFamily="34" charset="0"/>
            </a:endParaRPr>
          </a:p>
        </p:txBody>
      </p:sp>
      <p:cxnSp>
        <p:nvCxnSpPr>
          <p:cNvPr id="3" name="直線單箭頭接點 2"/>
          <p:cNvCxnSpPr/>
          <p:nvPr/>
        </p:nvCxnSpPr>
        <p:spPr>
          <a:xfrm>
            <a:off x="3160837" y="2730214"/>
            <a:ext cx="19024" cy="20681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>
            <a:off x="4079776" y="2636619"/>
            <a:ext cx="0" cy="28788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3160837" y="1994755"/>
            <a:ext cx="10081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800" b="1" dirty="0" err="1">
                <a:solidFill>
                  <a:srgbClr val="FF0000"/>
                </a:solidFill>
                <a:latin typeface="Calibri" pitchFamily="34" charset="0"/>
              </a:rPr>
              <a:t>eax</a:t>
            </a:r>
            <a:r>
              <a:rPr lang="en-US" altLang="zh-TW" sz="1800" b="1" dirty="0">
                <a:solidFill>
                  <a:srgbClr val="FF0000"/>
                </a:solidFill>
                <a:latin typeface="Calibri" pitchFamily="34" charset="0"/>
              </a:rPr>
              <a:t> = 3; </a:t>
            </a:r>
          </a:p>
          <a:p>
            <a:pPr algn="ctr"/>
            <a:r>
              <a:rPr lang="en-US" altLang="zh-TW" sz="1800" b="1" dirty="0" err="1">
                <a:solidFill>
                  <a:srgbClr val="FF0000"/>
                </a:solidFill>
                <a:latin typeface="Calibri" pitchFamily="34" charset="0"/>
              </a:rPr>
              <a:t>ebx</a:t>
            </a:r>
            <a:r>
              <a:rPr lang="en-US" altLang="zh-TW" sz="1800" b="1" dirty="0">
                <a:solidFill>
                  <a:srgbClr val="FF0000"/>
                </a:solidFill>
                <a:latin typeface="Calibri" pitchFamily="34" charset="0"/>
              </a:rPr>
              <a:t> = 19;</a:t>
            </a:r>
            <a:endParaRPr lang="zh-TW" altLang="en-US" sz="1800" b="1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4511824" y="4715852"/>
            <a:ext cx="61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1" dirty="0">
                <a:latin typeface="Calibri" panose="020F0502020204030204" pitchFamily="34" charset="0"/>
              </a:rPr>
              <a:t>TCB</a:t>
            </a:r>
            <a:r>
              <a:rPr lang="en-US" altLang="zh-TW" sz="1800" b="1" baseline="-25000" dirty="0">
                <a:latin typeface="Calibri" panose="020F0502020204030204" pitchFamily="34" charset="0"/>
              </a:rPr>
              <a:t>1</a:t>
            </a:r>
            <a:endParaRPr lang="zh-TW" altLang="en-US" sz="1800" b="1" dirty="0">
              <a:latin typeface="Calibri" panose="020F0502020204030204" pitchFamily="34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4511824" y="5435932"/>
            <a:ext cx="61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b="1" dirty="0">
                <a:latin typeface="Calibri" panose="020F0502020204030204" pitchFamily="34" charset="0"/>
              </a:rPr>
              <a:t>TCB</a:t>
            </a:r>
            <a:r>
              <a:rPr lang="en-US" altLang="zh-TW" sz="1800" b="1" baseline="-25000" dirty="0">
                <a:latin typeface="Calibri" panose="020F0502020204030204" pitchFamily="34" charset="0"/>
              </a:rPr>
              <a:t>2</a:t>
            </a:r>
            <a:endParaRPr lang="zh-TW" altLang="en-US" sz="1800" b="1" dirty="0">
              <a:latin typeface="Calibri" panose="020F0502020204030204" pitchFamily="34" charset="0"/>
            </a:endParaRPr>
          </a:p>
        </p:txBody>
      </p:sp>
      <p:cxnSp>
        <p:nvCxnSpPr>
          <p:cNvPr id="32" name="直線單箭頭接點 31"/>
          <p:cNvCxnSpPr/>
          <p:nvPr/>
        </p:nvCxnSpPr>
        <p:spPr>
          <a:xfrm flipH="1" flipV="1">
            <a:off x="3424813" y="2656364"/>
            <a:ext cx="6891" cy="20594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3160837" y="2012266"/>
            <a:ext cx="10160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1800" b="1" dirty="0" err="1">
                <a:solidFill>
                  <a:srgbClr val="FF0000"/>
                </a:solidFill>
                <a:latin typeface="Calibri" pitchFamily="34" charset="0"/>
              </a:rPr>
              <a:t>eax</a:t>
            </a:r>
            <a:r>
              <a:rPr lang="en-US" altLang="zh-TW" sz="1800" b="1" dirty="0">
                <a:solidFill>
                  <a:srgbClr val="FF0000"/>
                </a:solidFill>
                <a:latin typeface="Calibri" pitchFamily="34" charset="0"/>
              </a:rPr>
              <a:t> = 8; </a:t>
            </a:r>
          </a:p>
          <a:p>
            <a:pPr algn="ctr"/>
            <a:r>
              <a:rPr lang="en-US" altLang="zh-TW" sz="1800" b="1" dirty="0" err="1">
                <a:solidFill>
                  <a:srgbClr val="FF0000"/>
                </a:solidFill>
                <a:latin typeface="Calibri" pitchFamily="34" charset="0"/>
              </a:rPr>
              <a:t>ebx</a:t>
            </a:r>
            <a:r>
              <a:rPr lang="en-US" altLang="zh-TW" sz="1800" b="1" dirty="0">
                <a:solidFill>
                  <a:srgbClr val="FF0000"/>
                </a:solidFill>
                <a:latin typeface="Calibri" pitchFamily="34" charset="0"/>
              </a:rPr>
              <a:t> = 11;</a:t>
            </a:r>
            <a:endParaRPr lang="zh-TW" altLang="en-US" sz="1800" b="1" dirty="0">
              <a:solidFill>
                <a:srgbClr val="FF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33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4" dur="indefinite"/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61" grpId="0"/>
      <p:bldP spid="61" grpId="1"/>
      <p:bldP spid="62" grpId="0"/>
      <p:bldP spid="47" grpId="0"/>
      <p:bldP spid="66" grpId="0"/>
      <p:bldP spid="66" grpId="1"/>
      <p:bldP spid="68" grpId="0"/>
      <p:bldP spid="68" grpId="1"/>
      <p:bldP spid="69" grpId="0"/>
      <p:bldP spid="70" grpId="0"/>
      <p:bldP spid="55" grpId="0"/>
      <p:bldP spid="75" grpId="0"/>
      <p:bldP spid="34" grpId="0"/>
      <p:bldP spid="34" grpId="1"/>
      <p:bldP spid="35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Benefits</a:t>
            </a:r>
            <a:endParaRPr lang="en-US" altLang="zh-TW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TW" sz="2800" b="1" dirty="0"/>
              <a:t>Responsiveness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If one thread is </a:t>
            </a:r>
            <a:r>
              <a:rPr lang="en-US" altLang="zh-TW" sz="2400" dirty="0" smtClean="0"/>
              <a:t>blocked, </a:t>
            </a:r>
            <a:r>
              <a:rPr lang="en-US" altLang="zh-TW" sz="2400" dirty="0"/>
              <a:t>other threads can continue running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TW" sz="2800" b="1" dirty="0"/>
              <a:t>Resource Sharing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Threads share the memory (code and data) and resources of the process to which they belong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TW" sz="2800" b="1" dirty="0"/>
              <a:t>Economy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i="1" dirty="0">
                <a:solidFill>
                  <a:srgbClr val="FF3300"/>
                </a:solidFill>
              </a:rPr>
              <a:t>Create</a:t>
            </a:r>
            <a:r>
              <a:rPr lang="en-US" altLang="zh-TW" sz="2400" b="1" dirty="0"/>
              <a:t> </a:t>
            </a:r>
            <a:r>
              <a:rPr lang="en-US" altLang="zh-TW" sz="2400" dirty="0"/>
              <a:t>and </a:t>
            </a:r>
            <a:r>
              <a:rPr lang="en-US" altLang="zh-TW" sz="2400" i="1" dirty="0">
                <a:solidFill>
                  <a:srgbClr val="FF3300"/>
                </a:solidFill>
              </a:rPr>
              <a:t>context-switch</a:t>
            </a:r>
            <a:r>
              <a:rPr lang="en-US" altLang="zh-TW" sz="2400" dirty="0"/>
              <a:t> thread is much quickly than processes</a:t>
            </a:r>
            <a:endParaRPr lang="en-US" altLang="zh-TW" b="1" dirty="0"/>
          </a:p>
          <a:p>
            <a:pPr eaLnBrk="1" hangingPunct="1">
              <a:spcBef>
                <a:spcPts val="600"/>
              </a:spcBef>
            </a:pPr>
            <a:r>
              <a:rPr lang="en-US" altLang="zh-TW" sz="2800" b="1" dirty="0"/>
              <a:t>Scalability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Multithreading on a multi-CPU machine increases concurrency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400" dirty="0"/>
              <a:t>Each thread may be running in parallel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2946400" y="165100"/>
            <a:ext cx="3100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endParaRPr lang="zh-TW" altLang="zh-TW" sz="3200" b="1">
              <a:solidFill>
                <a:schemeClr val="tx2"/>
              </a:solidFill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113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複習完畢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8015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dirty="0" smtClean="0"/>
              <a:t>Background</a:t>
            </a:r>
          </a:p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Contiguous Memory Allocation</a:t>
            </a:r>
          </a:p>
          <a:p>
            <a:pPr lvl="1" eaLnBrk="1" hangingPunct="1"/>
            <a:r>
              <a:rPr lang="en-US" altLang="zh-TW" dirty="0" smtClean="0"/>
              <a:t>Memory Protection</a:t>
            </a:r>
          </a:p>
          <a:p>
            <a:pPr lvl="1" eaLnBrk="1" hangingPunct="1"/>
            <a:r>
              <a:rPr lang="en-US" altLang="zh-TW" b="1" dirty="0" smtClean="0">
                <a:solidFill>
                  <a:srgbClr val="FF0000"/>
                </a:solidFill>
              </a:rPr>
              <a:t>Memory Allocation</a:t>
            </a:r>
          </a:p>
          <a:p>
            <a:pPr lvl="1" eaLnBrk="1" hangingPunct="1"/>
            <a:r>
              <a:rPr lang="en-US" altLang="zh-TW" dirty="0" smtClean="0"/>
              <a:t>Fragmentation</a:t>
            </a:r>
          </a:p>
          <a:p>
            <a:pPr eaLnBrk="1" hangingPunct="1"/>
            <a:r>
              <a:rPr lang="en-US" altLang="zh-TW" dirty="0" smtClean="0"/>
              <a:t>Paging</a:t>
            </a:r>
          </a:p>
          <a:p>
            <a:pPr eaLnBrk="1" hangingPunct="1"/>
            <a:r>
              <a:rPr lang="en-US" altLang="zh-TW" dirty="0" smtClean="0"/>
              <a:t>Structure of the Page Table</a:t>
            </a:r>
          </a:p>
          <a:p>
            <a:pPr eaLnBrk="1" hangingPunct="1"/>
            <a:r>
              <a:rPr lang="en-US" altLang="zh-TW" dirty="0" smtClean="0"/>
              <a:t>Swapping</a:t>
            </a:r>
          </a:p>
          <a:p>
            <a:pPr eaLnBrk="1" hangingPunct="1"/>
            <a:r>
              <a:rPr lang="en-US" altLang="zh-TW" dirty="0" smtClean="0"/>
              <a:t>Example: Intel 32 and 64-bit Architectures</a:t>
            </a:r>
          </a:p>
          <a:p>
            <a:pPr eaLnBrk="1" hangingPunct="1"/>
            <a:r>
              <a:rPr lang="en-US" altLang="zh-TW" dirty="0" smtClean="0"/>
              <a:t>Example: ARMv8 Architecture</a:t>
            </a:r>
          </a:p>
        </p:txBody>
      </p:sp>
    </p:spTree>
    <p:extLst>
      <p:ext uri="{BB962C8B-B14F-4D97-AF65-F5344CB8AC3E}">
        <p14:creationId xmlns:p14="http://schemas.microsoft.com/office/powerpoint/2010/main" val="1925211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</a:rPr>
              <a:t>Q: Where </a:t>
            </a:r>
            <a:r>
              <a:rPr lang="en-US" altLang="zh-TW" dirty="0">
                <a:solidFill>
                  <a:schemeClr val="tx1"/>
                </a:solidFill>
              </a:rPr>
              <a:t>to Allocate Memory to a Process?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9485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Memory Allocation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At </a:t>
            </a:r>
            <a:r>
              <a:rPr lang="en-US" altLang="zh-TW" sz="2800" dirty="0"/>
              <a:t>any time, memory consists of </a:t>
            </a:r>
            <a:r>
              <a:rPr lang="en-US" altLang="zh-TW" sz="2800" dirty="0" smtClean="0"/>
              <a:t>variable-sized </a:t>
            </a:r>
            <a:r>
              <a:rPr lang="en-US" altLang="zh-TW" sz="2800" dirty="0">
                <a:solidFill>
                  <a:srgbClr val="FF3300"/>
                </a:solidFill>
              </a:rPr>
              <a:t>Used</a:t>
            </a:r>
            <a:r>
              <a:rPr lang="en-US" altLang="zh-TW" sz="2800" dirty="0"/>
              <a:t> partitions and </a:t>
            </a:r>
            <a:r>
              <a:rPr lang="en-US" altLang="zh-TW" sz="2800" dirty="0">
                <a:solidFill>
                  <a:srgbClr val="FF3300"/>
                </a:solidFill>
              </a:rPr>
              <a:t>free</a:t>
            </a:r>
            <a:r>
              <a:rPr lang="en-US" altLang="zh-TW" sz="2800" dirty="0"/>
              <a:t> partitions (i.e. </a:t>
            </a:r>
            <a:r>
              <a:rPr lang="en-US" altLang="zh-TW" sz="2800" b="1" dirty="0">
                <a:solidFill>
                  <a:srgbClr val="FF3300"/>
                </a:solidFill>
              </a:rPr>
              <a:t>holes</a:t>
            </a:r>
            <a:r>
              <a:rPr lang="en-US" altLang="zh-TW" sz="2800" dirty="0"/>
              <a:t>)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When a process arrives, it is allocated a hole </a:t>
            </a:r>
            <a:r>
              <a:rPr lang="en-US" altLang="zh-TW" sz="2800" b="1" dirty="0"/>
              <a:t>large enough </a:t>
            </a:r>
            <a:r>
              <a:rPr lang="en-US" altLang="zh-TW" sz="2800" dirty="0"/>
              <a:t>to accommodate it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When </a:t>
            </a:r>
            <a:r>
              <a:rPr lang="en-US" altLang="zh-TW" sz="2800" dirty="0"/>
              <a:t>a process terminates, its allocated memory is returned to the set of hole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Maybe </a:t>
            </a:r>
            <a:r>
              <a:rPr lang="en-US" altLang="zh-TW" sz="2400" b="1" dirty="0"/>
              <a:t>merged </a:t>
            </a:r>
            <a:r>
              <a:rPr lang="en-US" altLang="zh-TW" sz="2400" dirty="0"/>
              <a:t>with </a:t>
            </a:r>
            <a:r>
              <a:rPr lang="en-US" altLang="zh-TW" sz="2400" b="1" dirty="0"/>
              <a:t>adjacent holes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200" dirty="0"/>
              <a:t>Example of Variable-Partition Scheme for</a:t>
            </a:r>
            <a:br>
              <a:rPr lang="en-US" altLang="zh-TW" sz="3200" dirty="0"/>
            </a:br>
            <a:r>
              <a:rPr lang="en-US" altLang="zh-TW" sz="3200" dirty="0"/>
              <a:t>Memory Allocation</a:t>
            </a:r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8389938" y="1503363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40" name="Line 4"/>
          <p:cNvSpPr>
            <a:spLocks noChangeShapeType="1"/>
          </p:cNvSpPr>
          <p:nvPr/>
        </p:nvSpPr>
        <p:spPr bwMode="auto">
          <a:xfrm>
            <a:off x="8389938" y="18669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41" name="Line 5"/>
          <p:cNvSpPr>
            <a:spLocks noChangeShapeType="1"/>
          </p:cNvSpPr>
          <p:nvPr/>
        </p:nvSpPr>
        <p:spPr bwMode="auto">
          <a:xfrm>
            <a:off x="8389938" y="227806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42" name="Line 6"/>
          <p:cNvSpPr>
            <a:spLocks noChangeShapeType="1"/>
          </p:cNvSpPr>
          <p:nvPr/>
        </p:nvSpPr>
        <p:spPr bwMode="auto">
          <a:xfrm>
            <a:off x="8401050" y="263683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43" name="Text Box 7"/>
          <p:cNvSpPr txBox="1">
            <a:spLocks noChangeArrowheads="1"/>
          </p:cNvSpPr>
          <p:nvPr/>
        </p:nvSpPr>
        <p:spPr bwMode="auto">
          <a:xfrm>
            <a:off x="8694739" y="1503363"/>
            <a:ext cx="4413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400">
                <a:latin typeface="Helvetica" pitchFamily="34" charset="0"/>
              </a:rPr>
              <a:t>OS</a:t>
            </a:r>
          </a:p>
        </p:txBody>
      </p:sp>
      <p:sp>
        <p:nvSpPr>
          <p:cNvPr id="39944" name="Text Box 8"/>
          <p:cNvSpPr txBox="1">
            <a:spLocks noChangeArrowheads="1"/>
          </p:cNvSpPr>
          <p:nvPr/>
        </p:nvSpPr>
        <p:spPr bwMode="auto">
          <a:xfrm>
            <a:off x="8389938" y="1947863"/>
            <a:ext cx="1066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400">
                <a:latin typeface="Helvetica" pitchFamily="34" charset="0"/>
              </a:rPr>
              <a:t>process 5</a:t>
            </a:r>
          </a:p>
        </p:txBody>
      </p:sp>
      <p:sp>
        <p:nvSpPr>
          <p:cNvPr id="39945" name="Text Box 9"/>
          <p:cNvSpPr txBox="1">
            <a:spLocks noChangeArrowheads="1"/>
          </p:cNvSpPr>
          <p:nvPr/>
        </p:nvSpPr>
        <p:spPr bwMode="auto">
          <a:xfrm>
            <a:off x="8396288" y="2924175"/>
            <a:ext cx="1066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400">
                <a:latin typeface="Helvetica" pitchFamily="34" charset="0"/>
              </a:rPr>
              <a:t>process 8</a:t>
            </a:r>
          </a:p>
        </p:txBody>
      </p:sp>
      <p:sp>
        <p:nvSpPr>
          <p:cNvPr id="39946" name="Text Box 10"/>
          <p:cNvSpPr txBox="1">
            <a:spLocks noChangeArrowheads="1"/>
          </p:cNvSpPr>
          <p:nvPr/>
        </p:nvSpPr>
        <p:spPr bwMode="auto">
          <a:xfrm>
            <a:off x="8401050" y="2276475"/>
            <a:ext cx="1066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400">
                <a:latin typeface="Helvetica" pitchFamily="34" charset="0"/>
              </a:rPr>
              <a:t>process 2</a:t>
            </a:r>
          </a:p>
        </p:txBody>
      </p:sp>
      <p:sp>
        <p:nvSpPr>
          <p:cNvPr id="39947" name="Rectangle 11"/>
          <p:cNvSpPr>
            <a:spLocks noChangeArrowheads="1"/>
          </p:cNvSpPr>
          <p:nvPr/>
        </p:nvSpPr>
        <p:spPr bwMode="auto">
          <a:xfrm>
            <a:off x="2792413" y="3892550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48" name="Line 12"/>
          <p:cNvSpPr>
            <a:spLocks noChangeShapeType="1"/>
          </p:cNvSpPr>
          <p:nvPr/>
        </p:nvSpPr>
        <p:spPr bwMode="auto">
          <a:xfrm>
            <a:off x="2792413" y="425608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49" name="Line 13"/>
          <p:cNvSpPr>
            <a:spLocks noChangeShapeType="1"/>
          </p:cNvSpPr>
          <p:nvPr/>
        </p:nvSpPr>
        <p:spPr bwMode="auto">
          <a:xfrm>
            <a:off x="2792413" y="466725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50" name="Text Box 15"/>
          <p:cNvSpPr txBox="1">
            <a:spLocks noChangeArrowheads="1"/>
          </p:cNvSpPr>
          <p:nvPr/>
        </p:nvSpPr>
        <p:spPr bwMode="auto">
          <a:xfrm>
            <a:off x="3097214" y="3892550"/>
            <a:ext cx="4413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400">
                <a:latin typeface="Helvetica" pitchFamily="34" charset="0"/>
              </a:rPr>
              <a:t>OS</a:t>
            </a:r>
          </a:p>
        </p:txBody>
      </p:sp>
      <p:sp>
        <p:nvSpPr>
          <p:cNvPr id="39951" name="Text Box 16"/>
          <p:cNvSpPr txBox="1">
            <a:spLocks noChangeArrowheads="1"/>
          </p:cNvSpPr>
          <p:nvPr/>
        </p:nvSpPr>
        <p:spPr bwMode="auto">
          <a:xfrm>
            <a:off x="2792413" y="4337050"/>
            <a:ext cx="1066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400">
                <a:latin typeface="Helvetica" pitchFamily="34" charset="0"/>
              </a:rPr>
              <a:t>process 5</a:t>
            </a:r>
          </a:p>
        </p:txBody>
      </p:sp>
      <p:sp>
        <p:nvSpPr>
          <p:cNvPr id="39952" name="Text Box 17"/>
          <p:cNvSpPr txBox="1">
            <a:spLocks noChangeArrowheads="1"/>
          </p:cNvSpPr>
          <p:nvPr/>
        </p:nvSpPr>
        <p:spPr bwMode="auto">
          <a:xfrm>
            <a:off x="2782888" y="5373688"/>
            <a:ext cx="1066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400">
                <a:latin typeface="Helvetica" pitchFamily="34" charset="0"/>
              </a:rPr>
              <a:t>process 8</a:t>
            </a:r>
          </a:p>
        </p:txBody>
      </p:sp>
      <p:sp>
        <p:nvSpPr>
          <p:cNvPr id="39953" name="Rectangle 18"/>
          <p:cNvSpPr>
            <a:spLocks noChangeArrowheads="1"/>
          </p:cNvSpPr>
          <p:nvPr/>
        </p:nvSpPr>
        <p:spPr bwMode="auto">
          <a:xfrm>
            <a:off x="4621213" y="3892550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54" name="Line 19"/>
          <p:cNvSpPr>
            <a:spLocks noChangeShapeType="1"/>
          </p:cNvSpPr>
          <p:nvPr/>
        </p:nvSpPr>
        <p:spPr bwMode="auto">
          <a:xfrm>
            <a:off x="4621213" y="4256088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55" name="Line 20"/>
          <p:cNvSpPr>
            <a:spLocks noChangeShapeType="1"/>
          </p:cNvSpPr>
          <p:nvPr/>
        </p:nvSpPr>
        <p:spPr bwMode="auto">
          <a:xfrm>
            <a:off x="4621213" y="466725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56" name="Line 21"/>
          <p:cNvSpPr>
            <a:spLocks noChangeShapeType="1"/>
          </p:cNvSpPr>
          <p:nvPr/>
        </p:nvSpPr>
        <p:spPr bwMode="auto">
          <a:xfrm>
            <a:off x="4611688" y="501332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57" name="Text Box 22"/>
          <p:cNvSpPr txBox="1">
            <a:spLocks noChangeArrowheads="1"/>
          </p:cNvSpPr>
          <p:nvPr/>
        </p:nvSpPr>
        <p:spPr bwMode="auto">
          <a:xfrm>
            <a:off x="4926014" y="3892550"/>
            <a:ext cx="4413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400">
                <a:latin typeface="Helvetica" pitchFamily="34" charset="0"/>
              </a:rPr>
              <a:t>OS</a:t>
            </a:r>
          </a:p>
        </p:txBody>
      </p:sp>
      <p:sp>
        <p:nvSpPr>
          <p:cNvPr id="39958" name="Rectangle 32"/>
          <p:cNvSpPr>
            <a:spLocks noChangeArrowheads="1"/>
          </p:cNvSpPr>
          <p:nvPr/>
        </p:nvSpPr>
        <p:spPr bwMode="auto">
          <a:xfrm>
            <a:off x="2782888" y="4652963"/>
            <a:ext cx="1143000" cy="360362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59" name="AutoShape 38"/>
          <p:cNvSpPr>
            <a:spLocks noChangeArrowheads="1"/>
          </p:cNvSpPr>
          <p:nvPr/>
        </p:nvSpPr>
        <p:spPr bwMode="auto">
          <a:xfrm>
            <a:off x="2182813" y="5035550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60" name="AutoShape 39"/>
          <p:cNvSpPr>
            <a:spLocks noChangeArrowheads="1"/>
          </p:cNvSpPr>
          <p:nvPr/>
        </p:nvSpPr>
        <p:spPr bwMode="auto">
          <a:xfrm>
            <a:off x="4011613" y="5035550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61" name="Rectangle 41"/>
          <p:cNvSpPr>
            <a:spLocks noChangeArrowheads="1"/>
          </p:cNvSpPr>
          <p:nvPr/>
        </p:nvSpPr>
        <p:spPr bwMode="auto">
          <a:xfrm>
            <a:off x="2827338" y="1484313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62" name="Line 42"/>
          <p:cNvSpPr>
            <a:spLocks noChangeShapeType="1"/>
          </p:cNvSpPr>
          <p:nvPr/>
        </p:nvSpPr>
        <p:spPr bwMode="auto">
          <a:xfrm>
            <a:off x="2827338" y="184785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63" name="Line 43"/>
          <p:cNvSpPr>
            <a:spLocks noChangeShapeType="1"/>
          </p:cNvSpPr>
          <p:nvPr/>
        </p:nvSpPr>
        <p:spPr bwMode="auto">
          <a:xfrm>
            <a:off x="2827338" y="22590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64" name="Line 44"/>
          <p:cNvSpPr>
            <a:spLocks noChangeShapeType="1"/>
          </p:cNvSpPr>
          <p:nvPr/>
        </p:nvSpPr>
        <p:spPr bwMode="auto">
          <a:xfrm>
            <a:off x="2827338" y="3190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65" name="Text Box 45"/>
          <p:cNvSpPr txBox="1">
            <a:spLocks noChangeArrowheads="1"/>
          </p:cNvSpPr>
          <p:nvPr/>
        </p:nvSpPr>
        <p:spPr bwMode="auto">
          <a:xfrm>
            <a:off x="3132139" y="1484313"/>
            <a:ext cx="4413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400">
                <a:latin typeface="Helvetica" pitchFamily="34" charset="0"/>
              </a:rPr>
              <a:t>OS</a:t>
            </a:r>
          </a:p>
        </p:txBody>
      </p:sp>
      <p:sp>
        <p:nvSpPr>
          <p:cNvPr id="39966" name="Rectangle 46"/>
          <p:cNvSpPr>
            <a:spLocks noChangeArrowheads="1"/>
          </p:cNvSpPr>
          <p:nvPr/>
        </p:nvSpPr>
        <p:spPr bwMode="auto">
          <a:xfrm>
            <a:off x="2827338" y="1852613"/>
            <a:ext cx="1143000" cy="17780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67" name="Rectangle 47"/>
          <p:cNvSpPr>
            <a:spLocks noChangeArrowheads="1"/>
          </p:cNvSpPr>
          <p:nvPr/>
        </p:nvSpPr>
        <p:spPr bwMode="auto">
          <a:xfrm>
            <a:off x="4641850" y="1484313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68" name="Line 48"/>
          <p:cNvSpPr>
            <a:spLocks noChangeShapeType="1"/>
          </p:cNvSpPr>
          <p:nvPr/>
        </p:nvSpPr>
        <p:spPr bwMode="auto">
          <a:xfrm>
            <a:off x="4641850" y="184785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69" name="Line 49"/>
          <p:cNvSpPr>
            <a:spLocks noChangeShapeType="1"/>
          </p:cNvSpPr>
          <p:nvPr/>
        </p:nvSpPr>
        <p:spPr bwMode="auto">
          <a:xfrm>
            <a:off x="4641850" y="22590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70" name="Line 50"/>
          <p:cNvSpPr>
            <a:spLocks noChangeShapeType="1"/>
          </p:cNvSpPr>
          <p:nvPr/>
        </p:nvSpPr>
        <p:spPr bwMode="auto">
          <a:xfrm>
            <a:off x="4641850" y="3190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71" name="Text Box 51"/>
          <p:cNvSpPr txBox="1">
            <a:spLocks noChangeArrowheads="1"/>
          </p:cNvSpPr>
          <p:nvPr/>
        </p:nvSpPr>
        <p:spPr bwMode="auto">
          <a:xfrm>
            <a:off x="4946651" y="1484313"/>
            <a:ext cx="4413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400">
                <a:latin typeface="Helvetica" pitchFamily="34" charset="0"/>
              </a:rPr>
              <a:t>OS</a:t>
            </a:r>
          </a:p>
        </p:txBody>
      </p:sp>
      <p:sp>
        <p:nvSpPr>
          <p:cNvPr id="39972" name="Text Box 52"/>
          <p:cNvSpPr txBox="1">
            <a:spLocks noChangeArrowheads="1"/>
          </p:cNvSpPr>
          <p:nvPr/>
        </p:nvSpPr>
        <p:spPr bwMode="auto">
          <a:xfrm>
            <a:off x="4641850" y="1928813"/>
            <a:ext cx="1066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400">
                <a:latin typeface="Helvetica" pitchFamily="34" charset="0"/>
              </a:rPr>
              <a:t>process 5</a:t>
            </a:r>
          </a:p>
        </p:txBody>
      </p:sp>
      <p:sp>
        <p:nvSpPr>
          <p:cNvPr id="39973" name="Rectangle 53"/>
          <p:cNvSpPr>
            <a:spLocks noChangeArrowheads="1"/>
          </p:cNvSpPr>
          <p:nvPr/>
        </p:nvSpPr>
        <p:spPr bwMode="auto">
          <a:xfrm>
            <a:off x="4641850" y="2246314"/>
            <a:ext cx="1143000" cy="1355725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74" name="Rectangle 54"/>
          <p:cNvSpPr>
            <a:spLocks noChangeArrowheads="1"/>
          </p:cNvSpPr>
          <p:nvPr/>
        </p:nvSpPr>
        <p:spPr bwMode="auto">
          <a:xfrm>
            <a:off x="6445250" y="1484313"/>
            <a:ext cx="11430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75" name="Line 55"/>
          <p:cNvSpPr>
            <a:spLocks noChangeShapeType="1"/>
          </p:cNvSpPr>
          <p:nvPr/>
        </p:nvSpPr>
        <p:spPr bwMode="auto">
          <a:xfrm>
            <a:off x="6445250" y="184785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76" name="Line 56"/>
          <p:cNvSpPr>
            <a:spLocks noChangeShapeType="1"/>
          </p:cNvSpPr>
          <p:nvPr/>
        </p:nvSpPr>
        <p:spPr bwMode="auto">
          <a:xfrm>
            <a:off x="6445250" y="2259013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77" name="Line 57"/>
          <p:cNvSpPr>
            <a:spLocks noChangeShapeType="1"/>
          </p:cNvSpPr>
          <p:nvPr/>
        </p:nvSpPr>
        <p:spPr bwMode="auto">
          <a:xfrm>
            <a:off x="6445250" y="3190875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78" name="Text Box 58"/>
          <p:cNvSpPr txBox="1">
            <a:spLocks noChangeArrowheads="1"/>
          </p:cNvSpPr>
          <p:nvPr/>
        </p:nvSpPr>
        <p:spPr bwMode="auto">
          <a:xfrm>
            <a:off x="6750051" y="1484313"/>
            <a:ext cx="4413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400">
                <a:latin typeface="Helvetica" pitchFamily="34" charset="0"/>
              </a:rPr>
              <a:t>OS</a:t>
            </a:r>
          </a:p>
        </p:txBody>
      </p:sp>
      <p:sp>
        <p:nvSpPr>
          <p:cNvPr id="39979" name="Text Box 59"/>
          <p:cNvSpPr txBox="1">
            <a:spLocks noChangeArrowheads="1"/>
          </p:cNvSpPr>
          <p:nvPr/>
        </p:nvSpPr>
        <p:spPr bwMode="auto">
          <a:xfrm>
            <a:off x="6445250" y="1928813"/>
            <a:ext cx="1066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400">
                <a:latin typeface="Helvetica" pitchFamily="34" charset="0"/>
              </a:rPr>
              <a:t>process 5</a:t>
            </a:r>
          </a:p>
        </p:txBody>
      </p:sp>
      <p:sp>
        <p:nvSpPr>
          <p:cNvPr id="39980" name="Text Box 60"/>
          <p:cNvSpPr txBox="1">
            <a:spLocks noChangeArrowheads="1"/>
          </p:cNvSpPr>
          <p:nvPr/>
        </p:nvSpPr>
        <p:spPr bwMode="auto">
          <a:xfrm>
            <a:off x="6456363" y="2276475"/>
            <a:ext cx="1066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400">
                <a:latin typeface="Helvetica" pitchFamily="34" charset="0"/>
              </a:rPr>
              <a:t>process 2</a:t>
            </a:r>
          </a:p>
        </p:txBody>
      </p:sp>
      <p:sp>
        <p:nvSpPr>
          <p:cNvPr id="39981" name="Rectangle 61"/>
          <p:cNvSpPr>
            <a:spLocks noChangeArrowheads="1"/>
          </p:cNvSpPr>
          <p:nvPr/>
        </p:nvSpPr>
        <p:spPr bwMode="auto">
          <a:xfrm>
            <a:off x="6456363" y="2636838"/>
            <a:ext cx="1143000" cy="9906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82" name="AutoShape 62"/>
          <p:cNvSpPr>
            <a:spLocks noChangeArrowheads="1"/>
          </p:cNvSpPr>
          <p:nvPr/>
        </p:nvSpPr>
        <p:spPr bwMode="auto">
          <a:xfrm>
            <a:off x="4051300" y="2632075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83" name="AutoShape 63"/>
          <p:cNvSpPr>
            <a:spLocks noChangeArrowheads="1"/>
          </p:cNvSpPr>
          <p:nvPr/>
        </p:nvSpPr>
        <p:spPr bwMode="auto">
          <a:xfrm>
            <a:off x="5880100" y="2632075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84" name="AutoShape 64"/>
          <p:cNvSpPr>
            <a:spLocks noChangeArrowheads="1"/>
          </p:cNvSpPr>
          <p:nvPr/>
        </p:nvSpPr>
        <p:spPr bwMode="auto">
          <a:xfrm>
            <a:off x="7708900" y="2579688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85" name="Text Box 66"/>
          <p:cNvSpPr txBox="1">
            <a:spLocks noChangeArrowheads="1"/>
          </p:cNvSpPr>
          <p:nvPr/>
        </p:nvSpPr>
        <p:spPr bwMode="auto">
          <a:xfrm>
            <a:off x="9115426" y="6553200"/>
            <a:ext cx="155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400"/>
              <a:t>From Ka, Ha-Zen</a:t>
            </a:r>
          </a:p>
        </p:txBody>
      </p:sp>
      <p:sp>
        <p:nvSpPr>
          <p:cNvPr id="39986" name="Rectangle 67"/>
          <p:cNvSpPr>
            <a:spLocks noChangeArrowheads="1"/>
          </p:cNvSpPr>
          <p:nvPr/>
        </p:nvSpPr>
        <p:spPr bwMode="auto">
          <a:xfrm>
            <a:off x="4621213" y="4264025"/>
            <a:ext cx="1143000" cy="7493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987" name="Text Box 68"/>
          <p:cNvSpPr txBox="1">
            <a:spLocks noChangeArrowheads="1"/>
          </p:cNvSpPr>
          <p:nvPr/>
        </p:nvSpPr>
        <p:spPr bwMode="auto">
          <a:xfrm>
            <a:off x="4656138" y="5373688"/>
            <a:ext cx="1066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400">
                <a:latin typeface="Helvetica" pitchFamily="34" charset="0"/>
              </a:rPr>
              <a:t>process 8</a:t>
            </a:r>
          </a:p>
        </p:txBody>
      </p:sp>
      <p:sp>
        <p:nvSpPr>
          <p:cNvPr id="39988" name="Text Box 69"/>
          <p:cNvSpPr txBox="1">
            <a:spLocks noChangeArrowheads="1"/>
          </p:cNvSpPr>
          <p:nvPr/>
        </p:nvSpPr>
        <p:spPr bwMode="auto">
          <a:xfrm>
            <a:off x="3927475" y="4589463"/>
            <a:ext cx="768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i="1">
                <a:latin typeface="Times New Roman" pitchFamily="18" charset="0"/>
              </a:rPr>
              <a:t>merge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sz="4000" dirty="0"/>
              <a:t>Dynamic Storage-Allocation Problem</a:t>
            </a:r>
            <a:endParaRPr lang="en-US" altLang="zh-TW" sz="4000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kumimoji="0" lang="en-US" altLang="zh-TW" sz="2800" dirty="0"/>
              <a:t>How to satisfy a request of size </a:t>
            </a:r>
            <a:r>
              <a:rPr kumimoji="0" lang="en-US" altLang="zh-TW" sz="2800" i="1" dirty="0"/>
              <a:t>n</a:t>
            </a:r>
            <a:r>
              <a:rPr kumimoji="0" lang="en-US" altLang="zh-TW" sz="2800" dirty="0"/>
              <a:t> </a:t>
            </a:r>
            <a:r>
              <a:rPr kumimoji="0" lang="en-US" altLang="zh-TW" sz="2800" dirty="0" smtClean="0"/>
              <a:t>?</a:t>
            </a:r>
            <a:endParaRPr kumimoji="0" lang="en-US" altLang="zh-TW" sz="2800" dirty="0"/>
          </a:p>
          <a:p>
            <a:pPr lvl="1" eaLnBrk="1" hangingPunct="1"/>
            <a:r>
              <a:rPr lang="en-US" altLang="zh-TW" sz="2400" b="1" dirty="0"/>
              <a:t>First-fit</a:t>
            </a:r>
            <a:r>
              <a:rPr lang="en-US" altLang="zh-TW" sz="2400" dirty="0"/>
              <a:t>:  Allocate the </a:t>
            </a:r>
            <a:r>
              <a:rPr lang="en-US" altLang="zh-TW" sz="2400" i="1" dirty="0"/>
              <a:t>first</a:t>
            </a:r>
            <a:r>
              <a:rPr lang="en-US" altLang="zh-TW" sz="2400" dirty="0"/>
              <a:t> hole that is big enough</a:t>
            </a:r>
          </a:p>
          <a:p>
            <a:pPr lvl="1" eaLnBrk="1" hangingPunct="1"/>
            <a:r>
              <a:rPr lang="en-US" altLang="zh-TW" sz="2400" b="1" dirty="0"/>
              <a:t>Best-fit</a:t>
            </a:r>
            <a:r>
              <a:rPr lang="en-US" altLang="zh-TW" sz="2400" dirty="0"/>
              <a:t>:  Allocate the </a:t>
            </a:r>
            <a:r>
              <a:rPr lang="en-US" altLang="zh-TW" sz="2400" i="1" dirty="0"/>
              <a:t>smallest</a:t>
            </a:r>
            <a:r>
              <a:rPr lang="en-US" altLang="zh-TW" sz="2400" dirty="0"/>
              <a:t> hole that is big enough </a:t>
            </a:r>
          </a:p>
          <a:p>
            <a:pPr lvl="2" eaLnBrk="1" hangingPunct="1"/>
            <a:r>
              <a:rPr lang="en-US" altLang="zh-TW" sz="2000" dirty="0"/>
              <a:t>Must search </a:t>
            </a:r>
            <a:r>
              <a:rPr lang="en-US" altLang="zh-TW" sz="2000" b="1" dirty="0"/>
              <a:t>entire</a:t>
            </a:r>
            <a:r>
              <a:rPr lang="en-US" altLang="zh-TW" sz="2000" dirty="0"/>
              <a:t> list, unless ordered by size  </a:t>
            </a:r>
          </a:p>
          <a:p>
            <a:pPr lvl="1" eaLnBrk="1" hangingPunct="1"/>
            <a:r>
              <a:rPr lang="en-US" altLang="zh-TW" sz="2400" b="1" dirty="0" smtClean="0"/>
              <a:t>Worst-fit</a:t>
            </a:r>
            <a:r>
              <a:rPr lang="en-US" altLang="zh-TW" sz="2400" dirty="0"/>
              <a:t>:  Allocate the </a:t>
            </a:r>
            <a:r>
              <a:rPr lang="en-US" altLang="zh-TW" sz="2400" i="1" dirty="0"/>
              <a:t>largest</a:t>
            </a:r>
            <a:r>
              <a:rPr lang="en-US" altLang="zh-TW" sz="2400" dirty="0"/>
              <a:t> hole </a:t>
            </a:r>
          </a:p>
          <a:p>
            <a:pPr lvl="2" eaLnBrk="1" hangingPunct="1"/>
            <a:r>
              <a:rPr lang="en-US" altLang="zh-TW" sz="2000" dirty="0"/>
              <a:t>Must </a:t>
            </a:r>
            <a:r>
              <a:rPr lang="en-US" altLang="zh-TW" sz="2000" dirty="0" smtClean="0"/>
              <a:t>search </a:t>
            </a:r>
            <a:r>
              <a:rPr lang="en-US" altLang="zh-TW" sz="2000" b="1" dirty="0"/>
              <a:t>entire</a:t>
            </a:r>
            <a:r>
              <a:rPr lang="en-US" altLang="zh-TW" sz="2000" dirty="0"/>
              <a:t> list, unless ordered by size </a:t>
            </a:r>
          </a:p>
          <a:p>
            <a:pPr eaLnBrk="1" hangingPunct="1"/>
            <a:endParaRPr lang="en-US" altLang="zh-TW" sz="2800" dirty="0"/>
          </a:p>
          <a:p>
            <a:pPr eaLnBrk="1" hangingPunct="1"/>
            <a:r>
              <a:rPr lang="en-US" altLang="zh-TW" sz="2800" dirty="0"/>
              <a:t>First-fit and best-fit better than worst-fit in terms of speed and storage utilization</a:t>
            </a:r>
          </a:p>
          <a:p>
            <a:pPr eaLnBrk="1" hangingPunct="1"/>
            <a:r>
              <a:rPr kumimoji="0" lang="en-US" altLang="zh-TW" sz="2800" dirty="0"/>
              <a:t>Furthermore, first-fit is </a:t>
            </a:r>
            <a:r>
              <a:rPr kumimoji="0" lang="en-US" altLang="zh-TW" sz="2800" b="1" dirty="0" smtClean="0">
                <a:solidFill>
                  <a:srgbClr val="FF3300"/>
                </a:solidFill>
              </a:rPr>
              <a:t>faster</a:t>
            </a:r>
            <a:r>
              <a:rPr kumimoji="0" lang="en-US" altLang="zh-TW" sz="2800" dirty="0"/>
              <a:t>. </a:t>
            </a:r>
            <a:r>
              <a:rPr kumimoji="0" lang="en-US" altLang="zh-TW" sz="2800" b="1" dirty="0"/>
              <a:t>Why?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dirty="0" smtClean="0"/>
              <a:t>Background</a:t>
            </a:r>
          </a:p>
          <a:p>
            <a:pPr eaLnBrk="1" hangingPunct="1"/>
            <a:r>
              <a:rPr lang="en-US" altLang="zh-TW" b="1" dirty="0" smtClean="0">
                <a:solidFill>
                  <a:srgbClr val="FF3300"/>
                </a:solidFill>
              </a:rPr>
              <a:t>Contiguous Memory Allocation</a:t>
            </a:r>
          </a:p>
          <a:p>
            <a:pPr lvl="1" eaLnBrk="1" hangingPunct="1"/>
            <a:r>
              <a:rPr lang="en-US" altLang="zh-TW" dirty="0" smtClean="0"/>
              <a:t>Memory Protection</a:t>
            </a:r>
          </a:p>
          <a:p>
            <a:pPr lvl="1" eaLnBrk="1" hangingPunct="1"/>
            <a:r>
              <a:rPr lang="en-US" altLang="zh-TW" dirty="0" smtClean="0"/>
              <a:t>Memory Allocation</a:t>
            </a:r>
          </a:p>
          <a:p>
            <a:pPr lvl="1" eaLnBrk="1" hangingPunct="1"/>
            <a:r>
              <a:rPr lang="en-US" altLang="zh-TW" b="1" dirty="0" smtClean="0">
                <a:solidFill>
                  <a:srgbClr val="FF0000"/>
                </a:solidFill>
              </a:rPr>
              <a:t>Fragmentation</a:t>
            </a:r>
          </a:p>
          <a:p>
            <a:pPr eaLnBrk="1" hangingPunct="1"/>
            <a:r>
              <a:rPr lang="en-US" altLang="zh-TW" dirty="0" smtClean="0"/>
              <a:t>Paging</a:t>
            </a:r>
          </a:p>
          <a:p>
            <a:pPr eaLnBrk="1" hangingPunct="1"/>
            <a:r>
              <a:rPr lang="en-US" altLang="zh-TW" dirty="0" smtClean="0"/>
              <a:t>Structure of the Page Table</a:t>
            </a:r>
          </a:p>
          <a:p>
            <a:pPr eaLnBrk="1" hangingPunct="1"/>
            <a:r>
              <a:rPr lang="en-US" altLang="zh-TW" dirty="0" smtClean="0"/>
              <a:t>Swapping</a:t>
            </a:r>
          </a:p>
          <a:p>
            <a:pPr eaLnBrk="1" hangingPunct="1"/>
            <a:r>
              <a:rPr lang="en-US" altLang="zh-TW" dirty="0" smtClean="0"/>
              <a:t>Example: Intel 32 and 64-bit Architectures</a:t>
            </a:r>
          </a:p>
          <a:p>
            <a:pPr eaLnBrk="1" hangingPunct="1"/>
            <a:r>
              <a:rPr lang="en-US" altLang="zh-TW" dirty="0" smtClean="0"/>
              <a:t>Example: ARMv8 Architecture</a:t>
            </a:r>
          </a:p>
        </p:txBody>
      </p:sp>
    </p:spTree>
    <p:extLst>
      <p:ext uri="{BB962C8B-B14F-4D97-AF65-F5344CB8AC3E}">
        <p14:creationId xmlns:p14="http://schemas.microsoft.com/office/powerpoint/2010/main" val="524963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Fragmentation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624416" y="1484313"/>
            <a:ext cx="11088207" cy="452596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b="1" dirty="0"/>
              <a:t>External Fragmentation</a:t>
            </a:r>
            <a:r>
              <a:rPr lang="en-US" altLang="zh-TW" sz="2800" dirty="0"/>
              <a:t> </a:t>
            </a:r>
            <a:r>
              <a:rPr lang="en-US" altLang="zh-TW" sz="2800" dirty="0">
                <a:latin typeface="Helvetica" pitchFamily="34" charset="0"/>
              </a:rPr>
              <a:t>–</a:t>
            </a:r>
            <a:r>
              <a:rPr lang="en-US" altLang="zh-TW" sz="2800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 smtClean="0">
                <a:solidFill>
                  <a:srgbClr val="FF3300"/>
                </a:solidFill>
              </a:rPr>
              <a:t>50-percent </a:t>
            </a:r>
            <a:r>
              <a:rPr lang="en-US" altLang="zh-TW" sz="2400" b="1" dirty="0">
                <a:solidFill>
                  <a:srgbClr val="FF3300"/>
                </a:solidFill>
              </a:rPr>
              <a:t>rule</a:t>
            </a:r>
            <a:r>
              <a:rPr lang="en-US" altLang="zh-TW" sz="2400" dirty="0"/>
              <a:t>: for first fit, given </a:t>
            </a:r>
            <a:r>
              <a:rPr lang="en-US" altLang="zh-TW" sz="2400" i="1" dirty="0"/>
              <a:t>N</a:t>
            </a:r>
            <a:r>
              <a:rPr lang="en-US" altLang="zh-TW" sz="2400" dirty="0"/>
              <a:t> allocated blocks, another </a:t>
            </a:r>
            <a:r>
              <a:rPr lang="en-US" altLang="zh-TW" sz="2400" b="1" dirty="0">
                <a:solidFill>
                  <a:srgbClr val="FF3300"/>
                </a:solidFill>
              </a:rPr>
              <a:t>0.5N</a:t>
            </a:r>
            <a:r>
              <a:rPr lang="en-US" altLang="zh-TW" sz="2400" dirty="0"/>
              <a:t> will be lost to fragmentation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/>
              <a:t>1/3 of memory may be unusable!!!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Solutions to reduce external fragmentation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>
                <a:solidFill>
                  <a:srgbClr val="FF3300"/>
                </a:solidFill>
              </a:rPr>
              <a:t>Solution1: Compaction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/>
              <a:t>Shuffle (</a:t>
            </a:r>
            <a:r>
              <a:rPr lang="zh-TW" altLang="en-US" sz="2000" dirty="0">
                <a:latin typeface="標楷體" pitchFamily="65" charset="-120"/>
              </a:rPr>
              <a:t>把</a:t>
            </a:r>
            <a:r>
              <a:rPr lang="en-US" altLang="zh-TW" sz="2000" dirty="0" smtClean="0">
                <a:latin typeface="標楷體" pitchFamily="65" charset="-120"/>
              </a:rPr>
              <a:t>.</a:t>
            </a:r>
            <a:r>
              <a:rPr lang="zh-TW" altLang="en-US" sz="2000" dirty="0" smtClean="0">
                <a:latin typeface="標楷體" pitchFamily="65" charset="-120"/>
              </a:rPr>
              <a:t>移</a:t>
            </a:r>
            <a:r>
              <a:rPr lang="zh-TW" altLang="en-US" sz="2000" dirty="0">
                <a:latin typeface="標楷體" pitchFamily="65" charset="-120"/>
              </a:rPr>
              <a:t>來移去</a:t>
            </a:r>
            <a:r>
              <a:rPr lang="en-US" altLang="zh-TW" sz="2000" dirty="0"/>
              <a:t>) memory contents to place all free memory together in one large block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b="1" dirty="0" smtClean="0">
                <a:solidFill>
                  <a:srgbClr val="FF3300"/>
                </a:solidFill>
              </a:rPr>
              <a:t>Solution2</a:t>
            </a:r>
            <a:r>
              <a:rPr lang="en-US" altLang="zh-TW" sz="2400" b="1" dirty="0">
                <a:solidFill>
                  <a:srgbClr val="FF3300"/>
                </a:solidFill>
              </a:rPr>
              <a:t>: non-contiguous memory allocation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/>
              <a:t>Allow the physical address of the processes to be noncontiguous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 err="1"/>
              <a:t>E.g</a:t>
            </a:r>
            <a:r>
              <a:rPr lang="en-US" altLang="zh-TW" sz="2000" dirty="0"/>
              <a:t>,</a:t>
            </a:r>
            <a:r>
              <a:rPr lang="en-US" altLang="zh-TW" sz="2000" b="1" dirty="0">
                <a:solidFill>
                  <a:srgbClr val="FF3300"/>
                </a:solidFill>
              </a:rPr>
              <a:t> paging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External Fragmentation</a:t>
            </a:r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2" cstate="print"/>
          <a:srcRect l="696" t="14392" r="671" b="14424"/>
          <a:stretch>
            <a:fillRect/>
          </a:stretch>
        </p:blipFill>
        <p:spPr bwMode="auto">
          <a:xfrm>
            <a:off x="1703388" y="1125538"/>
            <a:ext cx="8782050" cy="446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2794916" y="5661026"/>
            <a:ext cx="686252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TW" sz="2200" dirty="0">
                <a:latin typeface="Calibri" panose="020F0502020204030204" pitchFamily="34" charset="0"/>
              </a:rPr>
              <a:t>A request of 650 KB. </a:t>
            </a:r>
          </a:p>
          <a:p>
            <a:pPr algn="ctr"/>
            <a:r>
              <a:rPr lang="en-US" altLang="zh-TW" sz="2200" dirty="0">
                <a:latin typeface="Calibri" panose="020F0502020204030204" pitchFamily="34" charset="0"/>
              </a:rPr>
              <a:t>Total memory is big enough but cannot satisfy this request</a:t>
            </a:r>
          </a:p>
        </p:txBody>
      </p:sp>
      <p:sp>
        <p:nvSpPr>
          <p:cNvPr id="43013" name="Line 5"/>
          <p:cNvSpPr>
            <a:spLocks noChangeShapeType="1"/>
          </p:cNvSpPr>
          <p:nvPr/>
        </p:nvSpPr>
        <p:spPr bwMode="auto">
          <a:xfrm flipH="1">
            <a:off x="8975726" y="5516564"/>
            <a:ext cx="792163" cy="504825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Compaction (I)</a:t>
            </a:r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2" cstate="print"/>
          <a:srcRect l="14316" t="1343" r="14316" b="1343"/>
          <a:stretch>
            <a:fillRect/>
          </a:stretch>
        </p:blipFill>
        <p:spPr bwMode="auto">
          <a:xfrm>
            <a:off x="1847851" y="1412876"/>
            <a:ext cx="8647113" cy="489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9115426" y="6553200"/>
            <a:ext cx="155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400"/>
              <a:t>From Ka, Ha-Zen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Fragmentation (Cont.)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b="1" dirty="0"/>
              <a:t>Internal Fragmentation</a:t>
            </a:r>
            <a:endParaRPr lang="en-US" altLang="zh-TW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Usually, physical memory is broken into fixed-sized </a:t>
            </a:r>
            <a:r>
              <a:rPr lang="en-US" altLang="zh-TW" dirty="0" smtClean="0"/>
              <a:t>blocks</a:t>
            </a:r>
            <a:endParaRPr lang="en-US" altLang="zh-TW" dirty="0"/>
          </a:p>
          <a:p>
            <a:pPr lvl="2" eaLnBrk="1" hangingPunct="1">
              <a:lnSpc>
                <a:spcPct val="90000"/>
              </a:lnSpc>
            </a:pPr>
            <a:r>
              <a:rPr lang="en-US" altLang="zh-TW" dirty="0"/>
              <a:t>Memory is allocated to processes in </a:t>
            </a:r>
            <a:r>
              <a:rPr lang="en-US" altLang="zh-TW" dirty="0" smtClean="0"/>
              <a:t>unit of block sizes</a:t>
            </a:r>
            <a:endParaRPr lang="en-US" altLang="zh-TW" sz="2800" b="1" dirty="0" smtClean="0">
              <a:solidFill>
                <a:srgbClr val="FF33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b="1" dirty="0" smtClean="0">
                <a:solidFill>
                  <a:srgbClr val="FF3300"/>
                </a:solidFill>
              </a:rPr>
              <a:t>Allocated</a:t>
            </a:r>
            <a:r>
              <a:rPr lang="en-US" altLang="zh-TW" dirty="0" smtClean="0"/>
              <a:t> </a:t>
            </a:r>
            <a:r>
              <a:rPr lang="en-US" altLang="zh-TW" dirty="0"/>
              <a:t>memory may be slightly larger than </a:t>
            </a:r>
            <a:r>
              <a:rPr lang="en-US" altLang="zh-TW" b="1" dirty="0">
                <a:solidFill>
                  <a:srgbClr val="0000FF"/>
                </a:solidFill>
              </a:rPr>
              <a:t>requested</a:t>
            </a:r>
            <a:r>
              <a:rPr lang="en-US" altLang="zh-TW" dirty="0"/>
              <a:t> memory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dirty="0"/>
              <a:t>Example</a:t>
            </a:r>
          </a:p>
          <a:p>
            <a:pPr lvl="3" eaLnBrk="1" hangingPunct="1">
              <a:spcBef>
                <a:spcPts val="600"/>
              </a:spcBef>
            </a:pPr>
            <a:r>
              <a:rPr lang="en-US" altLang="zh-TW" dirty="0"/>
              <a:t>A block = 1024 bytes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zh-TW" dirty="0"/>
              <a:t>Request memory = 1000 bytes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zh-TW" dirty="0"/>
              <a:t>Allocated memory = 1 block = 1024 bytes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zh-TW" dirty="0"/>
              <a:t>Internal fragmentation = 24 </a:t>
            </a:r>
            <a:r>
              <a:rPr lang="en-US" altLang="zh-TW" dirty="0" smtClean="0"/>
              <a:t>bytes</a:t>
            </a:r>
            <a:endParaRPr lang="en-US" altLang="zh-TW" sz="28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dirty="0" smtClean="0"/>
              <a:t>This </a:t>
            </a:r>
            <a:r>
              <a:rPr lang="en-US" altLang="zh-TW" dirty="0"/>
              <a:t>size difference is </a:t>
            </a:r>
            <a:r>
              <a:rPr lang="en-US" altLang="zh-TW" b="1" dirty="0" smtClean="0"/>
              <a:t>internal</a:t>
            </a:r>
            <a:r>
              <a:rPr lang="en-US" altLang="zh-TW" dirty="0" smtClean="0"/>
              <a:t> </a:t>
            </a:r>
            <a:r>
              <a:rPr lang="en-US" altLang="zh-TW" dirty="0"/>
              <a:t>to a </a:t>
            </a:r>
            <a:r>
              <a:rPr lang="en-US" altLang="zh-TW" dirty="0" smtClean="0"/>
              <a:t>partition, but not being used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zh-TW" dirty="0" smtClean="0"/>
              <a:t>Background</a:t>
            </a:r>
          </a:p>
          <a:p>
            <a:pPr eaLnBrk="1" hangingPunct="1"/>
            <a:r>
              <a:rPr lang="en-US" altLang="zh-TW" dirty="0" smtClean="0"/>
              <a:t>Contiguous Memory Allocation</a:t>
            </a:r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Paging</a:t>
            </a:r>
          </a:p>
          <a:p>
            <a:pPr lvl="1" eaLnBrk="1" hangingPunct="1"/>
            <a:r>
              <a:rPr lang="en-US" altLang="zh-TW" b="1" dirty="0" smtClean="0">
                <a:solidFill>
                  <a:srgbClr val="FF0000"/>
                </a:solidFill>
              </a:rPr>
              <a:t>Basic Method</a:t>
            </a:r>
          </a:p>
          <a:p>
            <a:pPr lvl="1" eaLnBrk="1" hangingPunct="1"/>
            <a:r>
              <a:rPr lang="en-US" altLang="zh-TW" dirty="0" smtClean="0"/>
              <a:t>Hardware Support</a:t>
            </a:r>
          </a:p>
          <a:p>
            <a:pPr lvl="1" eaLnBrk="1" hangingPunct="1"/>
            <a:r>
              <a:rPr lang="en-US" altLang="zh-TW" dirty="0" smtClean="0"/>
              <a:t>Protection</a:t>
            </a:r>
          </a:p>
          <a:p>
            <a:pPr lvl="1" eaLnBrk="1" hangingPunct="1"/>
            <a:r>
              <a:rPr lang="en-US" altLang="zh-TW" dirty="0" smtClean="0"/>
              <a:t>Shared Pages</a:t>
            </a:r>
          </a:p>
          <a:p>
            <a:pPr eaLnBrk="1" hangingPunct="1"/>
            <a:r>
              <a:rPr lang="en-US" altLang="zh-TW" dirty="0" smtClean="0"/>
              <a:t>Structure of the Page Table</a:t>
            </a:r>
          </a:p>
          <a:p>
            <a:pPr eaLnBrk="1" hangingPunct="1"/>
            <a:r>
              <a:rPr lang="en-US" altLang="zh-TW" dirty="0" smtClean="0"/>
              <a:t>Swapping</a:t>
            </a:r>
          </a:p>
          <a:p>
            <a:pPr eaLnBrk="1" hangingPunct="1"/>
            <a:r>
              <a:rPr lang="en-US" altLang="zh-TW" dirty="0" smtClean="0"/>
              <a:t>Example: Intel 32 and 64-bit Architectures</a:t>
            </a:r>
          </a:p>
          <a:p>
            <a:pPr eaLnBrk="1" hangingPunct="1"/>
            <a:r>
              <a:rPr lang="en-US" altLang="zh-TW" dirty="0" smtClean="0"/>
              <a:t>Example: ARMv8 Architecture</a:t>
            </a:r>
          </a:p>
        </p:txBody>
      </p:sp>
    </p:spTree>
    <p:extLst>
      <p:ext uri="{BB962C8B-B14F-4D97-AF65-F5344CB8AC3E}">
        <p14:creationId xmlns:p14="http://schemas.microsoft.com/office/powerpoint/2010/main" val="1682659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Paging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Introduction</a:t>
            </a:r>
          </a:p>
          <a:p>
            <a:pPr lvl="1"/>
            <a:r>
              <a:rPr lang="en-US" altLang="zh-TW" dirty="0" smtClean="0"/>
              <a:t>Widely used, ranging from server to mobile devices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Implemented through cooperation between </a:t>
            </a:r>
            <a:r>
              <a:rPr lang="en-US" altLang="zh-TW" b="1" dirty="0" smtClean="0"/>
              <a:t>OS</a:t>
            </a:r>
            <a:r>
              <a:rPr lang="en-US" altLang="zh-TW" dirty="0" smtClean="0"/>
              <a:t> and </a:t>
            </a:r>
            <a:r>
              <a:rPr lang="en-US" altLang="zh-TW" b="1" dirty="0" smtClean="0"/>
              <a:t>hardware</a:t>
            </a:r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989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How </a:t>
            </a:r>
            <a:r>
              <a:rPr lang="en-US" altLang="zh-TW" dirty="0"/>
              <a:t>to Implement </a:t>
            </a:r>
            <a:r>
              <a:rPr lang="en-US" altLang="zh-TW" dirty="0">
                <a:solidFill>
                  <a:srgbClr val="FF3300"/>
                </a:solidFill>
              </a:rPr>
              <a:t>Non-Contiguous Memory Allocation?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dirty="0"/>
              <a:t>程式在記憶體是不連續擺放的</a:t>
            </a:r>
          </a:p>
        </p:txBody>
      </p:sp>
    </p:spTree>
    <p:extLst>
      <p:ext uri="{BB962C8B-B14F-4D97-AF65-F5344CB8AC3E}">
        <p14:creationId xmlns:p14="http://schemas.microsoft.com/office/powerpoint/2010/main" val="1376297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Idea of Paging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4416" y="1484313"/>
            <a:ext cx="11376240" cy="2016695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Physical</a:t>
            </a:r>
            <a:r>
              <a:rPr lang="en-US" altLang="zh-TW" dirty="0" smtClean="0"/>
              <a:t> </a:t>
            </a:r>
            <a:r>
              <a:rPr lang="en-US" altLang="zh-TW" dirty="0"/>
              <a:t>address space of a process </a:t>
            </a:r>
            <a:r>
              <a:rPr lang="en-US" altLang="zh-TW" dirty="0" smtClean="0"/>
              <a:t>is </a:t>
            </a:r>
            <a:r>
              <a:rPr lang="en-US" altLang="zh-TW" b="1" dirty="0" smtClean="0"/>
              <a:t>noncontiguous</a:t>
            </a:r>
            <a:endParaRPr lang="en-US" altLang="zh-TW" b="1" dirty="0"/>
          </a:p>
        </p:txBody>
      </p:sp>
      <p:grpSp>
        <p:nvGrpSpPr>
          <p:cNvPr id="10" name="群組 9"/>
          <p:cNvGrpSpPr/>
          <p:nvPr/>
        </p:nvGrpSpPr>
        <p:grpSpPr>
          <a:xfrm>
            <a:off x="4871864" y="2564904"/>
            <a:ext cx="1743075" cy="3240360"/>
            <a:chOff x="6816080" y="3284984"/>
            <a:chExt cx="1743075" cy="3240360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16080" y="3284984"/>
              <a:ext cx="1743075" cy="3240360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>
              <a:off x="7248128" y="5886127"/>
              <a:ext cx="1080120" cy="144016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7320136" y="4512940"/>
              <a:ext cx="1080120" cy="144016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7349958" y="4833156"/>
              <a:ext cx="1080120" cy="144016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7262507" y="3782712"/>
              <a:ext cx="1080120" cy="144016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3135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Idea of Paging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4416" y="1484313"/>
            <a:ext cx="11376240" cy="2016695"/>
          </a:xfrm>
        </p:spPr>
        <p:txBody>
          <a:bodyPr>
            <a:normAutofit/>
          </a:bodyPr>
          <a:lstStyle/>
          <a:p>
            <a:r>
              <a:rPr lang="en-US" altLang="zh-TW" b="1" dirty="0" smtClean="0"/>
              <a:t>But, logically</a:t>
            </a:r>
            <a:r>
              <a:rPr lang="en-US" altLang="zh-TW" dirty="0" smtClean="0"/>
              <a:t>, program is consider continuous by programmers/compilers</a:t>
            </a:r>
          </a:p>
        </p:txBody>
      </p:sp>
      <p:grpSp>
        <p:nvGrpSpPr>
          <p:cNvPr id="11" name="Group 3"/>
          <p:cNvGrpSpPr>
            <a:grpSpLocks/>
          </p:cNvGrpSpPr>
          <p:nvPr/>
        </p:nvGrpSpPr>
        <p:grpSpPr bwMode="auto">
          <a:xfrm>
            <a:off x="4655840" y="2780928"/>
            <a:ext cx="2974825" cy="3079914"/>
            <a:chOff x="3440" y="1532"/>
            <a:chExt cx="2093" cy="2442"/>
          </a:xfrm>
        </p:grpSpPr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3765" y="1610"/>
              <a:ext cx="1160" cy="203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4" name="Text Box 6"/>
            <p:cNvSpPr txBox="1">
              <a:spLocks noChangeArrowheads="1"/>
            </p:cNvSpPr>
            <p:nvPr/>
          </p:nvSpPr>
          <p:spPr bwMode="auto">
            <a:xfrm>
              <a:off x="3573" y="1532"/>
              <a:ext cx="178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>
                  <a:latin typeface="Calibri" panose="020F0502020204030204" pitchFamily="34" charset="0"/>
                  <a:ea typeface="標楷體" pitchFamily="65" charset="-120"/>
                </a:rPr>
                <a:t>0</a:t>
              </a:r>
            </a:p>
          </p:txBody>
        </p:sp>
        <p:sp>
          <p:nvSpPr>
            <p:cNvPr id="15" name="Text Box 7"/>
            <p:cNvSpPr txBox="1">
              <a:spLocks noChangeArrowheads="1"/>
            </p:cNvSpPr>
            <p:nvPr/>
          </p:nvSpPr>
          <p:spPr bwMode="auto">
            <a:xfrm>
              <a:off x="3762" y="1985"/>
              <a:ext cx="610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>
                  <a:latin typeface="Calibri" panose="020F0502020204030204" pitchFamily="34" charset="0"/>
                  <a:ea typeface="標楷體" pitchFamily="65" charset="-120"/>
                </a:rPr>
                <a:t>JUMP  400</a:t>
              </a:r>
            </a:p>
          </p:txBody>
        </p:sp>
        <p:sp>
          <p:nvSpPr>
            <p:cNvPr id="16" name="Text Box 8"/>
            <p:cNvSpPr txBox="1">
              <a:spLocks noChangeArrowheads="1"/>
            </p:cNvSpPr>
            <p:nvPr/>
          </p:nvSpPr>
          <p:spPr bwMode="auto">
            <a:xfrm>
              <a:off x="3762" y="2522"/>
              <a:ext cx="65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>
                  <a:latin typeface="Calibri" panose="020F0502020204030204" pitchFamily="34" charset="0"/>
                  <a:ea typeface="標楷體" pitchFamily="65" charset="-120"/>
                </a:rPr>
                <a:t>LOAD  1200</a:t>
              </a:r>
            </a:p>
          </p:txBody>
        </p:sp>
        <p:sp>
          <p:nvSpPr>
            <p:cNvPr id="17" name="Line 9"/>
            <p:cNvSpPr>
              <a:spLocks noChangeShapeType="1"/>
            </p:cNvSpPr>
            <p:nvPr/>
          </p:nvSpPr>
          <p:spPr bwMode="auto">
            <a:xfrm>
              <a:off x="3765" y="2817"/>
              <a:ext cx="11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8" name="Text Box 10"/>
            <p:cNvSpPr txBox="1">
              <a:spLocks noChangeArrowheads="1"/>
            </p:cNvSpPr>
            <p:nvPr/>
          </p:nvSpPr>
          <p:spPr bwMode="auto">
            <a:xfrm>
              <a:off x="3462" y="2207"/>
              <a:ext cx="289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>
                  <a:latin typeface="Calibri" panose="020F0502020204030204" pitchFamily="34" charset="0"/>
                  <a:ea typeface="標楷體" pitchFamily="65" charset="-120"/>
                </a:rPr>
                <a:t>400</a:t>
              </a:r>
            </a:p>
          </p:txBody>
        </p:sp>
        <p:sp>
          <p:nvSpPr>
            <p:cNvPr id="19" name="Text Box 11"/>
            <p:cNvSpPr txBox="1">
              <a:spLocks noChangeArrowheads="1"/>
            </p:cNvSpPr>
            <p:nvPr/>
          </p:nvSpPr>
          <p:spPr bwMode="auto">
            <a:xfrm>
              <a:off x="3440" y="3210"/>
              <a:ext cx="347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>
                  <a:latin typeface="Calibri" panose="020F0502020204030204" pitchFamily="34" charset="0"/>
                  <a:ea typeface="標楷體" pitchFamily="65" charset="-120"/>
                </a:rPr>
                <a:t>1200</a:t>
              </a:r>
            </a:p>
          </p:txBody>
        </p:sp>
        <p:sp>
          <p:nvSpPr>
            <p:cNvPr id="20" name="Freeform 12"/>
            <p:cNvSpPr>
              <a:spLocks/>
            </p:cNvSpPr>
            <p:nvPr/>
          </p:nvSpPr>
          <p:spPr bwMode="auto">
            <a:xfrm>
              <a:off x="4830" y="2067"/>
              <a:ext cx="703" cy="237"/>
            </a:xfrm>
            <a:custGeom>
              <a:avLst/>
              <a:gdLst>
                <a:gd name="T0" fmla="*/ 0 w 703"/>
                <a:gd name="T1" fmla="*/ 0 h 237"/>
                <a:gd name="T2" fmla="*/ 703 w 703"/>
                <a:gd name="T3" fmla="*/ 0 h 237"/>
                <a:gd name="T4" fmla="*/ 703 w 703"/>
                <a:gd name="T5" fmla="*/ 237 h 237"/>
                <a:gd name="T6" fmla="*/ 174 w 703"/>
                <a:gd name="T7" fmla="*/ 237 h 2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3"/>
                <a:gd name="T13" fmla="*/ 0 h 237"/>
                <a:gd name="T14" fmla="*/ 703 w 703"/>
                <a:gd name="T15" fmla="*/ 237 h 2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3" h="237">
                  <a:moveTo>
                    <a:pt x="0" y="0"/>
                  </a:moveTo>
                  <a:lnTo>
                    <a:pt x="703" y="0"/>
                  </a:lnTo>
                  <a:lnTo>
                    <a:pt x="703" y="237"/>
                  </a:lnTo>
                  <a:lnTo>
                    <a:pt x="174" y="237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21" name="Freeform 13"/>
            <p:cNvSpPr>
              <a:spLocks/>
            </p:cNvSpPr>
            <p:nvPr/>
          </p:nvSpPr>
          <p:spPr bwMode="auto">
            <a:xfrm>
              <a:off x="4830" y="2635"/>
              <a:ext cx="703" cy="647"/>
            </a:xfrm>
            <a:custGeom>
              <a:avLst/>
              <a:gdLst>
                <a:gd name="T0" fmla="*/ 0 w 703"/>
                <a:gd name="T1" fmla="*/ 0 h 237"/>
                <a:gd name="T2" fmla="*/ 703 w 703"/>
                <a:gd name="T3" fmla="*/ 0 h 237"/>
                <a:gd name="T4" fmla="*/ 703 w 703"/>
                <a:gd name="T5" fmla="*/ 1766 h 237"/>
                <a:gd name="T6" fmla="*/ 174 w 703"/>
                <a:gd name="T7" fmla="*/ 1766 h 2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03"/>
                <a:gd name="T13" fmla="*/ 0 h 237"/>
                <a:gd name="T14" fmla="*/ 703 w 703"/>
                <a:gd name="T15" fmla="*/ 237 h 2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03" h="237">
                  <a:moveTo>
                    <a:pt x="0" y="0"/>
                  </a:moveTo>
                  <a:lnTo>
                    <a:pt x="703" y="0"/>
                  </a:lnTo>
                  <a:lnTo>
                    <a:pt x="703" y="237"/>
                  </a:lnTo>
                  <a:lnTo>
                    <a:pt x="174" y="237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22" name="Text Box 14"/>
            <p:cNvSpPr txBox="1">
              <a:spLocks noChangeArrowheads="1"/>
            </p:cNvSpPr>
            <p:nvPr/>
          </p:nvSpPr>
          <p:spPr bwMode="auto">
            <a:xfrm>
              <a:off x="4000" y="3641"/>
              <a:ext cx="690" cy="3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1800" dirty="0" smtClean="0">
                  <a:latin typeface="Calibri" panose="020F0502020204030204" pitchFamily="34" charset="0"/>
                  <a:ea typeface="標楷體" pitchFamily="65" charset="-120"/>
                </a:rPr>
                <a:t>Program</a:t>
              </a:r>
              <a:endParaRPr lang="en-US" altLang="zh-TW" sz="1800" dirty="0">
                <a:latin typeface="Calibri" panose="020F0502020204030204" pitchFamily="34" charset="0"/>
                <a:ea typeface="標楷體" pitchFamily="65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9583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>
                <a:latin typeface="Calibri" panose="020F0502020204030204" pitchFamily="34" charset="0"/>
              </a:rPr>
              <a:t>複習：</a:t>
            </a:r>
            <a:r>
              <a:rPr lang="en-US" altLang="zh-TW" dirty="0" smtClean="0">
                <a:latin typeface="Calibri" panose="020F0502020204030204" pitchFamily="34" charset="0"/>
              </a:rPr>
              <a:t>Process</a:t>
            </a:r>
            <a:endParaRPr lang="en-US" altLang="zh-TW" dirty="0">
              <a:latin typeface="Calibri" panose="020F0502020204030204" pitchFamily="34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 l="27092" t="1192" r="27121" b="1192"/>
          <a:stretch>
            <a:fillRect/>
          </a:stretch>
        </p:blipFill>
        <p:spPr bwMode="auto">
          <a:xfrm>
            <a:off x="3215680" y="1485230"/>
            <a:ext cx="3889375" cy="453707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8" name="左大括弧 7"/>
          <p:cNvSpPr/>
          <p:nvPr/>
        </p:nvSpPr>
        <p:spPr>
          <a:xfrm flipH="1">
            <a:off x="7105055" y="1485229"/>
            <a:ext cx="1008112" cy="4537075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8116933" y="3573016"/>
            <a:ext cx="18674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Logical memory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814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dirty="0"/>
              <a:t>複習： </a:t>
            </a:r>
            <a:r>
              <a:rPr lang="en-US" altLang="zh-TW" sz="4000" dirty="0" smtClean="0"/>
              <a:t>Actual </a:t>
            </a:r>
            <a:r>
              <a:rPr lang="en-US" altLang="zh-TW" sz="4000" dirty="0"/>
              <a:t>Memory Layout of a C Program</a:t>
            </a:r>
            <a:endParaRPr lang="zh-TW" altLang="en-US" sz="4000" dirty="0"/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1340768"/>
            <a:ext cx="8280151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左大括弧 2"/>
          <p:cNvSpPr/>
          <p:nvPr/>
        </p:nvSpPr>
        <p:spPr>
          <a:xfrm>
            <a:off x="2567608" y="1556792"/>
            <a:ext cx="648072" cy="4824536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767408" y="3789040"/>
            <a:ext cx="18674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Logical memory</a:t>
            </a:r>
            <a:endParaRPr lang="zh-TW" altLang="en-US" sz="20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08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980728"/>
            <a:ext cx="10363200" cy="1470025"/>
          </a:xfrm>
        </p:spPr>
        <p:txBody>
          <a:bodyPr/>
          <a:lstStyle/>
          <a:p>
            <a:r>
              <a:rPr lang="en-US" altLang="zh-TW" dirty="0"/>
              <a:t>Question: how to translate from logical memory to physical memory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6945213" y="3068960"/>
            <a:ext cx="1743075" cy="3240360"/>
            <a:chOff x="6816080" y="3284984"/>
            <a:chExt cx="1743075" cy="3240360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16080" y="3284984"/>
              <a:ext cx="1743075" cy="3240360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7248128" y="5886127"/>
              <a:ext cx="1080120" cy="144016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7320136" y="4512940"/>
              <a:ext cx="1080120" cy="144016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7349958" y="4833156"/>
              <a:ext cx="1080120" cy="144016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7262507" y="3782712"/>
              <a:ext cx="1080120" cy="144016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0" name="Group 3"/>
          <p:cNvGrpSpPr>
            <a:grpSpLocks/>
          </p:cNvGrpSpPr>
          <p:nvPr/>
        </p:nvGrpSpPr>
        <p:grpSpPr bwMode="auto">
          <a:xfrm>
            <a:off x="2242196" y="3140969"/>
            <a:ext cx="2110662" cy="3079914"/>
            <a:chOff x="3440" y="1532"/>
            <a:chExt cx="1485" cy="2442"/>
          </a:xfrm>
        </p:grpSpPr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3765" y="1610"/>
              <a:ext cx="1160" cy="203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latin typeface="Calibri" panose="020F0502020204030204" pitchFamily="34" charset="0"/>
              </a:endParaRPr>
            </a:p>
          </p:txBody>
        </p:sp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3573" y="1532"/>
              <a:ext cx="178" cy="1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>
                  <a:latin typeface="Calibri" panose="020F0502020204030204" pitchFamily="34" charset="0"/>
                  <a:ea typeface="標楷體" pitchFamily="65" charset="-120"/>
                </a:rPr>
                <a:t>0</a:t>
              </a:r>
            </a:p>
          </p:txBody>
        </p:sp>
        <p:sp>
          <p:nvSpPr>
            <p:cNvPr id="16" name="Text Box 10"/>
            <p:cNvSpPr txBox="1">
              <a:spLocks noChangeArrowheads="1"/>
            </p:cNvSpPr>
            <p:nvPr/>
          </p:nvSpPr>
          <p:spPr bwMode="auto">
            <a:xfrm>
              <a:off x="3462" y="2207"/>
              <a:ext cx="289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>
                  <a:latin typeface="Calibri" panose="020F0502020204030204" pitchFamily="34" charset="0"/>
                  <a:ea typeface="標楷體" pitchFamily="65" charset="-120"/>
                </a:rPr>
                <a:t>400</a:t>
              </a:r>
            </a:p>
          </p:txBody>
        </p:sp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3440" y="3508"/>
              <a:ext cx="347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400" b="1" dirty="0">
                  <a:latin typeface="Calibri" panose="020F0502020204030204" pitchFamily="34" charset="0"/>
                  <a:ea typeface="標楷體" pitchFamily="65" charset="-120"/>
                </a:rPr>
                <a:t>1200</a:t>
              </a:r>
            </a:p>
          </p:txBody>
        </p:sp>
        <p:sp>
          <p:nvSpPr>
            <p:cNvPr id="20" name="Text Box 14"/>
            <p:cNvSpPr txBox="1">
              <a:spLocks noChangeArrowheads="1"/>
            </p:cNvSpPr>
            <p:nvPr/>
          </p:nvSpPr>
          <p:spPr bwMode="auto">
            <a:xfrm>
              <a:off x="4000" y="3641"/>
              <a:ext cx="690" cy="3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1800" dirty="0" smtClean="0">
                  <a:latin typeface="Calibri" panose="020F0502020204030204" pitchFamily="34" charset="0"/>
                  <a:ea typeface="標楷體" pitchFamily="65" charset="-120"/>
                </a:rPr>
                <a:t>Program</a:t>
              </a:r>
              <a:endParaRPr lang="en-US" altLang="zh-TW" sz="1800" dirty="0">
                <a:latin typeface="Calibri" panose="020F0502020204030204" pitchFamily="34" charset="0"/>
                <a:ea typeface="標楷體" pitchFamily="65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640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Basic Method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altLang="zh-TW" dirty="0"/>
              <a:t>Divide </a:t>
            </a:r>
            <a:r>
              <a:rPr lang="en-US" altLang="zh-TW" b="1" dirty="0"/>
              <a:t>physical memory </a:t>
            </a:r>
            <a:r>
              <a:rPr lang="en-US" altLang="zh-TW" dirty="0"/>
              <a:t>into fixed-sized blocks called </a:t>
            </a:r>
            <a:r>
              <a:rPr lang="en-US" altLang="zh-TW" b="1" dirty="0">
                <a:solidFill>
                  <a:srgbClr val="FF0000"/>
                </a:solidFill>
              </a:rPr>
              <a:t>frames</a:t>
            </a:r>
            <a:r>
              <a:rPr lang="en-US" altLang="zh-TW" dirty="0"/>
              <a:t> </a:t>
            </a:r>
          </a:p>
          <a:p>
            <a:pPr lvl="1">
              <a:spcBef>
                <a:spcPts val="600"/>
              </a:spcBef>
            </a:pPr>
            <a:r>
              <a:rPr lang="en-US" altLang="zh-TW" dirty="0"/>
              <a:t>Size is power of 2, between </a:t>
            </a:r>
            <a:r>
              <a:rPr lang="en-US" altLang="zh-TW" dirty="0" smtClean="0"/>
              <a:t>4 KB </a:t>
            </a:r>
            <a:r>
              <a:rPr lang="en-US" altLang="zh-TW" dirty="0"/>
              <a:t>and </a:t>
            </a:r>
            <a:r>
              <a:rPr lang="en-US" altLang="zh-TW" dirty="0" smtClean="0"/>
              <a:t>1 GB</a:t>
            </a:r>
            <a:endParaRPr lang="en-US" altLang="zh-TW" dirty="0"/>
          </a:p>
          <a:p>
            <a:pPr lvl="1">
              <a:spcBef>
                <a:spcPts val="600"/>
              </a:spcBef>
            </a:pPr>
            <a:r>
              <a:rPr lang="en-US" altLang="zh-TW" dirty="0"/>
              <a:t>Defined by </a:t>
            </a:r>
            <a:r>
              <a:rPr lang="en-US" altLang="zh-TW" b="1" dirty="0" smtClean="0">
                <a:solidFill>
                  <a:srgbClr val="FF0000"/>
                </a:solidFill>
              </a:rPr>
              <a:t>hardware. Why?</a:t>
            </a:r>
            <a:endParaRPr lang="en-US" altLang="zh-TW" b="1" dirty="0">
              <a:solidFill>
                <a:srgbClr val="FF0000"/>
              </a:solidFill>
            </a:endParaRPr>
          </a:p>
          <a:p>
            <a:pPr lvl="1">
              <a:spcBef>
                <a:spcPts val="600"/>
              </a:spcBef>
            </a:pPr>
            <a:r>
              <a:rPr lang="en-US" altLang="zh-TW" dirty="0" smtClean="0"/>
              <a:t>See the following slide</a:t>
            </a:r>
          </a:p>
          <a:p>
            <a:pPr lvl="1">
              <a:spcBef>
                <a:spcPts val="600"/>
              </a:spcBef>
            </a:pPr>
            <a:endParaRPr lang="en-US" altLang="zh-TW" dirty="0"/>
          </a:p>
          <a:p>
            <a:pPr>
              <a:spcBef>
                <a:spcPts val="600"/>
              </a:spcBef>
            </a:pPr>
            <a:r>
              <a:rPr lang="en-US" altLang="zh-TW" dirty="0"/>
              <a:t>Divide </a:t>
            </a:r>
            <a:r>
              <a:rPr lang="en-US" altLang="zh-TW" b="1" dirty="0"/>
              <a:t>logical memory </a:t>
            </a:r>
            <a:r>
              <a:rPr lang="en-US" altLang="zh-TW" dirty="0"/>
              <a:t>into blocks of </a:t>
            </a:r>
            <a:r>
              <a:rPr lang="en-US" altLang="zh-TW" dirty="0">
                <a:solidFill>
                  <a:srgbClr val="0000FF"/>
                </a:solidFill>
              </a:rPr>
              <a:t>the same size </a:t>
            </a:r>
            <a:r>
              <a:rPr lang="en-US" altLang="zh-TW" dirty="0"/>
              <a:t>called </a:t>
            </a:r>
            <a:r>
              <a:rPr lang="en-US" altLang="zh-TW" b="1" dirty="0" smtClean="0">
                <a:solidFill>
                  <a:srgbClr val="FF0000"/>
                </a:solidFill>
              </a:rPr>
              <a:t>pages</a:t>
            </a:r>
            <a:endParaRPr lang="en-US" altLang="zh-TW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069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/>
              <a:t>Paging Model of Logical and Physical Memory</a:t>
            </a:r>
            <a:endParaRPr lang="en-US" altLang="zh-TW" sz="3200"/>
          </a:p>
        </p:txBody>
      </p:sp>
      <p:grpSp>
        <p:nvGrpSpPr>
          <p:cNvPr id="3" name="群組 2"/>
          <p:cNvGrpSpPr/>
          <p:nvPr/>
        </p:nvGrpSpPr>
        <p:grpSpPr>
          <a:xfrm>
            <a:off x="1718329" y="1412776"/>
            <a:ext cx="8784976" cy="4824536"/>
            <a:chOff x="1718329" y="1556792"/>
            <a:chExt cx="8784976" cy="4824536"/>
          </a:xfrm>
        </p:grpSpPr>
        <p:pic>
          <p:nvPicPr>
            <p:cNvPr id="48131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 l="10391" t="623" r="10611" b="951"/>
            <a:stretch>
              <a:fillRect/>
            </a:stretch>
          </p:blipFill>
          <p:spPr bwMode="auto">
            <a:xfrm>
              <a:off x="1718329" y="1556792"/>
              <a:ext cx="8784976" cy="4824536"/>
            </a:xfrm>
            <a:prstGeom prst="rect">
              <a:avLst/>
            </a:prstGeom>
            <a:noFill/>
            <a:ln w="38100" cmpd="dbl">
              <a:solidFill>
                <a:srgbClr val="CC6600"/>
              </a:solidFill>
              <a:miter lim="800000"/>
              <a:headEnd/>
              <a:tailEnd/>
            </a:ln>
          </p:spPr>
        </p:pic>
        <p:sp>
          <p:nvSpPr>
            <p:cNvPr id="2" name="矩形 1"/>
            <p:cNvSpPr/>
            <p:nvPr/>
          </p:nvSpPr>
          <p:spPr>
            <a:xfrm>
              <a:off x="5015880" y="2132856"/>
              <a:ext cx="2376264" cy="21602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3186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Question: how to translate from logical memory to physical memory?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1" dirty="0" err="1" smtClean="0"/>
              <a:t>Ans</a:t>
            </a:r>
            <a:r>
              <a:rPr lang="en-US" altLang="zh-TW" b="1" dirty="0" smtClean="0"/>
              <a:t>: OS</a:t>
            </a:r>
            <a:r>
              <a:rPr lang="en-US" altLang="zh-TW" dirty="0" smtClean="0"/>
              <a:t> </a:t>
            </a:r>
            <a:r>
              <a:rPr lang="en-US" altLang="zh-TW" dirty="0"/>
              <a:t>sets up a </a:t>
            </a:r>
            <a:r>
              <a:rPr lang="en-US" altLang="zh-TW" b="1" dirty="0"/>
              <a:t>page table </a:t>
            </a:r>
            <a:r>
              <a:rPr lang="en-US" altLang="zh-TW" dirty="0"/>
              <a:t>to translate logical to physical addresses for each </a:t>
            </a:r>
            <a:r>
              <a:rPr lang="en-US" altLang="zh-TW" dirty="0" smtClean="0"/>
              <a:t>process </a:t>
            </a:r>
          </a:p>
          <a:p>
            <a:r>
              <a:rPr lang="en-US" altLang="zh-TW" dirty="0" smtClean="0"/>
              <a:t>(see the following slide)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12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/>
              <a:t>Paging Model of Logical and Physical Memory</a:t>
            </a:r>
            <a:endParaRPr lang="en-US" altLang="zh-TW" sz="3200"/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2" cstate="print"/>
          <a:srcRect l="10391" t="623" r="10611" b="951"/>
          <a:stretch>
            <a:fillRect/>
          </a:stretch>
        </p:blipFill>
        <p:spPr bwMode="auto">
          <a:xfrm>
            <a:off x="1718329" y="1340768"/>
            <a:ext cx="8784976" cy="4824536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Paging </a:t>
            </a:r>
            <a:r>
              <a:rPr lang="en-US" altLang="zh-TW" dirty="0" smtClean="0"/>
              <a:t>Characteristics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/>
              <a:t>Characteristics</a:t>
            </a:r>
            <a:endParaRPr lang="en-US" altLang="zh-TW" b="1" dirty="0"/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Do </a:t>
            </a:r>
            <a:r>
              <a:rPr lang="en-US" altLang="zh-TW" dirty="0"/>
              <a:t>not have </a:t>
            </a:r>
            <a:r>
              <a:rPr lang="en-US" altLang="zh-TW" b="1" dirty="0"/>
              <a:t>external fragmentation </a:t>
            </a:r>
            <a:r>
              <a:rPr lang="en-US" altLang="zh-TW" dirty="0" smtClean="0"/>
              <a:t>problem</a:t>
            </a:r>
          </a:p>
          <a:p>
            <a:pPr lvl="1"/>
            <a:endParaRPr lang="en-US" altLang="en-US" dirty="0" smtClean="0"/>
          </a:p>
          <a:p>
            <a:pPr lvl="1"/>
            <a:r>
              <a:rPr lang="en-US" altLang="en-US" dirty="0" smtClean="0"/>
              <a:t>Still </a:t>
            </a:r>
            <a:r>
              <a:rPr lang="en-US" altLang="en-US" dirty="0"/>
              <a:t>have </a:t>
            </a:r>
            <a:r>
              <a:rPr lang="en-US" altLang="en-US" b="1" dirty="0"/>
              <a:t>Internal </a:t>
            </a:r>
            <a:r>
              <a:rPr lang="en-US" altLang="en-US" b="1" dirty="0" smtClean="0"/>
              <a:t>fragmentation</a:t>
            </a:r>
            <a:endParaRPr lang="en-US" altLang="zh-TW" dirty="0"/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920522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誰負責轉換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MMU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7590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Memory-Management </a:t>
            </a:r>
            <a:r>
              <a:rPr lang="en-US" altLang="zh-TW" dirty="0"/>
              <a:t>Unit (</a:t>
            </a:r>
            <a:r>
              <a:rPr lang="en-US" altLang="zh-TW" sz="3600" dirty="0"/>
              <a:t>MMU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smtClean="0"/>
              <a:t>Run-time</a:t>
            </a:r>
            <a:r>
              <a:rPr lang="en-US" altLang="zh-TW" dirty="0" smtClean="0"/>
              <a:t> </a:t>
            </a:r>
            <a:r>
              <a:rPr lang="en-US" altLang="zh-TW" dirty="0"/>
              <a:t>mapping from </a:t>
            </a:r>
            <a:r>
              <a:rPr lang="en-US" altLang="zh-TW" b="1" dirty="0">
                <a:solidFill>
                  <a:srgbClr val="FF0000"/>
                </a:solidFill>
              </a:rPr>
              <a:t>virtual</a:t>
            </a:r>
            <a:r>
              <a:rPr lang="en-US" altLang="zh-TW" dirty="0"/>
              <a:t> to </a:t>
            </a:r>
            <a:r>
              <a:rPr lang="en-US" altLang="zh-TW" b="1" dirty="0">
                <a:solidFill>
                  <a:srgbClr val="FF0000"/>
                </a:solidFill>
              </a:rPr>
              <a:t>physical</a:t>
            </a:r>
            <a:r>
              <a:rPr lang="en-US" altLang="zh-TW" dirty="0"/>
              <a:t> addresses is performed by </a:t>
            </a:r>
            <a:r>
              <a:rPr lang="en-US" altLang="zh-TW" b="1" dirty="0">
                <a:solidFill>
                  <a:srgbClr val="0000FF"/>
                </a:solidFill>
              </a:rPr>
              <a:t>MMU</a:t>
            </a:r>
            <a:r>
              <a:rPr lang="en-US" altLang="zh-TW" dirty="0"/>
              <a:t> (</a:t>
            </a:r>
            <a:r>
              <a:rPr lang="en-US" altLang="zh-TW" b="1" dirty="0">
                <a:solidFill>
                  <a:srgbClr val="0000FF"/>
                </a:solidFill>
              </a:rPr>
              <a:t>Memory-Management Unit</a:t>
            </a:r>
            <a:r>
              <a:rPr lang="en-US" altLang="zh-TW" dirty="0" smtClean="0"/>
              <a:t>)</a:t>
            </a:r>
          </a:p>
          <a:p>
            <a:r>
              <a:rPr lang="en-US" altLang="zh-TW" b="1" dirty="0"/>
              <a:t>MMU</a:t>
            </a:r>
            <a:r>
              <a:rPr lang="en-US" altLang="zh-TW" dirty="0"/>
              <a:t>: a hardware device that maps virtual to physical </a:t>
            </a:r>
            <a:r>
              <a:rPr lang="en-US" altLang="zh-TW" dirty="0" smtClean="0"/>
              <a:t>address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Picture 4" descr="W:\os-book\OS10\slide-dir\os-figures\9_0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3457650"/>
            <a:ext cx="6408712" cy="27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080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複習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 smtClean="0"/>
              <a:t>Q: </a:t>
            </a:r>
            <a:r>
              <a:rPr lang="zh-TW" altLang="en-US" dirty="0" smtClean="0"/>
              <a:t>為什麼不是</a:t>
            </a:r>
            <a:r>
              <a:rPr lang="en-US" altLang="zh-TW" dirty="0" smtClean="0"/>
              <a:t>OS</a:t>
            </a:r>
            <a:r>
              <a:rPr lang="zh-TW" altLang="en-US" dirty="0" smtClean="0"/>
              <a:t>負責轉換呢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201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sz="4000" dirty="0"/>
              <a:t>複習</a:t>
            </a:r>
            <a:r>
              <a:rPr lang="en-US" altLang="zh-TW" sz="4000" dirty="0"/>
              <a:t>:</a:t>
            </a:r>
            <a:r>
              <a:rPr lang="zh-TW" altLang="en-US" sz="4000" dirty="0"/>
              <a:t> </a:t>
            </a:r>
            <a:r>
              <a:rPr lang="en-US" altLang="zh-TW" sz="4000" dirty="0" smtClean="0">
                <a:effectLst/>
              </a:rPr>
              <a:t>OS</a:t>
            </a:r>
            <a:r>
              <a:rPr lang="zh-TW" altLang="en-US" sz="4000" dirty="0" smtClean="0">
                <a:effectLst/>
              </a:rPr>
              <a:t>不知道發生</a:t>
            </a:r>
            <a:r>
              <a:rPr lang="zh-TW" altLang="en-US" sz="4000" dirty="0">
                <a:effectLst/>
              </a:rPr>
              <a:t>記憶體</a:t>
            </a:r>
            <a:r>
              <a:rPr lang="zh-TW" altLang="en-US" sz="4000" dirty="0" smtClean="0">
                <a:effectLst/>
              </a:rPr>
              <a:t>存取</a:t>
            </a:r>
            <a:endParaRPr lang="en-US" altLang="zh-TW" sz="4000" dirty="0"/>
          </a:p>
        </p:txBody>
      </p:sp>
      <p:sp>
        <p:nvSpPr>
          <p:cNvPr id="282627" name="Rectangle 4"/>
          <p:cNvSpPr>
            <a:spLocks noChangeArrowheads="1"/>
          </p:cNvSpPr>
          <p:nvPr/>
        </p:nvSpPr>
        <p:spPr bwMode="auto">
          <a:xfrm>
            <a:off x="6307138" y="1484314"/>
            <a:ext cx="2265362" cy="1235075"/>
          </a:xfrm>
          <a:prstGeom prst="rect">
            <a:avLst/>
          </a:prstGeom>
          <a:solidFill>
            <a:srgbClr val="99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mov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, 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10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err="1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mov</a:t>
            </a:r>
            <a:r>
              <a:rPr kumimoji="0" lang="en-US" altLang="zh-TW" sz="2000" b="1" i="1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temp, </a:t>
            </a:r>
            <a:r>
              <a:rPr kumimoji="0" lang="en-US" altLang="zh-TW" sz="20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eax</a:t>
            </a:r>
            <a:endParaRPr kumimoji="0" lang="en-US" altLang="zh-TW" sz="2000" b="1" i="1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</a:t>
            </a:r>
            <a:endParaRPr kumimoji="0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6307138" y="4114007"/>
            <a:ext cx="2265362" cy="1763265"/>
          </a:xfrm>
          <a:prstGeom prst="rect">
            <a:avLst/>
          </a:prstGeom>
          <a:solidFill>
            <a:srgbClr val="CCFF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OS</a:t>
            </a:r>
            <a:endParaRPr kumimoji="0" lang="en-US" altLang="zh-TW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2629" name="Rectangle 4"/>
          <p:cNvSpPr>
            <a:spLocks noChangeArrowheads="1"/>
          </p:cNvSpPr>
          <p:nvPr/>
        </p:nvSpPr>
        <p:spPr bwMode="auto">
          <a:xfrm>
            <a:off x="6311900" y="2719388"/>
            <a:ext cx="2260600" cy="1394619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…..</a:t>
            </a:r>
          </a:p>
        </p:txBody>
      </p:sp>
      <p:sp>
        <p:nvSpPr>
          <p:cNvPr id="282630" name="Rectangle 6"/>
          <p:cNvSpPr>
            <a:spLocks noChangeArrowheads="1"/>
          </p:cNvSpPr>
          <p:nvPr/>
        </p:nvSpPr>
        <p:spPr bwMode="auto">
          <a:xfrm>
            <a:off x="2566989" y="2189163"/>
            <a:ext cx="1870075" cy="1274762"/>
          </a:xfrm>
          <a:prstGeom prst="rect">
            <a:avLst/>
          </a:prstGeom>
          <a:solidFill>
            <a:srgbClr val="5B9BD5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+mn-cs"/>
              </a:rPr>
              <a:t>CPU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9" name="直線單箭頭接點 8"/>
          <p:cNvCxnSpPr/>
          <p:nvPr/>
        </p:nvCxnSpPr>
        <p:spPr>
          <a:xfrm flipH="1">
            <a:off x="4385089" y="204867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807495" y="2978230"/>
          <a:ext cx="138906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531">
                  <a:extLst>
                    <a:ext uri="{9D8B030D-6E8A-4147-A177-3AD203B41FA5}">
                      <a16:colId xmlns:a16="http://schemas.microsoft.com/office/drawing/2014/main" val="3511868256"/>
                    </a:ext>
                  </a:extLst>
                </a:gridCol>
                <a:gridCol w="694531">
                  <a:extLst>
                    <a:ext uri="{9D8B030D-6E8A-4147-A177-3AD203B41FA5}">
                      <a16:colId xmlns:a16="http://schemas.microsoft.com/office/drawing/2014/main" val="3895863104"/>
                    </a:ext>
                  </a:extLst>
                </a:gridCol>
              </a:tblGrid>
              <a:tr h="214333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eax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TW" alt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68373"/>
                  </a:ext>
                </a:extLst>
              </a:tr>
            </a:tbl>
          </a:graphicData>
        </a:graphic>
      </p:graphicFrame>
      <p:cxnSp>
        <p:nvCxnSpPr>
          <p:cNvPr id="19" name="直線單箭頭接點 18"/>
          <p:cNvCxnSpPr/>
          <p:nvPr/>
        </p:nvCxnSpPr>
        <p:spPr>
          <a:xfrm flipH="1">
            <a:off x="4399688" y="2437211"/>
            <a:ext cx="1924430" cy="72389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6B2569-5B8B-470D-A3E2-C3981CD983F2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118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147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MMU</a:t>
            </a:r>
            <a:r>
              <a:rPr lang="zh-TW" altLang="en-US" dirty="0" smtClean="0"/>
              <a:t>如何將</a:t>
            </a:r>
            <a:r>
              <a:rPr lang="en-US" altLang="zh-TW" dirty="0" smtClean="0"/>
              <a:t>logical address</a:t>
            </a:r>
            <a:r>
              <a:rPr lang="zh-TW" altLang="en-US" dirty="0" smtClean="0"/>
              <a:t>轉換為</a:t>
            </a:r>
            <a:r>
              <a:rPr lang="en-US" altLang="zh-TW" dirty="0" smtClean="0"/>
              <a:t>physical address</a:t>
            </a:r>
            <a:r>
              <a:rPr lang="zh-TW" altLang="en-US" dirty="0" smtClean="0"/>
              <a:t>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775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Address Translation Scheme</a:t>
            </a:r>
          </a:p>
        </p:txBody>
      </p:sp>
      <p:sp>
        <p:nvSpPr>
          <p:cNvPr id="5949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TW" sz="2800" dirty="0"/>
              <a:t>Address generated by </a:t>
            </a:r>
            <a:r>
              <a:rPr lang="en-US" altLang="zh-TW" sz="2800" b="1" dirty="0"/>
              <a:t>CPU</a:t>
            </a:r>
            <a:r>
              <a:rPr lang="en-US" altLang="zh-TW" sz="2800" dirty="0"/>
              <a:t> is divided into:</a:t>
            </a:r>
          </a:p>
          <a:p>
            <a:pPr lvl="1" eaLnBrk="1" hangingPunct="1">
              <a:defRPr/>
            </a:pPr>
            <a:r>
              <a:rPr lang="en-US" altLang="zh-TW" sz="2400" b="1" dirty="0">
                <a:solidFill>
                  <a:srgbClr val="FF3300"/>
                </a:solidFill>
              </a:rPr>
              <a:t>Page number (</a:t>
            </a:r>
            <a:r>
              <a:rPr lang="en-US" altLang="zh-TW" sz="2400" b="1" i="1" dirty="0">
                <a:solidFill>
                  <a:srgbClr val="FF3300"/>
                </a:solidFill>
              </a:rPr>
              <a:t>p</a:t>
            </a:r>
            <a:r>
              <a:rPr lang="en-US" altLang="zh-TW" sz="2400" b="1" dirty="0">
                <a:solidFill>
                  <a:srgbClr val="FF3300"/>
                </a:solidFill>
              </a:rPr>
              <a:t>)</a:t>
            </a:r>
            <a:r>
              <a:rPr lang="en-US" altLang="zh-TW" sz="2400" dirty="0"/>
              <a:t> </a:t>
            </a:r>
            <a:r>
              <a:rPr lang="en-US" altLang="zh-TW" sz="2400" dirty="0" smtClean="0">
                <a:latin typeface="Helvetica"/>
              </a:rPr>
              <a:t>–</a:t>
            </a:r>
            <a:r>
              <a:rPr lang="en-US" altLang="zh-TW" sz="2400" dirty="0" smtClean="0"/>
              <a:t> </a:t>
            </a:r>
            <a:r>
              <a:rPr lang="zh-TW" altLang="en-US" sz="2400" dirty="0" smtClean="0"/>
              <a:t>代表存取哪一個</a:t>
            </a:r>
            <a:r>
              <a:rPr lang="en-US" altLang="zh-TW" sz="2400" dirty="0" smtClean="0"/>
              <a:t>page </a:t>
            </a:r>
          </a:p>
          <a:p>
            <a:pPr lvl="2" eaLnBrk="1" hangingPunct="1">
              <a:defRPr/>
            </a:pPr>
            <a:r>
              <a:rPr lang="en-US" altLang="zh-TW" sz="2000" dirty="0" smtClean="0"/>
              <a:t>Used as an </a:t>
            </a:r>
            <a:r>
              <a:rPr lang="en-US" altLang="zh-TW" sz="2000" dirty="0"/>
              <a:t>index into a </a:t>
            </a:r>
            <a:r>
              <a:rPr lang="en-US" altLang="zh-TW" sz="2000" b="1" i="1" dirty="0"/>
              <a:t>page</a:t>
            </a:r>
            <a:r>
              <a:rPr lang="en-US" altLang="zh-TW" sz="2000" b="1" dirty="0"/>
              <a:t> </a:t>
            </a:r>
            <a:r>
              <a:rPr lang="en-US" altLang="zh-TW" sz="2000" b="1" i="1" dirty="0" smtClean="0"/>
              <a:t>table)</a:t>
            </a:r>
            <a:endParaRPr lang="en-US" altLang="zh-TW" sz="2000" b="1" i="1" dirty="0"/>
          </a:p>
          <a:p>
            <a:pPr lvl="1" eaLnBrk="1" hangingPunct="1">
              <a:defRPr/>
            </a:pPr>
            <a:r>
              <a:rPr lang="en-US" altLang="zh-TW" sz="2400" b="1" dirty="0" smtClean="0">
                <a:solidFill>
                  <a:srgbClr val="FF3300"/>
                </a:solidFill>
              </a:rPr>
              <a:t>Page </a:t>
            </a:r>
            <a:r>
              <a:rPr lang="en-US" altLang="zh-TW" sz="2400" b="1" dirty="0">
                <a:solidFill>
                  <a:srgbClr val="FF3300"/>
                </a:solidFill>
              </a:rPr>
              <a:t>offset (d)</a:t>
            </a:r>
            <a:r>
              <a:rPr lang="en-US" altLang="zh-TW" sz="2400" dirty="0"/>
              <a:t> </a:t>
            </a:r>
            <a:r>
              <a:rPr lang="en-US" altLang="zh-TW" sz="2400" dirty="0" smtClean="0">
                <a:latin typeface="Helvetica"/>
              </a:rPr>
              <a:t>–</a:t>
            </a:r>
            <a:r>
              <a:rPr lang="zh-TW" altLang="en-US" sz="2400" dirty="0"/>
              <a:t>代表</a:t>
            </a:r>
            <a:r>
              <a:rPr lang="zh-TW" altLang="en-US" sz="2400" dirty="0" smtClean="0"/>
              <a:t>存取</a:t>
            </a:r>
            <a:r>
              <a:rPr lang="en-US" altLang="zh-TW" sz="2400" dirty="0" smtClean="0"/>
              <a:t>page</a:t>
            </a:r>
            <a:r>
              <a:rPr lang="zh-TW" altLang="en-US" sz="2400" dirty="0" smtClean="0"/>
              <a:t>內的</a:t>
            </a:r>
            <a:r>
              <a:rPr lang="zh-TW" altLang="en-US" sz="2400" dirty="0"/>
              <a:t>哪</a:t>
            </a:r>
            <a:r>
              <a:rPr lang="zh-TW" altLang="en-US" sz="2400" dirty="0" smtClean="0"/>
              <a:t>一個</a:t>
            </a:r>
            <a:r>
              <a:rPr lang="en-US" altLang="zh-TW" sz="2400" dirty="0" smtClean="0"/>
              <a:t>byte</a:t>
            </a:r>
          </a:p>
          <a:p>
            <a:pPr lvl="2" eaLnBrk="1" hangingPunct="1">
              <a:defRPr/>
            </a:pPr>
            <a:r>
              <a:rPr lang="en-US" altLang="zh-TW" sz="2000" dirty="0" smtClean="0"/>
              <a:t>Combined </a:t>
            </a:r>
            <a:r>
              <a:rPr lang="en-US" altLang="zh-TW" sz="2000" dirty="0"/>
              <a:t>with </a:t>
            </a:r>
            <a:r>
              <a:rPr lang="en-US" altLang="zh-TW" sz="2000" b="1" dirty="0"/>
              <a:t>base address </a:t>
            </a:r>
            <a:r>
              <a:rPr lang="en-US" altLang="zh-TW" sz="2000" dirty="0"/>
              <a:t>to define the </a:t>
            </a:r>
            <a:r>
              <a:rPr lang="en-US" altLang="zh-TW" sz="2000" b="1" dirty="0"/>
              <a:t>physical memory </a:t>
            </a:r>
            <a:r>
              <a:rPr lang="en-US" altLang="zh-TW" sz="2000" b="1" dirty="0" smtClean="0"/>
              <a:t>address</a:t>
            </a:r>
            <a:endParaRPr lang="en-US" altLang="zh-TW" sz="2000" dirty="0"/>
          </a:p>
          <a:p>
            <a:pPr lvl="1" eaLnBrk="1" hangingPunct="1">
              <a:defRPr/>
            </a:pPr>
            <a:r>
              <a:rPr lang="en-US" altLang="zh-TW" sz="2400" i="1" dirty="0" smtClean="0"/>
              <a:t>As </a:t>
            </a:r>
            <a:r>
              <a:rPr lang="en-US" altLang="zh-TW" sz="2400" i="1" dirty="0"/>
              <a:t>shown below, </a:t>
            </a:r>
            <a:r>
              <a:rPr lang="en-US" altLang="zh-TW" sz="2400" i="1" dirty="0" smtClean="0">
                <a:solidFill>
                  <a:srgbClr val="0000FF"/>
                </a:solidFill>
              </a:rPr>
              <a:t>logical address = m bits, page number = m-n bits, offset = n bits</a:t>
            </a:r>
          </a:p>
          <a:p>
            <a:pPr lvl="1" eaLnBrk="1" hangingPunct="1">
              <a:defRPr/>
            </a:pPr>
            <a:r>
              <a:rPr lang="en-US" altLang="zh-TW" sz="2400" i="1" dirty="0" smtClean="0">
                <a:solidFill>
                  <a:srgbClr val="0000FF"/>
                </a:solidFill>
              </a:rPr>
              <a:t>Logical address space </a:t>
            </a:r>
            <a:r>
              <a:rPr lang="en-US" altLang="zh-TW" sz="2400" i="1" dirty="0" smtClean="0">
                <a:solidFill>
                  <a:srgbClr val="FF3300"/>
                </a:solidFill>
              </a:rPr>
              <a:t>=</a:t>
            </a:r>
            <a:r>
              <a:rPr lang="en-US" altLang="zh-TW" sz="2400" dirty="0" smtClean="0"/>
              <a:t> 2</a:t>
            </a:r>
            <a:r>
              <a:rPr lang="en-US" altLang="zh-TW" sz="2400" i="1" baseline="30000" dirty="0" smtClean="0"/>
              <a:t>m</a:t>
            </a:r>
            <a:r>
              <a:rPr lang="en-US" altLang="zh-TW" sz="2400" i="1" dirty="0" smtClean="0"/>
              <a:t>, </a:t>
            </a:r>
            <a:r>
              <a:rPr lang="en-US" altLang="zh-TW" sz="2400" i="1" dirty="0" smtClean="0">
                <a:solidFill>
                  <a:srgbClr val="0000FF"/>
                </a:solidFill>
              </a:rPr>
              <a:t>Page size </a:t>
            </a:r>
            <a:r>
              <a:rPr lang="en-US" altLang="zh-TW" sz="2400" i="1" dirty="0" smtClean="0"/>
              <a:t>= 2</a:t>
            </a:r>
            <a:r>
              <a:rPr lang="en-US" altLang="zh-TW" sz="2400" baseline="30000" dirty="0" smtClean="0"/>
              <a:t>n</a:t>
            </a:r>
            <a:r>
              <a:rPr lang="en-US" altLang="zh-TW" sz="2400" i="1" dirty="0" smtClean="0">
                <a:solidFill>
                  <a:srgbClr val="0000FF"/>
                </a:solidFill>
              </a:rPr>
              <a:t>, Page </a:t>
            </a:r>
            <a:r>
              <a:rPr lang="en-US" altLang="zh-TW" sz="2400" i="1" dirty="0">
                <a:solidFill>
                  <a:srgbClr val="0000FF"/>
                </a:solidFill>
              </a:rPr>
              <a:t>table has </a:t>
            </a:r>
            <a:r>
              <a:rPr lang="en-US" altLang="zh-TW" sz="2400" i="1" dirty="0" smtClean="0"/>
              <a:t>2</a:t>
            </a:r>
            <a:r>
              <a:rPr lang="en-US" altLang="zh-TW" sz="2400" baseline="30000" dirty="0" smtClean="0"/>
              <a:t>m-n </a:t>
            </a:r>
            <a:r>
              <a:rPr lang="en-US" altLang="zh-TW" sz="2400" i="1" dirty="0" smtClean="0">
                <a:solidFill>
                  <a:srgbClr val="0000FF"/>
                </a:solidFill>
              </a:rPr>
              <a:t>entries</a:t>
            </a:r>
            <a:endParaRPr lang="en-US" altLang="zh-TW" sz="2400" i="1" dirty="0">
              <a:solidFill>
                <a:srgbClr val="0000FF"/>
              </a:solidFill>
            </a:endParaRPr>
          </a:p>
        </p:txBody>
      </p:sp>
      <p:grpSp>
        <p:nvGrpSpPr>
          <p:cNvPr id="49156" name="Group 13"/>
          <p:cNvGrpSpPr>
            <a:grpSpLocks/>
          </p:cNvGrpSpPr>
          <p:nvPr/>
        </p:nvGrpSpPr>
        <p:grpSpPr bwMode="auto">
          <a:xfrm>
            <a:off x="4045694" y="4931895"/>
            <a:ext cx="3346450" cy="1161401"/>
            <a:chOff x="1481" y="2157"/>
            <a:chExt cx="2108" cy="881"/>
          </a:xfrm>
        </p:grpSpPr>
        <p:sp>
          <p:nvSpPr>
            <p:cNvPr id="49158" name="Rectangle 14"/>
            <p:cNvSpPr>
              <a:spLocks noChangeArrowheads="1"/>
            </p:cNvSpPr>
            <p:nvPr/>
          </p:nvSpPr>
          <p:spPr bwMode="auto">
            <a:xfrm>
              <a:off x="1633" y="2465"/>
              <a:ext cx="1956" cy="2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 sz="4000"/>
            </a:p>
          </p:txBody>
        </p:sp>
        <p:sp>
          <p:nvSpPr>
            <p:cNvPr id="49159" name="Line 15"/>
            <p:cNvSpPr>
              <a:spLocks noChangeShapeType="1"/>
            </p:cNvSpPr>
            <p:nvPr/>
          </p:nvSpPr>
          <p:spPr bwMode="auto">
            <a:xfrm>
              <a:off x="2662" y="2249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 sz="4000"/>
            </a:p>
          </p:txBody>
        </p:sp>
        <p:sp>
          <p:nvSpPr>
            <p:cNvPr id="49160" name="Text Box 16"/>
            <p:cNvSpPr txBox="1">
              <a:spLocks noChangeArrowheads="1"/>
            </p:cNvSpPr>
            <p:nvPr/>
          </p:nvSpPr>
          <p:spPr bwMode="auto">
            <a:xfrm>
              <a:off x="1481" y="2157"/>
              <a:ext cx="1068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en-US" altLang="zh-TW" sz="2000" dirty="0">
                  <a:latin typeface="Helvetica" pitchFamily="34" charset="0"/>
                </a:rPr>
                <a:t>page number</a:t>
              </a:r>
            </a:p>
          </p:txBody>
        </p:sp>
        <p:sp>
          <p:nvSpPr>
            <p:cNvPr id="49161" name="Text Box 17"/>
            <p:cNvSpPr txBox="1">
              <a:spLocks noChangeArrowheads="1"/>
            </p:cNvSpPr>
            <p:nvPr/>
          </p:nvSpPr>
          <p:spPr bwMode="auto">
            <a:xfrm>
              <a:off x="2665" y="2164"/>
              <a:ext cx="911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en-US" altLang="zh-TW" sz="2000">
                  <a:latin typeface="Helvetica" pitchFamily="34" charset="0"/>
                </a:rPr>
                <a:t>page offset</a:t>
              </a:r>
            </a:p>
          </p:txBody>
        </p:sp>
        <p:sp>
          <p:nvSpPr>
            <p:cNvPr id="49162" name="Text Box 18"/>
            <p:cNvSpPr txBox="1">
              <a:spLocks noChangeArrowheads="1"/>
            </p:cNvSpPr>
            <p:nvPr/>
          </p:nvSpPr>
          <p:spPr bwMode="auto">
            <a:xfrm>
              <a:off x="1977" y="2446"/>
              <a:ext cx="206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en-US" altLang="zh-TW" sz="2000" i="1">
                  <a:latin typeface="Helvetica" pitchFamily="34" charset="0"/>
                </a:rPr>
                <a:t>p</a:t>
              </a:r>
              <a:endParaRPr kumimoji="0" lang="en-US" altLang="zh-TW" sz="2000">
                <a:latin typeface="Helvetica" pitchFamily="34" charset="0"/>
              </a:endParaRPr>
            </a:p>
          </p:txBody>
        </p:sp>
        <p:sp>
          <p:nvSpPr>
            <p:cNvPr id="49163" name="Text Box 19"/>
            <p:cNvSpPr txBox="1">
              <a:spLocks noChangeArrowheads="1"/>
            </p:cNvSpPr>
            <p:nvPr/>
          </p:nvSpPr>
          <p:spPr bwMode="auto">
            <a:xfrm>
              <a:off x="2890" y="2465"/>
              <a:ext cx="206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en-US" altLang="zh-TW" sz="2000" i="1">
                  <a:latin typeface="Helvetica" pitchFamily="34" charset="0"/>
                </a:rPr>
                <a:t>d</a:t>
              </a:r>
              <a:endParaRPr kumimoji="0" lang="en-US" altLang="zh-TW" sz="2000">
                <a:latin typeface="Helvetica" pitchFamily="34" charset="0"/>
              </a:endParaRPr>
            </a:p>
          </p:txBody>
        </p:sp>
        <p:sp>
          <p:nvSpPr>
            <p:cNvPr id="49164" name="Text Box 20"/>
            <p:cNvSpPr txBox="1">
              <a:spLocks noChangeArrowheads="1"/>
            </p:cNvSpPr>
            <p:nvPr/>
          </p:nvSpPr>
          <p:spPr bwMode="auto">
            <a:xfrm>
              <a:off x="1860" y="2728"/>
              <a:ext cx="500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en-US" altLang="zh-TW" sz="2000" i="1">
                  <a:latin typeface="Helvetica" pitchFamily="34" charset="0"/>
                </a:rPr>
                <a:t>m - n</a:t>
              </a:r>
            </a:p>
          </p:txBody>
        </p:sp>
        <p:sp>
          <p:nvSpPr>
            <p:cNvPr id="49165" name="Text Box 21"/>
            <p:cNvSpPr txBox="1">
              <a:spLocks noChangeArrowheads="1"/>
            </p:cNvSpPr>
            <p:nvPr/>
          </p:nvSpPr>
          <p:spPr bwMode="auto">
            <a:xfrm>
              <a:off x="2866" y="2734"/>
              <a:ext cx="276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0" lang="en-US" altLang="zh-TW" sz="2000" i="1">
                  <a:latin typeface="Helvetica" pitchFamily="34" charset="0"/>
                </a:rPr>
                <a:t>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97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>
                <a:solidFill>
                  <a:srgbClr val="FF0000"/>
                </a:solidFill>
              </a:rPr>
              <a:t>Paging Hardware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568" y="1340768"/>
            <a:ext cx="7632848" cy="48245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Paging Example 1</a:t>
            </a:r>
          </a:p>
        </p:txBody>
      </p:sp>
      <p:sp>
        <p:nvSpPr>
          <p:cNvPr id="51204" name="Text Box 5"/>
          <p:cNvSpPr txBox="1">
            <a:spLocks noChangeArrowheads="1"/>
          </p:cNvSpPr>
          <p:nvPr/>
        </p:nvSpPr>
        <p:spPr bwMode="auto">
          <a:xfrm>
            <a:off x="1740024" y="1084674"/>
            <a:ext cx="889248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2000" b="1" dirty="0">
                <a:latin typeface="Calibri" panose="020F0502020204030204" pitchFamily="34" charset="0"/>
              </a:rPr>
              <a:t>Logical Address Space: 32 bytes, Physical Memory: 32 bytes, Page Size: 4 bytes</a:t>
            </a:r>
          </a:p>
        </p:txBody>
      </p:sp>
      <p:sp>
        <p:nvSpPr>
          <p:cNvPr id="51205" name="Text Box 6"/>
          <p:cNvSpPr txBox="1">
            <a:spLocks noChangeArrowheads="1"/>
          </p:cNvSpPr>
          <p:nvPr/>
        </p:nvSpPr>
        <p:spPr bwMode="auto">
          <a:xfrm>
            <a:off x="7248526" y="1992313"/>
            <a:ext cx="3347391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dirty="0">
                <a:latin typeface="Calibri" panose="020F0502020204030204" pitchFamily="34" charset="0"/>
              </a:rPr>
              <a:t>m = 5,  n = 2</a:t>
            </a:r>
          </a:p>
          <a:p>
            <a:endParaRPr lang="en-US" altLang="zh-TW" sz="2000" dirty="0">
              <a:latin typeface="Calibri" panose="020F0502020204030204" pitchFamily="34" charset="0"/>
            </a:endParaRPr>
          </a:p>
          <a:p>
            <a:r>
              <a:rPr lang="en-US" altLang="zh-TW" sz="2000" dirty="0">
                <a:latin typeface="Calibri" panose="020F0502020204030204" pitchFamily="34" charset="0"/>
              </a:rPr>
              <a:t>Logical  address = 00000 (=0) 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p = 000, d = 00</a:t>
            </a:r>
          </a:p>
          <a:p>
            <a:pPr>
              <a:buFont typeface="Symbol" pitchFamily="18" charset="2"/>
              <a:buChar char="Þ"/>
            </a:pPr>
            <a:r>
              <a:rPr lang="en-US" altLang="zh-TW" sz="2000" dirty="0">
                <a:latin typeface="Calibri" panose="020F0502020204030204" pitchFamily="34" charset="0"/>
              </a:rPr>
              <a:t>Look up page table</a:t>
            </a:r>
          </a:p>
          <a:p>
            <a:pPr>
              <a:buFont typeface="Symbol" pitchFamily="18" charset="2"/>
              <a:buChar char="Þ"/>
            </a:pPr>
            <a:r>
              <a:rPr lang="en-US" altLang="zh-TW" sz="2000" dirty="0">
                <a:latin typeface="Calibri" panose="020F0502020204030204" pitchFamily="34" charset="0"/>
              </a:rPr>
              <a:t>Frame number = 101(=5)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Physical address = 10100 =20</a:t>
            </a:r>
          </a:p>
          <a:p>
            <a:pPr>
              <a:buFont typeface="Symbol" pitchFamily="18" charset="2"/>
              <a:buChar char="Þ"/>
            </a:pPr>
            <a:endParaRPr lang="en-US" altLang="zh-TW" sz="2000" dirty="0">
              <a:latin typeface="Calibri" panose="020F0502020204030204" pitchFamily="34" charset="0"/>
            </a:endParaRPr>
          </a:p>
          <a:p>
            <a:pPr>
              <a:buFont typeface="Symbol" pitchFamily="18" charset="2"/>
              <a:buNone/>
            </a:pPr>
            <a:r>
              <a:rPr lang="en-US" altLang="zh-TW" sz="2000" dirty="0">
                <a:latin typeface="Calibri" panose="020F0502020204030204" pitchFamily="34" charset="0"/>
              </a:rPr>
              <a:t>Logical address = 01101(=13)</a:t>
            </a:r>
          </a:p>
          <a:p>
            <a:pPr>
              <a:buFont typeface="Symbol" pitchFamily="18" charset="2"/>
              <a:buNone/>
            </a:pPr>
            <a:r>
              <a:rPr lang="en-US" altLang="zh-TW" sz="2000" dirty="0">
                <a:latin typeface="Calibri" panose="020F0502020204030204" pitchFamily="34" charset="0"/>
              </a:rPr>
              <a:t>p = 011, d = 01</a:t>
            </a:r>
          </a:p>
          <a:p>
            <a:pPr>
              <a:buFont typeface="Symbol" pitchFamily="18" charset="2"/>
              <a:buChar char="Þ"/>
            </a:pPr>
            <a:r>
              <a:rPr lang="en-US" altLang="zh-TW" sz="2000" dirty="0">
                <a:latin typeface="Calibri" panose="020F0502020204030204" pitchFamily="34" charset="0"/>
              </a:rPr>
              <a:t>Look up page table</a:t>
            </a:r>
          </a:p>
          <a:p>
            <a:pPr>
              <a:buFont typeface="Symbol" pitchFamily="18" charset="2"/>
              <a:buChar char="Þ"/>
            </a:pPr>
            <a:r>
              <a:rPr lang="en-US" altLang="zh-TW" sz="2000" dirty="0">
                <a:latin typeface="Calibri" panose="020F0502020204030204" pitchFamily="34" charset="0"/>
              </a:rPr>
              <a:t>Frame number = 010(=2)</a:t>
            </a:r>
          </a:p>
          <a:p>
            <a:r>
              <a:rPr lang="en-US" altLang="zh-TW" sz="2000" dirty="0">
                <a:latin typeface="Calibri" panose="020F0502020204030204" pitchFamily="34" charset="0"/>
              </a:rPr>
              <a:t>Physical address = 01001(=9)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13" y="1628801"/>
            <a:ext cx="5256212" cy="49710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Paging Example </a:t>
            </a:r>
            <a:r>
              <a:rPr lang="en-US" altLang="zh-TW" smtClean="0"/>
              <a:t>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TW" dirty="0" smtClean="0"/>
              <a:t>Assume a 32-bit CPU, each page (frame) = 4KB</a:t>
            </a:r>
          </a:p>
          <a:p>
            <a:r>
              <a:rPr lang="en-US" altLang="zh-TW" dirty="0" smtClean="0"/>
              <a:t>m = 32 bits</a:t>
            </a:r>
          </a:p>
          <a:p>
            <a:pPr lvl="1"/>
            <a:r>
              <a:rPr lang="en-US" altLang="zh-TW" dirty="0" smtClean="0"/>
              <a:t>Logical address space = 2^32 = 4GB</a:t>
            </a:r>
          </a:p>
          <a:p>
            <a:r>
              <a:rPr lang="en-US" altLang="zh-TW" dirty="0" smtClean="0"/>
              <a:t>Since page size = 4KB</a:t>
            </a:r>
          </a:p>
          <a:p>
            <a:pPr lvl="1"/>
            <a:r>
              <a:rPr lang="en-US" altLang="zh-TW" i="1" dirty="0" smtClean="0"/>
              <a:t>n</a:t>
            </a:r>
            <a:r>
              <a:rPr lang="en-US" altLang="zh-TW" dirty="0" smtClean="0"/>
              <a:t> = 12 (</a:t>
            </a:r>
            <a:r>
              <a:rPr lang="zh-TW" altLang="en-US" dirty="0" smtClean="0"/>
              <a:t>因為</a:t>
            </a:r>
            <a:r>
              <a:rPr lang="en-US" altLang="zh-TW" dirty="0" smtClean="0"/>
              <a:t>2^12 = 4KB)  (4KB page</a:t>
            </a:r>
            <a:r>
              <a:rPr lang="zh-TW" altLang="en-US" dirty="0" smtClean="0"/>
              <a:t>需要</a:t>
            </a:r>
            <a:r>
              <a:rPr lang="en-US" altLang="zh-TW" dirty="0" smtClean="0"/>
              <a:t>12 bits</a:t>
            </a:r>
            <a:r>
              <a:rPr lang="zh-TW" altLang="en-US" dirty="0" smtClean="0"/>
              <a:t>存取，所以</a:t>
            </a:r>
            <a:r>
              <a:rPr lang="en-US" altLang="zh-TW" dirty="0" smtClean="0"/>
              <a:t>page offset=12 bits)</a:t>
            </a:r>
          </a:p>
          <a:p>
            <a:pPr lvl="1"/>
            <a:r>
              <a:rPr lang="en-US" altLang="zh-TW" dirty="0" smtClean="0"/>
              <a:t>p = 32-12 = 20</a:t>
            </a:r>
          </a:p>
          <a:p>
            <a:r>
              <a:rPr lang="en-US" altLang="zh-TW" dirty="0" smtClean="0"/>
              <a:t>Or since page size = 4KB</a:t>
            </a:r>
          </a:p>
          <a:p>
            <a:pPr lvl="1"/>
            <a:r>
              <a:rPr lang="en-US" altLang="zh-TW" dirty="0" smtClean="0"/>
              <a:t>p = 20 (2^32 / 4KB = 2^32/2^12 = 2^20 pages)</a:t>
            </a:r>
          </a:p>
          <a:p>
            <a:pPr lvl="2"/>
            <a:r>
              <a:rPr lang="en-US" altLang="zh-TW" dirty="0" smtClean="0"/>
              <a:t>4G </a:t>
            </a:r>
            <a:r>
              <a:rPr lang="zh-TW" altLang="en-US" dirty="0" smtClean="0"/>
              <a:t>虛擬記憶體空間</a:t>
            </a:r>
            <a:r>
              <a:rPr lang="en-US" altLang="zh-TW" dirty="0" smtClean="0"/>
              <a:t>(2^32)</a:t>
            </a:r>
            <a:r>
              <a:rPr lang="zh-TW" altLang="en-US" dirty="0" smtClean="0"/>
              <a:t>有</a:t>
            </a:r>
            <a:r>
              <a:rPr lang="en-US" altLang="zh-TW" dirty="0" smtClean="0"/>
              <a:t>2^20 </a:t>
            </a:r>
            <a:r>
              <a:rPr lang="zh-TW" altLang="en-US" dirty="0" smtClean="0"/>
              <a:t>個</a:t>
            </a:r>
            <a:r>
              <a:rPr lang="en-US" altLang="zh-TW" dirty="0" smtClean="0"/>
              <a:t>pages</a:t>
            </a:r>
            <a:r>
              <a:rPr lang="zh-TW" altLang="en-US" dirty="0" smtClean="0"/>
              <a:t>，所以</a:t>
            </a:r>
            <a:r>
              <a:rPr lang="en-US" altLang="zh-TW" dirty="0" smtClean="0"/>
              <a:t>page table</a:t>
            </a:r>
            <a:r>
              <a:rPr lang="zh-TW" altLang="en-US" dirty="0" smtClean="0"/>
              <a:t>需要</a:t>
            </a:r>
            <a:r>
              <a:rPr lang="en-US" altLang="zh-TW" dirty="0" smtClean="0"/>
              <a:t>2^20</a:t>
            </a:r>
            <a:r>
              <a:rPr lang="zh-TW" altLang="en-US" dirty="0" smtClean="0"/>
              <a:t>個</a:t>
            </a:r>
            <a:r>
              <a:rPr lang="en-US" altLang="zh-TW" dirty="0" smtClean="0"/>
              <a:t>entries</a:t>
            </a:r>
          </a:p>
          <a:p>
            <a:pPr lvl="1"/>
            <a:r>
              <a:rPr lang="en-US" altLang="zh-TW" dirty="0" smtClean="0"/>
              <a:t>n = 32-20 = 12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98560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Q1: Who </a:t>
            </a:r>
            <a:r>
              <a:rPr lang="en-US" altLang="zh-TW" dirty="0">
                <a:solidFill>
                  <a:srgbClr val="FF0000"/>
                </a:solidFill>
              </a:rPr>
              <a:t>maintain the page table</a:t>
            </a:r>
            <a:r>
              <a:rPr lang="en-US" altLang="zh-TW" dirty="0" smtClean="0">
                <a:solidFill>
                  <a:srgbClr val="FF0000"/>
                </a:solidFill>
              </a:rPr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1" dirty="0" smtClean="0"/>
              <a:t>Answer </a:t>
            </a:r>
            <a:r>
              <a:rPr lang="en-US" altLang="zh-TW" b="1" dirty="0" smtClean="0"/>
              <a:t>by Yourself~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831459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Q2: </a:t>
            </a:r>
            <a:r>
              <a:rPr lang="zh-TW" altLang="en-US" dirty="0">
                <a:solidFill>
                  <a:srgbClr val="FF0000"/>
                </a:solidFill>
              </a:rPr>
              <a:t>如何</a:t>
            </a:r>
            <a:r>
              <a:rPr lang="zh-TW" altLang="en-US" dirty="0" smtClean="0">
                <a:solidFill>
                  <a:srgbClr val="FF0000"/>
                </a:solidFill>
              </a:rPr>
              <a:t>維護</a:t>
            </a:r>
            <a:r>
              <a:rPr lang="en-US" altLang="zh-TW" dirty="0" smtClean="0">
                <a:solidFill>
                  <a:srgbClr val="FF0000"/>
                </a:solidFill>
              </a:rPr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1" dirty="0" smtClean="0"/>
              <a:t>Shown later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46675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Q3: </a:t>
            </a:r>
            <a:r>
              <a:rPr lang="en-US" altLang="zh-TW" dirty="0" smtClean="0">
                <a:solidFill>
                  <a:srgbClr val="FF0000"/>
                </a:solidFill>
              </a:rPr>
              <a:t>Who </a:t>
            </a:r>
            <a:r>
              <a:rPr lang="en-US" altLang="zh-TW" dirty="0">
                <a:solidFill>
                  <a:srgbClr val="FF0000"/>
                </a:solidFill>
              </a:rPr>
              <a:t>use the page table?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1" dirty="0" smtClean="0"/>
              <a:t>Answer by Yourself~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247220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</a:t>
            </a:r>
            <a:r>
              <a:rPr lang="zh-TW" altLang="en-US" dirty="0" smtClean="0"/>
              <a:t> 當要載入一個</a:t>
            </a:r>
            <a:r>
              <a:rPr lang="en-US" altLang="zh-TW" dirty="0" smtClean="0"/>
              <a:t>process</a:t>
            </a:r>
            <a:r>
              <a:rPr lang="zh-TW" altLang="en-US" dirty="0" smtClean="0"/>
              <a:t>時</a:t>
            </a:r>
            <a:r>
              <a:rPr lang="en-US" altLang="zh-TW" dirty="0" smtClean="0"/>
              <a:t>, OS</a:t>
            </a:r>
            <a:r>
              <a:rPr lang="zh-TW" altLang="en-US" dirty="0" smtClean="0"/>
              <a:t>如何知道那些</a:t>
            </a:r>
            <a:r>
              <a:rPr lang="en-US" altLang="zh-TW" dirty="0" smtClean="0"/>
              <a:t>frames</a:t>
            </a:r>
            <a:r>
              <a:rPr lang="zh-TW" altLang="en-US" dirty="0" smtClean="0"/>
              <a:t>是空的呢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Hint: OS must </a:t>
            </a:r>
            <a:r>
              <a:rPr lang="en-US" altLang="zh-TW" dirty="0" smtClean="0"/>
              <a:t>maintain </a:t>
            </a:r>
            <a:r>
              <a:rPr lang="en-US" altLang="zh-TW" dirty="0"/>
              <a:t>the </a:t>
            </a:r>
            <a:r>
              <a:rPr lang="en-US" altLang="zh-TW" dirty="0">
                <a:solidFill>
                  <a:srgbClr val="FF0000"/>
                </a:solidFill>
              </a:rPr>
              <a:t>Location of Free Frames</a:t>
            </a:r>
            <a:r>
              <a:rPr lang="en-US" altLang="zh-TW" dirty="0" smtClean="0">
                <a:solidFill>
                  <a:srgbClr val="FF0000"/>
                </a:solidFill>
              </a:rPr>
              <a:t>.</a:t>
            </a:r>
            <a:endParaRPr lang="en-US" altLang="zh-TW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014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effectLst/>
              </a:rPr>
              <a:t>Allocating Frames to a Process</a:t>
            </a:r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2639617" y="6230640"/>
            <a:ext cx="21605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800" b="1" dirty="0">
                <a:solidFill>
                  <a:srgbClr val="0000FF"/>
                </a:solidFill>
                <a:latin typeface="Helvetica" pitchFamily="34" charset="0"/>
              </a:rPr>
              <a:t>Before Allocation</a:t>
            </a:r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7252339" y="6229330"/>
            <a:ext cx="18944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800" b="1" dirty="0">
                <a:solidFill>
                  <a:srgbClr val="0000FF"/>
                </a:solidFill>
                <a:latin typeface="Helvetica" pitchFamily="34" charset="0"/>
              </a:rPr>
              <a:t>After Allocation</a:t>
            </a:r>
          </a:p>
        </p:txBody>
      </p:sp>
      <p:sp>
        <p:nvSpPr>
          <p:cNvPr id="53254" name="Text Box 6"/>
          <p:cNvSpPr txBox="1">
            <a:spLocks noChangeArrowheads="1"/>
          </p:cNvSpPr>
          <p:nvPr/>
        </p:nvSpPr>
        <p:spPr bwMode="auto">
          <a:xfrm>
            <a:off x="4007768" y="1177588"/>
            <a:ext cx="46805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sz="2800" b="1" dirty="0">
                <a:solidFill>
                  <a:srgbClr val="FF3300"/>
                </a:solidFill>
                <a:latin typeface="Calibri" panose="020F0502020204030204" pitchFamily="34" charset="0"/>
              </a:rPr>
              <a:t>OS</a:t>
            </a:r>
            <a:r>
              <a:rPr lang="en-US" altLang="zh-TW" sz="2800" dirty="0">
                <a:solidFill>
                  <a:srgbClr val="FF3300"/>
                </a:solidFill>
                <a:latin typeface="Calibri" panose="020F0502020204030204" pitchFamily="34" charset="0"/>
              </a:rPr>
              <a:t> maintain a</a:t>
            </a:r>
            <a:r>
              <a:rPr lang="en-US" altLang="zh-TW" sz="2800" b="1" dirty="0">
                <a:solidFill>
                  <a:srgbClr val="FF3300"/>
                </a:solidFill>
                <a:latin typeface="Calibri" panose="020F0502020204030204" pitchFamily="34" charset="0"/>
              </a:rPr>
              <a:t> free-frame list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58" y="1916833"/>
            <a:ext cx="7920111" cy="4175993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992314" y="1773288"/>
            <a:ext cx="3743647" cy="43920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6384032" y="1772817"/>
            <a:ext cx="3837880" cy="43920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複習</a:t>
            </a:r>
            <a:r>
              <a:rPr lang="en-US" altLang="zh-TW" dirty="0" smtClean="0">
                <a:solidFill>
                  <a:srgbClr val="FF0000"/>
                </a:solidFill>
              </a:rPr>
              <a:t>: Q2: </a:t>
            </a:r>
            <a:r>
              <a:rPr lang="zh-TW" altLang="en-US" dirty="0">
                <a:solidFill>
                  <a:srgbClr val="FF0000"/>
                </a:solidFill>
              </a:rPr>
              <a:t>如何</a:t>
            </a:r>
            <a:r>
              <a:rPr lang="zh-TW" altLang="en-US" dirty="0" smtClean="0">
                <a:solidFill>
                  <a:srgbClr val="FF0000"/>
                </a:solidFill>
              </a:rPr>
              <a:t>維護</a:t>
            </a:r>
            <a:r>
              <a:rPr lang="en-US" altLang="zh-TW" dirty="0" smtClean="0">
                <a:solidFill>
                  <a:srgbClr val="FF0000"/>
                </a:solidFill>
              </a:rPr>
              <a:t>page table</a:t>
            </a:r>
            <a:r>
              <a:rPr lang="en-US" altLang="zh-TW" dirty="0" smtClean="0">
                <a:solidFill>
                  <a:srgbClr val="FF0000"/>
                </a:solidFill>
              </a:rPr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b="1" dirty="0"/>
              <a:t>從上</a:t>
            </a:r>
            <a:r>
              <a:rPr lang="zh-TW" altLang="en-US" b="1" dirty="0" smtClean="0"/>
              <a:t>圖</a:t>
            </a:r>
            <a:r>
              <a:rPr lang="en-US" altLang="zh-TW" b="1" dirty="0" smtClean="0"/>
              <a:t>, </a:t>
            </a:r>
            <a:r>
              <a:rPr lang="zh-TW" altLang="en-US" b="1" dirty="0" smtClean="0"/>
              <a:t>我們知道</a:t>
            </a:r>
            <a:r>
              <a:rPr lang="en-US" altLang="zh-TW" b="1" dirty="0" smtClean="0"/>
              <a:t>OS</a:t>
            </a:r>
            <a:r>
              <a:rPr lang="zh-TW" altLang="en-US" b="1" dirty="0"/>
              <a:t>如何</a:t>
            </a:r>
            <a:r>
              <a:rPr lang="zh-TW" altLang="en-US" b="1" dirty="0" smtClean="0"/>
              <a:t>維護</a:t>
            </a:r>
            <a:r>
              <a:rPr lang="en-US" altLang="zh-TW" b="1" dirty="0" smtClean="0"/>
              <a:t>page table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491655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Q: OS</a:t>
            </a:r>
            <a:r>
              <a:rPr lang="zh-TW" altLang="en-US" dirty="0" smtClean="0">
                <a:solidFill>
                  <a:srgbClr val="FF0000"/>
                </a:solidFill>
              </a:rPr>
              <a:t>何時會建立</a:t>
            </a:r>
            <a:r>
              <a:rPr lang="en-US" altLang="zh-TW" dirty="0" smtClean="0">
                <a:solidFill>
                  <a:srgbClr val="FF0000"/>
                </a:solidFill>
              </a:rPr>
              <a:t>page table?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fork() and exec()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51174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3"/>
          <p:cNvSpPr txBox="1">
            <a:spLocks noGrp="1"/>
          </p:cNvSpPr>
          <p:nvPr/>
        </p:nvSpPr>
        <p:spPr bwMode="auto">
          <a:xfrm>
            <a:off x="4151314" y="6453188"/>
            <a:ext cx="3889375" cy="2159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altLang="zh-TW"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NCHU System &amp; Network Lab</a:t>
            </a: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The </a:t>
            </a:r>
            <a:r>
              <a:rPr lang="en-US" altLang="zh-TW" dirty="0">
                <a:latin typeface="Courier New" pitchFamily="49" charset="0"/>
              </a:rPr>
              <a:t>fork()</a:t>
            </a:r>
            <a:r>
              <a:rPr lang="en-US" altLang="zh-TW" dirty="0"/>
              <a:t> System Call</a:t>
            </a: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5159376" y="2060576"/>
            <a:ext cx="1655763" cy="3959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5159376" y="1557338"/>
            <a:ext cx="1584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/>
              <a:t>Memory</a:t>
            </a:r>
          </a:p>
        </p:txBody>
      </p:sp>
      <p:sp>
        <p:nvSpPr>
          <p:cNvPr id="105478" name="Text Box 6"/>
          <p:cNvSpPr txBox="1">
            <a:spLocks noChangeArrowheads="1"/>
          </p:cNvSpPr>
          <p:nvPr/>
        </p:nvSpPr>
        <p:spPr bwMode="auto">
          <a:xfrm>
            <a:off x="6888163" y="2852738"/>
            <a:ext cx="1511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>
                <a:solidFill>
                  <a:srgbClr val="3333CC"/>
                </a:solidFill>
                <a:latin typeface="Courier New" pitchFamily="49" charset="0"/>
              </a:rPr>
              <a:t>fork()</a:t>
            </a:r>
          </a:p>
        </p:txBody>
      </p:sp>
      <p:grpSp>
        <p:nvGrpSpPr>
          <p:cNvPr id="34823" name="Group 7"/>
          <p:cNvGrpSpPr>
            <a:grpSpLocks/>
          </p:cNvGrpSpPr>
          <p:nvPr/>
        </p:nvGrpSpPr>
        <p:grpSpPr bwMode="auto">
          <a:xfrm>
            <a:off x="5160963" y="2563814"/>
            <a:ext cx="1655762" cy="936625"/>
            <a:chOff x="2064" y="1616"/>
            <a:chExt cx="1043" cy="545"/>
          </a:xfrm>
        </p:grpSpPr>
        <p:sp>
          <p:nvSpPr>
            <p:cNvPr id="34828" name="Rectangle 8"/>
            <p:cNvSpPr>
              <a:spLocks noChangeArrowheads="1"/>
            </p:cNvSpPr>
            <p:nvPr/>
          </p:nvSpPr>
          <p:spPr bwMode="auto">
            <a:xfrm>
              <a:off x="2064" y="1616"/>
              <a:ext cx="1043" cy="545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829" name="Text Box 9"/>
            <p:cNvSpPr txBox="1">
              <a:spLocks noChangeArrowheads="1"/>
            </p:cNvSpPr>
            <p:nvPr/>
          </p:nvSpPr>
          <p:spPr bwMode="auto">
            <a:xfrm>
              <a:off x="2064" y="1689"/>
              <a:ext cx="998" cy="3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800" b="1">
                  <a:solidFill>
                    <a:schemeClr val="bg1"/>
                  </a:solidFill>
                </a:rPr>
                <a:t>Original image</a:t>
              </a:r>
            </a:p>
          </p:txBody>
        </p:sp>
      </p:grpSp>
      <p:sp>
        <p:nvSpPr>
          <p:cNvPr id="34824" name="Text Box 10"/>
          <p:cNvSpPr txBox="1">
            <a:spLocks noChangeArrowheads="1"/>
          </p:cNvSpPr>
          <p:nvPr/>
        </p:nvSpPr>
        <p:spPr bwMode="auto">
          <a:xfrm>
            <a:off x="3144839" y="4652963"/>
            <a:ext cx="15843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800" b="1">
                <a:solidFill>
                  <a:schemeClr val="bg1"/>
                </a:solidFill>
              </a:rPr>
              <a:t>New image</a:t>
            </a:r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5159376" y="2565400"/>
            <a:ext cx="1655763" cy="935038"/>
            <a:chOff x="2290" y="1616"/>
            <a:chExt cx="1043" cy="589"/>
          </a:xfrm>
        </p:grpSpPr>
        <p:sp>
          <p:nvSpPr>
            <p:cNvPr id="34826" name="Rectangle 12"/>
            <p:cNvSpPr>
              <a:spLocks noChangeArrowheads="1"/>
            </p:cNvSpPr>
            <p:nvPr/>
          </p:nvSpPr>
          <p:spPr bwMode="auto">
            <a:xfrm>
              <a:off x="2290" y="1616"/>
              <a:ext cx="1043" cy="589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4827" name="Text Box 13"/>
            <p:cNvSpPr txBox="1">
              <a:spLocks noChangeArrowheads="1"/>
            </p:cNvSpPr>
            <p:nvPr/>
          </p:nvSpPr>
          <p:spPr bwMode="auto">
            <a:xfrm>
              <a:off x="2290" y="1616"/>
              <a:ext cx="998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800" b="1">
                  <a:solidFill>
                    <a:schemeClr val="bg1"/>
                  </a:solidFill>
                </a:rPr>
                <a:t>Copy from original image</a:t>
              </a:r>
            </a:p>
          </p:txBody>
        </p:sp>
      </p:grp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131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8032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514 0.00023 C 0.1691 0.03769 0.2434 0.07537 0.22761 0.12069 C 0.21181 0.16601 0.02708 0.24509 0.00087 0.27283 " pathEditMode="relative" rAng="0" ptsTypes="aaA"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0" y="13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8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3"/>
          <p:cNvSpPr txBox="1">
            <a:spLocks noGrp="1"/>
          </p:cNvSpPr>
          <p:nvPr/>
        </p:nvSpPr>
        <p:spPr bwMode="auto">
          <a:xfrm>
            <a:off x="4151314" y="6453188"/>
            <a:ext cx="3889375" cy="2159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altLang="zh-TW"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新細明體" pitchFamily="18" charset="-120"/>
              </a:rPr>
              <a:t>NCHU System &amp; Network Lab</a:t>
            </a: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/>
              <a:t>複習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 smtClean="0"/>
              <a:t>The </a:t>
            </a:r>
            <a:r>
              <a:rPr lang="en-US" altLang="zh-TW" dirty="0">
                <a:latin typeface="Courier New" pitchFamily="49" charset="0"/>
              </a:rPr>
              <a:t>exec()</a:t>
            </a:r>
            <a:r>
              <a:rPr lang="en-US" altLang="zh-TW" dirty="0"/>
              <a:t> System Call</a:t>
            </a: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5159376" y="2060576"/>
            <a:ext cx="1655763" cy="3959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5159376" y="1557338"/>
            <a:ext cx="1584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/>
              <a:t>Memory</a:t>
            </a:r>
          </a:p>
        </p:txBody>
      </p:sp>
      <p:sp>
        <p:nvSpPr>
          <p:cNvPr id="309254" name="Text Box 6"/>
          <p:cNvSpPr txBox="1">
            <a:spLocks noChangeArrowheads="1"/>
          </p:cNvSpPr>
          <p:nvPr/>
        </p:nvSpPr>
        <p:spPr bwMode="auto">
          <a:xfrm>
            <a:off x="6888163" y="2852738"/>
            <a:ext cx="1511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>
                <a:solidFill>
                  <a:srgbClr val="3333CC"/>
                </a:solidFill>
                <a:latin typeface="Courier New" pitchFamily="49" charset="0"/>
              </a:rPr>
              <a:t>fork()</a:t>
            </a:r>
          </a:p>
        </p:txBody>
      </p:sp>
      <p:grpSp>
        <p:nvGrpSpPr>
          <p:cNvPr id="35847" name="Group 7"/>
          <p:cNvGrpSpPr>
            <a:grpSpLocks/>
          </p:cNvGrpSpPr>
          <p:nvPr/>
        </p:nvGrpSpPr>
        <p:grpSpPr bwMode="auto">
          <a:xfrm>
            <a:off x="5160963" y="2563814"/>
            <a:ext cx="1655762" cy="936625"/>
            <a:chOff x="2064" y="1616"/>
            <a:chExt cx="1043" cy="545"/>
          </a:xfrm>
        </p:grpSpPr>
        <p:sp>
          <p:nvSpPr>
            <p:cNvPr id="35856" name="Rectangle 8"/>
            <p:cNvSpPr>
              <a:spLocks noChangeArrowheads="1"/>
            </p:cNvSpPr>
            <p:nvPr/>
          </p:nvSpPr>
          <p:spPr bwMode="auto">
            <a:xfrm>
              <a:off x="2064" y="1616"/>
              <a:ext cx="1043" cy="545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857" name="Text Box 9"/>
            <p:cNvSpPr txBox="1">
              <a:spLocks noChangeArrowheads="1"/>
            </p:cNvSpPr>
            <p:nvPr/>
          </p:nvSpPr>
          <p:spPr bwMode="auto">
            <a:xfrm>
              <a:off x="2064" y="1689"/>
              <a:ext cx="998" cy="3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800" b="1">
                  <a:solidFill>
                    <a:schemeClr val="bg1"/>
                  </a:solidFill>
                </a:rPr>
                <a:t>Original image</a:t>
              </a:r>
            </a:p>
          </p:txBody>
        </p:sp>
      </p:grpSp>
      <p:sp>
        <p:nvSpPr>
          <p:cNvPr id="35848" name="Text Box 10"/>
          <p:cNvSpPr txBox="1">
            <a:spLocks noChangeArrowheads="1"/>
          </p:cNvSpPr>
          <p:nvPr/>
        </p:nvSpPr>
        <p:spPr bwMode="auto">
          <a:xfrm>
            <a:off x="3144839" y="4652963"/>
            <a:ext cx="15843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1800" b="1">
                <a:solidFill>
                  <a:schemeClr val="bg1"/>
                </a:solidFill>
              </a:rPr>
              <a:t>New image</a:t>
            </a:r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5159376" y="2565400"/>
            <a:ext cx="1655763" cy="935038"/>
            <a:chOff x="2290" y="1616"/>
            <a:chExt cx="1043" cy="589"/>
          </a:xfrm>
        </p:grpSpPr>
        <p:sp>
          <p:nvSpPr>
            <p:cNvPr id="35854" name="Rectangle 12"/>
            <p:cNvSpPr>
              <a:spLocks noChangeArrowheads="1"/>
            </p:cNvSpPr>
            <p:nvPr/>
          </p:nvSpPr>
          <p:spPr bwMode="auto">
            <a:xfrm>
              <a:off x="2290" y="1616"/>
              <a:ext cx="1043" cy="589"/>
            </a:xfrm>
            <a:prstGeom prst="rect">
              <a:avLst/>
            </a:prstGeom>
            <a:solidFill>
              <a:srgbClr val="CC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855" name="Text Box 13"/>
            <p:cNvSpPr txBox="1">
              <a:spLocks noChangeArrowheads="1"/>
            </p:cNvSpPr>
            <p:nvPr/>
          </p:nvSpPr>
          <p:spPr bwMode="auto">
            <a:xfrm>
              <a:off x="2290" y="1616"/>
              <a:ext cx="998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800" b="1">
                  <a:solidFill>
                    <a:schemeClr val="bg1"/>
                  </a:solidFill>
                </a:rPr>
                <a:t>Copy from original image</a:t>
              </a:r>
            </a:p>
          </p:txBody>
        </p:sp>
      </p:grpSp>
      <p:sp>
        <p:nvSpPr>
          <p:cNvPr id="309262" name="Text Box 14"/>
          <p:cNvSpPr txBox="1">
            <a:spLocks noChangeArrowheads="1"/>
          </p:cNvSpPr>
          <p:nvPr/>
        </p:nvSpPr>
        <p:spPr bwMode="auto">
          <a:xfrm>
            <a:off x="6888163" y="4627563"/>
            <a:ext cx="1511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TW" sz="2400" b="1">
                <a:solidFill>
                  <a:srgbClr val="3333CC"/>
                </a:solidFill>
                <a:latin typeface="Courier New" pitchFamily="49" charset="0"/>
              </a:rPr>
              <a:t>exec()</a:t>
            </a: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5160963" y="4416552"/>
            <a:ext cx="1655762" cy="1460720"/>
            <a:chOff x="930" y="3249"/>
            <a:chExt cx="1043" cy="589"/>
          </a:xfrm>
        </p:grpSpPr>
        <p:sp>
          <p:nvSpPr>
            <p:cNvPr id="35852" name="Rectangle 16"/>
            <p:cNvSpPr>
              <a:spLocks noChangeArrowheads="1"/>
            </p:cNvSpPr>
            <p:nvPr/>
          </p:nvSpPr>
          <p:spPr bwMode="auto">
            <a:xfrm>
              <a:off x="930" y="3249"/>
              <a:ext cx="1043" cy="589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5853" name="Text Box 17"/>
            <p:cNvSpPr txBox="1">
              <a:spLocks noChangeArrowheads="1"/>
            </p:cNvSpPr>
            <p:nvPr/>
          </p:nvSpPr>
          <p:spPr bwMode="auto">
            <a:xfrm>
              <a:off x="975" y="3261"/>
              <a:ext cx="998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TW" sz="1800" b="1">
                  <a:solidFill>
                    <a:schemeClr val="bg1"/>
                  </a:solidFill>
                </a:rPr>
                <a:t>Load another image</a:t>
              </a:r>
            </a:p>
          </p:txBody>
        </p:sp>
      </p:grpSp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132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28376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514 0.00023 C 0.1691 0.03769 0.2434 0.07537 0.22761 0.12069 C 0.21181 0.16601 0.02708 0.24509 0.00087 0.27283 " pathEditMode="relative" rAng="0" ptsTypes="aaA"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0" y="136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0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4" grpId="0"/>
      <p:bldP spid="309262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Frame Table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In addition to page table, OS maintains a </a:t>
            </a:r>
            <a:r>
              <a:rPr lang="en-US" altLang="zh-TW" b="1" dirty="0" smtClean="0">
                <a:solidFill>
                  <a:srgbClr val="FF3300"/>
                </a:solidFill>
              </a:rPr>
              <a:t>frame table</a:t>
            </a:r>
            <a:r>
              <a:rPr lang="en-US" altLang="zh-TW" b="1" dirty="0" smtClean="0">
                <a:solidFill>
                  <a:schemeClr val="tx2"/>
                </a:solidFill>
              </a:rPr>
              <a:t> </a:t>
            </a:r>
            <a:r>
              <a:rPr lang="en-US" altLang="zh-TW" dirty="0" smtClean="0"/>
              <a:t>to keep track of all frames</a:t>
            </a:r>
          </a:p>
          <a:p>
            <a:pPr lvl="1" eaLnBrk="1" hangingPunct="1"/>
            <a:r>
              <a:rPr lang="en-US" altLang="zh-TW" dirty="0" smtClean="0"/>
              <a:t>An entry for each physical frame</a:t>
            </a:r>
          </a:p>
          <a:p>
            <a:pPr lvl="1" eaLnBrk="1" hangingPunct="1"/>
            <a:r>
              <a:rPr lang="en-US" altLang="zh-TW" dirty="0" smtClean="0"/>
              <a:t>Whether frame is free or allocated</a:t>
            </a:r>
          </a:p>
          <a:p>
            <a:pPr lvl="1" eaLnBrk="1" hangingPunct="1"/>
            <a:r>
              <a:rPr lang="en-US" altLang="zh-TW" dirty="0" smtClean="0"/>
              <a:t>If allocated, to which page of which process</a:t>
            </a:r>
          </a:p>
          <a:p>
            <a:pPr lvl="1" eaLnBrk="1" hangingPunct="1"/>
            <a:r>
              <a:rPr lang="en-US" altLang="zh-TW" dirty="0" smtClean="0"/>
              <a:t>See the next slide</a:t>
            </a:r>
          </a:p>
          <a:p>
            <a:pPr eaLnBrk="1" hangingPunct="1"/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485915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2639617" y="6230640"/>
            <a:ext cx="21605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800" b="1" dirty="0">
                <a:solidFill>
                  <a:srgbClr val="0000FF"/>
                </a:solidFill>
                <a:latin typeface="Helvetica" pitchFamily="34" charset="0"/>
              </a:rPr>
              <a:t>Before Allocation</a:t>
            </a:r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7252339" y="6229330"/>
            <a:ext cx="18944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800" b="1" dirty="0">
                <a:solidFill>
                  <a:srgbClr val="0000FF"/>
                </a:solidFill>
                <a:latin typeface="Helvetica" pitchFamily="34" charset="0"/>
              </a:rPr>
              <a:t>After Allocation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58" y="1916833"/>
            <a:ext cx="7920111" cy="4175993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992314" y="1773288"/>
            <a:ext cx="3743647" cy="43920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6384032" y="1772817"/>
            <a:ext cx="3837880" cy="43920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9" name="Group 18"/>
          <p:cNvGrpSpPr>
            <a:grpSpLocks/>
          </p:cNvGrpSpPr>
          <p:nvPr/>
        </p:nvGrpSpPr>
        <p:grpSpPr bwMode="auto">
          <a:xfrm>
            <a:off x="3306912" y="-146001"/>
            <a:ext cx="1487500" cy="2212975"/>
            <a:chOff x="624" y="2446"/>
            <a:chExt cx="759" cy="1394"/>
          </a:xfrm>
        </p:grpSpPr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839" y="3158"/>
              <a:ext cx="544" cy="1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600" b="1">
                  <a:solidFill>
                    <a:srgbClr val="0000FF"/>
                  </a:solidFill>
                  <a:latin typeface="Calibri" panose="020F0502020204030204" pitchFamily="34" charset="0"/>
                </a:rPr>
                <a:t>free</a:t>
              </a: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839" y="2795"/>
              <a:ext cx="544" cy="1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600" b="1" dirty="0">
                  <a:solidFill>
                    <a:srgbClr val="0000FF"/>
                  </a:solidFill>
                  <a:latin typeface="Calibri" panose="020F0502020204030204" pitchFamily="34" charset="0"/>
                </a:rPr>
                <a:t>free</a:t>
              </a: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839" y="2977"/>
              <a:ext cx="544" cy="1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600" b="1" dirty="0">
                  <a:solidFill>
                    <a:srgbClr val="0000FF"/>
                  </a:solidFill>
                  <a:latin typeface="Calibri" panose="020F0502020204030204" pitchFamily="34" charset="0"/>
                </a:rPr>
                <a:t>free</a:t>
              </a: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839" y="3339"/>
              <a:ext cx="544" cy="1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600" b="1" i="1" dirty="0" smtClean="0">
                  <a:solidFill>
                    <a:srgbClr val="0000FF"/>
                  </a:solidFill>
                  <a:latin typeface="Calibri" panose="020F0502020204030204" pitchFamily="34" charset="0"/>
                </a:rPr>
                <a:t>(P</a:t>
              </a:r>
              <a:r>
                <a:rPr lang="en-US" altLang="zh-TW" sz="1600" b="1" i="1" baseline="-25000" dirty="0" smtClean="0">
                  <a:solidFill>
                    <a:srgbClr val="0000FF"/>
                  </a:solidFill>
                  <a:latin typeface="Calibri" panose="020F0502020204030204" pitchFamily="34" charset="0"/>
                </a:rPr>
                <a:t>i </a:t>
              </a:r>
              <a:r>
                <a:rPr lang="en-US" altLang="zh-TW" sz="1600" b="1" i="1" dirty="0" smtClean="0">
                  <a:solidFill>
                    <a:srgbClr val="0000FF"/>
                  </a:solidFill>
                  <a:latin typeface="Calibri" panose="020F0502020204030204" pitchFamily="34" charset="0"/>
                </a:rPr>
                <a:t>,page3)</a:t>
              </a:r>
              <a:endParaRPr lang="en-US" altLang="zh-TW" sz="1600" b="1" i="1" dirty="0">
                <a:solidFill>
                  <a:srgbClr val="0000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1066" y="2446"/>
              <a:ext cx="151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b="1">
                  <a:solidFill>
                    <a:srgbClr val="0000FF"/>
                  </a:solidFill>
                  <a:latin typeface="Calibri" panose="020F0502020204030204" pitchFamily="34" charset="0"/>
                </a:rPr>
                <a:t>.</a:t>
              </a:r>
            </a:p>
            <a:p>
              <a:r>
                <a:rPr lang="en-US" altLang="zh-TW" sz="1600" b="1">
                  <a:solidFill>
                    <a:srgbClr val="0000FF"/>
                  </a:solidFill>
                  <a:latin typeface="Calibri" panose="020F0502020204030204" pitchFamily="34" charset="0"/>
                </a:rPr>
                <a:t>.</a:t>
              </a: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1066" y="3472"/>
              <a:ext cx="151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b="1">
                  <a:solidFill>
                    <a:srgbClr val="0000FF"/>
                  </a:solidFill>
                  <a:latin typeface="Calibri" panose="020F0502020204030204" pitchFamily="34" charset="0"/>
                </a:rPr>
                <a:t>.</a:t>
              </a:r>
            </a:p>
            <a:p>
              <a:r>
                <a:rPr lang="en-US" altLang="zh-TW" sz="1600" b="1">
                  <a:solidFill>
                    <a:srgbClr val="0000FF"/>
                  </a:solidFill>
                  <a:latin typeface="Calibri" panose="020F0502020204030204" pitchFamily="34" charset="0"/>
                </a:rPr>
                <a:t>.</a:t>
              </a:r>
            </a:p>
          </p:txBody>
        </p:sp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624" y="2775"/>
              <a:ext cx="26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 dirty="0">
                  <a:solidFill>
                    <a:srgbClr val="0000FF"/>
                  </a:solidFill>
                  <a:latin typeface="Calibri" panose="020F0502020204030204" pitchFamily="34" charset="0"/>
                </a:rPr>
                <a:t>13</a:t>
              </a: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624" y="2972"/>
              <a:ext cx="26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>
                  <a:solidFill>
                    <a:srgbClr val="0000FF"/>
                  </a:solidFill>
                  <a:latin typeface="Calibri" panose="020F0502020204030204" pitchFamily="34" charset="0"/>
                </a:rPr>
                <a:t>14</a:t>
              </a:r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624" y="3154"/>
              <a:ext cx="26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>
                  <a:solidFill>
                    <a:srgbClr val="0000FF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624" y="3339"/>
              <a:ext cx="26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>
                  <a:solidFill>
                    <a:srgbClr val="0000FF"/>
                  </a:solidFill>
                  <a:latin typeface="Calibri" panose="020F0502020204030204" pitchFamily="34" charset="0"/>
                </a:rPr>
                <a:t>16</a:t>
              </a:r>
            </a:p>
          </p:txBody>
        </p:sp>
      </p:grpSp>
      <p:sp>
        <p:nvSpPr>
          <p:cNvPr id="20" name="Text Box 32"/>
          <p:cNvSpPr txBox="1">
            <a:spLocks noChangeArrowheads="1"/>
          </p:cNvSpPr>
          <p:nvPr/>
        </p:nvSpPr>
        <p:spPr bwMode="auto">
          <a:xfrm>
            <a:off x="2484970" y="630356"/>
            <a:ext cx="87472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frame </a:t>
            </a:r>
          </a:p>
          <a:p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table</a:t>
            </a:r>
          </a:p>
        </p:txBody>
      </p:sp>
      <p:grpSp>
        <p:nvGrpSpPr>
          <p:cNvPr id="32" name="Group 19"/>
          <p:cNvGrpSpPr>
            <a:grpSpLocks/>
          </p:cNvGrpSpPr>
          <p:nvPr/>
        </p:nvGrpSpPr>
        <p:grpSpPr bwMode="auto">
          <a:xfrm>
            <a:off x="7536161" y="-146001"/>
            <a:ext cx="1678779" cy="2212975"/>
            <a:chOff x="624" y="2446"/>
            <a:chExt cx="759" cy="1394"/>
          </a:xfrm>
        </p:grpSpPr>
        <p:sp>
          <p:nvSpPr>
            <p:cNvPr id="33" name="Rectangle 20"/>
            <p:cNvSpPr>
              <a:spLocks noChangeArrowheads="1"/>
            </p:cNvSpPr>
            <p:nvPr/>
          </p:nvSpPr>
          <p:spPr bwMode="auto">
            <a:xfrm>
              <a:off x="839" y="3158"/>
              <a:ext cx="544" cy="1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600" b="1" dirty="0">
                  <a:solidFill>
                    <a:srgbClr val="0000FF"/>
                  </a:solidFill>
                  <a:latin typeface="Calibri" panose="020F0502020204030204" pitchFamily="34" charset="0"/>
                </a:rPr>
                <a:t>free</a:t>
              </a:r>
            </a:p>
          </p:txBody>
        </p:sp>
        <p:sp>
          <p:nvSpPr>
            <p:cNvPr id="34" name="Rectangle 21"/>
            <p:cNvSpPr>
              <a:spLocks noChangeArrowheads="1"/>
            </p:cNvSpPr>
            <p:nvPr/>
          </p:nvSpPr>
          <p:spPr bwMode="auto">
            <a:xfrm>
              <a:off x="839" y="2795"/>
              <a:ext cx="544" cy="1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600" b="1" i="1" dirty="0" smtClean="0">
                  <a:solidFill>
                    <a:srgbClr val="0000FF"/>
                  </a:solidFill>
                  <a:latin typeface="Calibri" panose="020F0502020204030204" pitchFamily="34" charset="0"/>
                </a:rPr>
                <a:t>(</a:t>
              </a:r>
              <a:r>
                <a:rPr lang="en-US" altLang="zh-TW" sz="1600" b="1" i="1" dirty="0" err="1" smtClean="0">
                  <a:solidFill>
                    <a:srgbClr val="0000FF"/>
                  </a:solidFill>
                  <a:latin typeface="Calibri" panose="020F0502020204030204" pitchFamily="34" charset="0"/>
                </a:rPr>
                <a:t>P</a:t>
              </a:r>
              <a:r>
                <a:rPr lang="en-US" altLang="zh-TW" sz="1600" b="1" i="1" baseline="-25000" dirty="0" err="1" smtClean="0">
                  <a:solidFill>
                    <a:srgbClr val="0000FF"/>
                  </a:solidFill>
                  <a:latin typeface="Calibri" panose="020F0502020204030204" pitchFamily="34" charset="0"/>
                </a:rPr>
                <a:t>j</a:t>
              </a:r>
              <a:r>
                <a:rPr lang="en-US" altLang="zh-TW" sz="1600" b="1" i="1" dirty="0" smtClean="0">
                  <a:solidFill>
                    <a:srgbClr val="0000FF"/>
                  </a:solidFill>
                  <a:latin typeface="Calibri" panose="020F0502020204030204" pitchFamily="34" charset="0"/>
                </a:rPr>
                <a:t>, page 1)</a:t>
              </a:r>
              <a:endParaRPr lang="en-US" altLang="zh-TW" sz="1600" b="1" i="1" dirty="0">
                <a:solidFill>
                  <a:srgbClr val="0000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5" name="Rectangle 22"/>
            <p:cNvSpPr>
              <a:spLocks noChangeArrowheads="1"/>
            </p:cNvSpPr>
            <p:nvPr/>
          </p:nvSpPr>
          <p:spPr bwMode="auto">
            <a:xfrm>
              <a:off x="839" y="2977"/>
              <a:ext cx="544" cy="1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600" b="1" i="1" dirty="0" smtClean="0">
                  <a:solidFill>
                    <a:srgbClr val="0000FF"/>
                  </a:solidFill>
                  <a:latin typeface="Calibri" panose="020F0502020204030204" pitchFamily="34" charset="0"/>
                </a:rPr>
                <a:t>(</a:t>
              </a:r>
              <a:r>
                <a:rPr lang="en-US" altLang="zh-TW" sz="1600" b="1" i="1" dirty="0" err="1" smtClean="0">
                  <a:solidFill>
                    <a:srgbClr val="0000FF"/>
                  </a:solidFill>
                  <a:latin typeface="Calibri" panose="020F0502020204030204" pitchFamily="34" charset="0"/>
                </a:rPr>
                <a:t>P</a:t>
              </a:r>
              <a:r>
                <a:rPr lang="en-US" altLang="zh-TW" sz="1600" b="1" i="1" baseline="-25000" dirty="0" err="1" smtClean="0">
                  <a:solidFill>
                    <a:srgbClr val="0000FF"/>
                  </a:solidFill>
                  <a:latin typeface="Calibri" panose="020F0502020204030204" pitchFamily="34" charset="0"/>
                </a:rPr>
                <a:t>j</a:t>
              </a:r>
              <a:r>
                <a:rPr lang="en-US" altLang="zh-TW" sz="1600" b="1" i="1" dirty="0" smtClean="0">
                  <a:solidFill>
                    <a:srgbClr val="0000FF"/>
                  </a:solidFill>
                  <a:latin typeface="Calibri" panose="020F0502020204030204" pitchFamily="34" charset="0"/>
                </a:rPr>
                <a:t> , page0)</a:t>
              </a:r>
              <a:endParaRPr lang="en-US" altLang="zh-TW" sz="1600" b="1" i="1" dirty="0">
                <a:solidFill>
                  <a:srgbClr val="0000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6" name="Rectangle 23"/>
            <p:cNvSpPr>
              <a:spLocks noChangeArrowheads="1"/>
            </p:cNvSpPr>
            <p:nvPr/>
          </p:nvSpPr>
          <p:spPr bwMode="auto">
            <a:xfrm>
              <a:off x="839" y="3339"/>
              <a:ext cx="544" cy="1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600" b="1" i="1">
                  <a:solidFill>
                    <a:srgbClr val="0000FF"/>
                  </a:solidFill>
                  <a:latin typeface="Calibri" panose="020F0502020204030204" pitchFamily="34" charset="0"/>
                </a:rPr>
                <a:t>(P</a:t>
              </a:r>
              <a:r>
                <a:rPr lang="en-US" altLang="zh-TW" sz="1600" b="1" i="1" baseline="-25000">
                  <a:solidFill>
                    <a:srgbClr val="0000FF"/>
                  </a:solidFill>
                  <a:latin typeface="Calibri" panose="020F0502020204030204" pitchFamily="34" charset="0"/>
                </a:rPr>
                <a:t>i </a:t>
              </a:r>
              <a:r>
                <a:rPr lang="en-US" altLang="zh-TW" sz="1600" b="1" i="1">
                  <a:solidFill>
                    <a:srgbClr val="0000FF"/>
                  </a:solidFill>
                  <a:latin typeface="Calibri" panose="020F0502020204030204" pitchFamily="34" charset="0"/>
                </a:rPr>
                <a:t>,page3)</a:t>
              </a:r>
              <a:endParaRPr lang="en-US" altLang="zh-TW" sz="1600" b="1" i="1" dirty="0">
                <a:solidFill>
                  <a:srgbClr val="0000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" name="Text Box 24"/>
            <p:cNvSpPr txBox="1">
              <a:spLocks noChangeArrowheads="1"/>
            </p:cNvSpPr>
            <p:nvPr/>
          </p:nvSpPr>
          <p:spPr bwMode="auto">
            <a:xfrm>
              <a:off x="1066" y="2446"/>
              <a:ext cx="151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b="1">
                  <a:solidFill>
                    <a:srgbClr val="0000FF"/>
                  </a:solidFill>
                  <a:latin typeface="Calibri" panose="020F0502020204030204" pitchFamily="34" charset="0"/>
                </a:rPr>
                <a:t>.</a:t>
              </a:r>
            </a:p>
            <a:p>
              <a:r>
                <a:rPr lang="en-US" altLang="zh-TW" sz="1600" b="1">
                  <a:solidFill>
                    <a:srgbClr val="0000FF"/>
                  </a:solidFill>
                  <a:latin typeface="Calibri" panose="020F0502020204030204" pitchFamily="34" charset="0"/>
                </a:rPr>
                <a:t>.</a:t>
              </a:r>
            </a:p>
          </p:txBody>
        </p:sp>
        <p:sp>
          <p:nvSpPr>
            <p:cNvPr id="38" name="Text Box 25"/>
            <p:cNvSpPr txBox="1">
              <a:spLocks noChangeArrowheads="1"/>
            </p:cNvSpPr>
            <p:nvPr/>
          </p:nvSpPr>
          <p:spPr bwMode="auto">
            <a:xfrm>
              <a:off x="1066" y="3472"/>
              <a:ext cx="151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600" b="1">
                  <a:solidFill>
                    <a:srgbClr val="0000FF"/>
                  </a:solidFill>
                  <a:latin typeface="Calibri" panose="020F0502020204030204" pitchFamily="34" charset="0"/>
                </a:rPr>
                <a:t>.</a:t>
              </a:r>
            </a:p>
            <a:p>
              <a:r>
                <a:rPr lang="en-US" altLang="zh-TW" sz="1600" b="1">
                  <a:solidFill>
                    <a:srgbClr val="0000FF"/>
                  </a:solidFill>
                  <a:latin typeface="Calibri" panose="020F0502020204030204" pitchFamily="34" charset="0"/>
                </a:rPr>
                <a:t>.</a:t>
              </a:r>
            </a:p>
          </p:txBody>
        </p:sp>
        <p:sp>
          <p:nvSpPr>
            <p:cNvPr id="39" name="Text Box 26"/>
            <p:cNvSpPr txBox="1">
              <a:spLocks noChangeArrowheads="1"/>
            </p:cNvSpPr>
            <p:nvPr/>
          </p:nvSpPr>
          <p:spPr bwMode="auto">
            <a:xfrm>
              <a:off x="624" y="2775"/>
              <a:ext cx="26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>
                  <a:solidFill>
                    <a:srgbClr val="0000FF"/>
                  </a:solidFill>
                  <a:latin typeface="Calibri" panose="020F0502020204030204" pitchFamily="34" charset="0"/>
                </a:rPr>
                <a:t>13</a:t>
              </a:r>
            </a:p>
          </p:txBody>
        </p:sp>
        <p:sp>
          <p:nvSpPr>
            <p:cNvPr id="40" name="Text Box 27"/>
            <p:cNvSpPr txBox="1">
              <a:spLocks noChangeArrowheads="1"/>
            </p:cNvSpPr>
            <p:nvPr/>
          </p:nvSpPr>
          <p:spPr bwMode="auto">
            <a:xfrm>
              <a:off x="624" y="2972"/>
              <a:ext cx="26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>
                  <a:solidFill>
                    <a:srgbClr val="0000FF"/>
                  </a:solidFill>
                  <a:latin typeface="Calibri" panose="020F0502020204030204" pitchFamily="34" charset="0"/>
                </a:rPr>
                <a:t>14</a:t>
              </a:r>
            </a:p>
          </p:txBody>
        </p:sp>
        <p:sp>
          <p:nvSpPr>
            <p:cNvPr id="41" name="Text Box 28"/>
            <p:cNvSpPr txBox="1">
              <a:spLocks noChangeArrowheads="1"/>
            </p:cNvSpPr>
            <p:nvPr/>
          </p:nvSpPr>
          <p:spPr bwMode="auto">
            <a:xfrm>
              <a:off x="624" y="3154"/>
              <a:ext cx="26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>
                  <a:solidFill>
                    <a:srgbClr val="0000FF"/>
                  </a:solidFill>
                  <a:latin typeface="Calibri" panose="020F0502020204030204" pitchFamily="34" charset="0"/>
                </a:rPr>
                <a:t>15</a:t>
              </a:r>
            </a:p>
          </p:txBody>
        </p:sp>
        <p:sp>
          <p:nvSpPr>
            <p:cNvPr id="42" name="Text Box 29"/>
            <p:cNvSpPr txBox="1">
              <a:spLocks noChangeArrowheads="1"/>
            </p:cNvSpPr>
            <p:nvPr/>
          </p:nvSpPr>
          <p:spPr bwMode="auto">
            <a:xfrm>
              <a:off x="624" y="3339"/>
              <a:ext cx="26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1800" b="1">
                  <a:solidFill>
                    <a:srgbClr val="0000FF"/>
                  </a:solidFill>
                  <a:latin typeface="Calibri" panose="020F0502020204030204" pitchFamily="34" charset="0"/>
                </a:rPr>
                <a:t>16</a:t>
              </a:r>
            </a:p>
          </p:txBody>
        </p:sp>
      </p:grpSp>
      <p:sp>
        <p:nvSpPr>
          <p:cNvPr id="43" name="Text Box 32"/>
          <p:cNvSpPr txBox="1">
            <a:spLocks noChangeArrowheads="1"/>
          </p:cNvSpPr>
          <p:nvPr/>
        </p:nvSpPr>
        <p:spPr bwMode="auto">
          <a:xfrm>
            <a:off x="9369683" y="632794"/>
            <a:ext cx="87472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frame </a:t>
            </a:r>
          </a:p>
          <a:p>
            <a:r>
              <a:rPr lang="en-US" altLang="zh-TW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1414995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effectLst/>
              </a:rPr>
              <a:t>Summary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TW" dirty="0"/>
              <a:t>Paging provides a clear separation between </a:t>
            </a:r>
            <a:r>
              <a:rPr lang="en-US" altLang="zh-TW" b="1" dirty="0"/>
              <a:t>the</a:t>
            </a:r>
            <a:r>
              <a:rPr lang="en-US" altLang="zh-TW" dirty="0"/>
              <a:t> </a:t>
            </a:r>
            <a:r>
              <a:rPr lang="en-US" altLang="zh-TW" b="1" dirty="0"/>
              <a:t>user’s view of memory</a:t>
            </a:r>
            <a:r>
              <a:rPr lang="en-US" altLang="zh-TW" dirty="0"/>
              <a:t> and </a:t>
            </a:r>
            <a:r>
              <a:rPr lang="en-US" altLang="zh-TW" b="1" dirty="0"/>
              <a:t>the actual physical memory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User program views memory as </a:t>
            </a:r>
            <a:r>
              <a:rPr lang="en-US" altLang="zh-TW" dirty="0">
                <a:solidFill>
                  <a:srgbClr val="FF3300"/>
                </a:solidFill>
              </a:rPr>
              <a:t>one single space</a:t>
            </a:r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In fact, the </a:t>
            </a:r>
            <a:r>
              <a:rPr lang="en-US" altLang="zh-TW" dirty="0"/>
              <a:t>single space map to </a:t>
            </a:r>
            <a:r>
              <a:rPr lang="en-US" altLang="zh-TW" dirty="0">
                <a:solidFill>
                  <a:srgbClr val="FF3300"/>
                </a:solidFill>
              </a:rPr>
              <a:t>non-contiguous</a:t>
            </a:r>
            <a:r>
              <a:rPr lang="en-US" altLang="zh-TW" dirty="0"/>
              <a:t> physical </a:t>
            </a:r>
            <a:r>
              <a:rPr lang="en-US" altLang="zh-TW" dirty="0" smtClean="0"/>
              <a:t>frames</a:t>
            </a:r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The translation is done by the </a:t>
            </a:r>
            <a:r>
              <a:rPr lang="en-US" altLang="zh-TW" b="1" dirty="0" smtClean="0">
                <a:solidFill>
                  <a:srgbClr val="0000FF"/>
                </a:solidFill>
              </a:rPr>
              <a:t>address translation hardware</a:t>
            </a:r>
            <a:r>
              <a:rPr lang="en-US" altLang="zh-TW" dirty="0" smtClean="0">
                <a:solidFill>
                  <a:srgbClr val="0000FF"/>
                </a:solidFill>
              </a:rPr>
              <a:t> (</a:t>
            </a:r>
            <a:r>
              <a:rPr lang="en-US" altLang="zh-TW" b="1" dirty="0" smtClean="0">
                <a:solidFill>
                  <a:srgbClr val="0000FF"/>
                </a:solidFill>
              </a:rPr>
              <a:t>MMU</a:t>
            </a:r>
            <a:r>
              <a:rPr lang="en-US" altLang="zh-TW" dirty="0" smtClean="0">
                <a:solidFill>
                  <a:srgbClr val="0000FF"/>
                </a:solidFill>
              </a:rPr>
              <a:t>) </a:t>
            </a:r>
            <a:r>
              <a:rPr lang="en-US" altLang="zh-TW" dirty="0" smtClean="0"/>
              <a:t>by consulting the </a:t>
            </a:r>
            <a:r>
              <a:rPr lang="en-US" altLang="zh-TW" dirty="0" smtClean="0">
                <a:solidFill>
                  <a:srgbClr val="0000FF"/>
                </a:solidFill>
              </a:rPr>
              <a:t>page table</a:t>
            </a:r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The </a:t>
            </a:r>
            <a:r>
              <a:rPr lang="en-US" altLang="zh-TW" dirty="0" smtClean="0">
                <a:solidFill>
                  <a:srgbClr val="0000FF"/>
                </a:solidFill>
              </a:rPr>
              <a:t>page table </a:t>
            </a:r>
            <a:r>
              <a:rPr lang="en-US" altLang="zh-TW" dirty="0" smtClean="0"/>
              <a:t>is maintained by the OS</a:t>
            </a:r>
          </a:p>
          <a:p>
            <a:pPr>
              <a:lnSpc>
                <a:spcPct val="110000"/>
              </a:lnSpc>
            </a:pP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065381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zh-TW" dirty="0" smtClean="0"/>
              <a:t>Background</a:t>
            </a:r>
          </a:p>
          <a:p>
            <a:pPr eaLnBrk="1" hangingPunct="1"/>
            <a:r>
              <a:rPr lang="en-US" altLang="zh-TW" dirty="0" smtClean="0"/>
              <a:t>Contiguous Memory Allocation</a:t>
            </a:r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Paging</a:t>
            </a:r>
          </a:p>
          <a:p>
            <a:pPr lvl="1" eaLnBrk="1" hangingPunct="1"/>
            <a:r>
              <a:rPr lang="en-US" altLang="zh-TW" dirty="0" smtClean="0"/>
              <a:t>Basic Method</a:t>
            </a:r>
          </a:p>
          <a:p>
            <a:pPr lvl="1" eaLnBrk="1" hangingPunct="1"/>
            <a:r>
              <a:rPr lang="en-US" altLang="zh-TW" b="1" dirty="0" smtClean="0">
                <a:solidFill>
                  <a:srgbClr val="FF0000"/>
                </a:solidFill>
              </a:rPr>
              <a:t>Hardware Support</a:t>
            </a:r>
          </a:p>
          <a:p>
            <a:pPr lvl="1" eaLnBrk="1" hangingPunct="1"/>
            <a:r>
              <a:rPr lang="en-US" altLang="zh-TW" dirty="0" smtClean="0"/>
              <a:t>Protection</a:t>
            </a:r>
          </a:p>
          <a:p>
            <a:pPr lvl="1" eaLnBrk="1" hangingPunct="1"/>
            <a:r>
              <a:rPr lang="en-US" altLang="zh-TW" dirty="0" smtClean="0"/>
              <a:t>Shared Pages</a:t>
            </a:r>
          </a:p>
          <a:p>
            <a:pPr eaLnBrk="1" hangingPunct="1"/>
            <a:r>
              <a:rPr lang="en-US" altLang="zh-TW" dirty="0" smtClean="0"/>
              <a:t>Structure of the Page Table</a:t>
            </a:r>
          </a:p>
          <a:p>
            <a:pPr eaLnBrk="1" hangingPunct="1"/>
            <a:r>
              <a:rPr lang="en-US" altLang="zh-TW" dirty="0" smtClean="0"/>
              <a:t>Swapping</a:t>
            </a:r>
          </a:p>
          <a:p>
            <a:pPr eaLnBrk="1" hangingPunct="1"/>
            <a:r>
              <a:rPr lang="en-US" altLang="zh-TW" dirty="0" smtClean="0"/>
              <a:t>Example: Intel 32 and 64-bit Architectures</a:t>
            </a:r>
          </a:p>
          <a:p>
            <a:pPr eaLnBrk="1" hangingPunct="1"/>
            <a:r>
              <a:rPr lang="en-US" altLang="zh-TW" dirty="0" smtClean="0"/>
              <a:t>Example: ARMv8 Architecture</a:t>
            </a:r>
          </a:p>
        </p:txBody>
      </p:sp>
    </p:spTree>
    <p:extLst>
      <p:ext uri="{BB962C8B-B14F-4D97-AF65-F5344CB8AC3E}">
        <p14:creationId xmlns:p14="http://schemas.microsoft.com/office/powerpoint/2010/main" val="2603534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</a:t>
            </a:r>
            <a:r>
              <a:rPr lang="zh-TW" altLang="en-US" dirty="0" smtClean="0"/>
              <a:t> </a:t>
            </a:r>
            <a:r>
              <a:rPr lang="zh-TW" altLang="en-US" dirty="0"/>
              <a:t>每</a:t>
            </a:r>
            <a:r>
              <a:rPr lang="zh-TW" altLang="en-US" dirty="0" smtClean="0"/>
              <a:t>一個</a:t>
            </a:r>
            <a:r>
              <a:rPr lang="en-US" altLang="zh-TW" dirty="0" smtClean="0"/>
              <a:t>process</a:t>
            </a:r>
            <a:r>
              <a:rPr lang="zh-TW" altLang="en-US" dirty="0" smtClean="0"/>
              <a:t>有自己的</a:t>
            </a:r>
            <a:r>
              <a:rPr lang="en-US" altLang="zh-TW" dirty="0" smtClean="0"/>
              <a:t>page table</a:t>
            </a:r>
            <a:r>
              <a:rPr lang="zh-TW" altLang="en-US" dirty="0" smtClean="0"/>
              <a:t>或是整個系統只有一份</a:t>
            </a:r>
            <a:r>
              <a:rPr lang="en-US" altLang="zh-TW" dirty="0" smtClean="0"/>
              <a:t>page table?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sz="2800" dirty="0" smtClean="0"/>
          </a:p>
          <a:p>
            <a:r>
              <a:rPr lang="en-US" altLang="zh-TW" sz="2800" dirty="0" smtClean="0"/>
              <a:t>See the following slide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46991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effectLst/>
              </a:rPr>
              <a:t>Per-Process Page Table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4417" y="1484312"/>
            <a:ext cx="10972800" cy="1512639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</a:pPr>
            <a:r>
              <a:rPr lang="en-US" altLang="zh-TW" dirty="0"/>
              <a:t>Each process has its own physical </a:t>
            </a:r>
            <a:r>
              <a:rPr lang="en-US" altLang="zh-TW" dirty="0" smtClean="0"/>
              <a:t>frames</a:t>
            </a:r>
            <a:r>
              <a:rPr lang="en-US" altLang="zh-TW" dirty="0"/>
              <a:t>, </a:t>
            </a:r>
            <a:r>
              <a:rPr lang="en-US" altLang="zh-TW" b="1" dirty="0" smtClean="0"/>
              <a:t>OS</a:t>
            </a:r>
            <a:r>
              <a:rPr lang="en-US" altLang="zh-TW" dirty="0" smtClean="0"/>
              <a:t> </a:t>
            </a:r>
            <a:r>
              <a:rPr lang="en-US" altLang="zh-TW" dirty="0"/>
              <a:t>maintains a page table </a:t>
            </a:r>
            <a:r>
              <a:rPr lang="en-US" altLang="zh-TW" b="1" dirty="0">
                <a:solidFill>
                  <a:srgbClr val="0000FF"/>
                </a:solidFill>
              </a:rPr>
              <a:t>for each </a:t>
            </a:r>
            <a:r>
              <a:rPr lang="en-US" altLang="zh-TW" b="1" dirty="0" smtClean="0">
                <a:solidFill>
                  <a:srgbClr val="0000FF"/>
                </a:solidFill>
              </a:rPr>
              <a:t>process</a:t>
            </a:r>
          </a:p>
          <a:p>
            <a:pPr marL="342900" lvl="1" indent="-342900">
              <a:spcBef>
                <a:spcPts val="600"/>
              </a:spcBef>
              <a:buFontTx/>
              <a:buChar char="•"/>
            </a:pPr>
            <a:r>
              <a:rPr lang="en-US" altLang="zh-TW" b="1" dirty="0" smtClean="0">
                <a:cs typeface="Calibri" panose="020F0502020204030204" pitchFamily="34" charset="0"/>
              </a:rPr>
              <a:t>A </a:t>
            </a:r>
            <a:r>
              <a:rPr lang="en-US" altLang="zh-TW" b="1" dirty="0">
                <a:cs typeface="Calibri" panose="020F0502020204030204" pitchFamily="34" charset="0"/>
              </a:rPr>
              <a:t>pointer to a process’s page table is stored in its </a:t>
            </a:r>
            <a:r>
              <a:rPr lang="en-US" altLang="zh-TW" b="1" dirty="0">
                <a:solidFill>
                  <a:srgbClr val="FF3300"/>
                </a:solidFill>
                <a:cs typeface="Calibri" panose="020F0502020204030204" pitchFamily="34" charset="0"/>
              </a:rPr>
              <a:t>PCB</a:t>
            </a:r>
          </a:p>
          <a:p>
            <a:pPr>
              <a:spcBef>
                <a:spcPts val="600"/>
              </a:spcBef>
            </a:pPr>
            <a:endParaRPr lang="en-US" altLang="zh-TW" b="1" dirty="0" smtClean="0">
              <a:solidFill>
                <a:srgbClr val="0000FF"/>
              </a:solidFill>
            </a:endParaRPr>
          </a:p>
          <a:p>
            <a:pPr lvl="1">
              <a:spcBef>
                <a:spcPts val="600"/>
              </a:spcBef>
            </a:pPr>
            <a:endParaRPr lang="en-US" altLang="zh-TW" b="1" dirty="0" smtClean="0">
              <a:solidFill>
                <a:srgbClr val="0000FF"/>
              </a:solidFill>
            </a:endParaRPr>
          </a:p>
        </p:txBody>
      </p:sp>
      <p:grpSp>
        <p:nvGrpSpPr>
          <p:cNvPr id="5" name="群組 4"/>
          <p:cNvGrpSpPr/>
          <p:nvPr/>
        </p:nvGrpSpPr>
        <p:grpSpPr>
          <a:xfrm>
            <a:off x="1559496" y="3158703"/>
            <a:ext cx="8772525" cy="3438649"/>
            <a:chOff x="1720851" y="1322780"/>
            <a:chExt cx="8772525" cy="5328845"/>
          </a:xfrm>
        </p:grpSpPr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 l="7840" t="800" r="7520" b="999"/>
            <a:stretch>
              <a:fillRect/>
            </a:stretch>
          </p:blipFill>
          <p:spPr bwMode="auto">
            <a:xfrm>
              <a:off x="1720851" y="1322780"/>
              <a:ext cx="8772525" cy="52435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3229706" y="2528650"/>
              <a:ext cx="104402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zh-TW" sz="1800" b="1" dirty="0">
                  <a:solidFill>
                    <a:srgbClr val="000000"/>
                  </a:solidFill>
                  <a:latin typeface="Calibri" panose="020F0502020204030204" pitchFamily="34" charset="0"/>
                  <a:ea typeface="標楷體" pitchFamily="65" charset="-120"/>
                </a:rPr>
                <a:t>(P0)</a:t>
              </a:r>
            </a:p>
          </p:txBody>
        </p:sp>
        <p:pic>
          <p:nvPicPr>
            <p:cNvPr id="8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 l="7840" t="9897" r="77425" b="49788"/>
            <a:stretch>
              <a:fillRect/>
            </a:stretch>
          </p:blipFill>
          <p:spPr bwMode="auto">
            <a:xfrm>
              <a:off x="1739901" y="4498975"/>
              <a:ext cx="1527175" cy="2152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3229706" y="5332968"/>
              <a:ext cx="56938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TW" sz="1800" b="1" dirty="0">
                  <a:solidFill>
                    <a:srgbClr val="000000"/>
                  </a:solidFill>
                  <a:latin typeface="Calibri" panose="020F0502020204030204" pitchFamily="34" charset="0"/>
                  <a:ea typeface="標楷體" pitchFamily="65" charset="-120"/>
                </a:rPr>
                <a:t>(P1)</a:t>
              </a:r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8995984" y="1825005"/>
              <a:ext cx="1441450" cy="523875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TW" sz="1800" b="1" dirty="0">
                  <a:solidFill>
                    <a:srgbClr val="000000"/>
                  </a:solidFill>
                  <a:latin typeface="Calibri" panose="020F0502020204030204" pitchFamily="34" charset="0"/>
                  <a:ea typeface="標楷體" pitchFamily="65" charset="-120"/>
                </a:rPr>
                <a:t>Page 3</a:t>
              </a: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9035384" y="2877472"/>
              <a:ext cx="1403350" cy="523875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TW" sz="1800" b="1">
                  <a:solidFill>
                    <a:srgbClr val="000000"/>
                  </a:solidFill>
                  <a:latin typeface="Calibri" panose="020F0502020204030204" pitchFamily="34" charset="0"/>
                  <a:ea typeface="標楷體" pitchFamily="65" charset="-120"/>
                </a:rPr>
                <a:t>Page 2</a:t>
              </a: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9009984" y="4426258"/>
              <a:ext cx="1428750" cy="523875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TW" sz="1800" b="1">
                  <a:solidFill>
                    <a:srgbClr val="000000"/>
                  </a:solidFill>
                  <a:latin typeface="Calibri" panose="020F0502020204030204" pitchFamily="34" charset="0"/>
                  <a:ea typeface="標楷體" pitchFamily="65" charset="-120"/>
                </a:rPr>
                <a:t>Page 1</a:t>
              </a: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9025552" y="4940301"/>
              <a:ext cx="1403350" cy="523875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TW" sz="1800" b="1">
                  <a:solidFill>
                    <a:srgbClr val="000000"/>
                  </a:solidFill>
                  <a:latin typeface="Calibri" panose="020F0502020204030204" pitchFamily="34" charset="0"/>
                  <a:ea typeface="標楷體" pitchFamily="65" charset="-120"/>
                </a:rPr>
                <a:t>Page 0</a:t>
              </a:r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5619750" y="4605338"/>
              <a:ext cx="363538" cy="3667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TW" sz="1800" b="1" dirty="0">
                  <a:solidFill>
                    <a:srgbClr val="000000"/>
                  </a:solidFill>
                  <a:latin typeface="Calibri" panose="020F0502020204030204" pitchFamily="34" charset="0"/>
                  <a:ea typeface="標楷體" pitchFamily="65" charset="-120"/>
                </a:rPr>
                <a:t>6</a:t>
              </a: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5619750" y="4970463"/>
              <a:ext cx="363538" cy="3667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TW" sz="1800" b="1">
                  <a:solidFill>
                    <a:srgbClr val="000000"/>
                  </a:solidFill>
                  <a:latin typeface="Calibri" panose="020F0502020204030204" pitchFamily="34" charset="0"/>
                  <a:ea typeface="標楷體" pitchFamily="65" charset="-120"/>
                </a:rPr>
                <a:t>5</a:t>
              </a:r>
            </a:p>
          </p:txBody>
        </p:sp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>
              <a:off x="5619750" y="5337176"/>
              <a:ext cx="363538" cy="3667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TW" sz="1800" b="1" dirty="0">
                  <a:solidFill>
                    <a:srgbClr val="000000"/>
                  </a:solidFill>
                  <a:latin typeface="Calibri" panose="020F0502020204030204" pitchFamily="34" charset="0"/>
                  <a:ea typeface="標楷體" pitchFamily="65" charset="-120"/>
                </a:rPr>
                <a:t>2</a:t>
              </a:r>
            </a:p>
          </p:txBody>
        </p:sp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5619750" y="5702301"/>
              <a:ext cx="363538" cy="3667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TW" sz="1800" b="1">
                  <a:solidFill>
                    <a:srgbClr val="000000"/>
                  </a:solidFill>
                  <a:latin typeface="Calibri" panose="020F0502020204030204" pitchFamily="34" charset="0"/>
                  <a:ea typeface="標楷體" pitchFamily="65" charset="-120"/>
                </a:rPr>
                <a:t>0</a:t>
              </a:r>
            </a:p>
          </p:txBody>
        </p:sp>
        <p:sp>
          <p:nvSpPr>
            <p:cNvPr id="18" name="Text Box 15"/>
            <p:cNvSpPr txBox="1">
              <a:spLocks noChangeArrowheads="1"/>
            </p:cNvSpPr>
            <p:nvPr/>
          </p:nvSpPr>
          <p:spPr bwMode="auto">
            <a:xfrm>
              <a:off x="5246688" y="4603751"/>
              <a:ext cx="311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TW" sz="1800" b="1" dirty="0">
                  <a:solidFill>
                    <a:srgbClr val="000000"/>
                  </a:solidFill>
                  <a:latin typeface="Calibri" panose="020F0502020204030204" pitchFamily="34" charset="0"/>
                  <a:ea typeface="標楷體" pitchFamily="65" charset="-120"/>
                </a:rPr>
                <a:t>0</a:t>
              </a:r>
            </a:p>
          </p:txBody>
        </p:sp>
        <p:sp>
          <p:nvSpPr>
            <p:cNvPr id="19" name="Text Box 16"/>
            <p:cNvSpPr txBox="1">
              <a:spLocks noChangeArrowheads="1"/>
            </p:cNvSpPr>
            <p:nvPr/>
          </p:nvSpPr>
          <p:spPr bwMode="auto">
            <a:xfrm>
              <a:off x="5246688" y="5008563"/>
              <a:ext cx="311150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TW" sz="1800" b="1">
                  <a:solidFill>
                    <a:srgbClr val="000000"/>
                  </a:solidFill>
                  <a:latin typeface="Calibri" panose="020F0502020204030204" pitchFamily="34" charset="0"/>
                  <a:ea typeface="標楷體" pitchFamily="65" charset="-120"/>
                </a:rPr>
                <a:t>1</a:t>
              </a:r>
            </a:p>
          </p:txBody>
        </p:sp>
        <p:sp>
          <p:nvSpPr>
            <p:cNvPr id="20" name="Text Box 17"/>
            <p:cNvSpPr txBox="1">
              <a:spLocks noChangeArrowheads="1"/>
            </p:cNvSpPr>
            <p:nvPr/>
          </p:nvSpPr>
          <p:spPr bwMode="auto">
            <a:xfrm>
              <a:off x="5246688" y="5375276"/>
              <a:ext cx="311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TW" sz="1800" b="1">
                  <a:solidFill>
                    <a:srgbClr val="000000"/>
                  </a:solidFill>
                  <a:latin typeface="Calibri" panose="020F0502020204030204" pitchFamily="34" charset="0"/>
                  <a:ea typeface="標楷體" pitchFamily="65" charset="-120"/>
                </a:rPr>
                <a:t>2</a:t>
              </a: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5246688" y="5740401"/>
              <a:ext cx="31115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TW" sz="1800" b="1">
                  <a:solidFill>
                    <a:srgbClr val="000000"/>
                  </a:solidFill>
                  <a:latin typeface="Calibri" panose="020F0502020204030204" pitchFamily="34" charset="0"/>
                  <a:ea typeface="標楷體" pitchFamily="65" charset="-12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6788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Q: Where is the page table?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 err="1" smtClean="0"/>
              <a:t>Ans</a:t>
            </a:r>
            <a:r>
              <a:rPr lang="en-US" altLang="en-US" dirty="0" smtClean="0"/>
              <a:t>: page </a:t>
            </a:r>
            <a:r>
              <a:rPr lang="en-US" altLang="en-US" dirty="0"/>
              <a:t>table is stored in main memory.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3560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/>
              <a:t>複習：</a:t>
            </a:r>
            <a:r>
              <a:rPr lang="en-US" altLang="zh-TW" dirty="0" smtClean="0"/>
              <a:t>Storage-Device Hierarchy</a:t>
            </a:r>
          </a:p>
        </p:txBody>
      </p:sp>
      <p:sp>
        <p:nvSpPr>
          <p:cNvPr id="19460" name="Text Box 6"/>
          <p:cNvSpPr txBox="1">
            <a:spLocks noChangeArrowheads="1"/>
          </p:cNvSpPr>
          <p:nvPr/>
        </p:nvSpPr>
        <p:spPr bwMode="auto">
          <a:xfrm>
            <a:off x="3482975" y="1069975"/>
            <a:ext cx="184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TW" altLang="zh-TW"/>
          </a:p>
        </p:txBody>
      </p:sp>
      <p:sp>
        <p:nvSpPr>
          <p:cNvPr id="19461" name="Rectangle 7"/>
          <p:cNvSpPr>
            <a:spLocks noChangeArrowheads="1"/>
          </p:cNvSpPr>
          <p:nvPr/>
        </p:nvSpPr>
        <p:spPr bwMode="auto">
          <a:xfrm>
            <a:off x="1919288" y="1125539"/>
            <a:ext cx="8229600" cy="352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zh-TW" altLang="zh-TW" sz="3200" i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19462" name="Rectangle 9"/>
          <p:cNvSpPr>
            <a:spLocks noChangeArrowheads="1"/>
          </p:cNvSpPr>
          <p:nvPr/>
        </p:nvSpPr>
        <p:spPr bwMode="auto">
          <a:xfrm>
            <a:off x="1919288" y="981076"/>
            <a:ext cx="8229600" cy="2303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endParaRPr lang="zh-TW" altLang="zh-TW" sz="2400">
              <a:latin typeface="Times New Roman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13" y="1231900"/>
            <a:ext cx="8156575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9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Q: How to know the location of a page table?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see the following slide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74280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ffectLst/>
              </a:rPr>
              <a:t>Per-Process Page </a:t>
            </a:r>
            <a:r>
              <a:rPr lang="en-US" altLang="zh-TW" dirty="0" smtClean="0">
                <a:effectLst/>
              </a:rPr>
              <a:t>Table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Hardware introduces two registers</a:t>
            </a:r>
            <a:endParaRPr lang="en-US" altLang="en-US" dirty="0"/>
          </a:p>
          <a:p>
            <a:pPr lvl="1" eaLnBrk="1" hangingPunct="1"/>
            <a:r>
              <a:rPr lang="en-US" altLang="en-US" b="1" dirty="0" smtClean="0">
                <a:solidFill>
                  <a:srgbClr val="3366FF"/>
                </a:solidFill>
              </a:rPr>
              <a:t>Page-table base register </a:t>
            </a:r>
            <a:r>
              <a:rPr lang="en-US" altLang="en-US" dirty="0" smtClean="0"/>
              <a:t>(</a:t>
            </a:r>
            <a:r>
              <a:rPr lang="en-US" altLang="en-US" b="1" dirty="0" smtClean="0">
                <a:solidFill>
                  <a:srgbClr val="3366FF"/>
                </a:solidFill>
              </a:rPr>
              <a:t>PTBR</a:t>
            </a:r>
            <a:r>
              <a:rPr lang="en-US" altLang="en-US" dirty="0" smtClean="0"/>
              <a:t>)</a:t>
            </a:r>
            <a:r>
              <a:rPr lang="en-US" altLang="en-US" dirty="0" smtClean="0">
                <a:solidFill>
                  <a:srgbClr val="3366FF"/>
                </a:solidFill>
              </a:rPr>
              <a:t> </a:t>
            </a:r>
            <a:r>
              <a:rPr lang="en-US" altLang="zh-TW" dirty="0" smtClean="0"/>
              <a:t>points </a:t>
            </a:r>
            <a:r>
              <a:rPr lang="en-US" altLang="zh-TW" dirty="0"/>
              <a:t>to the page table of the current running process</a:t>
            </a:r>
          </a:p>
          <a:p>
            <a:pPr lvl="1"/>
            <a:r>
              <a:rPr lang="en-US" altLang="en-US" b="1" dirty="0" smtClean="0">
                <a:solidFill>
                  <a:srgbClr val="3366FF"/>
                </a:solidFill>
              </a:rPr>
              <a:t>Page-table </a:t>
            </a:r>
            <a:r>
              <a:rPr lang="en-US" altLang="en-US" b="1" dirty="0">
                <a:solidFill>
                  <a:srgbClr val="3366FF"/>
                </a:solidFill>
              </a:rPr>
              <a:t>length register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PTLR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indicates size of the page </a:t>
            </a:r>
            <a:r>
              <a:rPr lang="en-US" altLang="en-US" dirty="0" smtClean="0"/>
              <a:t>table </a:t>
            </a:r>
            <a:r>
              <a:rPr lang="en-US" altLang="en-US" sz="2000" dirty="0"/>
              <a:t>(introduced later)</a:t>
            </a:r>
          </a:p>
          <a:p>
            <a:pPr marL="342900" lvl="1" indent="-342900">
              <a:spcBef>
                <a:spcPct val="20000"/>
              </a:spcBef>
              <a:buFontTx/>
              <a:buChar char="•"/>
            </a:pPr>
            <a:r>
              <a:rPr lang="en-US" altLang="zh-TW" dirty="0" smtClean="0"/>
              <a:t>When processes </a:t>
            </a:r>
            <a:r>
              <a:rPr lang="en-US" altLang="zh-TW" dirty="0"/>
              <a:t>context switch</a:t>
            </a:r>
          </a:p>
          <a:p>
            <a:pPr marL="742950" lvl="2" indent="-342900"/>
            <a:r>
              <a:rPr lang="en-US" altLang="zh-TW" b="1" dirty="0"/>
              <a:t>PTBR</a:t>
            </a:r>
            <a:r>
              <a:rPr lang="en-US" altLang="zh-TW" dirty="0"/>
              <a:t> is changed to point to the current process’s page table</a:t>
            </a:r>
          </a:p>
          <a:p>
            <a:pPr marL="742950" lvl="2" indent="-342900"/>
            <a:r>
              <a:rPr lang="en-US" altLang="zh-TW" b="1" dirty="0"/>
              <a:t>PTLR</a:t>
            </a:r>
            <a:r>
              <a:rPr lang="en-US" altLang="zh-TW" dirty="0"/>
              <a:t> is also updated</a:t>
            </a:r>
          </a:p>
          <a:p>
            <a:pPr marL="742950" lvl="2" indent="-342900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7964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Each Process Has a Page Table</a:t>
            </a:r>
          </a:p>
        </p:txBody>
      </p:sp>
      <p:pic>
        <p:nvPicPr>
          <p:cNvPr id="79875" name="Picture 3"/>
          <p:cNvPicPr>
            <a:picLocks noChangeAspect="1" noChangeArrowheads="1"/>
          </p:cNvPicPr>
          <p:nvPr/>
        </p:nvPicPr>
        <p:blipFill>
          <a:blip r:embed="rId2" cstate="print"/>
          <a:srcRect l="7840" t="800" r="7520" b="999"/>
          <a:stretch>
            <a:fillRect/>
          </a:stretch>
        </p:blipFill>
        <p:spPr bwMode="auto">
          <a:xfrm>
            <a:off x="1720851" y="1322780"/>
            <a:ext cx="8772525" cy="524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9876" name="Text Box 4"/>
          <p:cNvSpPr txBox="1">
            <a:spLocks noChangeArrowheads="1"/>
          </p:cNvSpPr>
          <p:nvPr/>
        </p:nvSpPr>
        <p:spPr bwMode="auto">
          <a:xfrm>
            <a:off x="3229706" y="2528650"/>
            <a:ext cx="104402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TW" sz="1800" b="1" dirty="0">
                <a:solidFill>
                  <a:srgbClr val="000000"/>
                </a:solidFill>
                <a:latin typeface="Calibri" panose="020F0502020204030204" pitchFamily="34" charset="0"/>
                <a:ea typeface="標楷體" pitchFamily="65" charset="-120"/>
              </a:rPr>
              <a:t>(P0)</a:t>
            </a:r>
          </a:p>
        </p:txBody>
      </p:sp>
      <p:pic>
        <p:nvPicPr>
          <p:cNvPr id="79877" name="Picture 5"/>
          <p:cNvPicPr>
            <a:picLocks noChangeAspect="1" noChangeArrowheads="1"/>
          </p:cNvPicPr>
          <p:nvPr/>
        </p:nvPicPr>
        <p:blipFill>
          <a:blip r:embed="rId2" cstate="print"/>
          <a:srcRect l="7840" t="9897" r="77425" b="49788"/>
          <a:stretch>
            <a:fillRect/>
          </a:stretch>
        </p:blipFill>
        <p:spPr bwMode="auto">
          <a:xfrm>
            <a:off x="1739901" y="4498975"/>
            <a:ext cx="1527175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9878" name="Text Box 6"/>
          <p:cNvSpPr txBox="1">
            <a:spLocks noChangeArrowheads="1"/>
          </p:cNvSpPr>
          <p:nvPr/>
        </p:nvSpPr>
        <p:spPr bwMode="auto">
          <a:xfrm>
            <a:off x="3229706" y="5332968"/>
            <a:ext cx="5693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800" b="1" dirty="0">
                <a:solidFill>
                  <a:srgbClr val="000000"/>
                </a:solidFill>
                <a:latin typeface="Calibri" panose="020F0502020204030204" pitchFamily="34" charset="0"/>
                <a:ea typeface="標楷體" pitchFamily="65" charset="-120"/>
              </a:rPr>
              <a:t>(P1)</a:t>
            </a:r>
          </a:p>
        </p:txBody>
      </p:sp>
      <p:sp>
        <p:nvSpPr>
          <p:cNvPr id="79879" name="Rectangle 7"/>
          <p:cNvSpPr>
            <a:spLocks noChangeArrowheads="1"/>
          </p:cNvSpPr>
          <p:nvPr/>
        </p:nvSpPr>
        <p:spPr bwMode="auto">
          <a:xfrm>
            <a:off x="8995984" y="1825005"/>
            <a:ext cx="1441450" cy="5238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 sz="1800" b="1" dirty="0">
                <a:solidFill>
                  <a:srgbClr val="000000"/>
                </a:solidFill>
                <a:latin typeface="Calibri" panose="020F0502020204030204" pitchFamily="34" charset="0"/>
                <a:ea typeface="標楷體" pitchFamily="65" charset="-120"/>
              </a:rPr>
              <a:t>Page 3</a:t>
            </a:r>
          </a:p>
        </p:txBody>
      </p:sp>
      <p:sp>
        <p:nvSpPr>
          <p:cNvPr id="79880" name="Rectangle 8"/>
          <p:cNvSpPr>
            <a:spLocks noChangeArrowheads="1"/>
          </p:cNvSpPr>
          <p:nvPr/>
        </p:nvSpPr>
        <p:spPr bwMode="auto">
          <a:xfrm>
            <a:off x="9035384" y="2877472"/>
            <a:ext cx="1403350" cy="523875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 sz="1800" b="1">
                <a:solidFill>
                  <a:srgbClr val="000000"/>
                </a:solidFill>
                <a:latin typeface="Calibri" panose="020F0502020204030204" pitchFamily="34" charset="0"/>
                <a:ea typeface="標楷體" pitchFamily="65" charset="-120"/>
              </a:rPr>
              <a:t>Page 2</a:t>
            </a:r>
          </a:p>
        </p:txBody>
      </p:sp>
      <p:sp>
        <p:nvSpPr>
          <p:cNvPr id="79881" name="Rectangle 9"/>
          <p:cNvSpPr>
            <a:spLocks noChangeArrowheads="1"/>
          </p:cNvSpPr>
          <p:nvPr/>
        </p:nvSpPr>
        <p:spPr bwMode="auto">
          <a:xfrm>
            <a:off x="9009984" y="4426258"/>
            <a:ext cx="1428750" cy="5238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 sz="1800" b="1">
                <a:solidFill>
                  <a:srgbClr val="000000"/>
                </a:solidFill>
                <a:latin typeface="Calibri" panose="020F0502020204030204" pitchFamily="34" charset="0"/>
                <a:ea typeface="標楷體" pitchFamily="65" charset="-120"/>
              </a:rPr>
              <a:t>Page 1</a:t>
            </a:r>
          </a:p>
        </p:txBody>
      </p:sp>
      <p:sp>
        <p:nvSpPr>
          <p:cNvPr id="79882" name="Rectangle 10"/>
          <p:cNvSpPr>
            <a:spLocks noChangeArrowheads="1"/>
          </p:cNvSpPr>
          <p:nvPr/>
        </p:nvSpPr>
        <p:spPr bwMode="auto">
          <a:xfrm>
            <a:off x="9025552" y="4940301"/>
            <a:ext cx="1403350" cy="5238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 sz="1800" b="1">
                <a:solidFill>
                  <a:srgbClr val="000000"/>
                </a:solidFill>
                <a:latin typeface="Calibri" panose="020F0502020204030204" pitchFamily="34" charset="0"/>
                <a:ea typeface="標楷體" pitchFamily="65" charset="-120"/>
              </a:rPr>
              <a:t>Page 0</a:t>
            </a:r>
          </a:p>
        </p:txBody>
      </p:sp>
      <p:sp>
        <p:nvSpPr>
          <p:cNvPr id="79883" name="Rectangle 11"/>
          <p:cNvSpPr>
            <a:spLocks noChangeArrowheads="1"/>
          </p:cNvSpPr>
          <p:nvPr/>
        </p:nvSpPr>
        <p:spPr bwMode="auto">
          <a:xfrm>
            <a:off x="5619750" y="4605338"/>
            <a:ext cx="363538" cy="366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 sz="1800" b="1" dirty="0">
                <a:solidFill>
                  <a:srgbClr val="000000"/>
                </a:solidFill>
                <a:latin typeface="Calibri" panose="020F0502020204030204" pitchFamily="34" charset="0"/>
                <a:ea typeface="標楷體" pitchFamily="65" charset="-120"/>
              </a:rPr>
              <a:t>6</a:t>
            </a:r>
          </a:p>
        </p:txBody>
      </p:sp>
      <p:sp>
        <p:nvSpPr>
          <p:cNvPr id="79884" name="Rectangle 12"/>
          <p:cNvSpPr>
            <a:spLocks noChangeArrowheads="1"/>
          </p:cNvSpPr>
          <p:nvPr/>
        </p:nvSpPr>
        <p:spPr bwMode="auto">
          <a:xfrm>
            <a:off x="5619750" y="4970463"/>
            <a:ext cx="363538" cy="366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 sz="1800" b="1">
                <a:solidFill>
                  <a:srgbClr val="000000"/>
                </a:solidFill>
                <a:latin typeface="Calibri" panose="020F0502020204030204" pitchFamily="34" charset="0"/>
                <a:ea typeface="標楷體" pitchFamily="65" charset="-120"/>
              </a:rPr>
              <a:t>5</a:t>
            </a:r>
          </a:p>
        </p:txBody>
      </p:sp>
      <p:sp>
        <p:nvSpPr>
          <p:cNvPr id="79885" name="Rectangle 13"/>
          <p:cNvSpPr>
            <a:spLocks noChangeArrowheads="1"/>
          </p:cNvSpPr>
          <p:nvPr/>
        </p:nvSpPr>
        <p:spPr bwMode="auto">
          <a:xfrm>
            <a:off x="5619750" y="5337176"/>
            <a:ext cx="363538" cy="366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 sz="1800" b="1">
                <a:solidFill>
                  <a:srgbClr val="000000"/>
                </a:solidFill>
                <a:latin typeface="Calibri" panose="020F0502020204030204" pitchFamily="34" charset="0"/>
                <a:ea typeface="標楷體" pitchFamily="65" charset="-120"/>
              </a:rPr>
              <a:t>2</a:t>
            </a:r>
          </a:p>
        </p:txBody>
      </p:sp>
      <p:sp>
        <p:nvSpPr>
          <p:cNvPr id="79886" name="Rectangle 14"/>
          <p:cNvSpPr>
            <a:spLocks noChangeArrowheads="1"/>
          </p:cNvSpPr>
          <p:nvPr/>
        </p:nvSpPr>
        <p:spPr bwMode="auto">
          <a:xfrm>
            <a:off x="5619750" y="5702301"/>
            <a:ext cx="363538" cy="366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TW" sz="1800" b="1">
                <a:solidFill>
                  <a:srgbClr val="000000"/>
                </a:solidFill>
                <a:latin typeface="Calibri" panose="020F0502020204030204" pitchFamily="34" charset="0"/>
                <a:ea typeface="標楷體" pitchFamily="65" charset="-120"/>
              </a:rPr>
              <a:t>0</a:t>
            </a:r>
          </a:p>
        </p:txBody>
      </p:sp>
      <p:sp>
        <p:nvSpPr>
          <p:cNvPr id="79887" name="Text Box 15"/>
          <p:cNvSpPr txBox="1">
            <a:spLocks noChangeArrowheads="1"/>
          </p:cNvSpPr>
          <p:nvPr/>
        </p:nvSpPr>
        <p:spPr bwMode="auto">
          <a:xfrm>
            <a:off x="5246688" y="4603751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800" b="1">
                <a:solidFill>
                  <a:srgbClr val="000000"/>
                </a:solidFill>
                <a:latin typeface="Calibri" panose="020F0502020204030204" pitchFamily="34" charset="0"/>
                <a:ea typeface="標楷體" pitchFamily="65" charset="-120"/>
              </a:rPr>
              <a:t>0</a:t>
            </a:r>
          </a:p>
        </p:txBody>
      </p:sp>
      <p:sp>
        <p:nvSpPr>
          <p:cNvPr id="79888" name="Text Box 16"/>
          <p:cNvSpPr txBox="1">
            <a:spLocks noChangeArrowheads="1"/>
          </p:cNvSpPr>
          <p:nvPr/>
        </p:nvSpPr>
        <p:spPr bwMode="auto">
          <a:xfrm>
            <a:off x="5246688" y="500856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800" b="1">
                <a:solidFill>
                  <a:srgbClr val="000000"/>
                </a:solidFill>
                <a:latin typeface="Calibri" panose="020F0502020204030204" pitchFamily="34" charset="0"/>
                <a:ea typeface="標楷體" pitchFamily="65" charset="-120"/>
              </a:rPr>
              <a:t>1</a:t>
            </a:r>
          </a:p>
        </p:txBody>
      </p:sp>
      <p:sp>
        <p:nvSpPr>
          <p:cNvPr id="79889" name="Text Box 17"/>
          <p:cNvSpPr txBox="1">
            <a:spLocks noChangeArrowheads="1"/>
          </p:cNvSpPr>
          <p:nvPr/>
        </p:nvSpPr>
        <p:spPr bwMode="auto">
          <a:xfrm>
            <a:off x="5246688" y="5375276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800" b="1">
                <a:solidFill>
                  <a:srgbClr val="000000"/>
                </a:solidFill>
                <a:latin typeface="Calibri" panose="020F0502020204030204" pitchFamily="34" charset="0"/>
                <a:ea typeface="標楷體" pitchFamily="65" charset="-120"/>
              </a:rPr>
              <a:t>2</a:t>
            </a:r>
          </a:p>
        </p:txBody>
      </p:sp>
      <p:sp>
        <p:nvSpPr>
          <p:cNvPr id="79890" name="Text Box 18"/>
          <p:cNvSpPr txBox="1">
            <a:spLocks noChangeArrowheads="1"/>
          </p:cNvSpPr>
          <p:nvPr/>
        </p:nvSpPr>
        <p:spPr bwMode="auto">
          <a:xfrm>
            <a:off x="5246688" y="5740401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800" b="1">
                <a:solidFill>
                  <a:srgbClr val="000000"/>
                </a:solidFill>
                <a:latin typeface="Calibri" panose="020F0502020204030204" pitchFamily="34" charset="0"/>
                <a:ea typeface="標楷體" pitchFamily="65" charset="-120"/>
              </a:rPr>
              <a:t>3</a:t>
            </a:r>
          </a:p>
        </p:txBody>
      </p:sp>
      <p:sp>
        <p:nvSpPr>
          <p:cNvPr id="79902" name="Text Box 46"/>
          <p:cNvSpPr txBox="1">
            <a:spLocks noChangeArrowheads="1"/>
          </p:cNvSpPr>
          <p:nvPr/>
        </p:nvSpPr>
        <p:spPr bwMode="auto">
          <a:xfrm>
            <a:off x="9115425" y="6553201"/>
            <a:ext cx="140698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400" b="1">
                <a:solidFill>
                  <a:srgbClr val="000000"/>
                </a:solidFill>
                <a:latin typeface="Calibri" panose="020F0502020204030204" pitchFamily="34" charset="0"/>
              </a:rPr>
              <a:t>From Ka, Ha-Zen</a:t>
            </a:r>
          </a:p>
        </p:txBody>
      </p:sp>
      <p:sp>
        <p:nvSpPr>
          <p:cNvPr id="2" name="直線圖說文字 1 1"/>
          <p:cNvSpPr/>
          <p:nvPr/>
        </p:nvSpPr>
        <p:spPr>
          <a:xfrm>
            <a:off x="4303480" y="1296988"/>
            <a:ext cx="914400" cy="612648"/>
          </a:xfrm>
          <a:prstGeom prst="borderCallout1">
            <a:avLst>
              <a:gd name="adj1" fmla="val 103327"/>
              <a:gd name="adj2" fmla="val 101667"/>
              <a:gd name="adj3" fmla="val 145667"/>
              <a:gd name="adj4" fmla="val 163889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>
                <a:solidFill>
                  <a:srgbClr val="0000FF"/>
                </a:solidFill>
                <a:latin typeface="Calibri" panose="020F0502020204030204" pitchFamily="34" charset="0"/>
              </a:rPr>
              <a:t>0x1000</a:t>
            </a:r>
            <a:endParaRPr lang="zh-TW" altLang="en-US" sz="1800" b="1" dirty="0">
              <a:solidFill>
                <a:srgbClr val="0000FF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直線圖說文字 1 21"/>
          <p:cNvSpPr/>
          <p:nvPr/>
        </p:nvSpPr>
        <p:spPr>
          <a:xfrm>
            <a:off x="4273734" y="1284680"/>
            <a:ext cx="922288" cy="612648"/>
          </a:xfrm>
          <a:prstGeom prst="borderCallout1">
            <a:avLst>
              <a:gd name="adj1" fmla="val 103327"/>
              <a:gd name="adj2" fmla="val 101667"/>
              <a:gd name="adj3" fmla="val 545335"/>
              <a:gd name="adj4" fmla="val 141667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800" b="1" dirty="0">
                <a:solidFill>
                  <a:srgbClr val="0000FF"/>
                </a:solidFill>
                <a:latin typeface="Calibri" panose="020F0502020204030204" pitchFamily="34" charset="0"/>
              </a:rPr>
              <a:t>0x1200</a:t>
            </a:r>
            <a:endParaRPr lang="zh-TW" altLang="en-US" sz="1800" b="1" dirty="0">
              <a:solidFill>
                <a:srgbClr val="0000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243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5527" y="1196305"/>
            <a:ext cx="7416800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4798011" y="5577340"/>
            <a:ext cx="9780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i="1" dirty="0">
                <a:latin typeface="Calibri" panose="020F0502020204030204" pitchFamily="34" charset="0"/>
              </a:rPr>
              <a:t>process</a:t>
            </a:r>
            <a:r>
              <a:rPr lang="en-US" altLang="zh-TW" sz="1800" b="1" i="1" baseline="-25000" dirty="0">
                <a:latin typeface="Calibri" panose="020F0502020204030204" pitchFamily="34" charset="0"/>
              </a:rPr>
              <a:t>0</a:t>
            </a:r>
            <a:endParaRPr lang="en-US" altLang="zh-TW" sz="1800" b="1" i="1" dirty="0">
              <a:latin typeface="Calibri" panose="020F0502020204030204" pitchFamily="34" charset="0"/>
            </a:endParaRPr>
          </a:p>
        </p:txBody>
      </p:sp>
      <p:sp>
        <p:nvSpPr>
          <p:cNvPr id="55301" name="Text Box 5"/>
          <p:cNvSpPr txBox="1">
            <a:spLocks noChangeArrowheads="1"/>
          </p:cNvSpPr>
          <p:nvPr/>
        </p:nvSpPr>
        <p:spPr bwMode="auto">
          <a:xfrm>
            <a:off x="8157525" y="5543907"/>
            <a:ext cx="9780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i="1" dirty="0">
                <a:latin typeface="Calibri" panose="020F0502020204030204" pitchFamily="34" charset="0"/>
              </a:rPr>
              <a:t>process</a:t>
            </a:r>
            <a:r>
              <a:rPr lang="en-US" altLang="zh-TW" sz="1800" b="1" i="1" baseline="-25000" dirty="0"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55302" name="Text Box 6"/>
          <p:cNvSpPr txBox="1">
            <a:spLocks noChangeArrowheads="1"/>
          </p:cNvSpPr>
          <p:nvPr/>
        </p:nvSpPr>
        <p:spPr bwMode="auto">
          <a:xfrm>
            <a:off x="5287056" y="1339179"/>
            <a:ext cx="68480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i="1" dirty="0">
                <a:latin typeface="Calibri" panose="020F0502020204030204" pitchFamily="34" charset="0"/>
              </a:rPr>
              <a:t>PCB</a:t>
            </a:r>
            <a:r>
              <a:rPr lang="en-US" altLang="zh-TW" sz="2000" b="1" i="1" baseline="-25000" dirty="0">
                <a:latin typeface="Calibri" panose="020F0502020204030204" pitchFamily="34" charset="0"/>
              </a:rPr>
              <a:t>0</a:t>
            </a:r>
            <a:endParaRPr lang="en-US" altLang="zh-TW" sz="2000" b="1" i="1" dirty="0">
              <a:latin typeface="Calibri" panose="020F0502020204030204" pitchFamily="34" charset="0"/>
            </a:endParaRPr>
          </a:p>
        </p:txBody>
      </p:sp>
      <p:sp>
        <p:nvSpPr>
          <p:cNvPr id="55303" name="Text Box 7"/>
          <p:cNvSpPr txBox="1">
            <a:spLocks noChangeArrowheads="1"/>
          </p:cNvSpPr>
          <p:nvPr/>
        </p:nvSpPr>
        <p:spPr bwMode="auto">
          <a:xfrm>
            <a:off x="7815125" y="1353436"/>
            <a:ext cx="68480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i="1">
                <a:latin typeface="Calibri" panose="020F0502020204030204" pitchFamily="34" charset="0"/>
              </a:rPr>
              <a:t>PCB</a:t>
            </a:r>
            <a:r>
              <a:rPr lang="en-US" altLang="zh-TW" sz="2000" b="1" i="1" baseline="-25000">
                <a:latin typeface="Calibri" panose="020F0502020204030204" pitchFamily="34" charset="0"/>
              </a:rPr>
              <a:t>1</a:t>
            </a:r>
            <a:endParaRPr lang="en-US" altLang="zh-TW" sz="2000" b="1" i="1">
              <a:latin typeface="Calibri" panose="020F0502020204030204" pitchFamily="34" charset="0"/>
            </a:endParaRPr>
          </a:p>
        </p:txBody>
      </p:sp>
      <p:sp>
        <p:nvSpPr>
          <p:cNvPr id="55304" name="Rectangle 8"/>
          <p:cNvSpPr>
            <a:spLocks noChangeArrowheads="1"/>
          </p:cNvSpPr>
          <p:nvPr/>
        </p:nvSpPr>
        <p:spPr bwMode="auto">
          <a:xfrm>
            <a:off x="4593089" y="3571204"/>
            <a:ext cx="1944688" cy="36036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TW" sz="2000" b="1" dirty="0" smtClean="0">
                <a:latin typeface="Calibri" panose="020F0502020204030204" pitchFamily="34" charset="0"/>
              </a:rPr>
              <a:t>PTBR:</a:t>
            </a:r>
            <a:endParaRPr lang="en-US" altLang="zh-TW" sz="2000" b="1" dirty="0">
              <a:latin typeface="Calibri" panose="020F0502020204030204" pitchFamily="34" charset="0"/>
            </a:endParaRPr>
          </a:p>
        </p:txBody>
      </p:sp>
      <p:sp>
        <p:nvSpPr>
          <p:cNvPr id="55305" name="Rectangle 9"/>
          <p:cNvSpPr>
            <a:spLocks noChangeArrowheads="1"/>
          </p:cNvSpPr>
          <p:nvPr/>
        </p:nvSpPr>
        <p:spPr bwMode="auto">
          <a:xfrm>
            <a:off x="7256914" y="3571204"/>
            <a:ext cx="1944688" cy="36036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TW" sz="2000" b="1" dirty="0" smtClean="0">
                <a:latin typeface="Calibri" panose="020F0502020204030204" pitchFamily="34" charset="0"/>
              </a:rPr>
              <a:t>PTBR:</a:t>
            </a:r>
            <a:endParaRPr lang="en-US" altLang="zh-TW" sz="2000" b="1" dirty="0">
              <a:latin typeface="Calibri" panose="020F0502020204030204" pitchFamily="34" charset="0"/>
            </a:endParaRPr>
          </a:p>
        </p:txBody>
      </p:sp>
      <p:sp>
        <p:nvSpPr>
          <p:cNvPr id="55306" name="Rectangle 10"/>
          <p:cNvSpPr>
            <a:spLocks noChangeArrowheads="1"/>
          </p:cNvSpPr>
          <p:nvPr/>
        </p:nvSpPr>
        <p:spPr bwMode="auto">
          <a:xfrm>
            <a:off x="2145165" y="1467796"/>
            <a:ext cx="1655763" cy="275269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55307" name="Rectangle 11"/>
          <p:cNvSpPr>
            <a:spLocks noChangeArrowheads="1"/>
          </p:cNvSpPr>
          <p:nvPr/>
        </p:nvSpPr>
        <p:spPr bwMode="auto">
          <a:xfrm>
            <a:off x="2145165" y="1699542"/>
            <a:ext cx="1655763" cy="720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 i="1">
                <a:latin typeface="Calibri" panose="020F0502020204030204" pitchFamily="34" charset="0"/>
              </a:rPr>
              <a:t>page table of </a:t>
            </a:r>
          </a:p>
          <a:p>
            <a:pPr algn="ctr"/>
            <a:r>
              <a:rPr lang="en-US" altLang="zh-TW" sz="1800" b="1" i="1">
                <a:latin typeface="Calibri" panose="020F0502020204030204" pitchFamily="34" charset="0"/>
              </a:rPr>
              <a:t>process</a:t>
            </a:r>
            <a:r>
              <a:rPr lang="en-US" altLang="zh-TW" sz="1800" b="1" i="1" baseline="-25000">
                <a:latin typeface="Calibri" panose="020F0502020204030204" pitchFamily="34" charset="0"/>
              </a:rPr>
              <a:t>0</a:t>
            </a:r>
            <a:endParaRPr lang="en-US" altLang="zh-TW" sz="1800" b="1" i="1">
              <a:latin typeface="Calibri" panose="020F0502020204030204" pitchFamily="34" charset="0"/>
            </a:endParaRPr>
          </a:p>
        </p:txBody>
      </p:sp>
      <p:sp>
        <p:nvSpPr>
          <p:cNvPr id="55308" name="Rectangle 14"/>
          <p:cNvSpPr>
            <a:spLocks noChangeArrowheads="1"/>
          </p:cNvSpPr>
          <p:nvPr/>
        </p:nvSpPr>
        <p:spPr bwMode="auto">
          <a:xfrm>
            <a:off x="2145165" y="2779041"/>
            <a:ext cx="1655763" cy="10810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 b="1" i="1">
                <a:latin typeface="Calibri" panose="020F0502020204030204" pitchFamily="34" charset="0"/>
              </a:rPr>
              <a:t>page table of </a:t>
            </a:r>
          </a:p>
          <a:p>
            <a:pPr algn="ctr"/>
            <a:r>
              <a:rPr lang="en-US" altLang="zh-TW" sz="1800" b="1" i="1">
                <a:latin typeface="Calibri" panose="020F0502020204030204" pitchFamily="34" charset="0"/>
              </a:rPr>
              <a:t>process</a:t>
            </a:r>
            <a:r>
              <a:rPr lang="en-US" altLang="zh-TW" sz="1800" b="1" i="1" baseline="-25000">
                <a:latin typeface="Calibri" panose="020F0502020204030204" pitchFamily="34" charset="0"/>
              </a:rPr>
              <a:t>1</a:t>
            </a:r>
            <a:endParaRPr lang="en-US" altLang="zh-TW" sz="1800" b="1" i="1">
              <a:latin typeface="Calibri" panose="020F0502020204030204" pitchFamily="34" charset="0"/>
            </a:endParaRPr>
          </a:p>
        </p:txBody>
      </p:sp>
      <p:sp>
        <p:nvSpPr>
          <p:cNvPr id="55309" name="Text Box 15"/>
          <p:cNvSpPr txBox="1">
            <a:spLocks noChangeArrowheads="1"/>
          </p:cNvSpPr>
          <p:nvPr/>
        </p:nvSpPr>
        <p:spPr bwMode="auto">
          <a:xfrm>
            <a:off x="152991" y="1061775"/>
            <a:ext cx="2808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2000" b="1" i="1" dirty="0">
                <a:latin typeface="Calibri" panose="020F0502020204030204" pitchFamily="34" charset="0"/>
              </a:rPr>
              <a:t>page-table base register:</a:t>
            </a:r>
          </a:p>
        </p:txBody>
      </p:sp>
      <p:sp>
        <p:nvSpPr>
          <p:cNvPr id="684048" name="Line 16"/>
          <p:cNvSpPr>
            <a:spLocks noChangeShapeType="1"/>
          </p:cNvSpPr>
          <p:nvPr/>
        </p:nvSpPr>
        <p:spPr bwMode="auto">
          <a:xfrm>
            <a:off x="1713366" y="1416204"/>
            <a:ext cx="472304" cy="29955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84049" name="Text Box 17"/>
          <p:cNvSpPr txBox="1">
            <a:spLocks noChangeArrowheads="1"/>
          </p:cNvSpPr>
          <p:nvPr/>
        </p:nvSpPr>
        <p:spPr bwMode="auto">
          <a:xfrm>
            <a:off x="2826853" y="1050106"/>
            <a:ext cx="70403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i="1" dirty="0">
                <a:latin typeface="Calibri" panose="020F0502020204030204" pitchFamily="34" charset="0"/>
              </a:rPr>
              <a:t>1000</a:t>
            </a:r>
          </a:p>
        </p:txBody>
      </p:sp>
      <p:sp>
        <p:nvSpPr>
          <p:cNvPr id="684050" name="Text Box 18"/>
          <p:cNvSpPr txBox="1">
            <a:spLocks noChangeArrowheads="1"/>
          </p:cNvSpPr>
          <p:nvPr/>
        </p:nvSpPr>
        <p:spPr bwMode="auto">
          <a:xfrm>
            <a:off x="8040216" y="3551330"/>
            <a:ext cx="70403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i="1" dirty="0">
                <a:latin typeface="Calibri" panose="020F0502020204030204" pitchFamily="34" charset="0"/>
              </a:rPr>
              <a:t>1200</a:t>
            </a:r>
          </a:p>
        </p:txBody>
      </p:sp>
      <p:sp>
        <p:nvSpPr>
          <p:cNvPr id="684051" name="Line 19"/>
          <p:cNvSpPr>
            <a:spLocks noChangeShapeType="1"/>
          </p:cNvSpPr>
          <p:nvPr/>
        </p:nvSpPr>
        <p:spPr bwMode="auto">
          <a:xfrm>
            <a:off x="1721205" y="1397547"/>
            <a:ext cx="414354" cy="138149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4.07407E-6 L 0.21041 0.3703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840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21" y="185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6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7.40741E-7 L -0.42761 -0.3648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840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523" y="-181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4" dur="500"/>
                                        <p:tgtEl>
                                          <p:spTgt spid="6840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4048" grpId="0" animBg="1"/>
      <p:bldP spid="684049" grpId="0"/>
      <p:bldP spid="684050" grpId="0"/>
      <p:bldP spid="684051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同樣的</a:t>
            </a:r>
            <a:r>
              <a:rPr lang="en-US" altLang="zh-TW" dirty="0" smtClean="0"/>
              <a:t>, PTBR</a:t>
            </a:r>
            <a:r>
              <a:rPr lang="zh-TW" altLang="en-US" dirty="0" smtClean="0"/>
              <a:t>和</a:t>
            </a:r>
            <a:r>
              <a:rPr lang="en-US" altLang="zh-TW" dirty="0" smtClean="0"/>
              <a:t>PTLR</a:t>
            </a:r>
            <a:r>
              <a:rPr lang="zh-TW" altLang="en-US" dirty="0" smtClean="0"/>
              <a:t>在</a:t>
            </a:r>
            <a:r>
              <a:rPr lang="en-US" altLang="zh-TW" dirty="0" smtClean="0"/>
              <a:t>thread context switch</a:t>
            </a:r>
            <a:r>
              <a:rPr lang="zh-TW" altLang="en-US" dirty="0" smtClean="0"/>
              <a:t>不用</a:t>
            </a:r>
            <a:r>
              <a:rPr lang="en-US" altLang="zh-TW" dirty="0" smtClean="0"/>
              <a:t>save/restore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2004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1916832"/>
            <a:ext cx="10363200" cy="2304256"/>
          </a:xfrm>
        </p:spPr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Q: Page </a:t>
            </a:r>
            <a:r>
              <a:rPr lang="en-US" altLang="zh-TW" dirty="0">
                <a:solidFill>
                  <a:srgbClr val="FF0000"/>
                </a:solidFill>
              </a:rPr>
              <a:t>table is </a:t>
            </a:r>
            <a:r>
              <a:rPr lang="en-US" altLang="zh-TW" dirty="0" smtClean="0">
                <a:solidFill>
                  <a:srgbClr val="FF0000"/>
                </a:solidFill>
              </a:rPr>
              <a:t>in memory</a:t>
            </a:r>
            <a:r>
              <a:rPr lang="en-US" altLang="zh-TW" dirty="0" smtClean="0">
                <a:solidFill>
                  <a:srgbClr val="FF0000"/>
                </a:solidFill>
              </a:rPr>
              <a:t>!</a:t>
            </a:r>
            <a:r>
              <a:rPr lang="en-US" altLang="zh-TW" dirty="0">
                <a:solidFill>
                  <a:srgbClr val="FF0000"/>
                </a:solidFill>
              </a:rPr>
              <a:t/>
            </a:r>
            <a:br>
              <a:rPr lang="en-US" altLang="zh-TW" dirty="0">
                <a:solidFill>
                  <a:srgbClr val="FF0000"/>
                </a:solidFill>
              </a:rPr>
            </a:br>
            <a:r>
              <a:rPr lang="en-US" altLang="zh-TW" dirty="0" smtClean="0">
                <a:solidFill>
                  <a:srgbClr val="FF0000"/>
                </a:solidFill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 </a:t>
            </a:r>
            <a:r>
              <a:rPr lang="en-US" altLang="zh-TW" sz="3600" dirty="0" smtClean="0">
                <a:solidFill>
                  <a:schemeClr val="tx1"/>
                </a:solidFill>
              </a:rPr>
              <a:t>Every </a:t>
            </a:r>
            <a:r>
              <a:rPr lang="en-US" altLang="zh-TW" sz="3600" dirty="0">
                <a:solidFill>
                  <a:schemeClr val="tx1"/>
                </a:solidFill>
              </a:rPr>
              <a:t>data/instruction access requires </a:t>
            </a:r>
            <a:r>
              <a:rPr lang="en-US" altLang="zh-TW" sz="3600" dirty="0">
                <a:solidFill>
                  <a:srgbClr val="FF0000"/>
                </a:solidFill>
              </a:rPr>
              <a:t>two</a:t>
            </a:r>
            <a:r>
              <a:rPr lang="en-US" altLang="zh-TW" sz="3600" dirty="0">
                <a:solidFill>
                  <a:schemeClr val="tx1"/>
                </a:solidFill>
              </a:rPr>
              <a:t> memory accesses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sz="3600" b="1" dirty="0" smtClean="0">
              <a:solidFill>
                <a:srgbClr val="FF0000"/>
              </a:solidFill>
            </a:endParaRPr>
          </a:p>
          <a:p>
            <a:r>
              <a:rPr lang="zh-TW" altLang="en-US" sz="3600" b="1" dirty="0" smtClean="0">
                <a:solidFill>
                  <a:srgbClr val="FF0000"/>
                </a:solidFill>
              </a:rPr>
              <a:t>怎麼辦呢？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57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 smtClean="0"/>
              <a:t>複習：</a:t>
            </a:r>
            <a:r>
              <a:rPr lang="en-US" altLang="zh-TW" dirty="0" smtClean="0"/>
              <a:t>Storage-Device Hierarchy</a:t>
            </a:r>
          </a:p>
        </p:txBody>
      </p:sp>
      <p:sp>
        <p:nvSpPr>
          <p:cNvPr id="19460" name="Text Box 6"/>
          <p:cNvSpPr txBox="1">
            <a:spLocks noChangeArrowheads="1"/>
          </p:cNvSpPr>
          <p:nvPr/>
        </p:nvSpPr>
        <p:spPr bwMode="auto">
          <a:xfrm>
            <a:off x="3482975" y="1069975"/>
            <a:ext cx="1841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TW" altLang="zh-TW"/>
          </a:p>
        </p:txBody>
      </p:sp>
      <p:sp>
        <p:nvSpPr>
          <p:cNvPr id="19461" name="Rectangle 7"/>
          <p:cNvSpPr>
            <a:spLocks noChangeArrowheads="1"/>
          </p:cNvSpPr>
          <p:nvPr/>
        </p:nvSpPr>
        <p:spPr bwMode="auto">
          <a:xfrm>
            <a:off x="1919288" y="1125539"/>
            <a:ext cx="8229600" cy="352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zh-TW" altLang="zh-TW" sz="3200" i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19462" name="Rectangle 9"/>
          <p:cNvSpPr>
            <a:spLocks noChangeArrowheads="1"/>
          </p:cNvSpPr>
          <p:nvPr/>
        </p:nvSpPr>
        <p:spPr bwMode="auto">
          <a:xfrm>
            <a:off x="1919288" y="981076"/>
            <a:ext cx="8229600" cy="2303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endParaRPr lang="zh-TW" altLang="zh-TW" sz="2400">
              <a:latin typeface="Times New Roman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313" y="1231900"/>
            <a:ext cx="8156575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439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Hardware Support for Paging (Cont.)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Hardware </a:t>
            </a:r>
            <a:r>
              <a:rPr lang="en-US" altLang="zh-TW" dirty="0"/>
              <a:t>introduces </a:t>
            </a:r>
            <a:r>
              <a:rPr lang="en-US" altLang="zh-TW" b="1" dirty="0">
                <a:solidFill>
                  <a:srgbClr val="FF0000"/>
                </a:solidFill>
              </a:rPr>
              <a:t>translation look-aside buffers (TLBs)</a:t>
            </a:r>
          </a:p>
          <a:p>
            <a:pPr lvl="1"/>
            <a:r>
              <a:rPr lang="en-US" altLang="zh-TW" dirty="0" smtClean="0"/>
              <a:t>A special, small, fast-lookup hardware cache</a:t>
            </a:r>
          </a:p>
          <a:p>
            <a:pPr lvl="1"/>
            <a:endParaRPr lang="en-US" altLang="zh-TW" dirty="0" smtClean="0"/>
          </a:p>
          <a:p>
            <a:r>
              <a:rPr lang="en-US" altLang="zh-TW" dirty="0">
                <a:solidFill>
                  <a:srgbClr val="0000FF"/>
                </a:solidFill>
              </a:rPr>
              <a:t>TLB is the cache of page table</a:t>
            </a:r>
          </a:p>
          <a:p>
            <a:pPr lvl="1"/>
            <a:r>
              <a:rPr lang="en-US" altLang="zh-TW" dirty="0"/>
              <a:t>Only 32~1024 entries in a TLB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58153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Paging Hardware with TLB</a:t>
            </a:r>
            <a:endParaRPr lang="en-US" altLang="zh-TW" sz="3600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697" y="1412776"/>
            <a:ext cx="7488832" cy="5256584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1992313" y="3027150"/>
            <a:ext cx="1728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000" b="1" dirty="0">
                <a:solidFill>
                  <a:srgbClr val="FF3300"/>
                </a:solidFill>
                <a:latin typeface="Calibri" panose="020F0502020204030204" pitchFamily="34" charset="0"/>
              </a:rPr>
              <a:t>parallel search</a:t>
            </a:r>
            <a:endParaRPr lang="zh-TW" altLang="en-US" sz="2000" b="1" dirty="0">
              <a:solidFill>
                <a:srgbClr val="FF3300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直線單箭頭接點 4"/>
          <p:cNvCxnSpPr/>
          <p:nvPr/>
        </p:nvCxnSpPr>
        <p:spPr>
          <a:xfrm>
            <a:off x="2859280" y="3381093"/>
            <a:ext cx="1076480" cy="1759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TLB is the </a:t>
            </a:r>
            <a:r>
              <a:rPr lang="en-US" altLang="zh-TW" dirty="0" smtClean="0"/>
              <a:t>Cache </a:t>
            </a:r>
            <a:r>
              <a:rPr lang="en-US" altLang="zh-TW" dirty="0"/>
              <a:t>of </a:t>
            </a:r>
            <a:r>
              <a:rPr lang="en-US" altLang="zh-TW" dirty="0" smtClean="0"/>
              <a:t>Page Table</a:t>
            </a:r>
            <a:endParaRPr lang="en-US" altLang="zh-TW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697" y="1412776"/>
            <a:ext cx="7488832" cy="5256584"/>
          </a:xfrm>
          <a:prstGeom prst="rect">
            <a:avLst/>
          </a:prstGeom>
        </p:spPr>
      </p:pic>
      <p:sp>
        <p:nvSpPr>
          <p:cNvPr id="6" name="Line 18"/>
          <p:cNvSpPr>
            <a:spLocks noChangeShapeType="1"/>
          </p:cNvSpPr>
          <p:nvPr/>
        </p:nvSpPr>
        <p:spPr bwMode="auto">
          <a:xfrm>
            <a:off x="5740431" y="5723784"/>
            <a:ext cx="10080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Line 20"/>
          <p:cNvSpPr>
            <a:spLocks noChangeShapeType="1"/>
          </p:cNvSpPr>
          <p:nvPr/>
        </p:nvSpPr>
        <p:spPr bwMode="auto">
          <a:xfrm>
            <a:off x="5740431" y="5939684"/>
            <a:ext cx="10080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8" name="Line 21"/>
          <p:cNvSpPr>
            <a:spLocks noChangeShapeType="1"/>
          </p:cNvSpPr>
          <p:nvPr/>
        </p:nvSpPr>
        <p:spPr bwMode="auto">
          <a:xfrm>
            <a:off x="5756306" y="4914159"/>
            <a:ext cx="10080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Line 22"/>
          <p:cNvSpPr>
            <a:spLocks noChangeShapeType="1"/>
          </p:cNvSpPr>
          <p:nvPr/>
        </p:nvSpPr>
        <p:spPr bwMode="auto">
          <a:xfrm>
            <a:off x="5780119" y="5123709"/>
            <a:ext cx="10080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0" name="Rectangle 40"/>
          <p:cNvSpPr>
            <a:spLocks noChangeArrowheads="1"/>
          </p:cNvSpPr>
          <p:nvPr/>
        </p:nvSpPr>
        <p:spPr bwMode="auto">
          <a:xfrm>
            <a:off x="5740431" y="4610948"/>
            <a:ext cx="1008062" cy="2873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1" name="Rectangle 42"/>
          <p:cNvSpPr>
            <a:spLocks noChangeArrowheads="1"/>
          </p:cNvSpPr>
          <p:nvPr/>
        </p:nvSpPr>
        <p:spPr bwMode="auto">
          <a:xfrm>
            <a:off x="5740431" y="4898284"/>
            <a:ext cx="1008062" cy="2873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12" name="Rectangle 43"/>
          <p:cNvSpPr>
            <a:spLocks noChangeArrowheads="1"/>
          </p:cNvSpPr>
          <p:nvPr/>
        </p:nvSpPr>
        <p:spPr bwMode="auto">
          <a:xfrm>
            <a:off x="5740431" y="5187209"/>
            <a:ext cx="1008062" cy="2873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13" name="Rectangle 44"/>
          <p:cNvSpPr>
            <a:spLocks noChangeArrowheads="1"/>
          </p:cNvSpPr>
          <p:nvPr/>
        </p:nvSpPr>
        <p:spPr bwMode="auto">
          <a:xfrm>
            <a:off x="5740431" y="5476134"/>
            <a:ext cx="1008062" cy="2873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4" name="Rectangle 45"/>
          <p:cNvSpPr>
            <a:spLocks noChangeArrowheads="1"/>
          </p:cNvSpPr>
          <p:nvPr/>
        </p:nvSpPr>
        <p:spPr bwMode="auto">
          <a:xfrm>
            <a:off x="5740431" y="5763473"/>
            <a:ext cx="1008062" cy="2873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15" name="Rectangle 46"/>
          <p:cNvSpPr>
            <a:spLocks noChangeArrowheads="1"/>
          </p:cNvSpPr>
          <p:nvPr/>
        </p:nvSpPr>
        <p:spPr bwMode="auto">
          <a:xfrm>
            <a:off x="5740431" y="6052398"/>
            <a:ext cx="1008062" cy="2873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…..</a:t>
            </a:r>
            <a:endParaRPr kumimoji="1" lang="en-US" altLang="zh-TW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6" name="Rectangle 47"/>
          <p:cNvSpPr>
            <a:spLocks noChangeArrowheads="1"/>
          </p:cNvSpPr>
          <p:nvPr/>
        </p:nvSpPr>
        <p:spPr bwMode="auto">
          <a:xfrm>
            <a:off x="5356256" y="4474422"/>
            <a:ext cx="360362" cy="100806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7" name="Text Box 50"/>
          <p:cNvSpPr txBox="1">
            <a:spLocks noChangeArrowheads="1"/>
          </p:cNvSpPr>
          <p:nvPr/>
        </p:nvSpPr>
        <p:spPr bwMode="auto">
          <a:xfrm>
            <a:off x="5451506" y="4539509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8" name="Text Box 51"/>
          <p:cNvSpPr txBox="1">
            <a:spLocks noChangeArrowheads="1"/>
          </p:cNvSpPr>
          <p:nvPr/>
        </p:nvSpPr>
        <p:spPr bwMode="auto">
          <a:xfrm>
            <a:off x="5451506" y="4826847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9" name="Text Box 52"/>
          <p:cNvSpPr txBox="1">
            <a:spLocks noChangeArrowheads="1"/>
          </p:cNvSpPr>
          <p:nvPr/>
        </p:nvSpPr>
        <p:spPr bwMode="auto">
          <a:xfrm>
            <a:off x="5451506" y="5180859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0" name="Text Box 53"/>
          <p:cNvSpPr txBox="1">
            <a:spLocks noChangeArrowheads="1"/>
          </p:cNvSpPr>
          <p:nvPr/>
        </p:nvSpPr>
        <p:spPr bwMode="auto">
          <a:xfrm>
            <a:off x="5451506" y="5468197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4</a:t>
            </a:r>
          </a:p>
        </p:txBody>
      </p:sp>
      <p:sp>
        <p:nvSpPr>
          <p:cNvPr id="21" name="Text Box 54"/>
          <p:cNvSpPr txBox="1">
            <a:spLocks noChangeArrowheads="1"/>
          </p:cNvSpPr>
          <p:nvPr/>
        </p:nvSpPr>
        <p:spPr bwMode="auto">
          <a:xfrm>
            <a:off x="5451506" y="5757122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2" name="Text Box 55"/>
          <p:cNvSpPr txBox="1">
            <a:spLocks noChangeArrowheads="1"/>
          </p:cNvSpPr>
          <p:nvPr/>
        </p:nvSpPr>
        <p:spPr bwMode="auto">
          <a:xfrm>
            <a:off x="5451506" y="6044459"/>
            <a:ext cx="34817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…</a:t>
            </a:r>
            <a:endParaRPr kumimoji="1" lang="en-US" altLang="zh-TW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3" name="Text Box 59"/>
          <p:cNvSpPr txBox="1">
            <a:spLocks noChangeArrowheads="1"/>
          </p:cNvSpPr>
          <p:nvPr/>
        </p:nvSpPr>
        <p:spPr bwMode="auto">
          <a:xfrm>
            <a:off x="6099206" y="4250584"/>
            <a:ext cx="3449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p</a:t>
            </a:r>
            <a:r>
              <a:rPr kumimoji="1" lang="en-US" altLang="zh-TW" sz="1800" b="1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i</a:t>
            </a:r>
            <a:endParaRPr kumimoji="1" lang="en-US" altLang="zh-TW" sz="18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4" name="直線單箭頭接點 23"/>
          <p:cNvCxnSpPr/>
          <p:nvPr/>
        </p:nvCxnSpPr>
        <p:spPr>
          <a:xfrm>
            <a:off x="4435428" y="5447377"/>
            <a:ext cx="1076480" cy="22408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4543425" y="2809729"/>
            <a:ext cx="26321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5330825" y="2809729"/>
            <a:ext cx="26321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7</a:t>
            </a:r>
          </a:p>
        </p:txBody>
      </p:sp>
      <p:sp>
        <p:nvSpPr>
          <p:cNvPr id="28" name="Text Box 7"/>
          <p:cNvSpPr txBox="1">
            <a:spLocks noChangeArrowheads="1"/>
          </p:cNvSpPr>
          <p:nvPr/>
        </p:nvSpPr>
        <p:spPr bwMode="auto">
          <a:xfrm>
            <a:off x="4543425" y="2968479"/>
            <a:ext cx="26321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5</a:t>
            </a:r>
          </a:p>
        </p:txBody>
      </p:sp>
      <p:sp>
        <p:nvSpPr>
          <p:cNvPr id="29" name="Text Box 8"/>
          <p:cNvSpPr txBox="1">
            <a:spLocks noChangeArrowheads="1"/>
          </p:cNvSpPr>
          <p:nvPr/>
        </p:nvSpPr>
        <p:spPr bwMode="auto">
          <a:xfrm>
            <a:off x="5303838" y="2954192"/>
            <a:ext cx="34176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12</a:t>
            </a:r>
          </a:p>
        </p:txBody>
      </p:sp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4540250" y="3111354"/>
            <a:ext cx="26321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31" name="Text Box 10"/>
          <p:cNvSpPr txBox="1">
            <a:spLocks noChangeArrowheads="1"/>
          </p:cNvSpPr>
          <p:nvPr/>
        </p:nvSpPr>
        <p:spPr bwMode="auto">
          <a:xfrm>
            <a:off x="5303838" y="3111354"/>
            <a:ext cx="26321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3" name="Text Box 9"/>
          <p:cNvSpPr txBox="1">
            <a:spLocks noChangeArrowheads="1"/>
          </p:cNvSpPr>
          <p:nvPr/>
        </p:nvSpPr>
        <p:spPr bwMode="auto">
          <a:xfrm>
            <a:off x="4536642" y="3296017"/>
            <a:ext cx="26321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9</a:t>
            </a:r>
            <a:endParaRPr kumimoji="1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4" name="Text Box 9"/>
          <p:cNvSpPr txBox="1">
            <a:spLocks noChangeArrowheads="1"/>
          </p:cNvSpPr>
          <p:nvPr/>
        </p:nvSpPr>
        <p:spPr bwMode="auto">
          <a:xfrm>
            <a:off x="5303912" y="3296017"/>
            <a:ext cx="26321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新細明體" pitchFamily="18" charset="-120"/>
                <a:cs typeface="+mn-cs"/>
              </a:rPr>
              <a:t>6</a:t>
            </a:r>
            <a:endParaRPr kumimoji="1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935760" y="3528053"/>
            <a:ext cx="2088232" cy="4770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/>
          <p:cNvSpPr/>
          <p:nvPr/>
        </p:nvSpPr>
        <p:spPr>
          <a:xfrm flipH="1">
            <a:off x="3852566" y="3439358"/>
            <a:ext cx="227210" cy="4770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5" name="圖片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493" y="3563564"/>
            <a:ext cx="514350" cy="228600"/>
          </a:xfrm>
          <a:prstGeom prst="rect">
            <a:avLst/>
          </a:prstGeom>
        </p:spPr>
      </p:pic>
      <p:sp>
        <p:nvSpPr>
          <p:cNvPr id="38" name="矩形 37"/>
          <p:cNvSpPr/>
          <p:nvPr/>
        </p:nvSpPr>
        <p:spPr>
          <a:xfrm flipH="1">
            <a:off x="4806639" y="4055454"/>
            <a:ext cx="497198" cy="4770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1938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TLB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/>
              <a:t>A TLB entry consists of two parts: </a:t>
            </a:r>
          </a:p>
          <a:p>
            <a:pPr lvl="1"/>
            <a:r>
              <a:rPr lang="en-US" altLang="zh-TW" b="1" dirty="0"/>
              <a:t>Key (or tag) </a:t>
            </a:r>
            <a:r>
              <a:rPr lang="en-US" altLang="zh-TW" dirty="0"/>
              <a:t>: </a:t>
            </a:r>
            <a:r>
              <a:rPr lang="en-US" altLang="zh-TW" dirty="0" smtClean="0"/>
              <a:t>page </a:t>
            </a:r>
            <a:r>
              <a:rPr lang="en-US" altLang="zh-TW" dirty="0"/>
              <a:t>number</a:t>
            </a:r>
          </a:p>
          <a:p>
            <a:pPr lvl="1"/>
            <a:r>
              <a:rPr lang="en-US" altLang="zh-TW" b="1" dirty="0"/>
              <a:t>Value</a:t>
            </a:r>
            <a:r>
              <a:rPr lang="en-US" altLang="zh-TW" dirty="0"/>
              <a:t> : </a:t>
            </a:r>
            <a:r>
              <a:rPr lang="en-US" altLang="zh-TW" dirty="0" smtClean="0"/>
              <a:t>frame </a:t>
            </a:r>
            <a:r>
              <a:rPr lang="en-US" altLang="zh-TW" dirty="0"/>
              <a:t>number</a:t>
            </a:r>
          </a:p>
          <a:p>
            <a:endParaRPr lang="en-US" altLang="zh-TW" dirty="0"/>
          </a:p>
          <a:p>
            <a:r>
              <a:rPr lang="en-US" altLang="zh-TW" dirty="0"/>
              <a:t>When </a:t>
            </a:r>
            <a:r>
              <a:rPr lang="en-US" altLang="zh-TW" b="1" dirty="0"/>
              <a:t>TLB miss</a:t>
            </a:r>
          </a:p>
          <a:p>
            <a:pPr lvl="1"/>
            <a:r>
              <a:rPr lang="en-US" altLang="zh-TW" dirty="0"/>
              <a:t>Get frame number from </a:t>
            </a:r>
            <a:r>
              <a:rPr lang="en-US" altLang="zh-TW" b="1" dirty="0"/>
              <a:t>page </a:t>
            </a:r>
            <a:r>
              <a:rPr lang="en-US" altLang="zh-TW" b="1" dirty="0" smtClean="0"/>
              <a:t>table</a:t>
            </a:r>
            <a:endParaRPr lang="en-US" altLang="zh-TW" dirty="0"/>
          </a:p>
          <a:p>
            <a:pPr lvl="1"/>
            <a:r>
              <a:rPr lang="en-US" altLang="zh-TW" dirty="0"/>
              <a:t>Add the </a:t>
            </a:r>
            <a:r>
              <a:rPr lang="en-US" altLang="zh-TW" dirty="0" smtClean="0"/>
              <a:t>(page number, frame number) information into </a:t>
            </a:r>
            <a:r>
              <a:rPr lang="en-US" altLang="zh-TW" dirty="0"/>
              <a:t>the TLB</a:t>
            </a:r>
          </a:p>
          <a:p>
            <a:pPr lvl="1"/>
            <a:r>
              <a:rPr lang="en-US" altLang="zh-TW" dirty="0"/>
              <a:t>TLB full? =&gt; </a:t>
            </a:r>
            <a:r>
              <a:rPr lang="en-US" altLang="zh-TW" dirty="0" smtClean="0"/>
              <a:t>Select a </a:t>
            </a:r>
            <a:r>
              <a:rPr lang="en-US" altLang="zh-TW" b="1" dirty="0" smtClean="0"/>
              <a:t>victim</a:t>
            </a:r>
            <a:r>
              <a:rPr lang="en-US" altLang="zh-TW" dirty="0" smtClean="0"/>
              <a:t> entry for replacement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Some TLB entries can be </a:t>
            </a:r>
            <a:r>
              <a:rPr lang="en-US" altLang="zh-TW" b="1" dirty="0">
                <a:solidFill>
                  <a:srgbClr val="FF3300"/>
                </a:solidFill>
              </a:rPr>
              <a:t>wired-down</a:t>
            </a:r>
          </a:p>
          <a:p>
            <a:pPr lvl="1"/>
            <a:r>
              <a:rPr lang="en-US" altLang="zh-TW" dirty="0"/>
              <a:t>Never be removed from the TLB</a:t>
            </a:r>
          </a:p>
          <a:p>
            <a:pPr lvl="1"/>
            <a:r>
              <a:rPr lang="en-US" altLang="zh-TW" dirty="0"/>
              <a:t>Entries for </a:t>
            </a:r>
            <a:r>
              <a:rPr lang="en-US" altLang="zh-TW" dirty="0">
                <a:solidFill>
                  <a:srgbClr val="0000FF"/>
                </a:solidFill>
              </a:rPr>
              <a:t>kernel code </a:t>
            </a:r>
            <a:r>
              <a:rPr lang="en-US" altLang="zh-TW" dirty="0"/>
              <a:t>are typically wired-down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5616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當</a:t>
            </a:r>
            <a:r>
              <a:rPr lang="en-US" altLang="zh-TW" dirty="0" smtClean="0"/>
              <a:t>process context switch</a:t>
            </a:r>
            <a:r>
              <a:rPr lang="zh-TW" altLang="en-US" dirty="0" smtClean="0"/>
              <a:t>時</a:t>
            </a:r>
            <a:r>
              <a:rPr lang="en-US" altLang="zh-TW" dirty="0" smtClean="0"/>
              <a:t>, TLB</a:t>
            </a:r>
            <a:r>
              <a:rPr lang="zh-TW" altLang="en-US" dirty="0" smtClean="0"/>
              <a:t>必須</a:t>
            </a:r>
            <a:r>
              <a:rPr lang="en-US" altLang="zh-TW" dirty="0" smtClean="0"/>
              <a:t>flush. Why?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see </a:t>
            </a:r>
            <a:r>
              <a:rPr lang="en-US" altLang="zh-TW" dirty="0"/>
              <a:t>the next </a:t>
            </a:r>
            <a:r>
              <a:rPr lang="en-US" altLang="zh-TW" dirty="0" smtClean="0"/>
              <a:t>slide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297757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200" dirty="0"/>
              <a:t>Problems With TLB When Context Switches</a:t>
            </a:r>
            <a:endParaRPr lang="en-US" altLang="zh-TW" sz="2400" dirty="0"/>
          </a:p>
        </p:txBody>
      </p:sp>
      <p:pic>
        <p:nvPicPr>
          <p:cNvPr id="62467" name="Picture 3"/>
          <p:cNvPicPr>
            <a:picLocks noChangeAspect="1" noChangeArrowheads="1"/>
          </p:cNvPicPr>
          <p:nvPr/>
        </p:nvPicPr>
        <p:blipFill>
          <a:blip r:embed="rId2" cstate="print"/>
          <a:srcRect l="1292" t="1041" r="1292" b="682"/>
          <a:stretch>
            <a:fillRect/>
          </a:stretch>
        </p:blipFill>
        <p:spPr bwMode="auto">
          <a:xfrm>
            <a:off x="2351088" y="1412876"/>
            <a:ext cx="7777162" cy="496887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62468" name="Text Box 5"/>
          <p:cNvSpPr txBox="1">
            <a:spLocks noChangeArrowheads="1"/>
          </p:cNvSpPr>
          <p:nvPr/>
        </p:nvSpPr>
        <p:spPr bwMode="auto">
          <a:xfrm>
            <a:off x="4543425" y="2708276"/>
            <a:ext cx="26321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200" b="1"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62469" name="Text Box 6"/>
          <p:cNvSpPr txBox="1">
            <a:spLocks noChangeArrowheads="1"/>
          </p:cNvSpPr>
          <p:nvPr/>
        </p:nvSpPr>
        <p:spPr bwMode="auto">
          <a:xfrm>
            <a:off x="5330825" y="2708276"/>
            <a:ext cx="26321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200" b="1">
                <a:latin typeface="Calibri" panose="020F0502020204030204" pitchFamily="34" charset="0"/>
              </a:rPr>
              <a:t>7</a:t>
            </a:r>
          </a:p>
        </p:txBody>
      </p:sp>
      <p:sp>
        <p:nvSpPr>
          <p:cNvPr id="62470" name="Text Box 7"/>
          <p:cNvSpPr txBox="1">
            <a:spLocks noChangeArrowheads="1"/>
          </p:cNvSpPr>
          <p:nvPr/>
        </p:nvSpPr>
        <p:spPr bwMode="auto">
          <a:xfrm>
            <a:off x="4543425" y="2867026"/>
            <a:ext cx="26321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200" b="1"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62471" name="Text Box 8"/>
          <p:cNvSpPr txBox="1">
            <a:spLocks noChangeArrowheads="1"/>
          </p:cNvSpPr>
          <p:nvPr/>
        </p:nvSpPr>
        <p:spPr bwMode="auto">
          <a:xfrm>
            <a:off x="5303838" y="2852739"/>
            <a:ext cx="34176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200" b="1">
                <a:latin typeface="Calibri" panose="020F0502020204030204" pitchFamily="34" charset="0"/>
              </a:rPr>
              <a:t>12</a:t>
            </a:r>
          </a:p>
        </p:txBody>
      </p:sp>
      <p:sp>
        <p:nvSpPr>
          <p:cNvPr id="62472" name="Text Box 9"/>
          <p:cNvSpPr txBox="1">
            <a:spLocks noChangeArrowheads="1"/>
          </p:cNvSpPr>
          <p:nvPr/>
        </p:nvSpPr>
        <p:spPr bwMode="auto">
          <a:xfrm>
            <a:off x="4540250" y="3009901"/>
            <a:ext cx="26321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200" b="1"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62473" name="Text Box 10"/>
          <p:cNvSpPr txBox="1">
            <a:spLocks noChangeArrowheads="1"/>
          </p:cNvSpPr>
          <p:nvPr/>
        </p:nvSpPr>
        <p:spPr bwMode="auto">
          <a:xfrm>
            <a:off x="5303838" y="3009901"/>
            <a:ext cx="26321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200" b="1"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62474" name="Text Box 11"/>
          <p:cNvSpPr txBox="1">
            <a:spLocks noChangeArrowheads="1"/>
          </p:cNvSpPr>
          <p:nvPr/>
        </p:nvSpPr>
        <p:spPr bwMode="auto">
          <a:xfrm>
            <a:off x="4540250" y="3284539"/>
            <a:ext cx="29367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200" b="1">
                <a:latin typeface="Calibri" panose="020F0502020204030204" pitchFamily="34" charset="0"/>
              </a:rPr>
              <a:t>…</a:t>
            </a:r>
          </a:p>
        </p:txBody>
      </p:sp>
      <p:sp>
        <p:nvSpPr>
          <p:cNvPr id="62475" name="Text Box 12"/>
          <p:cNvSpPr txBox="1">
            <a:spLocks noChangeArrowheads="1"/>
          </p:cNvSpPr>
          <p:nvPr/>
        </p:nvSpPr>
        <p:spPr bwMode="auto">
          <a:xfrm>
            <a:off x="5375275" y="3298826"/>
            <a:ext cx="29367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200" b="1">
                <a:latin typeface="Calibri" panose="020F0502020204030204" pitchFamily="34" charset="0"/>
              </a:rPr>
              <a:t>…</a:t>
            </a:r>
          </a:p>
        </p:txBody>
      </p:sp>
      <p:sp>
        <p:nvSpPr>
          <p:cNvPr id="62476" name="Rectangle 13"/>
          <p:cNvSpPr>
            <a:spLocks noChangeArrowheads="1"/>
          </p:cNvSpPr>
          <p:nvPr/>
        </p:nvSpPr>
        <p:spPr bwMode="auto">
          <a:xfrm>
            <a:off x="3719513" y="5157788"/>
            <a:ext cx="2112962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2477" name="Rectangle 14"/>
          <p:cNvSpPr>
            <a:spLocks noChangeArrowheads="1"/>
          </p:cNvSpPr>
          <p:nvPr/>
        </p:nvSpPr>
        <p:spPr bwMode="auto">
          <a:xfrm>
            <a:off x="4151314" y="4797425"/>
            <a:ext cx="1081087" cy="431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TW" altLang="zh-TW">
              <a:latin typeface="Calibri" panose="020F0502020204030204" pitchFamily="34" charset="0"/>
            </a:endParaRPr>
          </a:p>
        </p:txBody>
      </p:sp>
      <p:sp>
        <p:nvSpPr>
          <p:cNvPr id="62478" name="Rectangle 15"/>
          <p:cNvSpPr>
            <a:spLocks noChangeArrowheads="1"/>
          </p:cNvSpPr>
          <p:nvPr/>
        </p:nvSpPr>
        <p:spPr bwMode="auto">
          <a:xfrm>
            <a:off x="3719514" y="2149475"/>
            <a:ext cx="73025" cy="30241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2479" name="Line 18"/>
          <p:cNvSpPr>
            <a:spLocks noChangeShapeType="1"/>
          </p:cNvSpPr>
          <p:nvPr/>
        </p:nvSpPr>
        <p:spPr bwMode="auto">
          <a:xfrm>
            <a:off x="5808663" y="5549900"/>
            <a:ext cx="10080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2480" name="Line 20"/>
          <p:cNvSpPr>
            <a:spLocks noChangeShapeType="1"/>
          </p:cNvSpPr>
          <p:nvPr/>
        </p:nvSpPr>
        <p:spPr bwMode="auto">
          <a:xfrm>
            <a:off x="5808663" y="5765800"/>
            <a:ext cx="10080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2481" name="Line 21"/>
          <p:cNvSpPr>
            <a:spLocks noChangeShapeType="1"/>
          </p:cNvSpPr>
          <p:nvPr/>
        </p:nvSpPr>
        <p:spPr bwMode="auto">
          <a:xfrm>
            <a:off x="5824538" y="4740275"/>
            <a:ext cx="10080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2482" name="Line 22"/>
          <p:cNvSpPr>
            <a:spLocks noChangeShapeType="1"/>
          </p:cNvSpPr>
          <p:nvPr/>
        </p:nvSpPr>
        <p:spPr bwMode="auto">
          <a:xfrm>
            <a:off x="5848351" y="4949825"/>
            <a:ext cx="10080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2483" name="Rectangle 23"/>
          <p:cNvSpPr>
            <a:spLocks noChangeArrowheads="1"/>
          </p:cNvSpPr>
          <p:nvPr/>
        </p:nvSpPr>
        <p:spPr bwMode="auto">
          <a:xfrm>
            <a:off x="2782888" y="4437064"/>
            <a:ext cx="1008062" cy="28733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600" b="1">
                <a:latin typeface="Calibri" panose="020F0502020204030204" pitchFamily="34" charset="0"/>
              </a:rPr>
              <a:t>15</a:t>
            </a:r>
          </a:p>
        </p:txBody>
      </p:sp>
      <p:sp>
        <p:nvSpPr>
          <p:cNvPr id="62484" name="Line 24"/>
          <p:cNvSpPr>
            <a:spLocks noChangeShapeType="1"/>
          </p:cNvSpPr>
          <p:nvPr/>
        </p:nvSpPr>
        <p:spPr bwMode="auto">
          <a:xfrm>
            <a:off x="2782888" y="4724400"/>
            <a:ext cx="10080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2485" name="Line 25"/>
          <p:cNvSpPr>
            <a:spLocks noChangeShapeType="1"/>
          </p:cNvSpPr>
          <p:nvPr/>
        </p:nvSpPr>
        <p:spPr bwMode="auto">
          <a:xfrm>
            <a:off x="2782888" y="5013325"/>
            <a:ext cx="10080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2486" name="Line 26"/>
          <p:cNvSpPr>
            <a:spLocks noChangeShapeType="1"/>
          </p:cNvSpPr>
          <p:nvPr/>
        </p:nvSpPr>
        <p:spPr bwMode="auto">
          <a:xfrm>
            <a:off x="2782888" y="5300663"/>
            <a:ext cx="10080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2487" name="Line 27"/>
          <p:cNvSpPr>
            <a:spLocks noChangeShapeType="1"/>
          </p:cNvSpPr>
          <p:nvPr/>
        </p:nvSpPr>
        <p:spPr bwMode="auto">
          <a:xfrm>
            <a:off x="2782888" y="5589588"/>
            <a:ext cx="10080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2488" name="Line 28"/>
          <p:cNvSpPr>
            <a:spLocks noChangeShapeType="1"/>
          </p:cNvSpPr>
          <p:nvPr/>
        </p:nvSpPr>
        <p:spPr bwMode="auto">
          <a:xfrm>
            <a:off x="2782888" y="5876925"/>
            <a:ext cx="10080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2489" name="Text Box 29"/>
          <p:cNvSpPr txBox="1">
            <a:spLocks noChangeArrowheads="1"/>
          </p:cNvSpPr>
          <p:nvPr/>
        </p:nvSpPr>
        <p:spPr bwMode="auto">
          <a:xfrm>
            <a:off x="2495550" y="4365625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62490" name="Text Box 30"/>
          <p:cNvSpPr txBox="1">
            <a:spLocks noChangeArrowheads="1"/>
          </p:cNvSpPr>
          <p:nvPr/>
        </p:nvSpPr>
        <p:spPr bwMode="auto">
          <a:xfrm>
            <a:off x="2495550" y="4652963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62491" name="Text Box 31"/>
          <p:cNvSpPr txBox="1">
            <a:spLocks noChangeArrowheads="1"/>
          </p:cNvSpPr>
          <p:nvPr/>
        </p:nvSpPr>
        <p:spPr bwMode="auto">
          <a:xfrm>
            <a:off x="2495550" y="4941888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62492" name="Text Box 32"/>
          <p:cNvSpPr txBox="1">
            <a:spLocks noChangeArrowheads="1"/>
          </p:cNvSpPr>
          <p:nvPr/>
        </p:nvSpPr>
        <p:spPr bwMode="auto">
          <a:xfrm>
            <a:off x="2495550" y="5229225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62493" name="Text Box 33"/>
          <p:cNvSpPr txBox="1">
            <a:spLocks noChangeArrowheads="1"/>
          </p:cNvSpPr>
          <p:nvPr/>
        </p:nvSpPr>
        <p:spPr bwMode="auto">
          <a:xfrm>
            <a:off x="2495550" y="5516563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62494" name="Text Box 34"/>
          <p:cNvSpPr txBox="1">
            <a:spLocks noChangeArrowheads="1"/>
          </p:cNvSpPr>
          <p:nvPr/>
        </p:nvSpPr>
        <p:spPr bwMode="auto">
          <a:xfrm>
            <a:off x="2495550" y="5805488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6</a:t>
            </a:r>
          </a:p>
        </p:txBody>
      </p:sp>
      <p:sp>
        <p:nvSpPr>
          <p:cNvPr id="62495" name="Rectangle 35"/>
          <p:cNvSpPr>
            <a:spLocks noChangeArrowheads="1"/>
          </p:cNvSpPr>
          <p:nvPr/>
        </p:nvSpPr>
        <p:spPr bwMode="auto">
          <a:xfrm>
            <a:off x="2782888" y="4725989"/>
            <a:ext cx="1008062" cy="28733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600" b="1"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62496" name="Rectangle 36"/>
          <p:cNvSpPr>
            <a:spLocks noChangeArrowheads="1"/>
          </p:cNvSpPr>
          <p:nvPr/>
        </p:nvSpPr>
        <p:spPr bwMode="auto">
          <a:xfrm>
            <a:off x="2784476" y="5013325"/>
            <a:ext cx="1008063" cy="287338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600" b="1">
                <a:latin typeface="Calibri" panose="020F0502020204030204" pitchFamily="34" charset="0"/>
              </a:rPr>
              <a:t>6</a:t>
            </a:r>
          </a:p>
        </p:txBody>
      </p:sp>
      <p:sp>
        <p:nvSpPr>
          <p:cNvPr id="62497" name="Rectangle 37"/>
          <p:cNvSpPr>
            <a:spLocks noChangeArrowheads="1"/>
          </p:cNvSpPr>
          <p:nvPr/>
        </p:nvSpPr>
        <p:spPr bwMode="auto">
          <a:xfrm>
            <a:off x="2784476" y="5300664"/>
            <a:ext cx="1008063" cy="28733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600" b="1">
                <a:latin typeface="Calibri" panose="020F0502020204030204" pitchFamily="34" charset="0"/>
              </a:rPr>
              <a:t>11</a:t>
            </a:r>
          </a:p>
        </p:txBody>
      </p:sp>
      <p:sp>
        <p:nvSpPr>
          <p:cNvPr id="62498" name="Rectangle 38"/>
          <p:cNvSpPr>
            <a:spLocks noChangeArrowheads="1"/>
          </p:cNvSpPr>
          <p:nvPr/>
        </p:nvSpPr>
        <p:spPr bwMode="auto">
          <a:xfrm>
            <a:off x="2782888" y="5589589"/>
            <a:ext cx="1008062" cy="28733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600" b="1">
                <a:latin typeface="Calibri" panose="020F0502020204030204" pitchFamily="34" charset="0"/>
              </a:rPr>
              <a:t>13</a:t>
            </a:r>
          </a:p>
        </p:txBody>
      </p:sp>
      <p:sp>
        <p:nvSpPr>
          <p:cNvPr id="62499" name="Rectangle 39"/>
          <p:cNvSpPr>
            <a:spLocks noChangeArrowheads="1"/>
          </p:cNvSpPr>
          <p:nvPr/>
        </p:nvSpPr>
        <p:spPr bwMode="auto">
          <a:xfrm>
            <a:off x="2782888" y="5878514"/>
            <a:ext cx="1008062" cy="28733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600" b="1"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62500" name="Rectangle 40"/>
          <p:cNvSpPr>
            <a:spLocks noChangeArrowheads="1"/>
          </p:cNvSpPr>
          <p:nvPr/>
        </p:nvSpPr>
        <p:spPr bwMode="auto">
          <a:xfrm>
            <a:off x="5808663" y="4437064"/>
            <a:ext cx="1008062" cy="2873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600" b="1"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62501" name="Rectangle 42"/>
          <p:cNvSpPr>
            <a:spLocks noChangeArrowheads="1"/>
          </p:cNvSpPr>
          <p:nvPr/>
        </p:nvSpPr>
        <p:spPr bwMode="auto">
          <a:xfrm>
            <a:off x="5808663" y="4724400"/>
            <a:ext cx="1008062" cy="2873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600" b="1"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62502" name="Rectangle 43"/>
          <p:cNvSpPr>
            <a:spLocks noChangeArrowheads="1"/>
          </p:cNvSpPr>
          <p:nvPr/>
        </p:nvSpPr>
        <p:spPr bwMode="auto">
          <a:xfrm>
            <a:off x="5808663" y="5013325"/>
            <a:ext cx="1008062" cy="2873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600" b="1">
                <a:latin typeface="Calibri" panose="020F0502020204030204" pitchFamily="34" charset="0"/>
              </a:rPr>
              <a:t>7</a:t>
            </a:r>
          </a:p>
        </p:txBody>
      </p:sp>
      <p:sp>
        <p:nvSpPr>
          <p:cNvPr id="62503" name="Rectangle 44"/>
          <p:cNvSpPr>
            <a:spLocks noChangeArrowheads="1"/>
          </p:cNvSpPr>
          <p:nvPr/>
        </p:nvSpPr>
        <p:spPr bwMode="auto">
          <a:xfrm>
            <a:off x="5808663" y="5302250"/>
            <a:ext cx="1008062" cy="287338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600" b="1">
                <a:latin typeface="Calibri" panose="020F0502020204030204" pitchFamily="34" charset="0"/>
              </a:rPr>
              <a:t>9</a:t>
            </a:r>
          </a:p>
        </p:txBody>
      </p:sp>
      <p:sp>
        <p:nvSpPr>
          <p:cNvPr id="62504" name="Rectangle 45"/>
          <p:cNvSpPr>
            <a:spLocks noChangeArrowheads="1"/>
          </p:cNvSpPr>
          <p:nvPr/>
        </p:nvSpPr>
        <p:spPr bwMode="auto">
          <a:xfrm>
            <a:off x="5808663" y="5589589"/>
            <a:ext cx="1008062" cy="2873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600" b="1">
                <a:latin typeface="Calibri" panose="020F0502020204030204" pitchFamily="34" charset="0"/>
              </a:rPr>
              <a:t>12</a:t>
            </a:r>
          </a:p>
        </p:txBody>
      </p:sp>
      <p:sp>
        <p:nvSpPr>
          <p:cNvPr id="62505" name="Rectangle 46"/>
          <p:cNvSpPr>
            <a:spLocks noChangeArrowheads="1"/>
          </p:cNvSpPr>
          <p:nvPr/>
        </p:nvSpPr>
        <p:spPr bwMode="auto">
          <a:xfrm>
            <a:off x="5808663" y="5878514"/>
            <a:ext cx="1008062" cy="287337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600" b="1"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62506" name="Rectangle 47"/>
          <p:cNvSpPr>
            <a:spLocks noChangeArrowheads="1"/>
          </p:cNvSpPr>
          <p:nvPr/>
        </p:nvSpPr>
        <p:spPr bwMode="auto">
          <a:xfrm>
            <a:off x="5424488" y="4300538"/>
            <a:ext cx="360362" cy="100806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TW" altLang="zh-TW">
              <a:latin typeface="Calibri" panose="020F0502020204030204" pitchFamily="34" charset="0"/>
            </a:endParaRPr>
          </a:p>
        </p:txBody>
      </p:sp>
      <p:sp>
        <p:nvSpPr>
          <p:cNvPr id="62507" name="Text Box 50"/>
          <p:cNvSpPr txBox="1">
            <a:spLocks noChangeArrowheads="1"/>
          </p:cNvSpPr>
          <p:nvPr/>
        </p:nvSpPr>
        <p:spPr bwMode="auto">
          <a:xfrm>
            <a:off x="5519738" y="4365625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62508" name="Text Box 51"/>
          <p:cNvSpPr txBox="1">
            <a:spLocks noChangeArrowheads="1"/>
          </p:cNvSpPr>
          <p:nvPr/>
        </p:nvSpPr>
        <p:spPr bwMode="auto">
          <a:xfrm>
            <a:off x="5519738" y="4652963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62509" name="Text Box 52"/>
          <p:cNvSpPr txBox="1">
            <a:spLocks noChangeArrowheads="1"/>
          </p:cNvSpPr>
          <p:nvPr/>
        </p:nvSpPr>
        <p:spPr bwMode="auto">
          <a:xfrm>
            <a:off x="5519738" y="5006975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62510" name="Text Box 53"/>
          <p:cNvSpPr txBox="1">
            <a:spLocks noChangeArrowheads="1"/>
          </p:cNvSpPr>
          <p:nvPr/>
        </p:nvSpPr>
        <p:spPr bwMode="auto">
          <a:xfrm>
            <a:off x="5519738" y="5294313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62511" name="Text Box 54"/>
          <p:cNvSpPr txBox="1">
            <a:spLocks noChangeArrowheads="1"/>
          </p:cNvSpPr>
          <p:nvPr/>
        </p:nvSpPr>
        <p:spPr bwMode="auto">
          <a:xfrm>
            <a:off x="5519738" y="5583238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62512" name="Text Box 55"/>
          <p:cNvSpPr txBox="1">
            <a:spLocks noChangeArrowheads="1"/>
          </p:cNvSpPr>
          <p:nvPr/>
        </p:nvSpPr>
        <p:spPr bwMode="auto">
          <a:xfrm>
            <a:off x="5519738" y="5870575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6</a:t>
            </a:r>
          </a:p>
        </p:txBody>
      </p:sp>
      <p:sp>
        <p:nvSpPr>
          <p:cNvPr id="62513" name="Rectangle 56"/>
          <p:cNvSpPr>
            <a:spLocks noChangeArrowheads="1"/>
          </p:cNvSpPr>
          <p:nvPr/>
        </p:nvSpPr>
        <p:spPr bwMode="auto">
          <a:xfrm>
            <a:off x="6832600" y="3894138"/>
            <a:ext cx="935038" cy="143986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2514" name="Text Box 57"/>
          <p:cNvSpPr txBox="1">
            <a:spLocks noChangeArrowheads="1"/>
          </p:cNvSpPr>
          <p:nvPr/>
        </p:nvSpPr>
        <p:spPr bwMode="auto">
          <a:xfrm>
            <a:off x="2774950" y="6108700"/>
            <a:ext cx="9588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400" b="1">
                <a:latin typeface="Calibri" panose="020F0502020204030204" pitchFamily="34" charset="0"/>
              </a:rPr>
              <a:t>page table</a:t>
            </a:r>
          </a:p>
        </p:txBody>
      </p:sp>
      <p:sp>
        <p:nvSpPr>
          <p:cNvPr id="62515" name="Text Box 58"/>
          <p:cNvSpPr txBox="1">
            <a:spLocks noChangeArrowheads="1"/>
          </p:cNvSpPr>
          <p:nvPr/>
        </p:nvSpPr>
        <p:spPr bwMode="auto">
          <a:xfrm>
            <a:off x="3071813" y="4076700"/>
            <a:ext cx="34657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i="1">
                <a:latin typeface="Calibri" panose="020F0502020204030204" pitchFamily="34" charset="0"/>
              </a:rPr>
              <a:t>p</a:t>
            </a:r>
            <a:r>
              <a:rPr lang="en-US" altLang="zh-TW" sz="1800" b="1" i="1" baseline="-25000">
                <a:latin typeface="Calibri" panose="020F0502020204030204" pitchFamily="34" charset="0"/>
              </a:rPr>
              <a:t>j</a:t>
            </a:r>
            <a:endParaRPr lang="en-US" altLang="zh-TW" sz="1800" b="1" i="1">
              <a:latin typeface="Calibri" panose="020F0502020204030204" pitchFamily="34" charset="0"/>
            </a:endParaRPr>
          </a:p>
        </p:txBody>
      </p:sp>
      <p:sp>
        <p:nvSpPr>
          <p:cNvPr id="62516" name="Text Box 59"/>
          <p:cNvSpPr txBox="1">
            <a:spLocks noChangeArrowheads="1"/>
          </p:cNvSpPr>
          <p:nvPr/>
        </p:nvSpPr>
        <p:spPr bwMode="auto">
          <a:xfrm>
            <a:off x="6167438" y="4076700"/>
            <a:ext cx="3449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i="1">
                <a:latin typeface="Calibri" panose="020F0502020204030204" pitchFamily="34" charset="0"/>
              </a:rPr>
              <a:t>p</a:t>
            </a:r>
            <a:r>
              <a:rPr lang="en-US" altLang="zh-TW" sz="1800" b="1" i="1" baseline="-25000">
                <a:latin typeface="Calibri" panose="020F0502020204030204" pitchFamily="34" charset="0"/>
              </a:rPr>
              <a:t>i</a:t>
            </a:r>
            <a:endParaRPr lang="en-US" altLang="zh-TW" sz="1800" b="1" i="1">
              <a:latin typeface="Calibri" panose="020F0502020204030204" pitchFamily="34" charset="0"/>
            </a:endParaRPr>
          </a:p>
        </p:txBody>
      </p:sp>
      <p:sp>
        <p:nvSpPr>
          <p:cNvPr id="62517" name="Rectangle 60"/>
          <p:cNvSpPr>
            <a:spLocks noChangeArrowheads="1"/>
          </p:cNvSpPr>
          <p:nvPr/>
        </p:nvSpPr>
        <p:spPr bwMode="auto">
          <a:xfrm>
            <a:off x="8759826" y="2276476"/>
            <a:ext cx="1368425" cy="360363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2518" name="Rectangle 61"/>
          <p:cNvSpPr>
            <a:spLocks noChangeArrowheads="1"/>
          </p:cNvSpPr>
          <p:nvPr/>
        </p:nvSpPr>
        <p:spPr bwMode="auto">
          <a:xfrm>
            <a:off x="8759826" y="2636838"/>
            <a:ext cx="1368425" cy="36036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2519" name="Rectangle 62"/>
          <p:cNvSpPr>
            <a:spLocks noChangeArrowheads="1"/>
          </p:cNvSpPr>
          <p:nvPr/>
        </p:nvSpPr>
        <p:spPr bwMode="auto">
          <a:xfrm>
            <a:off x="8759826" y="2997201"/>
            <a:ext cx="1368425" cy="3603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TW" altLang="zh-TW">
              <a:latin typeface="Calibri" panose="020F0502020204030204" pitchFamily="34" charset="0"/>
            </a:endParaRPr>
          </a:p>
        </p:txBody>
      </p:sp>
      <p:sp>
        <p:nvSpPr>
          <p:cNvPr id="62520" name="Rectangle 63"/>
          <p:cNvSpPr>
            <a:spLocks noChangeArrowheads="1"/>
          </p:cNvSpPr>
          <p:nvPr/>
        </p:nvSpPr>
        <p:spPr bwMode="auto">
          <a:xfrm>
            <a:off x="8759826" y="3357563"/>
            <a:ext cx="1368425" cy="36036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2521" name="Rectangle 64"/>
          <p:cNvSpPr>
            <a:spLocks noChangeArrowheads="1"/>
          </p:cNvSpPr>
          <p:nvPr/>
        </p:nvSpPr>
        <p:spPr bwMode="auto">
          <a:xfrm>
            <a:off x="8759826" y="1916113"/>
            <a:ext cx="1368425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2522" name="Rectangle 65"/>
          <p:cNvSpPr>
            <a:spLocks noChangeArrowheads="1"/>
          </p:cNvSpPr>
          <p:nvPr/>
        </p:nvSpPr>
        <p:spPr bwMode="auto">
          <a:xfrm>
            <a:off x="8759826" y="3716338"/>
            <a:ext cx="1368425" cy="36036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TW" altLang="zh-TW">
              <a:latin typeface="Calibri" panose="020F0502020204030204" pitchFamily="34" charset="0"/>
            </a:endParaRPr>
          </a:p>
        </p:txBody>
      </p:sp>
      <p:sp>
        <p:nvSpPr>
          <p:cNvPr id="688194" name="Rectangle 66"/>
          <p:cNvSpPr>
            <a:spLocks noChangeArrowheads="1"/>
          </p:cNvSpPr>
          <p:nvPr/>
        </p:nvSpPr>
        <p:spPr bwMode="auto">
          <a:xfrm>
            <a:off x="8759826" y="4076701"/>
            <a:ext cx="1368425" cy="360363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2524" name="Rectangle 67"/>
          <p:cNvSpPr>
            <a:spLocks noChangeArrowheads="1"/>
          </p:cNvSpPr>
          <p:nvPr/>
        </p:nvSpPr>
        <p:spPr bwMode="auto">
          <a:xfrm>
            <a:off x="8759826" y="4437063"/>
            <a:ext cx="1368425" cy="3603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TW" altLang="zh-TW">
              <a:latin typeface="Calibri" panose="020F0502020204030204" pitchFamily="34" charset="0"/>
            </a:endParaRPr>
          </a:p>
        </p:txBody>
      </p:sp>
      <p:sp>
        <p:nvSpPr>
          <p:cNvPr id="62525" name="Rectangle 68"/>
          <p:cNvSpPr>
            <a:spLocks noChangeArrowheads="1"/>
          </p:cNvSpPr>
          <p:nvPr/>
        </p:nvSpPr>
        <p:spPr bwMode="auto">
          <a:xfrm>
            <a:off x="8759826" y="4797426"/>
            <a:ext cx="1368425" cy="360363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2526" name="Text Box 69"/>
          <p:cNvSpPr txBox="1">
            <a:spLocks noChangeArrowheads="1"/>
          </p:cNvSpPr>
          <p:nvPr/>
        </p:nvSpPr>
        <p:spPr bwMode="auto">
          <a:xfrm>
            <a:off x="8534400" y="1916113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62527" name="Text Box 70"/>
          <p:cNvSpPr txBox="1">
            <a:spLocks noChangeArrowheads="1"/>
          </p:cNvSpPr>
          <p:nvPr/>
        </p:nvSpPr>
        <p:spPr bwMode="auto">
          <a:xfrm>
            <a:off x="8534400" y="2276475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62528" name="Text Box 71"/>
          <p:cNvSpPr txBox="1">
            <a:spLocks noChangeArrowheads="1"/>
          </p:cNvSpPr>
          <p:nvPr/>
        </p:nvSpPr>
        <p:spPr bwMode="auto">
          <a:xfrm>
            <a:off x="8534400" y="2630488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62529" name="Text Box 72"/>
          <p:cNvSpPr txBox="1">
            <a:spLocks noChangeArrowheads="1"/>
          </p:cNvSpPr>
          <p:nvPr/>
        </p:nvSpPr>
        <p:spPr bwMode="auto">
          <a:xfrm>
            <a:off x="8534400" y="299085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62530" name="Text Box 73"/>
          <p:cNvSpPr txBox="1">
            <a:spLocks noChangeArrowheads="1"/>
          </p:cNvSpPr>
          <p:nvPr/>
        </p:nvSpPr>
        <p:spPr bwMode="auto">
          <a:xfrm>
            <a:off x="8543925" y="3349625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62531" name="Text Box 74"/>
          <p:cNvSpPr txBox="1">
            <a:spLocks noChangeArrowheads="1"/>
          </p:cNvSpPr>
          <p:nvPr/>
        </p:nvSpPr>
        <p:spPr bwMode="auto">
          <a:xfrm>
            <a:off x="8543925" y="3709988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6</a:t>
            </a:r>
          </a:p>
        </p:txBody>
      </p:sp>
      <p:sp>
        <p:nvSpPr>
          <p:cNvPr id="62532" name="Text Box 75"/>
          <p:cNvSpPr txBox="1">
            <a:spLocks noChangeArrowheads="1"/>
          </p:cNvSpPr>
          <p:nvPr/>
        </p:nvSpPr>
        <p:spPr bwMode="auto">
          <a:xfrm>
            <a:off x="8543925" y="4070350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7</a:t>
            </a:r>
          </a:p>
        </p:txBody>
      </p:sp>
      <p:sp>
        <p:nvSpPr>
          <p:cNvPr id="62533" name="Text Box 76"/>
          <p:cNvSpPr txBox="1">
            <a:spLocks noChangeArrowheads="1"/>
          </p:cNvSpPr>
          <p:nvPr/>
        </p:nvSpPr>
        <p:spPr bwMode="auto">
          <a:xfrm>
            <a:off x="8543925" y="4430713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8</a:t>
            </a:r>
          </a:p>
        </p:txBody>
      </p:sp>
      <p:sp>
        <p:nvSpPr>
          <p:cNvPr id="62534" name="Text Box 77"/>
          <p:cNvSpPr txBox="1">
            <a:spLocks noChangeArrowheads="1"/>
          </p:cNvSpPr>
          <p:nvPr/>
        </p:nvSpPr>
        <p:spPr bwMode="auto">
          <a:xfrm>
            <a:off x="8543925" y="4797425"/>
            <a:ext cx="3016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9</a:t>
            </a:r>
          </a:p>
        </p:txBody>
      </p:sp>
      <p:sp>
        <p:nvSpPr>
          <p:cNvPr id="62535" name="Text Box 78"/>
          <p:cNvSpPr txBox="1">
            <a:spLocks noChangeArrowheads="1"/>
          </p:cNvSpPr>
          <p:nvPr/>
        </p:nvSpPr>
        <p:spPr bwMode="auto">
          <a:xfrm>
            <a:off x="8401050" y="5157788"/>
            <a:ext cx="4187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latin typeface="Calibri" panose="020F0502020204030204" pitchFamily="34" charset="0"/>
              </a:rPr>
              <a:t>10</a:t>
            </a:r>
          </a:p>
        </p:txBody>
      </p:sp>
      <p:sp>
        <p:nvSpPr>
          <p:cNvPr id="62536" name="Rectangle 79"/>
          <p:cNvSpPr>
            <a:spLocks noChangeArrowheads="1"/>
          </p:cNvSpPr>
          <p:nvPr/>
        </p:nvSpPr>
        <p:spPr bwMode="auto">
          <a:xfrm>
            <a:off x="8759826" y="5156201"/>
            <a:ext cx="1368425" cy="360363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88208" name="Text Box 80"/>
          <p:cNvSpPr txBox="1">
            <a:spLocks noChangeArrowheads="1"/>
          </p:cNvSpPr>
          <p:nvPr/>
        </p:nvSpPr>
        <p:spPr bwMode="auto">
          <a:xfrm>
            <a:off x="3648075" y="2420939"/>
            <a:ext cx="2760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400" b="1" i="1"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688209" name="Text Box 81"/>
          <p:cNvSpPr txBox="1">
            <a:spLocks noChangeArrowheads="1"/>
          </p:cNvSpPr>
          <p:nvPr/>
        </p:nvSpPr>
        <p:spPr bwMode="auto">
          <a:xfrm>
            <a:off x="6456363" y="3284539"/>
            <a:ext cx="2760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400" b="1" i="1" dirty="0">
                <a:latin typeface="Calibri" panose="020F0502020204030204" pitchFamily="34" charset="0"/>
              </a:rPr>
              <a:t>7</a:t>
            </a:r>
          </a:p>
        </p:txBody>
      </p:sp>
      <p:sp>
        <p:nvSpPr>
          <p:cNvPr id="688210" name="AutoShape 82"/>
          <p:cNvSpPr>
            <a:spLocks noChangeArrowheads="1"/>
          </p:cNvSpPr>
          <p:nvPr/>
        </p:nvSpPr>
        <p:spPr bwMode="auto">
          <a:xfrm>
            <a:off x="4079875" y="5157788"/>
            <a:ext cx="1079500" cy="215900"/>
          </a:xfrm>
          <a:prstGeom prst="leftArrow">
            <a:avLst>
              <a:gd name="adj1" fmla="val 50000"/>
              <a:gd name="adj2" fmla="val 1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688211" name="Text Box 83"/>
          <p:cNvSpPr txBox="1">
            <a:spLocks noChangeArrowheads="1"/>
          </p:cNvSpPr>
          <p:nvPr/>
        </p:nvSpPr>
        <p:spPr bwMode="auto">
          <a:xfrm>
            <a:off x="4008438" y="5373688"/>
            <a:ext cx="140365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600" b="1" i="1" dirty="0">
                <a:latin typeface="Calibri" panose="020F0502020204030204" pitchFamily="34" charset="0"/>
              </a:rPr>
              <a:t>context switch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autoRev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1000" fill="hold"/>
                                        <p:tgtEl>
                                          <p:spTgt spid="68819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mph" presetSubtype="0" autoRev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1000" fill="hold"/>
                                        <p:tgtEl>
                                          <p:spTgt spid="688208"/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mph" presetSubtype="0" autoRev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1000" fill="hold"/>
                                        <p:tgtEl>
                                          <p:spTgt spid="688209"/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mph" presetSubtype="0" autoRev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1000" fill="hold"/>
                                        <p:tgtEl>
                                          <p:spTgt spid="68819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8194" grpId="0" animBg="1"/>
      <p:bldP spid="688194" grpId="1" animBg="1"/>
      <p:bldP spid="688208" grpId="0"/>
      <p:bldP spid="688208" grpId="1"/>
      <p:bldP spid="688209" grpId="0"/>
      <p:bldP spid="688209" grpId="1"/>
      <p:bldP spid="688210" grpId="0" animBg="1"/>
      <p:bldP spid="688211" grpId="0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同樣的</a:t>
            </a:r>
            <a:r>
              <a:rPr lang="en-US" altLang="zh-TW" dirty="0" smtClean="0"/>
              <a:t>, </a:t>
            </a:r>
            <a:r>
              <a:rPr lang="en-US" altLang="zh-TW" dirty="0"/>
              <a:t>thread context switch</a:t>
            </a:r>
            <a:r>
              <a:rPr lang="zh-TW" altLang="en-US" dirty="0"/>
              <a:t>則不用</a:t>
            </a:r>
            <a:r>
              <a:rPr lang="en-US" altLang="zh-TW" dirty="0"/>
              <a:t>flush </a:t>
            </a:r>
            <a:r>
              <a:rPr lang="en-US" altLang="zh-TW" dirty="0" smtClean="0"/>
              <a:t>TLB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7097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TLB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When context switches, TLB must be </a:t>
            </a:r>
            <a:r>
              <a:rPr lang="en-US" altLang="zh-TW" b="1" dirty="0">
                <a:solidFill>
                  <a:srgbClr val="FF0000"/>
                </a:solidFill>
              </a:rPr>
              <a:t>flushed</a:t>
            </a:r>
          </a:p>
          <a:p>
            <a:endParaRPr lang="en-US" altLang="zh-TW" dirty="0"/>
          </a:p>
          <a:p>
            <a:r>
              <a:rPr lang="en-US" altLang="zh-TW" dirty="0"/>
              <a:t>Another choice: add </a:t>
            </a:r>
            <a:r>
              <a:rPr lang="en-US" altLang="zh-TW" b="1" dirty="0">
                <a:solidFill>
                  <a:srgbClr val="FF0000"/>
                </a:solidFill>
              </a:rPr>
              <a:t>address-space identifiers (ASIDs) </a:t>
            </a:r>
            <a:r>
              <a:rPr lang="en-US" altLang="zh-TW" dirty="0"/>
              <a:t>in each TLB entry</a:t>
            </a:r>
          </a:p>
          <a:p>
            <a:pPr lvl="1"/>
            <a:r>
              <a:rPr lang="en-US" altLang="zh-TW" dirty="0"/>
              <a:t>Uniquely identifies each process</a:t>
            </a:r>
          </a:p>
          <a:p>
            <a:pPr lvl="1"/>
            <a:r>
              <a:rPr lang="en-US" altLang="zh-TW" dirty="0"/>
              <a:t>ASID should be matched, otherwise, TLB miss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4134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Effective Access Time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Hit ratio </a:t>
            </a:r>
            <a:r>
              <a:rPr lang="en-US" altLang="zh-TW" dirty="0"/>
              <a:t>– </a:t>
            </a:r>
            <a:r>
              <a:rPr lang="en-US" altLang="zh-TW" b="1" dirty="0"/>
              <a:t>percentage</a:t>
            </a:r>
            <a:r>
              <a:rPr lang="en-US" altLang="zh-TW" dirty="0"/>
              <a:t> of times that a page number is found in TLB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Assume</a:t>
            </a:r>
            <a:r>
              <a:rPr lang="en-US" altLang="zh-TW" dirty="0"/>
              <a:t>: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Memory </a:t>
            </a:r>
            <a:r>
              <a:rPr lang="en-US" altLang="zh-TW" dirty="0"/>
              <a:t>access time = </a:t>
            </a:r>
            <a:r>
              <a:rPr lang="en-US" altLang="zh-TW" dirty="0" smtClean="0"/>
              <a:t>10 ns, </a:t>
            </a:r>
          </a:p>
          <a:p>
            <a:pPr lvl="1"/>
            <a:r>
              <a:rPr lang="en-US" altLang="zh-TW" dirty="0" smtClean="0"/>
              <a:t>TLB lookup has </a:t>
            </a:r>
            <a:r>
              <a:rPr lang="en-US" altLang="zh-TW" dirty="0"/>
              <a:t>no </a:t>
            </a:r>
            <a:r>
              <a:rPr lang="en-US" altLang="zh-TW" dirty="0" smtClean="0"/>
              <a:t>performance penalty</a:t>
            </a:r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If </a:t>
            </a:r>
            <a:r>
              <a:rPr lang="en-US" altLang="zh-TW" dirty="0"/>
              <a:t>TLB miss, access time = </a:t>
            </a:r>
            <a:r>
              <a:rPr lang="en-US" altLang="zh-TW" dirty="0" smtClean="0"/>
              <a:t>10 </a:t>
            </a:r>
            <a:r>
              <a:rPr lang="en-US" altLang="zh-TW" dirty="0"/>
              <a:t>+ </a:t>
            </a:r>
            <a:r>
              <a:rPr lang="en-US" altLang="zh-TW" dirty="0" smtClean="0"/>
              <a:t>10 </a:t>
            </a:r>
            <a:r>
              <a:rPr lang="en-US" altLang="zh-TW" dirty="0"/>
              <a:t>= </a:t>
            </a:r>
            <a:r>
              <a:rPr lang="en-US" altLang="zh-TW" dirty="0" smtClean="0"/>
              <a:t>20 ns</a:t>
            </a:r>
          </a:p>
          <a:p>
            <a:pPr lvl="1"/>
            <a:r>
              <a:rPr lang="en-US" altLang="zh-TW" dirty="0" smtClean="0"/>
              <a:t>Once for page table and the other for data/instruction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If </a:t>
            </a:r>
            <a:r>
              <a:rPr lang="en-US" altLang="zh-TW" dirty="0"/>
              <a:t>TLB hit, access time = 10 ns   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Only for data/instruction from memory</a:t>
            </a:r>
          </a:p>
        </p:txBody>
      </p:sp>
    </p:spTree>
    <p:extLst>
      <p:ext uri="{BB962C8B-B14F-4D97-AF65-F5344CB8AC3E}">
        <p14:creationId xmlns:p14="http://schemas.microsoft.com/office/powerpoint/2010/main" val="169211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Effective Access </a:t>
            </a:r>
            <a:r>
              <a:rPr lang="en-US" altLang="zh-TW" dirty="0" smtClean="0"/>
              <a:t>Time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Assume</a:t>
            </a:r>
            <a:r>
              <a:rPr lang="en-US" altLang="zh-TW" dirty="0" smtClean="0"/>
              <a:t>: TLB </a:t>
            </a:r>
            <a:r>
              <a:rPr lang="en-US" altLang="zh-TW" dirty="0"/>
              <a:t>hit ratio = 80%</a:t>
            </a:r>
          </a:p>
          <a:p>
            <a:endParaRPr lang="en-US" altLang="zh-TW" b="1" dirty="0" smtClean="0">
              <a:solidFill>
                <a:srgbClr val="FF0000"/>
              </a:solidFill>
            </a:endParaRPr>
          </a:p>
          <a:p>
            <a:r>
              <a:rPr lang="en-US" altLang="zh-TW" b="1" dirty="0" smtClean="0">
                <a:solidFill>
                  <a:srgbClr val="FF0000"/>
                </a:solidFill>
              </a:rPr>
              <a:t>Effective </a:t>
            </a:r>
            <a:r>
              <a:rPr lang="en-US" altLang="zh-TW" b="1" dirty="0">
                <a:solidFill>
                  <a:srgbClr val="FF0000"/>
                </a:solidFill>
              </a:rPr>
              <a:t>Access Time (EAT)</a:t>
            </a:r>
          </a:p>
          <a:p>
            <a:pPr lvl="1"/>
            <a:r>
              <a:rPr lang="en-US" altLang="zh-TW" dirty="0"/>
              <a:t>EAT = 0.8 x 10 + 0.20 x 20 = 12 ns</a:t>
            </a:r>
          </a:p>
          <a:p>
            <a:pPr lvl="1"/>
            <a:r>
              <a:rPr lang="en-US" altLang="zh-TW" dirty="0"/>
              <a:t>Suffer a 20 percent slowdown in memory access time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Consider a more </a:t>
            </a:r>
            <a:r>
              <a:rPr lang="en-US" altLang="zh-TW" b="1" dirty="0"/>
              <a:t>realistic</a:t>
            </a:r>
            <a:r>
              <a:rPr lang="en-US" altLang="zh-TW" dirty="0"/>
              <a:t> hit ratio of </a:t>
            </a:r>
            <a:r>
              <a:rPr lang="en-US" altLang="zh-TW" b="1" dirty="0">
                <a:solidFill>
                  <a:srgbClr val="FF0000"/>
                </a:solidFill>
              </a:rPr>
              <a:t>99</a:t>
            </a:r>
            <a:r>
              <a:rPr lang="en-US" altLang="zh-TW" b="1" dirty="0" smtClean="0">
                <a:solidFill>
                  <a:srgbClr val="FF0000"/>
                </a:solidFill>
              </a:rPr>
              <a:t>%</a:t>
            </a:r>
            <a:r>
              <a:rPr lang="en-US" altLang="zh-TW" dirty="0" smtClean="0"/>
              <a:t>, </a:t>
            </a:r>
          </a:p>
          <a:p>
            <a:pPr lvl="1"/>
            <a:r>
              <a:rPr lang="en-US" altLang="zh-TW" b="1" dirty="0" smtClean="0">
                <a:solidFill>
                  <a:srgbClr val="FF0000"/>
                </a:solidFill>
              </a:rPr>
              <a:t>Why so  </a:t>
            </a:r>
            <a:r>
              <a:rPr lang="en-US" altLang="zh-TW" b="1" dirty="0" smtClean="0">
                <a:solidFill>
                  <a:srgbClr val="FF0000"/>
                </a:solidFill>
              </a:rPr>
              <a:t>high?</a:t>
            </a:r>
            <a:r>
              <a:rPr lang="zh-TW" altLang="en-US" dirty="0" smtClean="0"/>
              <a:t> </a:t>
            </a:r>
            <a:r>
              <a:rPr lang="en-US" altLang="zh-TW" dirty="0" smtClean="0"/>
              <a:t>(</a:t>
            </a:r>
            <a:r>
              <a:rPr lang="zh-TW" altLang="en-US" dirty="0" smtClean="0"/>
              <a:t>第十章會介紹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pPr lvl="1"/>
            <a:r>
              <a:rPr lang="en-US" altLang="zh-TW" dirty="0"/>
              <a:t>EAT = 0.99 x 10 + 0.01 x 20 = 10.1ns,  </a:t>
            </a:r>
            <a:r>
              <a:rPr lang="en-US" altLang="zh-TW" dirty="0" smtClean="0"/>
              <a:t>Implying  </a:t>
            </a:r>
            <a:r>
              <a:rPr lang="en-US" altLang="zh-TW" dirty="0"/>
              <a:t>only 1% slowdown in access time.</a:t>
            </a:r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555850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zh-TW" dirty="0" smtClean="0"/>
              <a:t>Background</a:t>
            </a:r>
          </a:p>
          <a:p>
            <a:pPr eaLnBrk="1" hangingPunct="1"/>
            <a:r>
              <a:rPr lang="en-US" altLang="zh-TW" dirty="0" smtClean="0"/>
              <a:t>Contiguous Memory Allocation</a:t>
            </a:r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Paging</a:t>
            </a:r>
          </a:p>
          <a:p>
            <a:pPr lvl="1" eaLnBrk="1" hangingPunct="1"/>
            <a:r>
              <a:rPr lang="en-US" altLang="zh-TW" dirty="0" smtClean="0"/>
              <a:t>Basic Method</a:t>
            </a:r>
          </a:p>
          <a:p>
            <a:pPr lvl="1" eaLnBrk="1" hangingPunct="1"/>
            <a:r>
              <a:rPr lang="en-US" altLang="zh-TW" dirty="0" smtClean="0"/>
              <a:t>Hardware Support</a:t>
            </a:r>
          </a:p>
          <a:p>
            <a:pPr lvl="1" eaLnBrk="1" hangingPunct="1"/>
            <a:r>
              <a:rPr lang="en-US" altLang="zh-TW" b="1" dirty="0" smtClean="0">
                <a:solidFill>
                  <a:srgbClr val="FF0000"/>
                </a:solidFill>
              </a:rPr>
              <a:t>Protection</a:t>
            </a:r>
          </a:p>
          <a:p>
            <a:pPr lvl="1" eaLnBrk="1" hangingPunct="1"/>
            <a:r>
              <a:rPr lang="en-US" altLang="zh-TW" dirty="0" smtClean="0"/>
              <a:t>Shared Pages</a:t>
            </a:r>
          </a:p>
          <a:p>
            <a:pPr eaLnBrk="1" hangingPunct="1"/>
            <a:r>
              <a:rPr lang="en-US" altLang="zh-TW" dirty="0" smtClean="0"/>
              <a:t>Structure of the Page Table</a:t>
            </a:r>
          </a:p>
          <a:p>
            <a:pPr eaLnBrk="1" hangingPunct="1"/>
            <a:r>
              <a:rPr lang="en-US" altLang="zh-TW" dirty="0" smtClean="0"/>
              <a:t>Swapping</a:t>
            </a:r>
          </a:p>
          <a:p>
            <a:pPr eaLnBrk="1" hangingPunct="1"/>
            <a:r>
              <a:rPr lang="en-US" altLang="zh-TW" dirty="0" smtClean="0"/>
              <a:t>Example: Intel 32 and 64-bit Architectures</a:t>
            </a:r>
          </a:p>
          <a:p>
            <a:pPr eaLnBrk="1" hangingPunct="1"/>
            <a:r>
              <a:rPr lang="en-US" altLang="zh-TW" dirty="0" smtClean="0"/>
              <a:t>Example: ARMv8 Architecture</a:t>
            </a:r>
          </a:p>
        </p:txBody>
      </p:sp>
    </p:spTree>
    <p:extLst>
      <p:ext uri="{BB962C8B-B14F-4D97-AF65-F5344CB8AC3E}">
        <p14:creationId xmlns:p14="http://schemas.microsoft.com/office/powerpoint/2010/main" val="3533921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在</a:t>
            </a:r>
            <a:r>
              <a:rPr lang="en-US" altLang="zh-TW" dirty="0" smtClean="0"/>
              <a:t>paging</a:t>
            </a:r>
            <a:r>
              <a:rPr lang="zh-TW" altLang="en-US" dirty="0" smtClean="0"/>
              <a:t>架構下</a:t>
            </a:r>
            <a:r>
              <a:rPr lang="en-US" altLang="zh-TW" dirty="0" smtClean="0"/>
              <a:t>, </a:t>
            </a:r>
            <a:r>
              <a:rPr lang="zh-TW" altLang="en-US" dirty="0" smtClean="0"/>
              <a:t>如何實現記憶體保護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看個例子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5898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60648"/>
            <a:ext cx="10363200" cy="1470025"/>
          </a:xfrm>
        </p:spPr>
        <p:txBody>
          <a:bodyPr/>
          <a:lstStyle/>
          <a:p>
            <a:r>
              <a:rPr lang="en-US" altLang="zh-TW" sz="3600" dirty="0" smtClean="0"/>
              <a:t>Q: if </a:t>
            </a:r>
            <a:r>
              <a:rPr lang="en-US" altLang="zh-TW" sz="3600" dirty="0"/>
              <a:t>a process issue a memory access to page 6, how to detect and deny this access? and by whom</a:t>
            </a:r>
            <a:r>
              <a:rPr lang="en-US" altLang="zh-TW" sz="3600" dirty="0" smtClean="0"/>
              <a:t>?</a:t>
            </a:r>
            <a:endParaRPr lang="zh-TW" altLang="en-US" sz="36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 l="10391" t="623" r="10611" b="951"/>
          <a:stretch>
            <a:fillRect/>
          </a:stretch>
        </p:blipFill>
        <p:spPr bwMode="auto">
          <a:xfrm>
            <a:off x="2495128" y="2133178"/>
            <a:ext cx="6985248" cy="424815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5" name="文字方塊 4"/>
          <p:cNvSpPr txBox="1"/>
          <p:nvPr/>
        </p:nvSpPr>
        <p:spPr>
          <a:xfrm>
            <a:off x="551384" y="1609636"/>
            <a:ext cx="10872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Calibri" panose="020F0502020204030204" pitchFamily="34" charset="0"/>
              </a:rPr>
              <a:t>If virtual address space = 8 </a:t>
            </a:r>
            <a:r>
              <a:rPr lang="en-US" altLang="zh-TW" sz="2800" dirty="0" smtClean="0">
                <a:latin typeface="Calibri" panose="020F0502020204030204" pitchFamily="34" charset="0"/>
              </a:rPr>
              <a:t>pages</a:t>
            </a:r>
            <a:endParaRPr lang="zh-TW" altLang="en-US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81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1st Solution 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76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Memory Protection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TW" sz="3600" dirty="0" smtClean="0"/>
              <a:t>By </a:t>
            </a:r>
            <a:r>
              <a:rPr lang="en-US" altLang="zh-TW" sz="3600" dirty="0"/>
              <a:t>associating </a:t>
            </a:r>
            <a:r>
              <a:rPr lang="en-US" altLang="zh-TW" sz="3600" dirty="0" smtClean="0"/>
              <a:t>a </a:t>
            </a:r>
            <a:r>
              <a:rPr lang="en-US" altLang="zh-TW" sz="3600" b="1" dirty="0" smtClean="0"/>
              <a:t>protection </a:t>
            </a:r>
            <a:r>
              <a:rPr lang="en-US" altLang="zh-TW" sz="3600" b="1" dirty="0"/>
              <a:t>bit </a:t>
            </a:r>
            <a:r>
              <a:rPr lang="en-US" altLang="zh-TW" sz="3600" dirty="0"/>
              <a:t>with each </a:t>
            </a:r>
            <a:r>
              <a:rPr lang="en-US" altLang="zh-TW" sz="3600" dirty="0" smtClean="0"/>
              <a:t>PTE in the </a:t>
            </a:r>
            <a:r>
              <a:rPr lang="en-US" altLang="zh-TW" sz="3600" b="1" dirty="0" smtClean="0"/>
              <a:t>page table</a:t>
            </a:r>
            <a:endParaRPr lang="en-US" altLang="zh-TW" sz="3600" b="1" dirty="0"/>
          </a:p>
          <a:p>
            <a:pPr eaLnBrk="1" hangingPunct="1">
              <a:lnSpc>
                <a:spcPct val="120000"/>
              </a:lnSpc>
            </a:pPr>
            <a:endParaRPr lang="en-US" altLang="zh-TW" sz="3600" b="1" dirty="0" smtClean="0"/>
          </a:p>
          <a:p>
            <a:pPr eaLnBrk="1" hangingPunct="1">
              <a:lnSpc>
                <a:spcPct val="120000"/>
              </a:lnSpc>
            </a:pPr>
            <a:r>
              <a:rPr lang="en-US" altLang="zh-TW" sz="3600" b="1" dirty="0" smtClean="0"/>
              <a:t>Protection bit</a:t>
            </a:r>
            <a:r>
              <a:rPr lang="en-US" altLang="zh-TW" sz="3600" dirty="0" smtClean="0"/>
              <a:t>: </a:t>
            </a:r>
            <a:r>
              <a:rPr lang="en-US" altLang="zh-TW" sz="3600" b="1" dirty="0" smtClean="0"/>
              <a:t>valid-invalid</a:t>
            </a:r>
            <a:r>
              <a:rPr lang="en-US" altLang="zh-TW" sz="3600" dirty="0" smtClean="0"/>
              <a:t>	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3200" dirty="0" smtClean="0"/>
              <a:t>Valid</a:t>
            </a:r>
            <a:r>
              <a:rPr lang="en-US" altLang="zh-TW" sz="3200" dirty="0"/>
              <a:t>: </a:t>
            </a:r>
            <a:r>
              <a:rPr lang="en-US" altLang="zh-TW" sz="3200" dirty="0" smtClean="0"/>
              <a:t>the page </a:t>
            </a:r>
            <a:r>
              <a:rPr lang="en-US" altLang="zh-TW" sz="3200" dirty="0"/>
              <a:t>is in the process</a:t>
            </a:r>
            <a:r>
              <a:rPr lang="en-US" altLang="zh-TW" sz="3200" dirty="0">
                <a:latin typeface="Helvetica" pitchFamily="34" charset="0"/>
              </a:rPr>
              <a:t>’</a:t>
            </a:r>
            <a:r>
              <a:rPr lang="en-US" altLang="zh-TW" sz="3200" dirty="0"/>
              <a:t> logical address space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3200" dirty="0"/>
              <a:t>Invalid: the page </a:t>
            </a:r>
            <a:r>
              <a:rPr lang="en-US" altLang="zh-TW" sz="3200" b="1" dirty="0"/>
              <a:t>is not </a:t>
            </a:r>
            <a:r>
              <a:rPr lang="en-US" altLang="zh-TW" sz="3200" dirty="0"/>
              <a:t>in the process</a:t>
            </a:r>
            <a:r>
              <a:rPr lang="en-US" altLang="zh-TW" sz="3200" dirty="0">
                <a:latin typeface="Helvetica" pitchFamily="34" charset="0"/>
              </a:rPr>
              <a:t>’</a:t>
            </a:r>
            <a:r>
              <a:rPr lang="en-US" altLang="zh-TW" sz="3200" dirty="0"/>
              <a:t> logical address </a:t>
            </a:r>
            <a:r>
              <a:rPr lang="en-US" altLang="zh-TW" sz="3200" dirty="0" smtClean="0"/>
              <a:t>space</a:t>
            </a:r>
            <a:endParaRPr lang="en-US" altLang="zh-TW" sz="1800" dirty="0"/>
          </a:p>
          <a:p>
            <a:pPr eaLnBrk="1" hangingPunct="1">
              <a:lnSpc>
                <a:spcPct val="120000"/>
              </a:lnSpc>
            </a:pPr>
            <a:endParaRPr lang="en-US" altLang="zh-TW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200" dirty="0">
                <a:solidFill>
                  <a:srgbClr val="000000"/>
                </a:solidFill>
              </a:rPr>
              <a:t>Valid (v) or Invalid (</a:t>
            </a:r>
            <a:r>
              <a:rPr lang="en-US" altLang="zh-TW" sz="3200" dirty="0" err="1">
                <a:solidFill>
                  <a:srgbClr val="000000"/>
                </a:solidFill>
              </a:rPr>
              <a:t>i</a:t>
            </a:r>
            <a:r>
              <a:rPr lang="en-US" altLang="zh-TW" sz="3200" dirty="0">
                <a:solidFill>
                  <a:srgbClr val="000000"/>
                </a:solidFill>
              </a:rPr>
              <a:t>) Bit in a Page Table for Memory Protection</a:t>
            </a:r>
            <a:endParaRPr lang="en-US" altLang="zh-TW" dirty="0" smtClean="0"/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2" cstate="print"/>
          <a:srcRect l="10391" t="623" r="10611" b="951"/>
          <a:stretch>
            <a:fillRect/>
          </a:stretch>
        </p:blipFill>
        <p:spPr bwMode="auto">
          <a:xfrm>
            <a:off x="2207568" y="2267744"/>
            <a:ext cx="6985248" cy="424815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2" name="文字方塊 1"/>
          <p:cNvSpPr txBox="1"/>
          <p:nvPr/>
        </p:nvSpPr>
        <p:spPr>
          <a:xfrm>
            <a:off x="624417" y="1196752"/>
            <a:ext cx="108721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>
                <a:latin typeface="Calibri" panose="020F0502020204030204" pitchFamily="34" charset="0"/>
              </a:rPr>
              <a:t>If virtual address space = 8 pages, each page table entry associate with valid/invalid bit.</a:t>
            </a:r>
            <a:endParaRPr lang="zh-TW" altLang="en-US" sz="2800" dirty="0">
              <a:latin typeface="Calibri" panose="020F050202020403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51984" y="2971450"/>
            <a:ext cx="238322" cy="26184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5953740" y="3223137"/>
            <a:ext cx="238322" cy="26184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5951984" y="3455186"/>
            <a:ext cx="238322" cy="26184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5940068" y="3706873"/>
            <a:ext cx="262154" cy="26184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841" y="2366934"/>
            <a:ext cx="2505061" cy="514350"/>
          </a:xfrm>
          <a:prstGeom prst="rect">
            <a:avLst/>
          </a:prstGeom>
          <a:noFill/>
        </p:spPr>
      </p:pic>
      <p:sp>
        <p:nvSpPr>
          <p:cNvPr id="12" name="圓角矩形 11"/>
          <p:cNvSpPr/>
          <p:nvPr/>
        </p:nvSpPr>
        <p:spPr>
          <a:xfrm>
            <a:off x="5033901" y="2881284"/>
            <a:ext cx="1584176" cy="167266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397191"/>
              </p:ext>
            </p:extLst>
          </p:nvPr>
        </p:nvGraphicFramePr>
        <p:xfrm>
          <a:off x="5231904" y="2924944"/>
          <a:ext cx="1008112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337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v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1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4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v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2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3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v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3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7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v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4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0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err="1" smtClean="0">
                          <a:latin typeface="Calibri" panose="020F0502020204030204" pitchFamily="34" charset="0"/>
                        </a:rPr>
                        <a:t>i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5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0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err="1" smtClean="0">
                          <a:latin typeface="Calibri" panose="020F0502020204030204" pitchFamily="34" charset="0"/>
                        </a:rPr>
                        <a:t>i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6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0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err="1" smtClean="0">
                          <a:latin typeface="Calibri" panose="020F0502020204030204" pitchFamily="34" charset="0"/>
                        </a:rPr>
                        <a:t>i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7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0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err="1" smtClean="0">
                          <a:latin typeface="Calibri" panose="020F0502020204030204" pitchFamily="34" charset="0"/>
                        </a:rPr>
                        <a:t>i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Text Box 8"/>
          <p:cNvSpPr txBox="1">
            <a:spLocks noChangeArrowheads="1"/>
          </p:cNvSpPr>
          <p:nvPr/>
        </p:nvSpPr>
        <p:spPr bwMode="auto">
          <a:xfrm>
            <a:off x="2207569" y="5179840"/>
            <a:ext cx="2845523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200" b="1" dirty="0">
                <a:solidFill>
                  <a:srgbClr val="0000FF"/>
                </a:solidFill>
                <a:latin typeface="Bodoni MT" panose="02070603080606020203" pitchFamily="18" charset="0"/>
              </a:rPr>
              <a:t>Valid </a:t>
            </a:r>
            <a:r>
              <a:rPr lang="en-US" altLang="zh-TW" sz="2200" dirty="0">
                <a:solidFill>
                  <a:srgbClr val="0000FF"/>
                </a:solidFill>
                <a:latin typeface="Bodoni MT" panose="02070603080606020203" pitchFamily="18" charset="0"/>
              </a:rPr>
              <a:t>: </a:t>
            </a:r>
            <a:r>
              <a:rPr lang="en-US" altLang="zh-TW" sz="2200" b="1" dirty="0" err="1">
                <a:solidFill>
                  <a:srgbClr val="0000FF"/>
                </a:solidFill>
                <a:latin typeface="Bodoni MT" panose="02070603080606020203" pitchFamily="18" charset="0"/>
              </a:rPr>
              <a:t>addr</a:t>
            </a:r>
            <a:r>
              <a:rPr lang="en-US" altLang="zh-TW" sz="2200" b="1" dirty="0">
                <a:solidFill>
                  <a:srgbClr val="0000FF"/>
                </a:solidFill>
                <a:latin typeface="Bodoni MT" panose="02070603080606020203" pitchFamily="18" charset="0"/>
              </a:rPr>
              <a:t> translation</a:t>
            </a:r>
          </a:p>
          <a:p>
            <a:r>
              <a:rPr lang="en-US" altLang="zh-TW" sz="2200" b="1" dirty="0">
                <a:solidFill>
                  <a:srgbClr val="FF3300"/>
                </a:solidFill>
                <a:latin typeface="Bodoni MT" panose="02070603080606020203" pitchFamily="18" charset="0"/>
              </a:rPr>
              <a:t>Invalid:</a:t>
            </a:r>
            <a:r>
              <a:rPr lang="en-US" altLang="zh-TW" sz="2200" dirty="0">
                <a:solidFill>
                  <a:srgbClr val="FF3300"/>
                </a:solidFill>
                <a:latin typeface="Bodoni MT" panose="02070603080606020203" pitchFamily="18" charset="0"/>
              </a:rPr>
              <a:t> </a:t>
            </a:r>
            <a:r>
              <a:rPr lang="en-US" altLang="zh-TW" sz="2200" b="1" dirty="0">
                <a:solidFill>
                  <a:srgbClr val="FF3300"/>
                </a:solidFill>
                <a:latin typeface="Bodoni MT" panose="02070603080606020203" pitchFamily="18" charset="0"/>
              </a:rPr>
              <a:t>trap</a:t>
            </a:r>
          </a:p>
        </p:txBody>
      </p:sp>
    </p:spTree>
    <p:extLst>
      <p:ext uri="{BB962C8B-B14F-4D97-AF65-F5344CB8AC3E}">
        <p14:creationId xmlns:p14="http://schemas.microsoft.com/office/powerpoint/2010/main" val="3823512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800" dirty="0"/>
              <a:t>Another Example</a:t>
            </a:r>
          </a:p>
        </p:txBody>
      </p:sp>
      <p:sp>
        <p:nvSpPr>
          <p:cNvPr id="65540" name="Text Box 5"/>
          <p:cNvSpPr txBox="1">
            <a:spLocks noChangeArrowheads="1"/>
          </p:cNvSpPr>
          <p:nvPr/>
        </p:nvSpPr>
        <p:spPr bwMode="auto">
          <a:xfrm>
            <a:off x="1127448" y="1124744"/>
            <a:ext cx="1022583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800" dirty="0">
                <a:latin typeface="Calibri" panose="020F0502020204030204" pitchFamily="34" charset="0"/>
              </a:rPr>
              <a:t>Assume 14-bit logical address, page size = 2KB =&gt; page table entry = </a:t>
            </a:r>
            <a:r>
              <a:rPr lang="en-US" altLang="zh-TW" sz="2800" b="1" dirty="0">
                <a:latin typeface="Calibri" panose="020F0502020204030204" pitchFamily="34" charset="0"/>
              </a:rPr>
              <a:t>8</a:t>
            </a:r>
          </a:p>
        </p:txBody>
      </p:sp>
      <p:sp>
        <p:nvSpPr>
          <p:cNvPr id="65541" name="Text Box 7"/>
          <p:cNvSpPr txBox="1">
            <a:spLocks noChangeArrowheads="1"/>
          </p:cNvSpPr>
          <p:nvPr/>
        </p:nvSpPr>
        <p:spPr bwMode="auto">
          <a:xfrm>
            <a:off x="1919858" y="5787261"/>
            <a:ext cx="914469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2800" dirty="0">
                <a:latin typeface="Calibri" panose="020F0502020204030204" pitchFamily="34" charset="0"/>
              </a:rPr>
              <a:t>If a process uses address 0~10468 </a:t>
            </a:r>
            <a:r>
              <a:rPr lang="en-US" altLang="zh-TW" sz="2800" dirty="0" smtClean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</a:t>
            </a:r>
            <a:r>
              <a:rPr lang="en-US" altLang="zh-TW" sz="2800" dirty="0" smtClean="0">
                <a:latin typeface="Calibri" panose="020F0502020204030204" pitchFamily="34" charset="0"/>
              </a:rPr>
              <a:t> </a:t>
            </a:r>
            <a:r>
              <a:rPr lang="en-US" altLang="zh-TW" sz="2800" dirty="0">
                <a:latin typeface="Calibri" panose="020F0502020204030204" pitchFamily="34" charset="0"/>
              </a:rPr>
              <a:t>need </a:t>
            </a:r>
            <a:r>
              <a:rPr lang="en-US" altLang="zh-TW" sz="2800" b="1" dirty="0">
                <a:latin typeface="Calibri" panose="020F0502020204030204" pitchFamily="34" charset="0"/>
              </a:rPr>
              <a:t>6</a:t>
            </a:r>
            <a:r>
              <a:rPr lang="en-US" altLang="zh-TW" sz="2800" dirty="0">
                <a:latin typeface="Calibri" panose="020F0502020204030204" pitchFamily="34" charset="0"/>
              </a:rPr>
              <a:t> pages (0~12287)</a:t>
            </a:r>
          </a:p>
          <a:p>
            <a:pPr algn="ctr"/>
            <a:r>
              <a:rPr lang="en-US" altLang="zh-TW" sz="2800" dirty="0">
                <a:latin typeface="Arial Unicode MS" panose="020B0604020202020204" pitchFamily="34" charset="-120"/>
                <a:ea typeface="Arial Unicode MS" panose="020B0604020202020204" pitchFamily="34" charset="-120"/>
                <a:cs typeface="Arial Unicode MS" panose="020B0604020202020204" pitchFamily="34" charset="-120"/>
              </a:rPr>
              <a:t>⇨ </a:t>
            </a:r>
            <a:r>
              <a:rPr lang="en-US" altLang="zh-TW" sz="2800" dirty="0" smtClean="0">
                <a:latin typeface="Calibri" panose="020F0502020204030204" pitchFamily="34" charset="0"/>
              </a:rPr>
              <a:t>The </a:t>
            </a:r>
            <a:r>
              <a:rPr lang="en-US" altLang="zh-TW" sz="2800" dirty="0">
                <a:latin typeface="Calibri" panose="020F0502020204030204" pitchFamily="34" charset="0"/>
              </a:rPr>
              <a:t>last </a:t>
            </a:r>
            <a:r>
              <a:rPr lang="en-US" altLang="zh-TW" sz="2800" b="1" dirty="0">
                <a:latin typeface="Calibri" panose="020F0502020204030204" pitchFamily="34" charset="0"/>
              </a:rPr>
              <a:t>2</a:t>
            </a:r>
            <a:r>
              <a:rPr lang="en-US" altLang="zh-TW" sz="2800" dirty="0">
                <a:latin typeface="Calibri" panose="020F0502020204030204" pitchFamily="34" charset="0"/>
              </a:rPr>
              <a:t> pages marked invalid</a:t>
            </a:r>
          </a:p>
        </p:txBody>
      </p:sp>
      <p:sp>
        <p:nvSpPr>
          <p:cNvPr id="65542" name="Text Box 8"/>
          <p:cNvSpPr txBox="1">
            <a:spLocks noChangeArrowheads="1"/>
          </p:cNvSpPr>
          <p:nvPr/>
        </p:nvSpPr>
        <p:spPr bwMode="auto">
          <a:xfrm>
            <a:off x="8390293" y="2924176"/>
            <a:ext cx="308674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  <a:latin typeface="Calibri" panose="020F0502020204030204" pitchFamily="34" charset="0"/>
              </a:rPr>
              <a:t>Valid </a:t>
            </a:r>
            <a:r>
              <a:rPr lang="en-US" altLang="zh-TW" sz="2400" dirty="0">
                <a:solidFill>
                  <a:srgbClr val="0000FF"/>
                </a:solidFill>
                <a:latin typeface="Calibri" panose="020F0502020204030204" pitchFamily="34" charset="0"/>
              </a:rPr>
              <a:t>: </a:t>
            </a:r>
            <a:r>
              <a:rPr lang="en-US" altLang="zh-TW" sz="2400" b="1" dirty="0" err="1">
                <a:solidFill>
                  <a:srgbClr val="0000FF"/>
                </a:solidFill>
                <a:latin typeface="Calibri" panose="020F0502020204030204" pitchFamily="34" charset="0"/>
              </a:rPr>
              <a:t>addr</a:t>
            </a:r>
            <a:r>
              <a:rPr lang="en-US" altLang="zh-TW" sz="2400" b="1" dirty="0">
                <a:solidFill>
                  <a:srgbClr val="0000FF"/>
                </a:solidFill>
                <a:latin typeface="Calibri" panose="020F0502020204030204" pitchFamily="34" charset="0"/>
              </a:rPr>
              <a:t> translation</a:t>
            </a:r>
          </a:p>
          <a:p>
            <a:endParaRPr lang="en-US" altLang="zh-TW" sz="2400" b="1" dirty="0">
              <a:solidFill>
                <a:srgbClr val="FF3300"/>
              </a:solidFill>
              <a:latin typeface="Calibri" panose="020F0502020204030204" pitchFamily="34" charset="0"/>
            </a:endParaRPr>
          </a:p>
          <a:p>
            <a:r>
              <a:rPr lang="en-US" altLang="zh-TW" sz="2400" b="1" dirty="0">
                <a:solidFill>
                  <a:srgbClr val="FF3300"/>
                </a:solidFill>
                <a:latin typeface="Calibri" panose="020F0502020204030204" pitchFamily="34" charset="0"/>
              </a:rPr>
              <a:t>Invalid:</a:t>
            </a:r>
            <a:r>
              <a:rPr lang="en-US" altLang="zh-TW" sz="2400" dirty="0">
                <a:solidFill>
                  <a:srgbClr val="FF3300"/>
                </a:solidFill>
                <a:latin typeface="Calibri" panose="020F0502020204030204" pitchFamily="34" charset="0"/>
              </a:rPr>
              <a:t> </a:t>
            </a:r>
            <a:r>
              <a:rPr lang="en-US" altLang="zh-TW" sz="2400" b="1" dirty="0">
                <a:solidFill>
                  <a:srgbClr val="FF3300"/>
                </a:solidFill>
                <a:latin typeface="Calibri" panose="020F0502020204030204" pitchFamily="34" charset="0"/>
              </a:rPr>
              <a:t>trap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1700808"/>
            <a:ext cx="6912768" cy="40147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1st Solution</a:t>
            </a:r>
            <a:r>
              <a:rPr lang="zh-TW" altLang="en-US" dirty="0" smtClean="0"/>
              <a:t>有什麼缺點呢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smtClean="0"/>
              <a:t>Hint: </a:t>
            </a:r>
            <a:r>
              <a:rPr lang="zh-TW" altLang="en-US" dirty="0" smtClean="0"/>
              <a:t>如果虛擬記憶體很大</a:t>
            </a:r>
            <a:r>
              <a:rPr lang="en-US" altLang="zh-TW" dirty="0" smtClean="0"/>
              <a:t>, </a:t>
            </a:r>
            <a:r>
              <a:rPr lang="zh-TW" altLang="en-US" dirty="0" smtClean="0"/>
              <a:t>但是程式很小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639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 Protection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sz="3600" dirty="0"/>
              <a:t>In fact, most processes only uses a </a:t>
            </a:r>
            <a:r>
              <a:rPr lang="en-US" altLang="zh-TW" sz="3600" b="1" dirty="0"/>
              <a:t>small</a:t>
            </a:r>
            <a:r>
              <a:rPr lang="en-US" altLang="zh-TW" sz="3600" dirty="0"/>
              <a:t> address space</a:t>
            </a:r>
          </a:p>
          <a:p>
            <a:pPr>
              <a:lnSpc>
                <a:spcPct val="120000"/>
              </a:lnSpc>
            </a:pPr>
            <a:endParaRPr lang="en-US" altLang="zh-TW" sz="3600" dirty="0"/>
          </a:p>
          <a:p>
            <a:pPr>
              <a:lnSpc>
                <a:spcPct val="120000"/>
              </a:lnSpc>
            </a:pPr>
            <a:r>
              <a:rPr lang="en-US" altLang="zh-TW" sz="3600" dirty="0"/>
              <a:t>Thus, few valid PTEs but </a:t>
            </a:r>
            <a:r>
              <a:rPr lang="en-US" altLang="zh-TW" sz="3600" b="1" dirty="0"/>
              <a:t>many</a:t>
            </a:r>
            <a:r>
              <a:rPr lang="en-US" altLang="zh-TW" sz="3600" dirty="0"/>
              <a:t> invalid PTEs in page </a:t>
            </a:r>
            <a:r>
              <a:rPr lang="en-US" altLang="zh-TW" sz="3600" dirty="0" smtClean="0"/>
              <a:t>tables</a:t>
            </a:r>
            <a:endParaRPr lang="en-US" altLang="zh-TW" sz="3600" dirty="0"/>
          </a:p>
          <a:p>
            <a:pPr lvl="1">
              <a:lnSpc>
                <a:spcPct val="120000"/>
              </a:lnSpc>
            </a:pPr>
            <a:r>
              <a:rPr lang="en-US" altLang="zh-TW" sz="3200" dirty="0"/>
              <a:t>Waste memory </a:t>
            </a:r>
            <a:r>
              <a:rPr lang="en-US" altLang="zh-TW" sz="3200" dirty="0" smtClean="0"/>
              <a:t>space </a:t>
            </a:r>
            <a:r>
              <a:rPr lang="en-US" altLang="zh-TW" sz="3200" b="1" dirty="0" smtClean="0"/>
              <a:t>(Why?)</a:t>
            </a:r>
            <a:endParaRPr lang="en-US" altLang="zh-TW" sz="3200" b="1" dirty="0"/>
          </a:p>
          <a:p>
            <a:pPr>
              <a:lnSpc>
                <a:spcPct val="120000"/>
              </a:lnSpc>
            </a:pPr>
            <a:endParaRPr lang="en-US" altLang="zh-TW" sz="3600" dirty="0"/>
          </a:p>
          <a:p>
            <a:pPr>
              <a:lnSpc>
                <a:spcPct val="120000"/>
              </a:lnSpc>
            </a:pP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231077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</a:t>
            </a:r>
            <a:r>
              <a:rPr lang="zh-TW" altLang="en-US" dirty="0" smtClean="0"/>
              <a:t> </a:t>
            </a:r>
            <a:r>
              <a:rPr lang="zh-TW" altLang="en-US" dirty="0"/>
              <a:t>有什麼其他的方法</a:t>
            </a:r>
            <a:r>
              <a:rPr lang="zh-TW" altLang="en-US" dirty="0" smtClean="0"/>
              <a:t>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sz="4800" b="1" dirty="0" err="1" smtClean="0"/>
              <a:t>Ans</a:t>
            </a:r>
            <a:r>
              <a:rPr lang="en-US" altLang="zh-TW" sz="4800" b="1" dirty="0" smtClean="0"/>
              <a:t>: 2</a:t>
            </a:r>
            <a:r>
              <a:rPr lang="en-US" altLang="zh-TW" sz="4800" b="1" baseline="30000" dirty="0" smtClean="0"/>
              <a:t>nd</a:t>
            </a:r>
            <a:r>
              <a:rPr lang="en-US" altLang="zh-TW" sz="4800" b="1" dirty="0" smtClean="0"/>
              <a:t> Solution</a:t>
            </a:r>
            <a:endParaRPr lang="zh-TW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4162181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 Protection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b="1" dirty="0" smtClean="0"/>
              <a:t>More promising Sol</a:t>
            </a:r>
            <a:r>
              <a:rPr lang="en-US" altLang="zh-TW" dirty="0" smtClean="0"/>
              <a:t>.: </a:t>
            </a:r>
            <a:r>
              <a:rPr lang="en-US" altLang="zh-TW" dirty="0"/>
              <a:t>A </a:t>
            </a:r>
            <a:r>
              <a:rPr lang="en-US" altLang="zh-TW" b="1" dirty="0">
                <a:solidFill>
                  <a:srgbClr val="FF0000"/>
                </a:solidFill>
              </a:rPr>
              <a:t>page-table length register (PTLR</a:t>
            </a:r>
            <a:r>
              <a:rPr lang="en-US" altLang="zh-TW" b="1" dirty="0" smtClean="0">
                <a:solidFill>
                  <a:srgbClr val="FF0000"/>
                </a:solidFill>
              </a:rPr>
              <a:t>)</a:t>
            </a:r>
            <a:endParaRPr lang="en-US" altLang="zh-TW" sz="2300" dirty="0"/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Indicate </a:t>
            </a:r>
            <a:r>
              <a:rPr lang="en-US" altLang="zh-TW" dirty="0"/>
              <a:t>the </a:t>
            </a:r>
            <a:r>
              <a:rPr lang="en-US" altLang="zh-TW" dirty="0" smtClean="0"/>
              <a:t>length </a:t>
            </a:r>
            <a:r>
              <a:rPr lang="en-US" altLang="zh-TW" dirty="0"/>
              <a:t>of the page table</a:t>
            </a:r>
          </a:p>
          <a:p>
            <a:pPr lvl="2">
              <a:lnSpc>
                <a:spcPct val="120000"/>
              </a:lnSpc>
            </a:pPr>
            <a:r>
              <a:rPr lang="en-US" altLang="zh-TW" dirty="0"/>
              <a:t>Example: PTLR = </a:t>
            </a:r>
            <a:r>
              <a:rPr lang="en-US" altLang="zh-TW" dirty="0" smtClean="0"/>
              <a:t>4</a:t>
            </a:r>
            <a:endParaRPr lang="en-US" altLang="zh-TW" dirty="0"/>
          </a:p>
          <a:p>
            <a:pPr lvl="1">
              <a:lnSpc>
                <a:spcPct val="120000"/>
              </a:lnSpc>
            </a:pPr>
            <a:endParaRPr lang="en-US" altLang="zh-TW" dirty="0" smtClean="0"/>
          </a:p>
          <a:p>
            <a:pPr lvl="1">
              <a:lnSpc>
                <a:spcPct val="120000"/>
              </a:lnSpc>
            </a:pPr>
            <a:r>
              <a:rPr lang="en-US" altLang="zh-TW" dirty="0" smtClean="0"/>
              <a:t>If </a:t>
            </a:r>
            <a:r>
              <a:rPr lang="en-US" altLang="zh-TW" dirty="0" smtClean="0"/>
              <a:t>accessing page number &gt; 4 </a:t>
            </a:r>
            <a:r>
              <a:rPr lang="en-US" altLang="zh-TW" dirty="0"/>
              <a:t>=&gt; </a:t>
            </a:r>
            <a:r>
              <a:rPr lang="en-US" altLang="zh-TW" b="1" dirty="0"/>
              <a:t>Trap</a:t>
            </a:r>
          </a:p>
          <a:p>
            <a:pPr lvl="2">
              <a:lnSpc>
                <a:spcPct val="120000"/>
              </a:lnSpc>
            </a:pPr>
            <a:r>
              <a:rPr lang="en-US" altLang="zh-TW" dirty="0" smtClean="0"/>
              <a:t>Example: If access page number = 6 &gt; </a:t>
            </a:r>
            <a:r>
              <a:rPr lang="en-US" altLang="zh-TW" dirty="0"/>
              <a:t>PTLR =&gt; Trap</a:t>
            </a:r>
          </a:p>
          <a:p>
            <a:pPr>
              <a:lnSpc>
                <a:spcPct val="120000"/>
              </a:lnSpc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42293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 dirty="0">
                <a:solidFill>
                  <a:srgbClr val="000000"/>
                </a:solidFill>
              </a:rPr>
              <a:t>Page-Table Length Register </a:t>
            </a:r>
            <a:r>
              <a:rPr lang="en-US" altLang="zh-TW" sz="3600" dirty="0" smtClean="0">
                <a:solidFill>
                  <a:srgbClr val="000000"/>
                </a:solidFill>
              </a:rPr>
              <a:t>for Memory Protection</a:t>
            </a:r>
            <a:endParaRPr lang="en-US" altLang="zh-TW" sz="4800" dirty="0"/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2" cstate="print"/>
          <a:srcRect l="10391" t="623" r="10611" b="951"/>
          <a:stretch>
            <a:fillRect/>
          </a:stretch>
        </p:blipFill>
        <p:spPr bwMode="auto">
          <a:xfrm>
            <a:off x="2207568" y="2267744"/>
            <a:ext cx="7920880" cy="424815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2" name="文字方塊 1"/>
          <p:cNvSpPr txBox="1"/>
          <p:nvPr/>
        </p:nvSpPr>
        <p:spPr>
          <a:xfrm>
            <a:off x="983432" y="1445876"/>
            <a:ext cx="10225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b="1" dirty="0">
                <a:latin typeface="Calibri" panose="020F0502020204030204" pitchFamily="34" charset="0"/>
              </a:rPr>
              <a:t>Page-table length register (PTLR)</a:t>
            </a:r>
            <a:r>
              <a:rPr lang="en-US" altLang="zh-TW" sz="3200" dirty="0">
                <a:latin typeface="Calibri" panose="020F0502020204030204" pitchFamily="34" charset="0"/>
              </a:rPr>
              <a:t> = </a:t>
            </a:r>
            <a:r>
              <a:rPr lang="en-US" altLang="zh-TW" sz="3200" dirty="0" smtClean="0">
                <a:latin typeface="Calibri" panose="020F0502020204030204" pitchFamily="34" charset="0"/>
              </a:rPr>
              <a:t>4</a:t>
            </a:r>
            <a:endParaRPr lang="zh-TW" altLang="en-US" sz="3200" dirty="0">
              <a:latin typeface="Calibri" panose="020F050202020403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51984" y="2971450"/>
            <a:ext cx="270244" cy="26184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5953740" y="3223137"/>
            <a:ext cx="270244" cy="26184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5951984" y="3455186"/>
            <a:ext cx="270244" cy="26184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5940068" y="3706873"/>
            <a:ext cx="297268" cy="26184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圓角矩形 11"/>
          <p:cNvSpPr/>
          <p:nvPr/>
        </p:nvSpPr>
        <p:spPr>
          <a:xfrm>
            <a:off x="5033900" y="2881284"/>
            <a:ext cx="1796367" cy="167266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8548"/>
              </p:ext>
            </p:extLst>
          </p:nvPr>
        </p:nvGraphicFramePr>
        <p:xfrm>
          <a:off x="5231903" y="2924944"/>
          <a:ext cx="1143143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337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1</a:t>
                      </a:r>
                      <a:endParaRPr lang="zh-TW" altLang="en-US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4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v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2</a:t>
                      </a:r>
                      <a:endParaRPr lang="zh-TW" altLang="en-US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3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v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3</a:t>
                      </a:r>
                      <a:endParaRPr lang="zh-TW" altLang="en-US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7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v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57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effectLst/>
              </a:rPr>
              <a:t>複習</a:t>
            </a:r>
            <a:r>
              <a:rPr lang="en-US" altLang="zh-TW" dirty="0" smtClean="0">
                <a:effectLst/>
              </a:rPr>
              <a:t>:</a:t>
            </a:r>
            <a:r>
              <a:rPr lang="zh-TW" altLang="en-US" dirty="0" smtClean="0">
                <a:effectLst/>
              </a:rPr>
              <a:t> </a:t>
            </a:r>
            <a:r>
              <a:rPr lang="en-US" altLang="zh-TW" dirty="0" smtClean="0">
                <a:effectLst/>
              </a:rPr>
              <a:t>Per-Process </a:t>
            </a:r>
            <a:r>
              <a:rPr lang="en-US" altLang="zh-TW" dirty="0">
                <a:effectLst/>
              </a:rPr>
              <a:t>Page </a:t>
            </a:r>
            <a:r>
              <a:rPr lang="en-US" altLang="zh-TW" dirty="0" smtClean="0">
                <a:effectLst/>
              </a:rPr>
              <a:t>Table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Hardware introduces two registers</a:t>
            </a:r>
            <a:endParaRPr lang="en-US" altLang="en-US" dirty="0"/>
          </a:p>
          <a:p>
            <a:pPr lvl="1" eaLnBrk="1" hangingPunct="1"/>
            <a:r>
              <a:rPr lang="en-US" altLang="en-US" b="1" dirty="0" smtClean="0">
                <a:solidFill>
                  <a:srgbClr val="3366FF"/>
                </a:solidFill>
              </a:rPr>
              <a:t>Page-table base register </a:t>
            </a:r>
            <a:r>
              <a:rPr lang="en-US" altLang="en-US" dirty="0" smtClean="0"/>
              <a:t>(</a:t>
            </a:r>
            <a:r>
              <a:rPr lang="en-US" altLang="en-US" b="1" dirty="0" smtClean="0">
                <a:solidFill>
                  <a:srgbClr val="3366FF"/>
                </a:solidFill>
              </a:rPr>
              <a:t>PTBR</a:t>
            </a:r>
            <a:r>
              <a:rPr lang="en-US" altLang="en-US" dirty="0" smtClean="0"/>
              <a:t>)</a:t>
            </a:r>
            <a:r>
              <a:rPr lang="en-US" altLang="en-US" dirty="0" smtClean="0">
                <a:solidFill>
                  <a:srgbClr val="3366FF"/>
                </a:solidFill>
              </a:rPr>
              <a:t> </a:t>
            </a:r>
            <a:r>
              <a:rPr lang="en-US" altLang="zh-TW" dirty="0" smtClean="0"/>
              <a:t>points </a:t>
            </a:r>
            <a:r>
              <a:rPr lang="en-US" altLang="zh-TW" dirty="0"/>
              <a:t>to the page table of the current running process</a:t>
            </a:r>
          </a:p>
          <a:p>
            <a:pPr lvl="1"/>
            <a:r>
              <a:rPr lang="en-US" altLang="en-US" b="1" dirty="0" smtClean="0">
                <a:solidFill>
                  <a:srgbClr val="FF0000"/>
                </a:solidFill>
              </a:rPr>
              <a:t>Page-table </a:t>
            </a:r>
            <a:r>
              <a:rPr lang="en-US" altLang="en-US" b="1" dirty="0">
                <a:solidFill>
                  <a:srgbClr val="FF0000"/>
                </a:solidFill>
              </a:rPr>
              <a:t>length register </a:t>
            </a:r>
            <a:r>
              <a:rPr lang="en-US" altLang="en-US" dirty="0">
                <a:solidFill>
                  <a:srgbClr val="FF0000"/>
                </a:solidFill>
              </a:rPr>
              <a:t>(</a:t>
            </a:r>
            <a:r>
              <a:rPr lang="en-US" altLang="en-US" b="1" dirty="0">
                <a:solidFill>
                  <a:srgbClr val="FF0000"/>
                </a:solidFill>
              </a:rPr>
              <a:t>PTLR</a:t>
            </a:r>
            <a:r>
              <a:rPr lang="en-US" altLang="en-US" dirty="0">
                <a:solidFill>
                  <a:srgbClr val="FF0000"/>
                </a:solidFill>
              </a:rPr>
              <a:t>) </a:t>
            </a:r>
            <a:r>
              <a:rPr lang="en-US" altLang="en-US" dirty="0"/>
              <a:t>indicates size of the page </a:t>
            </a:r>
            <a:r>
              <a:rPr lang="en-US" altLang="en-US" dirty="0" smtClean="0"/>
              <a:t>table </a:t>
            </a:r>
            <a:r>
              <a:rPr lang="en-US" altLang="en-US" sz="2000" dirty="0"/>
              <a:t>(introduced later)</a:t>
            </a:r>
          </a:p>
          <a:p>
            <a:pPr marL="342900" lvl="1" indent="-342900">
              <a:spcBef>
                <a:spcPct val="20000"/>
              </a:spcBef>
              <a:buFontTx/>
              <a:buChar char="•"/>
            </a:pPr>
            <a:r>
              <a:rPr lang="en-US" altLang="zh-TW" dirty="0" smtClean="0"/>
              <a:t>When processes </a:t>
            </a:r>
            <a:r>
              <a:rPr lang="en-US" altLang="zh-TW" dirty="0"/>
              <a:t>context switch</a:t>
            </a:r>
          </a:p>
          <a:p>
            <a:pPr marL="742950" lvl="2" indent="-342900"/>
            <a:r>
              <a:rPr lang="en-US" altLang="zh-TW" b="1" dirty="0"/>
              <a:t>PTBR</a:t>
            </a:r>
            <a:r>
              <a:rPr lang="en-US" altLang="zh-TW" dirty="0"/>
              <a:t> is changed to point to the current process’s page table</a:t>
            </a:r>
          </a:p>
          <a:p>
            <a:pPr marL="742950" lvl="2" indent="-342900"/>
            <a:r>
              <a:rPr lang="en-US" altLang="zh-TW" b="1" dirty="0"/>
              <a:t>PTLR</a:t>
            </a:r>
            <a:r>
              <a:rPr lang="en-US" altLang="zh-TW" dirty="0"/>
              <a:t> is also updated</a:t>
            </a:r>
          </a:p>
          <a:p>
            <a:pPr marL="742950" lvl="2" indent="-342900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25996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事實上</a:t>
            </a:r>
            <a:r>
              <a:rPr lang="en-US" altLang="zh-TW" dirty="0" smtClean="0"/>
              <a:t>, page table</a:t>
            </a:r>
            <a:r>
              <a:rPr lang="zh-TW" altLang="en-US" dirty="0" smtClean="0"/>
              <a:t>可以提供更精細的記憶體保護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508053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 Protection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TW" dirty="0"/>
              <a:t>In fact, page tables </a:t>
            </a:r>
            <a:r>
              <a:rPr lang="en-US" altLang="zh-TW" dirty="0" smtClean="0"/>
              <a:t>can offer </a:t>
            </a:r>
            <a:r>
              <a:rPr lang="en-US" altLang="zh-TW" dirty="0"/>
              <a:t>fine-grained protection</a:t>
            </a:r>
          </a:p>
          <a:p>
            <a:pPr lvl="1">
              <a:lnSpc>
                <a:spcPct val="120000"/>
              </a:lnSpc>
            </a:pPr>
            <a:r>
              <a:rPr lang="en-US" altLang="zh-TW" dirty="0"/>
              <a:t>By associating </a:t>
            </a:r>
            <a:r>
              <a:rPr lang="en-US" altLang="zh-TW" b="1" dirty="0">
                <a:solidFill>
                  <a:srgbClr val="0000FF"/>
                </a:solidFill>
              </a:rPr>
              <a:t>more protection bit</a:t>
            </a:r>
            <a:r>
              <a:rPr lang="en-US" altLang="zh-TW" dirty="0"/>
              <a:t> with each </a:t>
            </a:r>
            <a:r>
              <a:rPr lang="en-US" altLang="zh-TW" dirty="0" smtClean="0"/>
              <a:t>PTE</a:t>
            </a:r>
            <a:endParaRPr lang="en-US" altLang="zh-TW" dirty="0"/>
          </a:p>
          <a:p>
            <a:pPr>
              <a:lnSpc>
                <a:spcPct val="120000"/>
              </a:lnSpc>
            </a:pPr>
            <a:endParaRPr lang="en-US" altLang="zh-TW" dirty="0" smtClean="0"/>
          </a:p>
          <a:p>
            <a:pPr>
              <a:lnSpc>
                <a:spcPct val="120000"/>
              </a:lnSpc>
            </a:pPr>
            <a:r>
              <a:rPr lang="en-US" altLang="zh-TW" dirty="0" smtClean="0"/>
              <a:t>Protection </a:t>
            </a:r>
            <a:r>
              <a:rPr lang="en-US" altLang="zh-TW" dirty="0"/>
              <a:t>bits: </a:t>
            </a:r>
          </a:p>
          <a:p>
            <a:pPr lvl="1">
              <a:lnSpc>
                <a:spcPct val="120000"/>
              </a:lnSpc>
            </a:pPr>
            <a:r>
              <a:rPr lang="en-US" altLang="zh-TW" dirty="0"/>
              <a:t>Valid-invalid</a:t>
            </a:r>
          </a:p>
          <a:p>
            <a:pPr lvl="1">
              <a:lnSpc>
                <a:spcPct val="120000"/>
              </a:lnSpc>
            </a:pPr>
            <a:r>
              <a:rPr lang="en-US" altLang="zh-TW" b="1" dirty="0">
                <a:solidFill>
                  <a:srgbClr val="0000FF"/>
                </a:solidFill>
              </a:rPr>
              <a:t>Read-write, read-only, or execute-only </a:t>
            </a:r>
          </a:p>
          <a:p>
            <a:pPr>
              <a:lnSpc>
                <a:spcPct val="120000"/>
              </a:lnSpc>
            </a:pP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351035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 dirty="0">
                <a:solidFill>
                  <a:srgbClr val="000000"/>
                </a:solidFill>
              </a:rPr>
              <a:t>More Protection Bits in the Page Table Entries</a:t>
            </a:r>
            <a:endParaRPr lang="en-US" altLang="zh-TW" sz="4800" dirty="0"/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2" cstate="print"/>
          <a:srcRect l="10391" t="623" r="10611" b="951"/>
          <a:stretch>
            <a:fillRect/>
          </a:stretch>
        </p:blipFill>
        <p:spPr bwMode="auto">
          <a:xfrm>
            <a:off x="1775520" y="1484784"/>
            <a:ext cx="9289032" cy="4824536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3" name="矩形 2"/>
          <p:cNvSpPr/>
          <p:nvPr/>
        </p:nvSpPr>
        <p:spPr>
          <a:xfrm>
            <a:off x="6239544" y="2548530"/>
            <a:ext cx="238322" cy="26184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6241300" y="2800217"/>
            <a:ext cx="238322" cy="26184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239544" y="3032266"/>
            <a:ext cx="238322" cy="26184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6227628" y="3283953"/>
            <a:ext cx="262154" cy="26184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圓角矩形 11"/>
          <p:cNvSpPr/>
          <p:nvPr/>
        </p:nvSpPr>
        <p:spPr>
          <a:xfrm>
            <a:off x="5321461" y="2458364"/>
            <a:ext cx="1584176" cy="167266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539692"/>
              </p:ext>
            </p:extLst>
          </p:nvPr>
        </p:nvGraphicFramePr>
        <p:xfrm>
          <a:off x="5231904" y="2232467"/>
          <a:ext cx="2016223" cy="1747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9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454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v</a:t>
                      </a:r>
                      <a:endParaRPr lang="zh-TW" altLang="en-US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r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461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1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4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v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w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461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2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3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v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err="1" smtClean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rw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461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3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7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latin typeface="Calibri" panose="020F0502020204030204" pitchFamily="34" charset="0"/>
                        </a:rPr>
                        <a:t>v</a:t>
                      </a:r>
                      <a:endParaRPr lang="zh-TW" altLang="en-US" b="1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</a:rPr>
                        <a:t>r</a:t>
                      </a:r>
                      <a:endParaRPr lang="zh-TW" altLang="en-US" b="1" dirty="0">
                        <a:solidFill>
                          <a:srgbClr val="FF0000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6753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zh-TW" dirty="0" smtClean="0"/>
              <a:t>Background</a:t>
            </a:r>
          </a:p>
          <a:p>
            <a:pPr eaLnBrk="1" hangingPunct="1"/>
            <a:r>
              <a:rPr lang="en-US" altLang="zh-TW" dirty="0" smtClean="0"/>
              <a:t>Contiguous Memory Allocation</a:t>
            </a:r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Paging</a:t>
            </a:r>
          </a:p>
          <a:p>
            <a:pPr lvl="1" eaLnBrk="1" hangingPunct="1"/>
            <a:r>
              <a:rPr lang="en-US" altLang="zh-TW" dirty="0" smtClean="0"/>
              <a:t>Basic Method</a:t>
            </a:r>
          </a:p>
          <a:p>
            <a:pPr lvl="1" eaLnBrk="1" hangingPunct="1"/>
            <a:r>
              <a:rPr lang="en-US" altLang="zh-TW" dirty="0" smtClean="0"/>
              <a:t>Hardware Support</a:t>
            </a:r>
          </a:p>
          <a:p>
            <a:pPr lvl="1" eaLnBrk="1" hangingPunct="1"/>
            <a:r>
              <a:rPr lang="en-US" altLang="zh-TW" dirty="0" smtClean="0"/>
              <a:t>Protection</a:t>
            </a:r>
          </a:p>
          <a:p>
            <a:pPr lvl="1" eaLnBrk="1" hangingPunct="1"/>
            <a:r>
              <a:rPr lang="en-US" altLang="zh-TW" b="1" dirty="0" smtClean="0">
                <a:solidFill>
                  <a:srgbClr val="FF0000"/>
                </a:solidFill>
              </a:rPr>
              <a:t>Shared Pages</a:t>
            </a:r>
          </a:p>
          <a:p>
            <a:pPr eaLnBrk="1" hangingPunct="1"/>
            <a:r>
              <a:rPr lang="en-US" altLang="zh-TW" dirty="0" smtClean="0"/>
              <a:t>Structure of the Page Table</a:t>
            </a:r>
          </a:p>
          <a:p>
            <a:pPr eaLnBrk="1" hangingPunct="1"/>
            <a:r>
              <a:rPr lang="en-US" altLang="zh-TW" dirty="0" smtClean="0"/>
              <a:t>Swapping</a:t>
            </a:r>
          </a:p>
          <a:p>
            <a:pPr eaLnBrk="1" hangingPunct="1"/>
            <a:r>
              <a:rPr lang="en-US" altLang="zh-TW" dirty="0" smtClean="0"/>
              <a:t>Example: Intel 32 and 64-bit Architectures</a:t>
            </a:r>
          </a:p>
          <a:p>
            <a:pPr eaLnBrk="1" hangingPunct="1"/>
            <a:r>
              <a:rPr lang="en-US" altLang="zh-TW" dirty="0" smtClean="0"/>
              <a:t>Example: ARMv8 Architecture</a:t>
            </a:r>
          </a:p>
        </p:txBody>
      </p:sp>
    </p:spTree>
    <p:extLst>
      <p:ext uri="{BB962C8B-B14F-4D97-AF65-F5344CB8AC3E}">
        <p14:creationId xmlns:p14="http://schemas.microsoft.com/office/powerpoint/2010/main" val="1909948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Shared Pages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TW" dirty="0" smtClean="0"/>
              <a:t>One promising </a:t>
            </a:r>
            <a:r>
              <a:rPr lang="en-US" altLang="zh-TW" dirty="0"/>
              <a:t>advantage of paging is the </a:t>
            </a:r>
            <a:r>
              <a:rPr lang="en-US" altLang="zh-TW" dirty="0" smtClean="0"/>
              <a:t>support of </a:t>
            </a:r>
            <a:r>
              <a:rPr lang="en-US" altLang="zh-TW" b="1" dirty="0" smtClean="0">
                <a:solidFill>
                  <a:srgbClr val="FF0000"/>
                </a:solidFill>
              </a:rPr>
              <a:t>sharing</a:t>
            </a:r>
            <a:r>
              <a:rPr lang="en-US" altLang="zh-TW" dirty="0" smtClean="0"/>
              <a:t> </a:t>
            </a:r>
            <a:r>
              <a:rPr lang="en-US" altLang="zh-TW" dirty="0"/>
              <a:t>common </a:t>
            </a:r>
            <a:r>
              <a:rPr lang="en-US" altLang="zh-TW" dirty="0" smtClean="0"/>
              <a:t>code</a:t>
            </a:r>
          </a:p>
          <a:p>
            <a:pPr>
              <a:lnSpc>
                <a:spcPct val="110000"/>
              </a:lnSpc>
            </a:pPr>
            <a:endParaRPr lang="en-US" altLang="zh-TW" dirty="0" smtClean="0"/>
          </a:p>
          <a:p>
            <a:pPr>
              <a:lnSpc>
                <a:spcPct val="110000"/>
              </a:lnSpc>
            </a:pPr>
            <a:r>
              <a:rPr lang="en-US" altLang="zh-TW" dirty="0" smtClean="0"/>
              <a:t>Only </a:t>
            </a:r>
            <a:r>
              <a:rPr lang="en-US" altLang="zh-TW" dirty="0"/>
              <a:t>one copy of the shared code is kept in physical memory</a:t>
            </a:r>
          </a:p>
          <a:p>
            <a:pPr lvl="1">
              <a:lnSpc>
                <a:spcPct val="110000"/>
              </a:lnSpc>
            </a:pPr>
            <a:r>
              <a:rPr lang="en-US" altLang="zh-TW" dirty="0"/>
              <a:t>E.g., 40 users </a:t>
            </a:r>
            <a:r>
              <a:rPr lang="en-US" altLang="zh-TW" dirty="0" smtClean="0"/>
              <a:t>used </a:t>
            </a:r>
            <a:r>
              <a:rPr lang="en-US" altLang="zh-TW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libc</a:t>
            </a:r>
            <a:r>
              <a:rPr lang="en-US" altLang="zh-TW" dirty="0" smtClean="0"/>
              <a:t> at </a:t>
            </a:r>
            <a:r>
              <a:rPr lang="en-US" altLang="zh-TW" dirty="0"/>
              <a:t>the same </a:t>
            </a:r>
            <a:r>
              <a:rPr lang="en-US" altLang="zh-TW" dirty="0" smtClean="0"/>
              <a:t>time and </a:t>
            </a:r>
            <a:r>
              <a:rPr lang="en-US" altLang="zh-TW" sz="2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libc</a:t>
            </a:r>
            <a:r>
              <a:rPr lang="en-US" altLang="zh-TW" dirty="0" smtClean="0"/>
              <a:t> is 2MB</a:t>
            </a:r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By shared page, only 2 MB, instead of 80 MB, memory is required </a:t>
            </a:r>
          </a:p>
        </p:txBody>
      </p:sp>
    </p:spTree>
    <p:extLst>
      <p:ext uri="{BB962C8B-B14F-4D97-AF65-F5344CB8AC3E}">
        <p14:creationId xmlns:p14="http://schemas.microsoft.com/office/powerpoint/2010/main" val="1931012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3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 dirty="0"/>
              <a:t>Example: Sharing of Standard C Library in a Paging Environment (Cont.)</a:t>
            </a:r>
          </a:p>
        </p:txBody>
      </p:sp>
      <p:grpSp>
        <p:nvGrpSpPr>
          <p:cNvPr id="4" name="群組 3"/>
          <p:cNvGrpSpPr/>
          <p:nvPr/>
        </p:nvGrpSpPr>
        <p:grpSpPr>
          <a:xfrm>
            <a:off x="2207568" y="1412777"/>
            <a:ext cx="7560840" cy="5053159"/>
            <a:chOff x="2207568" y="1412777"/>
            <a:chExt cx="7560840" cy="5053159"/>
          </a:xfrm>
        </p:grpSpPr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7568" y="1412777"/>
              <a:ext cx="7560840" cy="5053159"/>
            </a:xfrm>
            <a:prstGeom prst="rect">
              <a:avLst/>
            </a:prstGeom>
          </p:spPr>
        </p:pic>
        <p:sp>
          <p:nvSpPr>
            <p:cNvPr id="2" name="矩形 1"/>
            <p:cNvSpPr/>
            <p:nvPr/>
          </p:nvSpPr>
          <p:spPr>
            <a:xfrm>
              <a:off x="3719736" y="1700808"/>
              <a:ext cx="1008112" cy="15121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6600056" y="2996952"/>
              <a:ext cx="1008112" cy="1872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719736" y="4293096"/>
              <a:ext cx="1008112" cy="18722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在</a:t>
            </a:r>
            <a:r>
              <a:rPr lang="zh-TW" altLang="en-US" dirty="0"/>
              <a:t>上</a:t>
            </a:r>
            <a:r>
              <a:rPr lang="zh-TW" altLang="en-US" dirty="0" smtClean="0"/>
              <a:t>圖</a:t>
            </a:r>
            <a:r>
              <a:rPr lang="en-US" altLang="zh-TW" dirty="0" smtClean="0"/>
              <a:t>, P1, P2, P3</a:t>
            </a:r>
            <a:r>
              <a:rPr lang="zh-TW" altLang="en-US" dirty="0" smtClean="0"/>
              <a:t>都有使用</a:t>
            </a:r>
            <a:r>
              <a:rPr lang="en-US" altLang="zh-TW" dirty="0" smtClean="0"/>
              <a:t>C library, </a:t>
            </a:r>
            <a:r>
              <a:rPr lang="zh-TW" altLang="en-US" dirty="0" smtClean="0"/>
              <a:t>如何讓</a:t>
            </a:r>
            <a:r>
              <a:rPr lang="en-US" altLang="zh-TW" dirty="0" smtClean="0"/>
              <a:t>P1, P2, P3</a:t>
            </a:r>
            <a:r>
              <a:rPr lang="zh-TW" altLang="en-US" dirty="0" smtClean="0"/>
              <a:t>共享</a:t>
            </a:r>
            <a:r>
              <a:rPr lang="en-US" altLang="zh-TW" dirty="0" smtClean="0"/>
              <a:t>frame 1, 3, 4, 6</a:t>
            </a:r>
            <a:r>
              <a:rPr lang="zh-TW" altLang="en-US" dirty="0" smtClean="0"/>
              <a:t>呢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en-US" altLang="zh-TW" dirty="0" err="1" smtClean="0"/>
              <a:t>Ans</a:t>
            </a:r>
            <a:r>
              <a:rPr lang="en-US" altLang="zh-TW" dirty="0" smtClean="0"/>
              <a:t>: see the following slide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8336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3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 dirty="0"/>
              <a:t>Example: Sharing of Standard C Library in a Paging Environment (Cont.)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1340768"/>
            <a:ext cx="9649072" cy="505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523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Shared Pages</a:t>
            </a:r>
            <a:r>
              <a:rPr lang="en-US" altLang="zh-TW" dirty="0" smtClean="0">
                <a:effectLst/>
              </a:rPr>
              <a:t> (Cont.)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dirty="0" smtClean="0"/>
              <a:t>In fact</a:t>
            </a:r>
            <a:r>
              <a:rPr lang="zh-TW" altLang="en-US" sz="3600" dirty="0" smtClean="0"/>
              <a:t> </a:t>
            </a:r>
            <a:r>
              <a:rPr lang="en-US" altLang="zh-TW" sz="2800" dirty="0" smtClean="0"/>
              <a:t>(see the following two slides)</a:t>
            </a:r>
            <a:r>
              <a:rPr lang="en-US" altLang="zh-TW" sz="3600" dirty="0" smtClean="0"/>
              <a:t>, </a:t>
            </a:r>
          </a:p>
          <a:p>
            <a:pPr lvl="1" eaLnBrk="1" hangingPunct="1"/>
            <a:r>
              <a:rPr lang="en-US" altLang="zh-TW" sz="3200" b="1" dirty="0" smtClean="0"/>
              <a:t>Shared </a:t>
            </a:r>
            <a:r>
              <a:rPr lang="en-US" altLang="zh-TW" sz="3200" b="1" dirty="0"/>
              <a:t>libraries ((dynamically </a:t>
            </a:r>
            <a:r>
              <a:rPr lang="en-US" altLang="zh-TW" sz="3200" b="1" dirty="0" smtClean="0"/>
              <a:t>linked library) </a:t>
            </a:r>
            <a:r>
              <a:rPr lang="en-US" altLang="zh-TW" sz="3200" dirty="0" smtClean="0"/>
              <a:t>are </a:t>
            </a:r>
            <a:r>
              <a:rPr lang="en-US" altLang="zh-TW" sz="3200" dirty="0"/>
              <a:t>typically implemented </a:t>
            </a:r>
            <a:r>
              <a:rPr lang="en-US" altLang="zh-TW" sz="3200" dirty="0" smtClean="0"/>
              <a:t>with shared </a:t>
            </a:r>
            <a:r>
              <a:rPr lang="en-US" altLang="zh-TW" sz="3200" dirty="0"/>
              <a:t>pages to be </a:t>
            </a:r>
            <a:r>
              <a:rPr lang="en-US" altLang="zh-TW" sz="3200" dirty="0" smtClean="0"/>
              <a:t>shared </a:t>
            </a:r>
            <a:r>
              <a:rPr lang="en-US" altLang="zh-TW" sz="3200" dirty="0"/>
              <a:t>by several processes </a:t>
            </a:r>
            <a:endParaRPr lang="en-US" altLang="zh-TW" sz="3200" dirty="0" smtClean="0"/>
          </a:p>
          <a:p>
            <a:pPr lvl="1" eaLnBrk="1" hangingPunct="1"/>
            <a:endParaRPr lang="en-US" altLang="zh-TW" sz="3200" b="1" dirty="0" smtClean="0"/>
          </a:p>
          <a:p>
            <a:pPr lvl="1" eaLnBrk="1" hangingPunct="1"/>
            <a:r>
              <a:rPr lang="en-US" altLang="zh-TW" sz="3200" b="1" dirty="0" smtClean="0"/>
              <a:t>IPC shared </a:t>
            </a:r>
            <a:r>
              <a:rPr lang="en-US" altLang="zh-TW" sz="3200" b="1" dirty="0"/>
              <a:t>memory </a:t>
            </a:r>
            <a:r>
              <a:rPr lang="en-US" altLang="zh-TW" sz="3200" dirty="0"/>
              <a:t>is implemented in the same </a:t>
            </a:r>
            <a:r>
              <a:rPr lang="en-US" altLang="zh-TW" sz="3200" dirty="0" smtClean="0"/>
              <a:t>way</a:t>
            </a:r>
            <a:endParaRPr lang="en-US" altLang="zh-TW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複習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Dynamic </a:t>
            </a:r>
            <a:r>
              <a:rPr lang="en-US" altLang="zh-TW" dirty="0"/>
              <a:t>Linking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TW" dirty="0" smtClean="0"/>
              <a:t>Advantages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dirty="0" smtClean="0"/>
              <a:t>Reduce </a:t>
            </a:r>
            <a:r>
              <a:rPr lang="en-US" altLang="zh-TW" dirty="0"/>
              <a:t>the size of </a:t>
            </a:r>
            <a:r>
              <a:rPr lang="en-US" altLang="zh-TW" dirty="0" smtClean="0"/>
              <a:t>an executable </a:t>
            </a:r>
            <a:r>
              <a:rPr lang="en-US" altLang="zh-TW" dirty="0"/>
              <a:t>image </a:t>
            </a:r>
            <a:r>
              <a:rPr lang="en-US" altLang="zh-TW" dirty="0" smtClean="0"/>
              <a:t>and used memory size.</a:t>
            </a:r>
            <a:endParaRPr lang="en-US" altLang="zh-TW" dirty="0"/>
          </a:p>
          <a:p>
            <a:pPr lvl="1" eaLnBrk="1" hangingPunct="1">
              <a:lnSpc>
                <a:spcPct val="120000"/>
              </a:lnSpc>
            </a:pPr>
            <a:r>
              <a:rPr lang="en-US" altLang="zh-TW" dirty="0" smtClean="0"/>
              <a:t>Particularly </a:t>
            </a:r>
            <a:r>
              <a:rPr lang="en-US" altLang="zh-TW" dirty="0"/>
              <a:t>useful for </a:t>
            </a:r>
            <a:r>
              <a:rPr lang="en-US" altLang="zh-TW" b="1" dirty="0"/>
              <a:t>libraries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zh-TW" dirty="0" smtClean="0"/>
              <a:t>Libraries </a:t>
            </a:r>
            <a:r>
              <a:rPr lang="en-US" altLang="zh-TW" dirty="0"/>
              <a:t>can be </a:t>
            </a:r>
            <a:r>
              <a:rPr lang="en-US" altLang="zh-TW" b="1" dirty="0"/>
              <a:t>shared</a:t>
            </a:r>
            <a:r>
              <a:rPr lang="en-US" altLang="zh-TW" dirty="0"/>
              <a:t> among multiple </a:t>
            </a:r>
            <a:r>
              <a:rPr lang="en-US" altLang="zh-TW" dirty="0" smtClean="0"/>
              <a:t>processes</a:t>
            </a:r>
          </a:p>
          <a:p>
            <a:pPr lvl="3" eaLnBrk="1" hangingPunct="1">
              <a:lnSpc>
                <a:spcPct val="120000"/>
              </a:lnSpc>
            </a:pPr>
            <a:r>
              <a:rPr lang="en-US" altLang="zh-TW" sz="2200" dirty="0"/>
              <a:t>Only one instance is needed</a:t>
            </a:r>
          </a:p>
          <a:p>
            <a:pPr lvl="3" eaLnBrk="1" hangingPunct="1">
              <a:lnSpc>
                <a:spcPct val="120000"/>
              </a:lnSpc>
            </a:pPr>
            <a:r>
              <a:rPr lang="en-US" altLang="zh-TW" sz="2200" dirty="0"/>
              <a:t>Needs to be loaded in main memory </a:t>
            </a:r>
            <a:r>
              <a:rPr lang="en-US" altLang="zh-TW" sz="2200" b="1" dirty="0">
                <a:solidFill>
                  <a:srgbClr val="FF3300"/>
                </a:solidFill>
              </a:rPr>
              <a:t>only once</a:t>
            </a:r>
          </a:p>
          <a:p>
            <a:pPr eaLnBrk="1" hangingPunct="1">
              <a:lnSpc>
                <a:spcPct val="120000"/>
              </a:lnSpc>
            </a:pPr>
            <a:endParaRPr lang="en-US" altLang="zh-TW" dirty="0" smtClean="0"/>
          </a:p>
          <a:p>
            <a:pPr eaLnBrk="1" hangingPunct="1">
              <a:lnSpc>
                <a:spcPct val="120000"/>
              </a:lnSpc>
            </a:pPr>
            <a:r>
              <a:rPr lang="en-US" altLang="zh-TW" dirty="0" smtClean="0"/>
              <a:t>Such libraries are called </a:t>
            </a:r>
            <a:r>
              <a:rPr lang="en-US" altLang="zh-TW" b="1" dirty="0" smtClean="0">
                <a:solidFill>
                  <a:srgbClr val="FF3300"/>
                </a:solidFill>
              </a:rPr>
              <a:t>dynamically linked library (DLLs) </a:t>
            </a:r>
            <a:r>
              <a:rPr lang="en-US" altLang="zh-TW" dirty="0" smtClean="0"/>
              <a:t>or </a:t>
            </a:r>
            <a:r>
              <a:rPr lang="en-US" altLang="zh-TW" b="1" dirty="0" smtClean="0">
                <a:solidFill>
                  <a:srgbClr val="FF3300"/>
                </a:solidFill>
              </a:rPr>
              <a:t>shared library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dirty="0"/>
              <a:t>Windows: </a:t>
            </a:r>
            <a:r>
              <a:rPr lang="en-US" altLang="zh-TW" dirty="0" smtClean="0"/>
              <a:t>.</a:t>
            </a:r>
            <a:r>
              <a:rPr lang="en-US" altLang="zh-TW" dirty="0"/>
              <a:t>DLL file</a:t>
            </a:r>
            <a:r>
              <a:rPr lang="fr-CA" altLang="zh-TW" dirty="0"/>
              <a:t>s</a:t>
            </a:r>
            <a:endParaRPr lang="en-US" altLang="zh-TW" dirty="0"/>
          </a:p>
          <a:p>
            <a:pPr lvl="1" eaLnBrk="1" hangingPunct="1">
              <a:lnSpc>
                <a:spcPct val="120000"/>
              </a:lnSpc>
            </a:pPr>
            <a:r>
              <a:rPr lang="en-US" altLang="zh-TW" dirty="0"/>
              <a:t>Unix: </a:t>
            </a:r>
            <a:r>
              <a:rPr lang="en-US" altLang="zh-TW" dirty="0" smtClean="0"/>
              <a:t>.</a:t>
            </a:r>
            <a:r>
              <a:rPr lang="en-US" altLang="zh-TW" dirty="0"/>
              <a:t>so file</a:t>
            </a:r>
            <a:r>
              <a:rPr lang="fr-CA" altLang="zh-TW" dirty="0"/>
              <a:t>s</a:t>
            </a:r>
            <a:r>
              <a:rPr lang="en-US" altLang="zh-TW" dirty="0"/>
              <a:t> (shared library</a:t>
            </a:r>
            <a:r>
              <a:rPr lang="en-US" altLang="zh-TW" dirty="0" smtClean="0"/>
              <a:t>)</a:t>
            </a:r>
          </a:p>
          <a:p>
            <a:pPr lvl="1" eaLnBrk="1" hangingPunct="1">
              <a:lnSpc>
                <a:spcPct val="120000"/>
              </a:lnSpc>
            </a:pPr>
            <a:endParaRPr lang="en-US" altLang="zh-TW" b="1" dirty="0" smtClean="0">
              <a:solidFill>
                <a:srgbClr val="FF3300"/>
              </a:solidFill>
            </a:endParaRPr>
          </a:p>
          <a:p>
            <a:pPr>
              <a:lnSpc>
                <a:spcPct val="120000"/>
              </a:lnSpc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45736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dirty="0"/>
              <a:t>複習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 smtClean="0"/>
              <a:t>IPC </a:t>
            </a:r>
            <a:r>
              <a:rPr lang="en-US" altLang="zh-TW" dirty="0"/>
              <a:t>Models </a:t>
            </a: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3935760" y="5983504"/>
            <a:ext cx="48641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dirty="0"/>
              <a:t>(a) Message passing. (b) Shared memory</a:t>
            </a:r>
          </a:p>
        </p:txBody>
      </p:sp>
      <p:pic>
        <p:nvPicPr>
          <p:cNvPr id="5" name="Picture 1" descr="3_12.pd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87488" y="1512168"/>
            <a:ext cx="9145016" cy="436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1B0A2B1-AD20-4166-B6D5-5B145BA60316}" type="slidenum">
              <a:rPr lang="en-US" altLang="zh-TW" smtClean="0"/>
              <a:pPr>
                <a:defRPr/>
              </a:pPr>
              <a:t>181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75692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 smtClean="0"/>
              <a:t>Background</a:t>
            </a:r>
          </a:p>
          <a:p>
            <a:pPr eaLnBrk="1" hangingPunct="1"/>
            <a:r>
              <a:rPr lang="en-US" altLang="zh-TW" dirty="0" smtClean="0"/>
              <a:t>Contiguous Memory Allocation</a:t>
            </a:r>
          </a:p>
          <a:p>
            <a:pPr eaLnBrk="1" hangingPunct="1"/>
            <a:r>
              <a:rPr lang="en-US" altLang="zh-TW" dirty="0" smtClean="0"/>
              <a:t>Paging</a:t>
            </a:r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Structure of the Page Table</a:t>
            </a:r>
          </a:p>
          <a:p>
            <a:pPr eaLnBrk="1" hangingPunct="1"/>
            <a:r>
              <a:rPr lang="en-US" altLang="zh-TW" dirty="0" smtClean="0"/>
              <a:t>Swapping</a:t>
            </a:r>
          </a:p>
          <a:p>
            <a:pPr eaLnBrk="1" hangingPunct="1"/>
            <a:r>
              <a:rPr lang="en-US" altLang="zh-TW" dirty="0" smtClean="0"/>
              <a:t>Example: Intel 32 and 64-bit Architectures</a:t>
            </a:r>
          </a:p>
          <a:p>
            <a:pPr eaLnBrk="1" hangingPunct="1"/>
            <a:r>
              <a:rPr lang="en-US" altLang="zh-TW" dirty="0" smtClean="0"/>
              <a:t>Example: ARMv8 Architecture</a:t>
            </a:r>
          </a:p>
        </p:txBody>
      </p:sp>
    </p:spTree>
    <p:extLst>
      <p:ext uri="{BB962C8B-B14F-4D97-AF65-F5344CB8AC3E}">
        <p14:creationId xmlns:p14="http://schemas.microsoft.com/office/powerpoint/2010/main" val="541741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Motivations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xfrm>
            <a:off x="624417" y="1484312"/>
            <a:ext cx="10972800" cy="4241161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3000" dirty="0"/>
              <a:t>Modern computer supports a large logical address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dirty="0"/>
              <a:t>2</a:t>
            </a:r>
            <a:r>
              <a:rPr lang="en-US" altLang="zh-TW" sz="2600" baseline="30000" dirty="0"/>
              <a:t>32</a:t>
            </a:r>
            <a:r>
              <a:rPr lang="en-US" altLang="zh-TW" sz="2600" dirty="0"/>
              <a:t> – 2</a:t>
            </a:r>
            <a:r>
              <a:rPr lang="en-US" altLang="zh-TW" sz="2600" baseline="30000" dirty="0"/>
              <a:t>64</a:t>
            </a:r>
            <a:endParaRPr lang="en-US" altLang="zh-TW" sz="26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dirty="0"/>
              <a:t>The page table becomes excessively large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3000" dirty="0"/>
              <a:t>Example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dirty="0"/>
              <a:t>32-bit logical address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dirty="0"/>
              <a:t>Page size = 4KB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dirty="0"/>
              <a:t>Page table consists of 1 million entries (2^20)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600" dirty="0"/>
              <a:t>Assume each entry is 4 bytes, page table needs </a:t>
            </a:r>
            <a:r>
              <a:rPr lang="en-US" altLang="zh-TW" sz="2600" b="1" dirty="0">
                <a:solidFill>
                  <a:srgbClr val="FF3300"/>
                </a:solidFill>
              </a:rPr>
              <a:t>4MB</a:t>
            </a:r>
            <a:r>
              <a:rPr lang="en-US" altLang="zh-TW" sz="2600" dirty="0"/>
              <a:t> </a:t>
            </a:r>
            <a:r>
              <a:rPr lang="en-US" altLang="zh-TW" sz="2600" b="1" dirty="0">
                <a:solidFill>
                  <a:srgbClr val="FF3300"/>
                </a:solidFill>
              </a:rPr>
              <a:t>physical memory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200" dirty="0"/>
              <a:t>We need to search a </a:t>
            </a:r>
            <a:r>
              <a:rPr lang="en-US" altLang="zh-TW" sz="2200" b="1" dirty="0"/>
              <a:t>continuous</a:t>
            </a:r>
            <a:r>
              <a:rPr lang="en-US" altLang="zh-TW" sz="2200" dirty="0"/>
              <a:t> physical memory of 4MB (1024 frames)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200" dirty="0"/>
              <a:t>Face the same problem of </a:t>
            </a:r>
            <a:r>
              <a:rPr lang="en-US" altLang="zh-TW" sz="2200" b="1" dirty="0">
                <a:solidFill>
                  <a:srgbClr val="FF3300"/>
                </a:solidFill>
              </a:rPr>
              <a:t>contiguous memory allocation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Q: </a:t>
            </a:r>
            <a:r>
              <a:rPr lang="zh-TW" altLang="en-US" dirty="0" smtClean="0"/>
              <a:t>怎麼辦呢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0335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Motivations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Solutions</a:t>
            </a:r>
          </a:p>
          <a:p>
            <a:pPr lvl="1"/>
            <a:r>
              <a:rPr lang="en-US" altLang="zh-TW" dirty="0"/>
              <a:t>Hierarchical Paging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Hashed </a:t>
            </a:r>
            <a:r>
              <a:rPr lang="en-US" altLang="zh-TW" dirty="0"/>
              <a:t>Page Tables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Inverted </a:t>
            </a:r>
            <a:r>
              <a:rPr lang="en-US" altLang="zh-TW" dirty="0"/>
              <a:t>Page Tables</a:t>
            </a:r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0033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dirty="0" smtClean="0"/>
              <a:t>Background</a:t>
            </a:r>
          </a:p>
          <a:p>
            <a:pPr eaLnBrk="1" hangingPunct="1"/>
            <a:r>
              <a:rPr lang="en-US" altLang="zh-TW" dirty="0" smtClean="0"/>
              <a:t>Contiguous Memory Allocation</a:t>
            </a:r>
          </a:p>
          <a:p>
            <a:pPr eaLnBrk="1" hangingPunct="1"/>
            <a:r>
              <a:rPr lang="en-US" altLang="zh-TW" dirty="0" smtClean="0"/>
              <a:t>Paging</a:t>
            </a:r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Structure of the Page Table</a:t>
            </a:r>
          </a:p>
          <a:p>
            <a:pPr lvl="1" eaLnBrk="1" hangingPunct="1"/>
            <a:r>
              <a:rPr lang="en-US" altLang="zh-TW" b="1" dirty="0">
                <a:solidFill>
                  <a:srgbClr val="FF3300"/>
                </a:solidFill>
              </a:rPr>
              <a:t>Hierarchical Page Tables</a:t>
            </a:r>
          </a:p>
          <a:p>
            <a:pPr lvl="1" eaLnBrk="1" hangingPunct="1"/>
            <a:r>
              <a:rPr lang="en-US" altLang="zh-TW" dirty="0"/>
              <a:t>Hashed Page Tables</a:t>
            </a:r>
          </a:p>
          <a:p>
            <a:pPr lvl="1" eaLnBrk="1" hangingPunct="1"/>
            <a:r>
              <a:rPr lang="en-US" altLang="zh-TW" dirty="0"/>
              <a:t>Inverted Page </a:t>
            </a:r>
            <a:r>
              <a:rPr lang="en-US" altLang="zh-TW" dirty="0" smtClean="0"/>
              <a:t>Tables</a:t>
            </a:r>
            <a:endParaRPr lang="en-US" altLang="zh-TW" b="1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TW" dirty="0" smtClean="0"/>
              <a:t>Swapping</a:t>
            </a:r>
          </a:p>
          <a:p>
            <a:pPr eaLnBrk="1" hangingPunct="1"/>
            <a:r>
              <a:rPr lang="en-US" altLang="zh-TW" dirty="0" smtClean="0"/>
              <a:t>Example: Intel 32 and 64-bit Architectures</a:t>
            </a:r>
          </a:p>
          <a:p>
            <a:pPr eaLnBrk="1" hangingPunct="1"/>
            <a:r>
              <a:rPr lang="en-US" altLang="zh-TW" dirty="0" smtClean="0"/>
              <a:t>Example: ARMv8 Architecture</a:t>
            </a:r>
          </a:p>
        </p:txBody>
      </p:sp>
    </p:spTree>
    <p:extLst>
      <p:ext uri="{BB962C8B-B14F-4D97-AF65-F5344CB8AC3E}">
        <p14:creationId xmlns:p14="http://schemas.microsoft.com/office/powerpoint/2010/main" val="3999912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Hierarchical Page </a:t>
            </a:r>
            <a:r>
              <a:rPr lang="en-US" altLang="zh-TW" dirty="0" smtClean="0"/>
              <a:t>Tables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dirty="0"/>
              <a:t>Idea.: </a:t>
            </a:r>
            <a:r>
              <a:rPr lang="en-US" altLang="zh-TW" b="1" dirty="0" smtClean="0">
                <a:solidFill>
                  <a:srgbClr val="FF3300"/>
                </a:solidFill>
              </a:rPr>
              <a:t>divide </a:t>
            </a:r>
            <a:r>
              <a:rPr lang="en-US" altLang="zh-TW" b="1" dirty="0">
                <a:solidFill>
                  <a:srgbClr val="FF3300"/>
                </a:solidFill>
              </a:rPr>
              <a:t>the page table into smaller pieces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Page table becomes </a:t>
            </a:r>
            <a:r>
              <a:rPr lang="en-US" altLang="zh-TW" dirty="0">
                <a:solidFill>
                  <a:srgbClr val="FF3300"/>
                </a:solidFill>
              </a:rPr>
              <a:t>non-contiguous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dirty="0" smtClean="0"/>
              <a:t>Ex.: two-level </a:t>
            </a:r>
            <a:r>
              <a:rPr lang="en-US" altLang="zh-TW" dirty="0"/>
              <a:t>page table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dirty="0"/>
              <a:t>Page table itself is also </a:t>
            </a:r>
            <a:r>
              <a:rPr lang="en-US" altLang="zh-TW" dirty="0" smtClean="0"/>
              <a:t>paged</a:t>
            </a:r>
          </a:p>
          <a:p>
            <a:pPr lvl="1" eaLnBrk="1" hangingPunct="1">
              <a:lnSpc>
                <a:spcPct val="90000"/>
              </a:lnSpc>
            </a:pPr>
            <a:endParaRPr lang="en-US" altLang="zh-TW" dirty="0"/>
          </a:p>
          <a:p>
            <a:pPr lvl="1" eaLnBrk="1" hangingPunct="1">
              <a:lnSpc>
                <a:spcPct val="90000"/>
              </a:lnSpc>
            </a:pPr>
            <a:endParaRPr lang="en-US" altLang="zh-TW" dirty="0"/>
          </a:p>
          <a:p>
            <a:endParaRPr lang="zh-TW" altLang="en-US" sz="3600" dirty="0"/>
          </a:p>
        </p:txBody>
      </p:sp>
      <p:pic>
        <p:nvPicPr>
          <p:cNvPr id="4" name="Picture 4" descr="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032" y="2760246"/>
            <a:ext cx="5086416" cy="400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群組 17"/>
          <p:cNvGrpSpPr/>
          <p:nvPr/>
        </p:nvGrpSpPr>
        <p:grpSpPr>
          <a:xfrm>
            <a:off x="8989938" y="2239348"/>
            <a:ext cx="1728192" cy="3133868"/>
            <a:chOff x="7465938" y="2239348"/>
            <a:chExt cx="1728192" cy="3133868"/>
          </a:xfrm>
        </p:grpSpPr>
        <p:sp>
          <p:nvSpPr>
            <p:cNvPr id="7" name="圓角矩形 6"/>
            <p:cNvSpPr/>
            <p:nvPr/>
          </p:nvSpPr>
          <p:spPr>
            <a:xfrm>
              <a:off x="7465938" y="2239348"/>
              <a:ext cx="1728192" cy="42264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b="1" dirty="0">
                  <a:solidFill>
                    <a:srgbClr val="FF0000"/>
                  </a:solidFill>
                  <a:latin typeface="Calibri" panose="020F0502020204030204" pitchFamily="34" charset="0"/>
                  <a:ea typeface="標楷體" panose="03000509000000000000" pitchFamily="65" charset="-120"/>
                </a:rPr>
                <a:t>Page table</a:t>
              </a:r>
              <a:r>
                <a:rPr lang="zh-TW" altLang="en-US" sz="1600" b="1" dirty="0">
                  <a:solidFill>
                    <a:srgbClr val="FF0000"/>
                  </a:solidFill>
                  <a:latin typeface="Calibri" panose="020F0502020204030204" pitchFamily="34" charset="0"/>
                  <a:ea typeface="標楷體" panose="03000509000000000000" pitchFamily="65" charset="-120"/>
                </a:rPr>
                <a:t>不連續</a:t>
              </a:r>
            </a:p>
          </p:txBody>
        </p:sp>
        <p:cxnSp>
          <p:nvCxnSpPr>
            <p:cNvPr id="9" name="直線單箭頭接點 8"/>
            <p:cNvCxnSpPr/>
            <p:nvPr/>
          </p:nvCxnSpPr>
          <p:spPr>
            <a:xfrm flipH="1">
              <a:off x="7524328" y="2661995"/>
              <a:ext cx="576064" cy="694997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線單箭頭接點 9"/>
            <p:cNvCxnSpPr/>
            <p:nvPr/>
          </p:nvCxnSpPr>
          <p:spPr>
            <a:xfrm flipH="1">
              <a:off x="7524328" y="2661995"/>
              <a:ext cx="576064" cy="1675457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線單箭頭接點 12"/>
            <p:cNvCxnSpPr/>
            <p:nvPr/>
          </p:nvCxnSpPr>
          <p:spPr>
            <a:xfrm flipH="1">
              <a:off x="7524328" y="2661995"/>
              <a:ext cx="576064" cy="2711221"/>
            </a:xfrm>
            <a:prstGeom prst="straightConnector1">
              <a:avLst/>
            </a:prstGeom>
            <a:ln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圓角矩形圖說文字 16"/>
          <p:cNvSpPr/>
          <p:nvPr/>
        </p:nvSpPr>
        <p:spPr>
          <a:xfrm>
            <a:off x="4367808" y="5805264"/>
            <a:ext cx="2210544" cy="612648"/>
          </a:xfrm>
          <a:prstGeom prst="wedgeRoundRectCallout">
            <a:avLst>
              <a:gd name="adj1" fmla="val 44754"/>
              <a:gd name="adj2" fmla="val -11346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800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所以需要再新增一個外部的</a:t>
            </a:r>
            <a:r>
              <a:rPr lang="en-US" altLang="zh-TW" sz="1800" dirty="0">
                <a:solidFill>
                  <a:srgbClr val="FF0000"/>
                </a:solidFill>
                <a:latin typeface="Calibri" panose="020F0502020204030204" pitchFamily="34" charset="0"/>
                <a:ea typeface="標楷體" panose="03000509000000000000" pitchFamily="65" charset="-120"/>
              </a:rPr>
              <a:t>page table</a:t>
            </a:r>
            <a:endParaRPr lang="zh-TW" altLang="en-US" sz="1800" dirty="0">
              <a:solidFill>
                <a:srgbClr val="FF0000"/>
              </a:solidFill>
              <a:latin typeface="Calibri" panose="020F0502020204030204" pitchFamily="34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2028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Two-Level Paging Scheme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624417" y="1484312"/>
            <a:ext cx="10972800" cy="537368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Assume on 32-bit machine with 4K page size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In one-level paging scheme: a logical address is divided into: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a </a:t>
            </a:r>
            <a:r>
              <a:rPr lang="en-US" altLang="zh-TW" sz="2400" b="1" dirty="0"/>
              <a:t>page number</a:t>
            </a:r>
            <a:r>
              <a:rPr lang="en-US" altLang="zh-TW" sz="2400" dirty="0"/>
              <a:t> consisting of 20 bits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a </a:t>
            </a:r>
            <a:r>
              <a:rPr lang="en-US" altLang="zh-TW" sz="2400" b="1" dirty="0"/>
              <a:t>page offset</a:t>
            </a:r>
            <a:r>
              <a:rPr lang="en-US" altLang="zh-TW" sz="2400" dirty="0"/>
              <a:t> consisting of 12 bits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/>
              <a:t>In two-level paging scheme: since the page table itself is paged, the </a:t>
            </a:r>
            <a:r>
              <a:rPr lang="en-US" altLang="zh-TW" sz="2800" b="1" i="1" dirty="0">
                <a:solidFill>
                  <a:srgbClr val="FF3300"/>
                </a:solidFill>
              </a:rPr>
              <a:t>page number</a:t>
            </a:r>
            <a:r>
              <a:rPr lang="en-US" altLang="zh-TW" sz="2800" dirty="0"/>
              <a:t> is further divided into: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a 10-bit </a:t>
            </a:r>
            <a:r>
              <a:rPr lang="en-US" altLang="zh-TW" sz="2400" b="1" i="1" dirty="0">
                <a:solidFill>
                  <a:srgbClr val="FF3300"/>
                </a:solidFill>
              </a:rPr>
              <a:t>P</a:t>
            </a:r>
            <a:r>
              <a:rPr lang="en-US" altLang="zh-TW" sz="2400" b="1" i="1" baseline="-25000" dirty="0">
                <a:solidFill>
                  <a:srgbClr val="FF3300"/>
                </a:solidFill>
              </a:rPr>
              <a:t>1</a:t>
            </a:r>
            <a:r>
              <a:rPr lang="en-US" altLang="zh-TW" sz="2400" dirty="0"/>
              <a:t>. </a:t>
            </a:r>
          </a:p>
          <a:p>
            <a:pPr lvl="2" eaLnBrk="1" hangingPunct="1">
              <a:lnSpc>
                <a:spcPct val="90000"/>
              </a:lnSpc>
            </a:pPr>
            <a:r>
              <a:rPr lang="zh-TW" altLang="en-US" sz="2000" dirty="0"/>
              <a:t>原</a:t>
            </a:r>
            <a:r>
              <a:rPr lang="en-US" altLang="zh-TW" sz="2000" dirty="0"/>
              <a:t>page table</a:t>
            </a:r>
            <a:r>
              <a:rPr lang="zh-TW" altLang="en-US" sz="2000" dirty="0"/>
              <a:t>可以切割為</a:t>
            </a:r>
            <a:r>
              <a:rPr lang="en-US" altLang="zh-TW" sz="2000" dirty="0"/>
              <a:t>2^10 pages</a:t>
            </a:r>
            <a:r>
              <a:rPr lang="zh-TW" altLang="en-US" sz="2000" dirty="0"/>
              <a:t>，所以需要</a:t>
            </a:r>
            <a:r>
              <a:rPr lang="en-US" altLang="zh-TW" sz="2000" dirty="0"/>
              <a:t>10</a:t>
            </a:r>
            <a:r>
              <a:rPr lang="zh-TW" altLang="en-US" sz="2000" dirty="0"/>
              <a:t>個 </a:t>
            </a:r>
            <a:r>
              <a:rPr lang="en-US" altLang="zh-TW" sz="2000" dirty="0"/>
              <a:t>bits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/>
              <a:t>(2^20 entries x 4 B/entry)/4KB/page) = 2^10 pages=&gt; P</a:t>
            </a:r>
            <a:r>
              <a:rPr lang="en-US" altLang="zh-TW" sz="2000" baseline="-25000" dirty="0"/>
              <a:t>1</a:t>
            </a:r>
            <a:r>
              <a:rPr lang="en-US" altLang="zh-TW" sz="2000" dirty="0"/>
              <a:t> = 10)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/>
              <a:t>a 10-bit </a:t>
            </a:r>
            <a:r>
              <a:rPr lang="en-US" altLang="zh-TW" sz="2400" b="1" i="1" dirty="0">
                <a:solidFill>
                  <a:srgbClr val="FF3300"/>
                </a:solidFill>
              </a:rPr>
              <a:t>P</a:t>
            </a:r>
            <a:r>
              <a:rPr lang="en-US" altLang="zh-TW" sz="2400" b="1" i="1" baseline="-25000" dirty="0">
                <a:solidFill>
                  <a:srgbClr val="FF3300"/>
                </a:solidFill>
              </a:rPr>
              <a:t>2</a:t>
            </a:r>
            <a:r>
              <a:rPr lang="en-US" altLang="zh-TW" sz="2400" dirty="0"/>
              <a:t>.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/>
              <a:t>20-10 = 10 or (4KB/page</a:t>
            </a:r>
            <a:r>
              <a:rPr lang="zh-TW" altLang="en-US" sz="2000" dirty="0"/>
              <a:t> </a:t>
            </a:r>
            <a:r>
              <a:rPr lang="en-US" altLang="zh-TW" sz="2000" dirty="0"/>
              <a:t>÷</a:t>
            </a:r>
            <a:r>
              <a:rPr lang="zh-TW" altLang="en-US" sz="2000" dirty="0"/>
              <a:t> </a:t>
            </a:r>
            <a:r>
              <a:rPr lang="en-US" altLang="zh-TW" sz="2000" dirty="0"/>
              <a:t>4 B/entry = 2^10 entries, so P</a:t>
            </a:r>
            <a:r>
              <a:rPr lang="en-US" altLang="zh-TW" sz="2000" baseline="-25000" dirty="0"/>
              <a:t>2</a:t>
            </a:r>
            <a:r>
              <a:rPr lang="en-US" altLang="zh-TW" sz="2000" dirty="0"/>
              <a:t> = 10-bit)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Two-Level Paging Scheme (Cont.)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Thus, a logical address is as follows:</a:t>
            </a:r>
          </a:p>
          <a:p>
            <a:pPr lvl="1" eaLnBrk="1" hangingPunct="1"/>
            <a:r>
              <a:rPr lang="en-US" altLang="zh-TW" i="1" dirty="0" smtClean="0"/>
              <a:t>p</a:t>
            </a:r>
            <a:r>
              <a:rPr lang="en-US" altLang="zh-TW" i="1" baseline="-25000" dirty="0" smtClean="0"/>
              <a:t>1</a:t>
            </a:r>
            <a:r>
              <a:rPr lang="en-US" altLang="zh-TW" dirty="0" smtClean="0"/>
              <a:t> is an index into the outer page table, </a:t>
            </a:r>
          </a:p>
          <a:p>
            <a:pPr lvl="1" eaLnBrk="1" hangingPunct="1"/>
            <a:r>
              <a:rPr lang="en-US" altLang="zh-TW" i="1" dirty="0" smtClean="0"/>
              <a:t>p</a:t>
            </a:r>
            <a:r>
              <a:rPr lang="en-US" altLang="zh-TW" i="1" baseline="-25000" dirty="0" smtClean="0"/>
              <a:t>2</a:t>
            </a:r>
            <a:r>
              <a:rPr lang="en-US" altLang="zh-TW" dirty="0" smtClean="0"/>
              <a:t> is the </a:t>
            </a:r>
            <a:r>
              <a:rPr lang="en-US" altLang="zh-TW" b="1" dirty="0" smtClean="0"/>
              <a:t>displacement</a:t>
            </a:r>
            <a:r>
              <a:rPr lang="en-US" altLang="zh-TW" dirty="0" smtClean="0"/>
              <a:t> within the </a:t>
            </a:r>
            <a:r>
              <a:rPr lang="en-US" altLang="zh-TW" b="1" i="1" dirty="0" smtClean="0">
                <a:solidFill>
                  <a:srgbClr val="FF3300"/>
                </a:solidFill>
              </a:rPr>
              <a:t>page</a:t>
            </a:r>
            <a:r>
              <a:rPr lang="en-US" altLang="zh-TW" dirty="0" smtClean="0"/>
              <a:t> of the outer page table.</a:t>
            </a:r>
          </a:p>
          <a:p>
            <a:pPr eaLnBrk="1" hangingPunct="1"/>
            <a:endParaRPr lang="en-US" altLang="zh-TW" dirty="0" smtClean="0"/>
          </a:p>
        </p:txBody>
      </p:sp>
      <p:pic>
        <p:nvPicPr>
          <p:cNvPr id="17" name="Picture 103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676" y="4221089"/>
            <a:ext cx="6389687" cy="2426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589" y="3430679"/>
            <a:ext cx="4886325" cy="819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Three-level Paging Scheme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dirty="0" smtClean="0"/>
              <a:t>In 64-bit computers, a </a:t>
            </a:r>
            <a:r>
              <a:rPr lang="en-US" altLang="zh-TW" sz="2800" dirty="0"/>
              <a:t>64-bit logical address with 4K page size: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chemeClr val="tx2"/>
                </a:solidFill>
              </a:rPr>
              <a:t>If two-level: </a:t>
            </a:r>
            <a:r>
              <a:rPr lang="en-US" altLang="zh-TW" sz="2400" i="1" dirty="0">
                <a:solidFill>
                  <a:schemeClr val="tx2"/>
                </a:solidFill>
              </a:rPr>
              <a:t>p</a:t>
            </a:r>
            <a:r>
              <a:rPr lang="en-US" altLang="zh-TW" sz="2400" i="1" baseline="-25000" dirty="0">
                <a:solidFill>
                  <a:schemeClr val="tx2"/>
                </a:solidFill>
              </a:rPr>
              <a:t>1</a:t>
            </a:r>
            <a:r>
              <a:rPr lang="en-US" altLang="zh-TW" sz="2400" dirty="0">
                <a:solidFill>
                  <a:schemeClr val="tx2"/>
                </a:solidFill>
              </a:rPr>
              <a:t> is 42 bits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schemeClr val="tx2"/>
                </a:solidFill>
              </a:rPr>
              <a:t># of outer PT entries = </a:t>
            </a:r>
            <a:r>
              <a:rPr lang="en-US" altLang="zh-TW" sz="2000" dirty="0"/>
              <a:t>2</a:t>
            </a:r>
            <a:r>
              <a:rPr lang="en-US" altLang="zh-TW" sz="2000" baseline="30000" dirty="0"/>
              <a:t>42</a:t>
            </a:r>
            <a:r>
              <a:rPr lang="en-US" altLang="zh-TW" sz="2000" dirty="0"/>
              <a:t>, </a:t>
            </a:r>
            <a:endParaRPr lang="en-US" altLang="zh-TW" sz="2000" dirty="0">
              <a:solidFill>
                <a:schemeClr val="tx2"/>
              </a:solidFill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schemeClr val="tx2"/>
                </a:solidFill>
              </a:rPr>
              <a:t>If each entry is 4 bytes </a:t>
            </a:r>
            <a:r>
              <a:rPr lang="en-US" altLang="zh-TW" sz="2000" b="1" dirty="0"/>
              <a:t>→</a:t>
            </a:r>
            <a:r>
              <a:rPr lang="en-US" altLang="zh-TW" sz="2000" dirty="0">
                <a:solidFill>
                  <a:schemeClr val="tx2"/>
                </a:solidFill>
              </a:rPr>
              <a:t> need </a:t>
            </a:r>
            <a:r>
              <a:rPr lang="en-US" altLang="zh-TW" sz="2000" dirty="0"/>
              <a:t>2</a:t>
            </a:r>
            <a:r>
              <a:rPr lang="en-US" altLang="zh-TW" sz="2000" baseline="30000" dirty="0"/>
              <a:t>44</a:t>
            </a:r>
            <a:r>
              <a:rPr lang="en-US" altLang="zh-TW" sz="2000" dirty="0"/>
              <a:t> = 16 Terabytes !!! </a:t>
            </a:r>
            <a:r>
              <a:rPr lang="en-US" altLang="zh-TW" sz="2000" b="1" dirty="0"/>
              <a:t>→</a:t>
            </a:r>
            <a:r>
              <a:rPr lang="en-US" altLang="zh-TW" sz="2000" dirty="0"/>
              <a:t> TOO BIG</a:t>
            </a:r>
            <a:endParaRPr lang="en-US" altLang="zh-TW" sz="2000" dirty="0">
              <a:solidFill>
                <a:schemeClr val="tx2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dirty="0">
                <a:solidFill>
                  <a:schemeClr val="tx2"/>
                </a:solidFill>
              </a:rPr>
              <a:t>If three-level: </a:t>
            </a:r>
            <a:r>
              <a:rPr lang="en-US" altLang="zh-TW" sz="2400" i="1" dirty="0">
                <a:solidFill>
                  <a:schemeClr val="tx2"/>
                </a:solidFill>
              </a:rPr>
              <a:t>p</a:t>
            </a:r>
            <a:r>
              <a:rPr lang="en-US" altLang="zh-TW" sz="2400" i="1" baseline="-25000" dirty="0">
                <a:solidFill>
                  <a:schemeClr val="tx2"/>
                </a:solidFill>
              </a:rPr>
              <a:t>1</a:t>
            </a:r>
            <a:r>
              <a:rPr lang="en-US" altLang="zh-TW" sz="2400" dirty="0">
                <a:solidFill>
                  <a:schemeClr val="tx2"/>
                </a:solidFill>
              </a:rPr>
              <a:t> is 32 bits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schemeClr val="tx2"/>
                </a:solidFill>
              </a:rPr>
              <a:t># of 2nd outer PT entries= </a:t>
            </a:r>
            <a:r>
              <a:rPr lang="en-US" altLang="zh-TW" sz="2000" dirty="0"/>
              <a:t>2</a:t>
            </a:r>
            <a:r>
              <a:rPr lang="en-US" altLang="zh-TW" sz="2000" baseline="30000" dirty="0"/>
              <a:t>32</a:t>
            </a:r>
            <a:r>
              <a:rPr lang="en-US" altLang="zh-TW" sz="2000" dirty="0">
                <a:solidFill>
                  <a:schemeClr val="tx2"/>
                </a:solidFill>
              </a:rPr>
              <a:t> </a:t>
            </a:r>
            <a:r>
              <a:rPr lang="en-US" altLang="zh-TW" sz="2000" b="1" dirty="0"/>
              <a:t>→</a:t>
            </a:r>
            <a:r>
              <a:rPr lang="en-US" altLang="zh-TW" sz="2000" dirty="0">
                <a:solidFill>
                  <a:schemeClr val="tx2"/>
                </a:solidFill>
              </a:rPr>
              <a:t> need </a:t>
            </a:r>
            <a:r>
              <a:rPr lang="en-US" altLang="zh-TW" sz="2000" dirty="0"/>
              <a:t>2</a:t>
            </a:r>
            <a:r>
              <a:rPr lang="en-US" altLang="zh-TW" sz="2000" baseline="30000" dirty="0"/>
              <a:t>34</a:t>
            </a:r>
            <a:r>
              <a:rPr lang="en-US" altLang="zh-TW" sz="2000" dirty="0"/>
              <a:t>=16 Gigabytes !!! </a:t>
            </a:r>
            <a:r>
              <a:rPr lang="en-US" altLang="zh-TW" sz="2000" b="1" dirty="0"/>
              <a:t>→</a:t>
            </a:r>
            <a:r>
              <a:rPr lang="en-US" altLang="zh-TW" sz="2000" dirty="0"/>
              <a:t> TOO BIG</a:t>
            </a:r>
            <a:endParaRPr lang="en-US" altLang="zh-TW" sz="20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800" dirty="0"/>
          </a:p>
        </p:txBody>
      </p:sp>
      <p:grpSp>
        <p:nvGrpSpPr>
          <p:cNvPr id="74756" name="Group 4"/>
          <p:cNvGrpSpPr>
            <a:grpSpLocks/>
          </p:cNvGrpSpPr>
          <p:nvPr/>
        </p:nvGrpSpPr>
        <p:grpSpPr bwMode="auto">
          <a:xfrm>
            <a:off x="2920206" y="3933056"/>
            <a:ext cx="6675438" cy="2545404"/>
            <a:chOff x="793" y="2160"/>
            <a:chExt cx="4205" cy="1884"/>
          </a:xfrm>
        </p:grpSpPr>
        <p:pic>
          <p:nvPicPr>
            <p:cNvPr id="74757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 l="699" t="38263" r="458" b="37975"/>
            <a:stretch>
              <a:fillRect/>
            </a:stretch>
          </p:blipFill>
          <p:spPr bwMode="auto">
            <a:xfrm>
              <a:off x="793" y="3158"/>
              <a:ext cx="4205" cy="544"/>
            </a:xfrm>
            <a:prstGeom prst="rect">
              <a:avLst/>
            </a:prstGeom>
            <a:noFill/>
            <a:ln w="38100" cmpd="dbl">
              <a:solidFill>
                <a:srgbClr val="CC6600"/>
              </a:solidFill>
              <a:miter lim="800000"/>
              <a:headEnd/>
              <a:tailEnd/>
            </a:ln>
          </p:spPr>
        </p:pic>
        <p:pic>
          <p:nvPicPr>
            <p:cNvPr id="74758" name="Picture 6"/>
            <p:cNvPicPr>
              <a:picLocks noChangeAspect="1" noChangeArrowheads="1"/>
            </p:cNvPicPr>
            <p:nvPr/>
          </p:nvPicPr>
          <p:blipFill>
            <a:blip r:embed="rId3" cstate="print"/>
            <a:srcRect l="647" t="35193" r="647" b="35501"/>
            <a:stretch>
              <a:fillRect/>
            </a:stretch>
          </p:blipFill>
          <p:spPr bwMode="auto">
            <a:xfrm>
              <a:off x="1020" y="2160"/>
              <a:ext cx="3821" cy="624"/>
            </a:xfrm>
            <a:prstGeom prst="rect">
              <a:avLst/>
            </a:prstGeom>
            <a:noFill/>
            <a:ln w="38100" cmpd="dbl">
              <a:solidFill>
                <a:srgbClr val="CC6600"/>
              </a:solidFill>
              <a:miter lim="800000"/>
              <a:headEnd/>
              <a:tailEnd/>
            </a:ln>
          </p:spPr>
        </p:pic>
        <p:sp>
          <p:nvSpPr>
            <p:cNvPr id="74759" name="AutoShape 7"/>
            <p:cNvSpPr>
              <a:spLocks noChangeArrowheads="1"/>
            </p:cNvSpPr>
            <p:nvPr/>
          </p:nvSpPr>
          <p:spPr bwMode="auto">
            <a:xfrm>
              <a:off x="2744" y="2840"/>
              <a:ext cx="306" cy="273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zh-TW" altLang="en-US"/>
            </a:p>
          </p:txBody>
        </p:sp>
        <p:sp>
          <p:nvSpPr>
            <p:cNvPr id="74760" name="Text Box 8"/>
            <p:cNvSpPr txBox="1">
              <a:spLocks noChangeArrowheads="1"/>
            </p:cNvSpPr>
            <p:nvPr/>
          </p:nvSpPr>
          <p:spPr bwMode="auto">
            <a:xfrm>
              <a:off x="1927" y="3702"/>
              <a:ext cx="1836" cy="3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</a:rPr>
                <a:t>three-level page table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Hierarchical Page Tables (Cont.)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/>
              <a:t>Thus, for 64-bit architectures</a:t>
            </a:r>
          </a:p>
          <a:p>
            <a:pPr lvl="1" eaLnBrk="1" hangingPunct="1"/>
            <a:r>
              <a:rPr lang="en-US" altLang="zh-TW" dirty="0" smtClean="0"/>
              <a:t>Hierarchical page tables is </a:t>
            </a:r>
            <a:r>
              <a:rPr lang="en-US" altLang="zh-TW" b="1" dirty="0" smtClean="0">
                <a:solidFill>
                  <a:srgbClr val="FF3300"/>
                </a:solidFill>
              </a:rPr>
              <a:t>inappropriate</a:t>
            </a:r>
          </a:p>
          <a:p>
            <a:pPr lvl="1" eaLnBrk="1" hangingPunct="1"/>
            <a:r>
              <a:rPr lang="en-US" altLang="zh-TW" dirty="0" smtClean="0"/>
              <a:t>Example: 64-bit </a:t>
            </a:r>
            <a:r>
              <a:rPr lang="en-US" altLang="zh-TW" dirty="0" err="1" smtClean="0"/>
              <a:t>UltraSPARC</a:t>
            </a:r>
            <a:r>
              <a:rPr lang="en-US" altLang="zh-TW" dirty="0" smtClean="0"/>
              <a:t> needs </a:t>
            </a:r>
            <a:r>
              <a:rPr lang="en-US" altLang="zh-TW" b="1" dirty="0" smtClean="0"/>
              <a:t>seven</a:t>
            </a:r>
            <a:r>
              <a:rPr lang="en-US" altLang="zh-TW" dirty="0" smtClean="0"/>
              <a:t> </a:t>
            </a:r>
            <a:r>
              <a:rPr lang="en-US" altLang="zh-TW" b="1" dirty="0" smtClean="0"/>
              <a:t>levels</a:t>
            </a:r>
            <a:r>
              <a:rPr lang="en-US" altLang="zh-TW" dirty="0" smtClean="0"/>
              <a:t> of paging</a:t>
            </a:r>
          </a:p>
          <a:p>
            <a:pPr lvl="2" eaLnBrk="1" hangingPunct="1"/>
            <a:r>
              <a:rPr lang="en-US" altLang="zh-TW" b="1" dirty="0" smtClean="0">
                <a:solidFill>
                  <a:srgbClr val="0000FF"/>
                </a:solidFill>
              </a:rPr>
              <a:t>A prohibitive number of memory access to translate logical addresses</a:t>
            </a:r>
          </a:p>
          <a:p>
            <a:pPr eaLnBrk="1" hangingPunct="1"/>
            <a:r>
              <a:rPr lang="en-US" altLang="zh-TW" dirty="0" smtClean="0"/>
              <a:t>Sol.: </a:t>
            </a:r>
          </a:p>
          <a:p>
            <a:pPr lvl="1" eaLnBrk="1" hangingPunct="1"/>
            <a:r>
              <a:rPr lang="en-US" altLang="zh-TW" b="1" dirty="0" smtClean="0"/>
              <a:t>Hashed page table </a:t>
            </a:r>
            <a:endParaRPr lang="en-US" altLang="zh-TW" dirty="0" smtClean="0"/>
          </a:p>
          <a:p>
            <a:pPr lvl="1" eaLnBrk="1" hangingPunct="1"/>
            <a:r>
              <a:rPr lang="en-US" altLang="zh-TW" b="1" dirty="0" smtClean="0"/>
              <a:t>Inverted page 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dirty="0" smtClean="0"/>
              <a:t>Background</a:t>
            </a:r>
          </a:p>
          <a:p>
            <a:pPr eaLnBrk="1" hangingPunct="1"/>
            <a:r>
              <a:rPr lang="en-US" altLang="zh-TW" dirty="0" smtClean="0"/>
              <a:t>Contiguous Memory Allocation</a:t>
            </a:r>
          </a:p>
          <a:p>
            <a:pPr eaLnBrk="1" hangingPunct="1"/>
            <a:r>
              <a:rPr lang="en-US" altLang="zh-TW" dirty="0" smtClean="0"/>
              <a:t>Paging</a:t>
            </a:r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Structure of the Page Table</a:t>
            </a:r>
          </a:p>
          <a:p>
            <a:pPr lvl="1" eaLnBrk="1" hangingPunct="1"/>
            <a:r>
              <a:rPr lang="en-US" altLang="zh-TW" dirty="0"/>
              <a:t>Hierarchical Page Tables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Hashed Page Tables</a:t>
            </a:r>
          </a:p>
          <a:p>
            <a:pPr lvl="1" eaLnBrk="1" hangingPunct="1"/>
            <a:r>
              <a:rPr lang="en-US" altLang="zh-TW" dirty="0"/>
              <a:t>Inverted Page Tables</a:t>
            </a:r>
          </a:p>
          <a:p>
            <a:pPr eaLnBrk="1" hangingPunct="1"/>
            <a:r>
              <a:rPr lang="en-US" altLang="zh-TW" dirty="0" smtClean="0"/>
              <a:t>Swapping</a:t>
            </a:r>
          </a:p>
          <a:p>
            <a:pPr eaLnBrk="1" hangingPunct="1"/>
            <a:r>
              <a:rPr lang="en-US" altLang="zh-TW" dirty="0" smtClean="0"/>
              <a:t>Example: Intel 32 and 64-bit Architectures</a:t>
            </a:r>
          </a:p>
          <a:p>
            <a:pPr eaLnBrk="1" hangingPunct="1"/>
            <a:r>
              <a:rPr lang="en-US" altLang="zh-TW" dirty="0" smtClean="0"/>
              <a:t>Example: ARMv8 Architecture</a:t>
            </a:r>
          </a:p>
        </p:txBody>
      </p:sp>
    </p:spTree>
    <p:extLst>
      <p:ext uri="{BB962C8B-B14F-4D97-AF65-F5344CB8AC3E}">
        <p14:creationId xmlns:p14="http://schemas.microsoft.com/office/powerpoint/2010/main" val="961101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Hashed Page Tables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624417" y="1484312"/>
            <a:ext cx="10972800" cy="5185047"/>
          </a:xfrm>
        </p:spPr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zh-TW" sz="2400" dirty="0"/>
              <a:t>Common in address spaces &gt; 32 bits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TW" sz="2400" dirty="0"/>
              <a:t>The </a:t>
            </a:r>
            <a:r>
              <a:rPr lang="en-US" altLang="zh-TW" sz="2400" b="1" dirty="0" smtClean="0">
                <a:solidFill>
                  <a:srgbClr val="FF0000"/>
                </a:solidFill>
              </a:rPr>
              <a:t>page </a:t>
            </a:r>
            <a:r>
              <a:rPr lang="en-US" altLang="zh-TW" sz="2400" b="1" dirty="0">
                <a:solidFill>
                  <a:srgbClr val="FF0000"/>
                </a:solidFill>
              </a:rPr>
              <a:t>number </a:t>
            </a:r>
            <a:r>
              <a:rPr lang="en-US" altLang="zh-TW" sz="2400" dirty="0"/>
              <a:t>is hashed into a page table.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000" dirty="0"/>
              <a:t>See the next slide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TW" sz="2400" dirty="0"/>
              <a:t>Each entry contains a chain of elements that hash to the same location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000" dirty="0"/>
              <a:t>Handle</a:t>
            </a:r>
            <a:r>
              <a:rPr lang="en-US" altLang="zh-TW" sz="2000" b="1" dirty="0">
                <a:solidFill>
                  <a:srgbClr val="0000FF"/>
                </a:solidFill>
              </a:rPr>
              <a:t> Collisions</a:t>
            </a:r>
            <a:r>
              <a:rPr lang="en-US" altLang="zh-TW" sz="2000" dirty="0"/>
              <a:t>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TW" sz="2400" dirty="0"/>
              <a:t>Thus, each entry consists of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000" dirty="0" smtClean="0"/>
              <a:t>Page </a:t>
            </a:r>
            <a:r>
              <a:rPr lang="en-US" altLang="zh-TW" sz="2000" dirty="0"/>
              <a:t>number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000" dirty="0"/>
              <a:t>Frame number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000" dirty="0"/>
              <a:t>Pointer to the next hash entry</a:t>
            </a:r>
          </a:p>
          <a:p>
            <a:pPr eaLnBrk="1" hangingPunct="1">
              <a:spcBef>
                <a:spcPts val="600"/>
              </a:spcBef>
            </a:pPr>
            <a:r>
              <a:rPr lang="en-US" altLang="zh-TW" sz="2400" dirty="0"/>
              <a:t>Virtual page numbers are compared in this chain to search for a match. 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TW" sz="2000" dirty="0" smtClean="0"/>
              <a:t>If a match is found, get the corresponding frame number</a:t>
            </a:r>
            <a:endParaRPr lang="en-US" altLang="zh-TW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Hashed Page Table</a:t>
            </a:r>
            <a:endParaRPr lang="en-US" altLang="zh-TW" sz="3600"/>
          </a:p>
        </p:txBody>
      </p:sp>
      <p:pic>
        <p:nvPicPr>
          <p:cNvPr id="77827" name="Picture 3"/>
          <p:cNvPicPr>
            <a:picLocks noChangeAspect="1" noChangeArrowheads="1"/>
          </p:cNvPicPr>
          <p:nvPr/>
        </p:nvPicPr>
        <p:blipFill>
          <a:blip r:embed="rId2" cstate="print"/>
          <a:srcRect l="439" t="14206" r="670" b="13898"/>
          <a:stretch>
            <a:fillRect/>
          </a:stretch>
        </p:blipFill>
        <p:spPr bwMode="auto">
          <a:xfrm>
            <a:off x="2722563" y="1484313"/>
            <a:ext cx="6591300" cy="4608512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77828" name="Line 4"/>
          <p:cNvSpPr>
            <a:spLocks noChangeShapeType="1"/>
          </p:cNvSpPr>
          <p:nvPr/>
        </p:nvSpPr>
        <p:spPr bwMode="auto">
          <a:xfrm>
            <a:off x="5807968" y="4437112"/>
            <a:ext cx="576064" cy="576064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77829" name="Text Box 5"/>
          <p:cNvSpPr txBox="1">
            <a:spLocks noChangeArrowheads="1"/>
          </p:cNvSpPr>
          <p:nvPr/>
        </p:nvSpPr>
        <p:spPr bwMode="auto">
          <a:xfrm>
            <a:off x="5375276" y="4941888"/>
            <a:ext cx="235032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i="1">
                <a:latin typeface="Calibri" panose="020F0502020204030204" pitchFamily="34" charset="0"/>
              </a:rPr>
              <a:t>virtual page number</a:t>
            </a:r>
          </a:p>
        </p:txBody>
      </p:sp>
      <p:sp>
        <p:nvSpPr>
          <p:cNvPr id="77830" name="Line 6"/>
          <p:cNvSpPr>
            <a:spLocks noChangeShapeType="1"/>
          </p:cNvSpPr>
          <p:nvPr/>
        </p:nvSpPr>
        <p:spPr bwMode="auto">
          <a:xfrm>
            <a:off x="5880100" y="3141663"/>
            <a:ext cx="215900" cy="8636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>
              <a:latin typeface="Calibri" panose="020F0502020204030204" pitchFamily="34" charset="0"/>
            </a:endParaRPr>
          </a:p>
        </p:txBody>
      </p:sp>
      <p:sp>
        <p:nvSpPr>
          <p:cNvPr id="77831" name="Text Box 7"/>
          <p:cNvSpPr txBox="1">
            <a:spLocks noChangeArrowheads="1"/>
          </p:cNvSpPr>
          <p:nvPr/>
        </p:nvSpPr>
        <p:spPr bwMode="auto">
          <a:xfrm>
            <a:off x="5232400" y="2781300"/>
            <a:ext cx="170912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i="1">
                <a:latin typeface="Calibri" panose="020F0502020204030204" pitchFamily="34" charset="0"/>
              </a:rPr>
              <a:t>frame number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TW" altLang="en-US" sz="3600" dirty="0" smtClean="0"/>
              <a:t>複習</a:t>
            </a:r>
            <a:r>
              <a:rPr lang="en-US" altLang="zh-TW" sz="3600" dirty="0" smtClean="0"/>
              <a:t>: Paging </a:t>
            </a:r>
            <a:r>
              <a:rPr lang="en-US" altLang="zh-TW" sz="3600" dirty="0"/>
              <a:t>Model of Logical and Physical Memory</a:t>
            </a:r>
            <a:endParaRPr lang="en-US" altLang="zh-TW" sz="2800" dirty="0"/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2" cstate="print"/>
          <a:srcRect l="10391" t="623" r="10611" b="951"/>
          <a:stretch>
            <a:fillRect/>
          </a:stretch>
        </p:blipFill>
        <p:spPr bwMode="auto">
          <a:xfrm>
            <a:off x="1718329" y="1340768"/>
            <a:ext cx="8784976" cy="4824536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8091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zh-TW" dirty="0" smtClean="0"/>
              <a:t>Background</a:t>
            </a:r>
          </a:p>
          <a:p>
            <a:pPr eaLnBrk="1" hangingPunct="1"/>
            <a:r>
              <a:rPr lang="en-US" altLang="zh-TW" dirty="0" smtClean="0"/>
              <a:t>Contiguous Memory Allocation</a:t>
            </a:r>
          </a:p>
          <a:p>
            <a:pPr eaLnBrk="1" hangingPunct="1"/>
            <a:r>
              <a:rPr lang="en-US" altLang="zh-TW" dirty="0" smtClean="0"/>
              <a:t>Paging</a:t>
            </a:r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Structure of the Page Table</a:t>
            </a:r>
          </a:p>
          <a:p>
            <a:pPr lvl="1" eaLnBrk="1" hangingPunct="1"/>
            <a:r>
              <a:rPr lang="en-US" altLang="zh-TW" dirty="0"/>
              <a:t>Hierarchical Page Tables</a:t>
            </a:r>
          </a:p>
          <a:p>
            <a:pPr lvl="1" eaLnBrk="1" hangingPunct="1"/>
            <a:r>
              <a:rPr lang="en-US" altLang="zh-TW" dirty="0"/>
              <a:t>Hashed Page Tables</a:t>
            </a:r>
          </a:p>
          <a:p>
            <a:pPr lvl="1" eaLnBrk="1" hangingPunct="1"/>
            <a:r>
              <a:rPr lang="en-US" altLang="zh-TW" b="1" dirty="0">
                <a:solidFill>
                  <a:srgbClr val="FF0000"/>
                </a:solidFill>
              </a:rPr>
              <a:t>Inverted Page Tables</a:t>
            </a:r>
          </a:p>
          <a:p>
            <a:pPr eaLnBrk="1" hangingPunct="1"/>
            <a:r>
              <a:rPr lang="en-US" altLang="zh-TW" dirty="0" smtClean="0"/>
              <a:t>Swapping</a:t>
            </a:r>
          </a:p>
          <a:p>
            <a:pPr eaLnBrk="1" hangingPunct="1"/>
            <a:r>
              <a:rPr lang="en-US" altLang="zh-TW" dirty="0" smtClean="0"/>
              <a:t>Example: Intel 32 and 64-bit Architectures</a:t>
            </a:r>
          </a:p>
          <a:p>
            <a:pPr eaLnBrk="1" hangingPunct="1"/>
            <a:r>
              <a:rPr lang="en-US" altLang="zh-TW" dirty="0" smtClean="0"/>
              <a:t>Example: ARMv8 Architecture</a:t>
            </a:r>
          </a:p>
        </p:txBody>
      </p:sp>
    </p:spTree>
    <p:extLst>
      <p:ext uri="{BB962C8B-B14F-4D97-AF65-F5344CB8AC3E}">
        <p14:creationId xmlns:p14="http://schemas.microsoft.com/office/powerpoint/2010/main" val="315495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 smtClean="0"/>
              <a:t>Inverted Page Table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>
          <a:xfrm>
            <a:off x="624417" y="1484312"/>
            <a:ext cx="10972800" cy="5113039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TW" sz="2800" dirty="0"/>
              <a:t>Previously scheme requires that </a:t>
            </a:r>
            <a:r>
              <a:rPr lang="en-US" altLang="zh-TW" sz="2800" dirty="0">
                <a:solidFill>
                  <a:srgbClr val="FF3300"/>
                </a:solidFill>
              </a:rPr>
              <a:t>each process has a page table</a:t>
            </a:r>
            <a:endParaRPr lang="en-US" altLang="zh-TW" sz="2800" dirty="0"/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This may consumes large amounts of physical memory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dirty="0"/>
              <a:t>Solution: </a:t>
            </a:r>
            <a:r>
              <a:rPr lang="en-US" altLang="zh-TW" sz="2800" b="1" dirty="0"/>
              <a:t>inverted page table (i.e., frame table)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A </a:t>
            </a:r>
            <a:r>
              <a:rPr lang="en-US" altLang="zh-TW" sz="2400" b="1" dirty="0"/>
              <a:t>system wide PT </a:t>
            </a:r>
            <a:r>
              <a:rPr lang="en-US" altLang="zh-TW" sz="2400" dirty="0"/>
              <a:t>instead of </a:t>
            </a:r>
            <a:r>
              <a:rPr lang="en-US" altLang="zh-TW" sz="2400" b="1" dirty="0"/>
              <a:t>per-process PTs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One entry for </a:t>
            </a:r>
            <a:r>
              <a:rPr lang="en-US" altLang="zh-TW" sz="2400" b="1" dirty="0">
                <a:solidFill>
                  <a:srgbClr val="0000FF"/>
                </a:solidFill>
              </a:rPr>
              <a:t>each </a:t>
            </a:r>
            <a:r>
              <a:rPr lang="en-US" altLang="zh-TW" sz="2400" b="1" dirty="0" smtClean="0">
                <a:solidFill>
                  <a:srgbClr val="0000FF"/>
                </a:solidFill>
              </a:rPr>
              <a:t>frame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of memory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Each entry consists of </a:t>
            </a:r>
            <a:r>
              <a:rPr lang="en-US" altLang="zh-TW" sz="2400" dirty="0" smtClean="0"/>
              <a:t>(</a:t>
            </a:r>
            <a:r>
              <a:rPr lang="en-US" altLang="zh-TW" sz="2400" b="1" dirty="0">
                <a:solidFill>
                  <a:srgbClr val="CC3300"/>
                </a:solidFill>
              </a:rPr>
              <a:t>process-id</a:t>
            </a:r>
            <a:r>
              <a:rPr lang="en-US" altLang="zh-TW" sz="2400" b="1" dirty="0"/>
              <a:t>, </a:t>
            </a:r>
            <a:r>
              <a:rPr lang="en-US" altLang="zh-TW" sz="2400" b="1" dirty="0" smtClean="0">
                <a:solidFill>
                  <a:srgbClr val="CC3300"/>
                </a:solidFill>
              </a:rPr>
              <a:t>page </a:t>
            </a:r>
            <a:r>
              <a:rPr lang="en-US" altLang="zh-TW" sz="2400" b="1" dirty="0">
                <a:solidFill>
                  <a:srgbClr val="CC3300"/>
                </a:solidFill>
              </a:rPr>
              <a:t>number</a:t>
            </a:r>
            <a:r>
              <a:rPr lang="en-US" altLang="zh-TW" sz="2400" dirty="0"/>
              <a:t>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dirty="0"/>
              <a:t>Only</a:t>
            </a:r>
            <a:r>
              <a:rPr lang="en-US" altLang="zh-TW" sz="2400" b="1" dirty="0"/>
              <a:t> </a:t>
            </a:r>
            <a:r>
              <a:rPr lang="en-US" altLang="zh-TW" sz="2400" b="1" dirty="0">
                <a:solidFill>
                  <a:srgbClr val="FF3300"/>
                </a:solidFill>
              </a:rPr>
              <a:t>one</a:t>
            </a:r>
            <a:r>
              <a:rPr lang="en-US" altLang="zh-TW" sz="2400" dirty="0"/>
              <a:t> inverted page table is in the </a:t>
            </a:r>
            <a:r>
              <a:rPr lang="en-US" altLang="zh-TW" sz="2400" b="1" dirty="0"/>
              <a:t>system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800" dirty="0"/>
              <a:t>Example: PowerPC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Inverted Page Table Example</a:t>
            </a:r>
          </a:p>
        </p:txBody>
      </p:sp>
      <p:pic>
        <p:nvPicPr>
          <p:cNvPr id="79875" name="Picture 3"/>
          <p:cNvPicPr>
            <a:picLocks noChangeAspect="1" noChangeArrowheads="1"/>
          </p:cNvPicPr>
          <p:nvPr/>
        </p:nvPicPr>
        <p:blipFill>
          <a:blip r:embed="rId3" cstate="print"/>
          <a:srcRect l="7840" t="800" r="7520" b="999"/>
          <a:stretch>
            <a:fillRect/>
          </a:stretch>
        </p:blipFill>
        <p:spPr bwMode="auto">
          <a:xfrm>
            <a:off x="1684339" y="1296988"/>
            <a:ext cx="8772525" cy="524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9876" name="Text Box 4"/>
          <p:cNvSpPr txBox="1">
            <a:spLocks noChangeArrowheads="1"/>
          </p:cNvSpPr>
          <p:nvPr/>
        </p:nvSpPr>
        <p:spPr bwMode="auto">
          <a:xfrm>
            <a:off x="4095750" y="2732088"/>
            <a:ext cx="6159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ea typeface="標楷體" pitchFamily="65" charset="-120"/>
              </a:rPr>
              <a:t>(P1)</a:t>
            </a:r>
          </a:p>
        </p:txBody>
      </p:sp>
      <p:pic>
        <p:nvPicPr>
          <p:cNvPr id="79877" name="Picture 5"/>
          <p:cNvPicPr>
            <a:picLocks noChangeAspect="1" noChangeArrowheads="1"/>
          </p:cNvPicPr>
          <p:nvPr/>
        </p:nvPicPr>
        <p:blipFill>
          <a:blip r:embed="rId3" cstate="print"/>
          <a:srcRect l="7840" t="9897" r="77425" b="49788"/>
          <a:stretch>
            <a:fillRect/>
          </a:stretch>
        </p:blipFill>
        <p:spPr bwMode="auto">
          <a:xfrm>
            <a:off x="1739901" y="4498975"/>
            <a:ext cx="1527175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9878" name="Text Box 6"/>
          <p:cNvSpPr txBox="1">
            <a:spLocks noChangeArrowheads="1"/>
          </p:cNvSpPr>
          <p:nvPr/>
        </p:nvSpPr>
        <p:spPr bwMode="auto">
          <a:xfrm>
            <a:off x="4095750" y="5305426"/>
            <a:ext cx="615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ea typeface="標楷體" pitchFamily="65" charset="-120"/>
              </a:rPr>
              <a:t>(P2)</a:t>
            </a:r>
          </a:p>
        </p:txBody>
      </p:sp>
      <p:sp>
        <p:nvSpPr>
          <p:cNvPr id="79879" name="Rectangle 7"/>
          <p:cNvSpPr>
            <a:spLocks noChangeArrowheads="1"/>
          </p:cNvSpPr>
          <p:nvPr/>
        </p:nvSpPr>
        <p:spPr bwMode="auto">
          <a:xfrm>
            <a:off x="8967788" y="1801814"/>
            <a:ext cx="1441450" cy="5238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ea typeface="標楷體" pitchFamily="65" charset="-120"/>
              </a:rPr>
              <a:t>Page 3</a:t>
            </a:r>
          </a:p>
        </p:txBody>
      </p:sp>
      <p:sp>
        <p:nvSpPr>
          <p:cNvPr id="79880" name="Rectangle 8"/>
          <p:cNvSpPr>
            <a:spLocks noChangeArrowheads="1"/>
          </p:cNvSpPr>
          <p:nvPr/>
        </p:nvSpPr>
        <p:spPr bwMode="auto">
          <a:xfrm>
            <a:off x="9005888" y="2847976"/>
            <a:ext cx="1403350" cy="523875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ea typeface="標楷體" pitchFamily="65" charset="-120"/>
              </a:rPr>
              <a:t>Page 2</a:t>
            </a:r>
          </a:p>
        </p:txBody>
      </p:sp>
      <p:sp>
        <p:nvSpPr>
          <p:cNvPr id="79881" name="Rectangle 9"/>
          <p:cNvSpPr>
            <a:spLocks noChangeArrowheads="1"/>
          </p:cNvSpPr>
          <p:nvPr/>
        </p:nvSpPr>
        <p:spPr bwMode="auto">
          <a:xfrm>
            <a:off x="8980488" y="4416426"/>
            <a:ext cx="1428750" cy="5238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ea typeface="標楷體" pitchFamily="65" charset="-120"/>
              </a:rPr>
              <a:t>Page 1</a:t>
            </a:r>
          </a:p>
        </p:txBody>
      </p:sp>
      <p:sp>
        <p:nvSpPr>
          <p:cNvPr id="79882" name="Rectangle 10"/>
          <p:cNvSpPr>
            <a:spLocks noChangeArrowheads="1"/>
          </p:cNvSpPr>
          <p:nvPr/>
        </p:nvSpPr>
        <p:spPr bwMode="auto">
          <a:xfrm>
            <a:off x="9005888" y="4940301"/>
            <a:ext cx="1403350" cy="5238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ea typeface="標楷體" pitchFamily="65" charset="-120"/>
              </a:rPr>
              <a:t>Page 0</a:t>
            </a:r>
          </a:p>
        </p:txBody>
      </p:sp>
      <p:sp>
        <p:nvSpPr>
          <p:cNvPr id="79883" name="Rectangle 11"/>
          <p:cNvSpPr>
            <a:spLocks noChangeArrowheads="1"/>
          </p:cNvSpPr>
          <p:nvPr/>
        </p:nvSpPr>
        <p:spPr bwMode="auto">
          <a:xfrm>
            <a:off x="5619750" y="4605338"/>
            <a:ext cx="363538" cy="366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ea typeface="標楷體" pitchFamily="65" charset="-120"/>
              </a:rPr>
              <a:t>6</a:t>
            </a:r>
          </a:p>
        </p:txBody>
      </p:sp>
      <p:sp>
        <p:nvSpPr>
          <p:cNvPr id="79884" name="Rectangle 12"/>
          <p:cNvSpPr>
            <a:spLocks noChangeArrowheads="1"/>
          </p:cNvSpPr>
          <p:nvPr/>
        </p:nvSpPr>
        <p:spPr bwMode="auto">
          <a:xfrm>
            <a:off x="5619750" y="4970463"/>
            <a:ext cx="363538" cy="3667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ea typeface="標楷體" pitchFamily="65" charset="-120"/>
              </a:rPr>
              <a:t>5</a:t>
            </a:r>
          </a:p>
        </p:txBody>
      </p:sp>
      <p:sp>
        <p:nvSpPr>
          <p:cNvPr id="79885" name="Rectangle 13"/>
          <p:cNvSpPr>
            <a:spLocks noChangeArrowheads="1"/>
          </p:cNvSpPr>
          <p:nvPr/>
        </p:nvSpPr>
        <p:spPr bwMode="auto">
          <a:xfrm>
            <a:off x="5619750" y="5337176"/>
            <a:ext cx="363538" cy="366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ea typeface="標楷體" pitchFamily="65" charset="-120"/>
              </a:rPr>
              <a:t>2</a:t>
            </a:r>
          </a:p>
        </p:txBody>
      </p:sp>
      <p:sp>
        <p:nvSpPr>
          <p:cNvPr id="79886" name="Rectangle 14"/>
          <p:cNvSpPr>
            <a:spLocks noChangeArrowheads="1"/>
          </p:cNvSpPr>
          <p:nvPr/>
        </p:nvSpPr>
        <p:spPr bwMode="auto">
          <a:xfrm>
            <a:off x="5619750" y="5702301"/>
            <a:ext cx="363538" cy="366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1800">
                <a:ea typeface="標楷體" pitchFamily="65" charset="-120"/>
              </a:rPr>
              <a:t>0</a:t>
            </a:r>
          </a:p>
        </p:txBody>
      </p:sp>
      <p:sp>
        <p:nvSpPr>
          <p:cNvPr id="79887" name="Text Box 15"/>
          <p:cNvSpPr txBox="1">
            <a:spLocks noChangeArrowheads="1"/>
          </p:cNvSpPr>
          <p:nvPr/>
        </p:nvSpPr>
        <p:spPr bwMode="auto">
          <a:xfrm>
            <a:off x="5246688" y="4603751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ea typeface="標楷體" pitchFamily="65" charset="-120"/>
              </a:rPr>
              <a:t>0</a:t>
            </a:r>
          </a:p>
        </p:txBody>
      </p:sp>
      <p:sp>
        <p:nvSpPr>
          <p:cNvPr id="79888" name="Text Box 16"/>
          <p:cNvSpPr txBox="1">
            <a:spLocks noChangeArrowheads="1"/>
          </p:cNvSpPr>
          <p:nvPr/>
        </p:nvSpPr>
        <p:spPr bwMode="auto">
          <a:xfrm>
            <a:off x="5246688" y="500856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ea typeface="標楷體" pitchFamily="65" charset="-120"/>
              </a:rPr>
              <a:t>1</a:t>
            </a:r>
          </a:p>
        </p:txBody>
      </p:sp>
      <p:sp>
        <p:nvSpPr>
          <p:cNvPr id="79889" name="Text Box 17"/>
          <p:cNvSpPr txBox="1">
            <a:spLocks noChangeArrowheads="1"/>
          </p:cNvSpPr>
          <p:nvPr/>
        </p:nvSpPr>
        <p:spPr bwMode="auto">
          <a:xfrm>
            <a:off x="5246688" y="5375276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ea typeface="標楷體" pitchFamily="65" charset="-120"/>
              </a:rPr>
              <a:t>2</a:t>
            </a:r>
          </a:p>
        </p:txBody>
      </p:sp>
      <p:sp>
        <p:nvSpPr>
          <p:cNvPr id="79890" name="Text Box 18"/>
          <p:cNvSpPr txBox="1">
            <a:spLocks noChangeArrowheads="1"/>
          </p:cNvSpPr>
          <p:nvPr/>
        </p:nvSpPr>
        <p:spPr bwMode="auto">
          <a:xfrm>
            <a:off x="5246688" y="5740401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>
                <a:ea typeface="標楷體" pitchFamily="65" charset="-120"/>
              </a:rPr>
              <a:t>3</a:t>
            </a:r>
          </a:p>
        </p:txBody>
      </p:sp>
      <p:sp>
        <p:nvSpPr>
          <p:cNvPr id="79891" name="Text Box 19"/>
          <p:cNvSpPr txBox="1">
            <a:spLocks noChangeArrowheads="1"/>
          </p:cNvSpPr>
          <p:nvPr/>
        </p:nvSpPr>
        <p:spPr bwMode="auto">
          <a:xfrm>
            <a:off x="7075488" y="3676651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solidFill>
                  <a:srgbClr val="FF3300"/>
                </a:solidFill>
                <a:latin typeface="Calibri" panose="020F0502020204030204" pitchFamily="34" charset="0"/>
                <a:ea typeface="標楷體" pitchFamily="65" charset="-120"/>
              </a:rPr>
              <a:t>0</a:t>
            </a:r>
          </a:p>
        </p:txBody>
      </p:sp>
      <p:sp>
        <p:nvSpPr>
          <p:cNvPr id="79892" name="Text Box 20"/>
          <p:cNvSpPr txBox="1">
            <a:spLocks noChangeArrowheads="1"/>
          </p:cNvSpPr>
          <p:nvPr/>
        </p:nvSpPr>
        <p:spPr bwMode="auto">
          <a:xfrm>
            <a:off x="7075488" y="408146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solidFill>
                  <a:srgbClr val="FF3300"/>
                </a:solidFill>
                <a:latin typeface="Calibri" panose="020F0502020204030204" pitchFamily="34" charset="0"/>
                <a:ea typeface="標楷體" pitchFamily="65" charset="-120"/>
              </a:rPr>
              <a:t>1</a:t>
            </a:r>
          </a:p>
        </p:txBody>
      </p:sp>
      <p:sp>
        <p:nvSpPr>
          <p:cNvPr id="79893" name="Text Box 21"/>
          <p:cNvSpPr txBox="1">
            <a:spLocks noChangeArrowheads="1"/>
          </p:cNvSpPr>
          <p:nvPr/>
        </p:nvSpPr>
        <p:spPr bwMode="auto">
          <a:xfrm>
            <a:off x="7075488" y="4448176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solidFill>
                  <a:srgbClr val="FF3300"/>
                </a:solidFill>
                <a:latin typeface="Calibri" panose="020F0502020204030204" pitchFamily="34" charset="0"/>
                <a:ea typeface="標楷體" pitchFamily="65" charset="-120"/>
              </a:rPr>
              <a:t>2</a:t>
            </a:r>
          </a:p>
        </p:txBody>
      </p:sp>
      <p:sp>
        <p:nvSpPr>
          <p:cNvPr id="79894" name="Text Box 22"/>
          <p:cNvSpPr txBox="1">
            <a:spLocks noChangeArrowheads="1"/>
          </p:cNvSpPr>
          <p:nvPr/>
        </p:nvSpPr>
        <p:spPr bwMode="auto">
          <a:xfrm>
            <a:off x="7075488" y="4813301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solidFill>
                  <a:srgbClr val="FF3300"/>
                </a:solidFill>
                <a:latin typeface="Calibri" panose="020F0502020204030204" pitchFamily="34" charset="0"/>
                <a:ea typeface="標楷體" pitchFamily="65" charset="-120"/>
              </a:rPr>
              <a:t>3</a:t>
            </a:r>
          </a:p>
        </p:txBody>
      </p:sp>
      <p:grpSp>
        <p:nvGrpSpPr>
          <p:cNvPr id="79895" name="Group 23"/>
          <p:cNvGrpSpPr>
            <a:grpSpLocks/>
          </p:cNvGrpSpPr>
          <p:nvPr/>
        </p:nvGrpSpPr>
        <p:grpSpPr bwMode="auto">
          <a:xfrm>
            <a:off x="7448550" y="3678238"/>
            <a:ext cx="363538" cy="2927350"/>
            <a:chOff x="3732" y="2317"/>
            <a:chExt cx="229" cy="1844"/>
          </a:xfrm>
        </p:grpSpPr>
        <p:sp>
          <p:nvSpPr>
            <p:cNvPr id="79911" name="Rectangle 24"/>
            <p:cNvSpPr>
              <a:spLocks noChangeArrowheads="1"/>
            </p:cNvSpPr>
            <p:nvPr/>
          </p:nvSpPr>
          <p:spPr bwMode="auto">
            <a:xfrm>
              <a:off x="3732" y="2317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b="1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  <a:t>2</a:t>
              </a:r>
            </a:p>
          </p:txBody>
        </p:sp>
        <p:sp>
          <p:nvSpPr>
            <p:cNvPr id="79912" name="Rectangle 25"/>
            <p:cNvSpPr>
              <a:spLocks noChangeArrowheads="1"/>
            </p:cNvSpPr>
            <p:nvPr/>
          </p:nvSpPr>
          <p:spPr bwMode="auto">
            <a:xfrm>
              <a:off x="3732" y="2547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b="1" dirty="0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  <a:t>1</a:t>
              </a:r>
            </a:p>
          </p:txBody>
        </p:sp>
        <p:sp>
          <p:nvSpPr>
            <p:cNvPr id="79913" name="Rectangle 26"/>
            <p:cNvSpPr>
              <a:spLocks noChangeArrowheads="1"/>
            </p:cNvSpPr>
            <p:nvPr/>
          </p:nvSpPr>
          <p:spPr bwMode="auto">
            <a:xfrm>
              <a:off x="3732" y="2778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b="1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  <a:t>2</a:t>
              </a:r>
            </a:p>
          </p:txBody>
        </p:sp>
        <p:sp>
          <p:nvSpPr>
            <p:cNvPr id="79914" name="Rectangle 27"/>
            <p:cNvSpPr>
              <a:spLocks noChangeArrowheads="1"/>
            </p:cNvSpPr>
            <p:nvPr/>
          </p:nvSpPr>
          <p:spPr bwMode="auto">
            <a:xfrm>
              <a:off x="3732" y="3008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b="1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  <a:t>1</a:t>
              </a:r>
            </a:p>
          </p:txBody>
        </p:sp>
        <p:sp>
          <p:nvSpPr>
            <p:cNvPr id="79915" name="Rectangle 28"/>
            <p:cNvSpPr>
              <a:spLocks noChangeArrowheads="1"/>
            </p:cNvSpPr>
            <p:nvPr/>
          </p:nvSpPr>
          <p:spPr bwMode="auto">
            <a:xfrm>
              <a:off x="3732" y="3239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b="1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  <a:t>1</a:t>
              </a:r>
            </a:p>
          </p:txBody>
        </p:sp>
        <p:sp>
          <p:nvSpPr>
            <p:cNvPr id="79916" name="Rectangle 29"/>
            <p:cNvSpPr>
              <a:spLocks noChangeArrowheads="1"/>
            </p:cNvSpPr>
            <p:nvPr/>
          </p:nvSpPr>
          <p:spPr bwMode="auto">
            <a:xfrm>
              <a:off x="3732" y="3469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b="1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  <a:t>2</a:t>
              </a:r>
            </a:p>
          </p:txBody>
        </p:sp>
        <p:sp>
          <p:nvSpPr>
            <p:cNvPr id="79917" name="Rectangle 30"/>
            <p:cNvSpPr>
              <a:spLocks noChangeArrowheads="1"/>
            </p:cNvSpPr>
            <p:nvPr/>
          </p:nvSpPr>
          <p:spPr bwMode="auto">
            <a:xfrm>
              <a:off x="3732" y="3700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b="1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  <a:t>2</a:t>
              </a:r>
            </a:p>
          </p:txBody>
        </p:sp>
        <p:sp>
          <p:nvSpPr>
            <p:cNvPr id="79918" name="Rectangle 31"/>
            <p:cNvSpPr>
              <a:spLocks noChangeArrowheads="1"/>
            </p:cNvSpPr>
            <p:nvPr/>
          </p:nvSpPr>
          <p:spPr bwMode="auto">
            <a:xfrm>
              <a:off x="3732" y="3930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b="1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  <a:t>1</a:t>
              </a:r>
            </a:p>
          </p:txBody>
        </p:sp>
      </p:grpSp>
      <p:sp>
        <p:nvSpPr>
          <p:cNvPr id="79896" name="Text Box 32"/>
          <p:cNvSpPr txBox="1">
            <a:spLocks noChangeArrowheads="1"/>
          </p:cNvSpPr>
          <p:nvPr/>
        </p:nvSpPr>
        <p:spPr bwMode="auto">
          <a:xfrm>
            <a:off x="7075488" y="5140326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solidFill>
                  <a:srgbClr val="FF3300"/>
                </a:solidFill>
                <a:latin typeface="Calibri" panose="020F0502020204030204" pitchFamily="34" charset="0"/>
                <a:ea typeface="標楷體" pitchFamily="65" charset="-120"/>
              </a:rPr>
              <a:t>4</a:t>
            </a:r>
          </a:p>
        </p:txBody>
      </p:sp>
      <p:sp>
        <p:nvSpPr>
          <p:cNvPr id="79897" name="Text Box 33"/>
          <p:cNvSpPr txBox="1">
            <a:spLocks noChangeArrowheads="1"/>
          </p:cNvSpPr>
          <p:nvPr/>
        </p:nvSpPr>
        <p:spPr bwMode="auto">
          <a:xfrm>
            <a:off x="7075488" y="554513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solidFill>
                  <a:srgbClr val="FF3300"/>
                </a:solidFill>
                <a:latin typeface="Calibri" panose="020F0502020204030204" pitchFamily="34" charset="0"/>
                <a:ea typeface="標楷體" pitchFamily="65" charset="-120"/>
              </a:rPr>
              <a:t>5</a:t>
            </a:r>
          </a:p>
        </p:txBody>
      </p:sp>
      <p:sp>
        <p:nvSpPr>
          <p:cNvPr id="79898" name="Text Box 34"/>
          <p:cNvSpPr txBox="1">
            <a:spLocks noChangeArrowheads="1"/>
          </p:cNvSpPr>
          <p:nvPr/>
        </p:nvSpPr>
        <p:spPr bwMode="auto">
          <a:xfrm>
            <a:off x="7075488" y="5911851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solidFill>
                  <a:srgbClr val="FF3300"/>
                </a:solidFill>
                <a:latin typeface="Calibri" panose="020F0502020204030204" pitchFamily="34" charset="0"/>
                <a:ea typeface="標楷體" pitchFamily="65" charset="-120"/>
              </a:rPr>
              <a:t>6</a:t>
            </a:r>
          </a:p>
        </p:txBody>
      </p:sp>
      <p:sp>
        <p:nvSpPr>
          <p:cNvPr id="79899" name="Text Box 35"/>
          <p:cNvSpPr txBox="1">
            <a:spLocks noChangeArrowheads="1"/>
          </p:cNvSpPr>
          <p:nvPr/>
        </p:nvSpPr>
        <p:spPr bwMode="auto">
          <a:xfrm>
            <a:off x="7075488" y="6276976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solidFill>
                  <a:srgbClr val="FF3300"/>
                </a:solidFill>
                <a:latin typeface="Calibri" panose="020F0502020204030204" pitchFamily="34" charset="0"/>
                <a:ea typeface="標楷體" pitchFamily="65" charset="-120"/>
              </a:rPr>
              <a:t>7</a:t>
            </a:r>
          </a:p>
        </p:txBody>
      </p:sp>
      <p:grpSp>
        <p:nvGrpSpPr>
          <p:cNvPr id="79900" name="Group 36"/>
          <p:cNvGrpSpPr>
            <a:grpSpLocks/>
          </p:cNvGrpSpPr>
          <p:nvPr/>
        </p:nvGrpSpPr>
        <p:grpSpPr bwMode="auto">
          <a:xfrm>
            <a:off x="7802564" y="3678238"/>
            <a:ext cx="363537" cy="2927350"/>
            <a:chOff x="3732" y="2317"/>
            <a:chExt cx="229" cy="1844"/>
          </a:xfrm>
        </p:grpSpPr>
        <p:sp>
          <p:nvSpPr>
            <p:cNvPr id="79903" name="Rectangle 37"/>
            <p:cNvSpPr>
              <a:spLocks noChangeArrowheads="1"/>
            </p:cNvSpPr>
            <p:nvPr/>
          </p:nvSpPr>
          <p:spPr bwMode="auto">
            <a:xfrm>
              <a:off x="3732" y="2317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b="1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  <a:t>3</a:t>
              </a:r>
            </a:p>
          </p:txBody>
        </p:sp>
        <p:sp>
          <p:nvSpPr>
            <p:cNvPr id="79904" name="Rectangle 38"/>
            <p:cNvSpPr>
              <a:spLocks noChangeArrowheads="1"/>
            </p:cNvSpPr>
            <p:nvPr/>
          </p:nvSpPr>
          <p:spPr bwMode="auto">
            <a:xfrm>
              <a:off x="3732" y="2547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b="1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  <a:t>0</a:t>
              </a:r>
            </a:p>
          </p:txBody>
        </p:sp>
        <p:sp>
          <p:nvSpPr>
            <p:cNvPr id="79905" name="Rectangle 39"/>
            <p:cNvSpPr>
              <a:spLocks noChangeArrowheads="1"/>
            </p:cNvSpPr>
            <p:nvPr/>
          </p:nvSpPr>
          <p:spPr bwMode="auto">
            <a:xfrm>
              <a:off x="3732" y="2778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b="1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  <a:t>2</a:t>
              </a:r>
            </a:p>
          </p:txBody>
        </p:sp>
        <p:sp>
          <p:nvSpPr>
            <p:cNvPr id="79906" name="Rectangle 40"/>
            <p:cNvSpPr>
              <a:spLocks noChangeArrowheads="1"/>
            </p:cNvSpPr>
            <p:nvPr/>
          </p:nvSpPr>
          <p:spPr bwMode="auto">
            <a:xfrm>
              <a:off x="3732" y="3008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b="1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  <a:t>2</a:t>
              </a:r>
            </a:p>
          </p:txBody>
        </p:sp>
        <p:sp>
          <p:nvSpPr>
            <p:cNvPr id="79907" name="Rectangle 41"/>
            <p:cNvSpPr>
              <a:spLocks noChangeArrowheads="1"/>
            </p:cNvSpPr>
            <p:nvPr/>
          </p:nvSpPr>
          <p:spPr bwMode="auto">
            <a:xfrm>
              <a:off x="3732" y="3239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b="1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  <a:t>1</a:t>
              </a:r>
            </a:p>
          </p:txBody>
        </p:sp>
        <p:sp>
          <p:nvSpPr>
            <p:cNvPr id="79908" name="Rectangle 42"/>
            <p:cNvSpPr>
              <a:spLocks noChangeArrowheads="1"/>
            </p:cNvSpPr>
            <p:nvPr/>
          </p:nvSpPr>
          <p:spPr bwMode="auto">
            <a:xfrm>
              <a:off x="3732" y="3469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b="1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  <a:t>1</a:t>
              </a:r>
            </a:p>
          </p:txBody>
        </p:sp>
        <p:sp>
          <p:nvSpPr>
            <p:cNvPr id="79909" name="Rectangle 43"/>
            <p:cNvSpPr>
              <a:spLocks noChangeArrowheads="1"/>
            </p:cNvSpPr>
            <p:nvPr/>
          </p:nvSpPr>
          <p:spPr bwMode="auto">
            <a:xfrm>
              <a:off x="3732" y="3700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b="1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  <a:t>0</a:t>
              </a:r>
            </a:p>
          </p:txBody>
        </p:sp>
        <p:sp>
          <p:nvSpPr>
            <p:cNvPr id="79910" name="Rectangle 44"/>
            <p:cNvSpPr>
              <a:spLocks noChangeArrowheads="1"/>
            </p:cNvSpPr>
            <p:nvPr/>
          </p:nvSpPr>
          <p:spPr bwMode="auto">
            <a:xfrm>
              <a:off x="3732" y="3930"/>
              <a:ext cx="229" cy="23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1800" b="1">
                  <a:solidFill>
                    <a:srgbClr val="FF3300"/>
                  </a:solidFill>
                  <a:latin typeface="Calibri" panose="020F0502020204030204" pitchFamily="34" charset="0"/>
                  <a:ea typeface="標楷體" pitchFamily="65" charset="-120"/>
                </a:rPr>
                <a:t>3</a:t>
              </a:r>
            </a:p>
          </p:txBody>
        </p:sp>
      </p:grpSp>
      <p:sp>
        <p:nvSpPr>
          <p:cNvPr id="79901" name="Text Box 45"/>
          <p:cNvSpPr txBox="1">
            <a:spLocks noChangeArrowheads="1"/>
          </p:cNvSpPr>
          <p:nvPr/>
        </p:nvSpPr>
        <p:spPr bwMode="auto">
          <a:xfrm>
            <a:off x="7453313" y="3232150"/>
            <a:ext cx="4821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dirty="0">
                <a:solidFill>
                  <a:srgbClr val="FF3300"/>
                </a:solidFill>
                <a:latin typeface="Calibri" panose="020F0502020204030204" pitchFamily="34" charset="0"/>
                <a:ea typeface="標楷體" pitchFamily="65" charset="-120"/>
              </a:rPr>
              <a:t>IPT</a:t>
            </a:r>
          </a:p>
        </p:txBody>
      </p:sp>
      <p:sp>
        <p:nvSpPr>
          <p:cNvPr id="79902" name="Text Box 46"/>
          <p:cNvSpPr txBox="1">
            <a:spLocks noChangeArrowheads="1"/>
          </p:cNvSpPr>
          <p:nvPr/>
        </p:nvSpPr>
        <p:spPr bwMode="auto">
          <a:xfrm>
            <a:off x="9115426" y="6553200"/>
            <a:ext cx="155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400"/>
              <a:t>From Ka, Ha-Zen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Inverted Page Table Architecture</a:t>
            </a:r>
            <a:endParaRPr lang="en-US" altLang="zh-TW" sz="3600"/>
          </a:p>
        </p:txBody>
      </p:sp>
      <p:pic>
        <p:nvPicPr>
          <p:cNvPr id="80899" name="Picture 3"/>
          <p:cNvPicPr>
            <a:picLocks noChangeAspect="1" noChangeArrowheads="1"/>
          </p:cNvPicPr>
          <p:nvPr/>
        </p:nvPicPr>
        <p:blipFill>
          <a:blip r:embed="rId2" cstate="print"/>
          <a:srcRect l="706" t="4347" r="706" b="4672"/>
          <a:stretch>
            <a:fillRect/>
          </a:stretch>
        </p:blipFill>
        <p:spPr bwMode="auto">
          <a:xfrm>
            <a:off x="2351088" y="1412875"/>
            <a:ext cx="7416800" cy="424815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  <p:sp>
        <p:nvSpPr>
          <p:cNvPr id="80900" name="Rectangle 4"/>
          <p:cNvSpPr>
            <a:spLocks noChangeArrowheads="1"/>
          </p:cNvSpPr>
          <p:nvPr/>
        </p:nvSpPr>
        <p:spPr bwMode="auto">
          <a:xfrm>
            <a:off x="2208213" y="5734051"/>
            <a:ext cx="7785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>
                <a:solidFill>
                  <a:srgbClr val="0000FF"/>
                </a:solidFill>
              </a:rPr>
              <a:t>Each memory access requires </a:t>
            </a:r>
            <a:r>
              <a:rPr lang="en-US" altLang="zh-TW" sz="1800" b="1" i="1">
                <a:solidFill>
                  <a:srgbClr val="0000FF"/>
                </a:solidFill>
              </a:rPr>
              <a:t>n</a:t>
            </a:r>
            <a:r>
              <a:rPr lang="en-US" altLang="zh-TW" sz="1800" b="1">
                <a:solidFill>
                  <a:srgbClr val="0000FF"/>
                </a:solidFill>
              </a:rPr>
              <a:t> (i.e. PT search) + 1 memory accesses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Inverted Page Table (Cont.)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 smtClean="0"/>
              <a:t>Advantages</a:t>
            </a:r>
          </a:p>
          <a:p>
            <a:pPr lvl="1" eaLnBrk="1" hangingPunct="1"/>
            <a:r>
              <a:rPr lang="en-US" altLang="zh-TW" dirty="0" smtClean="0"/>
              <a:t>Decreases </a:t>
            </a:r>
            <a:r>
              <a:rPr lang="en-US" altLang="zh-TW" dirty="0" smtClean="0">
                <a:solidFill>
                  <a:srgbClr val="0000FF"/>
                </a:solidFill>
              </a:rPr>
              <a:t>memory</a:t>
            </a:r>
            <a:r>
              <a:rPr lang="en-US" altLang="zh-TW" dirty="0" smtClean="0"/>
              <a:t> needed to store each page table, </a:t>
            </a:r>
          </a:p>
          <a:p>
            <a:pPr eaLnBrk="1" hangingPunct="1"/>
            <a:r>
              <a:rPr lang="en-US" altLang="zh-TW" dirty="0" smtClean="0"/>
              <a:t>Disadvantages</a:t>
            </a:r>
          </a:p>
          <a:p>
            <a:pPr lvl="1" eaLnBrk="1" hangingPunct="1"/>
            <a:r>
              <a:rPr lang="en-US" altLang="zh-TW" dirty="0" smtClean="0"/>
              <a:t>Increases </a:t>
            </a:r>
            <a:r>
              <a:rPr lang="en-US" altLang="zh-TW" dirty="0" smtClean="0">
                <a:solidFill>
                  <a:srgbClr val="0000FF"/>
                </a:solidFill>
              </a:rPr>
              <a:t>time</a:t>
            </a:r>
            <a:r>
              <a:rPr lang="en-US" altLang="zh-TW" dirty="0" smtClean="0"/>
              <a:t> needed to search the table</a:t>
            </a:r>
          </a:p>
          <a:p>
            <a:pPr lvl="2" eaLnBrk="1" hangingPunct="1"/>
            <a:r>
              <a:rPr lang="en-US" altLang="zh-TW" dirty="0" smtClean="0"/>
              <a:t>The inverted page table is sorted by </a:t>
            </a:r>
            <a:r>
              <a:rPr lang="en-US" altLang="zh-TW" b="1" dirty="0" smtClean="0"/>
              <a:t>physical address (frame number)</a:t>
            </a:r>
          </a:p>
          <a:p>
            <a:pPr lvl="2" eaLnBrk="1" hangingPunct="1"/>
            <a:r>
              <a:rPr lang="en-US" altLang="zh-TW" dirty="0" smtClean="0"/>
              <a:t>But the lookup occur on </a:t>
            </a:r>
            <a:r>
              <a:rPr lang="en-US" altLang="zh-TW" b="1" dirty="0" smtClean="0"/>
              <a:t>virtual address (page number)</a:t>
            </a:r>
          </a:p>
          <a:p>
            <a:pPr lvl="2" eaLnBrk="1" hangingPunct="1"/>
            <a:r>
              <a:rPr lang="en-US" altLang="zh-TW" dirty="0" smtClean="0"/>
              <a:t>The whole table might need to be searched</a:t>
            </a:r>
          </a:p>
          <a:p>
            <a:pPr lvl="2" eaLnBrk="1" hangingPunct="1"/>
            <a:r>
              <a:rPr lang="en-US" altLang="zh-TW" dirty="0" smtClean="0"/>
              <a:t>Sol: use </a:t>
            </a:r>
            <a:r>
              <a:rPr lang="en-US" altLang="zh-TW" b="1" dirty="0" smtClean="0">
                <a:solidFill>
                  <a:srgbClr val="FF3300"/>
                </a:solidFill>
              </a:rPr>
              <a:t>hash table</a:t>
            </a:r>
            <a:r>
              <a:rPr lang="en-US" altLang="zh-TW" b="1" dirty="0" smtClean="0"/>
              <a:t> </a:t>
            </a:r>
            <a:r>
              <a:rPr lang="en-US" altLang="zh-TW" dirty="0" smtClean="0"/>
              <a:t>to limit the search</a:t>
            </a:r>
          </a:p>
          <a:p>
            <a:pPr lvl="1" eaLnBrk="1" hangingPunct="1"/>
            <a:r>
              <a:rPr lang="en-US" altLang="zh-TW" dirty="0" smtClean="0"/>
              <a:t>Have difficulty implementing </a:t>
            </a:r>
            <a:r>
              <a:rPr lang="en-US" altLang="zh-TW" b="1" dirty="0" smtClean="0"/>
              <a:t>shared memory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 smtClean="0"/>
              <a:t>Background</a:t>
            </a:r>
          </a:p>
          <a:p>
            <a:pPr eaLnBrk="1" hangingPunct="1"/>
            <a:r>
              <a:rPr lang="en-US" altLang="zh-TW" dirty="0" smtClean="0"/>
              <a:t>Contiguous Memory Allocation</a:t>
            </a:r>
          </a:p>
          <a:p>
            <a:pPr eaLnBrk="1" hangingPunct="1"/>
            <a:r>
              <a:rPr lang="en-US" altLang="zh-TW" dirty="0" smtClean="0"/>
              <a:t>Paging</a:t>
            </a:r>
          </a:p>
          <a:p>
            <a:pPr eaLnBrk="1" hangingPunct="1"/>
            <a:r>
              <a:rPr lang="en-US" altLang="zh-TW" dirty="0" smtClean="0"/>
              <a:t>Structure of the Page Table</a:t>
            </a:r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Swapping</a:t>
            </a:r>
          </a:p>
          <a:p>
            <a:pPr eaLnBrk="1" hangingPunct="1"/>
            <a:r>
              <a:rPr lang="en-US" altLang="zh-TW" dirty="0" smtClean="0"/>
              <a:t>Example: Intel 32 and 64-bit Architectures</a:t>
            </a:r>
          </a:p>
          <a:p>
            <a:pPr eaLnBrk="1" hangingPunct="1"/>
            <a:r>
              <a:rPr lang="en-US" altLang="zh-TW" dirty="0" smtClean="0"/>
              <a:t>Example: ARMv8 Architecture</a:t>
            </a:r>
          </a:p>
        </p:txBody>
      </p:sp>
    </p:spTree>
    <p:extLst>
      <p:ext uri="{BB962C8B-B14F-4D97-AF65-F5344CB8AC3E}">
        <p14:creationId xmlns:p14="http://schemas.microsoft.com/office/powerpoint/2010/main" val="395386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Scheduling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TW" b="1" dirty="0" smtClean="0">
                <a:solidFill>
                  <a:srgbClr val="3366FF"/>
                </a:solidFill>
              </a:rPr>
              <a:t>Degree </a:t>
            </a:r>
            <a:r>
              <a:rPr lang="en-US" altLang="zh-TW" b="1" dirty="0">
                <a:solidFill>
                  <a:srgbClr val="3366FF"/>
                </a:solidFill>
              </a:rPr>
              <a:t>of multiprogramming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dirty="0"/>
              <a:t>The number of processes currently in memory</a:t>
            </a:r>
          </a:p>
        </p:txBody>
      </p:sp>
    </p:spTree>
    <p:extLst>
      <p:ext uri="{BB962C8B-B14F-4D97-AF65-F5344CB8AC3E}">
        <p14:creationId xmlns:p14="http://schemas.microsoft.com/office/powerpoint/2010/main" val="3977575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CPU Scheduling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TW" dirty="0"/>
              <a:t>Some OS introduces an intermediate from of </a:t>
            </a:r>
            <a:r>
              <a:rPr lang="en-US" altLang="zh-TW" dirty="0" smtClean="0"/>
              <a:t>scheduling: </a:t>
            </a:r>
            <a:r>
              <a:rPr lang="en-US" altLang="zh-TW" b="1" dirty="0" smtClean="0">
                <a:solidFill>
                  <a:srgbClr val="FF0000"/>
                </a:solidFill>
              </a:rPr>
              <a:t>swapping</a:t>
            </a:r>
            <a:endParaRPr lang="en-US" altLang="zh-TW" b="1" dirty="0">
              <a:solidFill>
                <a:srgbClr val="FF0000"/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TW" dirty="0" smtClean="0"/>
              <a:t>Swapping</a:t>
            </a:r>
            <a:endParaRPr lang="en-US" altLang="zh-TW" dirty="0"/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Removes </a:t>
            </a:r>
            <a:r>
              <a:rPr lang="en-US" altLang="zh-TW" dirty="0"/>
              <a:t>processes from memory </a:t>
            </a:r>
            <a:r>
              <a:rPr lang="en-US" altLang="zh-TW" dirty="0" smtClean="0"/>
              <a:t>to </a:t>
            </a:r>
            <a:r>
              <a:rPr lang="en-US" altLang="zh-TW" dirty="0"/>
              <a:t>a </a:t>
            </a:r>
            <a:r>
              <a:rPr lang="en-US" altLang="zh-TW" b="1" dirty="0"/>
              <a:t>backing store</a:t>
            </a:r>
            <a:endParaRPr lang="en-US" altLang="zh-TW" dirty="0" smtClean="0"/>
          </a:p>
          <a:p>
            <a:pPr lvl="2">
              <a:lnSpc>
                <a:spcPct val="110000"/>
              </a:lnSpc>
            </a:pPr>
            <a:r>
              <a:rPr lang="en-US" altLang="zh-TW" dirty="0" smtClean="0"/>
              <a:t>Reduce the degree of multiprogramming</a:t>
            </a:r>
          </a:p>
          <a:p>
            <a:pPr lvl="1">
              <a:lnSpc>
                <a:spcPct val="110000"/>
              </a:lnSpc>
            </a:pPr>
            <a:r>
              <a:rPr lang="en-US" altLang="zh-TW" dirty="0" smtClean="0"/>
              <a:t>At </a:t>
            </a:r>
            <a:r>
              <a:rPr lang="en-US" altLang="zh-TW" dirty="0"/>
              <a:t>some later time, the process can be re-introduced into memory </a:t>
            </a:r>
            <a:endParaRPr lang="en-US" altLang="zh-TW" dirty="0" smtClean="0"/>
          </a:p>
          <a:p>
            <a:pPr lvl="2">
              <a:lnSpc>
                <a:spcPct val="110000"/>
              </a:lnSpc>
            </a:pPr>
            <a:r>
              <a:rPr lang="en-US" altLang="zh-TW" dirty="0" smtClean="0"/>
              <a:t>Increase the degree of multiprogramming</a:t>
            </a:r>
          </a:p>
          <a:p>
            <a:pPr lvl="2">
              <a:lnSpc>
                <a:spcPct val="110000"/>
              </a:lnSpc>
            </a:pPr>
            <a:endParaRPr lang="en-US" altLang="zh-TW" dirty="0"/>
          </a:p>
          <a:p>
            <a:pPr>
              <a:lnSpc>
                <a:spcPct val="110000"/>
              </a:lnSpc>
            </a:pPr>
            <a:endParaRPr lang="en-US" altLang="zh-TW" dirty="0"/>
          </a:p>
          <a:p>
            <a:pPr>
              <a:lnSpc>
                <a:spcPct val="110000"/>
              </a:lnSpc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27506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mtClean="0"/>
              <a:t>Schematic View of Swapping</a:t>
            </a:r>
            <a:endParaRPr lang="en-US" altLang="zh-TW" sz="3600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/>
          <a:srcRect l="743" t="342" r="487" b="1299"/>
          <a:stretch>
            <a:fillRect/>
          </a:stretch>
        </p:blipFill>
        <p:spPr bwMode="auto">
          <a:xfrm>
            <a:off x="1847528" y="1692275"/>
            <a:ext cx="8424935" cy="416560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56240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TW" dirty="0" smtClean="0">
                <a:effectLst/>
              </a:rPr>
              <a:t>Swap Out and Swap In</a:t>
            </a: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 cstate="print"/>
          <a:srcRect l="9654" t="706" r="9933" b="1413"/>
          <a:stretch>
            <a:fillRect/>
          </a:stretch>
        </p:blipFill>
        <p:spPr bwMode="auto">
          <a:xfrm>
            <a:off x="2063552" y="1628775"/>
            <a:ext cx="8280919" cy="446405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93792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Swapping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TW" b="1" dirty="0" smtClean="0"/>
              <a:t>Advantages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zh-TW" dirty="0" smtClean="0"/>
              <a:t>The system can accommodate </a:t>
            </a:r>
            <a:r>
              <a:rPr lang="en-US" altLang="zh-TW" b="1" dirty="0" smtClean="0"/>
              <a:t>more</a:t>
            </a:r>
            <a:r>
              <a:rPr lang="en-US" altLang="zh-TW" dirty="0" smtClean="0"/>
              <a:t> processes than there is physical memory to store them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zh-TW" b="1" dirty="0" smtClean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TW" b="1" dirty="0" smtClean="0"/>
              <a:t>Backing store </a:t>
            </a:r>
            <a:r>
              <a:rPr lang="en-US" altLang="zh-TW" dirty="0" smtClean="0"/>
              <a:t>– for </a:t>
            </a:r>
            <a:r>
              <a:rPr lang="en-US" altLang="zh-TW" b="1" dirty="0" smtClean="0"/>
              <a:t>swap space</a:t>
            </a:r>
            <a:r>
              <a:rPr lang="en-US" altLang="zh-TW" dirty="0" smtClean="0"/>
              <a:t>, usually a </a:t>
            </a:r>
            <a:r>
              <a:rPr lang="en-US" altLang="zh-TW" b="1" dirty="0" smtClean="0"/>
              <a:t>disk partition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altLang="zh-TW" dirty="0" smtClean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TW" dirty="0" smtClean="0"/>
              <a:t>Good candidates for swapping out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zh-TW" b="1" dirty="0" smtClean="0"/>
              <a:t>Idle</a:t>
            </a:r>
            <a:r>
              <a:rPr lang="en-US" altLang="zh-TW" dirty="0" smtClean="0"/>
              <a:t> or mostly idle processes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endParaRPr lang="en-US" altLang="zh-TW" dirty="0" smtClean="0"/>
          </a:p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en-US" altLang="zh-TW" dirty="0" smtClean="0"/>
              <a:t>Standard swapping is not used in current OS (Linux and Windows) – </a:t>
            </a:r>
            <a:r>
              <a:rPr lang="en-US" altLang="zh-TW" b="1" dirty="0" smtClean="0"/>
              <a:t>Too much swapping time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0841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 smtClean="0"/>
              <a:t>Background</a:t>
            </a:r>
          </a:p>
          <a:p>
            <a:pPr eaLnBrk="1" hangingPunct="1"/>
            <a:r>
              <a:rPr lang="en-US" altLang="zh-TW" dirty="0" smtClean="0"/>
              <a:t>Contiguous Memory Allocation</a:t>
            </a:r>
          </a:p>
          <a:p>
            <a:pPr eaLnBrk="1" hangingPunct="1"/>
            <a:r>
              <a:rPr lang="en-US" altLang="zh-TW" dirty="0" smtClean="0"/>
              <a:t>Paging</a:t>
            </a:r>
          </a:p>
          <a:p>
            <a:pPr eaLnBrk="1" hangingPunct="1"/>
            <a:r>
              <a:rPr lang="en-US" altLang="zh-TW" dirty="0" smtClean="0"/>
              <a:t>Structure of the Page Table</a:t>
            </a:r>
          </a:p>
          <a:p>
            <a:pPr eaLnBrk="1" hangingPunct="1"/>
            <a:r>
              <a:rPr lang="en-US" altLang="zh-TW" dirty="0" smtClean="0"/>
              <a:t>Swapping</a:t>
            </a:r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Example: Intel 64-bit Architectures (skip!)</a:t>
            </a:r>
          </a:p>
          <a:p>
            <a:pPr eaLnBrk="1" hangingPunct="1"/>
            <a:r>
              <a:rPr lang="en-US" altLang="zh-TW" dirty="0" smtClean="0"/>
              <a:t>Example: ARMv8 Architecture</a:t>
            </a:r>
          </a:p>
        </p:txBody>
      </p:sp>
    </p:spTree>
    <p:extLst>
      <p:ext uri="{BB962C8B-B14F-4D97-AF65-F5344CB8AC3E}">
        <p14:creationId xmlns:p14="http://schemas.microsoft.com/office/powerpoint/2010/main" val="4221976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x86-64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altLang="zh-TW" dirty="0"/>
              <a:t>64 bits is ginormous (&gt; 16 </a:t>
            </a:r>
            <a:r>
              <a:rPr lang="en-US" altLang="zh-TW" dirty="0" err="1"/>
              <a:t>exabytes</a:t>
            </a:r>
            <a:r>
              <a:rPr lang="en-US" altLang="zh-TW" dirty="0"/>
              <a:t>)</a:t>
            </a:r>
          </a:p>
          <a:p>
            <a:pPr>
              <a:spcBef>
                <a:spcPts val="600"/>
              </a:spcBef>
            </a:pPr>
            <a:r>
              <a:rPr lang="en-US" altLang="zh-TW" dirty="0"/>
              <a:t>In practice only implement </a:t>
            </a:r>
            <a:r>
              <a:rPr lang="en-US" altLang="zh-TW" b="1" dirty="0"/>
              <a:t>48 bit </a:t>
            </a:r>
            <a:r>
              <a:rPr lang="en-US" altLang="zh-TW" dirty="0"/>
              <a:t>addressing</a:t>
            </a:r>
          </a:p>
          <a:p>
            <a:pPr lvl="1">
              <a:spcBef>
                <a:spcPts val="600"/>
              </a:spcBef>
            </a:pPr>
            <a:r>
              <a:rPr lang="en-US" altLang="zh-TW" dirty="0" smtClean="0"/>
              <a:t>But can support </a:t>
            </a:r>
            <a:r>
              <a:rPr lang="en-US" altLang="zh-TW" b="1" dirty="0" smtClean="0"/>
              <a:t>52-bit</a:t>
            </a:r>
            <a:r>
              <a:rPr lang="en-US" altLang="zh-TW" dirty="0" smtClean="0"/>
              <a:t> physical addresses (4096 terabytes) by </a:t>
            </a:r>
            <a:r>
              <a:rPr lang="en-US" altLang="zh-TW" b="1" dirty="0" smtClean="0"/>
              <a:t>page address extension (PAE)</a:t>
            </a:r>
          </a:p>
          <a:p>
            <a:pPr>
              <a:spcBef>
                <a:spcPts val="600"/>
              </a:spcBef>
            </a:pPr>
            <a:r>
              <a:rPr lang="en-US" altLang="zh-TW" dirty="0" smtClean="0"/>
              <a:t>Support for page sizes of 4KB, 2MB, or 1GB</a:t>
            </a:r>
          </a:p>
          <a:p>
            <a:pPr>
              <a:spcBef>
                <a:spcPts val="600"/>
              </a:spcBef>
            </a:pPr>
            <a:r>
              <a:rPr lang="en-US" altLang="zh-TW" dirty="0" smtClean="0"/>
              <a:t>Use </a:t>
            </a:r>
            <a:r>
              <a:rPr lang="en-US" altLang="zh-TW" b="1" dirty="0" smtClean="0">
                <a:solidFill>
                  <a:srgbClr val="FF0000"/>
                </a:solidFill>
              </a:rPr>
              <a:t>four levels of paging hierarchy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496" y="5299597"/>
            <a:ext cx="9361040" cy="9361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 smtClean="0"/>
              <a:t>Background</a:t>
            </a:r>
          </a:p>
          <a:p>
            <a:pPr eaLnBrk="1" hangingPunct="1"/>
            <a:r>
              <a:rPr lang="en-US" altLang="zh-TW" dirty="0" smtClean="0"/>
              <a:t>Contiguous Memory Allocation</a:t>
            </a:r>
          </a:p>
          <a:p>
            <a:pPr eaLnBrk="1" hangingPunct="1"/>
            <a:r>
              <a:rPr lang="en-US" altLang="zh-TW" dirty="0" smtClean="0"/>
              <a:t>Paging</a:t>
            </a:r>
          </a:p>
          <a:p>
            <a:pPr eaLnBrk="1" hangingPunct="1"/>
            <a:r>
              <a:rPr lang="en-US" altLang="zh-TW" dirty="0" smtClean="0"/>
              <a:t>Structure of the Page Table</a:t>
            </a:r>
          </a:p>
          <a:p>
            <a:pPr eaLnBrk="1" hangingPunct="1"/>
            <a:r>
              <a:rPr lang="en-US" altLang="zh-TW" dirty="0" smtClean="0"/>
              <a:t>Swapping</a:t>
            </a:r>
          </a:p>
          <a:p>
            <a:pPr eaLnBrk="1" hangingPunct="1"/>
            <a:r>
              <a:rPr lang="en-US" altLang="zh-TW" dirty="0" smtClean="0"/>
              <a:t>Example: Intel 32 and 64-bit Architectures</a:t>
            </a:r>
          </a:p>
          <a:p>
            <a:pPr eaLnBrk="1" hangingPunct="1"/>
            <a:r>
              <a:rPr lang="en-US" altLang="zh-TW" b="1" dirty="0" smtClean="0">
                <a:solidFill>
                  <a:srgbClr val="FF0000"/>
                </a:solidFill>
              </a:rPr>
              <a:t>Example: ARMv8 </a:t>
            </a:r>
            <a:r>
              <a:rPr lang="en-US" altLang="zh-TW" b="1" dirty="0">
                <a:solidFill>
                  <a:srgbClr val="FF0000"/>
                </a:solidFill>
              </a:rPr>
              <a:t>Architecture (Skip</a:t>
            </a:r>
            <a:r>
              <a:rPr lang="en-US" altLang="zh-TW" b="1" dirty="0" smtClean="0">
                <a:solidFill>
                  <a:srgbClr val="FF0000"/>
                </a:solidFill>
              </a:rPr>
              <a:t>!)</a:t>
            </a:r>
            <a:endParaRPr lang="en-US" altLang="zh-TW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80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ARM Architecture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4417" y="1484312"/>
            <a:ext cx="10972800" cy="4897015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</a:pPr>
            <a:r>
              <a:rPr lang="en-US" altLang="zh-TW" sz="2800" dirty="0" smtClean="0"/>
              <a:t>Dominant mobile platform chip (Apple </a:t>
            </a:r>
            <a:r>
              <a:rPr lang="en-US" altLang="zh-TW" sz="2800" dirty="0" err="1" smtClean="0"/>
              <a:t>iOS</a:t>
            </a:r>
            <a:r>
              <a:rPr lang="en-US" altLang="zh-TW" sz="2800" dirty="0" smtClean="0"/>
              <a:t> and Google Android devices for example)</a:t>
            </a:r>
          </a:p>
          <a:p>
            <a:pPr>
              <a:spcBef>
                <a:spcPts val="600"/>
              </a:spcBef>
            </a:pPr>
            <a:r>
              <a:rPr lang="en-US" altLang="zh-TW" sz="2800" dirty="0" smtClean="0"/>
              <a:t>32-bit ARM architecture supports the following page sizes </a:t>
            </a:r>
          </a:p>
          <a:p>
            <a:pPr lvl="1">
              <a:spcBef>
                <a:spcPts val="600"/>
              </a:spcBef>
            </a:pPr>
            <a:r>
              <a:rPr lang="en-US" altLang="zh-TW" dirty="0" smtClean="0"/>
              <a:t>4 KB, 16 KB, and 64 KB</a:t>
            </a:r>
          </a:p>
          <a:p>
            <a:pPr>
              <a:spcBef>
                <a:spcPts val="600"/>
              </a:spcBef>
            </a:pPr>
            <a:r>
              <a:rPr lang="en-US" altLang="zh-TW" sz="2800" b="1" dirty="0" smtClean="0">
                <a:solidFill>
                  <a:srgbClr val="FF0000"/>
                </a:solidFill>
              </a:rPr>
              <a:t>Three-level paging </a:t>
            </a:r>
            <a:r>
              <a:rPr lang="en-US" altLang="zh-TW" sz="2800" b="1" dirty="0" smtClean="0"/>
              <a:t>for 64 KB pages</a:t>
            </a:r>
          </a:p>
          <a:p>
            <a:pPr>
              <a:spcBef>
                <a:spcPts val="600"/>
              </a:spcBef>
            </a:pPr>
            <a:r>
              <a:rPr lang="en-US" altLang="zh-TW" sz="2800" b="1" dirty="0" smtClean="0">
                <a:solidFill>
                  <a:srgbClr val="FF0000"/>
                </a:solidFill>
              </a:rPr>
              <a:t>Four-level for smaller pages </a:t>
            </a:r>
            <a:r>
              <a:rPr lang="en-US" altLang="zh-TW" sz="2800" b="1" dirty="0" smtClean="0"/>
              <a:t>(4KB and 16KB)</a:t>
            </a:r>
          </a:p>
          <a:p>
            <a:pPr>
              <a:spcBef>
                <a:spcPts val="600"/>
              </a:spcBef>
            </a:pPr>
            <a:r>
              <a:rPr lang="en-US" altLang="zh-TW" sz="2800" dirty="0" smtClean="0"/>
              <a:t>Two levels of TLBs</a:t>
            </a:r>
          </a:p>
          <a:p>
            <a:pPr lvl="1">
              <a:spcBef>
                <a:spcPts val="600"/>
              </a:spcBef>
            </a:pPr>
            <a:r>
              <a:rPr lang="en-US" altLang="zh-TW" dirty="0" smtClean="0"/>
              <a:t>Outer level has two </a:t>
            </a:r>
            <a:r>
              <a:rPr lang="en-US" altLang="zh-TW" b="1" dirty="0" smtClean="0">
                <a:solidFill>
                  <a:srgbClr val="FF0000"/>
                </a:solidFill>
              </a:rPr>
              <a:t>micro TLBs </a:t>
            </a:r>
            <a:r>
              <a:rPr lang="en-US" altLang="zh-TW" dirty="0" smtClean="0"/>
              <a:t>(one data, one instruction)</a:t>
            </a:r>
          </a:p>
          <a:p>
            <a:pPr lvl="1">
              <a:spcBef>
                <a:spcPts val="600"/>
              </a:spcBef>
            </a:pPr>
            <a:r>
              <a:rPr lang="en-US" altLang="zh-TW" dirty="0" smtClean="0"/>
              <a:t>Inner is single </a:t>
            </a:r>
            <a:r>
              <a:rPr lang="en-US" altLang="zh-TW" b="1" dirty="0" smtClean="0">
                <a:solidFill>
                  <a:srgbClr val="FF0000"/>
                </a:solidFill>
              </a:rPr>
              <a:t>main TLB</a:t>
            </a:r>
          </a:p>
          <a:p>
            <a:pPr lvl="1">
              <a:spcBef>
                <a:spcPts val="600"/>
              </a:spcBef>
            </a:pPr>
            <a:r>
              <a:rPr lang="en-US" altLang="zh-TW" dirty="0" smtClean="0"/>
              <a:t>First inner is checked, on miss outers are checked, and on miss </a:t>
            </a:r>
            <a:r>
              <a:rPr lang="en-US" altLang="zh-TW" b="1" dirty="0" smtClean="0">
                <a:solidFill>
                  <a:srgbClr val="0000FF"/>
                </a:solidFill>
              </a:rPr>
              <a:t>page table walk </a:t>
            </a:r>
            <a:r>
              <a:rPr lang="en-US" altLang="zh-TW" dirty="0" smtClean="0"/>
              <a:t>is performed by CPU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440879"/>
            <a:ext cx="9361040" cy="720080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2348880"/>
            <a:ext cx="9793088" cy="361760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3863752" y="1328558"/>
            <a:ext cx="403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latin typeface="Calibri" panose="020F0502020204030204" pitchFamily="34" charset="0"/>
              </a:rPr>
              <a:t>ARM 4-KB Translation Granule</a:t>
            </a:r>
            <a:endParaRPr lang="zh-TW" altLang="en-US" sz="2400" b="1" dirty="0">
              <a:latin typeface="Calibri" panose="020F0502020204030204" pitchFamily="34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630936" y="6063679"/>
            <a:ext cx="4697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latin typeface="Calibri" panose="020F0502020204030204" pitchFamily="34" charset="0"/>
              </a:rPr>
              <a:t>ARM Four-Level Hierarchical Paging</a:t>
            </a:r>
            <a:endParaRPr lang="zh-TW" altLang="en-US" sz="24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070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5_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_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osnetppt">
  <a:themeElements>
    <a:clrScheme name="osnetpp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snetppt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snet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netpp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netpp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15585</TotalTime>
  <Words>6528</Words>
  <Application>Microsoft Office PowerPoint</Application>
  <PresentationFormat>寬螢幕</PresentationFormat>
  <Paragraphs>1502</Paragraphs>
  <Slides>211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5</vt:i4>
      </vt:variant>
      <vt:variant>
        <vt:lpstr>投影片標題</vt:lpstr>
      </vt:variant>
      <vt:variant>
        <vt:i4>211</vt:i4>
      </vt:variant>
    </vt:vector>
  </HeadingPairs>
  <TitlesOfParts>
    <vt:vector size="227" baseType="lpstr">
      <vt:lpstr>Arial Unicode MS</vt:lpstr>
      <vt:lpstr>新細明體</vt:lpstr>
      <vt:lpstr>標楷體</vt:lpstr>
      <vt:lpstr>Arial</vt:lpstr>
      <vt:lpstr>Bodoni MT</vt:lpstr>
      <vt:lpstr>Calibri</vt:lpstr>
      <vt:lpstr>Courier New</vt:lpstr>
      <vt:lpstr>Helvetica</vt:lpstr>
      <vt:lpstr>Sitka Text</vt:lpstr>
      <vt:lpstr>Symbol</vt:lpstr>
      <vt:lpstr>Times New Roman</vt:lpstr>
      <vt:lpstr>osnetppt</vt:lpstr>
      <vt:lpstr>5_osnetppt</vt:lpstr>
      <vt:lpstr>6_osnetppt</vt:lpstr>
      <vt:lpstr>1_osnetppt</vt:lpstr>
      <vt:lpstr>2_osnetppt</vt:lpstr>
      <vt:lpstr>Chapter 9:   Memory Management</vt:lpstr>
      <vt:lpstr>Outline</vt:lpstr>
      <vt:lpstr>Outline</vt:lpstr>
      <vt:lpstr>Background</vt:lpstr>
      <vt:lpstr>A Computer System</vt:lpstr>
      <vt:lpstr>Question: Programmers use variables.  But, CPUs access memory by addresses. 怎麼辦呢?</vt:lpstr>
      <vt:lpstr>複習：Example of a SIC Assembler Language Program</vt:lpstr>
      <vt:lpstr>Question: Programmers use variables.  But, CPUs access memory by addresses. 怎麼辦呢?</vt:lpstr>
      <vt:lpstr>Binding of Instructions and Data to Memory</vt:lpstr>
      <vt:lpstr>Q: 何時轉換呢?</vt:lpstr>
      <vt:lpstr>Program Development Steps</vt:lpstr>
      <vt:lpstr>The Role of the Linker and Loader</vt:lpstr>
      <vt:lpstr>Binding of Instructions and Data to Memory</vt:lpstr>
      <vt:lpstr>Address Binding</vt:lpstr>
      <vt:lpstr>Address Binding</vt:lpstr>
      <vt:lpstr>Binding at Compiler Time</vt:lpstr>
      <vt:lpstr>複習：Example of a SIC Assembler Language Program</vt:lpstr>
      <vt:lpstr>Binding at Compile Time</vt:lpstr>
      <vt:lpstr>Binding at Compile Time (Cont.)</vt:lpstr>
      <vt:lpstr>Q: Compiler time做binding有什麼缺點呢?</vt:lpstr>
      <vt:lpstr>Address Binding</vt:lpstr>
      <vt:lpstr>Binding at Loading Time</vt:lpstr>
      <vt:lpstr>Example of a SIC/XE Program (Fig 2.5,2.6)</vt:lpstr>
      <vt:lpstr>Example of a SIC/XE Program (Fig 2.5,2.6) (Cont.)</vt:lpstr>
      <vt:lpstr>Example of a SIC/XE Program (Fig 2.5,2.6) (Cont.)</vt:lpstr>
      <vt:lpstr>Binding at Loader Time</vt:lpstr>
      <vt:lpstr>Binding at Loader Time (Cont.)</vt:lpstr>
      <vt:lpstr>Loading time 做binding很好, 但是因為記憶體管理的特性, 所以目前使用execution time binding</vt:lpstr>
      <vt:lpstr>Address Binding</vt:lpstr>
      <vt:lpstr>Summary: Binding of Instructions and Data to Memory</vt:lpstr>
      <vt:lpstr>Outline</vt:lpstr>
      <vt:lpstr>PowerPoint 簡報</vt:lpstr>
      <vt:lpstr>Logical vs. Physical Address Space</vt:lpstr>
      <vt:lpstr>Q1: 為什麼要dynamic binding?</vt:lpstr>
      <vt:lpstr>Q2: 所以CPU送出來的logical address必須轉換為physical address, 由誰負責轉換呢?</vt:lpstr>
      <vt:lpstr>Memory-Management Unit (MMU)</vt:lpstr>
      <vt:lpstr>Q: 為什麼不是OS負責轉換呢?</vt:lpstr>
      <vt:lpstr>OS不知道發生記憶體存取</vt:lpstr>
      <vt:lpstr>Q3: 如何轉換呢?</vt:lpstr>
      <vt:lpstr>A Simple MMU Using a Relocation Register</vt:lpstr>
      <vt:lpstr>A Simple MMU Using a Relocation Register</vt:lpstr>
      <vt:lpstr>事實上, 目前使用的方法更強悍~</vt:lpstr>
      <vt:lpstr>Outline</vt:lpstr>
      <vt:lpstr>Dynamic Loading</vt:lpstr>
      <vt:lpstr>Dynamic Loading</vt:lpstr>
      <vt:lpstr>Outline</vt:lpstr>
      <vt:lpstr>複習：Linking做了什麼事情呢？</vt:lpstr>
      <vt:lpstr>Example of Programs Using Libraries in Linux</vt:lpstr>
      <vt:lpstr>Example of Programs Using Libraries in Linux (Cont.)</vt:lpstr>
      <vt:lpstr>Example of Programs Using Libraries in Linux (Cont.)</vt:lpstr>
      <vt:lpstr> Example of Programs Using Libraries</vt:lpstr>
      <vt:lpstr>複習完畢</vt:lpstr>
      <vt:lpstr>Dynamic Linking</vt:lpstr>
      <vt:lpstr>Static Linking v.s. Dynamic Linking</vt:lpstr>
      <vt:lpstr>Dynamic Linking</vt:lpstr>
      <vt:lpstr>Static Linking v.s. Dynamic Linking</vt:lpstr>
      <vt:lpstr>Dynamic Linking (Cont.)</vt:lpstr>
      <vt:lpstr>Dynamic Linking</vt:lpstr>
      <vt:lpstr>Dynamic Loading和Dynamic Linking到底有什麼不同呢?</vt:lpstr>
      <vt:lpstr>Example</vt:lpstr>
      <vt:lpstr>Example: load program X into memory via exec()</vt:lpstr>
      <vt:lpstr>Example: When X calls printf() </vt:lpstr>
      <vt:lpstr>PowerPoint 簡報</vt:lpstr>
      <vt:lpstr>PowerPoint 簡報</vt:lpstr>
      <vt:lpstr>作業系統實驗會有一個Static Linking vs Dynamic Linking的實驗</vt:lpstr>
      <vt:lpstr>Outline</vt:lpstr>
      <vt:lpstr>How to Allocate Memory to a Process?</vt:lpstr>
      <vt:lpstr>Contiguous Memory Allocation</vt:lpstr>
      <vt:lpstr>Outline</vt:lpstr>
      <vt:lpstr>Background</vt:lpstr>
      <vt:lpstr>Q: 何謂記憶體保護?</vt:lpstr>
      <vt:lpstr>Protection of Memory</vt:lpstr>
      <vt:lpstr>Q: 如何實現記憶體保護?</vt:lpstr>
      <vt:lpstr>Q: 誰負責提供記憶體保護?</vt:lpstr>
      <vt:lpstr>OS不知道發生記憶體存取</vt:lpstr>
      <vt:lpstr>看一個簡單的例子</vt:lpstr>
      <vt:lpstr>A Simple Example: Basic Hardware</vt:lpstr>
      <vt:lpstr>Base and Limit Registers</vt:lpstr>
      <vt:lpstr>Hardware Address Protection with Base and Limit Registers</vt:lpstr>
      <vt:lpstr>再看一個簡單的例子</vt:lpstr>
      <vt:lpstr>Memory Protection</vt:lpstr>
      <vt:lpstr>Hardware Support for Relocation and Limit Registers</vt:lpstr>
      <vt:lpstr>Q: Relocation (or base), and Limit registers can only be loaded (by privileged instructions) by the OS. Why?</vt:lpstr>
      <vt:lpstr>當process context switch, OS 必須重新載入 relocation (or base) and limit registers 的值.</vt:lpstr>
      <vt:lpstr>CPU Switch From Process to Process</vt:lpstr>
      <vt:lpstr>Q: 當thread context switch, OS是否也必須重新載入 relocation (or base) and limit registers 的值呢? Why?</vt:lpstr>
      <vt:lpstr>Solution : Multiple Threads Solution</vt:lpstr>
      <vt:lpstr>複習: 所以,第四章提到thread context switch overhead小於process context switch overhead</vt:lpstr>
      <vt:lpstr>複習: Context Switches between Threads  - Similar to Context Switch between Processes</vt:lpstr>
      <vt:lpstr>複習: Benefits</vt:lpstr>
      <vt:lpstr>複習完畢</vt:lpstr>
      <vt:lpstr>Outline</vt:lpstr>
      <vt:lpstr>Q: Where to Allocate Memory to a Process?</vt:lpstr>
      <vt:lpstr>Memory Allocation</vt:lpstr>
      <vt:lpstr>Example of Variable-Partition Scheme for Memory Allocation</vt:lpstr>
      <vt:lpstr>Dynamic Storage-Allocation Problem</vt:lpstr>
      <vt:lpstr>Outline</vt:lpstr>
      <vt:lpstr>Fragmentation</vt:lpstr>
      <vt:lpstr>External Fragmentation</vt:lpstr>
      <vt:lpstr>Compaction (I)</vt:lpstr>
      <vt:lpstr>Fragmentation (Cont.)</vt:lpstr>
      <vt:lpstr>Outline</vt:lpstr>
      <vt:lpstr>Paging</vt:lpstr>
      <vt:lpstr>Q: How to Implement Non-Contiguous Memory Allocation?</vt:lpstr>
      <vt:lpstr>Idea of Paging</vt:lpstr>
      <vt:lpstr>Idea of Paging</vt:lpstr>
      <vt:lpstr>複習：Process</vt:lpstr>
      <vt:lpstr>複習： Actual Memory Layout of a C Program</vt:lpstr>
      <vt:lpstr>Question: how to translate from logical memory to physical memory?</vt:lpstr>
      <vt:lpstr>Basic Method</vt:lpstr>
      <vt:lpstr>Paging Model of Logical and Physical Memory</vt:lpstr>
      <vt:lpstr>Question: how to translate from logical memory to physical memory?</vt:lpstr>
      <vt:lpstr>Paging Model of Logical and Physical Memory</vt:lpstr>
      <vt:lpstr>Paging Characteristics</vt:lpstr>
      <vt:lpstr>Q: 誰負責轉換?</vt:lpstr>
      <vt:lpstr>複習: Memory-Management Unit (MMU)</vt:lpstr>
      <vt:lpstr>複習: Q: 為什麼不是OS負責轉換呢?</vt:lpstr>
      <vt:lpstr>複習: OS不知道發生記憶體存取</vt:lpstr>
      <vt:lpstr>Q: MMU如何將logical address轉換為physical address呢?</vt:lpstr>
      <vt:lpstr>Address Translation Scheme</vt:lpstr>
      <vt:lpstr>Paging Hardware</vt:lpstr>
      <vt:lpstr>Paging Example 1</vt:lpstr>
      <vt:lpstr>Paging Example 2</vt:lpstr>
      <vt:lpstr>Q1: Who maintain the page table?</vt:lpstr>
      <vt:lpstr>Q2: 如何維護?</vt:lpstr>
      <vt:lpstr>Q3: Who use the page table?</vt:lpstr>
      <vt:lpstr>Q: 當要載入一個process時, OS如何知道那些frames是空的呢?</vt:lpstr>
      <vt:lpstr>Allocating Frames to a Process</vt:lpstr>
      <vt:lpstr>複習: Q2: 如何維護page table?</vt:lpstr>
      <vt:lpstr>Q: OS何時會建立page table?</vt:lpstr>
      <vt:lpstr>複習: The fork() System Call</vt:lpstr>
      <vt:lpstr>複習: The exec() System Call</vt:lpstr>
      <vt:lpstr>Frame Table</vt:lpstr>
      <vt:lpstr>PowerPoint 簡報</vt:lpstr>
      <vt:lpstr>Summary</vt:lpstr>
      <vt:lpstr>Outline</vt:lpstr>
      <vt:lpstr>Q: 每一個process有自己的page table或是整個系統只有一份page table?</vt:lpstr>
      <vt:lpstr>Per-Process Page Table</vt:lpstr>
      <vt:lpstr>Q: Where is the page table?</vt:lpstr>
      <vt:lpstr>複習：Storage-Device Hierarchy</vt:lpstr>
      <vt:lpstr>Q: How to know the location of a page table?</vt:lpstr>
      <vt:lpstr>Per-Process Page Table (Cont.)</vt:lpstr>
      <vt:lpstr>Each Process Has a Page Table</vt:lpstr>
      <vt:lpstr>PowerPoint 簡報</vt:lpstr>
      <vt:lpstr>同樣的, PTBR和PTLR在thread context switch不用save/restore</vt:lpstr>
      <vt:lpstr>Q: Page table is in memory! ⇨ Every data/instruction access requires two memory accesses</vt:lpstr>
      <vt:lpstr>複習：Storage-Device Hierarchy</vt:lpstr>
      <vt:lpstr>Hardware Support for Paging (Cont.)</vt:lpstr>
      <vt:lpstr>Paging Hardware with TLB</vt:lpstr>
      <vt:lpstr>TLB is the Cache of Page Table</vt:lpstr>
      <vt:lpstr>TLB (Cont.)</vt:lpstr>
      <vt:lpstr>Q: 當process context switch時, TLB必須flush. Why?</vt:lpstr>
      <vt:lpstr>Problems With TLB When Context Switches</vt:lpstr>
      <vt:lpstr>同樣的, thread context switch則不用flush TLB</vt:lpstr>
      <vt:lpstr>TLB (Cont.)</vt:lpstr>
      <vt:lpstr>Effective Access Time</vt:lpstr>
      <vt:lpstr>Effective Access Time (Cont.)</vt:lpstr>
      <vt:lpstr>Outline</vt:lpstr>
      <vt:lpstr>Q: 在paging架構下, 如何實現記憶體保護?</vt:lpstr>
      <vt:lpstr>Q: if a process issue a memory access to page 6, how to detect and deny this access? and by whom?</vt:lpstr>
      <vt:lpstr>1st Solution </vt:lpstr>
      <vt:lpstr>Memory Protection</vt:lpstr>
      <vt:lpstr>Valid (v) or Invalid (i) Bit in a Page Table for Memory Protection</vt:lpstr>
      <vt:lpstr>Another Example</vt:lpstr>
      <vt:lpstr>Q: 1st Solution有什麼缺點呢?</vt:lpstr>
      <vt:lpstr>Memory Protection (Cont.)</vt:lpstr>
      <vt:lpstr>Q: 有什麼其他的方法呢?</vt:lpstr>
      <vt:lpstr>Memory Protection (Cont.)</vt:lpstr>
      <vt:lpstr>Page-Table Length Register for Memory Protection</vt:lpstr>
      <vt:lpstr>複習: Per-Process Page Table (Cont.)</vt:lpstr>
      <vt:lpstr>事實上, page table可以提供更精細的記憶體保護</vt:lpstr>
      <vt:lpstr>Memory Protection</vt:lpstr>
      <vt:lpstr>More Protection Bits in the Page Table Entries</vt:lpstr>
      <vt:lpstr>Outline</vt:lpstr>
      <vt:lpstr>Shared Pages</vt:lpstr>
      <vt:lpstr>Example: Sharing of Standard C Library in a Paging Environment (Cont.)</vt:lpstr>
      <vt:lpstr>Q: 在上圖, P1, P2, P3都有使用C library, 如何讓P1, P2, P3共享frame 1, 3, 4, 6呢</vt:lpstr>
      <vt:lpstr>Example: Sharing of Standard C Library in a Paging Environment (Cont.)</vt:lpstr>
      <vt:lpstr>Shared Pages (Cont.)</vt:lpstr>
      <vt:lpstr>複習: Dynamic Linking</vt:lpstr>
      <vt:lpstr>複習: IPC Models </vt:lpstr>
      <vt:lpstr>Outline</vt:lpstr>
      <vt:lpstr>Motivations</vt:lpstr>
      <vt:lpstr>Q: 怎麼辦呢?</vt:lpstr>
      <vt:lpstr>Motivations (Cont.)</vt:lpstr>
      <vt:lpstr>Outline</vt:lpstr>
      <vt:lpstr>Hierarchical Page Tables</vt:lpstr>
      <vt:lpstr>Two-Level Paging Scheme</vt:lpstr>
      <vt:lpstr>Two-Level Paging Scheme (Cont.)</vt:lpstr>
      <vt:lpstr>Three-level Paging Scheme</vt:lpstr>
      <vt:lpstr>Hierarchical Page Tables (Cont.)</vt:lpstr>
      <vt:lpstr>Outline</vt:lpstr>
      <vt:lpstr>Hashed Page Tables</vt:lpstr>
      <vt:lpstr>Hashed Page Table</vt:lpstr>
      <vt:lpstr>複習: Paging Model of Logical and Physical Memory</vt:lpstr>
      <vt:lpstr>Outline</vt:lpstr>
      <vt:lpstr>Inverted Page Table</vt:lpstr>
      <vt:lpstr>Inverted Page Table Example</vt:lpstr>
      <vt:lpstr>Inverted Page Table Architecture</vt:lpstr>
      <vt:lpstr>Inverted Page Table (Cont.)</vt:lpstr>
      <vt:lpstr>Outline</vt:lpstr>
      <vt:lpstr>Process Scheduling</vt:lpstr>
      <vt:lpstr>CPU Scheduling</vt:lpstr>
      <vt:lpstr>Schematic View of Swapping</vt:lpstr>
      <vt:lpstr>Swap Out and Swap In</vt:lpstr>
      <vt:lpstr>Swapping</vt:lpstr>
      <vt:lpstr>Outline</vt:lpstr>
      <vt:lpstr>x86-64</vt:lpstr>
      <vt:lpstr>Outline</vt:lpstr>
      <vt:lpstr>ARM Architecture</vt:lpstr>
      <vt:lpstr>PowerPoint 簡報</vt:lpstr>
    </vt:vector>
  </TitlesOfParts>
  <Company>NCHU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CJSREX</dc:creator>
  <cp:lastModifiedBy>hpchang</cp:lastModifiedBy>
  <cp:revision>2211</cp:revision>
  <dcterms:created xsi:type="dcterms:W3CDTF">2007-09-05T09:28:55Z</dcterms:created>
  <dcterms:modified xsi:type="dcterms:W3CDTF">2025-11-26T04:55:59Z</dcterms:modified>
</cp:coreProperties>
</file>