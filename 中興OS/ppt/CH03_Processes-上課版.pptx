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6.xml" ContentType="application/vnd.openxmlformats-officedocument.theme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7.xml" ContentType="application/vnd.openxmlformats-officedocument.theme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  <p:sldMasterId id="2147483737" r:id="rId2"/>
    <p:sldMasterId id="2147483749" r:id="rId3"/>
    <p:sldMasterId id="2147483787" r:id="rId4"/>
    <p:sldMasterId id="2147483815" r:id="rId5"/>
    <p:sldMasterId id="2147483841" r:id="rId6"/>
    <p:sldMasterId id="2147483856" r:id="rId7"/>
    <p:sldMasterId id="2147483869" r:id="rId8"/>
  </p:sldMasterIdLst>
  <p:notesMasterIdLst>
    <p:notesMasterId r:id="rId158"/>
  </p:notesMasterIdLst>
  <p:sldIdLst>
    <p:sldId id="552" r:id="rId9"/>
    <p:sldId id="477" r:id="rId10"/>
    <p:sldId id="557" r:id="rId11"/>
    <p:sldId id="560" r:id="rId12"/>
    <p:sldId id="482" r:id="rId13"/>
    <p:sldId id="487" r:id="rId14"/>
    <p:sldId id="561" r:id="rId15"/>
    <p:sldId id="562" r:id="rId16"/>
    <p:sldId id="523" r:id="rId17"/>
    <p:sldId id="563" r:id="rId18"/>
    <p:sldId id="283" r:id="rId19"/>
    <p:sldId id="524" r:id="rId20"/>
    <p:sldId id="565" r:id="rId21"/>
    <p:sldId id="566" r:id="rId22"/>
    <p:sldId id="564" r:id="rId23"/>
    <p:sldId id="481" r:id="rId24"/>
    <p:sldId id="554" r:id="rId25"/>
    <p:sldId id="553" r:id="rId26"/>
    <p:sldId id="567" r:id="rId27"/>
    <p:sldId id="488" r:id="rId28"/>
    <p:sldId id="568" r:id="rId29"/>
    <p:sldId id="448" r:id="rId30"/>
    <p:sldId id="445" r:id="rId31"/>
    <p:sldId id="551" r:id="rId32"/>
    <p:sldId id="446" r:id="rId33"/>
    <p:sldId id="569" r:id="rId34"/>
    <p:sldId id="478" r:id="rId35"/>
    <p:sldId id="570" r:id="rId36"/>
    <p:sldId id="284" r:id="rId37"/>
    <p:sldId id="326" r:id="rId38"/>
    <p:sldId id="571" r:id="rId39"/>
    <p:sldId id="479" r:id="rId40"/>
    <p:sldId id="572" r:id="rId41"/>
    <p:sldId id="573" r:id="rId42"/>
    <p:sldId id="325" r:id="rId43"/>
    <p:sldId id="626" r:id="rId44"/>
    <p:sldId id="574" r:id="rId45"/>
    <p:sldId id="287" r:id="rId46"/>
    <p:sldId id="533" r:id="rId47"/>
    <p:sldId id="447" r:id="rId48"/>
    <p:sldId id="400" r:id="rId49"/>
    <p:sldId id="480" r:id="rId50"/>
    <p:sldId id="575" r:id="rId51"/>
    <p:sldId id="576" r:id="rId52"/>
    <p:sldId id="577" r:id="rId53"/>
    <p:sldId id="578" r:id="rId54"/>
    <p:sldId id="586" r:id="rId55"/>
    <p:sldId id="581" r:id="rId56"/>
    <p:sldId id="584" r:id="rId57"/>
    <p:sldId id="460" r:id="rId58"/>
    <p:sldId id="538" r:id="rId59"/>
    <p:sldId id="457" r:id="rId60"/>
    <p:sldId id="534" r:id="rId61"/>
    <p:sldId id="456" r:id="rId62"/>
    <p:sldId id="332" r:id="rId63"/>
    <p:sldId id="455" r:id="rId64"/>
    <p:sldId id="585" r:id="rId65"/>
    <p:sldId id="404" r:id="rId66"/>
    <p:sldId id="528" r:id="rId67"/>
    <p:sldId id="541" r:id="rId68"/>
    <p:sldId id="539" r:id="rId69"/>
    <p:sldId id="618" r:id="rId70"/>
    <p:sldId id="587" r:id="rId71"/>
    <p:sldId id="530" r:id="rId72"/>
    <p:sldId id="619" r:id="rId73"/>
    <p:sldId id="531" r:id="rId74"/>
    <p:sldId id="628" r:id="rId75"/>
    <p:sldId id="495" r:id="rId76"/>
    <p:sldId id="461" r:id="rId77"/>
    <p:sldId id="497" r:id="rId78"/>
    <p:sldId id="498" r:id="rId79"/>
    <p:sldId id="588" r:id="rId80"/>
    <p:sldId id="621" r:id="rId81"/>
    <p:sldId id="499" r:id="rId82"/>
    <p:sldId id="629" r:id="rId83"/>
    <p:sldId id="631" r:id="rId84"/>
    <p:sldId id="632" r:id="rId85"/>
    <p:sldId id="633" r:id="rId86"/>
    <p:sldId id="540" r:id="rId87"/>
    <p:sldId id="424" r:id="rId88"/>
    <p:sldId id="620" r:id="rId89"/>
    <p:sldId id="622" r:id="rId90"/>
    <p:sldId id="624" r:id="rId91"/>
    <p:sldId id="623" r:id="rId92"/>
    <p:sldId id="625" r:id="rId93"/>
    <p:sldId id="442" r:id="rId94"/>
    <p:sldId id="532" r:id="rId95"/>
    <p:sldId id="590" r:id="rId96"/>
    <p:sldId id="591" r:id="rId97"/>
    <p:sldId id="592" r:id="rId98"/>
    <p:sldId id="589" r:id="rId99"/>
    <p:sldId id="500" r:id="rId100"/>
    <p:sldId id="300" r:id="rId101"/>
    <p:sldId id="594" r:id="rId102"/>
    <p:sldId id="426" r:id="rId103"/>
    <p:sldId id="595" r:id="rId104"/>
    <p:sldId id="383" r:id="rId105"/>
    <p:sldId id="596" r:id="rId106"/>
    <p:sldId id="597" r:id="rId107"/>
    <p:sldId id="345" r:id="rId108"/>
    <p:sldId id="343" r:id="rId109"/>
    <p:sldId id="427" r:id="rId110"/>
    <p:sldId id="298" r:id="rId111"/>
    <p:sldId id="603" r:id="rId112"/>
    <p:sldId id="601" r:id="rId113"/>
    <p:sldId id="602" r:id="rId114"/>
    <p:sldId id="600" r:id="rId115"/>
    <p:sldId id="598" r:id="rId116"/>
    <p:sldId id="599" r:id="rId117"/>
    <p:sldId id="604" r:id="rId118"/>
    <p:sldId id="463" r:id="rId119"/>
    <p:sldId id="605" r:id="rId120"/>
    <p:sldId id="344" r:id="rId121"/>
    <p:sldId id="544" r:id="rId122"/>
    <p:sldId id="634" r:id="rId123"/>
    <p:sldId id="384" r:id="rId124"/>
    <p:sldId id="635" r:id="rId125"/>
    <p:sldId id="543" r:id="rId126"/>
    <p:sldId id="636" r:id="rId127"/>
    <p:sldId id="501" r:id="rId128"/>
    <p:sldId id="637" r:id="rId129"/>
    <p:sldId id="606" r:id="rId130"/>
    <p:sldId id="502" r:id="rId131"/>
    <p:sldId id="638" r:id="rId132"/>
    <p:sldId id="558" r:id="rId133"/>
    <p:sldId id="443" r:id="rId134"/>
    <p:sldId id="607" r:id="rId135"/>
    <p:sldId id="349" r:id="rId136"/>
    <p:sldId id="545" r:id="rId137"/>
    <p:sldId id="521" r:id="rId138"/>
    <p:sldId id="514" r:id="rId139"/>
    <p:sldId id="609" r:id="rId140"/>
    <p:sldId id="611" r:id="rId141"/>
    <p:sldId id="612" r:id="rId142"/>
    <p:sldId id="613" r:id="rId143"/>
    <p:sldId id="614" r:id="rId144"/>
    <p:sldId id="639" r:id="rId145"/>
    <p:sldId id="522" r:id="rId146"/>
    <p:sldId id="516" r:id="rId147"/>
    <p:sldId id="515" r:id="rId148"/>
    <p:sldId id="513" r:id="rId149"/>
    <p:sldId id="517" r:id="rId150"/>
    <p:sldId id="546" r:id="rId151"/>
    <p:sldId id="608" r:id="rId152"/>
    <p:sldId id="519" r:id="rId153"/>
    <p:sldId id="559" r:id="rId154"/>
    <p:sldId id="615" r:id="rId155"/>
    <p:sldId id="388" r:id="rId156"/>
    <p:sldId id="616" r:id="rId157"/>
  </p:sldIdLst>
  <p:sldSz cx="12192000" cy="6858000"/>
  <p:notesSz cx="7099300" cy="10234613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kumimoji="1" sz="3600" kern="1200">
        <a:solidFill>
          <a:schemeClr val="tx1"/>
        </a:solidFill>
        <a:latin typeface="Arial" charset="0"/>
        <a:ea typeface="新細明體" charset="-120"/>
        <a:cs typeface="+mn-cs"/>
      </a:defRPr>
    </a:lvl6pPr>
    <a:lvl7pPr marL="2743200" algn="l" defTabSz="914400" rtl="0" eaLnBrk="1" latinLnBrk="0" hangingPunct="1">
      <a:defRPr kumimoji="1" sz="3600" kern="1200">
        <a:solidFill>
          <a:schemeClr val="tx1"/>
        </a:solidFill>
        <a:latin typeface="Arial" charset="0"/>
        <a:ea typeface="新細明體" charset="-120"/>
        <a:cs typeface="+mn-cs"/>
      </a:defRPr>
    </a:lvl7pPr>
    <a:lvl8pPr marL="3200400" algn="l" defTabSz="914400" rtl="0" eaLnBrk="1" latinLnBrk="0" hangingPunct="1">
      <a:defRPr kumimoji="1" sz="3600" kern="1200">
        <a:solidFill>
          <a:schemeClr val="tx1"/>
        </a:solidFill>
        <a:latin typeface="Arial" charset="0"/>
        <a:ea typeface="新細明體" charset="-120"/>
        <a:cs typeface="+mn-cs"/>
      </a:defRPr>
    </a:lvl8pPr>
    <a:lvl9pPr marL="3657600" algn="l" defTabSz="914400" rtl="0" eaLnBrk="1" latinLnBrk="0" hangingPunct="1">
      <a:defRPr kumimoji="1" sz="3600" kern="1200">
        <a:solidFill>
          <a:schemeClr val="tx1"/>
        </a:solidFill>
        <a:latin typeface="Arial" charset="0"/>
        <a:ea typeface="新細明體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0000FF"/>
    <a:srgbClr val="CCFF33"/>
    <a:srgbClr val="99CCFF"/>
    <a:srgbClr val="FFFF00"/>
    <a:srgbClr val="3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917" autoAdjust="0"/>
    <p:restoredTop sz="89144" autoAdjust="0"/>
  </p:normalViewPr>
  <p:slideViewPr>
    <p:cSldViewPr>
      <p:cViewPr varScale="1">
        <p:scale>
          <a:sx n="66" d="100"/>
          <a:sy n="66" d="100"/>
        </p:scale>
        <p:origin x="224" y="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09.xml"/><Relationship Id="rId21" Type="http://schemas.openxmlformats.org/officeDocument/2006/relationships/slide" Target="slides/slide13.xml"/><Relationship Id="rId42" Type="http://schemas.openxmlformats.org/officeDocument/2006/relationships/slide" Target="slides/slide34.xml"/><Relationship Id="rId63" Type="http://schemas.openxmlformats.org/officeDocument/2006/relationships/slide" Target="slides/slide55.xml"/><Relationship Id="rId84" Type="http://schemas.openxmlformats.org/officeDocument/2006/relationships/slide" Target="slides/slide76.xml"/><Relationship Id="rId138" Type="http://schemas.openxmlformats.org/officeDocument/2006/relationships/slide" Target="slides/slide130.xml"/><Relationship Id="rId159" Type="http://schemas.openxmlformats.org/officeDocument/2006/relationships/presProps" Target="presProps.xml"/><Relationship Id="rId107" Type="http://schemas.openxmlformats.org/officeDocument/2006/relationships/slide" Target="slides/slide99.xml"/><Relationship Id="rId11" Type="http://schemas.openxmlformats.org/officeDocument/2006/relationships/slide" Target="slides/slide3.xml"/><Relationship Id="rId32" Type="http://schemas.openxmlformats.org/officeDocument/2006/relationships/slide" Target="slides/slide24.xml"/><Relationship Id="rId53" Type="http://schemas.openxmlformats.org/officeDocument/2006/relationships/slide" Target="slides/slide45.xml"/><Relationship Id="rId74" Type="http://schemas.openxmlformats.org/officeDocument/2006/relationships/slide" Target="slides/slide66.xml"/><Relationship Id="rId128" Type="http://schemas.openxmlformats.org/officeDocument/2006/relationships/slide" Target="slides/slide120.xml"/><Relationship Id="rId149" Type="http://schemas.openxmlformats.org/officeDocument/2006/relationships/slide" Target="slides/slide141.xml"/><Relationship Id="rId5" Type="http://schemas.openxmlformats.org/officeDocument/2006/relationships/slideMaster" Target="slideMasters/slideMaster5.xml"/><Relationship Id="rId95" Type="http://schemas.openxmlformats.org/officeDocument/2006/relationships/slide" Target="slides/slide87.xml"/><Relationship Id="rId160" Type="http://schemas.openxmlformats.org/officeDocument/2006/relationships/viewProps" Target="viewProps.xml"/><Relationship Id="rId22" Type="http://schemas.openxmlformats.org/officeDocument/2006/relationships/slide" Target="slides/slide14.xml"/><Relationship Id="rId43" Type="http://schemas.openxmlformats.org/officeDocument/2006/relationships/slide" Target="slides/slide35.xml"/><Relationship Id="rId64" Type="http://schemas.openxmlformats.org/officeDocument/2006/relationships/slide" Target="slides/slide56.xml"/><Relationship Id="rId118" Type="http://schemas.openxmlformats.org/officeDocument/2006/relationships/slide" Target="slides/slide110.xml"/><Relationship Id="rId139" Type="http://schemas.openxmlformats.org/officeDocument/2006/relationships/slide" Target="slides/slide131.xml"/><Relationship Id="rId85" Type="http://schemas.openxmlformats.org/officeDocument/2006/relationships/slide" Target="slides/slide77.xml"/><Relationship Id="rId150" Type="http://schemas.openxmlformats.org/officeDocument/2006/relationships/slide" Target="slides/slide142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59" Type="http://schemas.openxmlformats.org/officeDocument/2006/relationships/slide" Target="slides/slide51.xml"/><Relationship Id="rId103" Type="http://schemas.openxmlformats.org/officeDocument/2006/relationships/slide" Target="slides/slide95.xml"/><Relationship Id="rId108" Type="http://schemas.openxmlformats.org/officeDocument/2006/relationships/slide" Target="slides/slide100.xml"/><Relationship Id="rId124" Type="http://schemas.openxmlformats.org/officeDocument/2006/relationships/slide" Target="slides/slide116.xml"/><Relationship Id="rId129" Type="http://schemas.openxmlformats.org/officeDocument/2006/relationships/slide" Target="slides/slide121.xml"/><Relationship Id="rId54" Type="http://schemas.openxmlformats.org/officeDocument/2006/relationships/slide" Target="slides/slide46.xml"/><Relationship Id="rId70" Type="http://schemas.openxmlformats.org/officeDocument/2006/relationships/slide" Target="slides/slide62.xml"/><Relationship Id="rId75" Type="http://schemas.openxmlformats.org/officeDocument/2006/relationships/slide" Target="slides/slide67.xml"/><Relationship Id="rId91" Type="http://schemas.openxmlformats.org/officeDocument/2006/relationships/slide" Target="slides/slide83.xml"/><Relationship Id="rId96" Type="http://schemas.openxmlformats.org/officeDocument/2006/relationships/slide" Target="slides/slide88.xml"/><Relationship Id="rId140" Type="http://schemas.openxmlformats.org/officeDocument/2006/relationships/slide" Target="slides/slide132.xml"/><Relationship Id="rId145" Type="http://schemas.openxmlformats.org/officeDocument/2006/relationships/slide" Target="slides/slide137.xml"/><Relationship Id="rId16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49" Type="http://schemas.openxmlformats.org/officeDocument/2006/relationships/slide" Target="slides/slide41.xml"/><Relationship Id="rId114" Type="http://schemas.openxmlformats.org/officeDocument/2006/relationships/slide" Target="slides/slide106.xml"/><Relationship Id="rId119" Type="http://schemas.openxmlformats.org/officeDocument/2006/relationships/slide" Target="slides/slide111.xml"/><Relationship Id="rId44" Type="http://schemas.openxmlformats.org/officeDocument/2006/relationships/slide" Target="slides/slide36.xml"/><Relationship Id="rId60" Type="http://schemas.openxmlformats.org/officeDocument/2006/relationships/slide" Target="slides/slide52.xml"/><Relationship Id="rId65" Type="http://schemas.openxmlformats.org/officeDocument/2006/relationships/slide" Target="slides/slide57.xml"/><Relationship Id="rId81" Type="http://schemas.openxmlformats.org/officeDocument/2006/relationships/slide" Target="slides/slide73.xml"/><Relationship Id="rId86" Type="http://schemas.openxmlformats.org/officeDocument/2006/relationships/slide" Target="slides/slide78.xml"/><Relationship Id="rId130" Type="http://schemas.openxmlformats.org/officeDocument/2006/relationships/slide" Target="slides/slide122.xml"/><Relationship Id="rId135" Type="http://schemas.openxmlformats.org/officeDocument/2006/relationships/slide" Target="slides/slide127.xml"/><Relationship Id="rId151" Type="http://schemas.openxmlformats.org/officeDocument/2006/relationships/slide" Target="slides/slide143.xml"/><Relationship Id="rId156" Type="http://schemas.openxmlformats.org/officeDocument/2006/relationships/slide" Target="slides/slide14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9" Type="http://schemas.openxmlformats.org/officeDocument/2006/relationships/slide" Target="slides/slide31.xml"/><Relationship Id="rId109" Type="http://schemas.openxmlformats.org/officeDocument/2006/relationships/slide" Target="slides/slide101.xml"/><Relationship Id="rId34" Type="http://schemas.openxmlformats.org/officeDocument/2006/relationships/slide" Target="slides/slide26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76" Type="http://schemas.openxmlformats.org/officeDocument/2006/relationships/slide" Target="slides/slide68.xml"/><Relationship Id="rId97" Type="http://schemas.openxmlformats.org/officeDocument/2006/relationships/slide" Target="slides/slide89.xml"/><Relationship Id="rId104" Type="http://schemas.openxmlformats.org/officeDocument/2006/relationships/slide" Target="slides/slide96.xml"/><Relationship Id="rId120" Type="http://schemas.openxmlformats.org/officeDocument/2006/relationships/slide" Target="slides/slide112.xml"/><Relationship Id="rId125" Type="http://schemas.openxmlformats.org/officeDocument/2006/relationships/slide" Target="slides/slide117.xml"/><Relationship Id="rId141" Type="http://schemas.openxmlformats.org/officeDocument/2006/relationships/slide" Target="slides/slide133.xml"/><Relationship Id="rId146" Type="http://schemas.openxmlformats.org/officeDocument/2006/relationships/slide" Target="slides/slide138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3.xml"/><Relationship Id="rId92" Type="http://schemas.openxmlformats.org/officeDocument/2006/relationships/slide" Target="slides/slide84.xml"/><Relationship Id="rId16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24" Type="http://schemas.openxmlformats.org/officeDocument/2006/relationships/slide" Target="slides/slide16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66" Type="http://schemas.openxmlformats.org/officeDocument/2006/relationships/slide" Target="slides/slide58.xml"/><Relationship Id="rId87" Type="http://schemas.openxmlformats.org/officeDocument/2006/relationships/slide" Target="slides/slide79.xml"/><Relationship Id="rId110" Type="http://schemas.openxmlformats.org/officeDocument/2006/relationships/slide" Target="slides/slide102.xml"/><Relationship Id="rId115" Type="http://schemas.openxmlformats.org/officeDocument/2006/relationships/slide" Target="slides/slide107.xml"/><Relationship Id="rId131" Type="http://schemas.openxmlformats.org/officeDocument/2006/relationships/slide" Target="slides/slide123.xml"/><Relationship Id="rId136" Type="http://schemas.openxmlformats.org/officeDocument/2006/relationships/slide" Target="slides/slide128.xml"/><Relationship Id="rId157" Type="http://schemas.openxmlformats.org/officeDocument/2006/relationships/slide" Target="slides/slide149.xml"/><Relationship Id="rId61" Type="http://schemas.openxmlformats.org/officeDocument/2006/relationships/slide" Target="slides/slide53.xml"/><Relationship Id="rId82" Type="http://schemas.openxmlformats.org/officeDocument/2006/relationships/slide" Target="slides/slide74.xml"/><Relationship Id="rId152" Type="http://schemas.openxmlformats.org/officeDocument/2006/relationships/slide" Target="slides/slide144.xml"/><Relationship Id="rId19" Type="http://schemas.openxmlformats.org/officeDocument/2006/relationships/slide" Target="slides/slide11.xml"/><Relationship Id="rId14" Type="http://schemas.openxmlformats.org/officeDocument/2006/relationships/slide" Target="slides/slide6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56" Type="http://schemas.openxmlformats.org/officeDocument/2006/relationships/slide" Target="slides/slide48.xml"/><Relationship Id="rId77" Type="http://schemas.openxmlformats.org/officeDocument/2006/relationships/slide" Target="slides/slide69.xml"/><Relationship Id="rId100" Type="http://schemas.openxmlformats.org/officeDocument/2006/relationships/slide" Target="slides/slide92.xml"/><Relationship Id="rId105" Type="http://schemas.openxmlformats.org/officeDocument/2006/relationships/slide" Target="slides/slide97.xml"/><Relationship Id="rId126" Type="http://schemas.openxmlformats.org/officeDocument/2006/relationships/slide" Target="slides/slide118.xml"/><Relationship Id="rId147" Type="http://schemas.openxmlformats.org/officeDocument/2006/relationships/slide" Target="slides/slide139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3.xml"/><Relationship Id="rId72" Type="http://schemas.openxmlformats.org/officeDocument/2006/relationships/slide" Target="slides/slide64.xml"/><Relationship Id="rId93" Type="http://schemas.openxmlformats.org/officeDocument/2006/relationships/slide" Target="slides/slide85.xml"/><Relationship Id="rId98" Type="http://schemas.openxmlformats.org/officeDocument/2006/relationships/slide" Target="slides/slide90.xml"/><Relationship Id="rId121" Type="http://schemas.openxmlformats.org/officeDocument/2006/relationships/slide" Target="slides/slide113.xml"/><Relationship Id="rId142" Type="http://schemas.openxmlformats.org/officeDocument/2006/relationships/slide" Target="slides/slide134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17.xml"/><Relationship Id="rId46" Type="http://schemas.openxmlformats.org/officeDocument/2006/relationships/slide" Target="slides/slide38.xml"/><Relationship Id="rId67" Type="http://schemas.openxmlformats.org/officeDocument/2006/relationships/slide" Target="slides/slide59.xml"/><Relationship Id="rId116" Type="http://schemas.openxmlformats.org/officeDocument/2006/relationships/slide" Target="slides/slide108.xml"/><Relationship Id="rId137" Type="http://schemas.openxmlformats.org/officeDocument/2006/relationships/slide" Target="slides/slide129.xml"/><Relationship Id="rId158" Type="http://schemas.openxmlformats.org/officeDocument/2006/relationships/notesMaster" Target="notesMasters/notesMaster1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62" Type="http://schemas.openxmlformats.org/officeDocument/2006/relationships/slide" Target="slides/slide54.xml"/><Relationship Id="rId83" Type="http://schemas.openxmlformats.org/officeDocument/2006/relationships/slide" Target="slides/slide75.xml"/><Relationship Id="rId88" Type="http://schemas.openxmlformats.org/officeDocument/2006/relationships/slide" Target="slides/slide80.xml"/><Relationship Id="rId111" Type="http://schemas.openxmlformats.org/officeDocument/2006/relationships/slide" Target="slides/slide103.xml"/><Relationship Id="rId132" Type="http://schemas.openxmlformats.org/officeDocument/2006/relationships/slide" Target="slides/slide124.xml"/><Relationship Id="rId153" Type="http://schemas.openxmlformats.org/officeDocument/2006/relationships/slide" Target="slides/slide145.xml"/><Relationship Id="rId15" Type="http://schemas.openxmlformats.org/officeDocument/2006/relationships/slide" Target="slides/slide7.xml"/><Relationship Id="rId36" Type="http://schemas.openxmlformats.org/officeDocument/2006/relationships/slide" Target="slides/slide28.xml"/><Relationship Id="rId57" Type="http://schemas.openxmlformats.org/officeDocument/2006/relationships/slide" Target="slides/slide49.xml"/><Relationship Id="rId106" Type="http://schemas.openxmlformats.org/officeDocument/2006/relationships/slide" Target="slides/slide98.xml"/><Relationship Id="rId127" Type="http://schemas.openxmlformats.org/officeDocument/2006/relationships/slide" Target="slides/slide119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52" Type="http://schemas.openxmlformats.org/officeDocument/2006/relationships/slide" Target="slides/slide44.xml"/><Relationship Id="rId73" Type="http://schemas.openxmlformats.org/officeDocument/2006/relationships/slide" Target="slides/slide65.xml"/><Relationship Id="rId78" Type="http://schemas.openxmlformats.org/officeDocument/2006/relationships/slide" Target="slides/slide70.xml"/><Relationship Id="rId94" Type="http://schemas.openxmlformats.org/officeDocument/2006/relationships/slide" Target="slides/slide86.xml"/><Relationship Id="rId99" Type="http://schemas.openxmlformats.org/officeDocument/2006/relationships/slide" Target="slides/slide91.xml"/><Relationship Id="rId101" Type="http://schemas.openxmlformats.org/officeDocument/2006/relationships/slide" Target="slides/slide93.xml"/><Relationship Id="rId122" Type="http://schemas.openxmlformats.org/officeDocument/2006/relationships/slide" Target="slides/slide114.xml"/><Relationship Id="rId143" Type="http://schemas.openxmlformats.org/officeDocument/2006/relationships/slide" Target="slides/slide135.xml"/><Relationship Id="rId148" Type="http://schemas.openxmlformats.org/officeDocument/2006/relationships/slide" Target="slides/slide140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47" Type="http://schemas.openxmlformats.org/officeDocument/2006/relationships/slide" Target="slides/slide39.xml"/><Relationship Id="rId68" Type="http://schemas.openxmlformats.org/officeDocument/2006/relationships/slide" Target="slides/slide60.xml"/><Relationship Id="rId89" Type="http://schemas.openxmlformats.org/officeDocument/2006/relationships/slide" Target="slides/slide81.xml"/><Relationship Id="rId112" Type="http://schemas.openxmlformats.org/officeDocument/2006/relationships/slide" Target="slides/slide104.xml"/><Relationship Id="rId133" Type="http://schemas.openxmlformats.org/officeDocument/2006/relationships/slide" Target="slides/slide125.xml"/><Relationship Id="rId154" Type="http://schemas.openxmlformats.org/officeDocument/2006/relationships/slide" Target="slides/slide146.xml"/><Relationship Id="rId16" Type="http://schemas.openxmlformats.org/officeDocument/2006/relationships/slide" Target="slides/slide8.xml"/><Relationship Id="rId37" Type="http://schemas.openxmlformats.org/officeDocument/2006/relationships/slide" Target="slides/slide29.xml"/><Relationship Id="rId58" Type="http://schemas.openxmlformats.org/officeDocument/2006/relationships/slide" Target="slides/slide50.xml"/><Relationship Id="rId79" Type="http://schemas.openxmlformats.org/officeDocument/2006/relationships/slide" Target="slides/slide71.xml"/><Relationship Id="rId102" Type="http://schemas.openxmlformats.org/officeDocument/2006/relationships/slide" Target="slides/slide94.xml"/><Relationship Id="rId123" Type="http://schemas.openxmlformats.org/officeDocument/2006/relationships/slide" Target="slides/slide115.xml"/><Relationship Id="rId144" Type="http://schemas.openxmlformats.org/officeDocument/2006/relationships/slide" Target="slides/slide136.xml"/><Relationship Id="rId90" Type="http://schemas.openxmlformats.org/officeDocument/2006/relationships/slide" Target="slides/slide82.xml"/><Relationship Id="rId27" Type="http://schemas.openxmlformats.org/officeDocument/2006/relationships/slide" Target="slides/slide19.xml"/><Relationship Id="rId48" Type="http://schemas.openxmlformats.org/officeDocument/2006/relationships/slide" Target="slides/slide40.xml"/><Relationship Id="rId69" Type="http://schemas.openxmlformats.org/officeDocument/2006/relationships/slide" Target="slides/slide61.xml"/><Relationship Id="rId113" Type="http://schemas.openxmlformats.org/officeDocument/2006/relationships/slide" Target="slides/slide105.xml"/><Relationship Id="rId134" Type="http://schemas.openxmlformats.org/officeDocument/2006/relationships/slide" Target="slides/slide126.xml"/><Relationship Id="rId80" Type="http://schemas.openxmlformats.org/officeDocument/2006/relationships/slide" Target="slides/slide72.xml"/><Relationship Id="rId155" Type="http://schemas.openxmlformats.org/officeDocument/2006/relationships/slide" Target="slides/slide14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sz="1300"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55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294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11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9700" y="768350"/>
            <a:ext cx="68199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930" y="4861441"/>
            <a:ext cx="5679440" cy="4605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2355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sz="1300"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55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294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ea typeface="新細明體" pitchFamily="18" charset="-120"/>
              </a:defRPr>
            </a:lvl1pPr>
          </a:lstStyle>
          <a:p>
            <a:pPr>
              <a:defRPr/>
            </a:pPr>
            <a:fld id="{0C96200D-C580-4272-A35E-60917CBD153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923132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://osnet.cs.nchu.edu.tw/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hyperlink" Target="http://osnet.cs.nchu.edu.tw/" TargetMode="External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.jpeg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hyperlink" Target="http://osnet.cs.nchu.edu.tw/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2.jpeg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按一下以編輯母片副標題樣式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B0A2B1-AD20-4166-B6D5-5B145BA6031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385228-623B-4451-AE5F-DC9B995EBC9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268413"/>
            <a:ext cx="5384800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268413"/>
            <a:ext cx="5384800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739481-F962-4F85-9E1B-554F3CA4721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64DE2E-C83E-4954-B893-149E183B01F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4632AD-9D6A-45CC-A1CF-8EF7EBEC225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03F6A1-8A0B-4905-8C4D-A2A89273829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28101C-A27A-4027-B24D-6AD0C5A4167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310DE6-F0B5-4BB5-93AA-2CCD573E1E0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45A9B3-FB01-4448-ABE2-4F80DA56BB6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51900" y="47625"/>
            <a:ext cx="2745317" cy="60785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1" y="47625"/>
            <a:ext cx="8039100" cy="60785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3A3035-2733-4190-AD0D-DBCC8048BEE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0" y="-26988"/>
            <a:ext cx="12192000" cy="962026"/>
            <a:chOff x="0" y="-17"/>
            <a:chExt cx="5760" cy="606"/>
          </a:xfrm>
        </p:grpSpPr>
        <p:pic>
          <p:nvPicPr>
            <p:cNvPr id="5" name="Picture 7" descr="oslab logo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0" y="-17"/>
              <a:ext cx="4830" cy="6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15">
              <a:hlinkClick r:id="rId3"/>
            </p:cNvPr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694" y="-17"/>
              <a:ext cx="1066" cy="6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7" name="Picture 12" descr="Slide_iconblue_pc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0824634" y="6010275"/>
            <a:ext cx="1348317" cy="61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91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1323391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4D4BB2-6766-4561-BC06-F552BFADA6F9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2920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454202-1D94-4F40-BF1C-2B28CDC5AFA7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16472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F59911-C564-410A-B93B-2F735A8FE358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98769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8E878F-EED9-40BE-A34B-8E294055A8D1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86904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0458FE-58C5-40CD-A089-063BEF5C9E9E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70216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CFF96D-3F97-4EED-A2CE-E2DD9497B7BE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45629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490473-F383-46E9-847B-A62E2A0F4CB4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66128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9CC5E8-09D8-49E9-851F-C2B04BD1C926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20699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291F42-F963-425A-8513-31CE11AA8D4B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02318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51900" y="115889"/>
            <a:ext cx="2745317" cy="601027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1" y="115889"/>
            <a:ext cx="8039100" cy="601027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E3674-CDC6-4F01-8D00-CCBFD24D340A}" type="slidenum">
              <a:rPr lang="en-US" altLang="zh-TW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60836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B9EA5-CE9A-4950-A80C-5ADF06B45BB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97355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B9EA5-CE9A-4950-A80C-5ADF06B45BB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78563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B9EA5-CE9A-4950-A80C-5ADF06B45BB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98377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B9EA5-CE9A-4950-A80C-5ADF06B45BB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38151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B9EA5-CE9A-4950-A80C-5ADF06B45BB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67798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B9EA5-CE9A-4950-A80C-5ADF06B45BB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019870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B9EA5-CE9A-4950-A80C-5ADF06B45BB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41230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B9EA5-CE9A-4950-A80C-5ADF06B45BB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022408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B9EA5-CE9A-4950-A80C-5ADF06B45BB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36846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B9EA5-CE9A-4950-A80C-5ADF06B45BB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000269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B9EA5-CE9A-4950-A80C-5ADF06B45BB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968886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0" y="-26988"/>
            <a:ext cx="12192000" cy="962026"/>
            <a:chOff x="0" y="-17"/>
            <a:chExt cx="5760" cy="606"/>
          </a:xfrm>
        </p:grpSpPr>
        <p:pic>
          <p:nvPicPr>
            <p:cNvPr id="5" name="Picture 7" descr="oslab logo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7"/>
              <a:ext cx="4830" cy="6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8" descr="15">
              <a:hlinkClick r:id="rId3"/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94" y="-17"/>
              <a:ext cx="1066" cy="6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91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67295823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  <a:ea typeface="新細明體" panose="02020500000000000000" pitchFamily="18" charset="-120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  <a:ea typeface="新細明體" panose="02020500000000000000" pitchFamily="18" charset="-120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F86F9A-5044-4A1A-847C-0AD38322033F}" type="slidenum">
              <a:rPr lang="en-US" altLang="zh-TW" smtClean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287405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  <a:ea typeface="新細明體" panose="02020500000000000000" pitchFamily="18" charset="-120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  <a:ea typeface="新細明體" panose="02020500000000000000" pitchFamily="18" charset="-120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2BC735-0F4E-4A20-9F74-072078837864}" type="slidenum">
              <a:rPr lang="en-US" altLang="zh-TW" smtClean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9869807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27051" y="1412875"/>
            <a:ext cx="5384800" cy="4752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15051" y="1412875"/>
            <a:ext cx="5384800" cy="4752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  <a:ea typeface="新細明體" panose="02020500000000000000" pitchFamily="18" charset="-120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  <a:ea typeface="新細明體" panose="02020500000000000000" pitchFamily="18" charset="-120"/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772C8D-1D34-47FA-9DEC-92357E4AFD99}" type="slidenum">
              <a:rPr lang="en-US" altLang="zh-TW" smtClean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474825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  <a:ea typeface="新細明體" panose="02020500000000000000" pitchFamily="18" charset="-120"/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  <a:ea typeface="新細明體" panose="02020500000000000000" pitchFamily="18" charset="-120"/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927477-61FD-4EB1-83BC-85003D650659}" type="slidenum">
              <a:rPr lang="en-US" altLang="zh-TW" smtClean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7953037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  <a:ea typeface="新細明體" panose="02020500000000000000" pitchFamily="18" charset="-120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  <a:ea typeface="新細明體" panose="02020500000000000000" pitchFamily="18" charset="-120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DBA58D-5ED9-4BDE-8258-D186BD548B67}" type="slidenum">
              <a:rPr lang="en-US" altLang="zh-TW" smtClean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4157093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  <a:ea typeface="新細明體" panose="02020500000000000000" pitchFamily="18" charset="-120"/>
            </a:endParaRP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  <a:ea typeface="新細明體" panose="02020500000000000000" pitchFamily="18" charset="-120"/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30EDC7-E5CE-4B38-AD99-0654C82BE584}" type="slidenum">
              <a:rPr lang="en-US" altLang="zh-TW" smtClean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6613985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  <a:ea typeface="新細明體" panose="02020500000000000000" pitchFamily="18" charset="-120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  <a:ea typeface="新細明體" panose="02020500000000000000" pitchFamily="18" charset="-120"/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431031-2B58-419E-B1F4-F69AED8F75F3}" type="slidenum">
              <a:rPr lang="en-US" altLang="zh-TW" smtClean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8974620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  <a:ea typeface="新細明體" panose="02020500000000000000" pitchFamily="18" charset="-120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  <a:ea typeface="新細明體" panose="02020500000000000000" pitchFamily="18" charset="-120"/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5FA3A4-656E-425E-B354-3680B4503D32}" type="slidenum">
              <a:rPr lang="en-US" altLang="zh-TW" smtClean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6196041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  <a:ea typeface="新細明體" panose="02020500000000000000" pitchFamily="18" charset="-120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  <a:ea typeface="新細明體" panose="02020500000000000000" pitchFamily="18" charset="-120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70693B-809E-45F7-AF79-3943331BB461}" type="slidenum">
              <a:rPr lang="en-US" altLang="zh-TW" smtClean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6744539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0734" y="0"/>
            <a:ext cx="2766484" cy="616585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27051" y="0"/>
            <a:ext cx="8100483" cy="616585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  <a:ea typeface="新細明體" panose="02020500000000000000" pitchFamily="18" charset="-120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  <a:ea typeface="新細明體" panose="02020500000000000000" pitchFamily="18" charset="-120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5856E5-920F-4BD3-80B9-8405ACE8F88D}" type="slidenum">
              <a:rPr lang="en-US" altLang="zh-TW" smtClean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5381366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4417" y="0"/>
            <a:ext cx="10972800" cy="1143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527051" y="1412875"/>
            <a:ext cx="5384800" cy="47529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15051" y="1412875"/>
            <a:ext cx="5384800" cy="47529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  <a:ea typeface="新細明體" panose="02020500000000000000" pitchFamily="18" charset="-120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  <a:ea typeface="新細明體" panose="02020500000000000000" pitchFamily="18" charset="-120"/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345383-2454-4A63-B704-50D55E77908E}" type="slidenum">
              <a:rPr lang="en-US" altLang="zh-TW" smtClean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4604018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0" y="-26988"/>
            <a:ext cx="12192000" cy="962026"/>
            <a:chOff x="0" y="-17"/>
            <a:chExt cx="5760" cy="606"/>
          </a:xfrm>
        </p:grpSpPr>
        <p:pic>
          <p:nvPicPr>
            <p:cNvPr id="5" name="Picture 7" descr="oslab logo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0" y="-17"/>
              <a:ext cx="4830" cy="6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15">
              <a:hlinkClick r:id="rId3"/>
            </p:cNvPr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694" y="-17"/>
              <a:ext cx="1066" cy="6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491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155032932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Calibri" pitchFamily="34" charset="0"/>
                <a:ea typeface="標楷體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baseline="0">
                <a:latin typeface="Calibri" pitchFamily="34" charset="0"/>
                <a:ea typeface="標楷體" pitchFamily="65" charset="-120"/>
              </a:defRPr>
            </a:lvl1pPr>
            <a:lvl2pPr>
              <a:defRPr baseline="0">
                <a:latin typeface="Calibri" pitchFamily="34" charset="0"/>
                <a:ea typeface="標楷體" pitchFamily="65" charset="-120"/>
              </a:defRPr>
            </a:lvl2pPr>
            <a:lvl3pPr>
              <a:defRPr baseline="0">
                <a:latin typeface="Calibri" pitchFamily="34" charset="0"/>
                <a:ea typeface="標楷體" pitchFamily="65" charset="-120"/>
              </a:defRPr>
            </a:lvl3pPr>
            <a:lvl4pPr>
              <a:defRPr baseline="0">
                <a:latin typeface="Calibri" pitchFamily="34" charset="0"/>
                <a:ea typeface="標楷體" pitchFamily="65" charset="-120"/>
              </a:defRPr>
            </a:lvl4pPr>
            <a:lvl5pPr>
              <a:defRPr baseline="0">
                <a:latin typeface="Calibri" pitchFamily="34" charset="0"/>
                <a:ea typeface="標楷體" pitchFamily="65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600248-D87A-484E-BE2A-139598D528A9}" type="slidenum">
              <a:rPr lang="en-US" altLang="zh-TW" smtClean="0">
                <a:solidFill>
                  <a:srgbClr val="000000"/>
                </a:solidFill>
                <a:ea typeface="新細明體" pitchFamily="18" charset="-120"/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2357421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3586B1-FADE-413F-A6C5-0EFFFB6FBD7B}" type="slidenum">
              <a:rPr lang="en-US" altLang="zh-TW" smtClean="0">
                <a:solidFill>
                  <a:srgbClr val="000000"/>
                </a:solidFill>
                <a:ea typeface="新細明體" pitchFamily="18" charset="-120"/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8053074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27051" y="1412875"/>
            <a:ext cx="5384800" cy="4752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15051" y="1412875"/>
            <a:ext cx="5384800" cy="4752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179B09-3FAF-4199-93FE-073B09B5517D}" type="slidenum">
              <a:rPr lang="en-US" altLang="zh-TW" smtClean="0">
                <a:solidFill>
                  <a:srgbClr val="000000"/>
                </a:solidFill>
                <a:ea typeface="新細明體" pitchFamily="18" charset="-120"/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1017320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60D00A-08E0-46FC-8FF6-504E9165CF9E}" type="slidenum">
              <a:rPr lang="en-US" altLang="zh-TW" smtClean="0">
                <a:solidFill>
                  <a:srgbClr val="000000"/>
                </a:solidFill>
                <a:ea typeface="新細明體" pitchFamily="18" charset="-120"/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7599786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Calibri" pitchFamily="34" charset="0"/>
                <a:ea typeface="標楷體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3B5231-F943-4FDC-AF1A-06E7AB96A6FE}" type="slidenum">
              <a:rPr lang="en-US" altLang="zh-TW" smtClean="0">
                <a:solidFill>
                  <a:srgbClr val="000000"/>
                </a:solidFill>
                <a:ea typeface="新細明體" pitchFamily="18" charset="-120"/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1573019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F7FCB4-B27D-4F21-905C-C011DDE2C3F4}" type="slidenum">
              <a:rPr lang="en-US" altLang="zh-TW" smtClean="0">
                <a:solidFill>
                  <a:srgbClr val="000000"/>
                </a:solidFill>
                <a:ea typeface="新細明體" pitchFamily="18" charset="-120"/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0141829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3F6974-552D-4744-8097-B146A8C5167A}" type="slidenum">
              <a:rPr lang="en-US" altLang="zh-TW" smtClean="0">
                <a:solidFill>
                  <a:srgbClr val="000000"/>
                </a:solidFill>
                <a:ea typeface="新細明體" pitchFamily="18" charset="-120"/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6415958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F990D7-37E9-470B-8102-8A4DEFAD76C3}" type="slidenum">
              <a:rPr lang="en-US" altLang="zh-TW" smtClean="0">
                <a:solidFill>
                  <a:srgbClr val="000000"/>
                </a:solidFill>
                <a:ea typeface="新細明體" pitchFamily="18" charset="-120"/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3595302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9FAE8E-4055-46CE-947A-57FAB26656D8}" type="slidenum">
              <a:rPr lang="en-US" altLang="zh-TW" smtClean="0">
                <a:solidFill>
                  <a:srgbClr val="000000"/>
                </a:solidFill>
                <a:ea typeface="新細明體" pitchFamily="18" charset="-120"/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1037610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0734" y="0"/>
            <a:ext cx="2766484" cy="616585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27051" y="0"/>
            <a:ext cx="8100483" cy="616585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DBDA24-C0F3-441B-B3A7-80241ABEF401}" type="slidenum">
              <a:rPr lang="en-US" altLang="zh-TW" smtClean="0">
                <a:solidFill>
                  <a:srgbClr val="000000"/>
                </a:solidFill>
                <a:ea typeface="新細明體" pitchFamily="18" charset="-120"/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4840755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4417" y="0"/>
            <a:ext cx="10972800" cy="1143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527051" y="1412875"/>
            <a:ext cx="5384800" cy="47529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15051" y="1412875"/>
            <a:ext cx="5384800" cy="47529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D65304-4B6B-4B4F-87EF-D1914FC72216}" type="slidenum">
              <a:rPr lang="en-US" altLang="zh-TW" smtClean="0">
                <a:solidFill>
                  <a:srgbClr val="000000"/>
                </a:solidFill>
                <a:ea typeface="新細明體" pitchFamily="18" charset="-120"/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5819774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b="0"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 b="1"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363313094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658BCA2-9290-4022-8C17-3C71BECAFB63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791911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A6AA4E0-11AA-4DB0-B245-2B8505F90838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593433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C67FB20-B7E3-40BA-8CF5-97F73F78CA73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811352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46CC020-57DA-4103-82D0-232EFD684443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406359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FC13513-B144-420C-90D1-99E5AAE0AB60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608137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A87F667-B628-431A-B00D-0222AC052E71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115565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9719B5D-7C1B-4B44-A839-F6FE5EB626DE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124301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68FDFEC-E08C-4696-BA10-B3CE8FF4B93D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148534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34977DC-D703-4941-9B31-E38180F8F142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858831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51900" y="1"/>
            <a:ext cx="2745317" cy="6126163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1" y="1"/>
            <a:ext cx="8039100" cy="6126163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B53FB5A-74FF-4021-97EC-69E6C38FBDC8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762199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標題及物件在文字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4417" y="0"/>
            <a:ext cx="10972800" cy="1143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10972800" cy="21859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0" y="3938589"/>
            <a:ext cx="10972800" cy="21875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5A5EB7-F31B-4C5C-A623-53DF00B5D3EF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607946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標題，文字及美工圖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4417" y="0"/>
            <a:ext cx="10972800" cy="1143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美工圖案版面配置區 3"/>
          <p:cNvSpPr>
            <a:spLocks noGrp="1"/>
          </p:cNvSpPr>
          <p:nvPr>
            <p:ph type="clipArt"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endParaRPr lang="zh-TW" altLang="en-US" noProof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0B718FF-8064-49A9-B28C-E58D865BB6B0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162457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4417" y="0"/>
            <a:ext cx="10972800" cy="1143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1B6829-293E-4F97-AFD5-7766D18225D3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072964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50014512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4417" y="116632"/>
            <a:ext cx="109728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6F06792-2767-43F4-A335-D8A37CCA3850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050889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D90982-AB66-46A4-A1FF-EC3140B35B5D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943789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27051" y="1412875"/>
            <a:ext cx="5384800" cy="4752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15051" y="1412875"/>
            <a:ext cx="5384800" cy="4752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38B244-3745-40D0-BE05-59D46F502FAE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924098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9314AB-8309-4AD6-9FFB-F7146D0BE65A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113596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8E01AA-4B65-4798-BFD9-8B545C976B75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434513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901DFC-AF09-44D6-ABE0-8E54496024F7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3559682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7D644F4-34C4-4C48-9219-F64F8F4D0DB9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797924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EE7853-2D7D-4C18-8FA5-DDE0E7A7B919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4478848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6A417F6-521E-48E2-ACCA-8C01A79B2926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550478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0734" y="0"/>
            <a:ext cx="2766484" cy="616585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27051" y="0"/>
            <a:ext cx="8100483" cy="616585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B35DCB0-626D-4CFF-A48C-95AD28109B0E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009367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4417" y="0"/>
            <a:ext cx="10972800" cy="1143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527051" y="1412875"/>
            <a:ext cx="5384800" cy="47529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15051" y="1412875"/>
            <a:ext cx="5384800" cy="47529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F819CAA-295F-41C1-9BE8-5D25C285959C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0794760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10769982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4417" y="116632"/>
            <a:ext cx="109728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6F06792-2767-43F4-A335-D8A37CCA3850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43256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D90982-AB66-46A4-A1FF-EC3140B35B5D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4207062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27051" y="1412875"/>
            <a:ext cx="5384800" cy="4752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15051" y="1412875"/>
            <a:ext cx="5384800" cy="4752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38B244-3745-40D0-BE05-59D46F502FAE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59292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9314AB-8309-4AD6-9FFB-F7146D0BE65A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6622070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8E01AA-4B65-4798-BFD9-8B545C976B75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08733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901DFC-AF09-44D6-ABE0-8E54496024F7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91306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7D644F4-34C4-4C48-9219-F64F8F4D0DB9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93159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EE7853-2D7D-4C18-8FA5-DDE0E7A7B919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52331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6A417F6-521E-48E2-ACCA-8C01A79B2926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96722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0734" y="0"/>
            <a:ext cx="2766484" cy="616585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27051" y="0"/>
            <a:ext cx="8100483" cy="616585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B35DCB0-626D-4CFF-A48C-95AD28109B0E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062540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4417" y="0"/>
            <a:ext cx="10972800" cy="11430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527051" y="1412875"/>
            <a:ext cx="5384800" cy="4752975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15051" y="1412875"/>
            <a:ext cx="5384800" cy="4752975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F819CAA-295F-41C1-9BE8-5D25C285959C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9013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5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vmlDrawing" Target="../drawings/vmlDrawing1.v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7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5" Type="http://schemas.openxmlformats.org/officeDocument/2006/relationships/oleObject" Target="../embeddings/oleObject2.bin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vmlDrawing" Target="../drawings/vmlDrawing2.v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9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5" Type="http://schemas.openxmlformats.org/officeDocument/2006/relationships/theme" Target="../theme/theme6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71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9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8.xml"/><Relationship Id="rId12" Type="http://schemas.openxmlformats.org/officeDocument/2006/relationships/slideLayout" Target="../slideLayouts/slideLayout83.xml"/><Relationship Id="rId2" Type="http://schemas.openxmlformats.org/officeDocument/2006/relationships/slideLayout" Target="../slideLayouts/slideLayout73.xml"/><Relationship Id="rId1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82.xml"/><Relationship Id="rId5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81.xml"/><Relationship Id="rId4" Type="http://schemas.openxmlformats.org/officeDocument/2006/relationships/slideLayout" Target="../slideLayouts/slideLayout75.xml"/><Relationship Id="rId9" Type="http://schemas.openxmlformats.org/officeDocument/2006/relationships/slideLayout" Target="../slideLayouts/slideLayout80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1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86.xml"/><Relationship Id="rId7" Type="http://schemas.openxmlformats.org/officeDocument/2006/relationships/slideLayout" Target="../slideLayouts/slideLayout90.xml"/><Relationship Id="rId12" Type="http://schemas.openxmlformats.org/officeDocument/2006/relationships/slideLayout" Target="../slideLayouts/slideLayout95.xml"/><Relationship Id="rId2" Type="http://schemas.openxmlformats.org/officeDocument/2006/relationships/slideLayout" Target="../slideLayouts/slideLayout85.xml"/><Relationship Id="rId1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9.xml"/><Relationship Id="rId11" Type="http://schemas.openxmlformats.org/officeDocument/2006/relationships/slideLayout" Target="../slideLayouts/slideLayout94.xml"/><Relationship Id="rId5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93.xml"/><Relationship Id="rId4" Type="http://schemas.openxmlformats.org/officeDocument/2006/relationships/slideLayout" Target="../slideLayouts/slideLayout87.xml"/><Relationship Id="rId9" Type="http://schemas.openxmlformats.org/officeDocument/2006/relationships/slideLayout" Target="../slideLayouts/slideLayout9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24417" y="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268413"/>
            <a:ext cx="10972800" cy="485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新細明體" pitchFamily="18" charset="-120"/>
              </a:defRPr>
            </a:lvl1pPr>
          </a:lstStyle>
          <a:p>
            <a:pPr>
              <a:defRPr/>
            </a:pPr>
            <a:fld id="{06FB7576-D5A1-4124-A8A2-2098A4E88BC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 baseline="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alibri" panose="020F0502020204030204" pitchFamily="34" charset="0"/>
          <a:ea typeface="標楷體" panose="03000509000000000000" pitchFamily="65" charset="-12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24417" y="11588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E16C360E-DEBE-4CF7-8E6B-B96E06B1CFEE}" type="slidenum">
              <a:rPr lang="en-US" altLang="zh-TW">
                <a:solidFill>
                  <a:srgbClr val="000000"/>
                </a:solidFill>
                <a:ea typeface="新細明體" pitchFamily="18" charset="-120"/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74905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283B9EA5-CE9A-4950-A80C-5ADF06B45BB8}" type="slidenum">
              <a:rPr kumimoji="0"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en-US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72412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3085" y="6453188"/>
            <a:ext cx="5185833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  <a:ea typeface="新細明體" panose="02020500000000000000" pitchFamily="18" charset="-120"/>
            </a:endParaRPr>
          </a:p>
        </p:txBody>
      </p:sp>
      <p:graphicFrame>
        <p:nvGraphicFramePr>
          <p:cNvPr id="1027" name="Object 3"/>
          <p:cNvGraphicFramePr>
            <a:graphicFrameLocks noChangeAspect="1"/>
          </p:cNvGraphicFramePr>
          <p:nvPr/>
        </p:nvGraphicFramePr>
        <p:xfrm>
          <a:off x="0" y="0"/>
          <a:ext cx="1583267" cy="616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1" name="點陣圖影像" r:id="rId15" imgW="2381582" imgH="2857899" progId="Paint.Picture">
                  <p:embed/>
                </p:oleObj>
              </mc:Choice>
              <mc:Fallback>
                <p:oleObj name="點陣圖影像" r:id="rId15" imgW="2381582" imgH="2857899" progId="Paint.Picture">
                  <p:embed/>
                  <p:pic>
                    <p:nvPicPr>
                      <p:cNvPr id="102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lum bright="30000" contrast="-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83267" cy="616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24417" y="0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7051" y="1412875"/>
            <a:ext cx="10972800" cy="475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  <a:ea typeface="新細明體" panose="02020500000000000000" pitchFamily="18" charset="-120"/>
            </a:endParaRPr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2E435F10-A0F3-4130-BBC5-754B367846FA}" type="slidenum">
              <a:rPr lang="en-US" altLang="zh-TW" smtClean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71915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7" r:id="rId10"/>
    <p:sldLayoutId id="2147483798" r:id="rId11"/>
    <p:sldLayoutId id="2147483799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3085" y="6453188"/>
            <a:ext cx="5185833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  <a:ea typeface="新細明體" pitchFamily="18" charset="-120"/>
            </a:endParaRPr>
          </a:p>
        </p:txBody>
      </p:sp>
      <p:graphicFrame>
        <p:nvGraphicFramePr>
          <p:cNvPr id="1026" name="Object 3"/>
          <p:cNvGraphicFramePr>
            <a:graphicFrameLocks noChangeAspect="1"/>
          </p:cNvGraphicFramePr>
          <p:nvPr/>
        </p:nvGraphicFramePr>
        <p:xfrm>
          <a:off x="0" y="0"/>
          <a:ext cx="1583267" cy="616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" name="點陣圖影像" r:id="rId15" imgW="2381582" imgH="2857899" progId="PBrush">
                  <p:embed/>
                </p:oleObj>
              </mc:Choice>
              <mc:Fallback>
                <p:oleObj name="點陣圖影像" r:id="rId15" imgW="2381582" imgH="2857899" progId="PBrush">
                  <p:embed/>
                  <p:pic>
                    <p:nvPicPr>
                      <p:cNvPr id="102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lum bright="30000" contrast="-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83267" cy="616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24417" y="0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7051" y="1412875"/>
            <a:ext cx="10972800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TW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C5CC828B-D36F-4887-AFDB-467459F7D6F5}" type="slidenum">
              <a:rPr lang="en-US" altLang="zh-TW" smtClean="0">
                <a:solidFill>
                  <a:srgbClr val="000000"/>
                </a:solidFill>
                <a:ea typeface="新細明體" pitchFamily="18" charset="-120"/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17751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  <p:sldLayoutId id="214748381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  <p:sldLayoutId id="2147483827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24417" y="0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新細明體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新細明體" pitchFamily="18" charset="-12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462C355-02D6-422E-9DA5-1995CBCF71DD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5312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  <p:sldLayoutId id="2147483843" r:id="rId2"/>
    <p:sldLayoutId id="2147483844" r:id="rId3"/>
    <p:sldLayoutId id="2147483845" r:id="rId4"/>
    <p:sldLayoutId id="2147483846" r:id="rId5"/>
    <p:sldLayoutId id="2147483847" r:id="rId6"/>
    <p:sldLayoutId id="2147483848" r:id="rId7"/>
    <p:sldLayoutId id="2147483849" r:id="rId8"/>
    <p:sldLayoutId id="2147483850" r:id="rId9"/>
    <p:sldLayoutId id="2147483851" r:id="rId10"/>
    <p:sldLayoutId id="2147483852" r:id="rId11"/>
    <p:sldLayoutId id="2147483853" r:id="rId12"/>
    <p:sldLayoutId id="2147483854" r:id="rId13"/>
    <p:sldLayoutId id="2147483855" r:id="rId1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24417" y="0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7051" y="1412875"/>
            <a:ext cx="10972800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EBCB6A0-5727-44B3-A5FA-EBD6BAD529E2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6128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66" r:id="rId10"/>
    <p:sldLayoutId id="2147483867" r:id="rId11"/>
    <p:sldLayoutId id="2147483868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 baseline="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alibri" panose="020F0502020204030204" pitchFamily="34" charset="0"/>
          <a:ea typeface="標楷體" panose="03000509000000000000" pitchFamily="65" charset="-12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24417" y="0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 smtClean="0"/>
              <a:t>按一下以編輯母片標題樣式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7051" y="1412875"/>
            <a:ext cx="10972800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zh-TW" altLang="en-US" dirty="0" smtClean="0"/>
              <a:t>按一下以編輯母片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EBCB6A0-5727-44B3-A5FA-EBD6BAD529E2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5858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  <p:sldLayoutId id="2147483881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 baseline="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alibri" panose="020F0502020204030204" pitchFamily="34" charset="0"/>
          <a:ea typeface="標楷體" panose="03000509000000000000" pitchFamily="65" charset="-12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ts val="600"/>
        </a:spcBef>
        <a:spcAft>
          <a:spcPct val="0"/>
        </a:spcAft>
        <a:buChar char="•"/>
        <a:defRPr kumimoji="1" sz="32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  <a:cs typeface="+mn-cs"/>
        </a:defRPr>
      </a:lvl1pPr>
      <a:lvl2pPr marL="742950" indent="-285750" algn="l" rtl="0" eaLnBrk="0" fontAlgn="base" hangingPunct="0">
        <a:spcBef>
          <a:spcPts val="600"/>
        </a:spcBef>
        <a:spcAft>
          <a:spcPct val="0"/>
        </a:spcAft>
        <a:buChar char="–"/>
        <a:defRPr kumimoji="1" sz="28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marL="1143000" indent="-228600" algn="l" rtl="0" eaLnBrk="0" fontAlgn="base" hangingPunct="0">
        <a:spcBef>
          <a:spcPts val="600"/>
        </a:spcBef>
        <a:spcAft>
          <a:spcPct val="0"/>
        </a:spcAft>
        <a:buChar char="•"/>
        <a:defRPr kumimoji="1" sz="24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marL="1600200" indent="-228600" algn="l" rtl="0" eaLnBrk="0" fontAlgn="base" hangingPunct="0">
        <a:spcBef>
          <a:spcPts val="600"/>
        </a:spcBef>
        <a:spcAft>
          <a:spcPct val="0"/>
        </a:spcAft>
        <a:buChar char="–"/>
        <a:defRPr kumimoji="1" sz="20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marL="2057400" indent="-228600" algn="l" rtl="0" eaLnBrk="0" fontAlgn="base" hangingPunct="0">
        <a:spcBef>
          <a:spcPts val="600"/>
        </a:spcBef>
        <a:spcAft>
          <a:spcPct val="0"/>
        </a:spcAft>
        <a:buChar char="»"/>
        <a:defRPr kumimoji="1" sz="20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0.w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47850" y="1628800"/>
            <a:ext cx="8458200" cy="1143000"/>
          </a:xfrm>
        </p:spPr>
        <p:txBody>
          <a:bodyPr anchor="b"/>
          <a:lstStyle/>
          <a:p>
            <a:pPr eaLnBrk="1" hangingPunct="1">
              <a:defRPr/>
            </a:pPr>
            <a:r>
              <a:rPr lang="en-US" altLang="zh-TW" b="1" dirty="0"/>
              <a:t>Chapter 3: Processes</a:t>
            </a:r>
          </a:p>
        </p:txBody>
      </p:sp>
    </p:spTree>
    <p:extLst>
      <p:ext uri="{BB962C8B-B14F-4D97-AF65-F5344CB8AC3E}">
        <p14:creationId xmlns:p14="http://schemas.microsoft.com/office/powerpoint/2010/main" val="298739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b="1" dirty="0">
                <a:solidFill>
                  <a:srgbClr val="FF3300"/>
                </a:solidFill>
              </a:rPr>
              <a:t>Process Concept</a:t>
            </a:r>
          </a:p>
          <a:p>
            <a:pPr eaLnBrk="1" hangingPunct="1"/>
            <a:r>
              <a:rPr lang="en-US" altLang="zh-TW"/>
              <a:t>Process </a:t>
            </a:r>
            <a:r>
              <a:rPr lang="en-US" altLang="zh-TW" dirty="0"/>
              <a:t>Scheduling</a:t>
            </a:r>
          </a:p>
          <a:p>
            <a:pPr eaLnBrk="1" hangingPunct="1"/>
            <a:r>
              <a:rPr lang="en-US" altLang="zh-TW" dirty="0"/>
              <a:t>Operations on Processes</a:t>
            </a:r>
          </a:p>
          <a:p>
            <a:pPr eaLnBrk="1" hangingPunct="1"/>
            <a:r>
              <a:rPr lang="en-US" altLang="zh-TW" dirty="0" err="1"/>
              <a:t>Interprocess</a:t>
            </a:r>
            <a:r>
              <a:rPr lang="en-US" altLang="zh-TW" dirty="0"/>
              <a:t> Communication</a:t>
            </a:r>
          </a:p>
          <a:p>
            <a:pPr eaLnBrk="1" hangingPunct="1"/>
            <a:r>
              <a:rPr lang="en-US" altLang="zh-TW" dirty="0"/>
              <a:t>IPC in Shared-Memory Systems</a:t>
            </a:r>
          </a:p>
          <a:p>
            <a:pPr eaLnBrk="1" hangingPunct="1"/>
            <a:r>
              <a:rPr lang="en-US" altLang="zh-TW" dirty="0"/>
              <a:t>IPC in Message-Passing Systems</a:t>
            </a:r>
          </a:p>
          <a:p>
            <a:pPr eaLnBrk="1" hangingPunct="1"/>
            <a:r>
              <a:rPr lang="en-US" altLang="zh-TW" dirty="0"/>
              <a:t>Examples of IPC Systems</a:t>
            </a:r>
          </a:p>
          <a:p>
            <a:pPr eaLnBrk="1" hangingPunct="1"/>
            <a:r>
              <a:rPr lang="en-US" altLang="zh-TW" dirty="0"/>
              <a:t>Communication in Client-Server Systems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25851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zh-TW" b="1" dirty="0">
                <a:solidFill>
                  <a:srgbClr val="FF3300"/>
                </a:solidFill>
              </a:rPr>
              <a:t>Process Concept</a:t>
            </a:r>
          </a:p>
          <a:p>
            <a:pPr lvl="1" eaLnBrk="1" hangingPunct="1"/>
            <a:r>
              <a:rPr lang="en-US" altLang="zh-TW" b="1" dirty="0">
                <a:solidFill>
                  <a:srgbClr val="FF3300"/>
                </a:solidFill>
              </a:rPr>
              <a:t>The Process</a:t>
            </a:r>
          </a:p>
          <a:p>
            <a:pPr lvl="1" eaLnBrk="1" hangingPunct="1"/>
            <a:r>
              <a:rPr lang="en-US" altLang="zh-TW" dirty="0"/>
              <a:t>Process State</a:t>
            </a:r>
          </a:p>
          <a:p>
            <a:pPr lvl="1" eaLnBrk="1" hangingPunct="1"/>
            <a:r>
              <a:rPr lang="en-US" altLang="zh-TW" dirty="0"/>
              <a:t>Process Control Block</a:t>
            </a:r>
          </a:p>
          <a:p>
            <a:pPr eaLnBrk="1" hangingPunct="1"/>
            <a:r>
              <a:rPr lang="en-US" altLang="zh-TW" dirty="0"/>
              <a:t>Process Scheduling</a:t>
            </a:r>
          </a:p>
          <a:p>
            <a:pPr eaLnBrk="1" hangingPunct="1"/>
            <a:r>
              <a:rPr lang="en-US" altLang="zh-TW" dirty="0"/>
              <a:t>Operations on Processes</a:t>
            </a:r>
          </a:p>
          <a:p>
            <a:pPr eaLnBrk="1" hangingPunct="1"/>
            <a:r>
              <a:rPr lang="en-US" altLang="zh-TW" dirty="0" err="1"/>
              <a:t>Interprocess</a:t>
            </a:r>
            <a:r>
              <a:rPr lang="en-US" altLang="zh-TW" dirty="0"/>
              <a:t> Communication</a:t>
            </a:r>
          </a:p>
          <a:p>
            <a:pPr eaLnBrk="1" hangingPunct="1"/>
            <a:r>
              <a:rPr lang="en-US" altLang="zh-TW" dirty="0"/>
              <a:t>IPC in Shared-Memory Systems</a:t>
            </a:r>
          </a:p>
          <a:p>
            <a:pPr eaLnBrk="1" hangingPunct="1"/>
            <a:r>
              <a:rPr lang="en-US" altLang="zh-TW" dirty="0"/>
              <a:t>IPC in Message-Passing Systems</a:t>
            </a:r>
          </a:p>
          <a:p>
            <a:pPr eaLnBrk="1" hangingPunct="1"/>
            <a:r>
              <a:rPr lang="en-US" altLang="zh-TW" dirty="0"/>
              <a:t>Examples of IPC Systems</a:t>
            </a:r>
          </a:p>
          <a:p>
            <a:pPr eaLnBrk="1" hangingPunct="1"/>
            <a:r>
              <a:rPr lang="en-US" altLang="zh-TW" dirty="0"/>
              <a:t>Communication in Client-Server Systems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03759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What is a process?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3955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Overview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b="1" dirty="0">
                <a:solidFill>
                  <a:srgbClr val="0000FF"/>
                </a:solidFill>
              </a:rPr>
              <a:t>Process</a:t>
            </a:r>
            <a:r>
              <a:rPr lang="en-US" altLang="zh-TW" dirty="0"/>
              <a:t> – a program in execution</a:t>
            </a:r>
          </a:p>
          <a:p>
            <a:pPr lvl="1"/>
            <a:r>
              <a:rPr lang="en-US" altLang="zh-TW" dirty="0"/>
              <a:t>Also called </a:t>
            </a:r>
            <a:r>
              <a:rPr lang="en-US" altLang="zh-TW" b="1" dirty="0">
                <a:solidFill>
                  <a:srgbClr val="0000FF"/>
                </a:solidFill>
              </a:rPr>
              <a:t>jobs</a:t>
            </a:r>
            <a:r>
              <a:rPr lang="en-US" altLang="zh-TW" dirty="0"/>
              <a:t>, </a:t>
            </a:r>
            <a:r>
              <a:rPr lang="en-US" altLang="zh-TW" b="1" dirty="0">
                <a:solidFill>
                  <a:srgbClr val="0000FF"/>
                </a:solidFill>
              </a:rPr>
              <a:t>tasks</a:t>
            </a:r>
          </a:p>
          <a:p>
            <a:endParaRPr lang="en-US" altLang="zh-TW" dirty="0"/>
          </a:p>
          <a:p>
            <a:r>
              <a:rPr lang="en-US" altLang="zh-TW" dirty="0"/>
              <a:t>Program – </a:t>
            </a:r>
            <a:r>
              <a:rPr lang="en-US" altLang="zh-TW" b="1" dirty="0"/>
              <a:t>passive</a:t>
            </a:r>
            <a:r>
              <a:rPr lang="en-US" altLang="zh-TW" dirty="0"/>
              <a:t> ; </a:t>
            </a:r>
          </a:p>
          <a:p>
            <a:endParaRPr lang="en-US" altLang="zh-TW" dirty="0"/>
          </a:p>
          <a:p>
            <a:r>
              <a:rPr lang="en-US" altLang="zh-TW" dirty="0"/>
              <a:t>Process – </a:t>
            </a:r>
            <a:r>
              <a:rPr lang="en-US" altLang="zh-TW" b="1" dirty="0"/>
              <a:t>active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41309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標楷體" panose="03000509000000000000" pitchFamily="65" charset="-120"/>
              </a:rPr>
              <a:t>Programs and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B9EA5-CE9A-4950-A80C-5ADF06B45BB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Picture 2" descr="D:\Classes\5600\assets\prog_proc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6833" y="1523267"/>
            <a:ext cx="8918671" cy="4768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ular Callout 5"/>
          <p:cNvSpPr/>
          <p:nvPr/>
        </p:nvSpPr>
        <p:spPr>
          <a:xfrm>
            <a:off x="335360" y="3807726"/>
            <a:ext cx="3781715" cy="701394"/>
          </a:xfrm>
          <a:prstGeom prst="wedgeRectCallout">
            <a:avLst>
              <a:gd name="adj1" fmla="val -5444"/>
              <a:gd name="adj2" fmla="val -139421"/>
            </a:avLst>
          </a:prstGeom>
          <a:solidFill>
            <a:schemeClr val="accent2"/>
          </a:solidFill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sz="2000" b="1" u="sng" dirty="0">
                <a:solidFill>
                  <a:prstClr val="white"/>
                </a:solidFill>
              </a:rPr>
              <a:t>Program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sz="2000" dirty="0">
                <a:solidFill>
                  <a:prstClr val="white"/>
                </a:solidFill>
              </a:rPr>
              <a:t>An executable file in storage</a:t>
            </a:r>
          </a:p>
        </p:txBody>
      </p:sp>
      <p:sp>
        <p:nvSpPr>
          <p:cNvPr id="7" name="Rectangular Callout 6"/>
          <p:cNvSpPr/>
          <p:nvPr/>
        </p:nvSpPr>
        <p:spPr>
          <a:xfrm>
            <a:off x="7419832" y="1605153"/>
            <a:ext cx="3932751" cy="1165343"/>
          </a:xfrm>
          <a:prstGeom prst="wedgeRectCallout">
            <a:avLst>
              <a:gd name="adj1" fmla="val -67076"/>
              <a:gd name="adj2" fmla="val 48312"/>
            </a:avLst>
          </a:prstGeom>
          <a:solidFill>
            <a:schemeClr val="accent2"/>
          </a:solidFill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sz="2000" b="1" u="sng" dirty="0" smtClean="0">
                <a:solidFill>
                  <a:prstClr val="white"/>
                </a:solidFill>
              </a:rPr>
              <a:t>(19) Process</a:t>
            </a:r>
            <a:endParaRPr kumimoji="0" lang="en-US" sz="2000" b="1" u="sng" dirty="0">
              <a:solidFill>
                <a:prstClr val="white"/>
              </a:solidFill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sz="2000" dirty="0">
                <a:solidFill>
                  <a:prstClr val="white"/>
                </a:solidFill>
              </a:rPr>
              <a:t>The running instantiation of a program, stored in RAM</a:t>
            </a:r>
          </a:p>
        </p:txBody>
      </p:sp>
      <p:sp>
        <p:nvSpPr>
          <p:cNvPr id="9" name="Right Brace 8"/>
          <p:cNvSpPr/>
          <p:nvPr/>
        </p:nvSpPr>
        <p:spPr>
          <a:xfrm>
            <a:off x="6532729" y="2770496"/>
            <a:ext cx="423081" cy="2934268"/>
          </a:xfrm>
          <a:prstGeom prst="rightBrace">
            <a:avLst>
              <a:gd name="adj1" fmla="val 8333"/>
              <a:gd name="adj2" fmla="val 76977"/>
            </a:avLst>
          </a:prstGeom>
          <a:ln w="76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en-US" sz="1800">
              <a:solidFill>
                <a:prstClr val="black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8544273" y="6581002"/>
            <a:ext cx="21321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i="1" dirty="0"/>
              <a:t>CS 5600 </a:t>
            </a:r>
            <a:r>
              <a:rPr lang="en-US" altLang="zh-TW" sz="1100" b="1" i="1" dirty="0"/>
              <a:t>Computer Systems</a:t>
            </a:r>
            <a:endParaRPr lang="zh-TW" altLang="en-US" sz="1100" b="1" i="1" dirty="0"/>
          </a:p>
        </p:txBody>
      </p:sp>
    </p:spTree>
    <p:extLst>
      <p:ext uri="{BB962C8B-B14F-4D97-AF65-F5344CB8AC3E}">
        <p14:creationId xmlns:p14="http://schemas.microsoft.com/office/powerpoint/2010/main" val="186954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如何讓</a:t>
            </a:r>
            <a:r>
              <a:rPr lang="en-US" altLang="zh-TW" dirty="0" smtClean="0"/>
              <a:t>Process</a:t>
            </a:r>
            <a:r>
              <a:rPr lang="zh-TW" altLang="en-US" dirty="0" smtClean="0"/>
              <a:t>順利執行呢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zh-TW" altLang="en-US" dirty="0" smtClean="0"/>
              <a:t>給他需要的資源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04729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Process</a:t>
            </a:r>
            <a:r>
              <a:rPr lang="zh-TW" altLang="en-US" dirty="0" smtClean="0"/>
              <a:t>執行時需要什麼資源呢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1555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Overview (Cont.)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TW" dirty="0"/>
              <a:t>A process need certain resources:</a:t>
            </a:r>
          </a:p>
          <a:p>
            <a:pPr lvl="1"/>
            <a:r>
              <a:rPr lang="en-US" altLang="zh-TW" dirty="0"/>
              <a:t>CPU</a:t>
            </a:r>
          </a:p>
          <a:p>
            <a:pPr lvl="2"/>
            <a:r>
              <a:rPr lang="en-US" altLang="zh-TW" dirty="0" smtClean="0"/>
              <a:t>CPU</a:t>
            </a:r>
            <a:r>
              <a:rPr lang="zh-TW" altLang="en-US" dirty="0" smtClean="0"/>
              <a:t> </a:t>
            </a:r>
            <a:r>
              <a:rPr lang="en-US" altLang="zh-TW" dirty="0" smtClean="0"/>
              <a:t>registers and </a:t>
            </a:r>
            <a:r>
              <a:rPr lang="en-US" altLang="zh-TW" b="1" dirty="0" smtClean="0"/>
              <a:t>PC </a:t>
            </a:r>
            <a:r>
              <a:rPr lang="en-US" altLang="zh-TW" b="1" dirty="0"/>
              <a:t>(Program Counter</a:t>
            </a:r>
            <a:r>
              <a:rPr lang="en-US" altLang="zh-TW" b="1" dirty="0" smtClean="0"/>
              <a:t>)</a:t>
            </a:r>
            <a:endParaRPr lang="en-US" altLang="zh-TW" dirty="0"/>
          </a:p>
          <a:p>
            <a:pPr lvl="1"/>
            <a:r>
              <a:rPr lang="en-US" altLang="zh-TW" dirty="0"/>
              <a:t>Memory</a:t>
            </a:r>
          </a:p>
          <a:p>
            <a:pPr lvl="2"/>
            <a:r>
              <a:rPr lang="en-US" altLang="zh-TW" b="1" dirty="0">
                <a:solidFill>
                  <a:srgbClr val="0000FF"/>
                </a:solidFill>
              </a:rPr>
              <a:t>Text section</a:t>
            </a:r>
            <a:r>
              <a:rPr lang="en-US" altLang="zh-TW" dirty="0"/>
              <a:t>: program code (fixed size)</a:t>
            </a:r>
          </a:p>
          <a:p>
            <a:pPr lvl="2"/>
            <a:r>
              <a:rPr lang="en-US" altLang="zh-TW" b="1" dirty="0">
                <a:solidFill>
                  <a:srgbClr val="0000FF"/>
                </a:solidFill>
              </a:rPr>
              <a:t>Data section</a:t>
            </a:r>
            <a:r>
              <a:rPr lang="en-US" altLang="zh-TW" dirty="0"/>
              <a:t>: global variable (fixed size)</a:t>
            </a:r>
          </a:p>
          <a:p>
            <a:pPr lvl="2"/>
            <a:r>
              <a:rPr lang="en-US" altLang="zh-TW" b="1" dirty="0">
                <a:solidFill>
                  <a:srgbClr val="0000FF"/>
                </a:solidFill>
              </a:rPr>
              <a:t>Stack section</a:t>
            </a:r>
            <a:r>
              <a:rPr lang="en-US" altLang="zh-TW" dirty="0"/>
              <a:t>: temporary data</a:t>
            </a:r>
          </a:p>
          <a:p>
            <a:pPr lvl="3"/>
            <a:r>
              <a:rPr lang="en-US" altLang="zh-TW" dirty="0"/>
              <a:t>Parameter, return address, local variable…</a:t>
            </a:r>
          </a:p>
          <a:p>
            <a:pPr lvl="2"/>
            <a:r>
              <a:rPr lang="en-US" altLang="zh-TW" b="1" dirty="0">
                <a:solidFill>
                  <a:srgbClr val="0000FF"/>
                </a:solidFill>
              </a:rPr>
              <a:t>Heap section</a:t>
            </a:r>
            <a:r>
              <a:rPr lang="en-US" altLang="zh-TW" dirty="0"/>
              <a:t>: memory that are dynamically allocated by calling </a:t>
            </a:r>
            <a:r>
              <a:rPr lang="en-US" altLang="zh-TW" dirty="0" err="1"/>
              <a:t>malloc</a:t>
            </a:r>
            <a:r>
              <a:rPr lang="en-US" altLang="zh-TW" dirty="0"/>
              <a:t>() and free()</a:t>
            </a:r>
          </a:p>
          <a:p>
            <a:pPr lvl="1"/>
            <a:r>
              <a:rPr lang="en-US" altLang="zh-TW" dirty="0" smtClean="0"/>
              <a:t>Files, networking, display, keyboard……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B9EA5-CE9A-4950-A80C-5ADF06B45BB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769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本章關注於</a:t>
            </a:r>
            <a:r>
              <a:rPr lang="en-US" altLang="zh-TW" dirty="0" smtClean="0"/>
              <a:t>CPU</a:t>
            </a:r>
            <a:r>
              <a:rPr lang="zh-TW" altLang="en-US" dirty="0" smtClean="0"/>
              <a:t>和記憶體</a:t>
            </a:r>
            <a:r>
              <a:rPr lang="en-US" altLang="zh-TW" dirty="0" smtClean="0"/>
              <a:t>~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5333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>
                <a:latin typeface="Calibri" panose="020F0502020204030204" pitchFamily="34" charset="0"/>
              </a:rPr>
              <a:t>CPU and Memory Used by a Process</a:t>
            </a:r>
            <a:endParaRPr lang="en-US" altLang="zh-TW" dirty="0">
              <a:latin typeface="Calibri" panose="020F0502020204030204" pitchFamily="34" charset="0"/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/>
          <a:srcRect l="27092" t="1192" r="27121" b="1192"/>
          <a:stretch>
            <a:fillRect/>
          </a:stretch>
        </p:blipFill>
        <p:spPr bwMode="auto">
          <a:xfrm>
            <a:off x="6023049" y="1485230"/>
            <a:ext cx="3889375" cy="4537075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  <p:grpSp>
        <p:nvGrpSpPr>
          <p:cNvPr id="6148" name="群組 6"/>
          <p:cNvGrpSpPr>
            <a:grpSpLocks/>
          </p:cNvGrpSpPr>
          <p:nvPr/>
        </p:nvGrpSpPr>
        <p:grpSpPr bwMode="auto">
          <a:xfrm>
            <a:off x="2424510" y="2132385"/>
            <a:ext cx="2519362" cy="1944687"/>
            <a:chOff x="6084888" y="1052513"/>
            <a:chExt cx="2519362" cy="1944687"/>
          </a:xfrm>
        </p:grpSpPr>
        <p:sp>
          <p:nvSpPr>
            <p:cNvPr id="6149" name="Rectangle 4"/>
            <p:cNvSpPr>
              <a:spLocks noChangeArrowheads="1"/>
            </p:cNvSpPr>
            <p:nvPr/>
          </p:nvSpPr>
          <p:spPr bwMode="auto">
            <a:xfrm>
              <a:off x="6084888" y="1052513"/>
              <a:ext cx="2519362" cy="194468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TW" altLang="zh-TW">
                <a:latin typeface="Calibri" panose="020F0502020204030204" pitchFamily="34" charset="0"/>
              </a:endParaRPr>
            </a:p>
          </p:txBody>
        </p:sp>
        <p:sp>
          <p:nvSpPr>
            <p:cNvPr id="6150" name="Rectangle 5"/>
            <p:cNvSpPr>
              <a:spLocks noChangeArrowheads="1"/>
            </p:cNvSpPr>
            <p:nvPr/>
          </p:nvSpPr>
          <p:spPr bwMode="auto">
            <a:xfrm>
              <a:off x="6228904" y="2205038"/>
              <a:ext cx="2304255" cy="719137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2000" dirty="0" err="1">
                  <a:latin typeface="Calibri" panose="020F0502020204030204" pitchFamily="34" charset="0"/>
                </a:rPr>
                <a:t>eax</a:t>
              </a:r>
              <a:r>
                <a:rPr lang="en-US" altLang="zh-TW" sz="2000" dirty="0">
                  <a:latin typeface="Calibri" panose="020F0502020204030204" pitchFamily="34" charset="0"/>
                </a:rPr>
                <a:t>=10, </a:t>
              </a:r>
              <a:r>
                <a:rPr lang="en-US" altLang="zh-TW" sz="2000" dirty="0" err="1">
                  <a:latin typeface="Calibri" panose="020F0502020204030204" pitchFamily="34" charset="0"/>
                </a:rPr>
                <a:t>ebx</a:t>
              </a:r>
              <a:r>
                <a:rPr lang="en-US" altLang="zh-TW" sz="2000" dirty="0">
                  <a:latin typeface="Calibri" panose="020F0502020204030204" pitchFamily="34" charset="0"/>
                </a:rPr>
                <a:t>=5,… </a:t>
              </a:r>
            </a:p>
            <a:p>
              <a:pPr algn="ctr"/>
              <a:r>
                <a:rPr lang="en-US" altLang="zh-TW" sz="2000" dirty="0">
                  <a:latin typeface="Calibri" panose="020F0502020204030204" pitchFamily="34" charset="0"/>
                </a:rPr>
                <a:t>pc= 0x1000</a:t>
              </a:r>
            </a:p>
          </p:txBody>
        </p:sp>
        <p:sp>
          <p:nvSpPr>
            <p:cNvPr id="6151" name="Text Box 6"/>
            <p:cNvSpPr txBox="1">
              <a:spLocks noChangeArrowheads="1"/>
            </p:cNvSpPr>
            <p:nvPr/>
          </p:nvSpPr>
          <p:spPr bwMode="auto">
            <a:xfrm>
              <a:off x="6732588" y="1196975"/>
              <a:ext cx="966931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>
                  <a:latin typeface="Calibri" panose="020F0502020204030204" pitchFamily="34" charset="0"/>
                </a:rPr>
                <a:t>CPU</a:t>
              </a:r>
            </a:p>
          </p:txBody>
        </p:sp>
      </p:grp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74632AD-9D6A-45CC-A1CF-8EF7EBEC2259}" type="slidenum">
              <a:rPr lang="en-US" altLang="zh-TW" smtClean="0"/>
              <a:pPr>
                <a:defRPr/>
              </a:pPr>
              <a:t>11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zh-TW" altLang="en-US" dirty="0">
                <a:effectLst/>
                <a:latin typeface="Calibri" panose="020F0502020204030204" pitchFamily="34" charset="0"/>
                <a:ea typeface="標楷體" panose="03000509000000000000" pitchFamily="65" charset="-120"/>
              </a:rPr>
              <a:t>複習</a:t>
            </a:r>
            <a:r>
              <a:rPr lang="en-US" altLang="zh-TW" dirty="0">
                <a:effectLst/>
                <a:latin typeface="Calibri" panose="020F0502020204030204" pitchFamily="34" charset="0"/>
              </a:rPr>
              <a:t>: EIP (or PC)</a:t>
            </a:r>
          </a:p>
        </p:txBody>
      </p:sp>
      <p:grpSp>
        <p:nvGrpSpPr>
          <p:cNvPr id="18435" name="Group 14"/>
          <p:cNvGrpSpPr>
            <a:grpSpLocks/>
          </p:cNvGrpSpPr>
          <p:nvPr/>
        </p:nvGrpSpPr>
        <p:grpSpPr bwMode="auto">
          <a:xfrm>
            <a:off x="4583114" y="1774826"/>
            <a:ext cx="3025775" cy="4391025"/>
            <a:chOff x="1837" y="755"/>
            <a:chExt cx="1906" cy="2766"/>
          </a:xfrm>
        </p:grpSpPr>
        <p:sp>
          <p:nvSpPr>
            <p:cNvPr id="18445" name="Rectangle 5"/>
            <p:cNvSpPr>
              <a:spLocks noChangeArrowheads="1"/>
            </p:cNvSpPr>
            <p:nvPr/>
          </p:nvSpPr>
          <p:spPr bwMode="auto">
            <a:xfrm>
              <a:off x="1837" y="1117"/>
              <a:ext cx="1906" cy="22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marL="342900" indent="-3429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lvl="2" algn="ctr">
                <a:spcBef>
                  <a:spcPct val="0"/>
                </a:spcBef>
                <a:buNone/>
              </a:pPr>
              <a:r>
                <a:rPr lang="en-US" altLang="zh-TW" sz="2000" b="1" dirty="0" err="1">
                  <a:solidFill>
                    <a:srgbClr val="FF3300"/>
                  </a:solidFill>
                  <a:latin typeface="Calibri" panose="020F0502020204030204" pitchFamily="34" charset="0"/>
                </a:rPr>
                <a:t>mov</a:t>
              </a:r>
              <a:r>
                <a:rPr lang="en-US" altLang="zh-TW" sz="2000" b="1" dirty="0">
                  <a:solidFill>
                    <a:srgbClr val="FF3300"/>
                  </a:solidFill>
                  <a:latin typeface="Calibri" panose="020F0502020204030204" pitchFamily="34" charset="0"/>
                </a:rPr>
                <a:t> </a:t>
              </a:r>
              <a:r>
                <a:rPr lang="en-US" altLang="zh-TW" sz="2000" b="1" dirty="0" err="1">
                  <a:solidFill>
                    <a:srgbClr val="FF3300"/>
                  </a:solidFill>
                  <a:latin typeface="Calibri" panose="020F0502020204030204" pitchFamily="34" charset="0"/>
                </a:rPr>
                <a:t>eax</a:t>
              </a:r>
              <a:r>
                <a:rPr lang="en-US" altLang="zh-TW" sz="2000" b="1" dirty="0">
                  <a:solidFill>
                    <a:srgbClr val="FF3300"/>
                  </a:solidFill>
                  <a:latin typeface="Calibri" panose="020F0502020204030204" pitchFamily="34" charset="0"/>
                </a:rPr>
                <a:t>, Y;</a:t>
              </a:r>
              <a:endParaRPr lang="zh-TW" altLang="en-US" sz="2000" b="1" dirty="0">
                <a:solidFill>
                  <a:srgbClr val="FF33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8446" name="Rectangle 6"/>
            <p:cNvSpPr>
              <a:spLocks noChangeArrowheads="1"/>
            </p:cNvSpPr>
            <p:nvPr/>
          </p:nvSpPr>
          <p:spPr bwMode="auto">
            <a:xfrm>
              <a:off x="1837" y="1344"/>
              <a:ext cx="1906" cy="22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marL="342900" indent="-3429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lvl="2" algn="ctr">
                <a:spcBef>
                  <a:spcPct val="0"/>
                </a:spcBef>
                <a:buNone/>
              </a:pPr>
              <a:r>
                <a:rPr lang="en-US" altLang="en-US" sz="2000" b="1" dirty="0">
                  <a:solidFill>
                    <a:srgbClr val="FF3300"/>
                  </a:solidFill>
                  <a:latin typeface="Calibri" panose="020F0502020204030204" pitchFamily="34" charset="0"/>
                </a:rPr>
                <a:t>add </a:t>
              </a:r>
              <a:r>
                <a:rPr lang="en-US" altLang="en-US" sz="2000" b="1" dirty="0" err="1">
                  <a:solidFill>
                    <a:srgbClr val="FF3300"/>
                  </a:solidFill>
                  <a:latin typeface="Calibri" panose="020F0502020204030204" pitchFamily="34" charset="0"/>
                </a:rPr>
                <a:t>eax</a:t>
              </a:r>
              <a:r>
                <a:rPr lang="en-US" altLang="en-US" sz="2000" b="1" dirty="0">
                  <a:solidFill>
                    <a:srgbClr val="FF3300"/>
                  </a:solidFill>
                  <a:latin typeface="Calibri" panose="020F0502020204030204" pitchFamily="34" charset="0"/>
                </a:rPr>
                <a:t>, 4;</a:t>
              </a:r>
              <a:endParaRPr lang="zh-TW" altLang="en-US" sz="2000" b="1" dirty="0">
                <a:solidFill>
                  <a:srgbClr val="FF33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8447" name="Rectangle 7"/>
            <p:cNvSpPr>
              <a:spLocks noChangeArrowheads="1"/>
            </p:cNvSpPr>
            <p:nvPr/>
          </p:nvSpPr>
          <p:spPr bwMode="auto">
            <a:xfrm>
              <a:off x="1837" y="1570"/>
              <a:ext cx="1906" cy="226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marL="342900" indent="-3429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lvl="2" algn="ctr">
                <a:spcBef>
                  <a:spcPct val="0"/>
                </a:spcBef>
                <a:buNone/>
              </a:pPr>
              <a:r>
                <a:rPr lang="en-US" altLang="en-US" sz="2000" b="1">
                  <a:solidFill>
                    <a:srgbClr val="FF3300"/>
                  </a:solidFill>
                  <a:latin typeface="Calibri" panose="020F0502020204030204" pitchFamily="34" charset="0"/>
                </a:rPr>
                <a:t>mov ebx 3</a:t>
              </a:r>
              <a:r>
                <a:rPr lang="en-US" altLang="zh-TW" sz="2000" b="1">
                  <a:solidFill>
                    <a:srgbClr val="FF3300"/>
                  </a:solidFill>
                  <a:latin typeface="Calibri" panose="020F0502020204030204" pitchFamily="34" charset="0"/>
                </a:rPr>
                <a:t>;</a:t>
              </a:r>
              <a:endParaRPr lang="zh-TW" altLang="en-US" sz="2000" b="1">
                <a:solidFill>
                  <a:srgbClr val="FF33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8448" name="Rectangle 8"/>
            <p:cNvSpPr>
              <a:spLocks noChangeArrowheads="1"/>
            </p:cNvSpPr>
            <p:nvPr/>
          </p:nvSpPr>
          <p:spPr bwMode="auto">
            <a:xfrm>
              <a:off x="1837" y="1797"/>
              <a:ext cx="1906" cy="22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marL="342900" indent="-3429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lvl="2" algn="ctr">
                <a:spcBef>
                  <a:spcPct val="0"/>
                </a:spcBef>
                <a:buNone/>
              </a:pPr>
              <a:r>
                <a:rPr lang="en-US" altLang="en-US" sz="2000" b="1">
                  <a:solidFill>
                    <a:srgbClr val="FF3300"/>
                  </a:solidFill>
                  <a:latin typeface="Calibri" panose="020F0502020204030204" pitchFamily="34" charset="0"/>
                </a:rPr>
                <a:t>imul ebx</a:t>
              </a:r>
              <a:r>
                <a:rPr lang="en-US" altLang="zh-TW" sz="2000" b="1">
                  <a:solidFill>
                    <a:srgbClr val="FF3300"/>
                  </a:solidFill>
                  <a:latin typeface="Calibri" panose="020F0502020204030204" pitchFamily="34" charset="0"/>
                </a:rPr>
                <a:t>;</a:t>
              </a:r>
              <a:endParaRPr lang="zh-TW" altLang="en-US" sz="2000" b="1">
                <a:solidFill>
                  <a:srgbClr val="FF33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8449" name="Rectangle 9"/>
            <p:cNvSpPr>
              <a:spLocks noChangeArrowheads="1"/>
            </p:cNvSpPr>
            <p:nvPr/>
          </p:nvSpPr>
          <p:spPr bwMode="auto">
            <a:xfrm>
              <a:off x="1837" y="2024"/>
              <a:ext cx="1906" cy="22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marL="342900" indent="-3429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lvl="2" algn="ctr">
                <a:spcBef>
                  <a:spcPct val="0"/>
                </a:spcBef>
                <a:buNone/>
              </a:pPr>
              <a:r>
                <a:rPr lang="en-US" altLang="en-US" sz="2000" b="1">
                  <a:solidFill>
                    <a:srgbClr val="FF3300"/>
                  </a:solidFill>
                  <a:latin typeface="Calibri" panose="020F0502020204030204" pitchFamily="34" charset="0"/>
                </a:rPr>
                <a:t>mov X, eax</a:t>
              </a:r>
              <a:r>
                <a:rPr lang="en-US" altLang="zh-TW" sz="2000" b="1">
                  <a:solidFill>
                    <a:srgbClr val="FF3300"/>
                  </a:solidFill>
                  <a:latin typeface="Calibri" panose="020F0502020204030204" pitchFamily="34" charset="0"/>
                </a:rPr>
                <a:t>;</a:t>
              </a:r>
              <a:endParaRPr lang="zh-TW" altLang="en-US" sz="2000" b="1">
                <a:solidFill>
                  <a:srgbClr val="FF33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8450" name="Rectangle 10"/>
            <p:cNvSpPr>
              <a:spLocks noChangeArrowheads="1"/>
            </p:cNvSpPr>
            <p:nvPr/>
          </p:nvSpPr>
          <p:spPr bwMode="auto">
            <a:xfrm>
              <a:off x="1837" y="2251"/>
              <a:ext cx="1906" cy="22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marL="342900" indent="-3429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lvl="2" algn="ctr">
                <a:spcBef>
                  <a:spcPct val="0"/>
                </a:spcBef>
                <a:buNone/>
              </a:pPr>
              <a:r>
                <a:rPr lang="en-US" altLang="zh-TW" sz="2000" b="1">
                  <a:solidFill>
                    <a:srgbClr val="FF3300"/>
                  </a:solidFill>
                  <a:latin typeface="Calibri" panose="020F0502020204030204" pitchFamily="34" charset="0"/>
                </a:rPr>
                <a:t>…</a:t>
              </a:r>
              <a:endParaRPr lang="zh-TW" altLang="en-US" sz="2000" b="1">
                <a:solidFill>
                  <a:srgbClr val="FF33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8451" name="Rectangle 11"/>
            <p:cNvSpPr>
              <a:spLocks noChangeArrowheads="1"/>
            </p:cNvSpPr>
            <p:nvPr/>
          </p:nvSpPr>
          <p:spPr bwMode="auto">
            <a:xfrm>
              <a:off x="1837" y="2478"/>
              <a:ext cx="1906" cy="22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marL="342900" indent="-3429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lvl="2" algn="ctr">
                <a:spcBef>
                  <a:spcPct val="0"/>
                </a:spcBef>
                <a:buNone/>
              </a:pPr>
              <a:r>
                <a:rPr lang="en-US" altLang="zh-TW" sz="2000" b="1">
                  <a:solidFill>
                    <a:srgbClr val="FF3300"/>
                  </a:solidFill>
                  <a:latin typeface="Calibri" panose="020F0502020204030204" pitchFamily="34" charset="0"/>
                </a:rPr>
                <a:t>…</a:t>
              </a:r>
              <a:endParaRPr lang="zh-TW" altLang="en-US" sz="2000" b="1">
                <a:solidFill>
                  <a:srgbClr val="FF33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8452" name="Rectangle 12"/>
            <p:cNvSpPr>
              <a:spLocks noChangeArrowheads="1"/>
            </p:cNvSpPr>
            <p:nvPr/>
          </p:nvSpPr>
          <p:spPr bwMode="auto">
            <a:xfrm>
              <a:off x="1837" y="2704"/>
              <a:ext cx="1906" cy="81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marL="342900" indent="-3429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lvl="2">
                <a:spcBef>
                  <a:spcPct val="0"/>
                </a:spcBef>
                <a:buNone/>
              </a:pPr>
              <a:endParaRPr lang="zh-TW" altLang="en-US" b="1">
                <a:solidFill>
                  <a:srgbClr val="FF33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8453" name="Rectangle 13"/>
            <p:cNvSpPr>
              <a:spLocks noChangeArrowheads="1"/>
            </p:cNvSpPr>
            <p:nvPr/>
          </p:nvSpPr>
          <p:spPr bwMode="auto">
            <a:xfrm>
              <a:off x="1837" y="755"/>
              <a:ext cx="1906" cy="3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marL="342900" indent="-34290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lvl="2">
                <a:spcBef>
                  <a:spcPct val="0"/>
                </a:spcBef>
                <a:buNone/>
              </a:pPr>
              <a:endParaRPr lang="zh-TW" altLang="en-US" b="1">
                <a:solidFill>
                  <a:srgbClr val="FF3300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18436" name="Rectangle 15"/>
          <p:cNvSpPr>
            <a:spLocks noChangeArrowheads="1"/>
          </p:cNvSpPr>
          <p:nvPr/>
        </p:nvSpPr>
        <p:spPr bwMode="auto">
          <a:xfrm>
            <a:off x="2855913" y="1412875"/>
            <a:ext cx="9144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en-US" altLang="zh-TW" b="1">
                <a:solidFill>
                  <a:srgbClr val="000000"/>
                </a:solidFill>
                <a:latin typeface="Calibri" panose="020F0502020204030204" pitchFamily="34" charset="0"/>
              </a:rPr>
              <a:t>1009</a:t>
            </a:r>
          </a:p>
        </p:txBody>
      </p:sp>
      <p:sp>
        <p:nvSpPr>
          <p:cNvPr id="18437" name="Text Box 16"/>
          <p:cNvSpPr txBox="1">
            <a:spLocks noChangeArrowheads="1"/>
          </p:cNvSpPr>
          <p:nvPr/>
        </p:nvSpPr>
        <p:spPr bwMode="auto">
          <a:xfrm>
            <a:off x="3792538" y="2349501"/>
            <a:ext cx="6527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TW" sz="1800" b="1">
                <a:solidFill>
                  <a:srgbClr val="000000"/>
                </a:solidFill>
                <a:latin typeface="Calibri" panose="020F0502020204030204" pitchFamily="34" charset="0"/>
              </a:rPr>
              <a:t>1000</a:t>
            </a:r>
          </a:p>
        </p:txBody>
      </p:sp>
      <p:sp>
        <p:nvSpPr>
          <p:cNvPr id="18438" name="Text Box 17"/>
          <p:cNvSpPr txBox="1">
            <a:spLocks noChangeArrowheads="1"/>
          </p:cNvSpPr>
          <p:nvPr/>
        </p:nvSpPr>
        <p:spPr bwMode="auto">
          <a:xfrm>
            <a:off x="3792538" y="2708276"/>
            <a:ext cx="6527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TW" sz="1800" b="1">
                <a:solidFill>
                  <a:srgbClr val="000000"/>
                </a:solidFill>
                <a:latin typeface="Calibri" panose="020F0502020204030204" pitchFamily="34" charset="0"/>
              </a:rPr>
              <a:t>1003</a:t>
            </a:r>
          </a:p>
        </p:txBody>
      </p:sp>
      <p:sp>
        <p:nvSpPr>
          <p:cNvPr id="18439" name="Text Box 18"/>
          <p:cNvSpPr txBox="1">
            <a:spLocks noChangeArrowheads="1"/>
          </p:cNvSpPr>
          <p:nvPr/>
        </p:nvSpPr>
        <p:spPr bwMode="auto">
          <a:xfrm>
            <a:off x="3792538" y="3068638"/>
            <a:ext cx="6527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TW" sz="1800" b="1">
                <a:solidFill>
                  <a:srgbClr val="000000"/>
                </a:solidFill>
                <a:latin typeface="Calibri" panose="020F0502020204030204" pitchFamily="34" charset="0"/>
              </a:rPr>
              <a:t>1006</a:t>
            </a:r>
          </a:p>
        </p:txBody>
      </p:sp>
      <p:sp>
        <p:nvSpPr>
          <p:cNvPr id="18440" name="Text Box 19"/>
          <p:cNvSpPr txBox="1">
            <a:spLocks noChangeArrowheads="1"/>
          </p:cNvSpPr>
          <p:nvPr/>
        </p:nvSpPr>
        <p:spPr bwMode="auto">
          <a:xfrm>
            <a:off x="3792538" y="3429001"/>
            <a:ext cx="6527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TW" sz="1800" b="1">
                <a:solidFill>
                  <a:srgbClr val="000000"/>
                </a:solidFill>
                <a:latin typeface="Calibri" panose="020F0502020204030204" pitchFamily="34" charset="0"/>
              </a:rPr>
              <a:t>1009</a:t>
            </a:r>
          </a:p>
        </p:txBody>
      </p:sp>
      <p:sp>
        <p:nvSpPr>
          <p:cNvPr id="18441" name="Text Box 20"/>
          <p:cNvSpPr txBox="1">
            <a:spLocks noChangeArrowheads="1"/>
          </p:cNvSpPr>
          <p:nvPr/>
        </p:nvSpPr>
        <p:spPr bwMode="auto">
          <a:xfrm>
            <a:off x="3792538" y="3783013"/>
            <a:ext cx="65755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TW" sz="1800" b="1">
                <a:solidFill>
                  <a:srgbClr val="000000"/>
                </a:solidFill>
                <a:latin typeface="Calibri" panose="020F0502020204030204" pitchFamily="34" charset="0"/>
              </a:rPr>
              <a:t>100C</a:t>
            </a:r>
          </a:p>
        </p:txBody>
      </p:sp>
      <p:sp>
        <p:nvSpPr>
          <p:cNvPr id="18442" name="Text Box 21"/>
          <p:cNvSpPr txBox="1">
            <a:spLocks noChangeArrowheads="1"/>
          </p:cNvSpPr>
          <p:nvPr/>
        </p:nvSpPr>
        <p:spPr bwMode="auto">
          <a:xfrm>
            <a:off x="3792538" y="4141788"/>
            <a:ext cx="64152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TW" sz="1800" b="1">
                <a:solidFill>
                  <a:srgbClr val="000000"/>
                </a:solidFill>
                <a:latin typeface="Calibri" panose="020F0502020204030204" pitchFamily="34" charset="0"/>
              </a:rPr>
              <a:t>100F</a:t>
            </a:r>
          </a:p>
        </p:txBody>
      </p:sp>
      <p:sp>
        <p:nvSpPr>
          <p:cNvPr id="18443" name="Text Box 22"/>
          <p:cNvSpPr txBox="1">
            <a:spLocks noChangeArrowheads="1"/>
          </p:cNvSpPr>
          <p:nvPr/>
        </p:nvSpPr>
        <p:spPr bwMode="auto">
          <a:xfrm>
            <a:off x="3792538" y="4502151"/>
            <a:ext cx="6527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TW" sz="1800" b="1">
                <a:solidFill>
                  <a:srgbClr val="000000"/>
                </a:solidFill>
                <a:latin typeface="Calibri" panose="020F0502020204030204" pitchFamily="34" charset="0"/>
              </a:rPr>
              <a:t>1012</a:t>
            </a:r>
          </a:p>
        </p:txBody>
      </p:sp>
      <p:sp>
        <p:nvSpPr>
          <p:cNvPr id="18444" name="Text Box 23"/>
          <p:cNvSpPr txBox="1">
            <a:spLocks noChangeArrowheads="1"/>
          </p:cNvSpPr>
          <p:nvPr/>
        </p:nvSpPr>
        <p:spPr bwMode="auto">
          <a:xfrm>
            <a:off x="3000375" y="981075"/>
            <a:ext cx="58060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TW" sz="2400" b="1">
                <a:solidFill>
                  <a:srgbClr val="000000"/>
                </a:solidFill>
                <a:latin typeface="Calibri" panose="020F0502020204030204" pitchFamily="34" charset="0"/>
              </a:rPr>
              <a:t>EIP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F86F9A-5044-4A1A-847C-0AD38322033F}" type="slidenum">
              <a:rPr lang="en-US" altLang="zh-TW" smtClean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pPr>
                <a:defRPr/>
              </a:pPr>
              <a:t>12</a:t>
            </a:fld>
            <a:endParaRPr lang="en-US" altLang="zh-TW">
              <a:solidFill>
                <a:srgbClr val="000000"/>
              </a:solidFill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07576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為什麼要分為</a:t>
            </a:r>
            <a:r>
              <a:rPr lang="en-US" altLang="zh-TW" dirty="0" smtClean="0"/>
              <a:t>text section, data section, stack section and heap section?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3257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dirty="0" smtClean="0">
                <a:effectLst/>
                <a:latin typeface="標楷體" panose="03000509000000000000" pitchFamily="65" charset="-120"/>
              </a:rPr>
              <a:t>複習</a:t>
            </a:r>
            <a:r>
              <a:rPr lang="en-US" altLang="zh-TW" sz="4000" dirty="0" smtClean="0">
                <a:effectLst/>
                <a:latin typeface="標楷體" panose="03000509000000000000" pitchFamily="65" charset="-120"/>
              </a:rPr>
              <a:t>:</a:t>
            </a:r>
            <a:r>
              <a:rPr lang="en-US" altLang="zh-TW" sz="4000" dirty="0" smtClean="0">
                <a:effectLst/>
              </a:rPr>
              <a:t>Example</a:t>
            </a:r>
            <a:r>
              <a:rPr lang="en-US" altLang="zh-TW" sz="4000" dirty="0">
                <a:effectLst/>
              </a:rPr>
              <a:t>: Adding and Subtracting Integers</a:t>
            </a:r>
            <a:endParaRPr lang="zh-TW" altLang="en-US" sz="40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F06792-2767-43F4-A335-D8A37CCA3850}" type="slidenum">
              <a:rPr lang="en-US" altLang="zh-TW" smtClean="0"/>
              <a:pPr>
                <a:defRPr/>
              </a:pPr>
              <a:t>14</a:t>
            </a:fld>
            <a:endParaRPr lang="en-US" altLang="zh-TW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2428641" y="1268760"/>
            <a:ext cx="7696200" cy="48245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28600" bIns="228600"/>
          <a:lstStyle>
            <a:lvl1pPr>
              <a:spcBef>
                <a:spcPct val="20000"/>
              </a:spcBef>
              <a:buChar char="•"/>
              <a:tabLst>
                <a:tab pos="457200" algn="l"/>
                <a:tab pos="3657600" algn="l"/>
                <a:tab pos="4114800" algn="l"/>
              </a:tabLs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  <a:tab pos="3657600" algn="l"/>
                <a:tab pos="4114800" algn="l"/>
              </a:tabLs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  <a:tab pos="3657600" algn="l"/>
                <a:tab pos="411480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  <a:tab pos="3657600" algn="l"/>
                <a:tab pos="411480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  <a:tab pos="3657600" algn="l"/>
                <a:tab pos="411480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3657600" algn="l"/>
                <a:tab pos="411480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3657600" algn="l"/>
                <a:tab pos="411480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3657600" algn="l"/>
                <a:tab pos="411480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3657600" algn="l"/>
                <a:tab pos="411480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kumimoji="0" lang="en-US" altLang="zh-TW" sz="1800" b="1" dirty="0">
                <a:latin typeface="Courier New" panose="02070309020205020404" pitchFamily="49" charset="0"/>
              </a:rPr>
              <a:t>;AddVariables.asm – Chapter 3 example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kumimoji="0" lang="en-US" altLang="zh-TW" sz="1800" b="1" dirty="0">
                <a:latin typeface="Courier New" panose="02070309020205020404" pitchFamily="49" charset="0"/>
              </a:rPr>
              <a:t>.386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kumimoji="0" lang="en-US" altLang="zh-TW" sz="1800" b="1" dirty="0">
                <a:latin typeface="Courier New" panose="02070309020205020404" pitchFamily="49" charset="0"/>
              </a:rPr>
              <a:t>.model </a:t>
            </a:r>
            <a:r>
              <a:rPr kumimoji="0" lang="en-US" altLang="zh-TW" sz="1800" b="1" dirty="0" err="1">
                <a:latin typeface="Courier New" panose="02070309020205020404" pitchFamily="49" charset="0"/>
              </a:rPr>
              <a:t>flat,stdcall</a:t>
            </a:r>
            <a:endParaRPr kumimoji="0" lang="en-US" altLang="zh-TW" sz="18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kumimoji="0" lang="en-US" altLang="zh-TW" sz="1800" b="1" dirty="0">
                <a:latin typeface="Courier New" panose="02070309020205020404" pitchFamily="49" charset="0"/>
              </a:rPr>
              <a:t>.stack 4096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kumimoji="0" lang="en-US" altLang="zh-TW" sz="1800" b="1" dirty="0" err="1">
                <a:latin typeface="Courier New" panose="02070309020205020404" pitchFamily="49" charset="0"/>
              </a:rPr>
              <a:t>ExitProcess</a:t>
            </a:r>
            <a:r>
              <a:rPr kumimoji="0" lang="en-US" altLang="zh-TW" sz="1800" b="1" dirty="0">
                <a:latin typeface="Courier New" panose="02070309020205020404" pitchFamily="49" charset="0"/>
              </a:rPr>
              <a:t> PROTO, </a:t>
            </a:r>
            <a:r>
              <a:rPr kumimoji="0" lang="en-US" altLang="zh-TW" sz="1800" b="1" dirty="0" err="1">
                <a:latin typeface="Courier New" panose="02070309020205020404" pitchFamily="49" charset="0"/>
              </a:rPr>
              <a:t>dwExitCode:DWORD</a:t>
            </a:r>
            <a:endParaRPr kumimoji="0" lang="en-US" altLang="zh-TW" sz="18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kumimoji="0" lang="en-US" altLang="zh-TW" sz="1800" b="1" dirty="0">
                <a:latin typeface="Courier New" panose="02070309020205020404" pitchFamily="49" charset="0"/>
              </a:rPr>
              <a:t>.data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kumimoji="0" lang="en-US" altLang="zh-TW" sz="1800" b="1" dirty="0">
                <a:latin typeface="Courier New" panose="02070309020205020404" pitchFamily="49" charset="0"/>
              </a:rPr>
              <a:t>sum       DWORD 0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kumimoji="0" lang="en-US" altLang="zh-TW" sz="1800" b="1" dirty="0" smtClean="0">
                <a:latin typeface="Courier New" panose="02070309020205020404" pitchFamily="49" charset="0"/>
              </a:rPr>
              <a:t>.</a:t>
            </a:r>
            <a:r>
              <a:rPr kumimoji="0" lang="en-US" altLang="zh-TW" sz="1800" b="1" dirty="0">
                <a:latin typeface="Courier New" panose="02070309020205020404" pitchFamily="49" charset="0"/>
              </a:rPr>
              <a:t>code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kumimoji="0" lang="en-US" altLang="zh-TW" sz="1800" b="1" dirty="0">
                <a:latin typeface="Courier New" panose="02070309020205020404" pitchFamily="49" charset="0"/>
              </a:rPr>
              <a:t>main PROC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kumimoji="0" lang="en-US" altLang="zh-TW" sz="1800" b="1" dirty="0">
                <a:latin typeface="Courier New" panose="02070309020205020404" pitchFamily="49" charset="0"/>
              </a:rPr>
              <a:t>	</a:t>
            </a:r>
            <a:r>
              <a:rPr kumimoji="0" lang="en-US" altLang="zh-TW" sz="1800" b="1" dirty="0" err="1">
                <a:latin typeface="Courier New" panose="02070309020205020404" pitchFamily="49" charset="0"/>
              </a:rPr>
              <a:t>mov</a:t>
            </a:r>
            <a:r>
              <a:rPr kumimoji="0" lang="en-US" altLang="zh-TW" sz="1800" b="1" dirty="0">
                <a:latin typeface="Courier New" panose="02070309020205020404" pitchFamily="49" charset="0"/>
              </a:rPr>
              <a:t>  eax,5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kumimoji="0" lang="en-US" altLang="zh-TW" sz="1800" b="1" dirty="0">
                <a:latin typeface="Courier New" panose="02070309020205020404" pitchFamily="49" charset="0"/>
              </a:rPr>
              <a:t>	add  eax,6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kumimoji="0" lang="en-US" altLang="zh-TW" sz="1800" b="1" dirty="0">
                <a:latin typeface="Courier New" panose="02070309020205020404" pitchFamily="49" charset="0"/>
              </a:rPr>
              <a:t>	</a:t>
            </a:r>
            <a:r>
              <a:rPr kumimoji="0" lang="en-US" altLang="zh-TW" sz="1800" b="1" dirty="0" err="1">
                <a:latin typeface="Courier New" panose="02070309020205020404" pitchFamily="49" charset="0"/>
              </a:rPr>
              <a:t>mov</a:t>
            </a:r>
            <a:r>
              <a:rPr kumimoji="0" lang="en-US" altLang="zh-TW" sz="1800" b="1" dirty="0">
                <a:latin typeface="Courier New" panose="02070309020205020404" pitchFamily="49" charset="0"/>
              </a:rPr>
              <a:t>  </a:t>
            </a:r>
            <a:r>
              <a:rPr kumimoji="0" lang="en-US" altLang="zh-TW" sz="1800" b="1" dirty="0" err="1">
                <a:latin typeface="Courier New" panose="02070309020205020404" pitchFamily="49" charset="0"/>
              </a:rPr>
              <a:t>sum,eax</a:t>
            </a:r>
            <a:endParaRPr kumimoji="0" lang="en-US" altLang="zh-TW" sz="18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kumimoji="0" lang="en-US" altLang="zh-TW" sz="1800" b="1" dirty="0">
                <a:latin typeface="Courier New" panose="02070309020205020404" pitchFamily="49" charset="0"/>
              </a:rPr>
              <a:t>	INVOKE ExitProcess,0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kumimoji="0" lang="en-US" altLang="zh-TW" sz="1800" b="1" dirty="0">
                <a:latin typeface="Courier New" panose="02070309020205020404" pitchFamily="49" charset="0"/>
              </a:rPr>
              <a:t>main ENDP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kumimoji="0" lang="en-US" altLang="zh-TW" sz="1800" b="1" dirty="0">
                <a:latin typeface="Courier New" panose="02070309020205020404" pitchFamily="49" charset="0"/>
              </a:rPr>
              <a:t>END main</a:t>
            </a:r>
          </a:p>
        </p:txBody>
      </p:sp>
    </p:spTree>
    <p:extLst>
      <p:ext uri="{BB962C8B-B14F-4D97-AF65-F5344CB8AC3E}">
        <p14:creationId xmlns:p14="http://schemas.microsoft.com/office/powerpoint/2010/main" val="2713861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為什麼使用</a:t>
            </a:r>
            <a:r>
              <a:rPr lang="en-US" altLang="zh-TW" dirty="0" smtClean="0"/>
              <a:t>stack section</a:t>
            </a:r>
            <a:r>
              <a:rPr lang="zh-TW" altLang="en-US" dirty="0" smtClean="0"/>
              <a:t>儲存</a:t>
            </a:r>
            <a:r>
              <a:rPr lang="en-US" altLang="zh-TW" dirty="0" smtClean="0"/>
              <a:t>parameter</a:t>
            </a:r>
            <a:r>
              <a:rPr lang="en-US" altLang="zh-TW" dirty="0"/>
              <a:t>, return address, local </a:t>
            </a:r>
            <a:r>
              <a:rPr lang="en-US" altLang="zh-TW" dirty="0" smtClean="0"/>
              <a:t>variables?</a:t>
            </a:r>
            <a:r>
              <a:rPr lang="en-US" altLang="zh-TW" dirty="0"/>
              <a:t/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9298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/>
          <p:cNvSpPr/>
          <p:nvPr/>
        </p:nvSpPr>
        <p:spPr>
          <a:xfrm>
            <a:off x="5911888" y="1268760"/>
            <a:ext cx="3080388" cy="55892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761755" y="115888"/>
            <a:ext cx="8726733" cy="1143000"/>
          </a:xfrm>
          <a:noFill/>
        </p:spPr>
        <p:txBody>
          <a:bodyPr/>
          <a:lstStyle/>
          <a:p>
            <a:r>
              <a:rPr lang="zh-TW" altLang="en-US" dirty="0">
                <a:effectLst/>
              </a:rPr>
              <a:t>複習</a:t>
            </a:r>
            <a:r>
              <a:rPr lang="en-US" altLang="zh-TW" dirty="0">
                <a:effectLst/>
              </a:rPr>
              <a:t>: </a:t>
            </a:r>
            <a:r>
              <a:rPr lang="en-US" altLang="zh-TW" dirty="0" smtClean="0"/>
              <a:t>Stack</a:t>
            </a:r>
            <a:r>
              <a:rPr lang="en-US" altLang="zh-TW" dirty="0"/>
              <a:t>: Example 1</a:t>
            </a:r>
            <a:endParaRPr lang="zh-TW" altLang="en-US" dirty="0">
              <a:effectLst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2898224" y="1515462"/>
            <a:ext cx="86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  <a:latin typeface="Calibri" panose="020F0502020204030204" pitchFamily="34" charset="0"/>
                <a:ea typeface="新細明體" pitchFamily="18" charset="-120"/>
              </a:rPr>
              <a:t>stack</a:t>
            </a:r>
          </a:p>
        </p:txBody>
      </p:sp>
      <p:sp>
        <p:nvSpPr>
          <p:cNvPr id="41" name="文字方塊 40"/>
          <p:cNvSpPr txBox="1"/>
          <p:nvPr/>
        </p:nvSpPr>
        <p:spPr>
          <a:xfrm>
            <a:off x="5951984" y="1268760"/>
            <a:ext cx="302433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  <a:ea typeface="新細明體" pitchFamily="18" charset="-120"/>
              </a:rPr>
              <a:t>main()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  <a:ea typeface="新細明體" pitchFamily="18" charset="-120"/>
              </a:rPr>
              <a:t>{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  <a:ea typeface="新細明體" pitchFamily="18" charset="-120"/>
              </a:rPr>
              <a:t>    .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  <a:ea typeface="新細明體" pitchFamily="18" charset="-120"/>
              </a:rPr>
              <a:t>    .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  <a:ea typeface="新細明體" pitchFamily="18" charset="-120"/>
              </a:rPr>
              <a:t>    a = a + 1;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  <a:ea typeface="新細明體" pitchFamily="18" charset="-120"/>
              </a:rPr>
              <a:t>    function_1(…);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  <a:ea typeface="新細明體" pitchFamily="18" charset="-120"/>
              </a:rPr>
              <a:t>    exit(1);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  <a:ea typeface="新細明體" pitchFamily="18" charset="-120"/>
              </a:rPr>
              <a:t>}</a:t>
            </a:r>
          </a:p>
          <a:p>
            <a:endParaRPr lang="en-US" altLang="zh-TW" sz="1800" dirty="0">
              <a:solidFill>
                <a:srgbClr val="000000"/>
              </a:solidFill>
              <a:latin typeface="Calibri" pitchFamily="34" charset="0"/>
              <a:ea typeface="新細明體" pitchFamily="18" charset="-120"/>
            </a:endParaRP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  <a:ea typeface="新細明體" pitchFamily="18" charset="-120"/>
              </a:rPr>
              <a:t>function_1()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  <a:ea typeface="新細明體" pitchFamily="18" charset="-120"/>
              </a:rPr>
              <a:t>{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  <a:ea typeface="新細明體" pitchFamily="18" charset="-120"/>
              </a:rPr>
              <a:t>    b = b - 1;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  <a:ea typeface="新細明體" pitchFamily="18" charset="-120"/>
              </a:rPr>
              <a:t>    function_2(…);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  <a:ea typeface="新細明體" pitchFamily="18" charset="-120"/>
              </a:rPr>
              <a:t>    return;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  <a:ea typeface="新細明體" pitchFamily="18" charset="-120"/>
              </a:rPr>
              <a:t>}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  <a:ea typeface="新細明體" pitchFamily="18" charset="-120"/>
              </a:rPr>
              <a:t>function_2()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  <a:ea typeface="新細明體" pitchFamily="18" charset="-120"/>
              </a:rPr>
              <a:t>{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  <a:ea typeface="新細明體" pitchFamily="18" charset="-120"/>
              </a:rPr>
              <a:t>     …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  <a:ea typeface="新細明體" pitchFamily="18" charset="-120"/>
              </a:rPr>
              <a:t>     return;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  <a:ea typeface="新細明體" pitchFamily="18" charset="-120"/>
              </a:rPr>
              <a:t>}</a:t>
            </a:r>
            <a:endParaRPr lang="zh-TW" altLang="en-US" sz="1800" dirty="0">
              <a:solidFill>
                <a:srgbClr val="000000"/>
              </a:solidFill>
              <a:latin typeface="Calibri" pitchFamily="34" charset="0"/>
              <a:ea typeface="新細明體" pitchFamily="18" charset="-120"/>
            </a:endParaRPr>
          </a:p>
          <a:p>
            <a:endParaRPr lang="zh-TW" altLang="en-US" sz="1800" dirty="0">
              <a:solidFill>
                <a:srgbClr val="000000"/>
              </a:solidFill>
              <a:latin typeface="Calibri" pitchFamily="34" charset="0"/>
              <a:ea typeface="新細明體" pitchFamily="18" charset="-120"/>
            </a:endParaRPr>
          </a:p>
        </p:txBody>
      </p:sp>
      <p:cxnSp>
        <p:nvCxnSpPr>
          <p:cNvPr id="44" name="直線單箭頭接點 43"/>
          <p:cNvCxnSpPr/>
          <p:nvPr/>
        </p:nvCxnSpPr>
        <p:spPr>
          <a:xfrm>
            <a:off x="5171009" y="1484138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/>
          <p:nvPr/>
        </p:nvCxnSpPr>
        <p:spPr>
          <a:xfrm>
            <a:off x="5171009" y="2553553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/>
          <p:nvPr/>
        </p:nvCxnSpPr>
        <p:spPr>
          <a:xfrm>
            <a:off x="5171009" y="2845473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/>
          <p:nvPr/>
        </p:nvCxnSpPr>
        <p:spPr>
          <a:xfrm flipH="1">
            <a:off x="9161672" y="3879061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直線單箭頭接點 64"/>
          <p:cNvCxnSpPr/>
          <p:nvPr/>
        </p:nvCxnSpPr>
        <p:spPr>
          <a:xfrm flipH="1">
            <a:off x="9192344" y="4437112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>
            <a:off x="5231904" y="5555332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文字方塊 1"/>
          <p:cNvSpPr txBox="1"/>
          <p:nvPr/>
        </p:nvSpPr>
        <p:spPr>
          <a:xfrm>
            <a:off x="2423243" y="1972468"/>
            <a:ext cx="1737537" cy="738664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b="1" dirty="0" err="1">
                <a:solidFill>
                  <a:srgbClr val="FF0000"/>
                </a:solidFill>
                <a:latin typeface="Calibri" panose="020F0502020204030204" pitchFamily="34" charset="0"/>
                <a:ea typeface="新細明體" pitchFamily="18" charset="-120"/>
              </a:rPr>
              <a:t>arugment</a:t>
            </a:r>
            <a:endParaRPr lang="en-US" altLang="zh-TW" sz="1400" b="1" dirty="0">
              <a:solidFill>
                <a:srgbClr val="FF0000"/>
              </a:solidFill>
              <a:latin typeface="Calibri" panose="020F0502020204030204" pitchFamily="34" charset="0"/>
              <a:ea typeface="新細明體" pitchFamily="18" charset="-120"/>
            </a:endParaRPr>
          </a:p>
          <a:p>
            <a:pPr algn="ctr"/>
            <a:r>
              <a:rPr lang="en-US" altLang="zh-TW" sz="1400" b="1" dirty="0">
                <a:solidFill>
                  <a:srgbClr val="FF0000"/>
                </a:solidFill>
                <a:latin typeface="Calibri" panose="020F0502020204030204" pitchFamily="34" charset="0"/>
                <a:ea typeface="新細明體" pitchFamily="18" charset="-120"/>
              </a:rPr>
              <a:t>return address</a:t>
            </a:r>
          </a:p>
          <a:p>
            <a:pPr algn="ctr"/>
            <a:r>
              <a:rPr lang="en-US" altLang="zh-TW" sz="1400" b="1" dirty="0">
                <a:solidFill>
                  <a:srgbClr val="FF0000"/>
                </a:solidFill>
                <a:latin typeface="Calibri" panose="020F0502020204030204" pitchFamily="34" charset="0"/>
                <a:ea typeface="新細明體" pitchFamily="18" charset="-120"/>
              </a:rPr>
              <a:t>local variables</a:t>
            </a:r>
          </a:p>
        </p:txBody>
      </p:sp>
      <p:sp>
        <p:nvSpPr>
          <p:cNvPr id="37" name="文字方塊 36"/>
          <p:cNvSpPr txBox="1"/>
          <p:nvPr/>
        </p:nvSpPr>
        <p:spPr>
          <a:xfrm>
            <a:off x="2423244" y="2650672"/>
            <a:ext cx="1737537" cy="738664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b="1" dirty="0">
                <a:solidFill>
                  <a:srgbClr val="FF0000"/>
                </a:solidFill>
                <a:latin typeface="Calibri" panose="020F0502020204030204" pitchFamily="34" charset="0"/>
                <a:ea typeface="新細明體" pitchFamily="18" charset="-120"/>
              </a:rPr>
              <a:t>argument</a:t>
            </a:r>
          </a:p>
          <a:p>
            <a:pPr algn="ctr"/>
            <a:r>
              <a:rPr lang="en-US" altLang="zh-TW" sz="1400" b="1" dirty="0">
                <a:solidFill>
                  <a:srgbClr val="FF0000"/>
                </a:solidFill>
                <a:latin typeface="Calibri" panose="020F0502020204030204" pitchFamily="34" charset="0"/>
                <a:ea typeface="新細明體" pitchFamily="18" charset="-120"/>
              </a:rPr>
              <a:t>return address</a:t>
            </a:r>
          </a:p>
          <a:p>
            <a:pPr algn="ctr"/>
            <a:r>
              <a:rPr lang="en-US" altLang="zh-TW" sz="1400" b="1" dirty="0">
                <a:solidFill>
                  <a:srgbClr val="FF0000"/>
                </a:solidFill>
                <a:latin typeface="Calibri" panose="020F0502020204030204" pitchFamily="34" charset="0"/>
                <a:ea typeface="新細明體" pitchFamily="18" charset="-120"/>
              </a:rPr>
              <a:t>local variables</a:t>
            </a:r>
          </a:p>
        </p:txBody>
      </p:sp>
      <p:sp>
        <p:nvSpPr>
          <p:cNvPr id="38" name="文字方塊 37"/>
          <p:cNvSpPr txBox="1"/>
          <p:nvPr/>
        </p:nvSpPr>
        <p:spPr>
          <a:xfrm>
            <a:off x="2423243" y="3389336"/>
            <a:ext cx="1737537" cy="738664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b="1" dirty="0">
                <a:solidFill>
                  <a:srgbClr val="FF0000"/>
                </a:solidFill>
                <a:latin typeface="Calibri" panose="020F0502020204030204" pitchFamily="34" charset="0"/>
                <a:ea typeface="新細明體" pitchFamily="18" charset="-120"/>
              </a:rPr>
              <a:t>argument</a:t>
            </a:r>
            <a:endParaRPr lang="zh-TW" altLang="en-US" sz="1400" b="1" dirty="0">
              <a:solidFill>
                <a:srgbClr val="FF0000"/>
              </a:solidFill>
              <a:latin typeface="Calibri" panose="020F0502020204030204" pitchFamily="34" charset="0"/>
              <a:ea typeface="新細明體" pitchFamily="18" charset="-120"/>
            </a:endParaRPr>
          </a:p>
          <a:p>
            <a:pPr algn="ctr"/>
            <a:r>
              <a:rPr lang="en-US" altLang="zh-TW" sz="1400" b="1" dirty="0">
                <a:solidFill>
                  <a:srgbClr val="FF0000"/>
                </a:solidFill>
                <a:latin typeface="Calibri" panose="020F0502020204030204" pitchFamily="34" charset="0"/>
                <a:ea typeface="新細明體" pitchFamily="18" charset="-120"/>
              </a:rPr>
              <a:t>return address</a:t>
            </a:r>
          </a:p>
          <a:p>
            <a:pPr algn="ctr"/>
            <a:r>
              <a:rPr lang="en-US" altLang="zh-TW" sz="1400" b="1" dirty="0">
                <a:solidFill>
                  <a:srgbClr val="FF0000"/>
                </a:solidFill>
                <a:latin typeface="Calibri" panose="020F0502020204030204" pitchFamily="34" charset="0"/>
                <a:ea typeface="新細明體" pitchFamily="18" charset="-120"/>
              </a:rPr>
              <a:t>local variables</a:t>
            </a:r>
          </a:p>
        </p:txBody>
      </p:sp>
      <p:cxnSp>
        <p:nvCxnSpPr>
          <p:cNvPr id="39" name="直線單箭頭接點 38"/>
          <p:cNvCxnSpPr/>
          <p:nvPr/>
        </p:nvCxnSpPr>
        <p:spPr>
          <a:xfrm>
            <a:off x="1753570" y="2608885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文字方塊 39"/>
          <p:cNvSpPr txBox="1"/>
          <p:nvPr/>
        </p:nvSpPr>
        <p:spPr>
          <a:xfrm>
            <a:off x="1718881" y="2073706"/>
            <a:ext cx="9361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rgbClr val="FF0000"/>
                </a:solidFill>
                <a:latin typeface="Calibri" pitchFamily="34" charset="0"/>
                <a:ea typeface="新細明體" pitchFamily="18" charset="-120"/>
              </a:rPr>
              <a:t>ESP</a:t>
            </a:r>
            <a:endParaRPr lang="zh-TW" altLang="en-US" sz="2800" b="1" dirty="0">
              <a:solidFill>
                <a:srgbClr val="FF0000"/>
              </a:solidFill>
              <a:latin typeface="Calibri" pitchFamily="34" charset="0"/>
              <a:ea typeface="新細明體" pitchFamily="18" charset="-120"/>
            </a:endParaRPr>
          </a:p>
        </p:txBody>
      </p:sp>
      <p:cxnSp>
        <p:nvCxnSpPr>
          <p:cNvPr id="43" name="直線單箭頭接點 42"/>
          <p:cNvCxnSpPr/>
          <p:nvPr/>
        </p:nvCxnSpPr>
        <p:spPr>
          <a:xfrm>
            <a:off x="1761754" y="3195724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文字方塊 45"/>
          <p:cNvSpPr txBox="1"/>
          <p:nvPr/>
        </p:nvSpPr>
        <p:spPr>
          <a:xfrm>
            <a:off x="1718881" y="2655793"/>
            <a:ext cx="9361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rgbClr val="FF0000"/>
                </a:solidFill>
                <a:latin typeface="Calibri" pitchFamily="34" charset="0"/>
                <a:ea typeface="新細明體" pitchFamily="18" charset="-120"/>
              </a:rPr>
              <a:t>ESP</a:t>
            </a:r>
            <a:endParaRPr lang="zh-TW" altLang="en-US" sz="2800" b="1" dirty="0">
              <a:solidFill>
                <a:srgbClr val="FF0000"/>
              </a:solidFill>
              <a:latin typeface="Calibri" pitchFamily="34" charset="0"/>
              <a:ea typeface="新細明體" pitchFamily="18" charset="-120"/>
            </a:endParaRPr>
          </a:p>
        </p:txBody>
      </p:sp>
      <p:cxnSp>
        <p:nvCxnSpPr>
          <p:cNvPr id="48" name="直線單箭頭接點 47"/>
          <p:cNvCxnSpPr/>
          <p:nvPr/>
        </p:nvCxnSpPr>
        <p:spPr>
          <a:xfrm>
            <a:off x="1761754" y="3739614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文字方塊 48"/>
          <p:cNvSpPr txBox="1"/>
          <p:nvPr/>
        </p:nvSpPr>
        <p:spPr>
          <a:xfrm>
            <a:off x="1718881" y="3265820"/>
            <a:ext cx="9361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>
                <a:solidFill>
                  <a:srgbClr val="FF0000"/>
                </a:solidFill>
                <a:latin typeface="Calibri" pitchFamily="34" charset="0"/>
                <a:ea typeface="新細明體" pitchFamily="18" charset="-120"/>
              </a:rPr>
              <a:t>ESP</a:t>
            </a:r>
            <a:endParaRPr lang="zh-TW" altLang="en-US" sz="2800" b="1" dirty="0">
              <a:solidFill>
                <a:srgbClr val="FF0000"/>
              </a:solidFill>
              <a:latin typeface="Calibri" pitchFamily="34" charset="0"/>
              <a:ea typeface="新細明體" pitchFamily="18" charset="-120"/>
            </a:endParaRPr>
          </a:p>
        </p:txBody>
      </p:sp>
      <p:cxnSp>
        <p:nvCxnSpPr>
          <p:cNvPr id="50" name="直線單箭頭接點 49"/>
          <p:cNvCxnSpPr/>
          <p:nvPr/>
        </p:nvCxnSpPr>
        <p:spPr>
          <a:xfrm>
            <a:off x="5231904" y="6381328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/>
          <p:nvPr/>
        </p:nvCxnSpPr>
        <p:spPr>
          <a:xfrm flipH="1">
            <a:off x="9192344" y="5013176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/>
          <p:nvPr/>
        </p:nvCxnSpPr>
        <p:spPr>
          <a:xfrm>
            <a:off x="5231904" y="6165304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/>
          <p:nvPr/>
        </p:nvCxnSpPr>
        <p:spPr>
          <a:xfrm>
            <a:off x="5159896" y="3146301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D4D4BB2-6766-4561-BC06-F552BFADA6F9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16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5519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22" dur="indefinite"/>
                                        <p:tgtEl>
                                          <p:spTgt spid="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" presetClass="emph" presetSubtype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 override="childStyle">
                                        <p:cTn id="68" dur="indefinite"/>
                                        <p:tgtEl>
                                          <p:spTgt spid="4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69" dur="indefinite"/>
                                        <p:tgtEl>
                                          <p:spTgt spid="4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70" dur="indefinite"/>
                                        <p:tgtEl>
                                          <p:spTgt spid="4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17" dur="indefinite"/>
                                        <p:tgtEl>
                                          <p:spTgt spid="4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2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"/>
                            </p:stCondLst>
                            <p:childTnLst>
                              <p:par>
                                <p:cTn id="135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5" presetClass="emph" presetSubtype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 override="childStyle">
                                        <p:cTn id="147" dur="indefinite"/>
                                        <p:tgtEl>
                                          <p:spTgt spid="4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48" dur="indefinite"/>
                                        <p:tgtEl>
                                          <p:spTgt spid="4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149" dur="indefinite"/>
                                        <p:tgtEl>
                                          <p:spTgt spid="4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53" dur="indefinite"/>
                                        <p:tgtEl>
                                          <p:spTgt spid="4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5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78" dur="indefinite"/>
                                        <p:tgtEl>
                                          <p:spTgt spid="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8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8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7" grpId="0" animBg="1"/>
      <p:bldP spid="37" grpId="1" animBg="1"/>
      <p:bldP spid="38" grpId="0" animBg="1"/>
      <p:bldP spid="38" grpId="1" animBg="1"/>
      <p:bldP spid="40" grpId="0"/>
      <p:bldP spid="46" grpId="0"/>
      <p:bldP spid="46" grpId="1"/>
      <p:bldP spid="46" grpId="2"/>
      <p:bldP spid="46" grpId="3"/>
      <p:bldP spid="49" grpId="0"/>
      <p:bldP spid="49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dirty="0"/>
              <a:t>複習</a:t>
            </a:r>
            <a:r>
              <a:rPr lang="en-US" altLang="zh-TW" sz="4000" dirty="0" smtClean="0"/>
              <a:t>:</a:t>
            </a:r>
            <a:r>
              <a:rPr lang="zh-TW" altLang="en-US" sz="4000" dirty="0" smtClean="0"/>
              <a:t> </a:t>
            </a:r>
            <a:r>
              <a:rPr lang="en-US" altLang="zh-TW" sz="4000" dirty="0" smtClean="0"/>
              <a:t>Stack</a:t>
            </a:r>
            <a:r>
              <a:rPr lang="en-US" altLang="zh-TW" sz="4000" dirty="0"/>
              <a:t>: Example 2</a:t>
            </a:r>
            <a:endParaRPr lang="zh-TW" altLang="en-US" sz="4000" dirty="0"/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4417" y="1351414"/>
            <a:ext cx="2069786" cy="2627684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6F06792-2767-43F4-A335-D8A37CCA3850}" type="slidenum">
              <a:rPr kumimoji="1" lang="en-US" altLang="zh-TW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7085666" y="6523851"/>
            <a:ext cx="5106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https://eecs280staff.github.io/notes/02_ProceduralAbstraction_Testing.html</a:t>
            </a:r>
            <a:endParaRPr kumimoji="1" lang="zh-TW" altLang="en-US" sz="12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08" y="4265637"/>
            <a:ext cx="10553700" cy="1971675"/>
          </a:xfrm>
          <a:prstGeom prst="rect">
            <a:avLst/>
          </a:prstGeom>
        </p:spPr>
      </p:pic>
      <p:sp>
        <p:nvSpPr>
          <p:cNvPr id="8" name="圓角矩形圖說文字 7"/>
          <p:cNvSpPr/>
          <p:nvPr/>
        </p:nvSpPr>
        <p:spPr>
          <a:xfrm>
            <a:off x="624417" y="5546274"/>
            <a:ext cx="1872604" cy="432048"/>
          </a:xfrm>
          <a:prstGeom prst="wedgeRoundRectCallout">
            <a:avLst>
              <a:gd name="adj1" fmla="val 46697"/>
              <a:gd name="adj2" fmla="val -145796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 panose="020F0502020204030204" pitchFamily="34" charset="0"/>
                <a:ea typeface="新細明體"/>
                <a:cs typeface="+mn-cs"/>
              </a:rPr>
              <a:t>stack frame</a:t>
            </a:r>
            <a:endParaRPr kumimoji="1" lang="zh-TW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Calibri" panose="020F0502020204030204" pitchFamily="34" charset="0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7017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zh-TW" altLang="en-US" sz="4000" dirty="0" smtClean="0"/>
              <a:t>複習</a:t>
            </a:r>
            <a:r>
              <a:rPr lang="en-US" altLang="zh-TW" sz="4000" dirty="0" smtClean="0"/>
              <a:t>:</a:t>
            </a:r>
            <a:r>
              <a:rPr lang="zh-TW" altLang="en-US" sz="4000" dirty="0" smtClean="0"/>
              <a:t> </a:t>
            </a:r>
            <a:r>
              <a:rPr lang="en-US" altLang="zh-TW" sz="4000" dirty="0" smtClean="0"/>
              <a:t>Stack</a:t>
            </a:r>
            <a:r>
              <a:rPr lang="en-US" altLang="zh-TW" sz="4000" dirty="0"/>
              <a:t>: Example 3</a:t>
            </a:r>
            <a:endParaRPr lang="en-US" altLang="zh-TW" sz="4000" dirty="0">
              <a:effectLst/>
            </a:endParaRPr>
          </a:p>
        </p:txBody>
      </p:sp>
      <p:graphicFrame>
        <p:nvGraphicFramePr>
          <p:cNvPr id="8194" name="Object 3"/>
          <p:cNvGraphicFramePr>
            <a:graphicFrameLocks noChangeAspect="1"/>
          </p:cNvGraphicFramePr>
          <p:nvPr/>
        </p:nvGraphicFramePr>
        <p:xfrm>
          <a:off x="1615962" y="1143000"/>
          <a:ext cx="2133600" cy="525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8" name="VISIO" r:id="rId3" imgW="1783080" imgH="4157472" progId="">
                  <p:embed/>
                </p:oleObj>
              </mc:Choice>
              <mc:Fallback>
                <p:oleObj name="VISIO" r:id="rId3" imgW="1783080" imgH="4157472" progId="">
                  <p:embed/>
                  <p:pic>
                    <p:nvPicPr>
                      <p:cNvPr id="819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3436" t="-1471" r="7230"/>
                      <a:stretch>
                        <a:fillRect/>
                      </a:stretch>
                    </p:blipFill>
                    <p:spPr bwMode="auto">
                      <a:xfrm>
                        <a:off x="1615962" y="1143000"/>
                        <a:ext cx="2133600" cy="52578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4187631" y="1281462"/>
            <a:ext cx="6971517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tIns="137160" bIns="13716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By the time Sub3 is called, the stack contains three stack frames</a:t>
            </a:r>
          </a:p>
        </p:txBody>
      </p:sp>
      <p:grpSp>
        <p:nvGrpSpPr>
          <p:cNvPr id="4" name="群組 3"/>
          <p:cNvGrpSpPr/>
          <p:nvPr/>
        </p:nvGrpSpPr>
        <p:grpSpPr>
          <a:xfrm>
            <a:off x="5231904" y="2420235"/>
            <a:ext cx="5256584" cy="3672358"/>
            <a:chOff x="5519738" y="2420938"/>
            <a:chExt cx="3276600" cy="2286000"/>
          </a:xfrm>
        </p:grpSpPr>
        <p:graphicFrame>
          <p:nvGraphicFramePr>
            <p:cNvPr id="8195" name="Object 4"/>
            <p:cNvGraphicFramePr>
              <a:graphicFrameLocks noChangeAspect="1"/>
            </p:cNvGraphicFramePr>
            <p:nvPr/>
          </p:nvGraphicFramePr>
          <p:xfrm>
            <a:off x="5519738" y="2420938"/>
            <a:ext cx="3276600" cy="2286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39" name="VISIO" r:id="rId5" imgW="1757172" imgH="1004316" progId="">
                    <p:embed/>
                  </p:oleObj>
                </mc:Choice>
                <mc:Fallback>
                  <p:oleObj name="VISIO" r:id="rId5" imgW="1757172" imgH="1004316" progId="">
                    <p:embed/>
                    <p:pic>
                      <p:nvPicPr>
                        <p:cNvPr id="8195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-4347" t="-7584" r="10869" b="-6161"/>
                        <a:stretch>
                          <a:fillRect/>
                        </a:stretch>
                      </p:blipFill>
                      <p:spPr bwMode="auto">
                        <a:xfrm>
                          <a:off x="5519738" y="2420938"/>
                          <a:ext cx="3276600" cy="2286000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矩形 2"/>
            <p:cNvSpPr/>
            <p:nvPr/>
          </p:nvSpPr>
          <p:spPr>
            <a:xfrm>
              <a:off x="5951984" y="2665914"/>
              <a:ext cx="1296144" cy="26442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/>
                  <a:cs typeface="+mn-cs"/>
                </a:rPr>
                <a:t>stack frame</a:t>
              </a:r>
              <a:endPara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新細明體"/>
                <a:cs typeface="+mn-cs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5951984" y="3152800"/>
              <a:ext cx="1296144" cy="26442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/>
                  <a:cs typeface="+mn-cs"/>
                </a:rPr>
                <a:t>stack frame</a:t>
              </a:r>
              <a:endPara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新細明體"/>
                <a:cs typeface="+mn-cs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5951984" y="3639215"/>
              <a:ext cx="1296144" cy="26442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/>
                  <a:cs typeface="+mn-cs"/>
                </a:rPr>
                <a:t>stack frame</a:t>
              </a:r>
              <a:endParaRPr kumimoji="1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新細明體"/>
                <a:cs typeface="+mn-cs"/>
              </a:endParaRPr>
            </a:p>
          </p:txBody>
        </p:sp>
      </p:grp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8E01AA-4B65-4798-BFD9-8B545C976B75}" type="slidenum">
              <a:rPr kumimoji="1" lang="en-US" altLang="zh-TW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8941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Heap section</a:t>
            </a:r>
            <a:r>
              <a:rPr lang="zh-TW" altLang="en-US" dirty="0" smtClean="0"/>
              <a:t>的用途</a:t>
            </a:r>
            <a:r>
              <a:rPr lang="en-US" altLang="zh-TW" dirty="0" smtClean="0"/>
              <a:t>?</a:t>
            </a:r>
            <a:r>
              <a:rPr lang="en-US" altLang="zh-TW" dirty="0"/>
              <a:t/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0204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/>
          <p:cNvSpPr/>
          <p:nvPr/>
        </p:nvSpPr>
        <p:spPr>
          <a:xfrm>
            <a:off x="5911888" y="1268760"/>
            <a:ext cx="3080388" cy="55892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761755" y="115888"/>
            <a:ext cx="8726733" cy="1143000"/>
          </a:xfrm>
          <a:noFill/>
        </p:spPr>
        <p:txBody>
          <a:bodyPr/>
          <a:lstStyle/>
          <a:p>
            <a:r>
              <a:rPr lang="en-US" altLang="zh-TW" dirty="0"/>
              <a:t>Heap</a:t>
            </a:r>
            <a:endParaRPr lang="zh-TW" altLang="en-US" dirty="0">
              <a:effectLst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2859962" y="4026927"/>
            <a:ext cx="86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  <a:latin typeface="Calibri" panose="020F0502020204030204" pitchFamily="34" charset="0"/>
                <a:ea typeface="新細明體" pitchFamily="18" charset="-120"/>
              </a:rPr>
              <a:t>heap</a:t>
            </a:r>
          </a:p>
        </p:txBody>
      </p:sp>
      <p:sp>
        <p:nvSpPr>
          <p:cNvPr id="41" name="文字方塊 40"/>
          <p:cNvSpPr txBox="1"/>
          <p:nvPr/>
        </p:nvSpPr>
        <p:spPr>
          <a:xfrm>
            <a:off x="5951984" y="1268761"/>
            <a:ext cx="302433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  <a:ea typeface="新細明體" pitchFamily="18" charset="-120"/>
              </a:rPr>
              <a:t>main()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  <a:ea typeface="新細明體" pitchFamily="18" charset="-120"/>
              </a:rPr>
              <a:t>{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  <a:ea typeface="新細明體" pitchFamily="18" charset="-120"/>
              </a:rPr>
              <a:t>    .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  <a:ea typeface="新細明體" pitchFamily="18" charset="-120"/>
              </a:rPr>
              <a:t>    .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  <a:ea typeface="新細明體" pitchFamily="18" charset="-120"/>
              </a:rPr>
              <a:t>    </a:t>
            </a:r>
            <a:r>
              <a:rPr lang="en-US" altLang="zh-TW" sz="1800" dirty="0" err="1">
                <a:solidFill>
                  <a:srgbClr val="000000"/>
                </a:solidFill>
                <a:latin typeface="Calibri" pitchFamily="34" charset="0"/>
                <a:ea typeface="新細明體" pitchFamily="18" charset="-120"/>
              </a:rPr>
              <a:t>malloc</a:t>
            </a:r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  <a:ea typeface="新細明體" pitchFamily="18" charset="-120"/>
              </a:rPr>
              <a:t>(1024);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  <a:ea typeface="新細明體" pitchFamily="18" charset="-120"/>
              </a:rPr>
              <a:t>    ……;</a:t>
            </a:r>
          </a:p>
          <a:p>
            <a:endParaRPr lang="en-US" altLang="zh-TW" sz="1800" dirty="0">
              <a:solidFill>
                <a:srgbClr val="000000"/>
              </a:solidFill>
              <a:latin typeface="Calibri" pitchFamily="34" charset="0"/>
              <a:ea typeface="新細明體" pitchFamily="18" charset="-120"/>
            </a:endParaRP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  <a:ea typeface="新細明體" pitchFamily="18" charset="-120"/>
              </a:rPr>
              <a:t>     b = b - 1;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  <a:ea typeface="新細明體" pitchFamily="18" charset="-120"/>
              </a:rPr>
              <a:t>     </a:t>
            </a:r>
            <a:r>
              <a:rPr lang="en-US" altLang="zh-TW" sz="1800" dirty="0" err="1">
                <a:solidFill>
                  <a:srgbClr val="000000"/>
                </a:solidFill>
                <a:latin typeface="Calibri" pitchFamily="34" charset="0"/>
                <a:ea typeface="新細明體" pitchFamily="18" charset="-120"/>
              </a:rPr>
              <a:t>malloc</a:t>
            </a:r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  <a:ea typeface="新細明體" pitchFamily="18" charset="-120"/>
              </a:rPr>
              <a:t>(2048)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  <a:ea typeface="新細明體" pitchFamily="18" charset="-120"/>
              </a:rPr>
              <a:t>     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  <a:ea typeface="新細明體" pitchFamily="18" charset="-120"/>
              </a:rPr>
              <a:t>     ……;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  <a:ea typeface="新細明體" pitchFamily="18" charset="-120"/>
              </a:rPr>
              <a:t>     </a:t>
            </a:r>
            <a:r>
              <a:rPr lang="en-US" altLang="zh-TW" sz="1800" dirty="0" err="1">
                <a:solidFill>
                  <a:srgbClr val="000000"/>
                </a:solidFill>
                <a:latin typeface="Calibri" pitchFamily="34" charset="0"/>
                <a:ea typeface="新細明體" pitchFamily="18" charset="-120"/>
              </a:rPr>
              <a:t>malloc</a:t>
            </a:r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  <a:ea typeface="新細明體" pitchFamily="18" charset="-120"/>
              </a:rPr>
              <a:t>(512);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  <a:ea typeface="新細明體" pitchFamily="18" charset="-120"/>
              </a:rPr>
              <a:t>      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  <a:ea typeface="新細明體" pitchFamily="18" charset="-120"/>
              </a:rPr>
              <a:t>     free(512)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  <a:ea typeface="新細明體" pitchFamily="18" charset="-120"/>
              </a:rPr>
              <a:t>     free(2048);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  <a:ea typeface="新細明體" pitchFamily="18" charset="-120"/>
              </a:rPr>
              <a:t>     free(1024);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  <a:ea typeface="新細明體" pitchFamily="18" charset="-120"/>
              </a:rPr>
              <a:t>}</a:t>
            </a:r>
            <a:endParaRPr lang="zh-TW" altLang="en-US" sz="1800" dirty="0">
              <a:solidFill>
                <a:srgbClr val="000000"/>
              </a:solidFill>
              <a:latin typeface="Calibri" pitchFamily="34" charset="0"/>
              <a:ea typeface="新細明體" pitchFamily="18" charset="-120"/>
            </a:endParaRPr>
          </a:p>
          <a:p>
            <a:endParaRPr lang="zh-TW" altLang="en-US" sz="1800" dirty="0">
              <a:solidFill>
                <a:srgbClr val="000000"/>
              </a:solidFill>
              <a:latin typeface="Calibri" pitchFamily="34" charset="0"/>
              <a:ea typeface="新細明體" pitchFamily="18" charset="-120"/>
            </a:endParaRPr>
          </a:p>
        </p:txBody>
      </p:sp>
      <p:cxnSp>
        <p:nvCxnSpPr>
          <p:cNvPr id="56" name="直線單箭頭接點 55"/>
          <p:cNvCxnSpPr/>
          <p:nvPr/>
        </p:nvCxnSpPr>
        <p:spPr>
          <a:xfrm>
            <a:off x="5231904" y="2553553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>
            <a:off x="5231904" y="3739614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文字方塊 1"/>
          <p:cNvSpPr txBox="1"/>
          <p:nvPr/>
        </p:nvSpPr>
        <p:spPr>
          <a:xfrm>
            <a:off x="2423593" y="3713756"/>
            <a:ext cx="1737537" cy="307777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altLang="zh-TW" sz="1400" b="1" dirty="0">
              <a:solidFill>
                <a:srgbClr val="FF0000"/>
              </a:solidFill>
              <a:latin typeface="Calibri" panose="020F0502020204030204" pitchFamily="34" charset="0"/>
              <a:ea typeface="新細明體" pitchFamily="18" charset="-12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2423592" y="3033032"/>
            <a:ext cx="1737537" cy="6840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altLang="zh-TW" sz="1400" b="1" dirty="0">
              <a:solidFill>
                <a:srgbClr val="FF0000"/>
              </a:solidFill>
              <a:latin typeface="Calibri" panose="020F0502020204030204" pitchFamily="34" charset="0"/>
              <a:ea typeface="新細明體" pitchFamily="18" charset="-12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2431221" y="2865774"/>
            <a:ext cx="1737537" cy="1620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altLang="zh-TW" sz="1400" b="1" dirty="0">
              <a:solidFill>
                <a:srgbClr val="FF0000"/>
              </a:solidFill>
              <a:latin typeface="Calibri" panose="020F0502020204030204" pitchFamily="34" charset="0"/>
              <a:ea typeface="新細明體" pitchFamily="18" charset="-120"/>
            </a:endParaRPr>
          </a:p>
        </p:txBody>
      </p:sp>
      <p:cxnSp>
        <p:nvCxnSpPr>
          <p:cNvPr id="50" name="直線單箭頭接點 49"/>
          <p:cNvCxnSpPr/>
          <p:nvPr/>
        </p:nvCxnSpPr>
        <p:spPr>
          <a:xfrm>
            <a:off x="5231904" y="5085184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/>
          <p:nvPr/>
        </p:nvCxnSpPr>
        <p:spPr>
          <a:xfrm>
            <a:off x="5231904" y="4509120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/>
          <p:nvPr/>
        </p:nvCxnSpPr>
        <p:spPr>
          <a:xfrm>
            <a:off x="5231904" y="3353943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>
          <a:xfrm>
            <a:off x="5231904" y="5373216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/>
          <p:nvPr/>
        </p:nvCxnSpPr>
        <p:spPr>
          <a:xfrm>
            <a:off x="5231904" y="5589240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>
          <a:xfrm>
            <a:off x="5231904" y="4149080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>
            <a:off x="5231904" y="4797152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D4D4BB2-6766-4561-BC06-F552BFADA6F9}" type="slidenum">
              <a:rPr lang="en-US" altLang="zh-TW" smtClean="0">
                <a:solidFill>
                  <a:srgbClr val="000000"/>
                </a:solidFill>
              </a:rPr>
              <a:pPr>
                <a:defRPr/>
              </a:pPr>
              <a:t>20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0710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7" grpId="0" animBg="1"/>
      <p:bldP spid="37" grpId="1" animBg="1"/>
      <p:bldP spid="38" grpId="0" animBg="1"/>
      <p:bldP spid="38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sz="4000" dirty="0" smtClean="0"/>
              <a:t>為什麼</a:t>
            </a:r>
            <a:r>
              <a:rPr lang="en-US" altLang="zh-TW" sz="4000" dirty="0" smtClean="0"/>
              <a:t>stack and heap sections</a:t>
            </a:r>
            <a:r>
              <a:rPr lang="zh-TW" altLang="en-US" sz="4000" dirty="0" smtClean="0"/>
              <a:t>要動態分配</a:t>
            </a:r>
            <a:r>
              <a:rPr lang="en-US" altLang="zh-TW" sz="4000" dirty="0" smtClean="0"/>
              <a:t>?</a:t>
            </a:r>
            <a:r>
              <a:rPr lang="en-US" altLang="zh-TW" sz="4000" dirty="0"/>
              <a:t/>
            </a:r>
            <a:br>
              <a:rPr lang="en-US" altLang="zh-TW" sz="4000" dirty="0"/>
            </a:br>
            <a:endParaRPr lang="zh-TW" altLang="en-US" sz="40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3892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/>
              <a:t>Actual Memory Layout of a C Program</a:t>
            </a:r>
            <a:endParaRPr lang="zh-TW" altLang="en-US" sz="4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/>
              <a:t>As shown in the following slide, in fact</a:t>
            </a:r>
          </a:p>
          <a:p>
            <a:pPr lvl="1"/>
            <a:r>
              <a:rPr lang="en-US" altLang="zh-TW" sz="3200" dirty="0"/>
              <a:t>The global data section is divided into </a:t>
            </a:r>
            <a:r>
              <a:rPr lang="en-US" altLang="zh-TW" sz="3200" b="1" dirty="0">
                <a:solidFill>
                  <a:srgbClr val="0000FF"/>
                </a:solidFill>
              </a:rPr>
              <a:t>initialized</a:t>
            </a:r>
            <a:r>
              <a:rPr lang="en-US" altLang="zh-TW" sz="3200" dirty="0">
                <a:solidFill>
                  <a:srgbClr val="0000FF"/>
                </a:solidFill>
              </a:rPr>
              <a:t> </a:t>
            </a:r>
            <a:r>
              <a:rPr lang="en-US" altLang="zh-TW" sz="3200" b="1" dirty="0">
                <a:solidFill>
                  <a:srgbClr val="0000FF"/>
                </a:solidFill>
              </a:rPr>
              <a:t>data</a:t>
            </a:r>
            <a:r>
              <a:rPr lang="en-US" altLang="zh-TW" sz="3200" dirty="0">
                <a:solidFill>
                  <a:srgbClr val="0000FF"/>
                </a:solidFill>
              </a:rPr>
              <a:t> </a:t>
            </a:r>
            <a:r>
              <a:rPr lang="en-US" altLang="zh-TW" sz="3200" dirty="0"/>
              <a:t>and </a:t>
            </a:r>
            <a:r>
              <a:rPr lang="en-US" altLang="zh-TW" sz="3200" b="1" dirty="0">
                <a:solidFill>
                  <a:srgbClr val="0000FF"/>
                </a:solidFill>
              </a:rPr>
              <a:t>uninitialized data </a:t>
            </a:r>
            <a:r>
              <a:rPr lang="en-US" altLang="zh-TW" sz="3200" dirty="0"/>
              <a:t>sections</a:t>
            </a:r>
          </a:p>
          <a:p>
            <a:pPr lvl="1"/>
            <a:endParaRPr lang="en-US" altLang="zh-TW" sz="3200" dirty="0"/>
          </a:p>
          <a:p>
            <a:pPr lvl="1"/>
            <a:endParaRPr lang="en-US" altLang="zh-TW" sz="3200" dirty="0"/>
          </a:p>
          <a:p>
            <a:pPr lvl="1"/>
            <a:r>
              <a:rPr lang="en-US" altLang="zh-TW" sz="3200" dirty="0"/>
              <a:t>A separate section is provided for the </a:t>
            </a:r>
            <a:r>
              <a:rPr lang="en-US" altLang="zh-TW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argc</a:t>
            </a:r>
            <a:r>
              <a:rPr lang="en-US" altLang="zh-TW" sz="3200" dirty="0"/>
              <a:t> and </a:t>
            </a:r>
            <a:r>
              <a:rPr lang="en-US" altLang="zh-TW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argv</a:t>
            </a:r>
            <a:r>
              <a:rPr lang="en-US" altLang="zh-TW" sz="3200" dirty="0"/>
              <a:t> parameters</a:t>
            </a:r>
            <a:endParaRPr lang="zh-TW" altLang="en-US" sz="32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22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9821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/>
              <a:t>Actual Memory Layout of a C Program</a:t>
            </a:r>
            <a:endParaRPr lang="zh-TW" altLang="en-US" sz="4000" dirty="0"/>
          </a:p>
        </p:txBody>
      </p:sp>
      <p:pic>
        <p:nvPicPr>
          <p:cNvPr id="4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313" y="1340768"/>
            <a:ext cx="8280151" cy="5040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23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14611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Actual Memory Layout of a Process</a:t>
            </a:r>
            <a:endParaRPr lang="zh-TW" altLang="en-US" dirty="0"/>
          </a:p>
        </p:txBody>
      </p:sp>
      <p:pic>
        <p:nvPicPr>
          <p:cNvPr id="3074" name="Picture 2" descr="Memory Layout in C - javatpoi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1280" y="1008113"/>
            <a:ext cx="5715000" cy="5733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字方塊 2"/>
          <p:cNvSpPr txBox="1"/>
          <p:nvPr/>
        </p:nvSpPr>
        <p:spPr>
          <a:xfrm>
            <a:off x="7765532" y="6515673"/>
            <a:ext cx="4426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b="1" i="1" dirty="0">
                <a:latin typeface="Calibri" panose="020F0502020204030204" pitchFamily="34" charset="0"/>
              </a:rPr>
              <a:t>https://techaccess.in/2021/05/07/sections-of-a-process/</a:t>
            </a:r>
            <a:endParaRPr lang="zh-TW" altLang="en-US" sz="1400" b="1" i="1" dirty="0">
              <a:latin typeface="Calibri" panose="020F0502020204030204" pitchFamily="34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74632AD-9D6A-45CC-A1CF-8EF7EBEC2259}" type="slidenum">
              <a:rPr lang="en-US" altLang="zh-TW" smtClean="0"/>
              <a:pPr>
                <a:defRPr/>
              </a:pPr>
              <a:t>24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75319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Memory Layout of a C Program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To obtain the size of the segment of a program</a:t>
            </a:r>
          </a:p>
          <a:p>
            <a:pPr lvl="1"/>
            <a:r>
              <a:rPr lang="en-US" altLang="zh-TW" b="1" i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 executable-file-name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67186" y="2814816"/>
            <a:ext cx="6153150" cy="1152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圓角矩形 4"/>
          <p:cNvSpPr/>
          <p:nvPr/>
        </p:nvSpPr>
        <p:spPr>
          <a:xfrm>
            <a:off x="2767397" y="2761868"/>
            <a:ext cx="6552728" cy="129614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內容版面配置區 2"/>
          <p:cNvSpPr txBox="1">
            <a:spLocks/>
          </p:cNvSpPr>
          <p:nvPr/>
        </p:nvSpPr>
        <p:spPr bwMode="auto">
          <a:xfrm>
            <a:off x="1981200" y="4220742"/>
            <a:ext cx="8435280" cy="2448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aseline="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 baseline="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aseline="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baseline="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aseline="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/>
            <a:r>
              <a:rPr lang="en-US" altLang="zh-TW" dirty="0">
                <a:cs typeface="Courier New" panose="02070309020205020404" pitchFamily="49" charset="0"/>
              </a:rPr>
              <a:t>text: code segment</a:t>
            </a:r>
          </a:p>
          <a:p>
            <a:pPr lvl="1"/>
            <a:r>
              <a:rPr lang="en-US" altLang="zh-TW" dirty="0">
                <a:cs typeface="Courier New" panose="02070309020205020404" pitchFamily="49" charset="0"/>
              </a:rPr>
              <a:t>data: initialized global data</a:t>
            </a:r>
          </a:p>
          <a:p>
            <a:pPr lvl="1"/>
            <a:r>
              <a:rPr lang="en-US" altLang="zh-TW" dirty="0" err="1">
                <a:cs typeface="Courier New" panose="02070309020205020404" pitchFamily="49" charset="0"/>
              </a:rPr>
              <a:t>bss</a:t>
            </a:r>
            <a:r>
              <a:rPr lang="en-US" altLang="zh-TW" dirty="0">
                <a:cs typeface="Courier New" panose="02070309020205020404" pitchFamily="49" charset="0"/>
              </a:rPr>
              <a:t> </a:t>
            </a:r>
            <a:r>
              <a:rPr lang="en-US" altLang="zh-TW" b="1" dirty="0">
                <a:solidFill>
                  <a:srgbClr val="0000FF"/>
                </a:solidFill>
                <a:cs typeface="Courier New" panose="02070309020205020404" pitchFamily="49" charset="0"/>
              </a:rPr>
              <a:t>(block start by symbol)</a:t>
            </a:r>
            <a:r>
              <a:rPr lang="en-US" altLang="zh-TW" dirty="0">
                <a:cs typeface="Courier New" panose="02070309020205020404" pitchFamily="49" charset="0"/>
              </a:rPr>
              <a:t>: uninitialized global data</a:t>
            </a:r>
          </a:p>
          <a:p>
            <a:pPr lvl="1"/>
            <a:r>
              <a:rPr lang="en-US" altLang="zh-TW" dirty="0" err="1">
                <a:cs typeface="Courier New" panose="02070309020205020404" pitchFamily="49" charset="0"/>
              </a:rPr>
              <a:t>dec</a:t>
            </a:r>
            <a:r>
              <a:rPr lang="en-US" altLang="zh-TW" dirty="0">
                <a:cs typeface="Courier New" panose="02070309020205020404" pitchFamily="49" charset="0"/>
              </a:rPr>
              <a:t> and hex: sum of three sections 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25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78677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sz="4000" dirty="0" smtClean="0"/>
              <a:t>為什麼沒有</a:t>
            </a:r>
            <a:r>
              <a:rPr lang="en-US" altLang="zh-TW" sz="4000" dirty="0" smtClean="0"/>
              <a:t>stack and heap sections</a:t>
            </a:r>
            <a:r>
              <a:rPr lang="zh-TW" altLang="en-US" sz="4000" dirty="0" smtClean="0"/>
              <a:t>的</a:t>
            </a:r>
            <a:r>
              <a:rPr lang="en-US" altLang="zh-TW" sz="4000" dirty="0" smtClean="0"/>
              <a:t>sizes?</a:t>
            </a:r>
            <a:r>
              <a:rPr lang="en-US" altLang="zh-TW" sz="4000" dirty="0"/>
              <a:t/>
            </a:r>
            <a:br>
              <a:rPr lang="en-US" altLang="zh-TW" sz="4000" dirty="0"/>
            </a:br>
            <a:endParaRPr lang="zh-TW" altLang="en-US" sz="40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8665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zh-TW" b="1" dirty="0">
                <a:solidFill>
                  <a:srgbClr val="FF3300"/>
                </a:solidFill>
              </a:rPr>
              <a:t>Process Concept</a:t>
            </a:r>
          </a:p>
          <a:p>
            <a:pPr lvl="1" eaLnBrk="1" hangingPunct="1"/>
            <a:r>
              <a:rPr lang="en-US" altLang="zh-TW" dirty="0"/>
              <a:t>The Process</a:t>
            </a:r>
          </a:p>
          <a:p>
            <a:pPr lvl="1" eaLnBrk="1" hangingPunct="1"/>
            <a:r>
              <a:rPr lang="en-US" altLang="zh-TW" b="1" dirty="0">
                <a:solidFill>
                  <a:srgbClr val="FF0000"/>
                </a:solidFill>
              </a:rPr>
              <a:t>Process State</a:t>
            </a:r>
          </a:p>
          <a:p>
            <a:pPr lvl="1" eaLnBrk="1" hangingPunct="1"/>
            <a:r>
              <a:rPr lang="en-US" altLang="zh-TW" dirty="0"/>
              <a:t>Process Control Block</a:t>
            </a:r>
          </a:p>
          <a:p>
            <a:pPr eaLnBrk="1" hangingPunct="1"/>
            <a:r>
              <a:rPr lang="en-US" altLang="zh-TW" dirty="0"/>
              <a:t>Process Scheduling</a:t>
            </a:r>
          </a:p>
          <a:p>
            <a:pPr eaLnBrk="1" hangingPunct="1"/>
            <a:r>
              <a:rPr lang="en-US" altLang="zh-TW" dirty="0"/>
              <a:t>Operations on Processes</a:t>
            </a:r>
          </a:p>
          <a:p>
            <a:pPr eaLnBrk="1" hangingPunct="1"/>
            <a:r>
              <a:rPr lang="en-US" altLang="zh-TW" dirty="0" err="1"/>
              <a:t>Interprocess</a:t>
            </a:r>
            <a:r>
              <a:rPr lang="en-US" altLang="zh-TW" dirty="0"/>
              <a:t> Communication</a:t>
            </a:r>
          </a:p>
          <a:p>
            <a:pPr eaLnBrk="1" hangingPunct="1"/>
            <a:r>
              <a:rPr lang="en-US" altLang="zh-TW" dirty="0"/>
              <a:t>IPC in Shared-Memory Systems</a:t>
            </a:r>
          </a:p>
          <a:p>
            <a:pPr eaLnBrk="1" hangingPunct="1"/>
            <a:r>
              <a:rPr lang="en-US" altLang="zh-TW" dirty="0"/>
              <a:t>IPC in Message-Passing Systems</a:t>
            </a:r>
          </a:p>
          <a:p>
            <a:pPr eaLnBrk="1" hangingPunct="1"/>
            <a:r>
              <a:rPr lang="en-US" altLang="zh-TW" dirty="0"/>
              <a:t>Examples of IPC Systems</a:t>
            </a:r>
          </a:p>
          <a:p>
            <a:pPr eaLnBrk="1" hangingPunct="1"/>
            <a:r>
              <a:rPr lang="en-US" altLang="zh-TW" dirty="0"/>
              <a:t>Communication in Client-Server Systems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27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72005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如何讓</a:t>
            </a:r>
            <a:r>
              <a:rPr lang="en-US" altLang="zh-TW" dirty="0" smtClean="0"/>
              <a:t>Process</a:t>
            </a:r>
            <a:r>
              <a:rPr lang="zh-TW" altLang="en-US" dirty="0" smtClean="0"/>
              <a:t>順利執行呢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 smtClean="0"/>
              <a:t>紀錄</a:t>
            </a:r>
            <a:r>
              <a:rPr lang="en-US" altLang="zh-TW" dirty="0" smtClean="0"/>
              <a:t>process</a:t>
            </a:r>
            <a:r>
              <a:rPr lang="zh-TW" altLang="en-US" dirty="0" smtClean="0"/>
              <a:t>的狀態</a:t>
            </a:r>
            <a:endParaRPr lang="en-US" altLang="zh-TW" dirty="0" smtClean="0"/>
          </a:p>
          <a:p>
            <a:r>
              <a:rPr lang="zh-TW" altLang="en-US" dirty="0" smtClean="0"/>
              <a:t>但是</a:t>
            </a:r>
            <a:r>
              <a:rPr lang="en-US" altLang="zh-TW" dirty="0" smtClean="0"/>
              <a:t>process</a:t>
            </a:r>
            <a:r>
              <a:rPr lang="zh-TW" altLang="en-US" dirty="0" smtClean="0"/>
              <a:t>有哪些狀態呢</a:t>
            </a:r>
            <a:r>
              <a:rPr lang="en-US" altLang="zh-TW" dirty="0" smtClean="0"/>
              <a:t>?</a:t>
            </a:r>
            <a:endParaRPr lang="en-US" altLang="zh-TW" dirty="0"/>
          </a:p>
          <a:p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38428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Process State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dirty="0"/>
              <a:t>As a process executes, it changes </a:t>
            </a:r>
            <a:r>
              <a:rPr lang="en-US" altLang="zh-TW" sz="2800" i="1" dirty="0"/>
              <a:t>state</a:t>
            </a:r>
            <a:endParaRPr lang="en-US" altLang="zh-TW" sz="2800" dirty="0"/>
          </a:p>
          <a:p>
            <a:pPr lvl="1" eaLnBrk="1" hangingPunct="1"/>
            <a:r>
              <a:rPr lang="en-US" altLang="zh-TW" sz="2400" b="1" dirty="0"/>
              <a:t>new</a:t>
            </a:r>
            <a:r>
              <a:rPr lang="en-US" altLang="zh-TW" sz="2400" dirty="0"/>
              <a:t>:  The process is being created</a:t>
            </a:r>
          </a:p>
          <a:p>
            <a:pPr lvl="1" eaLnBrk="1" hangingPunct="1"/>
            <a:r>
              <a:rPr lang="en-US" altLang="zh-TW" sz="2400" b="1" dirty="0"/>
              <a:t>running</a:t>
            </a:r>
            <a:r>
              <a:rPr lang="en-US" altLang="zh-TW" sz="2400" dirty="0"/>
              <a:t>:  Instructions are being executed</a:t>
            </a:r>
          </a:p>
          <a:p>
            <a:pPr lvl="1" eaLnBrk="1" hangingPunct="1"/>
            <a:r>
              <a:rPr lang="en-US" altLang="zh-TW" sz="2400" b="1" dirty="0"/>
              <a:t>waiting</a:t>
            </a:r>
            <a:r>
              <a:rPr lang="en-US" altLang="zh-TW" sz="2400" dirty="0"/>
              <a:t>:  The process is waiting for some event to occur</a:t>
            </a:r>
          </a:p>
          <a:p>
            <a:pPr lvl="1" eaLnBrk="1" hangingPunct="1"/>
            <a:r>
              <a:rPr lang="en-US" altLang="zh-TW" sz="2400" b="1" dirty="0"/>
              <a:t>ready</a:t>
            </a:r>
            <a:r>
              <a:rPr lang="en-US" altLang="zh-TW" sz="2400" dirty="0"/>
              <a:t>:  The process is waiting to be assigned to a processor</a:t>
            </a:r>
          </a:p>
          <a:p>
            <a:pPr lvl="2" eaLnBrk="1" hangingPunct="1"/>
            <a:r>
              <a:rPr lang="en-US" altLang="zh-TW" dirty="0"/>
              <a:t>The process is </a:t>
            </a:r>
            <a:r>
              <a:rPr lang="en-US" altLang="zh-TW" b="1" i="1" dirty="0" err="1"/>
              <a:t>runable</a:t>
            </a:r>
            <a:endParaRPr lang="en-US" altLang="zh-TW" sz="2000" dirty="0"/>
          </a:p>
          <a:p>
            <a:pPr lvl="1" eaLnBrk="1" hangingPunct="1"/>
            <a:r>
              <a:rPr lang="en-US" altLang="zh-TW" sz="2400" b="1" dirty="0"/>
              <a:t>terminated</a:t>
            </a:r>
            <a:r>
              <a:rPr lang="en-US" altLang="zh-TW" sz="2400" dirty="0"/>
              <a:t>:  The process has finished execution</a:t>
            </a:r>
          </a:p>
          <a:p>
            <a:pPr eaLnBrk="1" hangingPunct="1"/>
            <a:endParaRPr lang="en-US" altLang="zh-TW" sz="2800" dirty="0"/>
          </a:p>
          <a:p>
            <a:pPr eaLnBrk="1" hangingPunct="1"/>
            <a:r>
              <a:rPr lang="en-US" altLang="zh-TW" sz="2800" dirty="0"/>
              <a:t>Only </a:t>
            </a:r>
            <a:r>
              <a:rPr lang="en-US" altLang="zh-TW" sz="2800" i="1" dirty="0">
                <a:solidFill>
                  <a:srgbClr val="FF3300"/>
                </a:solidFill>
              </a:rPr>
              <a:t>one process</a:t>
            </a:r>
            <a:r>
              <a:rPr lang="en-US" altLang="zh-TW" sz="2800" dirty="0"/>
              <a:t> can be </a:t>
            </a:r>
            <a:r>
              <a:rPr lang="en-US" altLang="zh-TW" sz="2800" b="1" i="1" dirty="0">
                <a:solidFill>
                  <a:srgbClr val="FF3300"/>
                </a:solidFill>
              </a:rPr>
              <a:t>running </a:t>
            </a:r>
            <a:r>
              <a:rPr lang="en-US" altLang="zh-TW" sz="2800" dirty="0"/>
              <a:t>on a core</a:t>
            </a:r>
          </a:p>
          <a:p>
            <a:pPr lvl="1" eaLnBrk="1" hangingPunct="1"/>
            <a:r>
              <a:rPr lang="en-US" altLang="zh-TW" sz="2400" dirty="0"/>
              <a:t>Many processes may be </a:t>
            </a:r>
            <a:r>
              <a:rPr lang="en-US" altLang="zh-TW" sz="2400" dirty="0">
                <a:solidFill>
                  <a:srgbClr val="FF3300"/>
                </a:solidFill>
              </a:rPr>
              <a:t>ready</a:t>
            </a:r>
            <a:r>
              <a:rPr lang="en-US" altLang="zh-TW" sz="2400" dirty="0"/>
              <a:t> or </a:t>
            </a:r>
            <a:r>
              <a:rPr lang="en-US" altLang="zh-TW" sz="2400" dirty="0">
                <a:solidFill>
                  <a:srgbClr val="FF3300"/>
                </a:solidFill>
              </a:rPr>
              <a:t>waiting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29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188913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/>
              <a:t>Diagram of Process State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5560" y="1484784"/>
            <a:ext cx="7689354" cy="4536504"/>
          </a:xfrm>
          <a:prstGeom prst="rect">
            <a:avLst/>
          </a:prstGeom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30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為什麼要維護</a:t>
            </a:r>
            <a:r>
              <a:rPr lang="en-US" altLang="zh-TW" dirty="0" smtClean="0"/>
              <a:t>process</a:t>
            </a:r>
            <a:r>
              <a:rPr lang="zh-TW" altLang="en-US" dirty="0" smtClean="0"/>
              <a:t>的狀態</a:t>
            </a:r>
            <a:r>
              <a:rPr lang="en-US" altLang="zh-TW" dirty="0" smtClean="0"/>
              <a:t>?</a:t>
            </a:r>
            <a:br>
              <a:rPr lang="en-US" altLang="zh-TW" dirty="0" smtClean="0"/>
            </a:br>
            <a:r>
              <a:rPr lang="zh-TW" altLang="en-US" dirty="0"/>
              <a:t>由</a:t>
            </a:r>
            <a:r>
              <a:rPr lang="zh-TW" altLang="en-US" dirty="0" smtClean="0"/>
              <a:t>誰維護的呢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2839836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zh-TW" b="1" dirty="0">
                <a:solidFill>
                  <a:srgbClr val="FF3300"/>
                </a:solidFill>
              </a:rPr>
              <a:t>Process Concept</a:t>
            </a:r>
          </a:p>
          <a:p>
            <a:pPr lvl="1" eaLnBrk="1" hangingPunct="1"/>
            <a:r>
              <a:rPr lang="en-US" altLang="zh-TW" dirty="0"/>
              <a:t>The Process</a:t>
            </a:r>
          </a:p>
          <a:p>
            <a:pPr lvl="1" eaLnBrk="1" hangingPunct="1"/>
            <a:r>
              <a:rPr lang="en-US" altLang="zh-TW" dirty="0"/>
              <a:t>Process State</a:t>
            </a:r>
          </a:p>
          <a:p>
            <a:pPr lvl="1" eaLnBrk="1" hangingPunct="1"/>
            <a:r>
              <a:rPr lang="en-US" altLang="zh-TW" b="1" dirty="0">
                <a:solidFill>
                  <a:srgbClr val="FF0000"/>
                </a:solidFill>
              </a:rPr>
              <a:t>Process Control Block</a:t>
            </a:r>
          </a:p>
          <a:p>
            <a:pPr eaLnBrk="1" hangingPunct="1"/>
            <a:r>
              <a:rPr lang="en-US" altLang="zh-TW" dirty="0"/>
              <a:t>Process Scheduling</a:t>
            </a:r>
          </a:p>
          <a:p>
            <a:pPr eaLnBrk="1" hangingPunct="1"/>
            <a:r>
              <a:rPr lang="en-US" altLang="zh-TW" dirty="0"/>
              <a:t>Operations on Processes</a:t>
            </a:r>
          </a:p>
          <a:p>
            <a:pPr eaLnBrk="1" hangingPunct="1"/>
            <a:r>
              <a:rPr lang="en-US" altLang="zh-TW" dirty="0" err="1"/>
              <a:t>Interprocess</a:t>
            </a:r>
            <a:r>
              <a:rPr lang="en-US" altLang="zh-TW" dirty="0"/>
              <a:t> Communication</a:t>
            </a:r>
          </a:p>
          <a:p>
            <a:pPr eaLnBrk="1" hangingPunct="1"/>
            <a:r>
              <a:rPr lang="en-US" altLang="zh-TW" dirty="0"/>
              <a:t>IPC in Shared-Memory Systems</a:t>
            </a:r>
          </a:p>
          <a:p>
            <a:pPr eaLnBrk="1" hangingPunct="1"/>
            <a:r>
              <a:rPr lang="en-US" altLang="zh-TW" dirty="0"/>
              <a:t>Examples of IPC Systems</a:t>
            </a:r>
          </a:p>
          <a:p>
            <a:pPr eaLnBrk="1" hangingPunct="1"/>
            <a:r>
              <a:rPr lang="en-US" altLang="zh-TW" dirty="0"/>
              <a:t>Communication in Client-Server Systems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32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39416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如何讓</a:t>
            </a:r>
            <a:r>
              <a:rPr lang="en-US" altLang="zh-TW" dirty="0" smtClean="0"/>
              <a:t>Process</a:t>
            </a:r>
            <a:r>
              <a:rPr lang="zh-TW" altLang="en-US" dirty="0" smtClean="0"/>
              <a:t>順利執行呢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zh-TW" altLang="en-US" dirty="0" smtClean="0"/>
              <a:t>紀錄</a:t>
            </a:r>
            <a:r>
              <a:rPr lang="en-US" altLang="zh-TW" dirty="0" smtClean="0"/>
              <a:t>process</a:t>
            </a:r>
            <a:r>
              <a:rPr lang="zh-TW" altLang="en-US" dirty="0"/>
              <a:t>的所有</a:t>
            </a:r>
            <a:r>
              <a:rPr lang="zh-TW" altLang="en-US" dirty="0" smtClean="0"/>
              <a:t>資訊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91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由誰紀錄呢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4097552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3200" dirty="0"/>
              <a:t>Process Control Block (PCB) (or Process Descriptor) 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268412"/>
            <a:ext cx="10972800" cy="5328939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TW" dirty="0"/>
              <a:t>For each process, OS maintain a </a:t>
            </a:r>
            <a:r>
              <a:rPr lang="en-US" altLang="zh-TW" b="1" dirty="0"/>
              <a:t>data structure </a:t>
            </a:r>
            <a:r>
              <a:rPr lang="en-US" altLang="zh-TW" dirty="0"/>
              <a:t>called </a:t>
            </a:r>
            <a:r>
              <a:rPr lang="en-US" altLang="zh-TW" b="1" i="1" dirty="0">
                <a:solidFill>
                  <a:srgbClr val="FF3300"/>
                </a:solidFill>
              </a:rPr>
              <a:t>process control block </a:t>
            </a:r>
            <a:r>
              <a:rPr lang="en-US" altLang="zh-TW" dirty="0" smtClean="0"/>
              <a:t>to </a:t>
            </a:r>
            <a:r>
              <a:rPr lang="en-US" altLang="zh-TW" dirty="0"/>
              <a:t>keep information with each </a:t>
            </a:r>
            <a:r>
              <a:rPr lang="en-US" altLang="zh-TW" dirty="0" smtClean="0"/>
              <a:t>process</a:t>
            </a:r>
          </a:p>
          <a:p>
            <a:pPr lvl="1" eaLnBrk="1" hangingPunct="1">
              <a:lnSpc>
                <a:spcPct val="110000"/>
              </a:lnSpc>
            </a:pPr>
            <a:endParaRPr lang="en-US" altLang="zh-TW" dirty="0" smtClean="0"/>
          </a:p>
          <a:p>
            <a:pPr lvl="1" eaLnBrk="1" hangingPunct="1">
              <a:lnSpc>
                <a:spcPct val="110000"/>
              </a:lnSpc>
            </a:pPr>
            <a:r>
              <a:rPr lang="en-US" altLang="zh-TW" dirty="0" smtClean="0"/>
              <a:t>A</a:t>
            </a:r>
            <a:r>
              <a:rPr lang="en-US" altLang="zh-TW" i="1" dirty="0" smtClean="0"/>
              <a:t>lso </a:t>
            </a:r>
            <a:r>
              <a:rPr lang="en-US" altLang="zh-TW" i="1" dirty="0"/>
              <a:t>called</a:t>
            </a:r>
            <a:r>
              <a:rPr lang="en-US" altLang="zh-TW" b="1" i="1" dirty="0">
                <a:solidFill>
                  <a:srgbClr val="FF3300"/>
                </a:solidFill>
              </a:rPr>
              <a:t> task control </a:t>
            </a:r>
            <a:r>
              <a:rPr lang="en-US" altLang="zh-TW" b="1" i="1" dirty="0" smtClean="0">
                <a:solidFill>
                  <a:srgbClr val="FF3300"/>
                </a:solidFill>
              </a:rPr>
              <a:t>block, process descriptor, task descriptor</a:t>
            </a:r>
            <a:endParaRPr lang="en-US" altLang="zh-TW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35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紀錄哪些資訊呢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4002567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Process Control Block (PCB) </a:t>
            </a:r>
            <a:r>
              <a:rPr lang="en-US" altLang="zh-TW" dirty="0" smtClean="0"/>
              <a:t>(Cont.)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spcBef>
                <a:spcPts val="600"/>
              </a:spcBef>
            </a:pPr>
            <a:r>
              <a:rPr lang="en-US" altLang="zh-TW" sz="2800" b="1" dirty="0">
                <a:solidFill>
                  <a:srgbClr val="0000FF"/>
                </a:solidFill>
              </a:rPr>
              <a:t>Keep information associated with each process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sz="2400" dirty="0"/>
              <a:t>Process state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sz="2400" dirty="0"/>
              <a:t>Program counter: </a:t>
            </a:r>
            <a:r>
              <a:rPr lang="en-US" altLang="zh-TW" sz="2400" b="1" dirty="0">
                <a:solidFill>
                  <a:srgbClr val="0000FF"/>
                </a:solidFill>
              </a:rPr>
              <a:t>address of the next instruction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zh-TW" sz="2000" dirty="0"/>
              <a:t>Saved when an </a:t>
            </a:r>
            <a:r>
              <a:rPr lang="en-US" altLang="zh-TW" sz="2000" b="1" dirty="0">
                <a:solidFill>
                  <a:srgbClr val="FF0000"/>
                </a:solidFill>
              </a:rPr>
              <a:t>interrupt</a:t>
            </a:r>
            <a:r>
              <a:rPr lang="en-US" altLang="zh-TW" sz="2000" dirty="0"/>
              <a:t> occurs or </a:t>
            </a:r>
            <a:r>
              <a:rPr lang="en-US" altLang="zh-TW" sz="2000" b="1" dirty="0">
                <a:solidFill>
                  <a:srgbClr val="FF0000"/>
                </a:solidFill>
              </a:rPr>
              <a:t>context switches</a:t>
            </a:r>
            <a:r>
              <a:rPr lang="en-US" altLang="zh-TW" sz="2000" dirty="0">
                <a:solidFill>
                  <a:srgbClr val="FF0000"/>
                </a:solidFill>
              </a:rPr>
              <a:t> </a:t>
            </a:r>
            <a:r>
              <a:rPr lang="en-US" altLang="zh-TW" sz="2000" dirty="0"/>
              <a:t>occurs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sz="2400" dirty="0"/>
              <a:t>CPU registers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zh-TW" sz="2000" dirty="0"/>
              <a:t>Saved when an </a:t>
            </a:r>
            <a:r>
              <a:rPr lang="en-US" altLang="zh-TW" sz="2000" b="1" dirty="0">
                <a:solidFill>
                  <a:srgbClr val="FF3300"/>
                </a:solidFill>
              </a:rPr>
              <a:t>interrupt</a:t>
            </a:r>
            <a:r>
              <a:rPr lang="en-US" altLang="zh-TW" sz="2000" dirty="0"/>
              <a:t> or </a:t>
            </a:r>
            <a:r>
              <a:rPr lang="en-US" altLang="zh-TW" sz="2000" b="1" dirty="0">
                <a:solidFill>
                  <a:srgbClr val="FF3300"/>
                </a:solidFill>
              </a:rPr>
              <a:t>context switches</a:t>
            </a:r>
            <a:r>
              <a:rPr lang="en-US" altLang="zh-TW" sz="2000" dirty="0"/>
              <a:t> occurs (</a:t>
            </a:r>
            <a:r>
              <a:rPr lang="en-US" altLang="zh-TW" sz="2000" b="1" dirty="0"/>
              <a:t>introduce later</a:t>
            </a:r>
            <a:r>
              <a:rPr lang="en-US" altLang="zh-TW" sz="2000" dirty="0"/>
              <a:t>)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sz="2400" dirty="0"/>
              <a:t>CPU scheduling information: process priority……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sz="2400" dirty="0"/>
              <a:t>Memory-management information: </a:t>
            </a:r>
            <a:r>
              <a:rPr lang="en-US" altLang="zh-TW" sz="2000" dirty="0"/>
              <a:t>will be introduced later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sz="2400" dirty="0"/>
              <a:t>Accounting information: </a:t>
            </a:r>
            <a:r>
              <a:rPr lang="en-US" altLang="zh-TW" sz="2000" dirty="0"/>
              <a:t>CPU time and real time used…..(see following slide)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sz="2400" dirty="0"/>
              <a:t>I/O status information:  </a:t>
            </a:r>
            <a:r>
              <a:rPr lang="en-US" altLang="zh-TW" sz="2000" dirty="0"/>
              <a:t>Open files and devices…</a:t>
            </a:r>
          </a:p>
          <a:p>
            <a:pPr>
              <a:spcBef>
                <a:spcPts val="600"/>
              </a:spcBef>
            </a:pPr>
            <a:endParaRPr lang="zh-TW" altLang="en-US" sz="36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37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02512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Process Control Block (PCB)</a:t>
            </a: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 cstate="print"/>
          <a:srcRect l="27087" t="362" r="27414" b="1085"/>
          <a:stretch>
            <a:fillRect/>
          </a:stretch>
        </p:blipFill>
        <p:spPr bwMode="auto">
          <a:xfrm>
            <a:off x="4655840" y="1340768"/>
            <a:ext cx="2663825" cy="5112568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74632AD-9D6A-45CC-A1CF-8EF7EBEC2259}" type="slidenum">
              <a:rPr lang="en-US" altLang="zh-TW" smtClean="0"/>
              <a:pPr>
                <a:defRPr/>
              </a:pPr>
              <a:t>38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/>
              <a:t>Process Control Block (PCB)</a:t>
            </a:r>
          </a:p>
        </p:txBody>
      </p:sp>
      <p:sp>
        <p:nvSpPr>
          <p:cNvPr id="282627" name="Rectangle 4"/>
          <p:cNvSpPr>
            <a:spLocks noChangeArrowheads="1"/>
          </p:cNvSpPr>
          <p:nvPr/>
        </p:nvSpPr>
        <p:spPr bwMode="auto">
          <a:xfrm>
            <a:off x="4675392" y="1268760"/>
            <a:ext cx="2265362" cy="1235075"/>
          </a:xfrm>
          <a:prstGeom prst="rect">
            <a:avLst/>
          </a:prstGeom>
          <a:solidFill>
            <a:srgbClr val="99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out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eax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, 0x60;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add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eax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,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ebx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</a:t>
            </a: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4680154" y="4292946"/>
            <a:ext cx="2260600" cy="1931988"/>
          </a:xfrm>
          <a:prstGeom prst="rect">
            <a:avLst/>
          </a:prstGeom>
          <a:solidFill>
            <a:srgbClr val="CCFF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OS</a:t>
            </a:r>
          </a:p>
        </p:txBody>
      </p:sp>
      <p:sp>
        <p:nvSpPr>
          <p:cNvPr id="282629" name="Rectangle 4"/>
          <p:cNvSpPr>
            <a:spLocks noChangeArrowheads="1"/>
          </p:cNvSpPr>
          <p:nvPr/>
        </p:nvSpPr>
        <p:spPr bwMode="auto">
          <a:xfrm>
            <a:off x="4680154" y="2503834"/>
            <a:ext cx="2260600" cy="1789112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…..</a:t>
            </a: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4684915" y="4285891"/>
            <a:ext cx="2260600" cy="705486"/>
          </a:xfrm>
          <a:prstGeom prst="rect">
            <a:avLst/>
          </a:prstGeom>
          <a:solidFill>
            <a:srgbClr val="00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P1 PCB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pc = x, </a:t>
            </a:r>
            <a:r>
              <a:rPr kumimoji="0" lang="en-US" altLang="zh-TW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eax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=y, …..,</a:t>
            </a:r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4682534" y="2493367"/>
            <a:ext cx="2265362" cy="1235075"/>
          </a:xfrm>
          <a:prstGeom prst="rect">
            <a:avLst/>
          </a:prstGeom>
          <a:solidFill>
            <a:srgbClr val="FFFF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out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eax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, 0x30;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add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ebx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,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ebx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</a:t>
            </a:r>
          </a:p>
        </p:txBody>
      </p:sp>
      <p:sp>
        <p:nvSpPr>
          <p:cNvPr id="21" name="Rectangle 4"/>
          <p:cNvSpPr>
            <a:spLocks noChangeArrowheads="1"/>
          </p:cNvSpPr>
          <p:nvPr/>
        </p:nvSpPr>
        <p:spPr bwMode="auto">
          <a:xfrm>
            <a:off x="4687296" y="4959497"/>
            <a:ext cx="2260600" cy="705486"/>
          </a:xfrm>
          <a:prstGeom prst="rect">
            <a:avLst/>
          </a:prstGeom>
          <a:solidFill>
            <a:srgbClr val="00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lvl="0"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>
                <a:solidFill>
                  <a:srgbClr val="FF0000"/>
                </a:solidFill>
                <a:ea typeface="新細明體" panose="02020500000000000000" pitchFamily="18" charset="-120"/>
              </a:rPr>
              <a:t>P2 PCB </a:t>
            </a:r>
          </a:p>
          <a:p>
            <a:pPr lvl="0"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pc = </a:t>
            </a:r>
            <a:r>
              <a:rPr kumimoji="0" lang="en-US" altLang="zh-TW" sz="2000" b="1" dirty="0" err="1">
                <a:solidFill>
                  <a:srgbClr val="000000"/>
                </a:solidFill>
                <a:ea typeface="新細明體" panose="02020500000000000000" pitchFamily="18" charset="-120"/>
              </a:rPr>
              <a:t>i</a:t>
            </a: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, </a:t>
            </a:r>
            <a:r>
              <a:rPr kumimoji="0" lang="en-US" altLang="zh-TW" sz="2000" b="1" dirty="0" err="1">
                <a:solidFill>
                  <a:srgbClr val="000000"/>
                </a:solidFill>
                <a:ea typeface="新細明體" panose="02020500000000000000" pitchFamily="18" charset="-120"/>
              </a:rPr>
              <a:t>eax</a:t>
            </a:r>
            <a:r>
              <a:rPr kumimoji="0" lang="en-US" altLang="zh-TW" sz="2000" b="1">
                <a:solidFill>
                  <a:srgbClr val="000000"/>
                </a:solidFill>
                <a:ea typeface="新細明體" panose="02020500000000000000" pitchFamily="18" charset="-120"/>
              </a:rPr>
              <a:t>=j, </a:t>
            </a: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…..,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 </a:t>
            </a:r>
          </a:p>
        </p:txBody>
      </p:sp>
      <p:sp>
        <p:nvSpPr>
          <p:cNvPr id="14" name="右大括弧 13"/>
          <p:cNvSpPr/>
          <p:nvPr/>
        </p:nvSpPr>
        <p:spPr>
          <a:xfrm>
            <a:off x="7257060" y="4321012"/>
            <a:ext cx="87515" cy="1903922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7344574" y="5085654"/>
            <a:ext cx="4796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charset="-120"/>
                <a:cs typeface="+mn-cs"/>
              </a:rPr>
              <a:t>OS</a:t>
            </a:r>
            <a:endParaRPr kumimoji="1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charset="-120"/>
              <a:cs typeface="+mn-cs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39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16557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Process Representation in Linux</a:t>
            </a:r>
            <a:endParaRPr lang="zh-TW" alt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919536" y="1556793"/>
            <a:ext cx="8229600" cy="4530725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r>
              <a:rPr lang="en-US" altLang="en-US" dirty="0"/>
              <a:t>Represented by the C structure </a:t>
            </a:r>
            <a:r>
              <a:rPr lang="en-US" altLang="en-US" dirty="0" err="1">
                <a:latin typeface="Courier New" panose="02070309020205020404" pitchFamily="49" charset="0"/>
              </a:rPr>
              <a:t>task_struct</a:t>
            </a:r>
            <a:endParaRPr lang="en-US" altLang="en-US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dirty="0">
                <a:latin typeface="Courier New" panose="02070309020205020404" pitchFamily="49" charset="0"/>
              </a:rPr>
              <a:t/>
            </a:r>
            <a:br>
              <a:rPr lang="en-US" altLang="en-US" dirty="0">
                <a:latin typeface="Courier New" panose="02070309020205020404" pitchFamily="49" charset="0"/>
              </a:rPr>
            </a:br>
            <a:r>
              <a:rPr lang="en-US" altLang="en-US" sz="1600" dirty="0" err="1">
                <a:solidFill>
                  <a:srgbClr val="FF0000"/>
                </a:solidFill>
                <a:latin typeface="Courier New" panose="02070309020205020404" pitchFamily="49" charset="0"/>
              </a:rPr>
              <a:t>pid</a:t>
            </a:r>
            <a:r>
              <a:rPr lang="en-US" altLang="en-US" sz="1600" dirty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1600" dirty="0" err="1">
                <a:solidFill>
                  <a:srgbClr val="FF0000"/>
                </a:solidFill>
                <a:latin typeface="Courier New" panose="02070309020205020404" pitchFamily="49" charset="0"/>
              </a:rPr>
              <a:t>t_pid</a:t>
            </a:r>
            <a:r>
              <a:rPr lang="en-US" altLang="en-US" sz="1600" dirty="0">
                <a:solidFill>
                  <a:srgbClr val="FF0000"/>
                </a:solidFill>
                <a:latin typeface="Courier New" panose="02070309020205020404" pitchFamily="49" charset="0"/>
              </a:rPr>
              <a:t>; 			/* process identifier */ </a:t>
            </a:r>
            <a:br>
              <a:rPr lang="en-US" altLang="en-US" sz="1600" dirty="0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FF0000"/>
                </a:solidFill>
                <a:latin typeface="Courier New" panose="02070309020205020404" pitchFamily="49" charset="0"/>
              </a:rPr>
              <a:t>long state; 			/* state of the process */ </a:t>
            </a:r>
            <a:br>
              <a:rPr lang="en-US" altLang="en-US" sz="1600" dirty="0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altLang="en-US" sz="1600" dirty="0">
                <a:latin typeface="Courier New" panose="02070309020205020404" pitchFamily="49" charset="0"/>
              </a:rPr>
              <a:t>unsigned </a:t>
            </a:r>
            <a:r>
              <a:rPr lang="en-US" altLang="en-US" sz="1600" dirty="0" err="1">
                <a:latin typeface="Courier New" panose="02070309020205020404" pitchFamily="49" charset="0"/>
              </a:rPr>
              <a:t>int</a:t>
            </a:r>
            <a:r>
              <a:rPr lang="en-US" altLang="en-US" sz="1600" dirty="0">
                <a:latin typeface="Courier New" panose="02070309020205020404" pitchFamily="49" charset="0"/>
              </a:rPr>
              <a:t> </a:t>
            </a:r>
            <a:r>
              <a:rPr lang="en-US" altLang="en-US" sz="1600" dirty="0" err="1">
                <a:latin typeface="Courier New" panose="02070309020205020404" pitchFamily="49" charset="0"/>
              </a:rPr>
              <a:t>time_slice</a:t>
            </a:r>
            <a:r>
              <a:rPr lang="en-US" altLang="en-US" sz="1600" dirty="0">
                <a:latin typeface="Courier New" panose="02070309020205020404" pitchFamily="49" charset="0"/>
              </a:rPr>
              <a:t> 	/* scheduling information */ </a:t>
            </a:r>
            <a:br>
              <a:rPr lang="en-US" altLang="en-US" sz="1600" dirty="0">
                <a:latin typeface="Courier New" panose="02070309020205020404" pitchFamily="49" charset="0"/>
              </a:rPr>
            </a:br>
            <a:r>
              <a:rPr lang="en-US" altLang="en-US" sz="1600" dirty="0" err="1">
                <a:latin typeface="Courier New" panose="02070309020205020404" pitchFamily="49" charset="0"/>
              </a:rPr>
              <a:t>struct</a:t>
            </a:r>
            <a:r>
              <a:rPr lang="en-US" altLang="en-US" sz="1600" dirty="0">
                <a:latin typeface="Courier New" panose="02070309020205020404" pitchFamily="49" charset="0"/>
              </a:rPr>
              <a:t> </a:t>
            </a:r>
            <a:r>
              <a:rPr lang="en-US" altLang="en-US" sz="1600" dirty="0" err="1">
                <a:latin typeface="Courier New" panose="02070309020205020404" pitchFamily="49" charset="0"/>
              </a:rPr>
              <a:t>task_struct</a:t>
            </a:r>
            <a:r>
              <a:rPr lang="en-US" altLang="en-US" sz="1600" dirty="0">
                <a:latin typeface="Courier New" panose="02070309020205020404" pitchFamily="49" charset="0"/>
              </a:rPr>
              <a:t> *parent;/* this process</a:t>
            </a:r>
            <a:r>
              <a:rPr lang="ja-JP" altLang="en-US" sz="1600" dirty="0">
                <a:latin typeface="Courier New" panose="02070309020205020404" pitchFamily="49" charset="0"/>
              </a:rPr>
              <a:t>’</a:t>
            </a:r>
            <a:r>
              <a:rPr lang="en-US" altLang="ja-JP" sz="1600" dirty="0">
                <a:latin typeface="Courier New" panose="02070309020205020404" pitchFamily="49" charset="0"/>
              </a:rPr>
              <a:t>s parent */ </a:t>
            </a:r>
            <a:br>
              <a:rPr lang="en-US" altLang="ja-JP" sz="1600" dirty="0">
                <a:latin typeface="Courier New" panose="02070309020205020404" pitchFamily="49" charset="0"/>
              </a:rPr>
            </a:br>
            <a:r>
              <a:rPr lang="en-US" altLang="ja-JP" sz="1600" dirty="0" err="1">
                <a:latin typeface="Courier New" panose="02070309020205020404" pitchFamily="49" charset="0"/>
              </a:rPr>
              <a:t>struct</a:t>
            </a:r>
            <a:r>
              <a:rPr lang="en-US" altLang="ja-JP" sz="1600" dirty="0">
                <a:latin typeface="Courier New" panose="02070309020205020404" pitchFamily="49" charset="0"/>
              </a:rPr>
              <a:t> </a:t>
            </a:r>
            <a:r>
              <a:rPr lang="en-US" altLang="ja-JP" sz="1600" dirty="0" err="1">
                <a:latin typeface="Courier New" panose="02070309020205020404" pitchFamily="49" charset="0"/>
              </a:rPr>
              <a:t>list_head</a:t>
            </a:r>
            <a:r>
              <a:rPr lang="en-US" altLang="ja-JP" sz="1600" dirty="0">
                <a:latin typeface="Courier New" panose="02070309020205020404" pitchFamily="49" charset="0"/>
              </a:rPr>
              <a:t> children; /* this process</a:t>
            </a:r>
            <a:r>
              <a:rPr lang="ja-JP" altLang="en-US" sz="1600" dirty="0">
                <a:latin typeface="Courier New" panose="02070309020205020404" pitchFamily="49" charset="0"/>
              </a:rPr>
              <a:t>’</a:t>
            </a:r>
            <a:r>
              <a:rPr lang="en-US" altLang="ja-JP" sz="1600" dirty="0">
                <a:latin typeface="Courier New" panose="02070309020205020404" pitchFamily="49" charset="0"/>
              </a:rPr>
              <a:t>s children */ </a:t>
            </a:r>
            <a:br>
              <a:rPr lang="en-US" altLang="ja-JP" sz="1600" dirty="0">
                <a:latin typeface="Courier New" panose="02070309020205020404" pitchFamily="49" charset="0"/>
              </a:rPr>
            </a:br>
            <a:r>
              <a:rPr lang="en-US" altLang="ja-JP" sz="1600" dirty="0" err="1">
                <a:latin typeface="Courier New" panose="02070309020205020404" pitchFamily="49" charset="0"/>
              </a:rPr>
              <a:t>struct</a:t>
            </a:r>
            <a:r>
              <a:rPr lang="en-US" altLang="ja-JP" sz="1600" dirty="0">
                <a:latin typeface="Courier New" panose="02070309020205020404" pitchFamily="49" charset="0"/>
              </a:rPr>
              <a:t> </a:t>
            </a:r>
            <a:r>
              <a:rPr lang="en-US" altLang="ja-JP" sz="1600" dirty="0" err="1">
                <a:latin typeface="Courier New" panose="02070309020205020404" pitchFamily="49" charset="0"/>
              </a:rPr>
              <a:t>files_struct</a:t>
            </a:r>
            <a:r>
              <a:rPr lang="en-US" altLang="ja-JP" sz="1600" dirty="0">
                <a:latin typeface="Courier New" panose="02070309020205020404" pitchFamily="49" charset="0"/>
              </a:rPr>
              <a:t> *files;/* list of open files */ </a:t>
            </a:r>
            <a:br>
              <a:rPr lang="en-US" altLang="ja-JP" sz="1600" dirty="0">
                <a:latin typeface="Courier New" panose="02070309020205020404" pitchFamily="49" charset="0"/>
              </a:rPr>
            </a:br>
            <a:r>
              <a:rPr lang="en-US" altLang="ja-JP" sz="1600" dirty="0" err="1">
                <a:latin typeface="Courier New" panose="02070309020205020404" pitchFamily="49" charset="0"/>
              </a:rPr>
              <a:t>struct</a:t>
            </a:r>
            <a:r>
              <a:rPr lang="en-US" altLang="ja-JP" sz="1600" dirty="0">
                <a:latin typeface="Courier New" panose="02070309020205020404" pitchFamily="49" charset="0"/>
              </a:rPr>
              <a:t> </a:t>
            </a:r>
            <a:r>
              <a:rPr lang="en-US" altLang="ja-JP" sz="1600" dirty="0" err="1">
                <a:latin typeface="Courier New" panose="02070309020205020404" pitchFamily="49" charset="0"/>
              </a:rPr>
              <a:t>mm_struct</a:t>
            </a:r>
            <a:r>
              <a:rPr lang="en-US" altLang="ja-JP" sz="1600" dirty="0">
                <a:latin typeface="Courier New" panose="02070309020205020404" pitchFamily="49" charset="0"/>
              </a:rPr>
              <a:t> *mm; 	/* address space of this process */</a:t>
            </a:r>
            <a:endParaRPr lang="en-US" altLang="en-US" sz="1600" dirty="0">
              <a:latin typeface="Courier New" panose="02070309020205020404" pitchFamily="49" charset="0"/>
            </a:endParaRPr>
          </a:p>
        </p:txBody>
      </p:sp>
      <p:pic>
        <p:nvPicPr>
          <p:cNvPr id="6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640" y="4653137"/>
            <a:ext cx="5976664" cy="157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40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34003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Accounting</a:t>
            </a:r>
          </a:p>
        </p:txBody>
      </p:sp>
      <p:pic>
        <p:nvPicPr>
          <p:cNvPr id="14339" name="Picture 5" descr="2000_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14501" y="1052737"/>
            <a:ext cx="8785225" cy="566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74632AD-9D6A-45CC-A1CF-8EF7EBEC2259}" type="slidenum">
              <a:rPr lang="en-US" altLang="zh-TW" smtClean="0"/>
              <a:pPr>
                <a:defRPr/>
              </a:pPr>
              <a:t>41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Process Concept</a:t>
            </a:r>
          </a:p>
          <a:p>
            <a:pPr eaLnBrk="1" hangingPunct="1"/>
            <a:r>
              <a:rPr lang="en-US" altLang="zh-TW" b="1" dirty="0">
                <a:solidFill>
                  <a:srgbClr val="FF0000"/>
                </a:solidFill>
              </a:rPr>
              <a:t>Process Scheduling</a:t>
            </a:r>
          </a:p>
          <a:p>
            <a:pPr eaLnBrk="1" hangingPunct="1"/>
            <a:r>
              <a:rPr lang="en-US" altLang="zh-TW" dirty="0"/>
              <a:t>Operations on Processes</a:t>
            </a:r>
          </a:p>
          <a:p>
            <a:pPr eaLnBrk="1" hangingPunct="1"/>
            <a:r>
              <a:rPr lang="en-US" altLang="zh-TW"/>
              <a:t>Inter-Process </a:t>
            </a:r>
            <a:r>
              <a:rPr lang="en-US" altLang="zh-TW" dirty="0"/>
              <a:t>Communication</a:t>
            </a:r>
          </a:p>
          <a:p>
            <a:pPr eaLnBrk="1" hangingPunct="1"/>
            <a:r>
              <a:rPr lang="en-US" altLang="zh-TW" dirty="0"/>
              <a:t>IPC in Shared-Memory Systems</a:t>
            </a:r>
          </a:p>
          <a:p>
            <a:pPr eaLnBrk="1" hangingPunct="1"/>
            <a:r>
              <a:rPr lang="en-US" altLang="zh-TW" dirty="0"/>
              <a:t>Examples of IPC Systems</a:t>
            </a:r>
          </a:p>
          <a:p>
            <a:pPr eaLnBrk="1" hangingPunct="1"/>
            <a:r>
              <a:rPr lang="en-US" altLang="zh-TW" dirty="0"/>
              <a:t>Communication in Client-Server Systems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42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36226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Outline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zh-TW" dirty="0"/>
              <a:t>Process Concept</a:t>
            </a:r>
          </a:p>
          <a:p>
            <a:pPr eaLnBrk="1" hangingPunct="1"/>
            <a:r>
              <a:rPr lang="en-US" altLang="zh-TW" b="1" dirty="0">
                <a:solidFill>
                  <a:srgbClr val="FF0000"/>
                </a:solidFill>
              </a:rPr>
              <a:t>Process Scheduling</a:t>
            </a:r>
          </a:p>
          <a:p>
            <a:pPr lvl="1" eaLnBrk="1" hangingPunct="1"/>
            <a:r>
              <a:rPr lang="en-US" altLang="zh-TW" b="1" dirty="0">
                <a:solidFill>
                  <a:srgbClr val="FF0000"/>
                </a:solidFill>
              </a:rPr>
              <a:t>CPU </a:t>
            </a:r>
            <a:r>
              <a:rPr lang="en-US" altLang="zh-TW" b="1" dirty="0" smtClean="0">
                <a:solidFill>
                  <a:srgbClr val="FF0000"/>
                </a:solidFill>
              </a:rPr>
              <a:t>Scheduling</a:t>
            </a:r>
            <a:endParaRPr lang="en-US" altLang="zh-TW" dirty="0" smtClean="0"/>
          </a:p>
          <a:p>
            <a:pPr lvl="1" eaLnBrk="1" hangingPunct="1"/>
            <a:r>
              <a:rPr lang="en-US" altLang="zh-TW" dirty="0" smtClean="0"/>
              <a:t>Scheduling </a:t>
            </a:r>
            <a:r>
              <a:rPr lang="en-US" altLang="zh-TW" dirty="0"/>
              <a:t>Queues</a:t>
            </a:r>
          </a:p>
          <a:p>
            <a:pPr lvl="1" eaLnBrk="1" hangingPunct="1"/>
            <a:r>
              <a:rPr lang="en-US" altLang="zh-TW" dirty="0" smtClean="0"/>
              <a:t>Context </a:t>
            </a:r>
            <a:r>
              <a:rPr lang="en-US" altLang="zh-TW" dirty="0"/>
              <a:t>Switch</a:t>
            </a:r>
          </a:p>
          <a:p>
            <a:pPr eaLnBrk="1" hangingPunct="1"/>
            <a:r>
              <a:rPr lang="en-US" altLang="zh-TW" dirty="0"/>
              <a:t>Operations on Processes</a:t>
            </a:r>
          </a:p>
          <a:p>
            <a:pPr eaLnBrk="1" hangingPunct="1"/>
            <a:r>
              <a:rPr lang="en-US" altLang="zh-TW" dirty="0" err="1"/>
              <a:t>Interprocess</a:t>
            </a:r>
            <a:r>
              <a:rPr lang="en-US" altLang="zh-TW" dirty="0"/>
              <a:t> Communication</a:t>
            </a:r>
          </a:p>
          <a:p>
            <a:pPr eaLnBrk="1" hangingPunct="1"/>
            <a:r>
              <a:rPr lang="en-US" altLang="zh-TW" dirty="0"/>
              <a:t>IPC in Shared-Memory Systems</a:t>
            </a:r>
          </a:p>
          <a:p>
            <a:pPr eaLnBrk="1" hangingPunct="1"/>
            <a:r>
              <a:rPr lang="en-US" altLang="zh-TW" dirty="0"/>
              <a:t>Examples of IPC Systems</a:t>
            </a:r>
          </a:p>
          <a:p>
            <a:pPr eaLnBrk="1" hangingPunct="1"/>
            <a:r>
              <a:rPr lang="en-US" altLang="zh-TW" dirty="0"/>
              <a:t>Communication in Client-Server Systems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43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97024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b="1" dirty="0">
                <a:solidFill>
                  <a:schemeClr val="tx1"/>
                </a:solidFill>
              </a:rPr>
              <a:t>什麼是</a:t>
            </a:r>
            <a:r>
              <a:rPr lang="en-US" altLang="zh-TW" b="1" dirty="0">
                <a:solidFill>
                  <a:schemeClr val="tx1"/>
                </a:solidFill>
              </a:rPr>
              <a:t>CPU Scheduler?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sp>
        <p:nvSpPr>
          <p:cNvPr id="4" name="副標題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 smtClean="0"/>
              <a:t>假設有五個</a:t>
            </a:r>
            <a:r>
              <a:rPr lang="en-US" altLang="zh-TW" dirty="0" smtClean="0"/>
              <a:t>ready</a:t>
            </a:r>
            <a:r>
              <a:rPr lang="zh-TW" altLang="en-US" dirty="0" smtClean="0"/>
              <a:t>的</a:t>
            </a:r>
            <a:r>
              <a:rPr lang="en-US" altLang="zh-TW" dirty="0" smtClean="0"/>
              <a:t>processes, CPU cores</a:t>
            </a:r>
            <a:r>
              <a:rPr lang="zh-TW" altLang="en-US" dirty="0" smtClean="0"/>
              <a:t>有兩個</a:t>
            </a:r>
            <a:r>
              <a:rPr lang="en-US" altLang="zh-TW" dirty="0" smtClean="0"/>
              <a:t>!</a:t>
            </a:r>
          </a:p>
          <a:p>
            <a:r>
              <a:rPr lang="en-US" altLang="zh-TW" dirty="0" smtClean="0"/>
              <a:t>OS</a:t>
            </a:r>
            <a:r>
              <a:rPr lang="zh-TW" altLang="en-US" dirty="0" smtClean="0"/>
              <a:t>必須選擇兩個</a:t>
            </a:r>
            <a:r>
              <a:rPr lang="en-US" altLang="zh-TW" dirty="0" smtClean="0"/>
              <a:t>ready process</a:t>
            </a:r>
            <a:r>
              <a:rPr lang="zh-TW" altLang="en-US" dirty="0" smtClean="0"/>
              <a:t>執行</a:t>
            </a:r>
            <a:r>
              <a:rPr lang="en-US" altLang="zh-TW" dirty="0" smtClean="0"/>
              <a:t>!</a:t>
            </a:r>
          </a:p>
          <a:p>
            <a:r>
              <a:rPr lang="zh-TW" altLang="en-US" dirty="0"/>
              <a:t>這段選擇的</a:t>
            </a:r>
            <a:r>
              <a:rPr lang="zh-TW" altLang="en-US" dirty="0" smtClean="0"/>
              <a:t>程式就是</a:t>
            </a:r>
            <a:r>
              <a:rPr lang="en-US" altLang="zh-TW" dirty="0" smtClean="0"/>
              <a:t>CPU Scheduler~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38451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CPU Scheduling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3600" b="1" dirty="0">
                <a:solidFill>
                  <a:srgbClr val="FF0000"/>
                </a:solidFill>
              </a:rPr>
              <a:t>CPU Scheduler (or Process Scheduler)</a:t>
            </a:r>
            <a:r>
              <a:rPr lang="en-US" altLang="zh-TW" sz="3600" dirty="0"/>
              <a:t> </a:t>
            </a:r>
          </a:p>
          <a:p>
            <a:pPr lvl="1" eaLnBrk="1" hangingPunct="1"/>
            <a:endParaRPr lang="en-US" altLang="en-US" sz="3200" dirty="0" smtClean="0"/>
          </a:p>
          <a:p>
            <a:pPr lvl="1" eaLnBrk="1" hangingPunct="1"/>
            <a:r>
              <a:rPr lang="en-US" altLang="en-US" sz="3200" dirty="0" smtClean="0"/>
              <a:t>Selects </a:t>
            </a:r>
            <a:r>
              <a:rPr lang="en-US" altLang="en-US" sz="3200" dirty="0"/>
              <a:t>a ready processes for execution on a CPU core</a:t>
            </a:r>
            <a:endParaRPr lang="en-US" altLang="zh-TW" sz="3200" dirty="0"/>
          </a:p>
          <a:p>
            <a:pPr lvl="1" eaLnBrk="1" hangingPunct="1"/>
            <a:endParaRPr lang="en-US" altLang="zh-TW" sz="2400" dirty="0"/>
          </a:p>
          <a:p>
            <a:pPr lvl="1" eaLnBrk="1" hangingPunct="1"/>
            <a:r>
              <a:rPr lang="en-US" altLang="zh-TW" sz="2400" dirty="0"/>
              <a:t>See the following two slides</a:t>
            </a:r>
          </a:p>
          <a:p>
            <a:pPr lvl="1" eaLnBrk="1" hangingPunct="1"/>
            <a:endParaRPr lang="en-US" altLang="zh-TW" sz="1800" b="1" i="1" dirty="0">
              <a:solidFill>
                <a:srgbClr val="FF3300"/>
              </a:solidFill>
              <a:sym typeface="Symbol" pitchFamily="18" charset="2"/>
            </a:endParaRPr>
          </a:p>
          <a:p>
            <a:pPr eaLnBrk="1" hangingPunct="1"/>
            <a:endParaRPr lang="en-US" altLang="zh-TW" sz="36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45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62556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zh-TW" dirty="0">
                <a:effectLst/>
              </a:rPr>
              <a:t>CPU Scheduler</a:t>
            </a:r>
            <a:endParaRPr lang="zh-TW" altLang="en-US" dirty="0">
              <a:effectLst/>
            </a:endParaRPr>
          </a:p>
        </p:txBody>
      </p:sp>
      <p:sp>
        <p:nvSpPr>
          <p:cNvPr id="57347" name="Line 3"/>
          <p:cNvSpPr>
            <a:spLocks noChangeShapeType="1"/>
          </p:cNvSpPr>
          <p:nvPr/>
        </p:nvSpPr>
        <p:spPr bwMode="auto">
          <a:xfrm flipV="1">
            <a:off x="2035176" y="2925764"/>
            <a:ext cx="6799263" cy="39687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4933" name="Rectangle 5"/>
          <p:cNvSpPr>
            <a:spLocks noChangeArrowheads="1"/>
          </p:cNvSpPr>
          <p:nvPr/>
        </p:nvSpPr>
        <p:spPr bwMode="auto">
          <a:xfrm>
            <a:off x="3146426" y="6165304"/>
            <a:ext cx="5648325" cy="432719"/>
          </a:xfrm>
          <a:prstGeom prst="rect">
            <a:avLst/>
          </a:prstGeom>
          <a:solidFill>
            <a:srgbClr val="00B05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kumimoji="0" lang="en-US" altLang="zh-TW" sz="2000" dirty="0">
                <a:latin typeface="Times New Roman" pitchFamily="18" charset="0"/>
              </a:rPr>
              <a:t>Hardware</a:t>
            </a:r>
          </a:p>
        </p:txBody>
      </p:sp>
      <p:sp>
        <p:nvSpPr>
          <p:cNvPr id="57350" name="Rectangle 6"/>
          <p:cNvSpPr>
            <a:spLocks noChangeArrowheads="1"/>
          </p:cNvSpPr>
          <p:nvPr/>
        </p:nvSpPr>
        <p:spPr bwMode="auto">
          <a:xfrm>
            <a:off x="3146426" y="3125788"/>
            <a:ext cx="5616575" cy="2751484"/>
          </a:xfrm>
          <a:prstGeom prst="rect">
            <a:avLst/>
          </a:prstGeom>
          <a:solidFill>
            <a:srgbClr val="FFFF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hangingPunct="0"/>
            <a:endParaRPr kumimoji="0" lang="en-US" altLang="zh-TW" sz="2000" b="1" i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57351" name="Text Box 7"/>
          <p:cNvSpPr txBox="1">
            <a:spLocks noChangeArrowheads="1"/>
          </p:cNvSpPr>
          <p:nvPr/>
        </p:nvSpPr>
        <p:spPr bwMode="auto">
          <a:xfrm>
            <a:off x="1838325" y="2279650"/>
            <a:ext cx="1138238" cy="3365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kumimoji="0" lang="en-US" altLang="zh-TW" sz="1600" b="1">
                <a:latin typeface="Times New Roman" pitchFamily="18" charset="0"/>
              </a:rPr>
              <a:t>User Mode</a:t>
            </a:r>
          </a:p>
        </p:txBody>
      </p:sp>
      <p:sp>
        <p:nvSpPr>
          <p:cNvPr id="57352" name="Text Box 8"/>
          <p:cNvSpPr txBox="1">
            <a:spLocks noChangeArrowheads="1"/>
          </p:cNvSpPr>
          <p:nvPr/>
        </p:nvSpPr>
        <p:spPr bwMode="auto">
          <a:xfrm>
            <a:off x="1703388" y="3255963"/>
            <a:ext cx="1331912" cy="3365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kumimoji="0" lang="en-US" altLang="zh-TW" sz="1600" b="1">
                <a:latin typeface="Times New Roman" pitchFamily="18" charset="0"/>
              </a:rPr>
              <a:t>Kernel Mode</a:t>
            </a:r>
          </a:p>
        </p:txBody>
      </p:sp>
      <p:sp>
        <p:nvSpPr>
          <p:cNvPr id="57354" name="Rectangle 14"/>
          <p:cNvSpPr>
            <a:spLocks noChangeArrowheads="1"/>
          </p:cNvSpPr>
          <p:nvPr/>
        </p:nvSpPr>
        <p:spPr bwMode="auto">
          <a:xfrm>
            <a:off x="5232401" y="1268414"/>
            <a:ext cx="1368425" cy="1235075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hangingPunct="0"/>
            <a:endParaRPr kumimoji="0" lang="en-US" altLang="zh-TW" sz="2000" i="1" dirty="0">
              <a:latin typeface="Calibri" panose="020F0502020204030204" pitchFamily="34" charset="0"/>
            </a:endParaRPr>
          </a:p>
          <a:p>
            <a:pPr algn="ctr" eaLnBrk="0" hangingPunct="0"/>
            <a:r>
              <a:rPr kumimoji="0" lang="en-US" altLang="zh-TW" sz="2000" dirty="0">
                <a:latin typeface="Calibri" panose="020F0502020204030204" pitchFamily="34" charset="0"/>
              </a:rPr>
              <a:t>User </a:t>
            </a:r>
          </a:p>
          <a:p>
            <a:pPr algn="ctr" eaLnBrk="0" hangingPunct="0"/>
            <a:r>
              <a:rPr kumimoji="0" lang="en-US" altLang="zh-TW" sz="2000" dirty="0">
                <a:latin typeface="Calibri" panose="020F0502020204030204" pitchFamily="34" charset="0"/>
              </a:rPr>
              <a:t>Applications</a:t>
            </a:r>
            <a:endParaRPr kumimoji="0" lang="en-US" altLang="zh-TW" sz="2000" i="1" dirty="0">
              <a:latin typeface="Calibri" panose="020F0502020204030204" pitchFamily="34" charset="0"/>
            </a:endParaRPr>
          </a:p>
          <a:p>
            <a:pPr algn="ctr" eaLnBrk="0" hangingPunct="0"/>
            <a:endParaRPr kumimoji="0" lang="en-US" altLang="zh-TW" sz="2000" i="1" dirty="0">
              <a:latin typeface="Calibri" panose="020F0502020204030204" pitchFamily="34" charset="0"/>
            </a:endParaRPr>
          </a:p>
        </p:txBody>
      </p:sp>
      <p:sp>
        <p:nvSpPr>
          <p:cNvPr id="57357" name="Text Box 18"/>
          <p:cNvSpPr txBox="1">
            <a:spLocks noChangeArrowheads="1"/>
          </p:cNvSpPr>
          <p:nvPr/>
        </p:nvSpPr>
        <p:spPr bwMode="auto">
          <a:xfrm>
            <a:off x="6600825" y="1766888"/>
            <a:ext cx="3995738" cy="3667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0" hangingPunct="0"/>
            <a:r>
              <a:rPr kumimoji="0" lang="en-US" altLang="zh-TW" sz="1800" b="1" i="1" dirty="0">
                <a:latin typeface="Calibri" panose="020F0502020204030204" pitchFamily="34" charset="0"/>
              </a:rPr>
              <a:t>Change to execute another application</a:t>
            </a:r>
            <a:endParaRPr kumimoji="0" lang="en-US" altLang="zh-TW" sz="1800" i="1" dirty="0">
              <a:latin typeface="Calibri" panose="020F0502020204030204" pitchFamily="34" charset="0"/>
            </a:endParaRPr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3477039" y="1299302"/>
            <a:ext cx="1368425" cy="1235075"/>
          </a:xfrm>
          <a:prstGeom prst="rect">
            <a:avLst/>
          </a:prstGeom>
          <a:gradFill rotWithShape="1">
            <a:gsLst>
              <a:gs pos="0">
                <a:srgbClr val="767600"/>
              </a:gs>
              <a:gs pos="50000">
                <a:srgbClr val="FFFF00"/>
              </a:gs>
              <a:gs pos="100000">
                <a:srgbClr val="767600"/>
              </a:gs>
            </a:gsLst>
            <a:lin ang="5400000" scaled="1"/>
          </a:gra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hangingPunct="0"/>
            <a:r>
              <a:rPr kumimoji="0" lang="en-US" altLang="zh-TW" sz="2000" dirty="0">
                <a:latin typeface="Calibri" panose="020F0502020204030204" pitchFamily="34" charset="0"/>
              </a:rPr>
              <a:t>…</a:t>
            </a:r>
          </a:p>
          <a:p>
            <a:pPr eaLnBrk="0" hangingPunct="0"/>
            <a:r>
              <a:rPr kumimoji="0" lang="en-US" altLang="zh-TW" sz="2000" dirty="0">
                <a:latin typeface="Calibri" panose="020F0502020204030204" pitchFamily="34" charset="0"/>
              </a:rPr>
              <a:t>for (;;)</a:t>
            </a:r>
          </a:p>
          <a:p>
            <a:pPr eaLnBrk="0" hangingPunct="0"/>
            <a:r>
              <a:rPr kumimoji="0" lang="en-US" altLang="zh-TW" sz="2000" dirty="0">
                <a:latin typeface="Calibri" panose="020F0502020204030204" pitchFamily="34" charset="0"/>
              </a:rPr>
              <a:t>    a=a+1</a:t>
            </a:r>
            <a:r>
              <a:rPr kumimoji="0" lang="en-US" altLang="zh-TW" sz="2000" i="1" dirty="0">
                <a:latin typeface="Calibri" panose="020F0502020204030204" pitchFamily="34" charset="0"/>
              </a:rPr>
              <a:t>;</a:t>
            </a:r>
          </a:p>
          <a:p>
            <a:pPr eaLnBrk="0" hangingPunct="0"/>
            <a:r>
              <a:rPr kumimoji="0" lang="en-US" altLang="zh-TW" sz="2000" dirty="0">
                <a:latin typeface="Calibri" panose="020F0502020204030204" pitchFamily="34" charset="0"/>
              </a:rPr>
              <a:t>…</a:t>
            </a:r>
          </a:p>
        </p:txBody>
      </p:sp>
      <p:sp>
        <p:nvSpPr>
          <p:cNvPr id="2" name="圓角矩形 1"/>
          <p:cNvSpPr/>
          <p:nvPr/>
        </p:nvSpPr>
        <p:spPr>
          <a:xfrm>
            <a:off x="3346549" y="3246066"/>
            <a:ext cx="5184576" cy="2488164"/>
          </a:xfrm>
          <a:prstGeom prst="roundRect">
            <a:avLst/>
          </a:prstGeom>
          <a:noFill/>
          <a:ln w="38100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0" hangingPunct="0"/>
            <a:r>
              <a:rPr kumimoji="0" lang="en-US" altLang="zh-TW" sz="2200" b="1" i="1" dirty="0" err="1">
                <a:solidFill>
                  <a:srgbClr val="FF0000"/>
                </a:solidFill>
                <a:latin typeface="Calibri" panose="020F0502020204030204" pitchFamily="34" charset="0"/>
              </a:rPr>
              <a:t>CPU_scheduler</a:t>
            </a:r>
            <a:r>
              <a:rPr kumimoji="0" lang="en-US" altLang="zh-TW" sz="2200" b="1" i="1" dirty="0">
                <a:solidFill>
                  <a:srgbClr val="FF0000"/>
                </a:solidFill>
                <a:latin typeface="Calibri" panose="020F0502020204030204" pitchFamily="34" charset="0"/>
              </a:rPr>
              <a:t> () </a:t>
            </a:r>
          </a:p>
          <a:p>
            <a:pPr eaLnBrk="0" hangingPunct="0"/>
            <a:r>
              <a:rPr kumimoji="0" lang="en-US" altLang="zh-TW" sz="2200" b="1" i="1" dirty="0">
                <a:solidFill>
                  <a:srgbClr val="FF0000"/>
                </a:solidFill>
                <a:latin typeface="Calibri" panose="020F0502020204030204" pitchFamily="34" charset="0"/>
              </a:rPr>
              <a:t>{</a:t>
            </a:r>
          </a:p>
          <a:p>
            <a:pPr lvl="1" eaLnBrk="0" hangingPunct="0"/>
            <a:r>
              <a:rPr kumimoji="0" lang="en-US" altLang="zh-TW" sz="2200" b="1" i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select a ready process to run on a CPU core</a:t>
            </a:r>
            <a:endParaRPr kumimoji="0" lang="en-US" altLang="zh-TW" sz="2200" b="1" i="1" dirty="0">
              <a:solidFill>
                <a:srgbClr val="FF0000"/>
              </a:solidFill>
              <a:latin typeface="Calibri" panose="020F0502020204030204" pitchFamily="34" charset="0"/>
            </a:endParaRPr>
          </a:p>
          <a:p>
            <a:pPr eaLnBrk="0" hangingPunct="0"/>
            <a:r>
              <a:rPr kumimoji="0" lang="en-US" altLang="zh-TW" sz="2200" b="1" i="1" dirty="0">
                <a:solidFill>
                  <a:srgbClr val="FF0000"/>
                </a:solidFill>
                <a:latin typeface="Calibri" panose="020F0502020204030204" pitchFamily="34" charset="0"/>
              </a:rPr>
              <a:t>}</a:t>
            </a: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3470623" y="1299302"/>
            <a:ext cx="1368425" cy="1235075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hangingPunct="0"/>
            <a:r>
              <a:rPr kumimoji="0" lang="en-US" altLang="zh-TW" sz="2000">
                <a:latin typeface="Calibri" panose="020F0502020204030204" pitchFamily="34" charset="0"/>
              </a:rPr>
              <a:t>…</a:t>
            </a:r>
          </a:p>
          <a:p>
            <a:pPr eaLnBrk="0" hangingPunct="0"/>
            <a:r>
              <a:rPr kumimoji="0" lang="en-US" altLang="zh-TW" sz="2000">
                <a:latin typeface="Calibri" panose="020F0502020204030204" pitchFamily="34" charset="0"/>
              </a:rPr>
              <a:t>for (;;)</a:t>
            </a:r>
          </a:p>
          <a:p>
            <a:pPr eaLnBrk="0" hangingPunct="0"/>
            <a:r>
              <a:rPr kumimoji="0" lang="en-US" altLang="zh-TW" sz="2000">
                <a:latin typeface="Calibri" panose="020F0502020204030204" pitchFamily="34" charset="0"/>
              </a:rPr>
              <a:t>    a=a+1</a:t>
            </a:r>
            <a:r>
              <a:rPr kumimoji="0" lang="en-US" altLang="zh-TW" sz="2000" i="1">
                <a:latin typeface="Calibri" panose="020F0502020204030204" pitchFamily="34" charset="0"/>
              </a:rPr>
              <a:t>;</a:t>
            </a:r>
          </a:p>
          <a:p>
            <a:pPr eaLnBrk="0" hangingPunct="0"/>
            <a:r>
              <a:rPr kumimoji="0" lang="en-US" altLang="zh-TW" sz="2000">
                <a:latin typeface="Calibri" panose="020F0502020204030204" pitchFamily="34" charset="0"/>
              </a:rPr>
              <a:t>…</a:t>
            </a:r>
            <a:endParaRPr kumimoji="0" lang="en-US" altLang="zh-TW" sz="2000" dirty="0">
              <a:latin typeface="Calibri" panose="020F0502020204030204" pitchFamily="34" charset="0"/>
            </a:endParaRPr>
          </a:p>
        </p:txBody>
      </p:sp>
      <p:sp>
        <p:nvSpPr>
          <p:cNvPr id="17" name="Rectangle 14"/>
          <p:cNvSpPr>
            <a:spLocks noChangeArrowheads="1"/>
          </p:cNvSpPr>
          <p:nvPr/>
        </p:nvSpPr>
        <p:spPr bwMode="auto">
          <a:xfrm>
            <a:off x="5232400" y="1284254"/>
            <a:ext cx="1368425" cy="1235075"/>
          </a:xfrm>
          <a:prstGeom prst="rect">
            <a:avLst/>
          </a:prstGeom>
          <a:gradFill rotWithShape="1">
            <a:gsLst>
              <a:gs pos="0">
                <a:srgbClr val="767600"/>
              </a:gs>
              <a:gs pos="50000">
                <a:srgbClr val="FFFF00"/>
              </a:gs>
              <a:gs pos="100000">
                <a:srgbClr val="767600"/>
              </a:gs>
            </a:gsLst>
            <a:lin ang="5400000" scaled="1"/>
          </a:gra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hangingPunct="0"/>
            <a:endParaRPr kumimoji="0" lang="en-US" altLang="zh-TW" sz="2000" i="1" dirty="0">
              <a:latin typeface="Calibri" panose="020F0502020204030204" pitchFamily="34" charset="0"/>
            </a:endParaRPr>
          </a:p>
          <a:p>
            <a:pPr algn="ctr" eaLnBrk="0" hangingPunct="0"/>
            <a:r>
              <a:rPr kumimoji="0" lang="en-US" altLang="zh-TW" sz="2000" dirty="0">
                <a:latin typeface="Calibri" panose="020F0502020204030204" pitchFamily="34" charset="0"/>
              </a:rPr>
              <a:t>User </a:t>
            </a:r>
          </a:p>
          <a:p>
            <a:pPr algn="ctr" eaLnBrk="0" hangingPunct="0"/>
            <a:r>
              <a:rPr kumimoji="0" lang="en-US" altLang="zh-TW" sz="2000" dirty="0">
                <a:latin typeface="Calibri" panose="020F0502020204030204" pitchFamily="34" charset="0"/>
              </a:rPr>
              <a:t>Applications</a:t>
            </a:r>
            <a:endParaRPr kumimoji="0" lang="en-US" altLang="zh-TW" sz="2000" i="1" dirty="0">
              <a:latin typeface="Calibri" panose="020F0502020204030204" pitchFamily="34" charset="0"/>
            </a:endParaRPr>
          </a:p>
          <a:p>
            <a:pPr algn="ctr" eaLnBrk="0" hangingPunct="0"/>
            <a:endParaRPr kumimoji="0" lang="en-US" altLang="zh-TW" sz="2000" i="1" dirty="0">
              <a:latin typeface="Calibri" panose="020F0502020204030204" pitchFamily="34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46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5943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57" grpId="0"/>
      <p:bldP spid="2" grpId="0" animBg="1"/>
      <p:bldP spid="16" grpId="0" animBg="1"/>
      <p:bldP spid="1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Question: </a:t>
            </a:r>
            <a:r>
              <a:rPr lang="zh-TW" altLang="en-US" dirty="0" smtClean="0"/>
              <a:t>如何選擇呢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Shown in Chapter 5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93066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CPU Scheduling (CPU)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dirty="0"/>
              <a:t>CPU scheduler is invoked very frequently</a:t>
            </a:r>
          </a:p>
          <a:p>
            <a:pPr lvl="1" eaLnBrk="1" hangingPunct="1"/>
            <a:r>
              <a:rPr lang="en-US" altLang="zh-TW" dirty="0"/>
              <a:t>At least once very 100 milliseconds</a:t>
            </a:r>
          </a:p>
          <a:p>
            <a:pPr lvl="1" eaLnBrk="1" hangingPunct="1"/>
            <a:r>
              <a:rPr lang="en-US" altLang="zh-TW" b="1" i="1" dirty="0">
                <a:solidFill>
                  <a:srgbClr val="FF3300"/>
                </a:solidFill>
                <a:sym typeface="Symbol" pitchFamily="18" charset="2"/>
              </a:rPr>
              <a:t>Why?</a:t>
            </a:r>
          </a:p>
          <a:p>
            <a:pPr eaLnBrk="1" hangingPunct="1"/>
            <a:endParaRPr lang="en-US" altLang="zh-TW" dirty="0">
              <a:sym typeface="Symbol" pitchFamily="18" charset="2"/>
            </a:endParaRPr>
          </a:p>
          <a:p>
            <a:pPr eaLnBrk="1" hangingPunct="1"/>
            <a:r>
              <a:rPr lang="en-US" altLang="zh-TW" dirty="0">
                <a:sym typeface="Symbol" pitchFamily="18" charset="2"/>
              </a:rPr>
              <a:t>But, CPU scheduler cannot be invoked extremely too frequently</a:t>
            </a:r>
          </a:p>
          <a:p>
            <a:pPr lvl="1" eaLnBrk="1" hangingPunct="1"/>
            <a:r>
              <a:rPr lang="en-US" altLang="zh-TW" b="1" i="1" dirty="0">
                <a:solidFill>
                  <a:srgbClr val="FF3300"/>
                </a:solidFill>
                <a:sym typeface="Symbol" pitchFamily="18" charset="2"/>
              </a:rPr>
              <a:t>Why?</a:t>
            </a:r>
            <a:r>
              <a:rPr lang="zh-TW" altLang="en-US" b="1" i="1" dirty="0">
                <a:solidFill>
                  <a:srgbClr val="FF3300"/>
                </a:solidFill>
                <a:sym typeface="Symbol" pitchFamily="18" charset="2"/>
              </a:rPr>
              <a:t> </a:t>
            </a:r>
            <a:r>
              <a:rPr lang="en-US" altLang="zh-TW" b="1" i="1" dirty="0">
                <a:solidFill>
                  <a:srgbClr val="FF3300"/>
                </a:solidFill>
                <a:sym typeface="Symbol" pitchFamily="18" charset="2"/>
              </a:rPr>
              <a:t>(introduced later)</a:t>
            </a:r>
          </a:p>
          <a:p>
            <a:pPr lvl="1" eaLnBrk="1" hangingPunct="1"/>
            <a:endParaRPr lang="en-US" altLang="zh-TW" sz="1600" b="1" i="1" dirty="0">
              <a:solidFill>
                <a:srgbClr val="FF3300"/>
              </a:solidFill>
              <a:sym typeface="Symbol" pitchFamily="18" charset="2"/>
            </a:endParaRPr>
          </a:p>
          <a:p>
            <a:pPr eaLnBrk="1" hangingPunct="1"/>
            <a:endParaRPr lang="en-US" altLang="zh-TW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48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2576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b="1" dirty="0" smtClean="0"/>
              <a:t>詳細的</a:t>
            </a:r>
            <a:r>
              <a:rPr lang="en-US" altLang="zh-TW" b="1" dirty="0" smtClean="0"/>
              <a:t>CPU</a:t>
            </a:r>
            <a:r>
              <a:rPr lang="zh-TW" altLang="en-US" b="1" dirty="0"/>
              <a:t>排程演算法會在第五章介紹</a:t>
            </a:r>
            <a:r>
              <a:rPr lang="en-US" altLang="zh-TW" b="1" dirty="0"/>
              <a:t>!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1574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Outline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zh-TW" dirty="0"/>
              <a:t>Process Concept</a:t>
            </a:r>
          </a:p>
          <a:p>
            <a:pPr eaLnBrk="1" hangingPunct="1"/>
            <a:r>
              <a:rPr lang="en-US" altLang="zh-TW" b="1" dirty="0">
                <a:solidFill>
                  <a:srgbClr val="FF0000"/>
                </a:solidFill>
              </a:rPr>
              <a:t>Process Scheduling</a:t>
            </a:r>
          </a:p>
          <a:p>
            <a:pPr lvl="1" eaLnBrk="1" hangingPunct="1"/>
            <a:r>
              <a:rPr lang="en-US" altLang="zh-TW" dirty="0"/>
              <a:t>CPU Scheduling</a:t>
            </a:r>
          </a:p>
          <a:p>
            <a:pPr lvl="1" eaLnBrk="1" hangingPunct="1"/>
            <a:r>
              <a:rPr lang="en-US" altLang="zh-TW" b="1" dirty="0" smtClean="0">
                <a:solidFill>
                  <a:srgbClr val="FF0000"/>
                </a:solidFill>
              </a:rPr>
              <a:t>Scheduling </a:t>
            </a:r>
            <a:r>
              <a:rPr lang="en-US" altLang="zh-TW" b="1" dirty="0">
                <a:solidFill>
                  <a:srgbClr val="FF0000"/>
                </a:solidFill>
              </a:rPr>
              <a:t>Queues</a:t>
            </a:r>
          </a:p>
          <a:p>
            <a:pPr lvl="1" eaLnBrk="1" hangingPunct="1"/>
            <a:r>
              <a:rPr lang="en-US" altLang="zh-TW" dirty="0" smtClean="0"/>
              <a:t>Context </a:t>
            </a:r>
            <a:r>
              <a:rPr lang="en-US" altLang="zh-TW" dirty="0"/>
              <a:t>Switch</a:t>
            </a:r>
          </a:p>
          <a:p>
            <a:pPr eaLnBrk="1" hangingPunct="1"/>
            <a:r>
              <a:rPr lang="en-US" altLang="zh-TW" dirty="0"/>
              <a:t>Operations on Processes</a:t>
            </a:r>
          </a:p>
          <a:p>
            <a:pPr eaLnBrk="1" hangingPunct="1"/>
            <a:r>
              <a:rPr lang="en-US" altLang="zh-TW" dirty="0" err="1"/>
              <a:t>Interprocess</a:t>
            </a:r>
            <a:r>
              <a:rPr lang="en-US" altLang="zh-TW" dirty="0"/>
              <a:t> Communication</a:t>
            </a:r>
          </a:p>
          <a:p>
            <a:pPr eaLnBrk="1" hangingPunct="1"/>
            <a:r>
              <a:rPr lang="en-US" altLang="zh-TW" dirty="0"/>
              <a:t>IPC in Shared-Memory Systems</a:t>
            </a:r>
          </a:p>
          <a:p>
            <a:pPr eaLnBrk="1" hangingPunct="1"/>
            <a:r>
              <a:rPr lang="en-US" altLang="zh-TW" dirty="0"/>
              <a:t>Examples of IPC Systems</a:t>
            </a:r>
          </a:p>
          <a:p>
            <a:pPr eaLnBrk="1" hangingPunct="1"/>
            <a:r>
              <a:rPr lang="en-US" altLang="zh-TW" dirty="0"/>
              <a:t>Communication in Client-Server Systems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50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21779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b="1" dirty="0">
                <a:solidFill>
                  <a:schemeClr val="tx1"/>
                </a:solidFill>
              </a:rPr>
              <a:t>CPU </a:t>
            </a:r>
            <a:r>
              <a:rPr lang="en-US" altLang="zh-TW" b="1" dirty="0" smtClean="0">
                <a:solidFill>
                  <a:schemeClr val="tx1"/>
                </a:solidFill>
              </a:rPr>
              <a:t>Scheduler</a:t>
            </a:r>
            <a:r>
              <a:rPr lang="zh-TW" altLang="en-US" dirty="0" smtClean="0">
                <a:solidFill>
                  <a:schemeClr val="tx1"/>
                </a:solidFill>
              </a:rPr>
              <a:t>需要</a:t>
            </a:r>
            <a:r>
              <a:rPr lang="zh-TW" altLang="en-US" dirty="0">
                <a:solidFill>
                  <a:schemeClr val="tx1"/>
                </a:solidFill>
              </a:rPr>
              <a:t>什麼資料結構？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sp>
        <p:nvSpPr>
          <p:cNvPr id="4" name="副標題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082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Scheduling Queues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OS maintains </a:t>
            </a:r>
            <a:r>
              <a:rPr lang="en-US" altLang="en-US" b="1" dirty="0">
                <a:solidFill>
                  <a:srgbClr val="3366FF"/>
                </a:solidFill>
              </a:rPr>
              <a:t>scheduling queues </a:t>
            </a:r>
            <a:r>
              <a:rPr lang="en-US" altLang="en-US" dirty="0"/>
              <a:t>of processes</a:t>
            </a:r>
          </a:p>
          <a:p>
            <a:pPr lvl="1" eaLnBrk="1" hangingPunct="1"/>
            <a:r>
              <a:rPr lang="en-US" altLang="zh-TW" b="1" dirty="0">
                <a:solidFill>
                  <a:srgbClr val="FF0000"/>
                </a:solidFill>
              </a:rPr>
              <a:t>Ready queue</a:t>
            </a:r>
            <a:r>
              <a:rPr lang="en-US" altLang="zh-TW" dirty="0"/>
              <a:t> </a:t>
            </a:r>
            <a:r>
              <a:rPr lang="en-US" altLang="zh-TW" dirty="0">
                <a:latin typeface="Helvetica" pitchFamily="34" charset="0"/>
              </a:rPr>
              <a:t>–</a:t>
            </a:r>
            <a:r>
              <a:rPr lang="en-US" altLang="zh-TW" dirty="0"/>
              <a:t> set of all processes </a:t>
            </a:r>
            <a:r>
              <a:rPr lang="en-US" altLang="zh-TW" dirty="0">
                <a:solidFill>
                  <a:srgbClr val="0000FF"/>
                </a:solidFill>
              </a:rPr>
              <a:t>residing in main memory</a:t>
            </a:r>
            <a:r>
              <a:rPr lang="en-US" altLang="zh-TW" dirty="0"/>
              <a:t>, </a:t>
            </a:r>
            <a:r>
              <a:rPr lang="en-US" altLang="zh-TW" dirty="0">
                <a:solidFill>
                  <a:srgbClr val="0000FF"/>
                </a:solidFill>
              </a:rPr>
              <a:t>ready</a:t>
            </a:r>
            <a:r>
              <a:rPr lang="en-US" altLang="zh-TW" dirty="0"/>
              <a:t> and waiting to execute</a:t>
            </a:r>
          </a:p>
          <a:p>
            <a:pPr lvl="1" eaLnBrk="1" hangingPunct="1"/>
            <a:endParaRPr lang="en-US" altLang="zh-TW" b="1" dirty="0">
              <a:solidFill>
                <a:srgbClr val="FF0000"/>
              </a:solidFill>
            </a:endParaRPr>
          </a:p>
          <a:p>
            <a:pPr lvl="1" eaLnBrk="1" hangingPunct="1"/>
            <a:r>
              <a:rPr lang="en-US" altLang="zh-TW" b="1" dirty="0">
                <a:solidFill>
                  <a:srgbClr val="FF0000"/>
                </a:solidFill>
              </a:rPr>
              <a:t>A set of wait queues</a:t>
            </a:r>
            <a:r>
              <a:rPr lang="en-US" altLang="zh-TW" dirty="0"/>
              <a:t> </a:t>
            </a:r>
            <a:r>
              <a:rPr lang="en-US" altLang="zh-TW" dirty="0">
                <a:latin typeface="Helvetica" pitchFamily="34" charset="0"/>
              </a:rPr>
              <a:t>–</a:t>
            </a:r>
            <a:r>
              <a:rPr lang="en-US" altLang="zh-TW" dirty="0"/>
              <a:t> set of processes waiting for events, e.g., completion of I/O</a:t>
            </a:r>
          </a:p>
          <a:p>
            <a:pPr lvl="1" eaLnBrk="1" hangingPunct="1"/>
            <a:endParaRPr lang="en-US" altLang="zh-TW" dirty="0"/>
          </a:p>
          <a:p>
            <a:pPr lvl="1" eaLnBrk="1" hangingPunct="1"/>
            <a:r>
              <a:rPr lang="en-US" altLang="zh-TW" dirty="0"/>
              <a:t>Processes migrate among the </a:t>
            </a:r>
            <a:r>
              <a:rPr lang="en-US" altLang="zh-TW" dirty="0">
                <a:solidFill>
                  <a:srgbClr val="FF0000"/>
                </a:solidFill>
              </a:rPr>
              <a:t>ready queue </a:t>
            </a:r>
            <a:r>
              <a:rPr lang="en-US" altLang="zh-TW" dirty="0"/>
              <a:t>and </a:t>
            </a:r>
            <a:r>
              <a:rPr lang="en-US" altLang="zh-TW" dirty="0">
                <a:solidFill>
                  <a:srgbClr val="FF0000"/>
                </a:solidFill>
              </a:rPr>
              <a:t>various wait queues </a:t>
            </a:r>
            <a:r>
              <a:rPr lang="en-US" altLang="zh-TW" sz="2000" dirty="0">
                <a:solidFill>
                  <a:srgbClr val="000000"/>
                </a:solidFill>
              </a:rPr>
              <a:t>(see following two slides)</a:t>
            </a:r>
          </a:p>
          <a:p>
            <a:pPr lvl="1" eaLnBrk="1" hangingPunct="1"/>
            <a:endParaRPr lang="en-US" altLang="zh-TW" sz="2000" dirty="0">
              <a:solidFill>
                <a:srgbClr val="000000"/>
              </a:solidFill>
            </a:endParaRPr>
          </a:p>
          <a:p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52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10617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188913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zh-TW" altLang="en-US" dirty="0" smtClean="0"/>
              <a:t>複習</a:t>
            </a:r>
            <a:r>
              <a:rPr lang="en-US" altLang="zh-TW" dirty="0" smtClean="0"/>
              <a:t>: Diagram </a:t>
            </a:r>
            <a:r>
              <a:rPr lang="en-US" altLang="zh-TW" dirty="0"/>
              <a:t>of Process State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5560" y="1484784"/>
            <a:ext cx="7689354" cy="4536504"/>
          </a:xfrm>
          <a:prstGeom prst="rect">
            <a:avLst/>
          </a:prstGeom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53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43313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 dirty="0" smtClean="0"/>
              <a:t>The Ready Queue and Wait </a:t>
            </a:r>
            <a:r>
              <a:rPr lang="en-US" altLang="zh-TW" sz="4000" dirty="0"/>
              <a:t>Queues</a:t>
            </a:r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2" cstate="print"/>
          <a:srcRect l="7364" t="517" r="7364" b="1550"/>
          <a:stretch>
            <a:fillRect/>
          </a:stretch>
        </p:blipFill>
        <p:spPr bwMode="auto">
          <a:xfrm>
            <a:off x="983432" y="1916833"/>
            <a:ext cx="10598968" cy="4471719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  <p:sp>
        <p:nvSpPr>
          <p:cNvPr id="2" name="文字方塊 1"/>
          <p:cNvSpPr txBox="1"/>
          <p:nvPr/>
        </p:nvSpPr>
        <p:spPr>
          <a:xfrm>
            <a:off x="3199857" y="1268761"/>
            <a:ext cx="60083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>
                <a:solidFill>
                  <a:srgbClr val="0000FF"/>
                </a:solidFill>
                <a:latin typeface="Calibri" panose="020F0502020204030204" pitchFamily="34" charset="0"/>
              </a:rPr>
              <a:t>There may be a set of wait queues</a:t>
            </a:r>
            <a:endParaRPr lang="zh-TW" altLang="en-US" sz="3200" b="1" dirty="0">
              <a:solidFill>
                <a:srgbClr val="0000FF"/>
              </a:solidFill>
              <a:latin typeface="Calibri" panose="020F0502020204030204" pitchFamily="34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54</a:t>
            </a:fld>
            <a:endParaRPr lang="en-US" altLang="zh-TW"/>
          </a:p>
        </p:txBody>
      </p:sp>
      <p:sp>
        <p:nvSpPr>
          <p:cNvPr id="4" name="圓角矩形 3"/>
          <p:cNvSpPr/>
          <p:nvPr/>
        </p:nvSpPr>
        <p:spPr>
          <a:xfrm>
            <a:off x="1343472" y="3068960"/>
            <a:ext cx="720080" cy="43204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b="1" dirty="0" smtClean="0">
                <a:solidFill>
                  <a:schemeClr val="tx1"/>
                </a:solidFill>
              </a:rPr>
              <a:t>NIC</a:t>
            </a:r>
            <a:endParaRPr lang="zh-TW" altLang="en-US" sz="1800" b="1" dirty="0">
              <a:solidFill>
                <a:schemeClr val="tx1"/>
              </a:solidFill>
            </a:endParaRPr>
          </a:p>
        </p:txBody>
      </p:sp>
      <p:sp>
        <p:nvSpPr>
          <p:cNvPr id="7" name="圓角矩形 6"/>
          <p:cNvSpPr/>
          <p:nvPr/>
        </p:nvSpPr>
        <p:spPr>
          <a:xfrm>
            <a:off x="983432" y="3861048"/>
            <a:ext cx="1152128" cy="43204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>
                <a:solidFill>
                  <a:schemeClr val="tx1"/>
                </a:solidFill>
                <a:latin typeface="Agency FB" panose="020B0503020202020204" pitchFamily="34" charset="0"/>
              </a:rPr>
              <a:t>disk unit 1</a:t>
            </a:r>
            <a:endParaRPr lang="zh-TW" altLang="en-US" sz="2000" b="1" dirty="0">
              <a:solidFill>
                <a:schemeClr val="tx1"/>
              </a:solidFill>
              <a:latin typeface="Agency FB" panose="020B0503020202020204" pitchFamily="34" charset="0"/>
            </a:endParaRPr>
          </a:p>
        </p:txBody>
      </p:sp>
      <p:sp>
        <p:nvSpPr>
          <p:cNvPr id="8" name="圓角矩形 7"/>
          <p:cNvSpPr/>
          <p:nvPr/>
        </p:nvSpPr>
        <p:spPr>
          <a:xfrm>
            <a:off x="1127448" y="3068960"/>
            <a:ext cx="1008112" cy="43204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>
                <a:solidFill>
                  <a:schemeClr val="tx1"/>
                </a:solidFill>
                <a:latin typeface="Agency FB" panose="020B0503020202020204" pitchFamily="34" charset="0"/>
              </a:rPr>
              <a:t>NIC</a:t>
            </a:r>
            <a:endParaRPr lang="zh-TW" altLang="en-US" sz="2000" b="1" dirty="0">
              <a:solidFill>
                <a:schemeClr val="tx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7006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sz="4000" dirty="0" smtClean="0"/>
              <a:t>A Simple Queuing-Diagram Representation of Processes</a:t>
            </a:r>
            <a:endParaRPr lang="en-US" altLang="zh-TW" sz="4000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544" y="1556792"/>
            <a:ext cx="8934822" cy="3888432"/>
          </a:xfrm>
          <a:prstGeom prst="rect">
            <a:avLst/>
          </a:prstGeom>
        </p:spPr>
      </p:pic>
      <p:sp>
        <p:nvSpPr>
          <p:cNvPr id="11" name="文字方塊 10"/>
          <p:cNvSpPr txBox="1"/>
          <p:nvPr/>
        </p:nvSpPr>
        <p:spPr>
          <a:xfrm>
            <a:off x="1199456" y="5733256"/>
            <a:ext cx="106249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In real system, the diagram is much more complicated.</a:t>
            </a:r>
            <a:endParaRPr lang="zh-TW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55</a:t>
            </a:fld>
            <a:endParaRPr lang="en-US" altLang="zh-TW"/>
          </a:p>
        </p:txBody>
      </p:sp>
      <p:sp>
        <p:nvSpPr>
          <p:cNvPr id="3" name="文字方塊 2"/>
          <p:cNvSpPr txBox="1"/>
          <p:nvPr/>
        </p:nvSpPr>
        <p:spPr>
          <a:xfrm>
            <a:off x="5159896" y="1948770"/>
            <a:ext cx="20810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FF0000"/>
                </a:solidFill>
                <a:latin typeface="Arial Rounded MT Bold" panose="020F0704030504030204" pitchFamily="34" charset="0"/>
              </a:rPr>
              <a:t>CPU Scheduler</a:t>
            </a:r>
            <a:endParaRPr lang="zh-TW" altLang="en-US" sz="2000" b="1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Outline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zh-TW" dirty="0"/>
              <a:t>Process Concept</a:t>
            </a:r>
          </a:p>
          <a:p>
            <a:pPr eaLnBrk="1" hangingPunct="1"/>
            <a:r>
              <a:rPr lang="en-US" altLang="zh-TW" b="1" dirty="0">
                <a:solidFill>
                  <a:srgbClr val="FF0000"/>
                </a:solidFill>
              </a:rPr>
              <a:t>Process Scheduling</a:t>
            </a:r>
          </a:p>
          <a:p>
            <a:pPr lvl="1" eaLnBrk="1" hangingPunct="1"/>
            <a:r>
              <a:rPr lang="en-US" altLang="zh-TW" dirty="0"/>
              <a:t>Scheduling Queues</a:t>
            </a:r>
          </a:p>
          <a:p>
            <a:pPr lvl="1" eaLnBrk="1" hangingPunct="1"/>
            <a:r>
              <a:rPr lang="en-US" altLang="zh-TW" dirty="0"/>
              <a:t>CPU Scheduling</a:t>
            </a:r>
          </a:p>
          <a:p>
            <a:pPr lvl="1" eaLnBrk="1" hangingPunct="1"/>
            <a:r>
              <a:rPr lang="en-US" altLang="zh-TW" b="1" dirty="0">
                <a:solidFill>
                  <a:srgbClr val="FF0000"/>
                </a:solidFill>
              </a:rPr>
              <a:t>Context Switch</a:t>
            </a:r>
          </a:p>
          <a:p>
            <a:pPr eaLnBrk="1" hangingPunct="1"/>
            <a:r>
              <a:rPr lang="en-US" altLang="zh-TW" dirty="0"/>
              <a:t>Operations on Processes</a:t>
            </a:r>
          </a:p>
          <a:p>
            <a:pPr eaLnBrk="1" hangingPunct="1"/>
            <a:r>
              <a:rPr lang="en-US" altLang="zh-TW" dirty="0" err="1"/>
              <a:t>Interprocess</a:t>
            </a:r>
            <a:r>
              <a:rPr lang="en-US" altLang="zh-TW" dirty="0"/>
              <a:t> Communication</a:t>
            </a:r>
          </a:p>
          <a:p>
            <a:pPr eaLnBrk="1" hangingPunct="1"/>
            <a:r>
              <a:rPr lang="en-US" altLang="zh-TW" dirty="0"/>
              <a:t>IPC in Shared-Memory Systems</a:t>
            </a:r>
          </a:p>
          <a:p>
            <a:pPr eaLnBrk="1" hangingPunct="1"/>
            <a:r>
              <a:rPr lang="en-US" altLang="zh-TW" dirty="0"/>
              <a:t>Examples of IPC Systems</a:t>
            </a:r>
          </a:p>
          <a:p>
            <a:pPr eaLnBrk="1" hangingPunct="1"/>
            <a:r>
              <a:rPr lang="en-US" altLang="zh-TW" dirty="0"/>
              <a:t>Communication in Client-Server Systems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56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30323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CPU</a:t>
            </a:r>
            <a:r>
              <a:rPr lang="zh-TW" altLang="en-US" dirty="0"/>
              <a:t>排程演算法會伴隨</a:t>
            </a:r>
            <a:r>
              <a:rPr lang="en-US" altLang="zh-TW" dirty="0"/>
              <a:t>Context Switch!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sp>
        <p:nvSpPr>
          <p:cNvPr id="4" name="副標題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zh-TW" altLang="en-US" dirty="0" smtClean="0"/>
              <a:t>什麼</a:t>
            </a:r>
            <a:r>
              <a:rPr lang="zh-TW" altLang="en-US" dirty="0"/>
              <a:t>是</a:t>
            </a:r>
            <a:r>
              <a:rPr lang="en-US" altLang="zh-TW" dirty="0"/>
              <a:t>Context Switch?</a:t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41346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Context Switch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b="1" i="1" dirty="0">
                <a:solidFill>
                  <a:srgbClr val="FF3300"/>
                </a:solidFill>
              </a:rPr>
              <a:t>Context switch</a:t>
            </a:r>
            <a:r>
              <a:rPr lang="en-US" altLang="zh-TW" dirty="0"/>
              <a:t>: CPU switches from one process to another process</a:t>
            </a:r>
          </a:p>
          <a:p>
            <a:pPr lvl="1" eaLnBrk="1" hangingPunct="1"/>
            <a:endParaRPr lang="en-US" altLang="zh-TW" dirty="0"/>
          </a:p>
          <a:p>
            <a:pPr lvl="1" eaLnBrk="1" hangingPunct="1"/>
            <a:r>
              <a:rPr lang="en-US" altLang="zh-TW" dirty="0"/>
              <a:t>OS must </a:t>
            </a:r>
            <a:r>
              <a:rPr lang="en-US" altLang="zh-TW" b="1" dirty="0">
                <a:solidFill>
                  <a:srgbClr val="0000FF"/>
                </a:solidFill>
              </a:rPr>
              <a:t>save t</a:t>
            </a:r>
            <a:r>
              <a:rPr lang="en-US" altLang="zh-TW" dirty="0"/>
              <a:t>he </a:t>
            </a:r>
            <a:r>
              <a:rPr lang="en-US" altLang="zh-TW" b="1" dirty="0">
                <a:solidFill>
                  <a:srgbClr val="FF0000"/>
                </a:solidFill>
              </a:rPr>
              <a:t>state (context) </a:t>
            </a:r>
            <a:r>
              <a:rPr lang="en-US" altLang="zh-TW" dirty="0"/>
              <a:t>of the </a:t>
            </a:r>
            <a:r>
              <a:rPr lang="en-US" altLang="zh-TW" b="1" dirty="0">
                <a:solidFill>
                  <a:srgbClr val="0000FF"/>
                </a:solidFill>
              </a:rPr>
              <a:t>old </a:t>
            </a:r>
            <a:r>
              <a:rPr lang="en-US" altLang="zh-TW" dirty="0"/>
              <a:t>process in its PCB</a:t>
            </a:r>
          </a:p>
          <a:p>
            <a:pPr lvl="1" eaLnBrk="1" hangingPunct="1"/>
            <a:endParaRPr lang="en-US" altLang="zh-TW" dirty="0"/>
          </a:p>
          <a:p>
            <a:pPr lvl="1" eaLnBrk="1" hangingPunct="1"/>
            <a:r>
              <a:rPr lang="en-US" altLang="zh-TW" dirty="0"/>
              <a:t>Then OS must </a:t>
            </a:r>
            <a:r>
              <a:rPr lang="en-US" altLang="zh-TW" b="1" dirty="0">
                <a:solidFill>
                  <a:srgbClr val="0000FF"/>
                </a:solidFill>
              </a:rPr>
              <a:t>restore</a:t>
            </a:r>
            <a:r>
              <a:rPr lang="en-US" altLang="zh-TW" dirty="0"/>
              <a:t> the </a:t>
            </a:r>
            <a:r>
              <a:rPr lang="en-US" altLang="zh-TW" b="1" dirty="0">
                <a:solidFill>
                  <a:srgbClr val="FF0000"/>
                </a:solidFill>
              </a:rPr>
              <a:t>saved state (context) </a:t>
            </a:r>
            <a:r>
              <a:rPr lang="en-US" altLang="zh-TW" dirty="0"/>
              <a:t>of the </a:t>
            </a:r>
            <a:r>
              <a:rPr lang="en-US" altLang="zh-TW" b="1" dirty="0">
                <a:solidFill>
                  <a:srgbClr val="0000FF"/>
                </a:solidFill>
              </a:rPr>
              <a:t>new</a:t>
            </a:r>
            <a:r>
              <a:rPr lang="en-US" altLang="zh-TW" dirty="0"/>
              <a:t> process from PCB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58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836712"/>
            <a:ext cx="10363200" cy="1470025"/>
          </a:xfrm>
        </p:spPr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</a:rPr>
              <a:t/>
            </a:r>
            <a:br>
              <a:rPr lang="en-US" altLang="zh-TW" dirty="0">
                <a:solidFill>
                  <a:schemeClr val="tx1"/>
                </a:solidFill>
              </a:rPr>
            </a:br>
            <a:r>
              <a:rPr lang="en-US" altLang="zh-TW" dirty="0">
                <a:solidFill>
                  <a:schemeClr val="tx1"/>
                </a:solidFill>
              </a:rPr>
              <a:t/>
            </a:r>
            <a:br>
              <a:rPr lang="en-US" altLang="zh-TW" dirty="0">
                <a:solidFill>
                  <a:schemeClr val="tx1"/>
                </a:solidFill>
              </a:rPr>
            </a:br>
            <a:r>
              <a:rPr lang="zh-TW" altLang="en-US" dirty="0">
                <a:solidFill>
                  <a:schemeClr val="tx1"/>
                </a:solidFill>
              </a:rPr>
              <a:t>複習：</a:t>
            </a:r>
            <a:r>
              <a:rPr lang="en-US" altLang="zh-TW" dirty="0">
                <a:solidFill>
                  <a:schemeClr val="tx1"/>
                </a:solidFill>
              </a:rPr>
              <a:t/>
            </a:r>
            <a:br>
              <a:rPr lang="en-US" altLang="zh-TW" dirty="0">
                <a:solidFill>
                  <a:schemeClr val="tx1"/>
                </a:solidFill>
              </a:rPr>
            </a:br>
            <a:r>
              <a:rPr lang="en-US" altLang="zh-TW" dirty="0" smtClean="0">
                <a:solidFill>
                  <a:schemeClr val="tx1"/>
                </a:solidFill>
              </a:rPr>
              <a:t/>
            </a:r>
            <a:br>
              <a:rPr lang="en-US" altLang="zh-TW" dirty="0" smtClean="0">
                <a:solidFill>
                  <a:schemeClr val="tx1"/>
                </a:solidFill>
              </a:rPr>
            </a:br>
            <a:r>
              <a:rPr lang="zh-TW" altLang="en-US" dirty="0" smtClean="0">
                <a:solidFill>
                  <a:schemeClr val="tx1"/>
                </a:solidFill>
              </a:rPr>
              <a:t>問題</a:t>
            </a:r>
            <a:r>
              <a:rPr lang="en-US" altLang="zh-TW" dirty="0">
                <a:solidFill>
                  <a:schemeClr val="tx1"/>
                </a:solidFill>
              </a:rPr>
              <a:t>: What is a state?</a:t>
            </a:r>
            <a:endParaRPr lang="zh-TW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1334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>
                <a:solidFill>
                  <a:schemeClr val="tx1"/>
                </a:solidFill>
              </a:rPr>
              <a:t>複習：</a:t>
            </a:r>
            <a:r>
              <a:rPr lang="en-US" altLang="zh-TW" dirty="0"/>
              <a:t>Storage-Device Hierarchy</a:t>
            </a:r>
          </a:p>
        </p:txBody>
      </p:sp>
      <p:sp>
        <p:nvSpPr>
          <p:cNvPr id="19460" name="Text Box 6"/>
          <p:cNvSpPr txBox="1">
            <a:spLocks noChangeArrowheads="1"/>
          </p:cNvSpPr>
          <p:nvPr/>
        </p:nvSpPr>
        <p:spPr bwMode="auto">
          <a:xfrm>
            <a:off x="3482975" y="1069975"/>
            <a:ext cx="1841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TW" altLang="zh-TW"/>
          </a:p>
        </p:txBody>
      </p:sp>
      <p:sp>
        <p:nvSpPr>
          <p:cNvPr id="19461" name="Rectangle 7"/>
          <p:cNvSpPr>
            <a:spLocks noChangeArrowheads="1"/>
          </p:cNvSpPr>
          <p:nvPr/>
        </p:nvSpPr>
        <p:spPr bwMode="auto">
          <a:xfrm>
            <a:off x="1919288" y="1125539"/>
            <a:ext cx="8229600" cy="352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zh-TW" altLang="zh-TW" sz="3200" i="1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19462" name="Rectangle 9"/>
          <p:cNvSpPr>
            <a:spLocks noChangeArrowheads="1"/>
          </p:cNvSpPr>
          <p:nvPr/>
        </p:nvSpPr>
        <p:spPr bwMode="auto">
          <a:xfrm>
            <a:off x="1919288" y="981076"/>
            <a:ext cx="8229600" cy="2303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endParaRPr lang="zh-TW" altLang="zh-TW" sz="2400">
              <a:latin typeface="Times New Roman" pitchFamily="18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313" y="1231900"/>
            <a:ext cx="8156575" cy="5040560"/>
          </a:xfrm>
          <a:prstGeom prst="rect">
            <a:avLst/>
          </a:prstGeom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60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5600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Context Switch (Cont.)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3600" b="1" i="1" dirty="0">
                <a:solidFill>
                  <a:srgbClr val="FF3300"/>
                </a:solidFill>
              </a:rPr>
              <a:t>Context (state):</a:t>
            </a:r>
            <a:endParaRPr lang="en-US" altLang="zh-TW" dirty="0"/>
          </a:p>
          <a:p>
            <a:pPr lvl="1"/>
            <a:r>
              <a:rPr lang="en-US" altLang="zh-TW" sz="3200" dirty="0"/>
              <a:t>CPU registers (including Program Counter), </a:t>
            </a:r>
          </a:p>
          <a:p>
            <a:pPr lvl="1"/>
            <a:r>
              <a:rPr lang="zh-TW" altLang="en-US" sz="3200" dirty="0" smtClean="0"/>
              <a:t>記憶體的內容</a:t>
            </a:r>
            <a:r>
              <a:rPr lang="en-US" altLang="zh-TW" sz="3200" dirty="0" smtClean="0"/>
              <a:t>(Memory areas)</a:t>
            </a:r>
          </a:p>
          <a:p>
            <a:pPr lvl="2"/>
            <a:r>
              <a:rPr lang="zh-TW" altLang="en-US" sz="2800" dirty="0" smtClean="0"/>
              <a:t>相關變數目前</a:t>
            </a:r>
            <a:r>
              <a:rPr lang="zh-TW" altLang="en-US" sz="2800" dirty="0"/>
              <a:t>的值</a:t>
            </a:r>
            <a:r>
              <a:rPr lang="en-US" altLang="zh-TW" sz="2800" dirty="0" smtClean="0"/>
              <a:t>~</a:t>
            </a:r>
          </a:p>
          <a:p>
            <a:pPr lvl="1"/>
            <a:r>
              <a:rPr lang="zh-TW" altLang="en-US" sz="3200" dirty="0" smtClean="0"/>
              <a:t>目前檔案的內容</a:t>
            </a:r>
            <a:endParaRPr lang="en-US" altLang="zh-TW" sz="3200" dirty="0" smtClean="0"/>
          </a:p>
          <a:p>
            <a:pPr lvl="1"/>
            <a:r>
              <a:rPr lang="en-US" altLang="zh-TW" sz="3200" dirty="0" smtClean="0"/>
              <a:t>……</a:t>
            </a:r>
            <a:endParaRPr lang="en-US" altLang="zh-TW" sz="3200" dirty="0"/>
          </a:p>
          <a:p>
            <a:pPr lvl="1"/>
            <a:r>
              <a:rPr lang="en-US" altLang="zh-TW" sz="3200" dirty="0" smtClean="0"/>
              <a:t>They </a:t>
            </a:r>
            <a:r>
              <a:rPr lang="en-US" altLang="zh-TW" sz="3200" dirty="0"/>
              <a:t>constitute the </a:t>
            </a:r>
            <a:r>
              <a:rPr lang="en-US" altLang="zh-TW" sz="3200" b="1" dirty="0">
                <a:solidFill>
                  <a:srgbClr val="FF3300"/>
                </a:solidFill>
              </a:rPr>
              <a:t>environment</a:t>
            </a:r>
            <a:r>
              <a:rPr lang="en-US" altLang="zh-TW" sz="3200" dirty="0"/>
              <a:t> or </a:t>
            </a:r>
            <a:r>
              <a:rPr lang="en-US" altLang="zh-TW" sz="3200" b="1" dirty="0">
                <a:solidFill>
                  <a:srgbClr val="FF3300"/>
                </a:solidFill>
              </a:rPr>
              <a:t>context</a:t>
            </a:r>
            <a:r>
              <a:rPr lang="en-US" altLang="zh-TW" sz="3200" dirty="0"/>
              <a:t> of a process</a:t>
            </a:r>
            <a:r>
              <a:rPr lang="en-US" altLang="zh-TW" sz="3200" dirty="0" smtClean="0"/>
              <a:t>.</a:t>
            </a:r>
            <a:endParaRPr lang="en-US" altLang="zh-TW" sz="32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61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54518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sz="3600" dirty="0" smtClean="0"/>
              <a:t>簡而言之</a:t>
            </a:r>
            <a:r>
              <a:rPr lang="en-US" altLang="zh-TW" sz="3600" dirty="0" smtClean="0"/>
              <a:t>, context (state)</a:t>
            </a:r>
            <a:r>
              <a:rPr lang="zh-TW" altLang="en-US" sz="3600" dirty="0" smtClean="0"/>
              <a:t>就是</a:t>
            </a:r>
            <a:r>
              <a:rPr lang="zh-TW" altLang="en-US" sz="3600" dirty="0"/>
              <a:t>程式執行到某一行時的</a:t>
            </a:r>
            <a:r>
              <a:rPr lang="zh-TW" altLang="en-US" sz="3600" dirty="0" smtClean="0"/>
              <a:t>狀態</a:t>
            </a:r>
            <a:endParaRPr lang="zh-TW" altLang="en-US" sz="36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b="1" dirty="0"/>
              <a:t>其狀態會存放在暫存器</a:t>
            </a:r>
            <a:r>
              <a:rPr lang="en-US" altLang="zh-TW" b="1" dirty="0"/>
              <a:t>, </a:t>
            </a:r>
            <a:r>
              <a:rPr lang="zh-TW" altLang="en-US" b="1" dirty="0"/>
              <a:t>記憶體</a:t>
            </a:r>
            <a:r>
              <a:rPr lang="en-US" altLang="zh-TW" b="1" dirty="0"/>
              <a:t>, </a:t>
            </a:r>
            <a:r>
              <a:rPr lang="zh-TW" altLang="en-US" b="1" dirty="0"/>
              <a:t>硬體</a:t>
            </a:r>
            <a:r>
              <a:rPr lang="en-US" altLang="zh-TW" b="1" dirty="0"/>
              <a:t>(</a:t>
            </a:r>
            <a:r>
              <a:rPr lang="zh-TW" altLang="en-US" b="1" dirty="0"/>
              <a:t>檔案</a:t>
            </a:r>
            <a:r>
              <a:rPr lang="en-US" altLang="zh-TW" b="1" dirty="0"/>
              <a:t>)…)</a:t>
            </a:r>
            <a:br>
              <a:rPr lang="en-US" altLang="zh-TW" b="1" dirty="0"/>
            </a:b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597413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sz="4000" dirty="0" smtClean="0"/>
              <a:t>因此</a:t>
            </a:r>
            <a:r>
              <a:rPr lang="en-US" altLang="zh-TW" sz="4000" dirty="0" smtClean="0"/>
              <a:t>, </a:t>
            </a:r>
            <a:r>
              <a:rPr lang="zh-TW" altLang="en-US" sz="4000" dirty="0" smtClean="0"/>
              <a:t>當從</a:t>
            </a:r>
            <a:r>
              <a:rPr lang="en-US" altLang="zh-TW" sz="4000" dirty="0" smtClean="0"/>
              <a:t>P1</a:t>
            </a:r>
            <a:r>
              <a:rPr lang="zh-TW" altLang="en-US" sz="4000" dirty="0" smtClean="0"/>
              <a:t>切換到</a:t>
            </a:r>
            <a:r>
              <a:rPr lang="en-US" altLang="zh-TW" sz="4000" dirty="0" smtClean="0"/>
              <a:t>P2</a:t>
            </a:r>
            <a:r>
              <a:rPr lang="zh-TW" altLang="en-US" sz="4000" dirty="0" smtClean="0"/>
              <a:t>執行時</a:t>
            </a:r>
            <a:r>
              <a:rPr lang="en-US" altLang="zh-TW" sz="4000" dirty="0" smtClean="0"/>
              <a:t>(</a:t>
            </a:r>
            <a:r>
              <a:rPr lang="zh-TW" altLang="en-US" sz="4000" dirty="0" smtClean="0"/>
              <a:t>也就是</a:t>
            </a:r>
            <a:r>
              <a:rPr lang="en-US" altLang="zh-TW" sz="4000" dirty="0" smtClean="0"/>
              <a:t>context switch), </a:t>
            </a:r>
            <a:r>
              <a:rPr lang="zh-TW" altLang="en-US" sz="4000" dirty="0" smtClean="0"/>
              <a:t>我們必須確保</a:t>
            </a:r>
            <a:r>
              <a:rPr lang="en-US" altLang="zh-TW" sz="4000" dirty="0" smtClean="0">
                <a:solidFill>
                  <a:srgbClr val="FF0000"/>
                </a:solidFill>
              </a:rPr>
              <a:t>P1</a:t>
            </a:r>
            <a:r>
              <a:rPr lang="zh-TW" altLang="en-US" sz="4000" dirty="0" smtClean="0">
                <a:solidFill>
                  <a:srgbClr val="FF0000"/>
                </a:solidFill>
              </a:rPr>
              <a:t>的狀態不會被</a:t>
            </a:r>
            <a:r>
              <a:rPr lang="en-US" altLang="zh-TW" sz="4000" dirty="0" smtClean="0">
                <a:solidFill>
                  <a:srgbClr val="FF0000"/>
                </a:solidFill>
              </a:rPr>
              <a:t>P2</a:t>
            </a:r>
            <a:r>
              <a:rPr lang="zh-TW" altLang="en-US" sz="4000" dirty="0" smtClean="0">
                <a:solidFill>
                  <a:srgbClr val="FF0000"/>
                </a:solidFill>
              </a:rPr>
              <a:t>破壞</a:t>
            </a:r>
            <a:endParaRPr lang="zh-TW" altLang="en-US" sz="4000" dirty="0">
              <a:solidFill>
                <a:srgbClr val="FF0000"/>
              </a:solidFill>
            </a:endParaRPr>
          </a:p>
        </p:txBody>
      </p:sp>
      <p:sp>
        <p:nvSpPr>
          <p:cNvPr id="4" name="副標題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b="1" dirty="0" smtClean="0">
              <a:solidFill>
                <a:srgbClr val="FF0000"/>
              </a:solidFill>
            </a:endParaRPr>
          </a:p>
          <a:p>
            <a:r>
              <a:rPr lang="en-US" altLang="zh-TW" b="1" dirty="0" smtClean="0">
                <a:solidFill>
                  <a:srgbClr val="FF0000"/>
                </a:solidFill>
              </a:rPr>
              <a:t>Q: </a:t>
            </a:r>
            <a:r>
              <a:rPr lang="zh-TW" altLang="en-US" b="1" dirty="0" smtClean="0">
                <a:solidFill>
                  <a:srgbClr val="FF0000"/>
                </a:solidFill>
              </a:rPr>
              <a:t>有可能會被破壞嗎</a:t>
            </a:r>
            <a:r>
              <a:rPr lang="en-US" altLang="zh-TW" b="1" dirty="0" smtClean="0">
                <a:solidFill>
                  <a:srgbClr val="FF0000"/>
                </a:solidFill>
              </a:rPr>
              <a:t>?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4281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>
                <a:solidFill>
                  <a:schemeClr val="tx1"/>
                </a:solidFill>
              </a:rPr>
              <a:t>複習</a:t>
            </a:r>
            <a:r>
              <a:rPr lang="zh-TW" altLang="en-US" dirty="0" smtClean="0">
                <a:solidFill>
                  <a:schemeClr val="tx1"/>
                </a:solidFill>
              </a:rPr>
              <a:t>：</a:t>
            </a:r>
            <a:r>
              <a:rPr lang="zh-TW" altLang="en-US" dirty="0">
                <a:effectLst/>
              </a:rPr>
              <a:t>暫存</a:t>
            </a:r>
            <a:r>
              <a:rPr lang="zh-TW" altLang="en-US" dirty="0" smtClean="0">
                <a:effectLst/>
              </a:rPr>
              <a:t>器內容被破壞</a:t>
            </a:r>
            <a:endParaRPr lang="en-US" altLang="zh-TW" dirty="0"/>
          </a:p>
        </p:txBody>
      </p:sp>
      <p:sp>
        <p:nvSpPr>
          <p:cNvPr id="282627" name="Rectangle 4"/>
          <p:cNvSpPr>
            <a:spLocks noChangeArrowheads="1"/>
          </p:cNvSpPr>
          <p:nvPr/>
        </p:nvSpPr>
        <p:spPr bwMode="auto">
          <a:xfrm>
            <a:off x="6307138" y="1484314"/>
            <a:ext cx="2265362" cy="1235075"/>
          </a:xfrm>
          <a:prstGeom prst="rect">
            <a:avLst/>
          </a:prstGeom>
          <a:solidFill>
            <a:srgbClr val="99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dirty="0">
                <a:solidFill>
                  <a:srgbClr val="000000"/>
                </a:solidFill>
                <a:ea typeface="新細明體" panose="02020500000000000000" pitchFamily="18" charset="-120"/>
              </a:rPr>
              <a:t>…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out </a:t>
            </a: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eax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, 0x60; 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add </a:t>
            </a: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eax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, </a:t>
            </a: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ebx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;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dirty="0">
                <a:solidFill>
                  <a:srgbClr val="000000"/>
                </a:solidFill>
                <a:ea typeface="新細明體" panose="02020500000000000000" pitchFamily="18" charset="-120"/>
              </a:rPr>
              <a:t>…</a:t>
            </a: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6311900" y="5445224"/>
            <a:ext cx="2260600" cy="995264"/>
          </a:xfrm>
          <a:prstGeom prst="rect">
            <a:avLst/>
          </a:prstGeom>
          <a:solidFill>
            <a:srgbClr val="CCFF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>
                <a:solidFill>
                  <a:srgbClr val="000000"/>
                </a:solidFill>
                <a:ea typeface="新細明體" panose="02020500000000000000" pitchFamily="18" charset="-120"/>
              </a:rPr>
              <a:t>OS</a:t>
            </a:r>
          </a:p>
        </p:txBody>
      </p:sp>
      <p:sp>
        <p:nvSpPr>
          <p:cNvPr id="282629" name="Rectangle 4"/>
          <p:cNvSpPr>
            <a:spLocks noChangeArrowheads="1"/>
          </p:cNvSpPr>
          <p:nvPr/>
        </p:nvSpPr>
        <p:spPr bwMode="auto">
          <a:xfrm>
            <a:off x="6311900" y="2719388"/>
            <a:ext cx="2260600" cy="2725836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>
                <a:solidFill>
                  <a:srgbClr val="000000"/>
                </a:solidFill>
                <a:ea typeface="新細明體" panose="02020500000000000000" pitchFamily="18" charset="-120"/>
              </a:rPr>
              <a:t>…..</a:t>
            </a:r>
          </a:p>
        </p:txBody>
      </p:sp>
      <p:sp>
        <p:nvSpPr>
          <p:cNvPr id="282630" name="Rectangle 6"/>
          <p:cNvSpPr>
            <a:spLocks noChangeArrowheads="1"/>
          </p:cNvSpPr>
          <p:nvPr/>
        </p:nvSpPr>
        <p:spPr bwMode="auto">
          <a:xfrm>
            <a:off x="2566989" y="2189163"/>
            <a:ext cx="1870075" cy="1274762"/>
          </a:xfrm>
          <a:prstGeom prst="rect">
            <a:avLst/>
          </a:prstGeom>
          <a:solidFill>
            <a:srgbClr val="5B9BD5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400" b="1" dirty="0">
                <a:solidFill>
                  <a:srgbClr val="FF3300"/>
                </a:solidFill>
                <a:ea typeface="新細明體" panose="02020500000000000000" pitchFamily="18" charset="-120"/>
              </a:rPr>
              <a:t>CPU</a:t>
            </a:r>
          </a:p>
          <a:p>
            <a:pPr algn="ctr" eaLnBrk="0" hangingPunct="0">
              <a:spcBef>
                <a:spcPct val="0"/>
              </a:spcBef>
              <a:buNone/>
              <a:defRPr/>
            </a:pPr>
            <a:endParaRPr kumimoji="0" lang="en-US" altLang="zh-TW" sz="2400" b="1" dirty="0">
              <a:solidFill>
                <a:srgbClr val="FF3300"/>
              </a:solidFill>
              <a:ea typeface="新細明體" panose="02020500000000000000" pitchFamily="18" charset="-120"/>
            </a:endParaRPr>
          </a:p>
          <a:p>
            <a:pPr algn="ctr" eaLnBrk="0" hangingPunct="0">
              <a:spcBef>
                <a:spcPct val="0"/>
              </a:spcBef>
              <a:buNone/>
              <a:defRPr/>
            </a:pPr>
            <a:endParaRPr kumimoji="0" lang="en-US" altLang="zh-TW" sz="2400" b="1" dirty="0">
              <a:solidFill>
                <a:srgbClr val="FF3300"/>
              </a:solidFill>
              <a:ea typeface="新細明體" panose="02020500000000000000" pitchFamily="18" charset="-120"/>
            </a:endParaRPr>
          </a:p>
        </p:txBody>
      </p:sp>
      <p:cxnSp>
        <p:nvCxnSpPr>
          <p:cNvPr id="9" name="直線單箭頭接點 8"/>
          <p:cNvCxnSpPr>
            <a:endCxn id="282630" idx="3"/>
          </p:cNvCxnSpPr>
          <p:nvPr/>
        </p:nvCxnSpPr>
        <p:spPr>
          <a:xfrm flipH="1">
            <a:off x="4437064" y="1988840"/>
            <a:ext cx="1772963" cy="837704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>
            <a:stCxn id="11" idx="1"/>
            <a:endCxn id="282630" idx="3"/>
          </p:cNvCxnSpPr>
          <p:nvPr/>
        </p:nvCxnSpPr>
        <p:spPr>
          <a:xfrm flipH="1" flipV="1">
            <a:off x="4437064" y="2826544"/>
            <a:ext cx="1874836" cy="615388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311900" y="2734784"/>
            <a:ext cx="2260600" cy="1414295"/>
          </a:xfrm>
          <a:prstGeom prst="rect">
            <a:avLst/>
          </a:prstGeom>
          <a:solidFill>
            <a:srgbClr val="66FF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dirty="0">
                <a:solidFill>
                  <a:srgbClr val="000000"/>
                </a:solidFill>
                <a:ea typeface="新細明體" panose="02020500000000000000" pitchFamily="18" charset="-120"/>
              </a:rPr>
              <a:t>…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add </a:t>
            </a: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eax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, 0x30; 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add </a:t>
            </a: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ebx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, </a:t>
            </a: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eax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;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dirty="0">
                <a:solidFill>
                  <a:srgbClr val="000000"/>
                </a:solidFill>
                <a:ea typeface="新細明體" panose="02020500000000000000" pitchFamily="18" charset="-120"/>
              </a:rPr>
              <a:t>…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807494" y="2620745"/>
          <a:ext cx="1389062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531">
                  <a:extLst>
                    <a:ext uri="{9D8B030D-6E8A-4147-A177-3AD203B41FA5}">
                      <a16:colId xmlns:a16="http://schemas.microsoft.com/office/drawing/2014/main" val="3511868256"/>
                    </a:ext>
                  </a:extLst>
                </a:gridCol>
                <a:gridCol w="694531">
                  <a:extLst>
                    <a:ext uri="{9D8B030D-6E8A-4147-A177-3AD203B41FA5}">
                      <a16:colId xmlns:a16="http://schemas.microsoft.com/office/drawing/2014/main" val="3895863104"/>
                    </a:ext>
                  </a:extLst>
                </a:gridCol>
              </a:tblGrid>
              <a:tr h="214333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eax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68373"/>
                  </a:ext>
                </a:extLst>
              </a:tr>
              <a:tr h="214333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ebx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5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58934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2812007" y="2620744"/>
          <a:ext cx="1389062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531">
                  <a:extLst>
                    <a:ext uri="{9D8B030D-6E8A-4147-A177-3AD203B41FA5}">
                      <a16:colId xmlns:a16="http://schemas.microsoft.com/office/drawing/2014/main" val="3511868256"/>
                    </a:ext>
                  </a:extLst>
                </a:gridCol>
                <a:gridCol w="694531">
                  <a:extLst>
                    <a:ext uri="{9D8B030D-6E8A-4147-A177-3AD203B41FA5}">
                      <a16:colId xmlns:a16="http://schemas.microsoft.com/office/drawing/2014/main" val="3895863104"/>
                    </a:ext>
                  </a:extLst>
                </a:gridCol>
              </a:tblGrid>
              <a:tr h="214333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eax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59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68373"/>
                  </a:ext>
                </a:extLst>
              </a:tr>
              <a:tr h="214333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ebx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25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58934"/>
                  </a:ext>
                </a:extLst>
              </a:tr>
            </a:tbl>
          </a:graphicData>
        </a:graphic>
      </p:graphicFrame>
      <p:cxnSp>
        <p:nvCxnSpPr>
          <p:cNvPr id="18" name="直線單箭頭接點 17"/>
          <p:cNvCxnSpPr/>
          <p:nvPr/>
        </p:nvCxnSpPr>
        <p:spPr>
          <a:xfrm flipH="1">
            <a:off x="4475712" y="2336205"/>
            <a:ext cx="1772963" cy="837704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弧形箭號 (左彎) 7"/>
          <p:cNvSpPr/>
          <p:nvPr/>
        </p:nvSpPr>
        <p:spPr>
          <a:xfrm flipV="1">
            <a:off x="8673479" y="1916832"/>
            <a:ext cx="731520" cy="1728192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3" name="乘號 2"/>
          <p:cNvSpPr/>
          <p:nvPr/>
        </p:nvSpPr>
        <p:spPr>
          <a:xfrm>
            <a:off x="3474635" y="2549525"/>
            <a:ext cx="914400" cy="91440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弧形箭號 (左彎) 18"/>
          <p:cNvSpPr/>
          <p:nvPr/>
        </p:nvSpPr>
        <p:spPr>
          <a:xfrm>
            <a:off x="8687898" y="1972174"/>
            <a:ext cx="731520" cy="1830189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cxnSp>
        <p:nvCxnSpPr>
          <p:cNvPr id="22" name="直線單箭頭接點 21"/>
          <p:cNvCxnSpPr/>
          <p:nvPr/>
        </p:nvCxnSpPr>
        <p:spPr>
          <a:xfrm flipH="1" flipV="1">
            <a:off x="4422645" y="3040128"/>
            <a:ext cx="1865243" cy="612165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64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90395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mph" presetSubtype="0" autoRev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8" grpId="0" animBg="1"/>
      <p:bldP spid="3" grpId="0" animBg="1"/>
      <p:bldP spid="19" grpId="0" animBg="1"/>
      <p:bldP spid="19" grpId="1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怎麼辦呢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1742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3458814"/>
          </a:xfrm>
        </p:spPr>
        <p:txBody>
          <a:bodyPr/>
          <a:lstStyle/>
          <a:p>
            <a:r>
              <a:rPr lang="zh-TW" altLang="en-US" sz="4000" dirty="0">
                <a:solidFill>
                  <a:schemeClr val="tx1"/>
                </a:solidFill>
              </a:rPr>
              <a:t>所以，切換</a:t>
            </a:r>
            <a:r>
              <a:rPr lang="en-US" altLang="zh-TW" sz="4000" dirty="0" smtClean="0">
                <a:solidFill>
                  <a:schemeClr val="tx1"/>
                </a:solidFill>
              </a:rPr>
              <a:t>Process</a:t>
            </a:r>
            <a:r>
              <a:rPr lang="zh-TW" altLang="en-US" sz="4000" dirty="0" smtClean="0">
                <a:solidFill>
                  <a:schemeClr val="tx1"/>
                </a:solidFill>
              </a:rPr>
              <a:t>時 </a:t>
            </a:r>
            <a:r>
              <a:rPr lang="en-US" altLang="zh-TW" sz="4000" dirty="0">
                <a:solidFill>
                  <a:schemeClr val="tx1"/>
                </a:solidFill>
              </a:rPr>
              <a:t>(Context Switch)</a:t>
            </a:r>
            <a:r>
              <a:rPr lang="zh-TW" altLang="en-US" sz="4000" dirty="0">
                <a:solidFill>
                  <a:schemeClr val="tx1"/>
                </a:solidFill>
              </a:rPr>
              <a:t>，必須要儲存當下</a:t>
            </a:r>
            <a:r>
              <a:rPr lang="en-US" altLang="zh-TW" sz="4000" dirty="0">
                <a:solidFill>
                  <a:schemeClr val="tx1"/>
                </a:solidFill>
              </a:rPr>
              <a:t>Process</a:t>
            </a:r>
            <a:r>
              <a:rPr lang="zh-TW" altLang="en-US" sz="4000" dirty="0">
                <a:solidFill>
                  <a:schemeClr val="tx1"/>
                </a:solidFill>
              </a:rPr>
              <a:t>的</a:t>
            </a:r>
            <a:r>
              <a:rPr lang="en-US" altLang="zh-TW" sz="4000" dirty="0">
                <a:solidFill>
                  <a:schemeClr val="tx1"/>
                </a:solidFill>
              </a:rPr>
              <a:t>state</a:t>
            </a:r>
            <a:r>
              <a:rPr lang="zh-TW" altLang="en-US" sz="4000" dirty="0">
                <a:solidFill>
                  <a:schemeClr val="tx1"/>
                </a:solidFill>
              </a:rPr>
              <a:t>，然後復原接下來要執行的</a:t>
            </a:r>
            <a:r>
              <a:rPr lang="en-US" altLang="zh-TW" sz="4000" dirty="0">
                <a:solidFill>
                  <a:schemeClr val="tx1"/>
                </a:solidFill>
              </a:rPr>
              <a:t>Process</a:t>
            </a:r>
            <a:r>
              <a:rPr lang="zh-TW" altLang="en-US" sz="4000" dirty="0">
                <a:solidFill>
                  <a:schemeClr val="tx1"/>
                </a:solidFill>
              </a:rPr>
              <a:t>的</a:t>
            </a:r>
            <a:r>
              <a:rPr lang="en-US" altLang="zh-TW" sz="4000" dirty="0">
                <a:solidFill>
                  <a:schemeClr val="tx1"/>
                </a:solidFill>
              </a:rPr>
              <a:t>state!</a:t>
            </a:r>
            <a:br>
              <a:rPr lang="en-US" altLang="zh-TW" sz="4000" dirty="0">
                <a:solidFill>
                  <a:schemeClr val="tx1"/>
                </a:solidFill>
              </a:rPr>
            </a:br>
            <a:r>
              <a:rPr lang="en-US" altLang="zh-TW" sz="4000" dirty="0">
                <a:solidFill>
                  <a:schemeClr val="tx1"/>
                </a:solidFill>
              </a:rPr>
              <a:t/>
            </a:r>
            <a:br>
              <a:rPr lang="en-US" altLang="zh-TW" sz="4000" dirty="0">
                <a:solidFill>
                  <a:schemeClr val="tx1"/>
                </a:solidFill>
              </a:rPr>
            </a:br>
            <a:endParaRPr lang="zh-TW" altLang="en-US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1049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</a:rPr>
              <a:t>Q: </a:t>
            </a:r>
            <a:r>
              <a:rPr lang="zh-TW" altLang="en-US" dirty="0">
                <a:solidFill>
                  <a:schemeClr val="tx1"/>
                </a:solidFill>
              </a:rPr>
              <a:t>儲存的</a:t>
            </a:r>
            <a:r>
              <a:rPr lang="en-US" altLang="zh-TW" dirty="0">
                <a:solidFill>
                  <a:schemeClr val="tx1"/>
                </a:solidFill>
              </a:rPr>
              <a:t>state</a:t>
            </a:r>
            <a:r>
              <a:rPr lang="zh-TW" altLang="en-US" dirty="0">
                <a:solidFill>
                  <a:schemeClr val="tx1"/>
                </a:solidFill>
              </a:rPr>
              <a:t>要放在哪裡呢</a:t>
            </a:r>
            <a:r>
              <a:rPr lang="en-US" altLang="zh-TW" dirty="0" smtClean="0">
                <a:solidFill>
                  <a:schemeClr val="tx1"/>
                </a:solidFill>
              </a:rPr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err="1" smtClean="0"/>
              <a:t>Ans</a:t>
            </a:r>
            <a:r>
              <a:rPr lang="en-US" altLang="zh-TW" dirty="0" smtClean="0"/>
              <a:t>: </a:t>
            </a:r>
            <a:r>
              <a:rPr lang="zh-TW" altLang="en-US" dirty="0" smtClean="0"/>
              <a:t>儲存</a:t>
            </a:r>
            <a:r>
              <a:rPr lang="zh-TW" altLang="en-US" dirty="0"/>
              <a:t>的</a:t>
            </a:r>
            <a:r>
              <a:rPr lang="en-US" altLang="zh-TW" dirty="0"/>
              <a:t>state</a:t>
            </a:r>
            <a:r>
              <a:rPr lang="zh-TW" altLang="en-US" dirty="0"/>
              <a:t>記錄會在</a:t>
            </a:r>
            <a:r>
              <a:rPr lang="en-US" altLang="zh-TW" dirty="0"/>
              <a:t>PCB</a:t>
            </a:r>
            <a:r>
              <a:rPr lang="zh-TW" altLang="en-US" dirty="0"/>
              <a:t>當中</a:t>
            </a:r>
          </a:p>
        </p:txBody>
      </p:sp>
    </p:spTree>
    <p:extLst>
      <p:ext uri="{BB962C8B-B14F-4D97-AF65-F5344CB8AC3E}">
        <p14:creationId xmlns:p14="http://schemas.microsoft.com/office/powerpoint/2010/main" val="2076108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zh-TW" dirty="0">
                <a:effectLst/>
              </a:rPr>
              <a:t>Context Switch</a:t>
            </a:r>
            <a:endParaRPr lang="zh-TW" altLang="en-US" dirty="0">
              <a:effectLst/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4872038" y="5248275"/>
            <a:ext cx="2303462" cy="15113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400" b="1">
                <a:latin typeface="Calibri" panose="020F0502020204030204" pitchFamily="34" charset="0"/>
              </a:rPr>
              <a:t>CPU</a:t>
            </a:r>
          </a:p>
          <a:p>
            <a:pPr algn="ctr"/>
            <a:r>
              <a:rPr lang="en-US" altLang="zh-TW" sz="2000">
                <a:solidFill>
                  <a:srgbClr val="FF0000"/>
                </a:solidFill>
                <a:latin typeface="Calibri" panose="020F0502020204030204" pitchFamily="34" charset="0"/>
              </a:rPr>
              <a:t>eax=10, ebx=5,</a:t>
            </a:r>
          </a:p>
          <a:p>
            <a:pPr algn="ctr"/>
            <a:r>
              <a:rPr lang="en-US" altLang="zh-TW" sz="2000">
                <a:solidFill>
                  <a:srgbClr val="FF0000"/>
                </a:solidFill>
                <a:latin typeface="Calibri" panose="020F0502020204030204" pitchFamily="34" charset="0"/>
              </a:rPr>
              <a:t>ecx=9, edx =11</a:t>
            </a:r>
          </a:p>
          <a:p>
            <a:pPr algn="ctr"/>
            <a:r>
              <a:rPr lang="en-US" altLang="zh-TW" sz="2000">
                <a:solidFill>
                  <a:srgbClr val="FF0000"/>
                </a:solidFill>
                <a:latin typeface="Calibri" panose="020F0502020204030204" pitchFamily="34" charset="0"/>
              </a:rPr>
              <a:t>pc= 0x1000…</a:t>
            </a:r>
            <a:endParaRPr lang="en-US" altLang="zh-TW" sz="2000" b="1">
              <a:latin typeface="Calibri" panose="020F0502020204030204" pitchFamily="34" charset="0"/>
            </a:endParaRPr>
          </a:p>
        </p:txBody>
      </p:sp>
      <p:grpSp>
        <p:nvGrpSpPr>
          <p:cNvPr id="2" name="群組 47"/>
          <p:cNvGrpSpPr>
            <a:grpSpLocks/>
          </p:cNvGrpSpPr>
          <p:nvPr/>
        </p:nvGrpSpPr>
        <p:grpSpPr bwMode="auto">
          <a:xfrm>
            <a:off x="5087938" y="1341438"/>
            <a:ext cx="1655762" cy="1727200"/>
            <a:chOff x="1547664" y="1340768"/>
            <a:chExt cx="1656184" cy="1728192"/>
          </a:xfrm>
        </p:grpSpPr>
        <p:sp>
          <p:nvSpPr>
            <p:cNvPr id="19" name="矩形 18"/>
            <p:cNvSpPr/>
            <p:nvPr/>
          </p:nvSpPr>
          <p:spPr>
            <a:xfrm>
              <a:off x="1547664" y="1340768"/>
              <a:ext cx="1656184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1600" b="1" dirty="0">
                  <a:solidFill>
                    <a:srgbClr val="FF0000"/>
                  </a:solidFill>
                  <a:latin typeface="Calibri" panose="020F0502020204030204" pitchFamily="34" charset="0"/>
                </a:rPr>
                <a:t>PC=0x1000</a:t>
              </a:r>
              <a:endParaRPr lang="zh-TW" altLang="en-US" sz="1600" b="1" dirty="0">
                <a:solidFill>
                  <a:srgbClr val="FF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1547664" y="1772816"/>
              <a:ext cx="1656184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1600" b="1" dirty="0" err="1">
                  <a:solidFill>
                    <a:srgbClr val="FF0000"/>
                  </a:solidFill>
                  <a:latin typeface="Calibri" panose="020F0502020204030204" pitchFamily="34" charset="0"/>
                </a:rPr>
                <a:t>eax</a:t>
              </a:r>
              <a:r>
                <a:rPr lang="en-US" altLang="zh-TW" sz="1600" b="1" dirty="0">
                  <a:solidFill>
                    <a:srgbClr val="FF0000"/>
                  </a:solidFill>
                  <a:latin typeface="Calibri" panose="020F0502020204030204" pitchFamily="34" charset="0"/>
                </a:rPr>
                <a:t>=10, </a:t>
              </a:r>
              <a:r>
                <a:rPr lang="en-US" altLang="zh-TW" sz="1600" b="1" dirty="0" err="1">
                  <a:solidFill>
                    <a:srgbClr val="FF0000"/>
                  </a:solidFill>
                  <a:latin typeface="Calibri" panose="020F0502020204030204" pitchFamily="34" charset="0"/>
                </a:rPr>
                <a:t>ebx</a:t>
              </a:r>
              <a:r>
                <a:rPr lang="en-US" altLang="zh-TW" sz="1600" b="1" dirty="0">
                  <a:solidFill>
                    <a:srgbClr val="FF0000"/>
                  </a:solidFill>
                  <a:latin typeface="Calibri" panose="020F0502020204030204" pitchFamily="34" charset="0"/>
                </a:rPr>
                <a:t>=5</a:t>
              </a:r>
              <a:endParaRPr lang="zh-TW" altLang="en-US" sz="1600" b="1" dirty="0">
                <a:solidFill>
                  <a:srgbClr val="FF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1547664" y="2204864"/>
              <a:ext cx="1656184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1600" b="1" dirty="0" err="1">
                  <a:solidFill>
                    <a:srgbClr val="FF0000"/>
                  </a:solidFill>
                  <a:latin typeface="Calibri" panose="020F0502020204030204" pitchFamily="34" charset="0"/>
                </a:rPr>
                <a:t>ecx</a:t>
              </a:r>
              <a:r>
                <a:rPr lang="en-US" altLang="zh-TW" sz="1600" b="1" dirty="0">
                  <a:solidFill>
                    <a:srgbClr val="FF0000"/>
                  </a:solidFill>
                  <a:latin typeface="Calibri" panose="020F0502020204030204" pitchFamily="34" charset="0"/>
                </a:rPr>
                <a:t> =9, </a:t>
              </a:r>
              <a:r>
                <a:rPr lang="en-US" altLang="zh-TW" sz="1600" b="1" dirty="0" err="1">
                  <a:solidFill>
                    <a:srgbClr val="FF0000"/>
                  </a:solidFill>
                  <a:latin typeface="Calibri" panose="020F0502020204030204" pitchFamily="34" charset="0"/>
                </a:rPr>
                <a:t>edx</a:t>
              </a:r>
              <a:r>
                <a:rPr lang="en-US" altLang="zh-TW" sz="1600" b="1" dirty="0">
                  <a:solidFill>
                    <a:srgbClr val="FF0000"/>
                  </a:solidFill>
                  <a:latin typeface="Calibri" panose="020F0502020204030204" pitchFamily="34" charset="0"/>
                </a:rPr>
                <a:t> = 11</a:t>
              </a:r>
              <a:endParaRPr lang="zh-TW" altLang="en-US" sz="1600" b="1" dirty="0">
                <a:solidFill>
                  <a:srgbClr val="FF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1547664" y="2636912"/>
              <a:ext cx="1656184" cy="4320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1600" b="1" dirty="0">
                  <a:solidFill>
                    <a:srgbClr val="FF0000"/>
                  </a:solidFill>
                  <a:latin typeface="Calibri" panose="020F0502020204030204" pitchFamily="34" charset="0"/>
                </a:rPr>
                <a:t>etc.</a:t>
              </a:r>
              <a:endParaRPr lang="zh-TW" altLang="en-US" sz="1600" b="1" dirty="0">
                <a:solidFill>
                  <a:srgbClr val="FF0000"/>
                </a:solidFill>
                <a:latin typeface="Calibri" panose="020F0502020204030204" pitchFamily="34" charset="0"/>
              </a:endParaRPr>
            </a:p>
          </p:txBody>
        </p:sp>
      </p:grpSp>
      <p:cxnSp>
        <p:nvCxnSpPr>
          <p:cNvPr id="27" name="直線單箭頭接點 26"/>
          <p:cNvCxnSpPr/>
          <p:nvPr/>
        </p:nvCxnSpPr>
        <p:spPr>
          <a:xfrm rot="5400000" flipH="1" flipV="1">
            <a:off x="4619626" y="4113214"/>
            <a:ext cx="2087563" cy="1587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395" name="Rectangle 19"/>
          <p:cNvSpPr>
            <a:spLocks noChangeArrowheads="1"/>
          </p:cNvSpPr>
          <p:nvPr/>
        </p:nvSpPr>
        <p:spPr bwMode="auto">
          <a:xfrm>
            <a:off x="4295776" y="3860801"/>
            <a:ext cx="1223963" cy="720725"/>
          </a:xfrm>
          <a:prstGeom prst="rect">
            <a:avLst/>
          </a:prstGeom>
          <a:noFill/>
          <a:ln w="12700">
            <a:solidFill>
              <a:srgbClr val="FF3300"/>
            </a:solidFill>
            <a:miter lim="800000"/>
            <a:headEnd/>
            <a:tailEnd/>
          </a:ln>
          <a:effectLst>
            <a:prstShdw prst="shdw17" dist="17961" dir="2700000">
              <a:srgbClr val="991F00"/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altLang="zh-TW" sz="2400" b="1" dirty="0">
                <a:latin typeface="Calibri" panose="020F0502020204030204" pitchFamily="34" charset="0"/>
                <a:ea typeface="新細明體" pitchFamily="18" charset="-120"/>
              </a:rPr>
              <a:t>context </a:t>
            </a:r>
          </a:p>
          <a:p>
            <a:pPr algn="ctr">
              <a:defRPr/>
            </a:pPr>
            <a:r>
              <a:rPr lang="en-US" altLang="zh-TW" sz="2400" b="1" dirty="0">
                <a:latin typeface="Calibri" panose="020F0502020204030204" pitchFamily="34" charset="0"/>
                <a:ea typeface="新細明體" pitchFamily="18" charset="-120"/>
              </a:rPr>
              <a:t>switch</a:t>
            </a:r>
            <a:endParaRPr lang="zh-TW" altLang="en-US" sz="2400" b="1" dirty="0">
              <a:latin typeface="Calibri" panose="020F0502020204030204" pitchFamily="34" charset="0"/>
              <a:ea typeface="新細明體" pitchFamily="18" charset="-120"/>
            </a:endParaRPr>
          </a:p>
        </p:txBody>
      </p:sp>
      <p:grpSp>
        <p:nvGrpSpPr>
          <p:cNvPr id="3" name="群組 68"/>
          <p:cNvGrpSpPr>
            <a:grpSpLocks/>
          </p:cNvGrpSpPr>
          <p:nvPr/>
        </p:nvGrpSpPr>
        <p:grpSpPr bwMode="auto">
          <a:xfrm>
            <a:off x="2424113" y="4221163"/>
            <a:ext cx="1871662" cy="512762"/>
            <a:chOff x="899592" y="4221088"/>
            <a:chExt cx="1872208" cy="513348"/>
          </a:xfrm>
        </p:grpSpPr>
        <p:sp>
          <p:nvSpPr>
            <p:cNvPr id="11282" name="Text Box 4"/>
            <p:cNvSpPr txBox="1">
              <a:spLocks noChangeArrowheads="1"/>
            </p:cNvSpPr>
            <p:nvPr/>
          </p:nvSpPr>
          <p:spPr bwMode="auto">
            <a:xfrm>
              <a:off x="1115616" y="4365104"/>
              <a:ext cx="122565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800" b="1">
                  <a:latin typeface="Calibri" panose="020F0502020204030204" pitchFamily="34" charset="0"/>
                </a:rPr>
                <a:t>process P1</a:t>
              </a:r>
            </a:p>
          </p:txBody>
        </p:sp>
        <p:cxnSp>
          <p:nvCxnSpPr>
            <p:cNvPr id="34" name="直線單箭頭接點 33"/>
            <p:cNvCxnSpPr/>
            <p:nvPr/>
          </p:nvCxnSpPr>
          <p:spPr>
            <a:xfrm flipV="1">
              <a:off x="899592" y="4221088"/>
              <a:ext cx="1872208" cy="0"/>
            </a:xfrm>
            <a:prstGeom prst="straightConnector1">
              <a:avLst/>
            </a:prstGeom>
            <a:ln w="762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群組 67"/>
          <p:cNvGrpSpPr>
            <a:grpSpLocks/>
          </p:cNvGrpSpPr>
          <p:nvPr/>
        </p:nvGrpSpPr>
        <p:grpSpPr bwMode="auto">
          <a:xfrm>
            <a:off x="8183563" y="4221163"/>
            <a:ext cx="1801812" cy="512762"/>
            <a:chOff x="6660232" y="4221088"/>
            <a:chExt cx="1800895" cy="513348"/>
          </a:xfrm>
        </p:grpSpPr>
        <p:sp>
          <p:nvSpPr>
            <p:cNvPr id="11280" name="Text Box 4"/>
            <p:cNvSpPr txBox="1">
              <a:spLocks noChangeArrowheads="1"/>
            </p:cNvSpPr>
            <p:nvPr/>
          </p:nvSpPr>
          <p:spPr bwMode="auto">
            <a:xfrm>
              <a:off x="6660232" y="4365104"/>
              <a:ext cx="122565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800" b="1">
                  <a:latin typeface="Calibri" panose="020F0502020204030204" pitchFamily="34" charset="0"/>
                </a:rPr>
                <a:t>process P1</a:t>
              </a:r>
            </a:p>
          </p:txBody>
        </p:sp>
        <p:cxnSp>
          <p:nvCxnSpPr>
            <p:cNvPr id="38" name="直線單箭頭接點 37"/>
            <p:cNvCxnSpPr/>
            <p:nvPr/>
          </p:nvCxnSpPr>
          <p:spPr>
            <a:xfrm>
              <a:off x="6660232" y="4221088"/>
              <a:ext cx="1800895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文字方塊 42"/>
          <p:cNvSpPr txBox="1">
            <a:spLocks noChangeArrowheads="1"/>
          </p:cNvSpPr>
          <p:nvPr/>
        </p:nvSpPr>
        <p:spPr bwMode="auto">
          <a:xfrm>
            <a:off x="5591176" y="3789364"/>
            <a:ext cx="841897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b="1">
                <a:latin typeface="Calibri" panose="020F0502020204030204" pitchFamily="34" charset="0"/>
              </a:rPr>
              <a:t>……</a:t>
            </a:r>
            <a:endParaRPr lang="zh-TW" altLang="en-US" b="1">
              <a:latin typeface="Calibri" panose="020F0502020204030204" pitchFamily="34" charset="0"/>
            </a:endParaRPr>
          </a:p>
        </p:txBody>
      </p:sp>
      <p:sp>
        <p:nvSpPr>
          <p:cNvPr id="46" name="Rectangle 19"/>
          <p:cNvSpPr>
            <a:spLocks noChangeArrowheads="1"/>
          </p:cNvSpPr>
          <p:nvPr/>
        </p:nvSpPr>
        <p:spPr bwMode="auto">
          <a:xfrm>
            <a:off x="6959601" y="3860801"/>
            <a:ext cx="1223963" cy="720725"/>
          </a:xfrm>
          <a:prstGeom prst="rect">
            <a:avLst/>
          </a:prstGeom>
          <a:noFill/>
          <a:ln w="12700">
            <a:solidFill>
              <a:srgbClr val="FF3300"/>
            </a:solidFill>
            <a:miter lim="800000"/>
            <a:headEnd/>
            <a:tailEnd/>
          </a:ln>
          <a:effectLst>
            <a:prstShdw prst="shdw17" dist="17961" dir="2700000">
              <a:srgbClr val="991F00"/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altLang="zh-TW" sz="2400" b="1" dirty="0">
                <a:latin typeface="Calibri" panose="020F0502020204030204" pitchFamily="34" charset="0"/>
                <a:ea typeface="新細明體" pitchFamily="18" charset="-120"/>
              </a:rPr>
              <a:t>context </a:t>
            </a:r>
          </a:p>
          <a:p>
            <a:pPr algn="ctr">
              <a:defRPr/>
            </a:pPr>
            <a:r>
              <a:rPr lang="en-US" altLang="zh-TW" sz="2400" b="1" dirty="0">
                <a:latin typeface="Calibri" panose="020F0502020204030204" pitchFamily="34" charset="0"/>
                <a:ea typeface="新細明體" pitchFamily="18" charset="-120"/>
              </a:rPr>
              <a:t>switch</a:t>
            </a:r>
            <a:endParaRPr lang="zh-TW" altLang="en-US" sz="2400" b="1" dirty="0">
              <a:latin typeface="Calibri" panose="020F0502020204030204" pitchFamily="34" charset="0"/>
              <a:ea typeface="新細明體" pitchFamily="18" charset="-120"/>
            </a:endParaRPr>
          </a:p>
        </p:txBody>
      </p:sp>
      <p:cxnSp>
        <p:nvCxnSpPr>
          <p:cNvPr id="54" name="直線單箭頭接點 53"/>
          <p:cNvCxnSpPr/>
          <p:nvPr/>
        </p:nvCxnSpPr>
        <p:spPr>
          <a:xfrm rot="5400000" flipH="1" flipV="1">
            <a:off x="5303839" y="4148139"/>
            <a:ext cx="2160587" cy="1587"/>
          </a:xfrm>
          <a:prstGeom prst="straightConnector1">
            <a:avLst/>
          </a:prstGeom>
          <a:ln w="5080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/>
          <p:cNvSpPr txBox="1">
            <a:spLocks noChangeArrowheads="1"/>
          </p:cNvSpPr>
          <p:nvPr/>
        </p:nvSpPr>
        <p:spPr bwMode="auto">
          <a:xfrm>
            <a:off x="4872038" y="3213100"/>
            <a:ext cx="65954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>
                <a:latin typeface="Calibri" panose="020F0502020204030204" pitchFamily="34" charset="0"/>
                <a:cs typeface="Arial" charset="0"/>
              </a:rPr>
              <a:t>save</a:t>
            </a:r>
            <a:endParaRPr lang="zh-TW" altLang="en-US" sz="2000" b="1">
              <a:latin typeface="Calibri" panose="020F0502020204030204" pitchFamily="34" charset="0"/>
              <a:cs typeface="Arial" charset="0"/>
            </a:endParaRPr>
          </a:p>
        </p:txBody>
      </p:sp>
      <p:sp>
        <p:nvSpPr>
          <p:cNvPr id="58" name="文字方塊 57"/>
          <p:cNvSpPr txBox="1">
            <a:spLocks noChangeArrowheads="1"/>
          </p:cNvSpPr>
          <p:nvPr/>
        </p:nvSpPr>
        <p:spPr bwMode="auto">
          <a:xfrm>
            <a:off x="6456363" y="4652963"/>
            <a:ext cx="94455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>
                <a:latin typeface="Calibri" panose="020F0502020204030204" pitchFamily="34" charset="0"/>
                <a:cs typeface="Arial" charset="0"/>
              </a:rPr>
              <a:t>restore</a:t>
            </a:r>
            <a:endParaRPr lang="zh-TW" altLang="en-US" sz="2000" b="1">
              <a:latin typeface="Calibri" panose="020F0502020204030204" pitchFamily="34" charset="0"/>
              <a:cs typeface="Arial" charset="0"/>
            </a:endParaRPr>
          </a:p>
        </p:txBody>
      </p:sp>
      <p:sp>
        <p:nvSpPr>
          <p:cNvPr id="60" name="Rectangle 4"/>
          <p:cNvSpPr>
            <a:spLocks noChangeArrowheads="1"/>
          </p:cNvSpPr>
          <p:nvPr/>
        </p:nvSpPr>
        <p:spPr bwMode="auto">
          <a:xfrm>
            <a:off x="4872038" y="5229225"/>
            <a:ext cx="2303462" cy="15128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2400" b="1">
                <a:latin typeface="Calibri" panose="020F0502020204030204" pitchFamily="34" charset="0"/>
              </a:rPr>
              <a:t>CPU</a:t>
            </a:r>
          </a:p>
          <a:p>
            <a:pPr algn="ctr"/>
            <a:r>
              <a:rPr lang="en-US" altLang="zh-TW" sz="2000">
                <a:solidFill>
                  <a:srgbClr val="FF0000"/>
                </a:solidFill>
                <a:latin typeface="Calibri" panose="020F0502020204030204" pitchFamily="34" charset="0"/>
              </a:rPr>
              <a:t>eax=6, ebx=9,</a:t>
            </a:r>
          </a:p>
          <a:p>
            <a:pPr algn="ctr"/>
            <a:r>
              <a:rPr lang="en-US" altLang="zh-TW" sz="2000">
                <a:solidFill>
                  <a:srgbClr val="FF0000"/>
                </a:solidFill>
                <a:latin typeface="Calibri" panose="020F0502020204030204" pitchFamily="34" charset="0"/>
              </a:rPr>
              <a:t>ecx=3, edx =32</a:t>
            </a:r>
          </a:p>
          <a:p>
            <a:pPr algn="ctr"/>
            <a:r>
              <a:rPr lang="en-US" altLang="zh-TW" sz="2000">
                <a:solidFill>
                  <a:srgbClr val="FF0000"/>
                </a:solidFill>
                <a:latin typeface="Calibri" panose="020F0502020204030204" pitchFamily="34" charset="0"/>
              </a:rPr>
              <a:t>pc= 0x58000…</a:t>
            </a:r>
            <a:endParaRPr lang="en-US" altLang="zh-TW" sz="2000" b="1">
              <a:latin typeface="Calibri" panose="020F0502020204030204" pitchFamily="34" charset="0"/>
            </a:endParaRPr>
          </a:p>
        </p:txBody>
      </p:sp>
      <p:sp>
        <p:nvSpPr>
          <p:cNvPr id="67" name="Rectangle 4"/>
          <p:cNvSpPr>
            <a:spLocks noChangeArrowheads="1"/>
          </p:cNvSpPr>
          <p:nvPr/>
        </p:nvSpPr>
        <p:spPr bwMode="auto">
          <a:xfrm>
            <a:off x="4872038" y="5229225"/>
            <a:ext cx="2303462" cy="1512888"/>
          </a:xfrm>
          <a:prstGeom prst="rect">
            <a:avLst/>
          </a:prstGeom>
          <a:solidFill>
            <a:srgbClr val="BBE0E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400" b="1" kern="0" dirty="0">
                <a:solidFill>
                  <a:sysClr val="windowText" lastClr="000000"/>
                </a:solidFill>
                <a:latin typeface="Calibri" panose="020F0502020204030204" pitchFamily="34" charset="0"/>
                <a:ea typeface="新細明體" pitchFamily="18" charset="-120"/>
              </a:rPr>
              <a:t>CPU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err="1">
                <a:solidFill>
                  <a:srgbClr val="FF0000"/>
                </a:solidFill>
                <a:latin typeface="Calibri" panose="020F0502020204030204" pitchFamily="34" charset="0"/>
                <a:ea typeface="新細明體" pitchFamily="18" charset="-120"/>
              </a:rPr>
              <a:t>eax</a:t>
            </a:r>
            <a:r>
              <a:rPr kumimoji="0" lang="en-US" altLang="zh-TW" sz="2000" kern="0" dirty="0">
                <a:solidFill>
                  <a:srgbClr val="FF0000"/>
                </a:solidFill>
                <a:latin typeface="Calibri" panose="020F0502020204030204" pitchFamily="34" charset="0"/>
                <a:ea typeface="新細明體" pitchFamily="18" charset="-120"/>
              </a:rPr>
              <a:t>=10, </a:t>
            </a:r>
            <a:r>
              <a:rPr kumimoji="0" lang="en-US" altLang="zh-TW" sz="2000" kern="0" dirty="0" err="1">
                <a:solidFill>
                  <a:srgbClr val="FF0000"/>
                </a:solidFill>
                <a:latin typeface="Calibri" panose="020F0502020204030204" pitchFamily="34" charset="0"/>
                <a:ea typeface="新細明體" pitchFamily="18" charset="-120"/>
              </a:rPr>
              <a:t>ebx</a:t>
            </a:r>
            <a:r>
              <a:rPr kumimoji="0" lang="en-US" altLang="zh-TW" sz="2000" kern="0" dirty="0">
                <a:solidFill>
                  <a:srgbClr val="FF0000"/>
                </a:solidFill>
                <a:latin typeface="Calibri" panose="020F0502020204030204" pitchFamily="34" charset="0"/>
                <a:ea typeface="新細明體" pitchFamily="18" charset="-120"/>
              </a:rPr>
              <a:t>=5,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err="1">
                <a:solidFill>
                  <a:srgbClr val="FF0000"/>
                </a:solidFill>
                <a:latin typeface="Calibri" panose="020F0502020204030204" pitchFamily="34" charset="0"/>
                <a:ea typeface="新細明體" pitchFamily="18" charset="-120"/>
              </a:rPr>
              <a:t>ecx</a:t>
            </a:r>
            <a:r>
              <a:rPr kumimoji="0" lang="en-US" altLang="zh-TW" sz="2000" kern="0" dirty="0">
                <a:solidFill>
                  <a:srgbClr val="FF0000"/>
                </a:solidFill>
                <a:latin typeface="Calibri" panose="020F0502020204030204" pitchFamily="34" charset="0"/>
                <a:ea typeface="新細明體" pitchFamily="18" charset="-120"/>
              </a:rPr>
              <a:t>=9, </a:t>
            </a:r>
            <a:r>
              <a:rPr kumimoji="0" lang="en-US" altLang="zh-TW" sz="2000" kern="0" dirty="0" err="1">
                <a:solidFill>
                  <a:srgbClr val="FF0000"/>
                </a:solidFill>
                <a:latin typeface="Calibri" panose="020F0502020204030204" pitchFamily="34" charset="0"/>
                <a:ea typeface="新細明體" pitchFamily="18" charset="-120"/>
              </a:rPr>
              <a:t>edx</a:t>
            </a:r>
            <a:r>
              <a:rPr kumimoji="0" lang="en-US" altLang="zh-TW" sz="2000" kern="0" dirty="0">
                <a:solidFill>
                  <a:srgbClr val="FF0000"/>
                </a:solidFill>
                <a:latin typeface="Calibri" panose="020F0502020204030204" pitchFamily="34" charset="0"/>
                <a:ea typeface="新細明體" pitchFamily="18" charset="-120"/>
              </a:rPr>
              <a:t> =11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FF0000"/>
                </a:solidFill>
                <a:latin typeface="Calibri" panose="020F0502020204030204" pitchFamily="34" charset="0"/>
                <a:ea typeface="新細明體" pitchFamily="18" charset="-120"/>
              </a:rPr>
              <a:t>pc= 0x1000…</a:t>
            </a:r>
            <a:endParaRPr kumimoji="0" lang="en-US" altLang="zh-TW" sz="2000" b="1" kern="0" dirty="0">
              <a:solidFill>
                <a:sysClr val="windowText" lastClr="000000"/>
              </a:solidFill>
              <a:latin typeface="Calibri" panose="020F0502020204030204" pitchFamily="34" charset="0"/>
              <a:ea typeface="新細明體" pitchFamily="18" charset="-12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5352928" y="960263"/>
            <a:ext cx="10791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Calibri" panose="020F0502020204030204" pitchFamily="34" charset="0"/>
              </a:rPr>
              <a:t>P1’s PCB</a:t>
            </a:r>
            <a:endParaRPr lang="zh-TW" altLang="en-US" sz="2000" b="1" dirty="0">
              <a:latin typeface="Calibri" panose="020F0502020204030204" pitchFamily="34" charset="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68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44912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1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01395" grpId="0" animBg="1"/>
      <p:bldP spid="43" grpId="0"/>
      <p:bldP spid="46" grpId="0" animBg="1"/>
      <p:bldP spid="57" grpId="0"/>
      <p:bldP spid="58" grpId="0"/>
      <p:bldP spid="60" grpId="0" animBg="1"/>
      <p:bldP spid="67" grpId="0" animBg="1"/>
      <p:bldP spid="5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Context Switch</a:t>
            </a:r>
          </a:p>
        </p:txBody>
      </p:sp>
      <p:grpSp>
        <p:nvGrpSpPr>
          <p:cNvPr id="2" name="群組 1"/>
          <p:cNvGrpSpPr/>
          <p:nvPr/>
        </p:nvGrpSpPr>
        <p:grpSpPr>
          <a:xfrm>
            <a:off x="839416" y="1341439"/>
            <a:ext cx="10225136" cy="4752975"/>
            <a:chOff x="407368" y="1341439"/>
            <a:chExt cx="10225136" cy="4752975"/>
          </a:xfrm>
        </p:grpSpPr>
        <p:pic>
          <p:nvPicPr>
            <p:cNvPr id="12291" name="Picture 7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07368" y="1341439"/>
              <a:ext cx="10225136" cy="4752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292" name="Text Box 8"/>
            <p:cNvSpPr txBox="1">
              <a:spLocks noChangeArrowheads="1"/>
            </p:cNvSpPr>
            <p:nvPr/>
          </p:nvSpPr>
          <p:spPr bwMode="auto">
            <a:xfrm>
              <a:off x="3503712" y="5703880"/>
              <a:ext cx="1198149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800" b="1" dirty="0">
                  <a:latin typeface="Calibri" panose="020F0502020204030204" pitchFamily="34" charset="0"/>
                </a:rPr>
                <a:t>process </a:t>
              </a:r>
              <a:r>
                <a:rPr lang="en-US" altLang="zh-TW" sz="1800" b="1" dirty="0" smtClean="0">
                  <a:latin typeface="Calibri" panose="020F0502020204030204" pitchFamily="34" charset="0"/>
                </a:rPr>
                <a:t>P1</a:t>
              </a:r>
              <a:endParaRPr lang="en-US" altLang="zh-TW" sz="1800" b="1" dirty="0">
                <a:latin typeface="Calibri" panose="020F0502020204030204" pitchFamily="34" charset="0"/>
              </a:endParaRPr>
            </a:p>
          </p:txBody>
        </p:sp>
        <p:sp>
          <p:nvSpPr>
            <p:cNvPr id="12293" name="Text Box 9"/>
            <p:cNvSpPr txBox="1">
              <a:spLocks noChangeArrowheads="1"/>
            </p:cNvSpPr>
            <p:nvPr/>
          </p:nvSpPr>
          <p:spPr bwMode="auto">
            <a:xfrm>
              <a:off x="8210219" y="5725081"/>
              <a:ext cx="1198149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800" b="1" dirty="0">
                  <a:latin typeface="Calibri" panose="020F0502020204030204" pitchFamily="34" charset="0"/>
                </a:rPr>
                <a:t>process </a:t>
              </a:r>
              <a:r>
                <a:rPr lang="en-US" altLang="zh-TW" sz="1800" b="1" dirty="0" smtClean="0">
                  <a:latin typeface="Calibri" panose="020F0502020204030204" pitchFamily="34" charset="0"/>
                </a:rPr>
                <a:t>P2</a:t>
              </a:r>
              <a:endParaRPr lang="en-US" altLang="zh-TW" sz="1800" b="1" dirty="0">
                <a:latin typeface="Calibri" panose="020F0502020204030204" pitchFamily="34" charset="0"/>
              </a:endParaRPr>
            </a:p>
          </p:txBody>
        </p:sp>
        <p:sp>
          <p:nvSpPr>
            <p:cNvPr id="6" name="文字方塊 5"/>
            <p:cNvSpPr txBox="1"/>
            <p:nvPr/>
          </p:nvSpPr>
          <p:spPr>
            <a:xfrm>
              <a:off x="4079776" y="1484784"/>
              <a:ext cx="9908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800" b="1" dirty="0" smtClean="0">
                  <a:latin typeface="Calibri" panose="020F0502020204030204" pitchFamily="34" charset="0"/>
                </a:rPr>
                <a:t>P1’s </a:t>
              </a:r>
              <a:r>
                <a:rPr lang="en-US" altLang="zh-TW" sz="1800" b="1" dirty="0">
                  <a:latin typeface="Calibri" panose="020F0502020204030204" pitchFamily="34" charset="0"/>
                </a:rPr>
                <a:t>PCB</a:t>
              </a:r>
              <a:endParaRPr lang="zh-TW" altLang="en-US" sz="1800" b="1" dirty="0">
                <a:latin typeface="Calibri" panose="020F0502020204030204" pitchFamily="34" charset="0"/>
              </a:endParaRPr>
            </a:p>
          </p:txBody>
        </p:sp>
        <p:sp>
          <p:nvSpPr>
            <p:cNvPr id="7" name="文字方塊 6"/>
            <p:cNvSpPr txBox="1"/>
            <p:nvPr/>
          </p:nvSpPr>
          <p:spPr>
            <a:xfrm>
              <a:off x="8201495" y="1484784"/>
              <a:ext cx="9908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800" b="1" dirty="0" smtClean="0">
                  <a:latin typeface="Calibri" panose="020F0502020204030204" pitchFamily="34" charset="0"/>
                </a:rPr>
                <a:t>P2’s </a:t>
              </a:r>
              <a:r>
                <a:rPr lang="en-US" altLang="zh-TW" sz="1800" b="1" dirty="0">
                  <a:latin typeface="Calibri" panose="020F0502020204030204" pitchFamily="34" charset="0"/>
                </a:rPr>
                <a:t>PCB</a:t>
              </a:r>
              <a:endParaRPr lang="zh-TW" altLang="en-US" sz="1800" b="1" dirty="0">
                <a:latin typeface="Calibri" panose="020F0502020204030204" pitchFamily="34" charset="0"/>
              </a:endParaRPr>
            </a:p>
          </p:txBody>
        </p:sp>
      </p:grp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69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09367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>
                <a:effectLst/>
              </a:rPr>
              <a:t>Context Switch 1</a:t>
            </a:r>
            <a:endParaRPr lang="en-US" altLang="zh-TW" dirty="0"/>
          </a:p>
        </p:txBody>
      </p:sp>
      <p:sp>
        <p:nvSpPr>
          <p:cNvPr id="282627" name="Rectangle 4"/>
          <p:cNvSpPr>
            <a:spLocks noChangeArrowheads="1"/>
          </p:cNvSpPr>
          <p:nvPr/>
        </p:nvSpPr>
        <p:spPr bwMode="auto">
          <a:xfrm>
            <a:off x="6307138" y="1484314"/>
            <a:ext cx="2265362" cy="1235075"/>
          </a:xfrm>
          <a:prstGeom prst="rect">
            <a:avLst/>
          </a:prstGeom>
          <a:solidFill>
            <a:srgbClr val="99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dirty="0">
                <a:solidFill>
                  <a:srgbClr val="000000"/>
                </a:solidFill>
                <a:ea typeface="新細明體" panose="02020500000000000000" pitchFamily="18" charset="-120"/>
              </a:rPr>
              <a:t>…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out </a:t>
            </a: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eax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, 0x60; 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add </a:t>
            </a: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eax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, </a:t>
            </a: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ebx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;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dirty="0">
                <a:solidFill>
                  <a:srgbClr val="000000"/>
                </a:solidFill>
                <a:ea typeface="新細明體" panose="02020500000000000000" pitchFamily="18" charset="-120"/>
              </a:rPr>
              <a:t>…</a:t>
            </a: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6311900" y="4508500"/>
            <a:ext cx="2260600" cy="1931988"/>
          </a:xfrm>
          <a:prstGeom prst="rect">
            <a:avLst/>
          </a:prstGeom>
          <a:solidFill>
            <a:srgbClr val="CCFF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0" hangingPunct="0">
              <a:spcBef>
                <a:spcPct val="0"/>
              </a:spcBef>
              <a:buNone/>
              <a:defRPr/>
            </a:pPr>
            <a:endParaRPr kumimoji="0" lang="en-US" altLang="zh-TW" sz="2000" b="1" dirty="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algn="ctr" eaLnBrk="0" hangingPunct="0">
              <a:spcBef>
                <a:spcPct val="0"/>
              </a:spcBef>
              <a:buNone/>
              <a:defRPr/>
            </a:pPr>
            <a:endParaRPr kumimoji="0" lang="en-US" altLang="zh-TW" sz="2000" b="1" dirty="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algn="ctr" eaLnBrk="0" hangingPunct="0">
              <a:spcBef>
                <a:spcPct val="0"/>
              </a:spcBef>
              <a:buNone/>
              <a:defRPr/>
            </a:pPr>
            <a:endParaRPr kumimoji="0" lang="en-US" altLang="zh-TW" sz="2000" b="1" dirty="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algn="ctr" eaLnBrk="0" hangingPunct="0">
              <a:spcBef>
                <a:spcPct val="0"/>
              </a:spcBef>
              <a:buNone/>
              <a:defRPr/>
            </a:pPr>
            <a:endParaRPr kumimoji="0" lang="en-US" altLang="zh-TW" sz="2000" b="1" dirty="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algn="ctr" eaLnBrk="0" hangingPunct="0">
              <a:spcBef>
                <a:spcPct val="0"/>
              </a:spcBef>
              <a:buNone/>
              <a:defRPr/>
            </a:pPr>
            <a:endParaRPr kumimoji="0" lang="en-US" altLang="zh-TW" sz="2000" b="1" dirty="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OS</a:t>
            </a:r>
          </a:p>
        </p:txBody>
      </p:sp>
      <p:sp>
        <p:nvSpPr>
          <p:cNvPr id="282629" name="Rectangle 4"/>
          <p:cNvSpPr>
            <a:spLocks noChangeArrowheads="1"/>
          </p:cNvSpPr>
          <p:nvPr/>
        </p:nvSpPr>
        <p:spPr bwMode="auto">
          <a:xfrm>
            <a:off x="6311900" y="2719388"/>
            <a:ext cx="2260600" cy="1789112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>
                <a:solidFill>
                  <a:srgbClr val="000000"/>
                </a:solidFill>
                <a:ea typeface="新細明體" panose="02020500000000000000" pitchFamily="18" charset="-120"/>
              </a:rPr>
              <a:t>…..</a:t>
            </a:r>
          </a:p>
        </p:txBody>
      </p:sp>
      <p:sp>
        <p:nvSpPr>
          <p:cNvPr id="282630" name="Rectangle 6"/>
          <p:cNvSpPr>
            <a:spLocks noChangeArrowheads="1"/>
          </p:cNvSpPr>
          <p:nvPr/>
        </p:nvSpPr>
        <p:spPr bwMode="auto">
          <a:xfrm>
            <a:off x="2566989" y="2189163"/>
            <a:ext cx="1870075" cy="1274762"/>
          </a:xfrm>
          <a:prstGeom prst="rect">
            <a:avLst/>
          </a:prstGeom>
          <a:solidFill>
            <a:srgbClr val="5B9BD5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400" b="1" dirty="0">
                <a:solidFill>
                  <a:srgbClr val="FF3300"/>
                </a:solidFill>
                <a:ea typeface="新細明體" panose="02020500000000000000" pitchFamily="18" charset="-120"/>
              </a:rPr>
              <a:t>CPU</a:t>
            </a:r>
          </a:p>
          <a:p>
            <a:pPr algn="ctr" eaLnBrk="0" hangingPunct="0">
              <a:spcBef>
                <a:spcPct val="0"/>
              </a:spcBef>
              <a:buNone/>
              <a:defRPr/>
            </a:pPr>
            <a:endParaRPr kumimoji="0" lang="en-US" altLang="zh-TW" sz="2400" b="1" dirty="0">
              <a:solidFill>
                <a:srgbClr val="FF3300"/>
              </a:solidFill>
              <a:ea typeface="新細明體" panose="02020500000000000000" pitchFamily="18" charset="-120"/>
            </a:endParaRPr>
          </a:p>
          <a:p>
            <a:pPr algn="ctr" eaLnBrk="0" hangingPunct="0">
              <a:spcBef>
                <a:spcPct val="0"/>
              </a:spcBef>
              <a:buNone/>
              <a:defRPr/>
            </a:pPr>
            <a:endParaRPr kumimoji="0" lang="en-US" altLang="zh-TW" sz="2400" b="1" dirty="0">
              <a:solidFill>
                <a:srgbClr val="FF3300"/>
              </a:solidFill>
              <a:ea typeface="新細明體" panose="02020500000000000000" pitchFamily="18" charset="-120"/>
            </a:endParaRPr>
          </a:p>
        </p:txBody>
      </p:sp>
      <p:cxnSp>
        <p:nvCxnSpPr>
          <p:cNvPr id="9" name="直線單箭頭接點 8"/>
          <p:cNvCxnSpPr>
            <a:endCxn id="282630" idx="3"/>
          </p:cNvCxnSpPr>
          <p:nvPr/>
        </p:nvCxnSpPr>
        <p:spPr>
          <a:xfrm flipH="1">
            <a:off x="4437064" y="1988840"/>
            <a:ext cx="1772963" cy="837704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807494" y="2620745"/>
          <a:ext cx="1389062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531">
                  <a:extLst>
                    <a:ext uri="{9D8B030D-6E8A-4147-A177-3AD203B41FA5}">
                      <a16:colId xmlns:a16="http://schemas.microsoft.com/office/drawing/2014/main" val="3511868256"/>
                    </a:ext>
                  </a:extLst>
                </a:gridCol>
                <a:gridCol w="694531">
                  <a:extLst>
                    <a:ext uri="{9D8B030D-6E8A-4147-A177-3AD203B41FA5}">
                      <a16:colId xmlns:a16="http://schemas.microsoft.com/office/drawing/2014/main" val="3895863104"/>
                    </a:ext>
                  </a:extLst>
                </a:gridCol>
              </a:tblGrid>
              <a:tr h="214333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eax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68373"/>
                  </a:ext>
                </a:extLst>
              </a:tr>
              <a:tr h="214333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ebx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5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58934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2807494" y="2618375"/>
          <a:ext cx="1389062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531">
                  <a:extLst>
                    <a:ext uri="{9D8B030D-6E8A-4147-A177-3AD203B41FA5}">
                      <a16:colId xmlns:a16="http://schemas.microsoft.com/office/drawing/2014/main" val="3511868256"/>
                    </a:ext>
                  </a:extLst>
                </a:gridCol>
                <a:gridCol w="694531">
                  <a:extLst>
                    <a:ext uri="{9D8B030D-6E8A-4147-A177-3AD203B41FA5}">
                      <a16:colId xmlns:a16="http://schemas.microsoft.com/office/drawing/2014/main" val="3895863104"/>
                    </a:ext>
                  </a:extLst>
                </a:gridCol>
              </a:tblGrid>
              <a:tr h="214333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eax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59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68373"/>
                  </a:ext>
                </a:extLst>
              </a:tr>
              <a:tr h="214333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ebx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25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58934"/>
                  </a:ext>
                </a:extLst>
              </a:tr>
            </a:tbl>
          </a:graphicData>
        </a:graphic>
      </p:graphicFrame>
      <p:cxnSp>
        <p:nvCxnSpPr>
          <p:cNvPr id="18" name="直線單箭頭接點 17"/>
          <p:cNvCxnSpPr/>
          <p:nvPr/>
        </p:nvCxnSpPr>
        <p:spPr>
          <a:xfrm flipH="1" flipV="1">
            <a:off x="4475712" y="3173909"/>
            <a:ext cx="1741456" cy="106362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弧形箭號 (左彎) 7"/>
          <p:cNvSpPr/>
          <p:nvPr/>
        </p:nvSpPr>
        <p:spPr>
          <a:xfrm>
            <a:off x="8694162" y="2189164"/>
            <a:ext cx="426175" cy="1301238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TW" altLang="en-US">
              <a:solidFill>
                <a:srgbClr val="000000"/>
              </a:solidFill>
              <a:latin typeface="Times New Roman"/>
              <a:ea typeface="新細明體"/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6316661" y="4501445"/>
            <a:ext cx="2260600" cy="705486"/>
          </a:xfrm>
          <a:prstGeom prst="rect">
            <a:avLst/>
          </a:prstGeom>
          <a:solidFill>
            <a:srgbClr val="00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P1 PCB </a:t>
            </a:r>
          </a:p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 err="1">
                <a:solidFill>
                  <a:srgbClr val="000000"/>
                </a:solidFill>
                <a:ea typeface="新細明體" panose="02020500000000000000" pitchFamily="18" charset="-120"/>
              </a:rPr>
              <a:t>eax</a:t>
            </a: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=x; </a:t>
            </a:r>
            <a:r>
              <a:rPr kumimoji="0" lang="en-US" altLang="zh-TW" sz="2000" b="1" dirty="0" err="1">
                <a:solidFill>
                  <a:srgbClr val="000000"/>
                </a:solidFill>
                <a:ea typeface="新細明體" panose="02020500000000000000" pitchFamily="18" charset="-120"/>
              </a:rPr>
              <a:t>ebx</a:t>
            </a: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=y;……</a:t>
            </a:r>
          </a:p>
        </p:txBody>
      </p:sp>
      <p:cxnSp>
        <p:nvCxnSpPr>
          <p:cNvPr id="13" name="直線單箭頭接點 12"/>
          <p:cNvCxnSpPr/>
          <p:nvPr/>
        </p:nvCxnSpPr>
        <p:spPr>
          <a:xfrm>
            <a:off x="4208080" y="3022324"/>
            <a:ext cx="2099059" cy="1774829"/>
          </a:xfrm>
          <a:prstGeom prst="straightConnector1">
            <a:avLst/>
          </a:prstGeom>
          <a:ln w="76200">
            <a:solidFill>
              <a:srgbClr val="0033CC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 flipH="1" flipV="1">
            <a:off x="4207718" y="3280272"/>
            <a:ext cx="2009451" cy="2350040"/>
          </a:xfrm>
          <a:prstGeom prst="straightConnector1">
            <a:avLst/>
          </a:prstGeom>
          <a:ln w="76200">
            <a:solidFill>
              <a:srgbClr val="0033CC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6314280" y="2708921"/>
            <a:ext cx="2265362" cy="1235075"/>
          </a:xfrm>
          <a:prstGeom prst="rect">
            <a:avLst/>
          </a:prstGeom>
          <a:solidFill>
            <a:srgbClr val="FFFF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dirty="0">
                <a:solidFill>
                  <a:srgbClr val="000000"/>
                </a:solidFill>
                <a:ea typeface="新細明體" panose="02020500000000000000" pitchFamily="18" charset="-120"/>
              </a:rPr>
              <a:t>…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out </a:t>
            </a: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eax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, 0x30; 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add </a:t>
            </a: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ebx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, </a:t>
            </a: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ebx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;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dirty="0">
                <a:solidFill>
                  <a:srgbClr val="000000"/>
                </a:solidFill>
                <a:ea typeface="新細明體" panose="02020500000000000000" pitchFamily="18" charset="-120"/>
              </a:rPr>
              <a:t>…</a:t>
            </a:r>
          </a:p>
        </p:txBody>
      </p:sp>
      <p:sp>
        <p:nvSpPr>
          <p:cNvPr id="21" name="Rectangle 4"/>
          <p:cNvSpPr>
            <a:spLocks noChangeArrowheads="1"/>
          </p:cNvSpPr>
          <p:nvPr/>
        </p:nvSpPr>
        <p:spPr bwMode="auto">
          <a:xfrm>
            <a:off x="6319042" y="5175051"/>
            <a:ext cx="2260600" cy="705486"/>
          </a:xfrm>
          <a:prstGeom prst="rect">
            <a:avLst/>
          </a:prstGeom>
          <a:solidFill>
            <a:srgbClr val="00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P2 PCB </a:t>
            </a:r>
          </a:p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 err="1">
                <a:solidFill>
                  <a:srgbClr val="000000"/>
                </a:solidFill>
                <a:ea typeface="新細明體" panose="02020500000000000000" pitchFamily="18" charset="-120"/>
              </a:rPr>
              <a:t>eax</a:t>
            </a: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=59; </a:t>
            </a:r>
            <a:r>
              <a:rPr kumimoji="0" lang="en-US" altLang="zh-TW" sz="2000" b="1" dirty="0" err="1">
                <a:solidFill>
                  <a:srgbClr val="000000"/>
                </a:solidFill>
                <a:ea typeface="新細明體" panose="02020500000000000000" pitchFamily="18" charset="-120"/>
              </a:rPr>
              <a:t>ebx</a:t>
            </a: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=25;……</a:t>
            </a:r>
          </a:p>
        </p:txBody>
      </p:sp>
      <p:sp>
        <p:nvSpPr>
          <p:cNvPr id="22" name="Rectangle 19"/>
          <p:cNvSpPr>
            <a:spLocks noChangeArrowheads="1"/>
          </p:cNvSpPr>
          <p:nvPr/>
        </p:nvSpPr>
        <p:spPr bwMode="auto">
          <a:xfrm>
            <a:off x="9241998" y="2407693"/>
            <a:ext cx="1223963" cy="720725"/>
          </a:xfrm>
          <a:prstGeom prst="rect">
            <a:avLst/>
          </a:prstGeom>
          <a:noFill/>
          <a:ln w="12700">
            <a:solidFill>
              <a:srgbClr val="FF3300"/>
            </a:solidFill>
            <a:miter lim="800000"/>
            <a:headEnd/>
            <a:tailEnd/>
          </a:ln>
          <a:effectLst>
            <a:prstShdw prst="shdw17" dist="17961" dir="2700000">
              <a:srgbClr val="991F00"/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altLang="zh-TW" sz="2400" b="1" dirty="0">
                <a:latin typeface="Calibri" panose="020F0502020204030204" pitchFamily="34" charset="0"/>
                <a:ea typeface="新細明體" pitchFamily="18" charset="-120"/>
              </a:rPr>
              <a:t>context </a:t>
            </a:r>
          </a:p>
          <a:p>
            <a:pPr algn="ctr">
              <a:defRPr/>
            </a:pPr>
            <a:r>
              <a:rPr lang="en-US" altLang="zh-TW" sz="2400" b="1" dirty="0">
                <a:latin typeface="Calibri" panose="020F0502020204030204" pitchFamily="34" charset="0"/>
                <a:ea typeface="新細明體" pitchFamily="18" charset="-120"/>
              </a:rPr>
              <a:t>switch</a:t>
            </a:r>
            <a:endParaRPr lang="zh-TW" altLang="en-US" sz="2400" b="1" dirty="0">
              <a:latin typeface="Calibri" panose="020F0502020204030204" pitchFamily="34" charset="0"/>
              <a:ea typeface="新細明體" pitchFamily="18" charset="-120"/>
            </a:endParaRPr>
          </a:p>
        </p:txBody>
      </p:sp>
      <p:sp>
        <p:nvSpPr>
          <p:cNvPr id="24" name="Rectangle 4"/>
          <p:cNvSpPr>
            <a:spLocks noChangeArrowheads="1"/>
          </p:cNvSpPr>
          <p:nvPr/>
        </p:nvSpPr>
        <p:spPr bwMode="auto">
          <a:xfrm>
            <a:off x="6318300" y="4495497"/>
            <a:ext cx="2260600" cy="705486"/>
          </a:xfrm>
          <a:prstGeom prst="rect">
            <a:avLst/>
          </a:prstGeom>
          <a:solidFill>
            <a:srgbClr val="00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>
                <a:solidFill>
                  <a:srgbClr val="FF0000"/>
                </a:solidFill>
                <a:ea typeface="新細明體" panose="02020500000000000000" pitchFamily="18" charset="-120"/>
              </a:rPr>
              <a:t>P1 PCB </a:t>
            </a:r>
          </a:p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 err="1">
                <a:solidFill>
                  <a:srgbClr val="FF0000"/>
                </a:solidFill>
                <a:ea typeface="新細明體" panose="02020500000000000000" pitchFamily="18" charset="-120"/>
              </a:rPr>
              <a:t>eax</a:t>
            </a:r>
            <a:r>
              <a:rPr kumimoji="0" lang="en-US" altLang="zh-TW" sz="2000" b="1" dirty="0">
                <a:solidFill>
                  <a:srgbClr val="FF0000"/>
                </a:solidFill>
                <a:ea typeface="新細明體" panose="02020500000000000000" pitchFamily="18" charset="-120"/>
              </a:rPr>
              <a:t>=10; </a:t>
            </a:r>
            <a:r>
              <a:rPr kumimoji="0" lang="en-US" altLang="zh-TW" sz="2000" b="1" dirty="0" err="1">
                <a:solidFill>
                  <a:srgbClr val="FF0000"/>
                </a:solidFill>
                <a:ea typeface="新細明體" panose="02020500000000000000" pitchFamily="18" charset="-120"/>
              </a:rPr>
              <a:t>ebx</a:t>
            </a:r>
            <a:r>
              <a:rPr kumimoji="0" lang="en-US" altLang="zh-TW" sz="2000" b="1" dirty="0">
                <a:solidFill>
                  <a:srgbClr val="FF0000"/>
                </a:solidFill>
                <a:ea typeface="新細明體" panose="02020500000000000000" pitchFamily="18" charset="-120"/>
              </a:rPr>
              <a:t>=5;……</a:t>
            </a:r>
          </a:p>
        </p:txBody>
      </p:sp>
      <p:sp>
        <p:nvSpPr>
          <p:cNvPr id="14" name="右大括弧 13"/>
          <p:cNvSpPr/>
          <p:nvPr/>
        </p:nvSpPr>
        <p:spPr>
          <a:xfrm>
            <a:off x="8888806" y="4536566"/>
            <a:ext cx="87515" cy="1903922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/>
          <p:cNvSpPr txBox="1"/>
          <p:nvPr/>
        </p:nvSpPr>
        <p:spPr>
          <a:xfrm>
            <a:off x="8976320" y="5301208"/>
            <a:ext cx="4796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Calibri" panose="020F0502020204030204" pitchFamily="34" charset="0"/>
              </a:rPr>
              <a:t>OS</a:t>
            </a:r>
            <a:endParaRPr lang="zh-TW" altLang="en-US" sz="2000" b="1" dirty="0">
              <a:latin typeface="Calibri" panose="020F0502020204030204" pitchFamily="34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70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19246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2" grpId="0" animBg="1"/>
      <p:bldP spid="24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>
                <a:effectLst/>
              </a:rPr>
              <a:t>Context Switch 2</a:t>
            </a:r>
            <a:endParaRPr lang="en-US" altLang="zh-TW" dirty="0"/>
          </a:p>
        </p:txBody>
      </p:sp>
      <p:sp>
        <p:nvSpPr>
          <p:cNvPr id="282627" name="Rectangle 4"/>
          <p:cNvSpPr>
            <a:spLocks noChangeArrowheads="1"/>
          </p:cNvSpPr>
          <p:nvPr/>
        </p:nvSpPr>
        <p:spPr bwMode="auto">
          <a:xfrm>
            <a:off x="6307138" y="1484314"/>
            <a:ext cx="2265362" cy="1235075"/>
          </a:xfrm>
          <a:prstGeom prst="rect">
            <a:avLst/>
          </a:prstGeom>
          <a:solidFill>
            <a:srgbClr val="99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dirty="0">
                <a:solidFill>
                  <a:srgbClr val="000000"/>
                </a:solidFill>
                <a:ea typeface="新細明體" panose="02020500000000000000" pitchFamily="18" charset="-120"/>
              </a:rPr>
              <a:t>…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out </a:t>
            </a: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eax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, 0x60; 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add </a:t>
            </a: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eax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, </a:t>
            </a: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ebx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;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dirty="0">
                <a:solidFill>
                  <a:srgbClr val="000000"/>
                </a:solidFill>
                <a:ea typeface="新細明體" panose="02020500000000000000" pitchFamily="18" charset="-120"/>
              </a:rPr>
              <a:t>…</a:t>
            </a: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6311900" y="4508500"/>
            <a:ext cx="2260600" cy="1931988"/>
          </a:xfrm>
          <a:prstGeom prst="rect">
            <a:avLst/>
          </a:prstGeom>
          <a:solidFill>
            <a:srgbClr val="CCFF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0" hangingPunct="0">
              <a:spcBef>
                <a:spcPct val="0"/>
              </a:spcBef>
              <a:buNone/>
              <a:defRPr/>
            </a:pPr>
            <a:endParaRPr kumimoji="0" lang="en-US" altLang="zh-TW" sz="2000" b="1" dirty="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algn="ctr" eaLnBrk="0" hangingPunct="0">
              <a:spcBef>
                <a:spcPct val="0"/>
              </a:spcBef>
              <a:buNone/>
              <a:defRPr/>
            </a:pPr>
            <a:endParaRPr kumimoji="0" lang="en-US" altLang="zh-TW" sz="2000" b="1" dirty="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algn="ctr" eaLnBrk="0" hangingPunct="0">
              <a:spcBef>
                <a:spcPct val="0"/>
              </a:spcBef>
              <a:buNone/>
              <a:defRPr/>
            </a:pPr>
            <a:endParaRPr kumimoji="0" lang="en-US" altLang="zh-TW" sz="2000" b="1" dirty="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algn="ctr" eaLnBrk="0" hangingPunct="0">
              <a:spcBef>
                <a:spcPct val="0"/>
              </a:spcBef>
              <a:buNone/>
              <a:defRPr/>
            </a:pPr>
            <a:endParaRPr kumimoji="0" lang="en-US" altLang="zh-TW" sz="2000" b="1" dirty="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algn="ctr" eaLnBrk="0" hangingPunct="0">
              <a:spcBef>
                <a:spcPct val="0"/>
              </a:spcBef>
              <a:buNone/>
              <a:defRPr/>
            </a:pPr>
            <a:endParaRPr kumimoji="0" lang="en-US" altLang="zh-TW" sz="2000" b="1" dirty="0">
              <a:solidFill>
                <a:srgbClr val="000000"/>
              </a:solidFill>
              <a:ea typeface="新細明體" panose="02020500000000000000" pitchFamily="18" charset="-120"/>
            </a:endParaRPr>
          </a:p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OS</a:t>
            </a:r>
          </a:p>
        </p:txBody>
      </p:sp>
      <p:sp>
        <p:nvSpPr>
          <p:cNvPr id="282629" name="Rectangle 4"/>
          <p:cNvSpPr>
            <a:spLocks noChangeArrowheads="1"/>
          </p:cNvSpPr>
          <p:nvPr/>
        </p:nvSpPr>
        <p:spPr bwMode="auto">
          <a:xfrm>
            <a:off x="6311900" y="2719388"/>
            <a:ext cx="2260600" cy="1789112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>
                <a:solidFill>
                  <a:srgbClr val="000000"/>
                </a:solidFill>
                <a:ea typeface="新細明體" panose="02020500000000000000" pitchFamily="18" charset="-120"/>
              </a:rPr>
              <a:t>…..</a:t>
            </a:r>
          </a:p>
        </p:txBody>
      </p:sp>
      <p:sp>
        <p:nvSpPr>
          <p:cNvPr id="282630" name="Rectangle 6"/>
          <p:cNvSpPr>
            <a:spLocks noChangeArrowheads="1"/>
          </p:cNvSpPr>
          <p:nvPr/>
        </p:nvSpPr>
        <p:spPr bwMode="auto">
          <a:xfrm>
            <a:off x="2566989" y="2189163"/>
            <a:ext cx="1870075" cy="1274762"/>
          </a:xfrm>
          <a:prstGeom prst="rect">
            <a:avLst/>
          </a:prstGeom>
          <a:solidFill>
            <a:srgbClr val="5B9BD5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400" b="1" dirty="0">
                <a:solidFill>
                  <a:srgbClr val="FF3300"/>
                </a:solidFill>
                <a:ea typeface="新細明體" panose="02020500000000000000" pitchFamily="18" charset="-120"/>
              </a:rPr>
              <a:t>CPU</a:t>
            </a:r>
          </a:p>
          <a:p>
            <a:pPr algn="ctr" eaLnBrk="0" hangingPunct="0">
              <a:spcBef>
                <a:spcPct val="0"/>
              </a:spcBef>
              <a:buNone/>
              <a:defRPr/>
            </a:pPr>
            <a:endParaRPr kumimoji="0" lang="en-US" altLang="zh-TW" sz="2400" b="1" dirty="0">
              <a:solidFill>
                <a:srgbClr val="FF3300"/>
              </a:solidFill>
              <a:ea typeface="新細明體" panose="02020500000000000000" pitchFamily="18" charset="-120"/>
            </a:endParaRPr>
          </a:p>
          <a:p>
            <a:pPr algn="ctr" eaLnBrk="0" hangingPunct="0">
              <a:spcBef>
                <a:spcPct val="0"/>
              </a:spcBef>
              <a:buNone/>
              <a:defRPr/>
            </a:pPr>
            <a:endParaRPr kumimoji="0" lang="en-US" altLang="zh-TW" sz="2400" b="1" dirty="0">
              <a:solidFill>
                <a:srgbClr val="FF3300"/>
              </a:solidFill>
              <a:ea typeface="新細明體" panose="02020500000000000000" pitchFamily="18" charset="-120"/>
            </a:endParaRPr>
          </a:p>
        </p:txBody>
      </p:sp>
      <p:cxnSp>
        <p:nvCxnSpPr>
          <p:cNvPr id="9" name="直線單箭頭接點 8"/>
          <p:cNvCxnSpPr>
            <a:endCxn id="282630" idx="3"/>
          </p:cNvCxnSpPr>
          <p:nvPr/>
        </p:nvCxnSpPr>
        <p:spPr>
          <a:xfrm flipH="1">
            <a:off x="4437064" y="1988840"/>
            <a:ext cx="1772963" cy="837704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2761602" y="2697480"/>
          <a:ext cx="1389062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531">
                  <a:extLst>
                    <a:ext uri="{9D8B030D-6E8A-4147-A177-3AD203B41FA5}">
                      <a16:colId xmlns:a16="http://schemas.microsoft.com/office/drawing/2014/main" val="3511868256"/>
                    </a:ext>
                  </a:extLst>
                </a:gridCol>
                <a:gridCol w="694531">
                  <a:extLst>
                    <a:ext uri="{9D8B030D-6E8A-4147-A177-3AD203B41FA5}">
                      <a16:colId xmlns:a16="http://schemas.microsoft.com/office/drawing/2014/main" val="3895863104"/>
                    </a:ext>
                  </a:extLst>
                </a:gridCol>
              </a:tblGrid>
              <a:tr h="214333">
                <a:tc>
                  <a:txBody>
                    <a:bodyPr/>
                    <a:lstStyle/>
                    <a:p>
                      <a:r>
                        <a:rPr lang="en-US" altLang="zh-TW" b="1" dirty="0" err="1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eax</a:t>
                      </a:r>
                      <a:endParaRPr lang="zh-TW" altLang="en-US" b="1" dirty="0">
                        <a:solidFill>
                          <a:srgbClr val="FF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100</a:t>
                      </a:r>
                      <a:endParaRPr lang="zh-TW" altLang="en-US" b="1" dirty="0">
                        <a:solidFill>
                          <a:srgbClr val="FF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68373"/>
                  </a:ext>
                </a:extLst>
              </a:tr>
              <a:tr h="214333">
                <a:tc>
                  <a:txBody>
                    <a:bodyPr/>
                    <a:lstStyle/>
                    <a:p>
                      <a:r>
                        <a:rPr lang="en-US" altLang="zh-TW" b="1" dirty="0" err="1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ebx</a:t>
                      </a:r>
                      <a:endParaRPr lang="zh-TW" altLang="en-US" b="1" dirty="0">
                        <a:solidFill>
                          <a:srgbClr val="FF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35</a:t>
                      </a:r>
                      <a:endParaRPr lang="zh-TW" altLang="en-US" b="1" dirty="0">
                        <a:solidFill>
                          <a:srgbClr val="FF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58934"/>
                  </a:ext>
                </a:extLst>
              </a:tr>
            </a:tbl>
          </a:graphicData>
        </a:graphic>
      </p:graphicFrame>
      <p:cxnSp>
        <p:nvCxnSpPr>
          <p:cNvPr id="18" name="直線單箭頭接點 17"/>
          <p:cNvCxnSpPr/>
          <p:nvPr/>
        </p:nvCxnSpPr>
        <p:spPr>
          <a:xfrm flipH="1" flipV="1">
            <a:off x="4475915" y="3161230"/>
            <a:ext cx="1748598" cy="498475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弧形箭號 (左彎) 7"/>
          <p:cNvSpPr/>
          <p:nvPr/>
        </p:nvSpPr>
        <p:spPr>
          <a:xfrm flipV="1">
            <a:off x="8684051" y="2123682"/>
            <a:ext cx="426175" cy="1208436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TW" altLang="en-US">
              <a:solidFill>
                <a:srgbClr val="000000"/>
              </a:solidFill>
              <a:latin typeface="Times New Roman"/>
              <a:ea typeface="新細明體"/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6316661" y="4501445"/>
            <a:ext cx="2260600" cy="705486"/>
          </a:xfrm>
          <a:prstGeom prst="rect">
            <a:avLst/>
          </a:prstGeom>
          <a:solidFill>
            <a:srgbClr val="00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P1 PCB </a:t>
            </a:r>
          </a:p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 err="1">
                <a:solidFill>
                  <a:srgbClr val="000000"/>
                </a:solidFill>
                <a:ea typeface="新細明體" panose="02020500000000000000" pitchFamily="18" charset="-120"/>
              </a:rPr>
              <a:t>eax</a:t>
            </a: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=x; </a:t>
            </a:r>
            <a:r>
              <a:rPr kumimoji="0" lang="en-US" altLang="zh-TW" sz="2000" b="1" dirty="0" err="1">
                <a:solidFill>
                  <a:srgbClr val="000000"/>
                </a:solidFill>
                <a:ea typeface="新細明體" panose="02020500000000000000" pitchFamily="18" charset="-120"/>
              </a:rPr>
              <a:t>ebx</a:t>
            </a: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=y;……</a:t>
            </a:r>
          </a:p>
        </p:txBody>
      </p:sp>
      <p:cxnSp>
        <p:nvCxnSpPr>
          <p:cNvPr id="13" name="直線單箭頭接點 12"/>
          <p:cNvCxnSpPr>
            <a:endCxn id="21" idx="1"/>
          </p:cNvCxnSpPr>
          <p:nvPr/>
        </p:nvCxnSpPr>
        <p:spPr>
          <a:xfrm>
            <a:off x="4208080" y="3022324"/>
            <a:ext cx="2110963" cy="2505471"/>
          </a:xfrm>
          <a:prstGeom prst="straightConnector1">
            <a:avLst/>
          </a:prstGeom>
          <a:ln w="76200">
            <a:solidFill>
              <a:srgbClr val="0033CC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 flipH="1" flipV="1">
            <a:off x="4348321" y="3080549"/>
            <a:ext cx="2158181" cy="1912795"/>
          </a:xfrm>
          <a:prstGeom prst="straightConnector1">
            <a:avLst/>
          </a:prstGeom>
          <a:ln w="76200">
            <a:solidFill>
              <a:srgbClr val="0033CC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6314280" y="2708921"/>
            <a:ext cx="2265362" cy="1235075"/>
          </a:xfrm>
          <a:prstGeom prst="rect">
            <a:avLst/>
          </a:prstGeom>
          <a:solidFill>
            <a:srgbClr val="FFFF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dirty="0">
                <a:solidFill>
                  <a:srgbClr val="000000"/>
                </a:solidFill>
                <a:ea typeface="新細明體" panose="02020500000000000000" pitchFamily="18" charset="-120"/>
              </a:rPr>
              <a:t>…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out </a:t>
            </a: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eax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, 0x60; 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add </a:t>
            </a: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eax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, </a:t>
            </a: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ebx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;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dirty="0">
                <a:solidFill>
                  <a:srgbClr val="000000"/>
                </a:solidFill>
                <a:ea typeface="新細明體" panose="02020500000000000000" pitchFamily="18" charset="-120"/>
              </a:rPr>
              <a:t>…</a:t>
            </a:r>
          </a:p>
        </p:txBody>
      </p:sp>
      <p:sp>
        <p:nvSpPr>
          <p:cNvPr id="21" name="Rectangle 4"/>
          <p:cNvSpPr>
            <a:spLocks noChangeArrowheads="1"/>
          </p:cNvSpPr>
          <p:nvPr/>
        </p:nvSpPr>
        <p:spPr bwMode="auto">
          <a:xfrm>
            <a:off x="6319042" y="5175051"/>
            <a:ext cx="2260600" cy="705486"/>
          </a:xfrm>
          <a:prstGeom prst="rect">
            <a:avLst/>
          </a:prstGeom>
          <a:solidFill>
            <a:srgbClr val="00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P2 PCB </a:t>
            </a:r>
          </a:p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 err="1">
                <a:solidFill>
                  <a:srgbClr val="000000"/>
                </a:solidFill>
                <a:ea typeface="新細明體" panose="02020500000000000000" pitchFamily="18" charset="-120"/>
              </a:rPr>
              <a:t>eax</a:t>
            </a: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=59; </a:t>
            </a:r>
            <a:r>
              <a:rPr kumimoji="0" lang="en-US" altLang="zh-TW" sz="2000" b="1" dirty="0" err="1">
                <a:solidFill>
                  <a:srgbClr val="000000"/>
                </a:solidFill>
                <a:ea typeface="新細明體" panose="02020500000000000000" pitchFamily="18" charset="-120"/>
              </a:rPr>
              <a:t>ebx</a:t>
            </a: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=25;……</a:t>
            </a:r>
          </a:p>
        </p:txBody>
      </p:sp>
      <p:sp>
        <p:nvSpPr>
          <p:cNvPr id="22" name="Rectangle 19"/>
          <p:cNvSpPr>
            <a:spLocks noChangeArrowheads="1"/>
          </p:cNvSpPr>
          <p:nvPr/>
        </p:nvSpPr>
        <p:spPr bwMode="auto">
          <a:xfrm>
            <a:off x="9241998" y="2407693"/>
            <a:ext cx="1223963" cy="720725"/>
          </a:xfrm>
          <a:prstGeom prst="rect">
            <a:avLst/>
          </a:prstGeom>
          <a:noFill/>
          <a:ln w="12700">
            <a:solidFill>
              <a:srgbClr val="FF3300"/>
            </a:solidFill>
            <a:miter lim="800000"/>
            <a:headEnd/>
            <a:tailEnd/>
          </a:ln>
          <a:effectLst>
            <a:prstShdw prst="shdw17" dist="17961" dir="2700000">
              <a:srgbClr val="991F00"/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altLang="zh-TW" sz="2400" b="1" dirty="0">
                <a:latin typeface="Calibri" panose="020F0502020204030204" pitchFamily="34" charset="0"/>
                <a:ea typeface="新細明體" pitchFamily="18" charset="-120"/>
              </a:rPr>
              <a:t>context </a:t>
            </a:r>
          </a:p>
          <a:p>
            <a:pPr algn="ctr">
              <a:defRPr/>
            </a:pPr>
            <a:r>
              <a:rPr lang="en-US" altLang="zh-TW" sz="2400" b="1" dirty="0">
                <a:latin typeface="Calibri" panose="020F0502020204030204" pitchFamily="34" charset="0"/>
                <a:ea typeface="新細明體" pitchFamily="18" charset="-120"/>
              </a:rPr>
              <a:t>switch</a:t>
            </a:r>
            <a:endParaRPr lang="zh-TW" altLang="en-US" sz="2400" b="1" dirty="0">
              <a:latin typeface="Calibri" panose="020F0502020204030204" pitchFamily="34" charset="0"/>
              <a:ea typeface="新細明體" pitchFamily="18" charset="-120"/>
            </a:endParaRPr>
          </a:p>
        </p:txBody>
      </p:sp>
      <p:sp>
        <p:nvSpPr>
          <p:cNvPr id="24" name="Rectangle 4"/>
          <p:cNvSpPr>
            <a:spLocks noChangeArrowheads="1"/>
          </p:cNvSpPr>
          <p:nvPr/>
        </p:nvSpPr>
        <p:spPr bwMode="auto">
          <a:xfrm>
            <a:off x="6318300" y="4495497"/>
            <a:ext cx="2260600" cy="705486"/>
          </a:xfrm>
          <a:prstGeom prst="rect">
            <a:avLst/>
          </a:prstGeom>
          <a:solidFill>
            <a:srgbClr val="00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>
                <a:solidFill>
                  <a:srgbClr val="FF0000"/>
                </a:solidFill>
                <a:ea typeface="新細明體" panose="02020500000000000000" pitchFamily="18" charset="-120"/>
              </a:rPr>
              <a:t>P1 PCB </a:t>
            </a:r>
          </a:p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 err="1">
                <a:solidFill>
                  <a:srgbClr val="FF0000"/>
                </a:solidFill>
                <a:ea typeface="新細明體" panose="02020500000000000000" pitchFamily="18" charset="-120"/>
              </a:rPr>
              <a:t>eax</a:t>
            </a:r>
            <a:r>
              <a:rPr kumimoji="0" lang="en-US" altLang="zh-TW" sz="2000" b="1" dirty="0">
                <a:solidFill>
                  <a:srgbClr val="FF0000"/>
                </a:solidFill>
                <a:ea typeface="新細明體" panose="02020500000000000000" pitchFamily="18" charset="-120"/>
              </a:rPr>
              <a:t>=10; </a:t>
            </a:r>
            <a:r>
              <a:rPr kumimoji="0" lang="en-US" altLang="zh-TW" sz="2000" b="1" dirty="0" err="1">
                <a:solidFill>
                  <a:srgbClr val="FF0000"/>
                </a:solidFill>
                <a:ea typeface="新細明體" panose="02020500000000000000" pitchFamily="18" charset="-120"/>
              </a:rPr>
              <a:t>ebx</a:t>
            </a:r>
            <a:r>
              <a:rPr kumimoji="0" lang="en-US" altLang="zh-TW" sz="2000" b="1" dirty="0">
                <a:solidFill>
                  <a:srgbClr val="FF0000"/>
                </a:solidFill>
                <a:ea typeface="新細明體" panose="02020500000000000000" pitchFamily="18" charset="-120"/>
              </a:rPr>
              <a:t>=5;……</a:t>
            </a:r>
          </a:p>
        </p:txBody>
      </p:sp>
      <p:sp>
        <p:nvSpPr>
          <p:cNvPr id="14" name="右大括弧 13"/>
          <p:cNvSpPr/>
          <p:nvPr/>
        </p:nvSpPr>
        <p:spPr>
          <a:xfrm>
            <a:off x="8888806" y="4536566"/>
            <a:ext cx="87515" cy="1903922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/>
          <p:cNvSpPr txBox="1"/>
          <p:nvPr/>
        </p:nvSpPr>
        <p:spPr>
          <a:xfrm>
            <a:off x="8976320" y="5301208"/>
            <a:ext cx="4796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Calibri" panose="020F0502020204030204" pitchFamily="34" charset="0"/>
              </a:rPr>
              <a:t>OS</a:t>
            </a:r>
            <a:endParaRPr lang="zh-TW" altLang="en-US" sz="2000" b="1" dirty="0">
              <a:latin typeface="Calibri" panose="020F0502020204030204" pitchFamily="34" charset="0"/>
            </a:endParaRPr>
          </a:p>
        </p:txBody>
      </p:sp>
      <p:sp>
        <p:nvSpPr>
          <p:cNvPr id="25" name="Rectangle 4"/>
          <p:cNvSpPr>
            <a:spLocks noChangeArrowheads="1"/>
          </p:cNvSpPr>
          <p:nvPr/>
        </p:nvSpPr>
        <p:spPr bwMode="auto">
          <a:xfrm>
            <a:off x="6326184" y="5208038"/>
            <a:ext cx="2260600" cy="705486"/>
          </a:xfrm>
          <a:prstGeom prst="rect">
            <a:avLst/>
          </a:prstGeom>
          <a:solidFill>
            <a:srgbClr val="00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P2 PCB </a:t>
            </a:r>
          </a:p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 err="1">
                <a:solidFill>
                  <a:srgbClr val="000000"/>
                </a:solidFill>
                <a:ea typeface="新細明體" panose="02020500000000000000" pitchFamily="18" charset="-120"/>
              </a:rPr>
              <a:t>eax</a:t>
            </a: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=100; </a:t>
            </a:r>
            <a:r>
              <a:rPr kumimoji="0" lang="en-US" altLang="zh-TW" sz="2000" b="1" dirty="0" err="1">
                <a:solidFill>
                  <a:srgbClr val="000000"/>
                </a:solidFill>
                <a:ea typeface="新細明體" panose="02020500000000000000" pitchFamily="18" charset="-120"/>
              </a:rPr>
              <a:t>ebx</a:t>
            </a:r>
            <a:r>
              <a:rPr kumimoji="0" lang="en-US" altLang="zh-TW" sz="2000" b="1" dirty="0">
                <a:solidFill>
                  <a:srgbClr val="000000"/>
                </a:solidFill>
                <a:ea typeface="新細明體" panose="02020500000000000000" pitchFamily="18" charset="-120"/>
              </a:rPr>
              <a:t>=35;……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762722" y="2692896"/>
          <a:ext cx="1389062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531">
                  <a:extLst>
                    <a:ext uri="{9D8B030D-6E8A-4147-A177-3AD203B41FA5}">
                      <a16:colId xmlns:a16="http://schemas.microsoft.com/office/drawing/2014/main" val="3511868256"/>
                    </a:ext>
                  </a:extLst>
                </a:gridCol>
                <a:gridCol w="694531">
                  <a:extLst>
                    <a:ext uri="{9D8B030D-6E8A-4147-A177-3AD203B41FA5}">
                      <a16:colId xmlns:a16="http://schemas.microsoft.com/office/drawing/2014/main" val="3895863104"/>
                    </a:ext>
                  </a:extLst>
                </a:gridCol>
              </a:tblGrid>
              <a:tr h="214333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eax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68373"/>
                  </a:ext>
                </a:extLst>
              </a:tr>
              <a:tr h="214333"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ebx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5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58934"/>
                  </a:ext>
                </a:extLst>
              </a:tr>
            </a:tbl>
          </a:graphicData>
        </a:graphic>
      </p:graphicFrame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71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50076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2" grpId="0" animBg="1"/>
      <p:bldP spid="25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但是</a:t>
            </a:r>
            <a:r>
              <a:rPr lang="en-US" altLang="zh-TW" dirty="0" smtClean="0"/>
              <a:t>, ISR(Interrupt Service Routine)</a:t>
            </a:r>
            <a:r>
              <a:rPr lang="zh-TW" altLang="en-US" dirty="0" smtClean="0"/>
              <a:t>執行時不需要對</a:t>
            </a:r>
            <a:r>
              <a:rPr lang="en-US" altLang="zh-TW" dirty="0" smtClean="0"/>
              <a:t>ISR</a:t>
            </a:r>
            <a:r>
              <a:rPr lang="zh-TW" altLang="en-US" dirty="0" smtClean="0"/>
              <a:t>做</a:t>
            </a:r>
            <a:r>
              <a:rPr lang="en-US" altLang="zh-TW" dirty="0" smtClean="0"/>
              <a:t>state restore</a:t>
            </a:r>
            <a:r>
              <a:rPr lang="zh-TW" altLang="en-US" dirty="0" smtClean="0"/>
              <a:t>和</a:t>
            </a:r>
            <a:r>
              <a:rPr lang="en-US" altLang="zh-TW" dirty="0" smtClean="0"/>
              <a:t>state save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(see the following two slides)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32857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smtClean="0"/>
              <a:t>CPU Dispatch an Interrupt to ISR</a:t>
            </a:r>
            <a:endParaRPr lang="en-US" altLang="zh-TW" dirty="0"/>
          </a:p>
        </p:txBody>
      </p:sp>
      <p:sp>
        <p:nvSpPr>
          <p:cNvPr id="282627" name="Rectangle 4"/>
          <p:cNvSpPr>
            <a:spLocks noChangeArrowheads="1"/>
          </p:cNvSpPr>
          <p:nvPr/>
        </p:nvSpPr>
        <p:spPr bwMode="auto">
          <a:xfrm>
            <a:off x="6311900" y="1484314"/>
            <a:ext cx="2260600" cy="1235075"/>
          </a:xfrm>
          <a:prstGeom prst="rect">
            <a:avLst/>
          </a:prstGeom>
          <a:solidFill>
            <a:srgbClr val="99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 err="1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mov</a:t>
            </a:r>
            <a:r>
              <a:rPr kumimoji="0" lang="en-US" altLang="zh-TW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eax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, 0x60;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</a:t>
            </a: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6311900" y="4508500"/>
            <a:ext cx="2260600" cy="1931988"/>
          </a:xfrm>
          <a:prstGeom prst="rect">
            <a:avLst/>
          </a:prstGeom>
          <a:solidFill>
            <a:srgbClr val="CCFF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OS</a:t>
            </a:r>
          </a:p>
        </p:txBody>
      </p:sp>
      <p:sp>
        <p:nvSpPr>
          <p:cNvPr id="282629" name="Rectangle 4"/>
          <p:cNvSpPr>
            <a:spLocks noChangeArrowheads="1"/>
          </p:cNvSpPr>
          <p:nvPr/>
        </p:nvSpPr>
        <p:spPr bwMode="auto">
          <a:xfrm>
            <a:off x="6311900" y="2719388"/>
            <a:ext cx="2260600" cy="1789112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…..</a:t>
            </a:r>
          </a:p>
        </p:txBody>
      </p:sp>
      <p:sp>
        <p:nvSpPr>
          <p:cNvPr id="282630" name="Rectangle 6"/>
          <p:cNvSpPr>
            <a:spLocks noChangeArrowheads="1"/>
          </p:cNvSpPr>
          <p:nvPr/>
        </p:nvSpPr>
        <p:spPr bwMode="auto">
          <a:xfrm>
            <a:off x="2566989" y="2189163"/>
            <a:ext cx="1870075" cy="1274762"/>
          </a:xfrm>
          <a:prstGeom prst="rect">
            <a:avLst/>
          </a:prstGeom>
          <a:solidFill>
            <a:srgbClr val="5B9BD5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CPU</a:t>
            </a:r>
          </a:p>
        </p:txBody>
      </p:sp>
      <p:cxnSp>
        <p:nvCxnSpPr>
          <p:cNvPr id="9" name="直線單箭頭接點 8"/>
          <p:cNvCxnSpPr>
            <a:stCxn id="282627" idx="1"/>
            <a:endCxn id="282630" idx="3"/>
          </p:cNvCxnSpPr>
          <p:nvPr/>
        </p:nvCxnSpPr>
        <p:spPr>
          <a:xfrm flipH="1">
            <a:off x="4437064" y="2101850"/>
            <a:ext cx="1874837" cy="723900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>
            <a:endCxn id="11" idx="1"/>
          </p:cNvCxnSpPr>
          <p:nvPr/>
        </p:nvCxnSpPr>
        <p:spPr>
          <a:xfrm>
            <a:off x="4437062" y="2825751"/>
            <a:ext cx="1874838" cy="3261995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311900" y="5735002"/>
            <a:ext cx="2260600" cy="705486"/>
          </a:xfrm>
          <a:prstGeom prst="rect">
            <a:avLst/>
          </a:prstGeom>
          <a:solidFill>
            <a:srgbClr val="66FF6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Interrupt Service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Routine (ISR)</a:t>
            </a:r>
          </a:p>
        </p:txBody>
      </p:sp>
      <p:cxnSp>
        <p:nvCxnSpPr>
          <p:cNvPr id="12" name="直線單箭頭接點 11"/>
          <p:cNvCxnSpPr/>
          <p:nvPr/>
        </p:nvCxnSpPr>
        <p:spPr>
          <a:xfrm flipV="1">
            <a:off x="3359697" y="3463927"/>
            <a:ext cx="1" cy="686593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字方塊 4"/>
          <p:cNvSpPr txBox="1"/>
          <p:nvPr/>
        </p:nvSpPr>
        <p:spPr>
          <a:xfrm>
            <a:off x="3392611" y="3687247"/>
            <a:ext cx="1044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interrupt</a:t>
            </a:r>
            <a:endParaRPr kumimoji="1" lang="zh-TW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6" name="圓角矩形圖說文字 15"/>
          <p:cNvSpPr/>
          <p:nvPr/>
        </p:nvSpPr>
        <p:spPr>
          <a:xfrm>
            <a:off x="2423592" y="5229201"/>
            <a:ext cx="3193822" cy="1081867"/>
          </a:xfrm>
          <a:prstGeom prst="wedgeRoundRectCallout">
            <a:avLst>
              <a:gd name="adj1" fmla="val 34707"/>
              <a:gd name="adj2" fmla="val -146778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新細明體"/>
                <a:cs typeface="+mn-cs"/>
              </a:rPr>
              <a:t>CPU dispatch an interrupt to ISR</a:t>
            </a:r>
            <a:endParaRPr kumimoji="1" lang="zh-TW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新細明體"/>
              <a:cs typeface="+mn-cs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8572500" y="1933209"/>
            <a:ext cx="1051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t>P1</a:t>
            </a:r>
            <a:endParaRPr kumimoji="1" lang="zh-TW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6F06792-2767-43F4-A335-D8A37CCA3850}" type="slidenum">
              <a:rPr kumimoji="1" lang="en-US" altLang="zh-TW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1833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/>
              <a:t>比較：</a:t>
            </a:r>
            <a:r>
              <a:rPr lang="en-US" altLang="zh-TW" dirty="0"/>
              <a:t>ISR Has no State to Be Saved/Restored</a:t>
            </a:r>
          </a:p>
        </p:txBody>
      </p:sp>
      <p:grpSp>
        <p:nvGrpSpPr>
          <p:cNvPr id="13315" name="Group 10"/>
          <p:cNvGrpSpPr>
            <a:grpSpLocks/>
          </p:cNvGrpSpPr>
          <p:nvPr/>
        </p:nvGrpSpPr>
        <p:grpSpPr bwMode="auto">
          <a:xfrm>
            <a:off x="1703512" y="1917849"/>
            <a:ext cx="7345362" cy="4535487"/>
            <a:chOff x="567" y="845"/>
            <a:chExt cx="4627" cy="2857"/>
          </a:xfrm>
        </p:grpSpPr>
        <p:pic>
          <p:nvPicPr>
            <p:cNvPr id="13316" name="Picture 7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67" y="845"/>
              <a:ext cx="4627" cy="28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317" name="Text Box 8"/>
            <p:cNvSpPr txBox="1">
              <a:spLocks noChangeArrowheads="1"/>
            </p:cNvSpPr>
            <p:nvPr/>
          </p:nvSpPr>
          <p:spPr bwMode="auto">
            <a:xfrm>
              <a:off x="1882" y="3113"/>
              <a:ext cx="829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2000" b="1" i="1" dirty="0">
                  <a:latin typeface="Times New Roman" pitchFamily="18" charset="0"/>
                </a:rPr>
                <a:t>process </a:t>
              </a:r>
              <a:r>
                <a:rPr lang="en-US" altLang="zh-TW" sz="2000" b="1" i="1" dirty="0" smtClean="0">
                  <a:latin typeface="Times New Roman" pitchFamily="18" charset="0"/>
                </a:rPr>
                <a:t>P1</a:t>
              </a:r>
              <a:endParaRPr lang="en-US" altLang="zh-TW" sz="2000" b="1" i="1" dirty="0">
                <a:latin typeface="Times New Roman" pitchFamily="18" charset="0"/>
              </a:endParaRPr>
            </a:p>
          </p:txBody>
        </p:sp>
        <p:sp>
          <p:nvSpPr>
            <p:cNvPr id="13318" name="Text Box 9"/>
            <p:cNvSpPr txBox="1">
              <a:spLocks noChangeArrowheads="1"/>
            </p:cNvSpPr>
            <p:nvPr/>
          </p:nvSpPr>
          <p:spPr bwMode="auto">
            <a:xfrm>
              <a:off x="3776" y="3113"/>
              <a:ext cx="37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2000" b="1" i="1">
                  <a:latin typeface="Times New Roman" pitchFamily="18" charset="0"/>
                </a:rPr>
                <a:t>ISR</a:t>
              </a:r>
            </a:p>
          </p:txBody>
        </p:sp>
      </p:grpSp>
      <p:sp>
        <p:nvSpPr>
          <p:cNvPr id="7" name="文字方塊 6"/>
          <p:cNvSpPr txBox="1"/>
          <p:nvPr/>
        </p:nvSpPr>
        <p:spPr>
          <a:xfrm>
            <a:off x="4148042" y="1992424"/>
            <a:ext cx="990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P1’s </a:t>
            </a:r>
            <a:r>
              <a:rPr lang="en-US" altLang="zh-TW" sz="1800" b="1" dirty="0">
                <a:solidFill>
                  <a:srgbClr val="FF0000"/>
                </a:solidFill>
                <a:latin typeface="Calibri" panose="020F0502020204030204" pitchFamily="34" charset="0"/>
              </a:rPr>
              <a:t>PCB</a:t>
            </a:r>
            <a:endParaRPr lang="zh-TW" altLang="en-US" sz="18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6240" y="2132164"/>
            <a:ext cx="2448272" cy="2782069"/>
          </a:xfrm>
          <a:prstGeom prst="rect">
            <a:avLst/>
          </a:prstGeom>
        </p:spPr>
      </p:pic>
      <p:sp>
        <p:nvSpPr>
          <p:cNvPr id="11" name="文字方塊 10"/>
          <p:cNvSpPr txBox="1"/>
          <p:nvPr/>
        </p:nvSpPr>
        <p:spPr>
          <a:xfrm>
            <a:off x="9121276" y="1917848"/>
            <a:ext cx="990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P1’s </a:t>
            </a:r>
            <a:r>
              <a:rPr lang="en-US" altLang="zh-TW" sz="1800" b="1" dirty="0">
                <a:solidFill>
                  <a:srgbClr val="FF0000"/>
                </a:solidFill>
                <a:latin typeface="Calibri" panose="020F0502020204030204" pitchFamily="34" charset="0"/>
              </a:rPr>
              <a:t>PCB</a:t>
            </a:r>
            <a:endParaRPr lang="zh-TW" altLang="en-US" sz="18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74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16038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Q: </a:t>
            </a:r>
            <a:r>
              <a:rPr lang="zh-TW" altLang="en-US" dirty="0">
                <a:solidFill>
                  <a:srgbClr val="FF0000"/>
                </a:solidFill>
              </a:rPr>
              <a:t>為什麼不需要對</a:t>
            </a:r>
            <a:r>
              <a:rPr lang="en-US" altLang="zh-TW" dirty="0">
                <a:solidFill>
                  <a:srgbClr val="FF0000"/>
                </a:solidFill>
              </a:rPr>
              <a:t>ISR</a:t>
            </a:r>
            <a:r>
              <a:rPr lang="zh-TW" altLang="en-US" dirty="0">
                <a:solidFill>
                  <a:srgbClr val="FF0000"/>
                </a:solidFill>
              </a:rPr>
              <a:t>做</a:t>
            </a:r>
            <a:r>
              <a:rPr lang="en-US" altLang="zh-TW" dirty="0">
                <a:solidFill>
                  <a:srgbClr val="FF0000"/>
                </a:solidFill>
              </a:rPr>
              <a:t>state restore</a:t>
            </a:r>
            <a:r>
              <a:rPr lang="zh-TW" altLang="en-US" dirty="0">
                <a:solidFill>
                  <a:srgbClr val="FF0000"/>
                </a:solidFill>
              </a:rPr>
              <a:t>和</a:t>
            </a:r>
            <a:r>
              <a:rPr lang="en-US" altLang="zh-TW" dirty="0">
                <a:solidFill>
                  <a:srgbClr val="FF0000"/>
                </a:solidFill>
              </a:rPr>
              <a:t>state save</a:t>
            </a:r>
            <a:r>
              <a:rPr lang="zh-TW" altLang="en-US" dirty="0" smtClean="0">
                <a:solidFill>
                  <a:srgbClr val="FF0000"/>
                </a:solidFill>
              </a:rPr>
              <a:t>呢</a:t>
            </a:r>
            <a:r>
              <a:rPr lang="en-US" altLang="zh-TW" dirty="0" smtClean="0">
                <a:solidFill>
                  <a:srgbClr val="FF0000"/>
                </a:solidFill>
              </a:rPr>
              <a:t>? 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5473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ffectLst/>
              </a:rPr>
              <a:t>Context Switch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zh-TW" dirty="0" smtClean="0"/>
          </a:p>
          <a:p>
            <a:pPr eaLnBrk="1" hangingPunct="1"/>
            <a:r>
              <a:rPr lang="en-US" altLang="zh-TW" dirty="0" smtClean="0"/>
              <a:t>Context-switch </a:t>
            </a:r>
            <a:r>
              <a:rPr lang="en-US" altLang="zh-TW" dirty="0"/>
              <a:t>time is </a:t>
            </a:r>
            <a:r>
              <a:rPr lang="en-US" altLang="zh-TW" b="1" dirty="0">
                <a:solidFill>
                  <a:srgbClr val="FF0000"/>
                </a:solidFill>
              </a:rPr>
              <a:t>overhead</a:t>
            </a:r>
            <a:r>
              <a:rPr lang="en-US" altLang="zh-TW" dirty="0"/>
              <a:t> </a:t>
            </a:r>
          </a:p>
          <a:p>
            <a:pPr lvl="1" eaLnBrk="1" hangingPunct="1"/>
            <a:r>
              <a:rPr lang="en-US" altLang="zh-TW" dirty="0"/>
              <a:t>System does </a:t>
            </a:r>
            <a:r>
              <a:rPr lang="en-US" altLang="zh-TW" b="1" dirty="0">
                <a:solidFill>
                  <a:srgbClr val="FF0000"/>
                </a:solidFill>
              </a:rPr>
              <a:t>not</a:t>
            </a:r>
            <a:r>
              <a:rPr lang="en-US" altLang="zh-TW" dirty="0"/>
              <a:t> execute </a:t>
            </a:r>
            <a:r>
              <a:rPr lang="en-US" altLang="zh-TW" b="1" dirty="0"/>
              <a:t>user applications </a:t>
            </a:r>
            <a:r>
              <a:rPr lang="en-US" altLang="zh-TW" dirty="0"/>
              <a:t>while switching</a:t>
            </a:r>
          </a:p>
          <a:p>
            <a:pPr lvl="1" eaLnBrk="1" hangingPunct="1"/>
            <a:r>
              <a:rPr lang="en-US" altLang="zh-TW" dirty="0" smtClean="0"/>
              <a:t>See the following slide</a:t>
            </a:r>
            <a:endParaRPr lang="en-US" altLang="zh-TW" dirty="0"/>
          </a:p>
          <a:p>
            <a:pPr eaLnBrk="1" hangingPunct="1"/>
            <a:endParaRPr lang="en-US" altLang="zh-TW" dirty="0" smtClean="0"/>
          </a:p>
          <a:p>
            <a:pPr eaLnBrk="1" hangingPunct="1"/>
            <a:r>
              <a:rPr lang="en-US" altLang="zh-TW" b="1" dirty="0" smtClean="0"/>
              <a:t>Q</a:t>
            </a:r>
            <a:r>
              <a:rPr lang="en-US" altLang="zh-TW" b="1" dirty="0"/>
              <a:t>: </a:t>
            </a:r>
            <a:r>
              <a:rPr lang="zh-TW" altLang="en-US" b="1" dirty="0"/>
              <a:t>有什麼方法可以</a:t>
            </a:r>
            <a:r>
              <a:rPr lang="zh-TW" altLang="en-US" b="1" dirty="0" smtClean="0"/>
              <a:t>減少</a:t>
            </a:r>
            <a:r>
              <a:rPr lang="en-US" altLang="zh-TW" b="1" dirty="0"/>
              <a:t>context switch</a:t>
            </a:r>
            <a:r>
              <a:rPr lang="zh-TW" altLang="en-US" b="1" dirty="0"/>
              <a:t>的</a:t>
            </a:r>
            <a:r>
              <a:rPr lang="en-US" altLang="zh-TW" b="1" dirty="0"/>
              <a:t>overhead</a:t>
            </a:r>
            <a:r>
              <a:rPr lang="zh-TW" altLang="en-US" b="1" dirty="0"/>
              <a:t>呢</a:t>
            </a:r>
            <a:r>
              <a:rPr lang="en-US" altLang="zh-TW" b="1" dirty="0"/>
              <a:t>?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76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28243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 smtClean="0"/>
              <a:t>複習</a:t>
            </a:r>
            <a:r>
              <a:rPr lang="en-US" altLang="zh-TW" dirty="0" smtClean="0"/>
              <a:t>: Context </a:t>
            </a:r>
            <a:r>
              <a:rPr lang="en-US" altLang="zh-TW" dirty="0"/>
              <a:t>Switch</a:t>
            </a:r>
          </a:p>
        </p:txBody>
      </p:sp>
      <p:grpSp>
        <p:nvGrpSpPr>
          <p:cNvPr id="2" name="群組 1"/>
          <p:cNvGrpSpPr/>
          <p:nvPr/>
        </p:nvGrpSpPr>
        <p:grpSpPr>
          <a:xfrm>
            <a:off x="839416" y="1341439"/>
            <a:ext cx="10225136" cy="4752975"/>
            <a:chOff x="407368" y="1341439"/>
            <a:chExt cx="10225136" cy="4752975"/>
          </a:xfrm>
        </p:grpSpPr>
        <p:pic>
          <p:nvPicPr>
            <p:cNvPr id="12291" name="Picture 7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07368" y="1341439"/>
              <a:ext cx="10225136" cy="4752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292" name="Text Box 8"/>
            <p:cNvSpPr txBox="1">
              <a:spLocks noChangeArrowheads="1"/>
            </p:cNvSpPr>
            <p:nvPr/>
          </p:nvSpPr>
          <p:spPr bwMode="auto">
            <a:xfrm>
              <a:off x="3503712" y="5703880"/>
              <a:ext cx="1198149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800" b="1" dirty="0">
                  <a:latin typeface="Calibri" panose="020F0502020204030204" pitchFamily="34" charset="0"/>
                </a:rPr>
                <a:t>process </a:t>
              </a:r>
              <a:r>
                <a:rPr lang="en-US" altLang="zh-TW" sz="1800" b="1" dirty="0" smtClean="0">
                  <a:latin typeface="Calibri" panose="020F0502020204030204" pitchFamily="34" charset="0"/>
                </a:rPr>
                <a:t>P1</a:t>
              </a:r>
              <a:endParaRPr lang="en-US" altLang="zh-TW" sz="1800" b="1" dirty="0">
                <a:latin typeface="Calibri" panose="020F0502020204030204" pitchFamily="34" charset="0"/>
              </a:endParaRPr>
            </a:p>
          </p:txBody>
        </p:sp>
        <p:sp>
          <p:nvSpPr>
            <p:cNvPr id="12293" name="Text Box 9"/>
            <p:cNvSpPr txBox="1">
              <a:spLocks noChangeArrowheads="1"/>
            </p:cNvSpPr>
            <p:nvPr/>
          </p:nvSpPr>
          <p:spPr bwMode="auto">
            <a:xfrm>
              <a:off x="8210219" y="5725081"/>
              <a:ext cx="1198149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800" b="1" dirty="0">
                  <a:latin typeface="Calibri" panose="020F0502020204030204" pitchFamily="34" charset="0"/>
                </a:rPr>
                <a:t>process </a:t>
              </a:r>
              <a:r>
                <a:rPr lang="en-US" altLang="zh-TW" sz="1800" b="1" dirty="0" smtClean="0">
                  <a:latin typeface="Calibri" panose="020F0502020204030204" pitchFamily="34" charset="0"/>
                </a:rPr>
                <a:t>P2</a:t>
              </a:r>
              <a:endParaRPr lang="en-US" altLang="zh-TW" sz="1800" b="1" dirty="0">
                <a:latin typeface="Calibri" panose="020F0502020204030204" pitchFamily="34" charset="0"/>
              </a:endParaRPr>
            </a:p>
          </p:txBody>
        </p:sp>
        <p:sp>
          <p:nvSpPr>
            <p:cNvPr id="6" name="文字方塊 5"/>
            <p:cNvSpPr txBox="1"/>
            <p:nvPr/>
          </p:nvSpPr>
          <p:spPr>
            <a:xfrm>
              <a:off x="4079776" y="1484784"/>
              <a:ext cx="9908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800" b="1" dirty="0" smtClean="0">
                  <a:latin typeface="Calibri" panose="020F0502020204030204" pitchFamily="34" charset="0"/>
                </a:rPr>
                <a:t>P1’s </a:t>
              </a:r>
              <a:r>
                <a:rPr lang="en-US" altLang="zh-TW" sz="1800" b="1" dirty="0">
                  <a:latin typeface="Calibri" panose="020F0502020204030204" pitchFamily="34" charset="0"/>
                </a:rPr>
                <a:t>PCB</a:t>
              </a:r>
              <a:endParaRPr lang="zh-TW" altLang="en-US" sz="1800" b="1" dirty="0">
                <a:latin typeface="Calibri" panose="020F0502020204030204" pitchFamily="34" charset="0"/>
              </a:endParaRPr>
            </a:p>
          </p:txBody>
        </p:sp>
        <p:sp>
          <p:nvSpPr>
            <p:cNvPr id="7" name="文字方塊 6"/>
            <p:cNvSpPr txBox="1"/>
            <p:nvPr/>
          </p:nvSpPr>
          <p:spPr>
            <a:xfrm>
              <a:off x="8201495" y="1484784"/>
              <a:ext cx="9908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800" b="1" dirty="0" smtClean="0">
                  <a:latin typeface="Calibri" panose="020F0502020204030204" pitchFamily="34" charset="0"/>
                </a:rPr>
                <a:t>P2’s </a:t>
              </a:r>
              <a:r>
                <a:rPr lang="en-US" altLang="zh-TW" sz="1800" b="1" dirty="0">
                  <a:latin typeface="Calibri" panose="020F0502020204030204" pitchFamily="34" charset="0"/>
                </a:rPr>
                <a:t>PCB</a:t>
              </a:r>
              <a:endParaRPr lang="zh-TW" altLang="en-US" sz="1800" b="1" dirty="0">
                <a:latin typeface="Calibri" panose="020F0502020204030204" pitchFamily="34" charset="0"/>
              </a:endParaRPr>
            </a:p>
          </p:txBody>
        </p:sp>
      </p:grp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77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8840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ffectLst/>
              </a:rPr>
              <a:t>Context Switch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600" y="1268413"/>
            <a:ext cx="11247040" cy="485775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3600" b="1" dirty="0">
                <a:solidFill>
                  <a:srgbClr val="FF0000"/>
                </a:solidFill>
              </a:rPr>
              <a:t>Hardware support </a:t>
            </a:r>
            <a:r>
              <a:rPr lang="en-US" altLang="zh-TW" sz="3600" dirty="0"/>
              <a:t>for reducing context switch overhead</a:t>
            </a:r>
          </a:p>
          <a:p>
            <a:pPr lvl="1" eaLnBrk="1" hangingPunct="1"/>
            <a:endParaRPr lang="en-US" altLang="zh-TW" sz="3200" dirty="0" smtClean="0"/>
          </a:p>
          <a:p>
            <a:pPr lvl="1" eaLnBrk="1" hangingPunct="1"/>
            <a:r>
              <a:rPr lang="en-US" altLang="zh-TW" sz="3200" dirty="0" smtClean="0"/>
              <a:t>Existence </a:t>
            </a:r>
            <a:r>
              <a:rPr lang="en-US" altLang="zh-TW" sz="3200" dirty="0"/>
              <a:t>of special instructions</a:t>
            </a:r>
          </a:p>
          <a:p>
            <a:pPr lvl="2" eaLnBrk="1" hangingPunct="1"/>
            <a:r>
              <a:rPr lang="en-US" altLang="zh-TW" sz="2800" dirty="0"/>
              <a:t>A single instruction to save/load all registers</a:t>
            </a:r>
          </a:p>
          <a:p>
            <a:pPr lvl="2" eaLnBrk="1" hangingPunct="1"/>
            <a:r>
              <a:rPr lang="en-US" altLang="zh-TW" sz="2800" dirty="0"/>
              <a:t>(See p. 13 in Chapter 5 of Assembly Language)</a:t>
            </a:r>
          </a:p>
          <a:p>
            <a:pPr lvl="1" eaLnBrk="1" hangingPunct="1"/>
            <a:endParaRPr lang="en-US" altLang="zh-TW" sz="3200" dirty="0"/>
          </a:p>
          <a:p>
            <a:pPr lvl="1" eaLnBrk="1" hangingPunct="1"/>
            <a:r>
              <a:rPr lang="en-US" altLang="zh-TW" sz="3200" dirty="0"/>
              <a:t>Sun </a:t>
            </a:r>
            <a:r>
              <a:rPr lang="en-US" altLang="zh-TW" sz="3200" dirty="0" err="1"/>
              <a:t>UltraSPARC</a:t>
            </a:r>
            <a:r>
              <a:rPr lang="en-US" altLang="zh-TW" sz="3200" dirty="0"/>
              <a:t> provides multiple sets of registers</a:t>
            </a:r>
          </a:p>
          <a:p>
            <a:pPr lvl="2" eaLnBrk="1" hangingPunct="1"/>
            <a:r>
              <a:rPr lang="en-US" altLang="zh-TW" sz="2800" dirty="0"/>
              <a:t>Content switch </a:t>
            </a:r>
            <a:r>
              <a:rPr lang="en-US" altLang="zh-TW" sz="28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⇨</a:t>
            </a:r>
            <a:r>
              <a:rPr lang="en-US" altLang="zh-TW" sz="2800" dirty="0"/>
              <a:t> change to use the current register set</a:t>
            </a:r>
          </a:p>
          <a:p>
            <a:endParaRPr lang="zh-TW" altLang="en-US" sz="36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78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8105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zh-TW" altLang="en-US">
                <a:effectLst/>
              </a:rPr>
              <a:t>複習：</a:t>
            </a:r>
            <a:r>
              <a:rPr lang="en-US" altLang="zh-TW">
                <a:effectLst/>
              </a:rPr>
              <a:t>Related </a:t>
            </a:r>
            <a:r>
              <a:rPr lang="en-US" altLang="zh-TW" dirty="0">
                <a:effectLst/>
              </a:rPr>
              <a:t>Instructions</a:t>
            </a:r>
            <a:endParaRPr lang="zh-TW" altLang="en-US" dirty="0">
              <a:effectLst/>
            </a:endParaRP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  <a:spcAft>
                <a:spcPts val="600"/>
              </a:spcAft>
            </a:pPr>
            <a:r>
              <a:rPr lang="en-US" altLang="zh-TW" sz="2800" dirty="0"/>
              <a:t>PUSHFD and POPFD</a:t>
            </a:r>
          </a:p>
          <a:p>
            <a:pPr lvl="1">
              <a:lnSpc>
                <a:spcPct val="80000"/>
              </a:lnSpc>
              <a:spcAft>
                <a:spcPts val="600"/>
              </a:spcAft>
            </a:pPr>
            <a:r>
              <a:rPr lang="en-US" altLang="zh-TW" sz="2400" dirty="0"/>
              <a:t>Push and pop the EFLAGS register</a:t>
            </a:r>
          </a:p>
          <a:p>
            <a:pPr>
              <a:lnSpc>
                <a:spcPct val="80000"/>
              </a:lnSpc>
              <a:spcAft>
                <a:spcPts val="600"/>
              </a:spcAft>
            </a:pPr>
            <a:r>
              <a:rPr lang="en-US" altLang="zh-TW" sz="2800" b="1" dirty="0"/>
              <a:t>PUSHAD</a:t>
            </a:r>
            <a:r>
              <a:rPr lang="en-US" altLang="zh-TW" sz="2800" dirty="0"/>
              <a:t> pushes 32-bit general-purpose registers on stack </a:t>
            </a:r>
          </a:p>
          <a:p>
            <a:pPr lvl="1">
              <a:lnSpc>
                <a:spcPct val="80000"/>
              </a:lnSpc>
              <a:spcAft>
                <a:spcPts val="600"/>
              </a:spcAft>
            </a:pPr>
            <a:r>
              <a:rPr lang="en-US" altLang="zh-TW" sz="2400" dirty="0"/>
              <a:t>Order: EAX, ECX, EDX, EBX, ESP, EBP, ESI, EDI</a:t>
            </a:r>
          </a:p>
          <a:p>
            <a:pPr>
              <a:lnSpc>
                <a:spcPct val="80000"/>
              </a:lnSpc>
              <a:spcAft>
                <a:spcPts val="600"/>
              </a:spcAft>
            </a:pPr>
            <a:r>
              <a:rPr lang="en-US" altLang="zh-TW" sz="2800" b="1" dirty="0"/>
              <a:t>POPAD</a:t>
            </a:r>
            <a:r>
              <a:rPr lang="en-US" altLang="zh-TW" sz="2800" dirty="0"/>
              <a:t> pops the same registers off stack in reverse order</a:t>
            </a:r>
          </a:p>
          <a:p>
            <a:pPr lvl="1">
              <a:lnSpc>
                <a:spcPct val="80000"/>
              </a:lnSpc>
              <a:spcAft>
                <a:spcPts val="600"/>
              </a:spcAft>
            </a:pPr>
            <a:r>
              <a:rPr lang="en-US" altLang="zh-TW" sz="2400" dirty="0"/>
              <a:t>PUSHA and POPA do the same for 16-bit registers</a:t>
            </a:r>
            <a:endParaRPr lang="zh-TW" altLang="en-US" sz="2400" dirty="0"/>
          </a:p>
          <a:p>
            <a:pPr>
              <a:lnSpc>
                <a:spcPct val="80000"/>
              </a:lnSpc>
            </a:pPr>
            <a:endParaRPr lang="zh-TW" altLang="en-US" sz="2400" dirty="0"/>
          </a:p>
        </p:txBody>
      </p:sp>
      <p:sp>
        <p:nvSpPr>
          <p:cNvPr id="40964" name="Text Box 4"/>
          <p:cNvSpPr txBox="1">
            <a:spLocks noChangeArrowheads="1"/>
          </p:cNvSpPr>
          <p:nvPr/>
        </p:nvSpPr>
        <p:spPr bwMode="auto">
          <a:xfrm>
            <a:off x="1881159" y="4500570"/>
            <a:ext cx="4238625" cy="1674812"/>
          </a:xfrm>
          <a:prstGeom prst="rect">
            <a:avLst/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</p:spPr>
        <p:txBody>
          <a:bodyPr wrap="none" tIns="137160" bIns="137160">
            <a:spAutoFit/>
          </a:bodyPr>
          <a:lstStyle/>
          <a:p>
            <a:r>
              <a:rPr kumimoji="0" lang="en-US" altLang="zh-TW" sz="1800">
                <a:solidFill>
                  <a:srgbClr val="000000"/>
                </a:solidFill>
                <a:ea typeface="新細明體" pitchFamily="18" charset="-120"/>
              </a:rPr>
              <a:t>.data</a:t>
            </a:r>
          </a:p>
          <a:p>
            <a:r>
              <a:rPr kumimoji="0" lang="en-US" altLang="zh-TW" sz="1800">
                <a:solidFill>
                  <a:srgbClr val="000000"/>
                </a:solidFill>
                <a:ea typeface="新細明體" pitchFamily="18" charset="-120"/>
              </a:rPr>
              <a:t>saveFlags DWORD ?</a:t>
            </a:r>
          </a:p>
          <a:p>
            <a:r>
              <a:rPr kumimoji="0" lang="en-US" altLang="zh-TW" sz="1800">
                <a:solidFill>
                  <a:srgbClr val="000000"/>
                </a:solidFill>
                <a:ea typeface="新細明體" pitchFamily="18" charset="-120"/>
              </a:rPr>
              <a:t>.code</a:t>
            </a:r>
          </a:p>
          <a:p>
            <a:r>
              <a:rPr kumimoji="0" lang="en-US" altLang="zh-TW" sz="1800">
                <a:solidFill>
                  <a:srgbClr val="000000"/>
                </a:solidFill>
                <a:ea typeface="新細明體" pitchFamily="18" charset="-120"/>
              </a:rPr>
              <a:t>   pushfd                ; push flags on stack</a:t>
            </a:r>
          </a:p>
          <a:p>
            <a:r>
              <a:rPr kumimoji="0" lang="en-US" altLang="zh-TW" sz="1800">
                <a:solidFill>
                  <a:srgbClr val="000000"/>
                </a:solidFill>
                <a:ea typeface="新細明體" pitchFamily="18" charset="-120"/>
              </a:rPr>
              <a:t>   pop   saveFlags  ; copy into a variable</a:t>
            </a:r>
            <a:endParaRPr kumimoji="0" lang="zh-TW" altLang="en-US" sz="180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40965" name="Text Box 5"/>
          <p:cNvSpPr txBox="1">
            <a:spLocks noChangeArrowheads="1"/>
          </p:cNvSpPr>
          <p:nvPr/>
        </p:nvSpPr>
        <p:spPr bwMode="auto">
          <a:xfrm>
            <a:off x="6238877" y="4500570"/>
            <a:ext cx="4327525" cy="850900"/>
          </a:xfrm>
          <a:prstGeom prst="rect">
            <a:avLst/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</p:spPr>
        <p:txBody>
          <a:bodyPr wrap="none" tIns="137160" bIns="137160">
            <a:spAutoFit/>
          </a:bodyPr>
          <a:lstStyle/>
          <a:p>
            <a:r>
              <a:rPr kumimoji="0" lang="en-US" altLang="zh-TW" sz="1800">
                <a:solidFill>
                  <a:srgbClr val="000000"/>
                </a:solidFill>
                <a:ea typeface="新細明體" pitchFamily="18" charset="-120"/>
              </a:rPr>
              <a:t>push saveFlags ; push saved flag values</a:t>
            </a:r>
          </a:p>
          <a:p>
            <a:r>
              <a:rPr kumimoji="0" lang="en-US" altLang="zh-TW" sz="1800">
                <a:solidFill>
                  <a:srgbClr val="000000"/>
                </a:solidFill>
                <a:ea typeface="新細明體" pitchFamily="18" charset="-120"/>
              </a:rPr>
              <a:t>popfd 	            ; copy into a variable</a:t>
            </a:r>
            <a:endParaRPr kumimoji="0" lang="zh-TW" altLang="en-US" sz="1800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600248-D87A-484E-BE2A-139598D528A9}" type="slidenum">
              <a:rPr lang="en-US" altLang="zh-TW" smtClean="0">
                <a:solidFill>
                  <a:srgbClr val="000000"/>
                </a:solidFill>
                <a:ea typeface="新細明體" pitchFamily="18" charset="-120"/>
              </a:rPr>
              <a:pPr>
                <a:defRPr/>
              </a:pPr>
              <a:t>79</a:t>
            </a:fld>
            <a:endParaRPr lang="en-US" altLang="zh-TW">
              <a:solidFill>
                <a:srgbClr val="000000"/>
              </a:solidFill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58018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zh-TW" dirty="0">
                <a:effectLst/>
              </a:rPr>
              <a:t>Multiple Sets of Registers</a:t>
            </a:r>
            <a:endParaRPr lang="zh-TW" altLang="en-US" dirty="0">
              <a:effectLst/>
            </a:endParaRPr>
          </a:p>
        </p:txBody>
      </p:sp>
      <p:pic>
        <p:nvPicPr>
          <p:cNvPr id="2969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79650" y="1772940"/>
            <a:ext cx="7056438" cy="482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1382" name="Rectangle 6"/>
          <p:cNvSpPr>
            <a:spLocks noChangeArrowheads="1"/>
          </p:cNvSpPr>
          <p:nvPr/>
        </p:nvSpPr>
        <p:spPr bwMode="auto">
          <a:xfrm>
            <a:off x="4151314" y="2349203"/>
            <a:ext cx="1150937" cy="18716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altLang="zh-TW" sz="2400">
                <a:latin typeface="Calibri" panose="020F0502020204030204" pitchFamily="34" charset="0"/>
                <a:ea typeface="新細明體" pitchFamily="18" charset="-120"/>
              </a:rPr>
              <a:t>eax</a:t>
            </a:r>
            <a:r>
              <a:rPr lang="en-US" altLang="zh-TW" sz="2400" baseline="-25000">
                <a:latin typeface="Calibri" panose="020F0502020204030204" pitchFamily="34" charset="0"/>
                <a:ea typeface="新細明體" pitchFamily="18" charset="-120"/>
              </a:rPr>
              <a:t>1</a:t>
            </a:r>
            <a:r>
              <a:rPr lang="en-US" altLang="zh-TW" sz="2400">
                <a:latin typeface="Calibri" panose="020F0502020204030204" pitchFamily="34" charset="0"/>
                <a:ea typeface="新細明體" pitchFamily="18" charset="-120"/>
              </a:rPr>
              <a:t>=1;</a:t>
            </a:r>
          </a:p>
          <a:p>
            <a:pPr algn="ctr">
              <a:defRPr/>
            </a:pPr>
            <a:r>
              <a:rPr lang="en-US" altLang="zh-TW" sz="2400">
                <a:latin typeface="Calibri" panose="020F0502020204030204" pitchFamily="34" charset="0"/>
                <a:ea typeface="新細明體" pitchFamily="18" charset="-120"/>
              </a:rPr>
              <a:t>ebx</a:t>
            </a:r>
            <a:r>
              <a:rPr lang="en-US" altLang="zh-TW" sz="2400" baseline="-25000">
                <a:latin typeface="Calibri" panose="020F0502020204030204" pitchFamily="34" charset="0"/>
                <a:ea typeface="新細明體" pitchFamily="18" charset="-120"/>
              </a:rPr>
              <a:t>1</a:t>
            </a:r>
            <a:r>
              <a:rPr lang="en-US" altLang="zh-TW" sz="2400">
                <a:latin typeface="Calibri" panose="020F0502020204030204" pitchFamily="34" charset="0"/>
                <a:ea typeface="新細明體" pitchFamily="18" charset="-120"/>
              </a:rPr>
              <a:t>=5;</a:t>
            </a:r>
          </a:p>
          <a:p>
            <a:pPr algn="ctr">
              <a:defRPr/>
            </a:pPr>
            <a:r>
              <a:rPr lang="en-US" altLang="zh-TW" sz="2400">
                <a:latin typeface="Calibri" panose="020F0502020204030204" pitchFamily="34" charset="0"/>
                <a:ea typeface="新細明體" pitchFamily="18" charset="-120"/>
              </a:rPr>
              <a:t>ecx</a:t>
            </a:r>
            <a:r>
              <a:rPr lang="en-US" altLang="zh-TW" sz="2400" baseline="-25000">
                <a:latin typeface="Calibri" panose="020F0502020204030204" pitchFamily="34" charset="0"/>
                <a:ea typeface="新細明體" pitchFamily="18" charset="-120"/>
              </a:rPr>
              <a:t>1</a:t>
            </a:r>
            <a:r>
              <a:rPr lang="en-US" altLang="zh-TW" sz="2400">
                <a:latin typeface="Calibri" panose="020F0502020204030204" pitchFamily="34" charset="0"/>
                <a:ea typeface="新細明體" pitchFamily="18" charset="-120"/>
              </a:rPr>
              <a:t>=8;</a:t>
            </a:r>
          </a:p>
          <a:p>
            <a:pPr algn="ctr">
              <a:defRPr/>
            </a:pPr>
            <a:r>
              <a:rPr lang="en-US" altLang="zh-TW" sz="2400">
                <a:latin typeface="Calibri" panose="020F0502020204030204" pitchFamily="34" charset="0"/>
                <a:ea typeface="新細明體" pitchFamily="18" charset="-120"/>
              </a:rPr>
              <a:t>edx</a:t>
            </a:r>
            <a:r>
              <a:rPr lang="en-US" altLang="zh-TW" sz="2400" baseline="-25000">
                <a:latin typeface="Calibri" panose="020F0502020204030204" pitchFamily="34" charset="0"/>
                <a:ea typeface="新細明體" pitchFamily="18" charset="-120"/>
              </a:rPr>
              <a:t>1</a:t>
            </a:r>
            <a:r>
              <a:rPr lang="en-US" altLang="zh-TW" sz="2400">
                <a:latin typeface="Calibri" panose="020F0502020204030204" pitchFamily="34" charset="0"/>
                <a:ea typeface="新細明體" pitchFamily="18" charset="-120"/>
              </a:rPr>
              <a:t>=6;</a:t>
            </a:r>
          </a:p>
          <a:p>
            <a:pPr algn="ctr">
              <a:defRPr/>
            </a:pPr>
            <a:r>
              <a:rPr lang="en-US" altLang="zh-TW" sz="2400">
                <a:latin typeface="Calibri" panose="020F0502020204030204" pitchFamily="34" charset="0"/>
                <a:ea typeface="新細明體" pitchFamily="18" charset="-120"/>
              </a:rPr>
              <a:t>……</a:t>
            </a:r>
          </a:p>
        </p:txBody>
      </p:sp>
      <p:sp>
        <p:nvSpPr>
          <p:cNvPr id="29701" name="Text Box 4"/>
          <p:cNvSpPr txBox="1">
            <a:spLocks noChangeArrowheads="1"/>
          </p:cNvSpPr>
          <p:nvPr/>
        </p:nvSpPr>
        <p:spPr bwMode="auto">
          <a:xfrm>
            <a:off x="4151313" y="5732165"/>
            <a:ext cx="118603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>
                <a:latin typeface="Calibri" panose="020F0502020204030204" pitchFamily="34" charset="0"/>
              </a:rPr>
              <a:t>process P1</a:t>
            </a:r>
          </a:p>
        </p:txBody>
      </p:sp>
      <p:sp>
        <p:nvSpPr>
          <p:cNvPr id="29702" name="Text Box 4"/>
          <p:cNvSpPr txBox="1">
            <a:spLocks noChangeArrowheads="1"/>
          </p:cNvSpPr>
          <p:nvPr/>
        </p:nvSpPr>
        <p:spPr bwMode="auto">
          <a:xfrm>
            <a:off x="7535863" y="5732165"/>
            <a:ext cx="118603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>
                <a:latin typeface="Calibri" panose="020F0502020204030204" pitchFamily="34" charset="0"/>
              </a:rPr>
              <a:t>process P2</a:t>
            </a:r>
          </a:p>
        </p:txBody>
      </p:sp>
      <p:sp>
        <p:nvSpPr>
          <p:cNvPr id="101385" name="Rectangle 9"/>
          <p:cNvSpPr>
            <a:spLocks noChangeArrowheads="1"/>
          </p:cNvSpPr>
          <p:nvPr/>
        </p:nvSpPr>
        <p:spPr bwMode="auto">
          <a:xfrm>
            <a:off x="5844380" y="2349203"/>
            <a:ext cx="1150938" cy="1871663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altLang="zh-TW" sz="2400" dirty="0">
                <a:latin typeface="Calibri" panose="020F0502020204030204" pitchFamily="34" charset="0"/>
                <a:ea typeface="新細明體" pitchFamily="18" charset="-120"/>
              </a:rPr>
              <a:t>eax</a:t>
            </a:r>
            <a:r>
              <a:rPr lang="en-US" altLang="zh-TW" sz="2400" baseline="-25000" dirty="0">
                <a:latin typeface="Calibri" panose="020F0502020204030204" pitchFamily="34" charset="0"/>
                <a:ea typeface="新細明體" pitchFamily="18" charset="-120"/>
              </a:rPr>
              <a:t>2</a:t>
            </a:r>
            <a:r>
              <a:rPr lang="en-US" altLang="zh-TW" sz="2400" dirty="0">
                <a:latin typeface="Calibri" panose="020F0502020204030204" pitchFamily="34" charset="0"/>
                <a:ea typeface="新細明體" pitchFamily="18" charset="-120"/>
              </a:rPr>
              <a:t>=4;</a:t>
            </a:r>
          </a:p>
          <a:p>
            <a:pPr algn="ctr">
              <a:defRPr/>
            </a:pPr>
            <a:r>
              <a:rPr lang="en-US" altLang="zh-TW" sz="2400" dirty="0">
                <a:latin typeface="Calibri" panose="020F0502020204030204" pitchFamily="34" charset="0"/>
                <a:ea typeface="新細明體" pitchFamily="18" charset="-120"/>
              </a:rPr>
              <a:t>ebx</a:t>
            </a:r>
            <a:r>
              <a:rPr lang="en-US" altLang="zh-TW" sz="2400" baseline="-25000" dirty="0">
                <a:latin typeface="Calibri" panose="020F0502020204030204" pitchFamily="34" charset="0"/>
                <a:ea typeface="新細明體" pitchFamily="18" charset="-120"/>
              </a:rPr>
              <a:t>2</a:t>
            </a:r>
            <a:r>
              <a:rPr lang="en-US" altLang="zh-TW" sz="2400" dirty="0">
                <a:latin typeface="Calibri" panose="020F0502020204030204" pitchFamily="34" charset="0"/>
                <a:ea typeface="新細明體" pitchFamily="18" charset="-120"/>
              </a:rPr>
              <a:t>=3;</a:t>
            </a:r>
          </a:p>
          <a:p>
            <a:pPr algn="ctr">
              <a:defRPr/>
            </a:pPr>
            <a:r>
              <a:rPr lang="en-US" altLang="zh-TW" sz="2400" dirty="0">
                <a:latin typeface="Calibri" panose="020F0502020204030204" pitchFamily="34" charset="0"/>
                <a:ea typeface="新細明體" pitchFamily="18" charset="-120"/>
              </a:rPr>
              <a:t>ecx</a:t>
            </a:r>
            <a:r>
              <a:rPr lang="en-US" altLang="zh-TW" sz="2400" baseline="-25000" dirty="0">
                <a:latin typeface="Calibri" panose="020F0502020204030204" pitchFamily="34" charset="0"/>
                <a:ea typeface="新細明體" pitchFamily="18" charset="-120"/>
              </a:rPr>
              <a:t>2</a:t>
            </a:r>
            <a:r>
              <a:rPr lang="en-US" altLang="zh-TW" sz="2400" dirty="0">
                <a:latin typeface="Calibri" panose="020F0502020204030204" pitchFamily="34" charset="0"/>
                <a:ea typeface="新細明體" pitchFamily="18" charset="-120"/>
              </a:rPr>
              <a:t>=7;</a:t>
            </a:r>
          </a:p>
          <a:p>
            <a:pPr algn="ctr">
              <a:defRPr/>
            </a:pPr>
            <a:r>
              <a:rPr lang="en-US" altLang="zh-TW" sz="2400" dirty="0">
                <a:latin typeface="Calibri" panose="020F0502020204030204" pitchFamily="34" charset="0"/>
                <a:ea typeface="新細明體" pitchFamily="18" charset="-120"/>
              </a:rPr>
              <a:t>edx</a:t>
            </a:r>
            <a:r>
              <a:rPr lang="en-US" altLang="zh-TW" sz="2400" baseline="-25000" dirty="0">
                <a:latin typeface="Calibri" panose="020F0502020204030204" pitchFamily="34" charset="0"/>
                <a:ea typeface="新細明體" pitchFamily="18" charset="-120"/>
              </a:rPr>
              <a:t>2</a:t>
            </a:r>
            <a:r>
              <a:rPr lang="en-US" altLang="zh-TW" sz="2400" dirty="0">
                <a:latin typeface="Calibri" panose="020F0502020204030204" pitchFamily="34" charset="0"/>
                <a:ea typeface="新細明體" pitchFamily="18" charset="-120"/>
              </a:rPr>
              <a:t>=8;</a:t>
            </a:r>
          </a:p>
          <a:p>
            <a:pPr algn="ctr">
              <a:defRPr/>
            </a:pPr>
            <a:r>
              <a:rPr lang="en-US" altLang="zh-TW" sz="2400" dirty="0">
                <a:latin typeface="Calibri" panose="020F0502020204030204" pitchFamily="34" charset="0"/>
                <a:ea typeface="新細明體" pitchFamily="18" charset="-120"/>
              </a:rPr>
              <a:t>……</a:t>
            </a:r>
          </a:p>
        </p:txBody>
      </p:sp>
      <p:sp>
        <p:nvSpPr>
          <p:cNvPr id="101389" name="Rectangle 13"/>
          <p:cNvSpPr>
            <a:spLocks noChangeArrowheads="1"/>
          </p:cNvSpPr>
          <p:nvPr/>
        </p:nvSpPr>
        <p:spPr bwMode="auto">
          <a:xfrm>
            <a:off x="3792538" y="1412578"/>
            <a:ext cx="5111750" cy="3095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>
              <a:latin typeface="Calibri" panose="020F0502020204030204" pitchFamily="34" charset="0"/>
              <a:ea typeface="新細明體" pitchFamily="18" charset="-120"/>
            </a:endParaRPr>
          </a:p>
        </p:txBody>
      </p:sp>
      <p:sp>
        <p:nvSpPr>
          <p:cNvPr id="101390" name="Text Box 14"/>
          <p:cNvSpPr txBox="1">
            <a:spLocks noChangeArrowheads="1"/>
          </p:cNvSpPr>
          <p:nvPr/>
        </p:nvSpPr>
        <p:spPr bwMode="auto">
          <a:xfrm>
            <a:off x="5716589" y="1498303"/>
            <a:ext cx="966931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b="1" dirty="0">
                <a:solidFill>
                  <a:srgbClr val="FF0000"/>
                </a:solidFill>
                <a:latin typeface="Calibri" panose="020F0502020204030204" pitchFamily="34" charset="0"/>
                <a:ea typeface="新細明體" pitchFamily="18" charset="-120"/>
              </a:rPr>
              <a:t>CPU</a:t>
            </a:r>
          </a:p>
        </p:txBody>
      </p:sp>
      <p:sp>
        <p:nvSpPr>
          <p:cNvPr id="101391" name="Text Box 15"/>
          <p:cNvSpPr txBox="1">
            <a:spLocks noChangeArrowheads="1"/>
          </p:cNvSpPr>
          <p:nvPr/>
        </p:nvSpPr>
        <p:spPr bwMode="auto">
          <a:xfrm>
            <a:off x="7176121" y="2852515"/>
            <a:ext cx="122413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TW" dirty="0">
                <a:latin typeface="Calibri" panose="020F0502020204030204" pitchFamily="34" charset="0"/>
                <a:ea typeface="新細明體" pitchFamily="18" charset="-120"/>
              </a:rPr>
              <a:t>……</a:t>
            </a:r>
          </a:p>
        </p:txBody>
      </p:sp>
      <p:sp>
        <p:nvSpPr>
          <p:cNvPr id="101393" name="Line 17"/>
          <p:cNvSpPr>
            <a:spLocks noChangeShapeType="1"/>
          </p:cNvSpPr>
          <p:nvPr/>
        </p:nvSpPr>
        <p:spPr bwMode="auto">
          <a:xfrm>
            <a:off x="6060282" y="2021221"/>
            <a:ext cx="323751" cy="32798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>
              <a:defRPr/>
            </a:pPr>
            <a:endParaRPr lang="zh-TW" altLang="en-US">
              <a:latin typeface="Calibri" panose="020F0502020204030204" pitchFamily="34" charset="0"/>
              <a:ea typeface="新細明體" pitchFamily="18" charset="-120"/>
            </a:endParaRPr>
          </a:p>
        </p:txBody>
      </p:sp>
      <p:sp>
        <p:nvSpPr>
          <p:cNvPr id="101394" name="Line 18"/>
          <p:cNvSpPr>
            <a:spLocks noChangeShapeType="1"/>
          </p:cNvSpPr>
          <p:nvPr/>
        </p:nvSpPr>
        <p:spPr bwMode="auto">
          <a:xfrm flipH="1">
            <a:off x="5284788" y="2032199"/>
            <a:ext cx="757633" cy="3170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>
              <a:defRPr/>
            </a:pPr>
            <a:endParaRPr lang="zh-TW" altLang="en-US">
              <a:latin typeface="Calibri" panose="020F0502020204030204" pitchFamily="34" charset="0"/>
              <a:ea typeface="新細明體" pitchFamily="18" charset="-120"/>
            </a:endParaRPr>
          </a:p>
        </p:txBody>
      </p:sp>
      <p:sp>
        <p:nvSpPr>
          <p:cNvPr id="101395" name="Rectangle 19"/>
          <p:cNvSpPr>
            <a:spLocks noChangeArrowheads="1"/>
          </p:cNvSpPr>
          <p:nvPr/>
        </p:nvSpPr>
        <p:spPr bwMode="auto">
          <a:xfrm>
            <a:off x="5808663" y="4652666"/>
            <a:ext cx="1223962" cy="720725"/>
          </a:xfrm>
          <a:prstGeom prst="rect">
            <a:avLst/>
          </a:prstGeom>
          <a:noFill/>
          <a:ln w="12700">
            <a:solidFill>
              <a:srgbClr val="FF3300"/>
            </a:solidFill>
            <a:miter lim="800000"/>
            <a:headEnd/>
            <a:tailEnd/>
          </a:ln>
          <a:effectLst>
            <a:prstShdw prst="shdw17" dist="17961" dir="2700000">
              <a:srgbClr val="991F00"/>
            </a:prstShdw>
          </a:effectLst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80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0" dur="500"/>
                                        <p:tgtEl>
                                          <p:spTgt spid="1013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95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839416" y="2130426"/>
            <a:ext cx="10654208" cy="1470025"/>
          </a:xfrm>
        </p:spPr>
        <p:txBody>
          <a:bodyPr/>
          <a:lstStyle/>
          <a:p>
            <a:r>
              <a:rPr lang="en-US" altLang="zh-TW" sz="3600" dirty="0" smtClean="0"/>
              <a:t>Q: </a:t>
            </a:r>
            <a:r>
              <a:rPr lang="zh-TW" altLang="en-US" sz="3600" dirty="0" smtClean="0"/>
              <a:t>前面只關心</a:t>
            </a:r>
            <a:r>
              <a:rPr lang="en-US" altLang="zh-TW" sz="3600" dirty="0">
                <a:solidFill>
                  <a:srgbClr val="FF0000"/>
                </a:solidFill>
              </a:rPr>
              <a:t>CPU</a:t>
            </a:r>
            <a:r>
              <a:rPr lang="zh-TW" altLang="en-US" sz="3600" dirty="0">
                <a:solidFill>
                  <a:srgbClr val="FF0000"/>
                </a:solidFill>
              </a:rPr>
              <a:t>內部暫存器</a:t>
            </a:r>
            <a:r>
              <a:rPr lang="zh-TW" altLang="en-US" sz="3600" dirty="0"/>
              <a:t>的</a:t>
            </a:r>
            <a:r>
              <a:rPr lang="zh-TW" altLang="en-US" sz="3600" dirty="0" smtClean="0"/>
              <a:t>狀態</a:t>
            </a:r>
            <a:r>
              <a:rPr lang="en-US" altLang="zh-TW" sz="3600" dirty="0" smtClean="0"/>
              <a:t>, </a:t>
            </a:r>
            <a:r>
              <a:rPr lang="zh-TW" altLang="en-US" sz="3600" dirty="0" smtClean="0"/>
              <a:t>當</a:t>
            </a:r>
            <a:r>
              <a:rPr lang="en-US" altLang="zh-TW" sz="3600" dirty="0" smtClean="0"/>
              <a:t>context switch</a:t>
            </a:r>
            <a:r>
              <a:rPr lang="zh-TW" altLang="en-US" sz="3600" dirty="0"/>
              <a:t>時</a:t>
            </a:r>
            <a:r>
              <a:rPr lang="en-US" altLang="zh-TW" sz="3600" dirty="0" smtClean="0"/>
              <a:t>, </a:t>
            </a:r>
            <a:r>
              <a:rPr lang="zh-TW" altLang="en-US" sz="3600" dirty="0" smtClean="0"/>
              <a:t>那</a:t>
            </a:r>
            <a:r>
              <a:rPr lang="en-US" altLang="zh-TW" sz="3600" dirty="0">
                <a:solidFill>
                  <a:srgbClr val="0000FF"/>
                </a:solidFill>
              </a:rPr>
              <a:t>P1</a:t>
            </a:r>
            <a:r>
              <a:rPr lang="zh-TW" altLang="en-US" sz="3600" dirty="0">
                <a:solidFill>
                  <a:srgbClr val="0000FF"/>
                </a:solidFill>
              </a:rPr>
              <a:t>的</a:t>
            </a:r>
            <a:r>
              <a:rPr lang="zh-TW" altLang="en-US" sz="3600" dirty="0" smtClean="0">
                <a:solidFill>
                  <a:srgbClr val="0000FF"/>
                </a:solidFill>
              </a:rPr>
              <a:t>記憶體內容</a:t>
            </a:r>
            <a:r>
              <a:rPr lang="en-US" altLang="zh-TW" sz="3600" dirty="0" smtClean="0">
                <a:solidFill>
                  <a:srgbClr val="0000FF"/>
                </a:solidFill>
              </a:rPr>
              <a:t>(</a:t>
            </a:r>
            <a:r>
              <a:rPr lang="zh-TW" altLang="en-US" sz="3600" dirty="0">
                <a:solidFill>
                  <a:srgbClr val="0000FF"/>
                </a:solidFill>
              </a:rPr>
              <a:t>變數</a:t>
            </a:r>
            <a:r>
              <a:rPr lang="en-US" altLang="zh-TW" sz="3600" dirty="0">
                <a:solidFill>
                  <a:srgbClr val="0000FF"/>
                </a:solidFill>
              </a:rPr>
              <a:t>)</a:t>
            </a:r>
            <a:r>
              <a:rPr lang="zh-TW" altLang="en-US" sz="3600" dirty="0">
                <a:solidFill>
                  <a:srgbClr val="0000FF"/>
                </a:solidFill>
              </a:rPr>
              <a:t>和</a:t>
            </a:r>
            <a:r>
              <a:rPr lang="zh-TW" altLang="en-US" sz="3600" dirty="0" smtClean="0">
                <a:solidFill>
                  <a:srgbClr val="0000FF"/>
                </a:solidFill>
              </a:rPr>
              <a:t>硬碟內容</a:t>
            </a:r>
            <a:r>
              <a:rPr lang="en-US" altLang="zh-TW" sz="3600" dirty="0" smtClean="0">
                <a:solidFill>
                  <a:srgbClr val="0000FF"/>
                </a:solidFill>
              </a:rPr>
              <a:t>(</a:t>
            </a:r>
            <a:r>
              <a:rPr lang="zh-TW" altLang="en-US" sz="3600" dirty="0">
                <a:solidFill>
                  <a:srgbClr val="0000FF"/>
                </a:solidFill>
              </a:rPr>
              <a:t>檔案</a:t>
            </a:r>
            <a:r>
              <a:rPr lang="en-US" altLang="zh-TW" sz="3600" dirty="0">
                <a:solidFill>
                  <a:srgbClr val="0000FF"/>
                </a:solidFill>
              </a:rPr>
              <a:t>)</a:t>
            </a:r>
            <a:r>
              <a:rPr lang="zh-TW" altLang="en-US" sz="3600" dirty="0">
                <a:solidFill>
                  <a:srgbClr val="0000FF"/>
                </a:solidFill>
              </a:rPr>
              <a:t>也會被</a:t>
            </a:r>
            <a:r>
              <a:rPr lang="en-US" altLang="zh-TW" sz="3600" dirty="0">
                <a:solidFill>
                  <a:srgbClr val="0000FF"/>
                </a:solidFill>
              </a:rPr>
              <a:t>P2</a:t>
            </a:r>
            <a:r>
              <a:rPr lang="zh-TW" altLang="en-US" sz="3600" dirty="0">
                <a:solidFill>
                  <a:srgbClr val="0000FF"/>
                </a:solidFill>
              </a:rPr>
              <a:t>破壞嗎</a:t>
            </a:r>
            <a:r>
              <a:rPr lang="en-US" altLang="zh-TW" sz="3600" dirty="0" smtClean="0">
                <a:solidFill>
                  <a:srgbClr val="0000FF"/>
                </a:solidFill>
              </a:rPr>
              <a:t>?</a:t>
            </a:r>
            <a:endParaRPr lang="zh-TW" altLang="en-US" sz="36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271464" y="4077072"/>
            <a:ext cx="10006136" cy="1752600"/>
          </a:xfrm>
        </p:spPr>
        <p:txBody>
          <a:bodyPr/>
          <a:lstStyle/>
          <a:p>
            <a:endParaRPr lang="en-US" altLang="zh-TW" b="1" dirty="0" smtClean="0">
              <a:solidFill>
                <a:srgbClr val="FF0000"/>
              </a:solidFill>
            </a:endParaRPr>
          </a:p>
          <a:p>
            <a:r>
              <a:rPr lang="en-US" altLang="zh-TW" b="1" dirty="0" smtClean="0">
                <a:solidFill>
                  <a:srgbClr val="FF0000"/>
                </a:solidFill>
              </a:rPr>
              <a:t>Hint: </a:t>
            </a:r>
            <a:r>
              <a:rPr lang="zh-TW" altLang="en-US" b="1" dirty="0" smtClean="0">
                <a:solidFill>
                  <a:srgbClr val="FF0000"/>
                </a:solidFill>
              </a:rPr>
              <a:t>怎樣的情形下會被破壞</a:t>
            </a:r>
            <a:r>
              <a:rPr lang="en-US" altLang="zh-TW" b="1" dirty="0" smtClean="0">
                <a:solidFill>
                  <a:srgbClr val="FF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11414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</a:rPr>
              <a:t>Q: </a:t>
            </a:r>
            <a:r>
              <a:rPr lang="zh-TW" altLang="en-US" dirty="0" smtClean="0">
                <a:solidFill>
                  <a:srgbClr val="FF0000"/>
                </a:solidFill>
              </a:rPr>
              <a:t>怎樣</a:t>
            </a:r>
            <a:r>
              <a:rPr lang="zh-TW" altLang="en-US" dirty="0">
                <a:solidFill>
                  <a:srgbClr val="FF0000"/>
                </a:solidFill>
              </a:rPr>
              <a:t>的情形下會被破壞</a:t>
            </a:r>
            <a:r>
              <a:rPr lang="en-US" altLang="zh-TW" dirty="0" smtClean="0">
                <a:solidFill>
                  <a:srgbClr val="FF0000"/>
                </a:solidFill>
              </a:rPr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b="1" dirty="0" smtClean="0">
              <a:solidFill>
                <a:srgbClr val="0000FF"/>
              </a:solidFill>
            </a:endParaRPr>
          </a:p>
          <a:p>
            <a:r>
              <a:rPr lang="en-US" altLang="zh-TW" b="1" dirty="0" err="1" smtClean="0">
                <a:solidFill>
                  <a:srgbClr val="0000FF"/>
                </a:solidFill>
              </a:rPr>
              <a:t>Ans</a:t>
            </a:r>
            <a:r>
              <a:rPr lang="en-US" altLang="zh-TW" b="1" dirty="0" smtClean="0">
                <a:solidFill>
                  <a:srgbClr val="0000FF"/>
                </a:solidFill>
              </a:rPr>
              <a:t>: </a:t>
            </a:r>
            <a:r>
              <a:rPr lang="zh-TW" altLang="en-US" b="1" dirty="0" smtClean="0">
                <a:solidFill>
                  <a:srgbClr val="0000FF"/>
                </a:solidFill>
              </a:rPr>
              <a:t>有</a:t>
            </a:r>
            <a:r>
              <a:rPr lang="zh-TW" altLang="en-US" b="1" dirty="0">
                <a:solidFill>
                  <a:srgbClr val="0000FF"/>
                </a:solidFill>
              </a:rPr>
              <a:t>共享的</a:t>
            </a:r>
            <a:r>
              <a:rPr lang="zh-TW" altLang="en-US" b="1" dirty="0" smtClean="0">
                <a:solidFill>
                  <a:srgbClr val="0000FF"/>
                </a:solidFill>
              </a:rPr>
              <a:t>時候</a:t>
            </a:r>
            <a:r>
              <a:rPr lang="en-US" altLang="zh-TW" b="1" dirty="0" smtClean="0">
                <a:solidFill>
                  <a:srgbClr val="0000FF"/>
                </a:solidFill>
              </a:rPr>
              <a:t>~</a:t>
            </a:r>
          </a:p>
          <a:p>
            <a:r>
              <a:rPr lang="zh-TW" altLang="en-US" b="1" dirty="0" smtClean="0">
                <a:solidFill>
                  <a:srgbClr val="0000FF"/>
                </a:solidFill>
              </a:rPr>
              <a:t>例如</a:t>
            </a:r>
            <a:r>
              <a:rPr lang="en-US" altLang="zh-TW" b="1" dirty="0" smtClean="0">
                <a:solidFill>
                  <a:srgbClr val="0000FF"/>
                </a:solidFill>
              </a:rPr>
              <a:t>: P1</a:t>
            </a:r>
            <a:r>
              <a:rPr lang="zh-TW" altLang="en-US" b="1" dirty="0" smtClean="0">
                <a:solidFill>
                  <a:srgbClr val="0000FF"/>
                </a:solidFill>
              </a:rPr>
              <a:t>和</a:t>
            </a:r>
            <a:r>
              <a:rPr lang="en-US" altLang="zh-TW" b="1" dirty="0" smtClean="0">
                <a:solidFill>
                  <a:srgbClr val="0000FF"/>
                </a:solidFill>
              </a:rPr>
              <a:t>P2</a:t>
            </a:r>
            <a:r>
              <a:rPr lang="zh-TW" altLang="en-US" b="1" dirty="0" smtClean="0">
                <a:solidFill>
                  <a:srgbClr val="0000FF"/>
                </a:solidFill>
              </a:rPr>
              <a:t>共享記憶體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741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zh-TW" altLang="en-US" dirty="0" smtClean="0">
                <a:effectLst/>
              </a:rPr>
              <a:t>複習</a:t>
            </a:r>
            <a:r>
              <a:rPr lang="en-US" altLang="zh-TW" dirty="0" smtClean="0">
                <a:effectLst/>
              </a:rPr>
              <a:t>:</a:t>
            </a:r>
            <a:r>
              <a:rPr lang="zh-TW" altLang="en-US" dirty="0" smtClean="0">
                <a:effectLst/>
              </a:rPr>
              <a:t> </a:t>
            </a:r>
            <a:r>
              <a:rPr lang="en-US" altLang="zh-TW" dirty="0" smtClean="0">
                <a:effectLst/>
              </a:rPr>
              <a:t>Multiple </a:t>
            </a:r>
            <a:r>
              <a:rPr lang="en-US" altLang="zh-TW" dirty="0">
                <a:effectLst/>
              </a:rPr>
              <a:t>Sets of Registers</a:t>
            </a:r>
            <a:endParaRPr lang="zh-TW" altLang="en-US" dirty="0">
              <a:effectLst/>
            </a:endParaRPr>
          </a:p>
        </p:txBody>
      </p:sp>
      <p:pic>
        <p:nvPicPr>
          <p:cNvPr id="2969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79650" y="1772940"/>
            <a:ext cx="7056438" cy="482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1382" name="Rectangle 6"/>
          <p:cNvSpPr>
            <a:spLocks noChangeArrowheads="1"/>
          </p:cNvSpPr>
          <p:nvPr/>
        </p:nvSpPr>
        <p:spPr bwMode="auto">
          <a:xfrm>
            <a:off x="4151314" y="2349203"/>
            <a:ext cx="1150937" cy="18716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altLang="zh-TW" sz="2400">
                <a:latin typeface="Calibri" panose="020F0502020204030204" pitchFamily="34" charset="0"/>
                <a:ea typeface="新細明體" pitchFamily="18" charset="-120"/>
              </a:rPr>
              <a:t>eax</a:t>
            </a:r>
            <a:r>
              <a:rPr lang="en-US" altLang="zh-TW" sz="2400" baseline="-25000">
                <a:latin typeface="Calibri" panose="020F0502020204030204" pitchFamily="34" charset="0"/>
                <a:ea typeface="新細明體" pitchFamily="18" charset="-120"/>
              </a:rPr>
              <a:t>1</a:t>
            </a:r>
            <a:r>
              <a:rPr lang="en-US" altLang="zh-TW" sz="2400">
                <a:latin typeface="Calibri" panose="020F0502020204030204" pitchFamily="34" charset="0"/>
                <a:ea typeface="新細明體" pitchFamily="18" charset="-120"/>
              </a:rPr>
              <a:t>=1;</a:t>
            </a:r>
          </a:p>
          <a:p>
            <a:pPr algn="ctr">
              <a:defRPr/>
            </a:pPr>
            <a:r>
              <a:rPr lang="en-US" altLang="zh-TW" sz="2400">
                <a:latin typeface="Calibri" panose="020F0502020204030204" pitchFamily="34" charset="0"/>
                <a:ea typeface="新細明體" pitchFamily="18" charset="-120"/>
              </a:rPr>
              <a:t>ebx</a:t>
            </a:r>
            <a:r>
              <a:rPr lang="en-US" altLang="zh-TW" sz="2400" baseline="-25000">
                <a:latin typeface="Calibri" panose="020F0502020204030204" pitchFamily="34" charset="0"/>
                <a:ea typeface="新細明體" pitchFamily="18" charset="-120"/>
              </a:rPr>
              <a:t>1</a:t>
            </a:r>
            <a:r>
              <a:rPr lang="en-US" altLang="zh-TW" sz="2400">
                <a:latin typeface="Calibri" panose="020F0502020204030204" pitchFamily="34" charset="0"/>
                <a:ea typeface="新細明體" pitchFamily="18" charset="-120"/>
              </a:rPr>
              <a:t>=5;</a:t>
            </a:r>
          </a:p>
          <a:p>
            <a:pPr algn="ctr">
              <a:defRPr/>
            </a:pPr>
            <a:r>
              <a:rPr lang="en-US" altLang="zh-TW" sz="2400">
                <a:latin typeface="Calibri" panose="020F0502020204030204" pitchFamily="34" charset="0"/>
                <a:ea typeface="新細明體" pitchFamily="18" charset="-120"/>
              </a:rPr>
              <a:t>ecx</a:t>
            </a:r>
            <a:r>
              <a:rPr lang="en-US" altLang="zh-TW" sz="2400" baseline="-25000">
                <a:latin typeface="Calibri" panose="020F0502020204030204" pitchFamily="34" charset="0"/>
                <a:ea typeface="新細明體" pitchFamily="18" charset="-120"/>
              </a:rPr>
              <a:t>1</a:t>
            </a:r>
            <a:r>
              <a:rPr lang="en-US" altLang="zh-TW" sz="2400">
                <a:latin typeface="Calibri" panose="020F0502020204030204" pitchFamily="34" charset="0"/>
                <a:ea typeface="新細明體" pitchFamily="18" charset="-120"/>
              </a:rPr>
              <a:t>=8;</a:t>
            </a:r>
          </a:p>
          <a:p>
            <a:pPr algn="ctr">
              <a:defRPr/>
            </a:pPr>
            <a:r>
              <a:rPr lang="en-US" altLang="zh-TW" sz="2400">
                <a:latin typeface="Calibri" panose="020F0502020204030204" pitchFamily="34" charset="0"/>
                <a:ea typeface="新細明體" pitchFamily="18" charset="-120"/>
              </a:rPr>
              <a:t>edx</a:t>
            </a:r>
            <a:r>
              <a:rPr lang="en-US" altLang="zh-TW" sz="2400" baseline="-25000">
                <a:latin typeface="Calibri" panose="020F0502020204030204" pitchFamily="34" charset="0"/>
                <a:ea typeface="新細明體" pitchFamily="18" charset="-120"/>
              </a:rPr>
              <a:t>1</a:t>
            </a:r>
            <a:r>
              <a:rPr lang="en-US" altLang="zh-TW" sz="2400">
                <a:latin typeface="Calibri" panose="020F0502020204030204" pitchFamily="34" charset="0"/>
                <a:ea typeface="新細明體" pitchFamily="18" charset="-120"/>
              </a:rPr>
              <a:t>=6;</a:t>
            </a:r>
          </a:p>
          <a:p>
            <a:pPr algn="ctr">
              <a:defRPr/>
            </a:pPr>
            <a:r>
              <a:rPr lang="en-US" altLang="zh-TW" sz="2400">
                <a:latin typeface="Calibri" panose="020F0502020204030204" pitchFamily="34" charset="0"/>
                <a:ea typeface="新細明體" pitchFamily="18" charset="-120"/>
              </a:rPr>
              <a:t>……</a:t>
            </a:r>
          </a:p>
        </p:txBody>
      </p:sp>
      <p:sp>
        <p:nvSpPr>
          <p:cNvPr id="29701" name="Text Box 4"/>
          <p:cNvSpPr txBox="1">
            <a:spLocks noChangeArrowheads="1"/>
          </p:cNvSpPr>
          <p:nvPr/>
        </p:nvSpPr>
        <p:spPr bwMode="auto">
          <a:xfrm>
            <a:off x="4151313" y="5732165"/>
            <a:ext cx="118603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>
                <a:latin typeface="Calibri" panose="020F0502020204030204" pitchFamily="34" charset="0"/>
              </a:rPr>
              <a:t>process P1</a:t>
            </a:r>
          </a:p>
        </p:txBody>
      </p:sp>
      <p:sp>
        <p:nvSpPr>
          <p:cNvPr id="29702" name="Text Box 4"/>
          <p:cNvSpPr txBox="1">
            <a:spLocks noChangeArrowheads="1"/>
          </p:cNvSpPr>
          <p:nvPr/>
        </p:nvSpPr>
        <p:spPr bwMode="auto">
          <a:xfrm>
            <a:off x="7535863" y="5732165"/>
            <a:ext cx="118603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>
                <a:latin typeface="Calibri" panose="020F0502020204030204" pitchFamily="34" charset="0"/>
              </a:rPr>
              <a:t>process P2</a:t>
            </a:r>
          </a:p>
        </p:txBody>
      </p:sp>
      <p:sp>
        <p:nvSpPr>
          <p:cNvPr id="101385" name="Rectangle 9"/>
          <p:cNvSpPr>
            <a:spLocks noChangeArrowheads="1"/>
          </p:cNvSpPr>
          <p:nvPr/>
        </p:nvSpPr>
        <p:spPr bwMode="auto">
          <a:xfrm>
            <a:off x="5844380" y="2349203"/>
            <a:ext cx="1150938" cy="1871663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altLang="zh-TW" sz="2400" dirty="0">
                <a:latin typeface="Calibri" panose="020F0502020204030204" pitchFamily="34" charset="0"/>
                <a:ea typeface="新細明體" pitchFamily="18" charset="-120"/>
              </a:rPr>
              <a:t>eax</a:t>
            </a:r>
            <a:r>
              <a:rPr lang="en-US" altLang="zh-TW" sz="2400" baseline="-25000" dirty="0">
                <a:latin typeface="Calibri" panose="020F0502020204030204" pitchFamily="34" charset="0"/>
                <a:ea typeface="新細明體" pitchFamily="18" charset="-120"/>
              </a:rPr>
              <a:t>2</a:t>
            </a:r>
            <a:r>
              <a:rPr lang="en-US" altLang="zh-TW" sz="2400" dirty="0">
                <a:latin typeface="Calibri" panose="020F0502020204030204" pitchFamily="34" charset="0"/>
                <a:ea typeface="新細明體" pitchFamily="18" charset="-120"/>
              </a:rPr>
              <a:t>=4;</a:t>
            </a:r>
          </a:p>
          <a:p>
            <a:pPr algn="ctr">
              <a:defRPr/>
            </a:pPr>
            <a:r>
              <a:rPr lang="en-US" altLang="zh-TW" sz="2400" dirty="0">
                <a:latin typeface="Calibri" panose="020F0502020204030204" pitchFamily="34" charset="0"/>
                <a:ea typeface="新細明體" pitchFamily="18" charset="-120"/>
              </a:rPr>
              <a:t>ebx</a:t>
            </a:r>
            <a:r>
              <a:rPr lang="en-US" altLang="zh-TW" sz="2400" baseline="-25000" dirty="0">
                <a:latin typeface="Calibri" panose="020F0502020204030204" pitchFamily="34" charset="0"/>
                <a:ea typeface="新細明體" pitchFamily="18" charset="-120"/>
              </a:rPr>
              <a:t>2</a:t>
            </a:r>
            <a:r>
              <a:rPr lang="en-US" altLang="zh-TW" sz="2400" dirty="0">
                <a:latin typeface="Calibri" panose="020F0502020204030204" pitchFamily="34" charset="0"/>
                <a:ea typeface="新細明體" pitchFamily="18" charset="-120"/>
              </a:rPr>
              <a:t>=3;</a:t>
            </a:r>
          </a:p>
          <a:p>
            <a:pPr algn="ctr">
              <a:defRPr/>
            </a:pPr>
            <a:r>
              <a:rPr lang="en-US" altLang="zh-TW" sz="2400" dirty="0">
                <a:latin typeface="Calibri" panose="020F0502020204030204" pitchFamily="34" charset="0"/>
                <a:ea typeface="新細明體" pitchFamily="18" charset="-120"/>
              </a:rPr>
              <a:t>ecx</a:t>
            </a:r>
            <a:r>
              <a:rPr lang="en-US" altLang="zh-TW" sz="2400" baseline="-25000" dirty="0">
                <a:latin typeface="Calibri" panose="020F0502020204030204" pitchFamily="34" charset="0"/>
                <a:ea typeface="新細明體" pitchFamily="18" charset="-120"/>
              </a:rPr>
              <a:t>2</a:t>
            </a:r>
            <a:r>
              <a:rPr lang="en-US" altLang="zh-TW" sz="2400" dirty="0">
                <a:latin typeface="Calibri" panose="020F0502020204030204" pitchFamily="34" charset="0"/>
                <a:ea typeface="新細明體" pitchFamily="18" charset="-120"/>
              </a:rPr>
              <a:t>=7;</a:t>
            </a:r>
          </a:p>
          <a:p>
            <a:pPr algn="ctr">
              <a:defRPr/>
            </a:pPr>
            <a:r>
              <a:rPr lang="en-US" altLang="zh-TW" sz="2400" dirty="0">
                <a:latin typeface="Calibri" panose="020F0502020204030204" pitchFamily="34" charset="0"/>
                <a:ea typeface="新細明體" pitchFamily="18" charset="-120"/>
              </a:rPr>
              <a:t>edx</a:t>
            </a:r>
            <a:r>
              <a:rPr lang="en-US" altLang="zh-TW" sz="2400" baseline="-25000" dirty="0">
                <a:latin typeface="Calibri" panose="020F0502020204030204" pitchFamily="34" charset="0"/>
                <a:ea typeface="新細明體" pitchFamily="18" charset="-120"/>
              </a:rPr>
              <a:t>2</a:t>
            </a:r>
            <a:r>
              <a:rPr lang="en-US" altLang="zh-TW" sz="2400" dirty="0">
                <a:latin typeface="Calibri" panose="020F0502020204030204" pitchFamily="34" charset="0"/>
                <a:ea typeface="新細明體" pitchFamily="18" charset="-120"/>
              </a:rPr>
              <a:t>=8;</a:t>
            </a:r>
          </a:p>
          <a:p>
            <a:pPr algn="ctr">
              <a:defRPr/>
            </a:pPr>
            <a:r>
              <a:rPr lang="en-US" altLang="zh-TW" sz="2400" dirty="0">
                <a:latin typeface="Calibri" panose="020F0502020204030204" pitchFamily="34" charset="0"/>
                <a:ea typeface="新細明體" pitchFamily="18" charset="-120"/>
              </a:rPr>
              <a:t>……</a:t>
            </a:r>
          </a:p>
        </p:txBody>
      </p:sp>
      <p:sp>
        <p:nvSpPr>
          <p:cNvPr id="101389" name="Rectangle 13"/>
          <p:cNvSpPr>
            <a:spLocks noChangeArrowheads="1"/>
          </p:cNvSpPr>
          <p:nvPr/>
        </p:nvSpPr>
        <p:spPr bwMode="auto">
          <a:xfrm>
            <a:off x="3792538" y="1412578"/>
            <a:ext cx="5111750" cy="3095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>
              <a:latin typeface="Calibri" panose="020F0502020204030204" pitchFamily="34" charset="0"/>
              <a:ea typeface="新細明體" pitchFamily="18" charset="-120"/>
            </a:endParaRPr>
          </a:p>
        </p:txBody>
      </p:sp>
      <p:sp>
        <p:nvSpPr>
          <p:cNvPr id="101390" name="Text Box 14"/>
          <p:cNvSpPr txBox="1">
            <a:spLocks noChangeArrowheads="1"/>
          </p:cNvSpPr>
          <p:nvPr/>
        </p:nvSpPr>
        <p:spPr bwMode="auto">
          <a:xfrm>
            <a:off x="5716589" y="1498303"/>
            <a:ext cx="966931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b="1" dirty="0">
                <a:solidFill>
                  <a:srgbClr val="FF0000"/>
                </a:solidFill>
                <a:latin typeface="Calibri" panose="020F0502020204030204" pitchFamily="34" charset="0"/>
                <a:ea typeface="新細明體" pitchFamily="18" charset="-120"/>
              </a:rPr>
              <a:t>CPU</a:t>
            </a:r>
          </a:p>
        </p:txBody>
      </p:sp>
      <p:sp>
        <p:nvSpPr>
          <p:cNvPr id="101391" name="Text Box 15"/>
          <p:cNvSpPr txBox="1">
            <a:spLocks noChangeArrowheads="1"/>
          </p:cNvSpPr>
          <p:nvPr/>
        </p:nvSpPr>
        <p:spPr bwMode="auto">
          <a:xfrm>
            <a:off x="7176121" y="2852515"/>
            <a:ext cx="122413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TW" dirty="0">
                <a:latin typeface="Calibri" panose="020F0502020204030204" pitchFamily="34" charset="0"/>
                <a:ea typeface="新細明體" pitchFamily="18" charset="-120"/>
              </a:rPr>
              <a:t>……</a:t>
            </a:r>
          </a:p>
        </p:txBody>
      </p:sp>
      <p:sp>
        <p:nvSpPr>
          <p:cNvPr id="101393" name="Line 17"/>
          <p:cNvSpPr>
            <a:spLocks noChangeShapeType="1"/>
          </p:cNvSpPr>
          <p:nvPr/>
        </p:nvSpPr>
        <p:spPr bwMode="auto">
          <a:xfrm>
            <a:off x="6060282" y="2021221"/>
            <a:ext cx="323751" cy="32798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>
              <a:defRPr/>
            </a:pPr>
            <a:endParaRPr lang="zh-TW" altLang="en-US">
              <a:latin typeface="Calibri" panose="020F0502020204030204" pitchFamily="34" charset="0"/>
              <a:ea typeface="新細明體" pitchFamily="18" charset="-120"/>
            </a:endParaRPr>
          </a:p>
        </p:txBody>
      </p:sp>
      <p:sp>
        <p:nvSpPr>
          <p:cNvPr id="101394" name="Line 18"/>
          <p:cNvSpPr>
            <a:spLocks noChangeShapeType="1"/>
          </p:cNvSpPr>
          <p:nvPr/>
        </p:nvSpPr>
        <p:spPr bwMode="auto">
          <a:xfrm flipH="1">
            <a:off x="5284788" y="2032199"/>
            <a:ext cx="757633" cy="31700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>
              <a:defRPr/>
            </a:pPr>
            <a:endParaRPr lang="zh-TW" altLang="en-US">
              <a:latin typeface="Calibri" panose="020F0502020204030204" pitchFamily="34" charset="0"/>
              <a:ea typeface="新細明體" pitchFamily="18" charset="-120"/>
            </a:endParaRPr>
          </a:p>
        </p:txBody>
      </p:sp>
      <p:sp>
        <p:nvSpPr>
          <p:cNvPr id="101395" name="Rectangle 19"/>
          <p:cNvSpPr>
            <a:spLocks noChangeArrowheads="1"/>
          </p:cNvSpPr>
          <p:nvPr/>
        </p:nvSpPr>
        <p:spPr bwMode="auto">
          <a:xfrm>
            <a:off x="5808663" y="4652666"/>
            <a:ext cx="1223962" cy="720725"/>
          </a:xfrm>
          <a:prstGeom prst="rect">
            <a:avLst/>
          </a:prstGeom>
          <a:noFill/>
          <a:ln w="12700">
            <a:solidFill>
              <a:srgbClr val="FF3300"/>
            </a:solidFill>
            <a:miter lim="800000"/>
            <a:headEnd/>
            <a:tailEnd/>
          </a:ln>
          <a:effectLst>
            <a:prstShdw prst="shdw17" dist="17961" dir="2700000">
              <a:srgbClr val="991F00"/>
            </a:prstShdw>
          </a:effectLst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83</a:t>
            </a:fld>
            <a:endParaRPr lang="en-US" altLang="zh-TW"/>
          </a:p>
        </p:txBody>
      </p:sp>
      <p:sp>
        <p:nvSpPr>
          <p:cNvPr id="3" name="圓角矩形 2"/>
          <p:cNvSpPr/>
          <p:nvPr/>
        </p:nvSpPr>
        <p:spPr>
          <a:xfrm>
            <a:off x="2711624" y="3068960"/>
            <a:ext cx="7560840" cy="914400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4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變成</a:t>
            </a:r>
            <a:r>
              <a:rPr lang="zh-TW" altLang="en-US" sz="44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不</a:t>
            </a:r>
            <a:r>
              <a:rPr lang="zh-TW" altLang="en-US" sz="44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共享記憶體</a:t>
            </a:r>
            <a:endParaRPr lang="zh-TW" altLang="en-US" sz="44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25576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0" dur="500"/>
                                        <p:tgtEl>
                                          <p:spTgt spid="1013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95" grpId="0" animBg="1"/>
      <p:bldP spid="3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0000FF"/>
                </a:solidFill>
              </a:rPr>
              <a:t>所以</a:t>
            </a:r>
            <a:r>
              <a:rPr lang="en-US" altLang="zh-TW" dirty="0">
                <a:solidFill>
                  <a:srgbClr val="0000FF"/>
                </a:solidFill>
              </a:rPr>
              <a:t>, P1</a:t>
            </a:r>
            <a:r>
              <a:rPr lang="zh-TW" altLang="en-US" dirty="0">
                <a:solidFill>
                  <a:srgbClr val="0000FF"/>
                </a:solidFill>
              </a:rPr>
              <a:t>的記憶體</a:t>
            </a:r>
            <a:r>
              <a:rPr lang="en-US" altLang="zh-TW" dirty="0">
                <a:solidFill>
                  <a:srgbClr val="0000FF"/>
                </a:solidFill>
              </a:rPr>
              <a:t>(</a:t>
            </a:r>
            <a:r>
              <a:rPr lang="zh-TW" altLang="en-US" dirty="0">
                <a:solidFill>
                  <a:srgbClr val="0000FF"/>
                </a:solidFill>
              </a:rPr>
              <a:t>變數</a:t>
            </a:r>
            <a:r>
              <a:rPr lang="en-US" altLang="zh-TW" dirty="0">
                <a:solidFill>
                  <a:srgbClr val="0000FF"/>
                </a:solidFill>
              </a:rPr>
              <a:t>)</a:t>
            </a:r>
            <a:r>
              <a:rPr lang="zh-TW" altLang="en-US" dirty="0">
                <a:solidFill>
                  <a:srgbClr val="0000FF"/>
                </a:solidFill>
              </a:rPr>
              <a:t>和硬碟</a:t>
            </a:r>
            <a:r>
              <a:rPr lang="en-US" altLang="zh-TW" dirty="0">
                <a:solidFill>
                  <a:srgbClr val="0000FF"/>
                </a:solidFill>
              </a:rPr>
              <a:t>(</a:t>
            </a:r>
            <a:r>
              <a:rPr lang="zh-TW" altLang="en-US" dirty="0">
                <a:solidFill>
                  <a:srgbClr val="0000FF"/>
                </a:solidFill>
              </a:rPr>
              <a:t>檔案</a:t>
            </a:r>
            <a:r>
              <a:rPr lang="en-US" altLang="zh-TW" dirty="0">
                <a:solidFill>
                  <a:srgbClr val="0000FF"/>
                </a:solidFill>
              </a:rPr>
              <a:t>)</a:t>
            </a:r>
            <a:r>
              <a:rPr lang="zh-TW" altLang="en-US" dirty="0">
                <a:solidFill>
                  <a:srgbClr val="0000FF"/>
                </a:solidFill>
              </a:rPr>
              <a:t>也會被</a:t>
            </a:r>
            <a:r>
              <a:rPr lang="en-US" altLang="zh-TW" dirty="0">
                <a:solidFill>
                  <a:srgbClr val="0000FF"/>
                </a:solidFill>
              </a:rPr>
              <a:t>P2</a:t>
            </a:r>
            <a:r>
              <a:rPr lang="zh-TW" altLang="en-US" dirty="0">
                <a:solidFill>
                  <a:srgbClr val="0000FF"/>
                </a:solidFill>
              </a:rPr>
              <a:t>破壞嗎</a:t>
            </a:r>
            <a:r>
              <a:rPr lang="en-US" altLang="zh-TW" dirty="0">
                <a:solidFill>
                  <a:srgbClr val="0000FF"/>
                </a:solidFill>
              </a:rPr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b="1" dirty="0" err="1" smtClean="0">
                <a:solidFill>
                  <a:srgbClr val="0000FF"/>
                </a:solidFill>
              </a:rPr>
              <a:t>Ans</a:t>
            </a:r>
            <a:r>
              <a:rPr lang="en-US" altLang="zh-TW" b="1" dirty="0" smtClean="0">
                <a:solidFill>
                  <a:srgbClr val="0000FF"/>
                </a:solidFill>
              </a:rPr>
              <a:t>: </a:t>
            </a:r>
            <a:r>
              <a:rPr lang="zh-TW" altLang="en-US" b="1" dirty="0" smtClean="0">
                <a:solidFill>
                  <a:srgbClr val="0000FF"/>
                </a:solidFill>
              </a:rPr>
              <a:t>看是否共享</a:t>
            </a:r>
            <a:r>
              <a:rPr lang="en-US" altLang="zh-TW" b="1" dirty="0" smtClean="0">
                <a:solidFill>
                  <a:srgbClr val="0000FF"/>
                </a:solidFill>
              </a:rPr>
              <a:t>~</a:t>
            </a:r>
          </a:p>
          <a:p>
            <a:r>
              <a:rPr lang="zh-TW" altLang="en-US" b="1" dirty="0" smtClean="0">
                <a:solidFill>
                  <a:srgbClr val="0000FF"/>
                </a:solidFill>
              </a:rPr>
              <a:t>記憶體如果共享</a:t>
            </a:r>
            <a:r>
              <a:rPr lang="en-US" altLang="zh-TW" b="1" dirty="0" smtClean="0">
                <a:solidFill>
                  <a:srgbClr val="0000FF"/>
                </a:solidFill>
              </a:rPr>
              <a:t>: </a:t>
            </a:r>
            <a:r>
              <a:rPr lang="zh-TW" altLang="en-US" b="1" dirty="0" smtClean="0">
                <a:solidFill>
                  <a:srgbClr val="0000FF"/>
                </a:solidFill>
              </a:rPr>
              <a:t>第六章會介紹</a:t>
            </a:r>
            <a:endParaRPr lang="en-US" altLang="zh-TW" b="1" dirty="0" smtClean="0">
              <a:solidFill>
                <a:srgbClr val="0000FF"/>
              </a:solidFill>
            </a:endParaRPr>
          </a:p>
          <a:p>
            <a:r>
              <a:rPr lang="zh-TW" altLang="en-US" b="1" dirty="0">
                <a:solidFill>
                  <a:srgbClr val="0000FF"/>
                </a:solidFill>
              </a:rPr>
              <a:t>檔案如果</a:t>
            </a:r>
            <a:r>
              <a:rPr lang="zh-TW" altLang="en-US" b="1" dirty="0" smtClean="0">
                <a:solidFill>
                  <a:srgbClr val="0000FF"/>
                </a:solidFill>
              </a:rPr>
              <a:t>共享</a:t>
            </a:r>
            <a:r>
              <a:rPr lang="en-US" altLang="zh-TW" b="1" dirty="0" smtClean="0">
                <a:solidFill>
                  <a:srgbClr val="0000FF"/>
                </a:solidFill>
              </a:rPr>
              <a:t>:</a:t>
            </a:r>
            <a:r>
              <a:rPr lang="zh-TW" altLang="en-US" b="1" dirty="0" smtClean="0">
                <a:solidFill>
                  <a:srgbClr val="0000FF"/>
                </a:solidFill>
              </a:rPr>
              <a:t> 這門課上不到了</a:t>
            </a:r>
            <a:r>
              <a:rPr lang="en-US" altLang="zh-TW" b="1" dirty="0" smtClean="0">
                <a:solidFill>
                  <a:srgbClr val="0000FF"/>
                </a:solidFill>
              </a:rPr>
              <a:t>~</a:t>
            </a:r>
          </a:p>
        </p:txBody>
      </p:sp>
    </p:spTree>
    <p:extLst>
      <p:ext uri="{BB962C8B-B14F-4D97-AF65-F5344CB8AC3E}">
        <p14:creationId xmlns:p14="http://schemas.microsoft.com/office/powerpoint/2010/main" val="4140740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sz="4000" dirty="0" smtClean="0">
                <a:solidFill>
                  <a:schemeClr val="tx1"/>
                </a:solidFill>
              </a:rPr>
              <a:t>此外</a:t>
            </a:r>
            <a:r>
              <a:rPr lang="en-US" altLang="zh-TW" sz="4000" dirty="0" smtClean="0">
                <a:solidFill>
                  <a:schemeClr val="tx1"/>
                </a:solidFill>
              </a:rPr>
              <a:t>, </a:t>
            </a:r>
            <a:r>
              <a:rPr lang="zh-TW" altLang="en-US" sz="4000" dirty="0" smtClean="0">
                <a:solidFill>
                  <a:schemeClr val="tx1"/>
                </a:solidFill>
              </a:rPr>
              <a:t>記憶體</a:t>
            </a:r>
            <a:r>
              <a:rPr lang="en-US" altLang="zh-TW" sz="4000" dirty="0">
                <a:solidFill>
                  <a:schemeClr val="tx1"/>
                </a:solidFill>
              </a:rPr>
              <a:t>(</a:t>
            </a:r>
            <a:r>
              <a:rPr lang="zh-TW" altLang="en-US" sz="4000" dirty="0">
                <a:solidFill>
                  <a:schemeClr val="tx1"/>
                </a:solidFill>
              </a:rPr>
              <a:t>變數</a:t>
            </a:r>
            <a:r>
              <a:rPr lang="en-US" altLang="zh-TW" sz="4000" dirty="0">
                <a:solidFill>
                  <a:schemeClr val="tx1"/>
                </a:solidFill>
              </a:rPr>
              <a:t>)</a:t>
            </a:r>
            <a:r>
              <a:rPr lang="zh-TW" altLang="en-US" sz="4000" dirty="0">
                <a:solidFill>
                  <a:schemeClr val="tx1"/>
                </a:solidFill>
              </a:rPr>
              <a:t>和硬碟</a:t>
            </a:r>
            <a:r>
              <a:rPr lang="en-US" altLang="zh-TW" sz="4000" dirty="0">
                <a:solidFill>
                  <a:schemeClr val="tx1"/>
                </a:solidFill>
              </a:rPr>
              <a:t>(</a:t>
            </a:r>
            <a:r>
              <a:rPr lang="zh-TW" altLang="en-US" sz="4000" dirty="0">
                <a:solidFill>
                  <a:schemeClr val="tx1"/>
                </a:solidFill>
              </a:rPr>
              <a:t>檔案</a:t>
            </a:r>
            <a:r>
              <a:rPr lang="en-US" altLang="zh-TW" sz="4000" dirty="0" smtClean="0">
                <a:solidFill>
                  <a:schemeClr val="tx1"/>
                </a:solidFill>
              </a:rPr>
              <a:t>)</a:t>
            </a:r>
            <a:r>
              <a:rPr lang="zh-TW" altLang="en-US" sz="4000" dirty="0" smtClean="0">
                <a:solidFill>
                  <a:schemeClr val="tx1"/>
                </a:solidFill>
              </a:rPr>
              <a:t>的共享問題必須由</a:t>
            </a:r>
            <a:r>
              <a:rPr lang="zh-TW" altLang="en-US" sz="4000" dirty="0" smtClean="0">
                <a:solidFill>
                  <a:srgbClr val="FF3300"/>
                </a:solidFill>
              </a:rPr>
              <a:t>應用程式自已解決</a:t>
            </a:r>
            <a:r>
              <a:rPr lang="en-US" altLang="zh-TW" sz="4000" dirty="0" smtClean="0">
                <a:solidFill>
                  <a:schemeClr val="tx1"/>
                </a:solidFill>
              </a:rPr>
              <a:t>, OS</a:t>
            </a:r>
            <a:r>
              <a:rPr lang="zh-TW" altLang="en-US" sz="4000" dirty="0" smtClean="0">
                <a:solidFill>
                  <a:schemeClr val="tx1"/>
                </a:solidFill>
              </a:rPr>
              <a:t>不處理</a:t>
            </a:r>
            <a:r>
              <a:rPr lang="en-US" altLang="zh-TW" sz="4000" dirty="0" smtClean="0">
                <a:solidFill>
                  <a:schemeClr val="tx1"/>
                </a:solidFill>
              </a:rPr>
              <a:t>. Why?</a:t>
            </a:r>
            <a:endParaRPr lang="zh-TW" altLang="en-US" sz="4000" dirty="0">
              <a:solidFill>
                <a:schemeClr val="tx1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27448" y="3789040"/>
            <a:ext cx="10078144" cy="2711152"/>
          </a:xfrm>
        </p:spPr>
        <p:txBody>
          <a:bodyPr/>
          <a:lstStyle/>
          <a:p>
            <a:r>
              <a:rPr lang="en-US" altLang="zh-TW" sz="2800" b="1" dirty="0" err="1" smtClean="0">
                <a:solidFill>
                  <a:srgbClr val="0000FF"/>
                </a:solidFill>
              </a:rPr>
              <a:t>Ans</a:t>
            </a:r>
            <a:r>
              <a:rPr lang="en-US" altLang="zh-TW" sz="2800" b="1" dirty="0" smtClean="0">
                <a:solidFill>
                  <a:srgbClr val="0000FF"/>
                </a:solidFill>
              </a:rPr>
              <a:t>: </a:t>
            </a:r>
          </a:p>
          <a:p>
            <a:pPr marL="514350" indent="-514350">
              <a:buAutoNum type="arabicPeriod"/>
            </a:pPr>
            <a:r>
              <a:rPr lang="zh-TW" altLang="en-US" sz="2800" b="1" dirty="0" smtClean="0">
                <a:solidFill>
                  <a:srgbClr val="0000FF"/>
                </a:solidFill>
              </a:rPr>
              <a:t>和暫存器不同</a:t>
            </a:r>
            <a:r>
              <a:rPr lang="en-US" altLang="zh-TW" sz="2800" b="1" dirty="0" smtClean="0">
                <a:solidFill>
                  <a:srgbClr val="0000FF"/>
                </a:solidFill>
              </a:rPr>
              <a:t>, </a:t>
            </a:r>
            <a:r>
              <a:rPr lang="zh-TW" altLang="en-US" sz="2800" b="1" dirty="0" smtClean="0">
                <a:solidFill>
                  <a:srgbClr val="0000FF"/>
                </a:solidFill>
              </a:rPr>
              <a:t>變數和檔案不一定會共享</a:t>
            </a:r>
            <a:r>
              <a:rPr lang="en-US" altLang="zh-TW" sz="2800" b="1" dirty="0" smtClean="0">
                <a:solidFill>
                  <a:srgbClr val="0000FF"/>
                </a:solidFill>
              </a:rPr>
              <a:t>~(</a:t>
            </a:r>
            <a:r>
              <a:rPr lang="zh-TW" altLang="en-US" sz="2800" b="1" dirty="0" smtClean="0">
                <a:solidFill>
                  <a:srgbClr val="0000FF"/>
                </a:solidFill>
              </a:rPr>
              <a:t>程式自己才知道</a:t>
            </a:r>
            <a:r>
              <a:rPr lang="en-US" altLang="zh-TW" sz="2800" b="1" dirty="0" smtClean="0">
                <a:solidFill>
                  <a:srgbClr val="0000FF"/>
                </a:solidFill>
              </a:rPr>
              <a:t>)</a:t>
            </a:r>
          </a:p>
          <a:p>
            <a:pPr marL="514350" indent="-514350">
              <a:buAutoNum type="arabicPeriod"/>
            </a:pPr>
            <a:r>
              <a:rPr lang="zh-TW" altLang="en-US" sz="2800" b="1" dirty="0">
                <a:solidFill>
                  <a:srgbClr val="0000FF"/>
                </a:solidFill>
              </a:rPr>
              <a:t>和暫存器不同</a:t>
            </a:r>
            <a:r>
              <a:rPr lang="en-US" altLang="zh-TW" sz="2800" b="1" dirty="0">
                <a:solidFill>
                  <a:srgbClr val="0000FF"/>
                </a:solidFill>
              </a:rPr>
              <a:t>, </a:t>
            </a:r>
            <a:r>
              <a:rPr lang="zh-TW" altLang="en-US" sz="2800" b="1" dirty="0" smtClean="0">
                <a:solidFill>
                  <a:srgbClr val="0000FF"/>
                </a:solidFill>
              </a:rPr>
              <a:t>解決變數</a:t>
            </a:r>
            <a:r>
              <a:rPr lang="zh-TW" altLang="en-US" sz="2800" b="1" dirty="0">
                <a:solidFill>
                  <a:srgbClr val="0000FF"/>
                </a:solidFill>
              </a:rPr>
              <a:t>和</a:t>
            </a:r>
            <a:r>
              <a:rPr lang="zh-TW" altLang="en-US" sz="2800" b="1" dirty="0" smtClean="0">
                <a:solidFill>
                  <a:srgbClr val="0000FF"/>
                </a:solidFill>
              </a:rPr>
              <a:t>檔案的共享問題比較複雜</a:t>
            </a:r>
            <a:r>
              <a:rPr lang="en-US" altLang="zh-TW" sz="2800" b="1" dirty="0" smtClean="0">
                <a:solidFill>
                  <a:srgbClr val="0000FF"/>
                </a:solidFill>
              </a:rPr>
              <a:t>(</a:t>
            </a:r>
            <a:r>
              <a:rPr lang="zh-TW" altLang="en-US" sz="2800" b="1" dirty="0" smtClean="0">
                <a:solidFill>
                  <a:srgbClr val="0000FF"/>
                </a:solidFill>
              </a:rPr>
              <a:t>有很多不同的解決方案</a:t>
            </a:r>
            <a:r>
              <a:rPr lang="en-US" altLang="zh-TW" sz="2800" b="1" dirty="0" smtClean="0">
                <a:solidFill>
                  <a:srgbClr val="0000FF"/>
                </a:solidFill>
              </a:rPr>
              <a:t>, </a:t>
            </a:r>
            <a:r>
              <a:rPr lang="zh-TW" altLang="en-US" sz="2800" b="1" dirty="0" smtClean="0">
                <a:solidFill>
                  <a:srgbClr val="0000FF"/>
                </a:solidFill>
              </a:rPr>
              <a:t>應用程式可以依照需求自己選擇</a:t>
            </a:r>
            <a:r>
              <a:rPr lang="en-US" altLang="zh-TW" sz="2800" b="1" dirty="0" smtClean="0">
                <a:solidFill>
                  <a:srgbClr val="0000FF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4290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Outline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zh-TW" dirty="0"/>
              <a:t>Process Concept</a:t>
            </a:r>
          </a:p>
          <a:p>
            <a:pPr eaLnBrk="1" hangingPunct="1"/>
            <a:r>
              <a:rPr lang="en-US" altLang="zh-TW" dirty="0"/>
              <a:t>Process Scheduling</a:t>
            </a:r>
          </a:p>
          <a:p>
            <a:pPr eaLnBrk="1" hangingPunct="1"/>
            <a:r>
              <a:rPr lang="en-US" altLang="zh-TW" b="1" dirty="0">
                <a:solidFill>
                  <a:srgbClr val="FF0000"/>
                </a:solidFill>
              </a:rPr>
              <a:t>Operations on Processes</a:t>
            </a:r>
          </a:p>
          <a:p>
            <a:pPr lvl="1" eaLnBrk="1" hangingPunct="1"/>
            <a:r>
              <a:rPr lang="en-US" altLang="zh-TW" b="1" dirty="0">
                <a:solidFill>
                  <a:srgbClr val="FF3300"/>
                </a:solidFill>
              </a:rPr>
              <a:t>Process creation</a:t>
            </a:r>
          </a:p>
          <a:p>
            <a:pPr lvl="1" eaLnBrk="1" hangingPunct="1"/>
            <a:r>
              <a:rPr lang="en-US" altLang="zh-TW" dirty="0"/>
              <a:t>Process termination</a:t>
            </a:r>
          </a:p>
          <a:p>
            <a:pPr eaLnBrk="1" hangingPunct="1"/>
            <a:r>
              <a:rPr lang="en-US" altLang="zh-TW" dirty="0" err="1"/>
              <a:t>Interprocess</a:t>
            </a:r>
            <a:r>
              <a:rPr lang="en-US" altLang="zh-TW" dirty="0"/>
              <a:t> Communication</a:t>
            </a:r>
          </a:p>
          <a:p>
            <a:pPr eaLnBrk="1" hangingPunct="1"/>
            <a:r>
              <a:rPr lang="en-US" altLang="zh-TW" dirty="0"/>
              <a:t>IPC in Shared-Memory Systems</a:t>
            </a:r>
          </a:p>
          <a:p>
            <a:pPr eaLnBrk="1" hangingPunct="1"/>
            <a:r>
              <a:rPr lang="en-US" altLang="zh-TW" dirty="0"/>
              <a:t>Examples of IPC Systems</a:t>
            </a:r>
          </a:p>
          <a:p>
            <a:pPr eaLnBrk="1" hangingPunct="1"/>
            <a:r>
              <a:rPr lang="en-US" altLang="zh-TW" dirty="0"/>
              <a:t>Communication in Client-Server Systems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86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18426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問題</a:t>
            </a:r>
            <a:r>
              <a:rPr lang="zh-TW" altLang="en-US" dirty="0" smtClean="0"/>
              <a:t>：如何產生</a:t>
            </a:r>
            <a:r>
              <a:rPr lang="en-US" altLang="zh-TW" dirty="0" smtClean="0"/>
              <a:t>(</a:t>
            </a:r>
            <a:r>
              <a:rPr lang="zh-TW" altLang="en-US" dirty="0" smtClean="0"/>
              <a:t>建立</a:t>
            </a:r>
            <a:r>
              <a:rPr lang="en-US" altLang="zh-TW" dirty="0" smtClean="0"/>
              <a:t>)</a:t>
            </a:r>
            <a:r>
              <a:rPr lang="zh-TW" altLang="en-US" dirty="0" smtClean="0"/>
              <a:t> 一個</a:t>
            </a:r>
            <a:r>
              <a:rPr lang="en-US" altLang="zh-TW" dirty="0" smtClean="0"/>
              <a:t>process?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Double </a:t>
            </a:r>
            <a:r>
              <a:rPr lang="en-US" altLang="zh-TW" dirty="0" smtClean="0"/>
              <a:t>Click</a:t>
            </a:r>
            <a:r>
              <a:rPr lang="zh-TW" altLang="en-US" dirty="0" smtClean="0"/>
              <a:t>某</a:t>
            </a:r>
            <a:r>
              <a:rPr lang="zh-TW" altLang="en-US" dirty="0"/>
              <a:t>一個</a:t>
            </a:r>
            <a:r>
              <a:rPr lang="zh-TW" altLang="en-US" dirty="0" smtClean="0"/>
              <a:t>應用程式</a:t>
            </a:r>
            <a:r>
              <a:rPr lang="en-US" altLang="zh-TW" dirty="0" smtClean="0"/>
              <a:t>(X)</a:t>
            </a:r>
          </a:p>
          <a:p>
            <a:r>
              <a:rPr lang="zh-TW" altLang="en-US" dirty="0" smtClean="0"/>
              <a:t>我們是資工系</a:t>
            </a:r>
            <a:r>
              <a:rPr lang="en-US" altLang="zh-TW" dirty="0" smtClean="0"/>
              <a:t>:</a:t>
            </a:r>
            <a:r>
              <a:rPr lang="zh-TW" altLang="en-US" dirty="0" smtClean="0"/>
              <a:t> </a:t>
            </a:r>
            <a:r>
              <a:rPr lang="zh-TW" altLang="en-US" dirty="0"/>
              <a:t>我們想</a:t>
            </a:r>
            <a:r>
              <a:rPr lang="zh-TW" altLang="en-US" dirty="0" smtClean="0"/>
              <a:t>知道</a:t>
            </a:r>
            <a:r>
              <a:rPr lang="en-US" altLang="zh-TW" dirty="0" smtClean="0"/>
              <a:t>double click</a:t>
            </a:r>
            <a:r>
              <a:rPr lang="zh-TW" altLang="en-US" dirty="0" smtClean="0"/>
              <a:t>會發生什麼事情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02293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Q1</a:t>
            </a:r>
            <a:r>
              <a:rPr lang="zh-TW" altLang="en-US" dirty="0" smtClean="0"/>
              <a:t>：誰決定產生</a:t>
            </a:r>
            <a:r>
              <a:rPr lang="en-US" altLang="zh-TW" dirty="0" smtClean="0"/>
              <a:t>(</a:t>
            </a:r>
            <a:r>
              <a:rPr lang="zh-TW" altLang="en-US" dirty="0" smtClean="0"/>
              <a:t>建立</a:t>
            </a:r>
            <a:r>
              <a:rPr lang="en-US" altLang="zh-TW" dirty="0" smtClean="0"/>
              <a:t>)</a:t>
            </a:r>
            <a:r>
              <a:rPr lang="zh-TW" altLang="en-US" dirty="0" smtClean="0"/>
              <a:t> 一個</a:t>
            </a:r>
            <a:r>
              <a:rPr lang="en-US" altLang="zh-TW" dirty="0" smtClean="0"/>
              <a:t>process?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err="1" smtClean="0"/>
              <a:t>Ans</a:t>
            </a:r>
            <a:r>
              <a:rPr lang="en-US" altLang="zh-TW" dirty="0" smtClean="0"/>
              <a:t>: </a:t>
            </a:r>
            <a:r>
              <a:rPr lang="zh-TW" altLang="en-US" dirty="0" smtClean="0"/>
              <a:t>應用程式 </a:t>
            </a:r>
            <a:endParaRPr lang="en-US" altLang="zh-TW" dirty="0" smtClean="0"/>
          </a:p>
          <a:p>
            <a:r>
              <a:rPr lang="en-US" altLang="zh-TW" dirty="0" smtClean="0"/>
              <a:t>(</a:t>
            </a:r>
            <a:r>
              <a:rPr lang="zh-TW" altLang="en-US" dirty="0" smtClean="0"/>
              <a:t>例如</a:t>
            </a:r>
            <a:r>
              <a:rPr lang="en-US" altLang="zh-TW" dirty="0" smtClean="0"/>
              <a:t>window</a:t>
            </a:r>
            <a:r>
              <a:rPr lang="zh-TW" altLang="en-US" dirty="0" smtClean="0"/>
              <a:t>檔案總管</a:t>
            </a:r>
            <a:r>
              <a:rPr lang="en-US" altLang="zh-TW" dirty="0" smtClean="0"/>
              <a:t>, shell in Linux……)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82483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Q2</a:t>
            </a:r>
            <a:r>
              <a:rPr lang="zh-TW" altLang="en-US" dirty="0" smtClean="0"/>
              <a:t>：誰負責創建一個</a:t>
            </a:r>
            <a:r>
              <a:rPr lang="en-US" altLang="zh-TW" dirty="0" smtClean="0"/>
              <a:t>process?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OS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3242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Q3</a:t>
            </a:r>
            <a:r>
              <a:rPr lang="zh-TW" altLang="en-US" dirty="0" smtClean="0"/>
              <a:t>：應用程式如何請</a:t>
            </a:r>
            <a:r>
              <a:rPr lang="en-US" altLang="zh-TW" dirty="0" smtClean="0"/>
              <a:t>OS</a:t>
            </a:r>
            <a:r>
              <a:rPr lang="zh-TW" altLang="en-US" dirty="0" smtClean="0"/>
              <a:t>創建一個</a:t>
            </a:r>
            <a:r>
              <a:rPr lang="en-US" altLang="zh-TW" dirty="0" smtClean="0"/>
              <a:t>process?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zh-TW" altLang="en-US" dirty="0" smtClean="0"/>
              <a:t>呼叫</a:t>
            </a:r>
            <a:r>
              <a:rPr lang="en-US" altLang="zh-TW" dirty="0" smtClean="0"/>
              <a:t>system call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37441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所以</a:t>
            </a:r>
            <a:r>
              <a:rPr lang="en-US" altLang="zh-TW" dirty="0" smtClean="0"/>
              <a:t>,</a:t>
            </a:r>
            <a:r>
              <a:rPr lang="zh-TW" altLang="en-US" dirty="0" smtClean="0"/>
              <a:t>當</a:t>
            </a:r>
            <a:r>
              <a:rPr lang="en-US" altLang="zh-TW" dirty="0"/>
              <a:t>Double Click</a:t>
            </a:r>
            <a:r>
              <a:rPr lang="zh-TW" altLang="en-US" dirty="0"/>
              <a:t>某一個應用程式，發生了什麼事情呢</a:t>
            </a:r>
            <a:r>
              <a:rPr lang="en-US" altLang="zh-TW" dirty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b="1" dirty="0"/>
              <a:t>解答</a:t>
            </a:r>
            <a:r>
              <a:rPr lang="en-US" altLang="zh-TW" dirty="0"/>
              <a:t>: Windows</a:t>
            </a:r>
            <a:r>
              <a:rPr lang="zh-TW" altLang="en-US" dirty="0"/>
              <a:t>檔案總管</a:t>
            </a:r>
            <a:r>
              <a:rPr lang="en-US" altLang="zh-TW" dirty="0"/>
              <a:t>(or Shell in Linux)</a:t>
            </a:r>
            <a:r>
              <a:rPr lang="zh-TW" altLang="en-US" dirty="0" smtClean="0"/>
              <a:t>會呼叫某一個</a:t>
            </a:r>
            <a:r>
              <a:rPr lang="en-US" altLang="zh-TW" dirty="0" smtClean="0"/>
              <a:t>system call</a:t>
            </a:r>
            <a:r>
              <a:rPr lang="zh-TW" altLang="en-US" dirty="0" smtClean="0"/>
              <a:t>請</a:t>
            </a:r>
            <a:r>
              <a:rPr lang="en-US" altLang="zh-TW" dirty="0"/>
              <a:t>OS creates</a:t>
            </a:r>
            <a:r>
              <a:rPr lang="zh-TW" altLang="en-US" dirty="0"/>
              <a:t>一個</a:t>
            </a:r>
            <a:r>
              <a:rPr lang="en-US" altLang="zh-TW" dirty="0" smtClean="0"/>
              <a:t>process</a:t>
            </a:r>
            <a:r>
              <a:rPr lang="zh-TW" altLang="en-US" dirty="0" smtClean="0"/>
              <a:t>，</a:t>
            </a:r>
            <a:r>
              <a:rPr lang="zh-TW" altLang="en-US" dirty="0"/>
              <a:t>執行此一應用程式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83857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Process Creation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/>
              <a:t>A process may create several new processes</a:t>
            </a:r>
          </a:p>
          <a:p>
            <a:pPr lvl="1"/>
            <a:r>
              <a:rPr lang="en-US" altLang="zh-TW" sz="3200" dirty="0"/>
              <a:t>The creating process is called </a:t>
            </a:r>
            <a:r>
              <a:rPr lang="en-US" altLang="zh-TW" sz="3200" b="1" dirty="0">
                <a:solidFill>
                  <a:srgbClr val="FF0000"/>
                </a:solidFill>
              </a:rPr>
              <a:t>parent</a:t>
            </a:r>
          </a:p>
          <a:p>
            <a:pPr lvl="1"/>
            <a:endParaRPr lang="en-US" altLang="zh-TW" sz="3200" dirty="0"/>
          </a:p>
          <a:p>
            <a:pPr lvl="1"/>
            <a:r>
              <a:rPr lang="en-US" altLang="zh-TW" sz="3200" dirty="0"/>
              <a:t>The new processes are called </a:t>
            </a:r>
            <a:r>
              <a:rPr lang="en-US" altLang="zh-TW" sz="3200" b="1" dirty="0">
                <a:solidFill>
                  <a:srgbClr val="FF0000"/>
                </a:solidFill>
              </a:rPr>
              <a:t>children</a:t>
            </a:r>
            <a:r>
              <a:rPr lang="en-US" altLang="zh-TW" sz="3200" dirty="0"/>
              <a:t> of that process</a:t>
            </a:r>
          </a:p>
          <a:p>
            <a:pPr lvl="1"/>
            <a:endParaRPr lang="en-US" altLang="zh-TW" sz="3200" dirty="0" smtClean="0"/>
          </a:p>
          <a:p>
            <a:pPr lvl="1"/>
            <a:r>
              <a:rPr lang="en-US" altLang="zh-TW" sz="3200" dirty="0" smtClean="0"/>
              <a:t>And so on…</a:t>
            </a:r>
            <a:endParaRPr lang="en-US" altLang="zh-TW" sz="3200" dirty="0"/>
          </a:p>
          <a:p>
            <a:pPr lvl="1"/>
            <a:endParaRPr lang="en-US" altLang="zh-TW" sz="3200" dirty="0" smtClean="0"/>
          </a:p>
          <a:p>
            <a:pPr lvl="1"/>
            <a:r>
              <a:rPr lang="en-US" altLang="zh-TW" sz="3200" dirty="0" smtClean="0"/>
              <a:t>Forming </a:t>
            </a:r>
            <a:r>
              <a:rPr lang="en-US" altLang="zh-TW" sz="3200" dirty="0"/>
              <a:t>a </a:t>
            </a:r>
            <a:r>
              <a:rPr lang="en-US" altLang="zh-TW" sz="3200" b="1" dirty="0">
                <a:solidFill>
                  <a:srgbClr val="FF0000"/>
                </a:solidFill>
              </a:rPr>
              <a:t>tree </a:t>
            </a:r>
            <a:r>
              <a:rPr lang="en-US" altLang="zh-TW" sz="3200" dirty="0"/>
              <a:t>of </a:t>
            </a:r>
            <a:r>
              <a:rPr lang="en-US" altLang="zh-TW" sz="3200" dirty="0" smtClean="0"/>
              <a:t>processes</a:t>
            </a:r>
            <a:endParaRPr lang="en-US" altLang="zh-TW" sz="3200" dirty="0"/>
          </a:p>
          <a:p>
            <a:endParaRPr lang="en-US" altLang="zh-TW" sz="3600" dirty="0"/>
          </a:p>
          <a:p>
            <a:endParaRPr lang="zh-TW" altLang="en-US" sz="36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92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91877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A Tree of Processes in Linux</a:t>
            </a:r>
          </a:p>
        </p:txBody>
      </p:sp>
      <p:sp>
        <p:nvSpPr>
          <p:cNvPr id="32772" name="Text Box 4"/>
          <p:cNvSpPr txBox="1">
            <a:spLocks noChangeArrowheads="1"/>
          </p:cNvSpPr>
          <p:nvPr/>
        </p:nvSpPr>
        <p:spPr bwMode="auto">
          <a:xfrm>
            <a:off x="2135560" y="6020003"/>
            <a:ext cx="82486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dirty="0"/>
              <a:t>OS identify processes according to a unique </a:t>
            </a:r>
            <a:r>
              <a:rPr lang="en-US" altLang="zh-TW" sz="2000" b="1" dirty="0"/>
              <a:t>process identifier</a:t>
            </a:r>
            <a:r>
              <a:rPr lang="en-US" altLang="zh-TW" sz="2000" dirty="0"/>
              <a:t> (or </a:t>
            </a:r>
            <a:r>
              <a:rPr lang="en-US" altLang="zh-TW" sz="2000" b="1" dirty="0" err="1"/>
              <a:t>pid</a:t>
            </a:r>
            <a:r>
              <a:rPr lang="en-US" altLang="zh-TW" sz="2000" dirty="0"/>
              <a:t>)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5560" y="1484785"/>
            <a:ext cx="7984998" cy="4235923"/>
          </a:xfrm>
          <a:prstGeom prst="rect">
            <a:avLst/>
          </a:prstGeom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93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在</a:t>
            </a:r>
            <a:r>
              <a:rPr lang="en-US" altLang="zh-TW" dirty="0" smtClean="0"/>
              <a:t>Linux, </a:t>
            </a:r>
            <a:r>
              <a:rPr lang="zh-TW" altLang="en-US" dirty="0" smtClean="0"/>
              <a:t>如何創建一個</a:t>
            </a:r>
            <a:r>
              <a:rPr lang="en-US" altLang="zh-TW" dirty="0" smtClean="0"/>
              <a:t>process?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By fork() system call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31342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頁尾版面配置區 3"/>
          <p:cNvSpPr txBox="1">
            <a:spLocks noGrp="1"/>
          </p:cNvSpPr>
          <p:nvPr/>
        </p:nvSpPr>
        <p:spPr bwMode="auto">
          <a:xfrm>
            <a:off x="4151314" y="6453188"/>
            <a:ext cx="3889375" cy="2159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en-US" altLang="zh-TW"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NCHU System &amp; Network Lab</a:t>
            </a:r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The </a:t>
            </a:r>
            <a:r>
              <a:rPr lang="en-US" altLang="zh-TW" dirty="0">
                <a:latin typeface="Courier New" pitchFamily="49" charset="0"/>
              </a:rPr>
              <a:t>fork()</a:t>
            </a:r>
            <a:r>
              <a:rPr lang="en-US" altLang="zh-TW" dirty="0"/>
              <a:t> System Call</a:t>
            </a:r>
          </a:p>
        </p:txBody>
      </p:sp>
      <p:sp>
        <p:nvSpPr>
          <p:cNvPr id="34820" name="Rectangle 4"/>
          <p:cNvSpPr>
            <a:spLocks noChangeArrowheads="1"/>
          </p:cNvSpPr>
          <p:nvPr/>
        </p:nvSpPr>
        <p:spPr bwMode="auto">
          <a:xfrm>
            <a:off x="5159376" y="2060576"/>
            <a:ext cx="1655763" cy="39592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4821" name="Text Box 5"/>
          <p:cNvSpPr txBox="1">
            <a:spLocks noChangeArrowheads="1"/>
          </p:cNvSpPr>
          <p:nvPr/>
        </p:nvSpPr>
        <p:spPr bwMode="auto">
          <a:xfrm>
            <a:off x="5159376" y="1557338"/>
            <a:ext cx="15843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400" b="1"/>
              <a:t>Memory</a:t>
            </a:r>
          </a:p>
        </p:txBody>
      </p:sp>
      <p:sp>
        <p:nvSpPr>
          <p:cNvPr id="105478" name="Text Box 6"/>
          <p:cNvSpPr txBox="1">
            <a:spLocks noChangeArrowheads="1"/>
          </p:cNvSpPr>
          <p:nvPr/>
        </p:nvSpPr>
        <p:spPr bwMode="auto">
          <a:xfrm>
            <a:off x="6888163" y="2852738"/>
            <a:ext cx="1511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400" b="1">
                <a:solidFill>
                  <a:srgbClr val="3333CC"/>
                </a:solidFill>
                <a:latin typeface="Courier New" pitchFamily="49" charset="0"/>
              </a:rPr>
              <a:t>fork()</a:t>
            </a:r>
          </a:p>
        </p:txBody>
      </p:sp>
      <p:grpSp>
        <p:nvGrpSpPr>
          <p:cNvPr id="34823" name="Group 7"/>
          <p:cNvGrpSpPr>
            <a:grpSpLocks/>
          </p:cNvGrpSpPr>
          <p:nvPr/>
        </p:nvGrpSpPr>
        <p:grpSpPr bwMode="auto">
          <a:xfrm>
            <a:off x="5160963" y="2563814"/>
            <a:ext cx="1655762" cy="936625"/>
            <a:chOff x="2064" y="1616"/>
            <a:chExt cx="1043" cy="545"/>
          </a:xfrm>
        </p:grpSpPr>
        <p:sp>
          <p:nvSpPr>
            <p:cNvPr id="34828" name="Rectangle 8"/>
            <p:cNvSpPr>
              <a:spLocks noChangeArrowheads="1"/>
            </p:cNvSpPr>
            <p:nvPr/>
          </p:nvSpPr>
          <p:spPr bwMode="auto">
            <a:xfrm>
              <a:off x="2064" y="1616"/>
              <a:ext cx="1043" cy="545"/>
            </a:xfrm>
            <a:prstGeom prst="rect">
              <a:avLst/>
            </a:prstGeom>
            <a:solidFill>
              <a:srgbClr val="CC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4829" name="Text Box 9"/>
            <p:cNvSpPr txBox="1">
              <a:spLocks noChangeArrowheads="1"/>
            </p:cNvSpPr>
            <p:nvPr/>
          </p:nvSpPr>
          <p:spPr bwMode="auto">
            <a:xfrm>
              <a:off x="2064" y="1689"/>
              <a:ext cx="998" cy="3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TW" sz="1800" b="1">
                  <a:solidFill>
                    <a:schemeClr val="bg1"/>
                  </a:solidFill>
                </a:rPr>
                <a:t>Original image</a:t>
              </a:r>
            </a:p>
          </p:txBody>
        </p:sp>
      </p:grpSp>
      <p:sp>
        <p:nvSpPr>
          <p:cNvPr id="34824" name="Text Box 10"/>
          <p:cNvSpPr txBox="1">
            <a:spLocks noChangeArrowheads="1"/>
          </p:cNvSpPr>
          <p:nvPr/>
        </p:nvSpPr>
        <p:spPr bwMode="auto">
          <a:xfrm>
            <a:off x="3144839" y="4652963"/>
            <a:ext cx="15843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1800" b="1">
                <a:solidFill>
                  <a:schemeClr val="bg1"/>
                </a:solidFill>
              </a:rPr>
              <a:t>New image</a:t>
            </a:r>
          </a:p>
        </p:txBody>
      </p: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5159376" y="2565400"/>
            <a:ext cx="1655763" cy="935038"/>
            <a:chOff x="2290" y="1616"/>
            <a:chExt cx="1043" cy="589"/>
          </a:xfrm>
        </p:grpSpPr>
        <p:sp>
          <p:nvSpPr>
            <p:cNvPr id="34826" name="Rectangle 12"/>
            <p:cNvSpPr>
              <a:spLocks noChangeArrowheads="1"/>
            </p:cNvSpPr>
            <p:nvPr/>
          </p:nvSpPr>
          <p:spPr bwMode="auto">
            <a:xfrm>
              <a:off x="2290" y="1616"/>
              <a:ext cx="1043" cy="589"/>
            </a:xfrm>
            <a:prstGeom prst="rect">
              <a:avLst/>
            </a:prstGeom>
            <a:solidFill>
              <a:srgbClr val="CC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4827" name="Text Box 13"/>
            <p:cNvSpPr txBox="1">
              <a:spLocks noChangeArrowheads="1"/>
            </p:cNvSpPr>
            <p:nvPr/>
          </p:nvSpPr>
          <p:spPr bwMode="auto">
            <a:xfrm>
              <a:off x="2290" y="1616"/>
              <a:ext cx="998" cy="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TW" sz="1800" b="1">
                  <a:solidFill>
                    <a:schemeClr val="bg1"/>
                  </a:solidFill>
                </a:rPr>
                <a:t>Copy from original image</a:t>
              </a:r>
            </a:p>
          </p:txBody>
        </p:sp>
      </p:grp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95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5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514 0.00023 C 0.1691 0.03769 0.2434 0.07537 0.22761 0.12069 C 0.21181 0.16601 0.02708 0.24509 0.00087 0.27283 " pathEditMode="relative" rAng="0" ptsTypes="aaA">
                                      <p:cBhvr>
                                        <p:cTn id="1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00" y="136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8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在</a:t>
            </a:r>
            <a:r>
              <a:rPr lang="en-US" altLang="zh-TW" dirty="0" smtClean="0"/>
              <a:t>fork()</a:t>
            </a:r>
            <a:r>
              <a:rPr lang="zh-TW" altLang="en-US" dirty="0" smtClean="0"/>
              <a:t>中</a:t>
            </a:r>
            <a:r>
              <a:rPr lang="en-US" altLang="zh-TW" dirty="0" smtClean="0"/>
              <a:t>, child</a:t>
            </a:r>
            <a:r>
              <a:rPr lang="zh-TW" altLang="en-US" dirty="0" smtClean="0"/>
              <a:t>會跟</a:t>
            </a:r>
            <a:r>
              <a:rPr lang="en-US" altLang="zh-TW" dirty="0" smtClean="0"/>
              <a:t>parent</a:t>
            </a:r>
            <a:r>
              <a:rPr lang="zh-TW" altLang="en-US" dirty="0" smtClean="0"/>
              <a:t>執行相同的程式</a:t>
            </a:r>
            <a:r>
              <a:rPr lang="en-US" altLang="zh-TW" dirty="0" smtClean="0"/>
              <a:t>, </a:t>
            </a:r>
            <a:r>
              <a:rPr lang="zh-TW" altLang="en-US" dirty="0" smtClean="0"/>
              <a:t>但如果</a:t>
            </a:r>
            <a:r>
              <a:rPr lang="en-US" altLang="zh-TW" dirty="0" smtClean="0"/>
              <a:t>child</a:t>
            </a:r>
            <a:r>
              <a:rPr lang="zh-TW" altLang="en-US" dirty="0" smtClean="0"/>
              <a:t>想載入不同的程式執行呢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By exec() system call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97880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頁尾版面配置區 3"/>
          <p:cNvSpPr txBox="1">
            <a:spLocks noGrp="1"/>
          </p:cNvSpPr>
          <p:nvPr/>
        </p:nvSpPr>
        <p:spPr bwMode="auto">
          <a:xfrm>
            <a:off x="4151314" y="6453188"/>
            <a:ext cx="3889375" cy="2159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en-US" altLang="zh-TW"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NCHU System &amp; Network Lab</a:t>
            </a:r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The </a:t>
            </a:r>
            <a:r>
              <a:rPr lang="en-US" altLang="zh-TW" dirty="0">
                <a:latin typeface="Courier New" pitchFamily="49" charset="0"/>
              </a:rPr>
              <a:t>exec()</a:t>
            </a:r>
            <a:r>
              <a:rPr lang="en-US" altLang="zh-TW" dirty="0"/>
              <a:t> System Call</a:t>
            </a:r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5159376" y="2060576"/>
            <a:ext cx="1655763" cy="39592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5845" name="Text Box 5"/>
          <p:cNvSpPr txBox="1">
            <a:spLocks noChangeArrowheads="1"/>
          </p:cNvSpPr>
          <p:nvPr/>
        </p:nvSpPr>
        <p:spPr bwMode="auto">
          <a:xfrm>
            <a:off x="5159376" y="1557338"/>
            <a:ext cx="15843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400" b="1"/>
              <a:t>Memory</a:t>
            </a:r>
          </a:p>
        </p:txBody>
      </p:sp>
      <p:sp>
        <p:nvSpPr>
          <p:cNvPr id="309254" name="Text Box 6"/>
          <p:cNvSpPr txBox="1">
            <a:spLocks noChangeArrowheads="1"/>
          </p:cNvSpPr>
          <p:nvPr/>
        </p:nvSpPr>
        <p:spPr bwMode="auto">
          <a:xfrm>
            <a:off x="6888163" y="2852738"/>
            <a:ext cx="1511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400" b="1">
                <a:solidFill>
                  <a:srgbClr val="3333CC"/>
                </a:solidFill>
                <a:latin typeface="Courier New" pitchFamily="49" charset="0"/>
              </a:rPr>
              <a:t>fork()</a:t>
            </a:r>
          </a:p>
        </p:txBody>
      </p:sp>
      <p:grpSp>
        <p:nvGrpSpPr>
          <p:cNvPr id="35847" name="Group 7"/>
          <p:cNvGrpSpPr>
            <a:grpSpLocks/>
          </p:cNvGrpSpPr>
          <p:nvPr/>
        </p:nvGrpSpPr>
        <p:grpSpPr bwMode="auto">
          <a:xfrm>
            <a:off x="5160963" y="2563814"/>
            <a:ext cx="1655762" cy="936625"/>
            <a:chOff x="2064" y="1616"/>
            <a:chExt cx="1043" cy="545"/>
          </a:xfrm>
        </p:grpSpPr>
        <p:sp>
          <p:nvSpPr>
            <p:cNvPr id="35856" name="Rectangle 8"/>
            <p:cNvSpPr>
              <a:spLocks noChangeArrowheads="1"/>
            </p:cNvSpPr>
            <p:nvPr/>
          </p:nvSpPr>
          <p:spPr bwMode="auto">
            <a:xfrm>
              <a:off x="2064" y="1616"/>
              <a:ext cx="1043" cy="545"/>
            </a:xfrm>
            <a:prstGeom prst="rect">
              <a:avLst/>
            </a:prstGeom>
            <a:solidFill>
              <a:srgbClr val="CC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5857" name="Text Box 9"/>
            <p:cNvSpPr txBox="1">
              <a:spLocks noChangeArrowheads="1"/>
            </p:cNvSpPr>
            <p:nvPr/>
          </p:nvSpPr>
          <p:spPr bwMode="auto">
            <a:xfrm>
              <a:off x="2064" y="1689"/>
              <a:ext cx="998" cy="3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TW" sz="1800" b="1">
                  <a:solidFill>
                    <a:schemeClr val="bg1"/>
                  </a:solidFill>
                </a:rPr>
                <a:t>Original image</a:t>
              </a:r>
            </a:p>
          </p:txBody>
        </p:sp>
      </p:grpSp>
      <p:sp>
        <p:nvSpPr>
          <p:cNvPr id="35848" name="Text Box 10"/>
          <p:cNvSpPr txBox="1">
            <a:spLocks noChangeArrowheads="1"/>
          </p:cNvSpPr>
          <p:nvPr/>
        </p:nvSpPr>
        <p:spPr bwMode="auto">
          <a:xfrm>
            <a:off x="3144839" y="4652963"/>
            <a:ext cx="15843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1800" b="1">
                <a:solidFill>
                  <a:schemeClr val="bg1"/>
                </a:solidFill>
              </a:rPr>
              <a:t>New image</a:t>
            </a:r>
          </a:p>
        </p:txBody>
      </p: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5159376" y="2565400"/>
            <a:ext cx="1655763" cy="935038"/>
            <a:chOff x="2290" y="1616"/>
            <a:chExt cx="1043" cy="589"/>
          </a:xfrm>
        </p:grpSpPr>
        <p:sp>
          <p:nvSpPr>
            <p:cNvPr id="35854" name="Rectangle 12"/>
            <p:cNvSpPr>
              <a:spLocks noChangeArrowheads="1"/>
            </p:cNvSpPr>
            <p:nvPr/>
          </p:nvSpPr>
          <p:spPr bwMode="auto">
            <a:xfrm>
              <a:off x="2290" y="1616"/>
              <a:ext cx="1043" cy="589"/>
            </a:xfrm>
            <a:prstGeom prst="rect">
              <a:avLst/>
            </a:prstGeom>
            <a:solidFill>
              <a:srgbClr val="CC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5855" name="Text Box 13"/>
            <p:cNvSpPr txBox="1">
              <a:spLocks noChangeArrowheads="1"/>
            </p:cNvSpPr>
            <p:nvPr/>
          </p:nvSpPr>
          <p:spPr bwMode="auto">
            <a:xfrm>
              <a:off x="2290" y="1616"/>
              <a:ext cx="998" cy="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TW" sz="1800" b="1">
                  <a:solidFill>
                    <a:schemeClr val="bg1"/>
                  </a:solidFill>
                </a:rPr>
                <a:t>Copy from original image</a:t>
              </a:r>
            </a:p>
          </p:txBody>
        </p:sp>
      </p:grpSp>
      <p:sp>
        <p:nvSpPr>
          <p:cNvPr id="309262" name="Text Box 14"/>
          <p:cNvSpPr txBox="1">
            <a:spLocks noChangeArrowheads="1"/>
          </p:cNvSpPr>
          <p:nvPr/>
        </p:nvSpPr>
        <p:spPr bwMode="auto">
          <a:xfrm>
            <a:off x="6888163" y="4627563"/>
            <a:ext cx="1511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400" b="1">
                <a:solidFill>
                  <a:srgbClr val="3333CC"/>
                </a:solidFill>
                <a:latin typeface="Courier New" pitchFamily="49" charset="0"/>
              </a:rPr>
              <a:t>exec()</a:t>
            </a:r>
          </a:p>
        </p:txBody>
      </p: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5160963" y="4437064"/>
            <a:ext cx="1655762" cy="935037"/>
            <a:chOff x="930" y="3249"/>
            <a:chExt cx="1043" cy="589"/>
          </a:xfrm>
        </p:grpSpPr>
        <p:sp>
          <p:nvSpPr>
            <p:cNvPr id="35852" name="Rectangle 16"/>
            <p:cNvSpPr>
              <a:spLocks noChangeArrowheads="1"/>
            </p:cNvSpPr>
            <p:nvPr/>
          </p:nvSpPr>
          <p:spPr bwMode="auto">
            <a:xfrm>
              <a:off x="930" y="3249"/>
              <a:ext cx="1043" cy="589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5853" name="Text Box 17"/>
            <p:cNvSpPr txBox="1">
              <a:spLocks noChangeArrowheads="1"/>
            </p:cNvSpPr>
            <p:nvPr/>
          </p:nvSpPr>
          <p:spPr bwMode="auto">
            <a:xfrm>
              <a:off x="975" y="3261"/>
              <a:ext cx="998" cy="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TW" sz="1800" b="1">
                  <a:solidFill>
                    <a:schemeClr val="bg1"/>
                  </a:solidFill>
                </a:rPr>
                <a:t>Load another image</a:t>
              </a:r>
            </a:p>
          </p:txBody>
        </p:sp>
      </p:grp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97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9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514 0.00023 C 0.1691 0.03769 0.2434 0.07537 0.22761 0.12069 C 0.21181 0.16601 0.02708 0.24509 0.00087 0.27283 " pathEditMode="relative" rAng="0" ptsTypes="aaA">
                                      <p:cBhvr>
                                        <p:cTn id="1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00" y="136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09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254" grpId="0"/>
      <p:bldP spid="309262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sz="4000" dirty="0"/>
              <a:t>呼叫</a:t>
            </a:r>
            <a:r>
              <a:rPr lang="en-US" altLang="zh-TW" sz="4000" dirty="0" smtClean="0"/>
              <a:t>fork()</a:t>
            </a:r>
            <a:r>
              <a:rPr lang="zh-TW" altLang="en-US" sz="4000" dirty="0" smtClean="0"/>
              <a:t>之後</a:t>
            </a:r>
            <a:r>
              <a:rPr lang="en-US" altLang="zh-TW" sz="4000" dirty="0" smtClean="0"/>
              <a:t>, parent</a:t>
            </a:r>
            <a:r>
              <a:rPr lang="zh-TW" altLang="en-US" sz="4000" dirty="0" smtClean="0"/>
              <a:t>和</a:t>
            </a:r>
            <a:r>
              <a:rPr lang="en-US" altLang="zh-TW" sz="4000" dirty="0" smtClean="0"/>
              <a:t>child</a:t>
            </a:r>
            <a:r>
              <a:rPr lang="zh-TW" altLang="en-US" sz="4000" dirty="0" smtClean="0"/>
              <a:t>就並行執行</a:t>
            </a:r>
            <a:r>
              <a:rPr lang="en-US" altLang="zh-TW" sz="4000" dirty="0" smtClean="0"/>
              <a:t>,</a:t>
            </a:r>
            <a:br>
              <a:rPr lang="en-US" altLang="zh-TW" sz="4000" dirty="0" smtClean="0"/>
            </a:br>
            <a:r>
              <a:rPr lang="zh-TW" altLang="en-US" sz="4000" dirty="0" smtClean="0"/>
              <a:t>但如果</a:t>
            </a:r>
            <a:r>
              <a:rPr lang="en-US" altLang="zh-TW" sz="4000" dirty="0" smtClean="0"/>
              <a:t>parent</a:t>
            </a:r>
            <a:r>
              <a:rPr lang="zh-TW" altLang="en-US" sz="4000" dirty="0" smtClean="0"/>
              <a:t>想等待</a:t>
            </a:r>
            <a:r>
              <a:rPr lang="en-US" altLang="zh-TW" sz="4000" dirty="0" smtClean="0"/>
              <a:t>child</a:t>
            </a:r>
            <a:r>
              <a:rPr lang="zh-TW" altLang="en-US" sz="4000" dirty="0" smtClean="0"/>
              <a:t>結束再繼續執行呢</a:t>
            </a:r>
            <a:r>
              <a:rPr lang="en-US" altLang="zh-TW" sz="4000" dirty="0" smtClean="0"/>
              <a:t>?</a:t>
            </a:r>
            <a:endParaRPr lang="zh-TW" altLang="en-US" sz="40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By wait() system call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57553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看一個簡單的例子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4849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ffectLst/>
              </a:rPr>
              <a:t>UNIX Process Creation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See the following slide!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Each process has a unique </a:t>
            </a:r>
            <a:r>
              <a:rPr lang="en-US" altLang="zh-TW" sz="2800" b="1" dirty="0">
                <a:solidFill>
                  <a:srgbClr val="FF3300"/>
                </a:solidFill>
              </a:rPr>
              <a:t>process id</a:t>
            </a:r>
            <a:r>
              <a:rPr lang="en-US" altLang="zh-TW" sz="2800" dirty="0"/>
              <a:t> (</a:t>
            </a:r>
            <a:r>
              <a:rPr lang="en-US" altLang="zh-TW" sz="2800" b="1" dirty="0">
                <a:solidFill>
                  <a:srgbClr val="FF3300"/>
                </a:solidFill>
              </a:rPr>
              <a:t>PID</a:t>
            </a:r>
            <a:r>
              <a:rPr lang="en-US" altLang="zh-TW" sz="2800" dirty="0"/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A new process is created by the </a:t>
            </a:r>
            <a:r>
              <a:rPr lang="en-US" altLang="zh-TW" sz="2800" b="1" dirty="0"/>
              <a:t>fork()</a:t>
            </a:r>
            <a:r>
              <a:rPr lang="en-US" altLang="zh-TW" sz="2800" dirty="0"/>
              <a:t> system call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The new (child) process duplicates the address space of the parent process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Child and parent continue execution at the instruction after the </a:t>
            </a:r>
            <a:r>
              <a:rPr lang="en-US" altLang="zh-TW" sz="2800" b="1" dirty="0"/>
              <a:t>fork()</a:t>
            </a:r>
            <a:r>
              <a:rPr lang="en-US" altLang="zh-TW" sz="2800" dirty="0"/>
              <a:t> system call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Child: return value of fork is 0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Parent: return value of fork is PID of the child process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The </a:t>
            </a:r>
            <a:r>
              <a:rPr lang="en-US" altLang="zh-TW" sz="2800" b="1" dirty="0" err="1"/>
              <a:t>execlp</a:t>
            </a:r>
            <a:r>
              <a:rPr lang="en-US" altLang="zh-TW" sz="2800" b="1" dirty="0"/>
              <a:t>()</a:t>
            </a:r>
            <a:r>
              <a:rPr lang="en-US" altLang="zh-TW" sz="2800" dirty="0"/>
              <a:t> system call is used to load a new binary file into memory – destroying the old code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100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C Program Forking Process</a:t>
            </a:r>
          </a:p>
        </p:txBody>
      </p:sp>
      <p:pic>
        <p:nvPicPr>
          <p:cNvPr id="37891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40869" y="1124744"/>
            <a:ext cx="8893175" cy="5518150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</p:spPr>
      </p:pic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101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6"/>
          <p:cNvSpPr>
            <a:spLocks noChangeArrowheads="1"/>
          </p:cNvSpPr>
          <p:nvPr/>
        </p:nvSpPr>
        <p:spPr bwMode="auto">
          <a:xfrm>
            <a:off x="3575051" y="0"/>
            <a:ext cx="4968875" cy="6642100"/>
          </a:xfrm>
          <a:prstGeom prst="rect">
            <a:avLst/>
          </a:prstGeom>
          <a:solidFill>
            <a:srgbClr val="FFFF00"/>
          </a:solidFill>
          <a:ln w="9525">
            <a:solidFill>
              <a:srgbClr val="FF3300"/>
            </a:solidFill>
            <a:miter lim="800000"/>
            <a:headEnd/>
            <a:tailEnd/>
          </a:ln>
          <a:effectLst>
            <a:prstShdw prst="shdw17" dist="17961" dir="2700000">
              <a:srgbClr val="991F00"/>
            </a:prstShdw>
          </a:effectLst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106503" name="Line 7"/>
          <p:cNvSpPr>
            <a:spLocks noChangeShapeType="1"/>
          </p:cNvSpPr>
          <p:nvPr/>
        </p:nvSpPr>
        <p:spPr bwMode="auto">
          <a:xfrm>
            <a:off x="3575051" y="260350"/>
            <a:ext cx="4968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>
              <a:defRPr/>
            </a:pPr>
            <a:endParaRPr lang="zh-TW" altLang="en-US">
              <a:latin typeface="Calibri" panose="020F0502020204030204" pitchFamily="34" charset="0"/>
              <a:ea typeface="新細明體" pitchFamily="18" charset="-120"/>
            </a:endParaRPr>
          </a:p>
        </p:txBody>
      </p:sp>
      <p:sp>
        <p:nvSpPr>
          <p:cNvPr id="106504" name="Line 8"/>
          <p:cNvSpPr>
            <a:spLocks noChangeShapeType="1"/>
          </p:cNvSpPr>
          <p:nvPr/>
        </p:nvSpPr>
        <p:spPr bwMode="auto">
          <a:xfrm>
            <a:off x="3575051" y="3068638"/>
            <a:ext cx="4968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>
              <a:defRPr/>
            </a:pPr>
            <a:endParaRPr lang="zh-TW" altLang="en-US">
              <a:latin typeface="Calibri" panose="020F0502020204030204" pitchFamily="34" charset="0"/>
              <a:ea typeface="新細明體" pitchFamily="18" charset="-120"/>
            </a:endParaRPr>
          </a:p>
        </p:txBody>
      </p:sp>
      <p:pic>
        <p:nvPicPr>
          <p:cNvPr id="106505" name="Picture 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5051" y="3429001"/>
            <a:ext cx="4968875" cy="317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18" name="Picture 1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5051" y="260350"/>
            <a:ext cx="4968875" cy="280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6509" name="AutoShape 13"/>
          <p:cNvSpPr>
            <a:spLocks noChangeArrowheads="1"/>
          </p:cNvSpPr>
          <p:nvPr/>
        </p:nvSpPr>
        <p:spPr bwMode="auto">
          <a:xfrm>
            <a:off x="8904288" y="1916114"/>
            <a:ext cx="1295400" cy="896937"/>
          </a:xfrm>
          <a:prstGeom prst="wedgeRoundRectCallout">
            <a:avLst>
              <a:gd name="adj1" fmla="val -77449"/>
              <a:gd name="adj2" fmla="val -62565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 algn="ctr">
              <a:defRPr/>
            </a:pPr>
            <a:r>
              <a:rPr lang="en-US" altLang="zh-TW" sz="2400" b="1">
                <a:latin typeface="Calibri" panose="020F0502020204030204" pitchFamily="34" charset="0"/>
                <a:ea typeface="新細明體" pitchFamily="18" charset="-120"/>
              </a:rPr>
              <a:t>parent’ code</a:t>
            </a:r>
          </a:p>
        </p:txBody>
      </p:sp>
      <p:sp>
        <p:nvSpPr>
          <p:cNvPr id="106510" name="AutoShape 14"/>
          <p:cNvSpPr>
            <a:spLocks noChangeArrowheads="1"/>
          </p:cNvSpPr>
          <p:nvPr/>
        </p:nvSpPr>
        <p:spPr bwMode="auto">
          <a:xfrm>
            <a:off x="8832850" y="4076700"/>
            <a:ext cx="1079500" cy="825500"/>
          </a:xfrm>
          <a:prstGeom prst="wedgeRoundRectCallout">
            <a:avLst>
              <a:gd name="adj1" fmla="val -74704"/>
              <a:gd name="adj2" fmla="val 84616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 algn="ctr">
              <a:defRPr/>
            </a:pPr>
            <a:r>
              <a:rPr lang="en-US" altLang="zh-TW" sz="2400" b="1">
                <a:latin typeface="Calibri" panose="020F0502020204030204" pitchFamily="34" charset="0"/>
                <a:ea typeface="新細明體" pitchFamily="18" charset="-120"/>
              </a:rPr>
              <a:t>child’ code</a:t>
            </a:r>
          </a:p>
        </p:txBody>
      </p:sp>
      <p:sp>
        <p:nvSpPr>
          <p:cNvPr id="106511" name="AutoShape 15"/>
          <p:cNvSpPr>
            <a:spLocks noChangeArrowheads="1"/>
          </p:cNvSpPr>
          <p:nvPr/>
        </p:nvSpPr>
        <p:spPr bwMode="auto">
          <a:xfrm>
            <a:off x="8759826" y="404813"/>
            <a:ext cx="1439863" cy="609600"/>
          </a:xfrm>
          <a:prstGeom prst="wedgeRoundRectCallout">
            <a:avLst>
              <a:gd name="adj1" fmla="val -100495"/>
              <a:gd name="adj2" fmla="val -100523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 algn="ctr">
              <a:defRPr/>
            </a:pPr>
            <a:r>
              <a:rPr lang="en-US" altLang="zh-TW" sz="2400" b="1">
                <a:latin typeface="Calibri" panose="020F0502020204030204" pitchFamily="34" charset="0"/>
                <a:ea typeface="新細明體" pitchFamily="18" charset="-120"/>
              </a:rPr>
              <a:t>memory</a:t>
            </a:r>
          </a:p>
        </p:txBody>
      </p:sp>
      <p:sp>
        <p:nvSpPr>
          <p:cNvPr id="106512" name="Line 16"/>
          <p:cNvSpPr>
            <a:spLocks noChangeShapeType="1"/>
          </p:cNvSpPr>
          <p:nvPr/>
        </p:nvSpPr>
        <p:spPr bwMode="auto">
          <a:xfrm>
            <a:off x="2855913" y="549275"/>
            <a:ext cx="6477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>
            <a:prstShdw prst="shdw17" dist="17961" dir="2700000">
              <a:srgbClr val="991F00"/>
            </a:prstShdw>
          </a:effectLst>
        </p:spPr>
        <p:txBody>
          <a:bodyPr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106514" name="Text Box 18"/>
          <p:cNvSpPr txBox="1">
            <a:spLocks noChangeArrowheads="1"/>
          </p:cNvSpPr>
          <p:nvPr/>
        </p:nvSpPr>
        <p:spPr bwMode="auto">
          <a:xfrm>
            <a:off x="1847850" y="333376"/>
            <a:ext cx="10620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2000" b="1">
                <a:latin typeface="Calibri" panose="020F0502020204030204" pitchFamily="34" charset="0"/>
                <a:ea typeface="新細明體" pitchFamily="18" charset="-120"/>
              </a:rPr>
              <a:t>pid=153</a:t>
            </a:r>
          </a:p>
        </p:txBody>
      </p:sp>
      <p:sp>
        <p:nvSpPr>
          <p:cNvPr id="106515" name="Text Box 19"/>
          <p:cNvSpPr txBox="1">
            <a:spLocks noChangeArrowheads="1"/>
          </p:cNvSpPr>
          <p:nvPr/>
        </p:nvSpPr>
        <p:spPr bwMode="auto">
          <a:xfrm>
            <a:off x="1992314" y="3500439"/>
            <a:ext cx="8080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2000" b="1">
                <a:latin typeface="Calibri" panose="020F0502020204030204" pitchFamily="34" charset="0"/>
                <a:ea typeface="新細明體" pitchFamily="18" charset="-120"/>
              </a:rPr>
              <a:t>pid=0</a:t>
            </a:r>
          </a:p>
        </p:txBody>
      </p:sp>
      <p:sp>
        <p:nvSpPr>
          <p:cNvPr id="106516" name="Line 20"/>
          <p:cNvSpPr>
            <a:spLocks noChangeShapeType="1"/>
          </p:cNvSpPr>
          <p:nvPr/>
        </p:nvSpPr>
        <p:spPr bwMode="auto">
          <a:xfrm>
            <a:off x="2782888" y="3716338"/>
            <a:ext cx="6477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>
            <a:prstShdw prst="shdw17" dist="17961" dir="2700000">
              <a:srgbClr val="991F00"/>
            </a:prstShdw>
          </a:effectLst>
        </p:spPr>
        <p:txBody>
          <a:bodyPr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106517" name="Line 21"/>
          <p:cNvSpPr>
            <a:spLocks noChangeShapeType="1"/>
          </p:cNvSpPr>
          <p:nvPr/>
        </p:nvSpPr>
        <p:spPr bwMode="auto">
          <a:xfrm>
            <a:off x="2855913" y="908050"/>
            <a:ext cx="6477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>
            <a:prstShdw prst="shdw17" dist="17961" dir="2700000">
              <a:srgbClr val="991F00"/>
            </a:prstShdw>
          </a:effectLst>
        </p:spPr>
        <p:txBody>
          <a:bodyPr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106518" name="Line 22"/>
          <p:cNvSpPr>
            <a:spLocks noChangeShapeType="1"/>
          </p:cNvSpPr>
          <p:nvPr/>
        </p:nvSpPr>
        <p:spPr bwMode="auto">
          <a:xfrm>
            <a:off x="2855913" y="1557338"/>
            <a:ext cx="6477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>
            <a:prstShdw prst="shdw17" dist="17961" dir="2700000">
              <a:srgbClr val="991F00"/>
            </a:prstShdw>
          </a:effectLst>
        </p:spPr>
        <p:txBody>
          <a:bodyPr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106519" name="Line 23"/>
          <p:cNvSpPr>
            <a:spLocks noChangeShapeType="1"/>
          </p:cNvSpPr>
          <p:nvPr/>
        </p:nvSpPr>
        <p:spPr bwMode="auto">
          <a:xfrm>
            <a:off x="2855913" y="2060575"/>
            <a:ext cx="6477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>
            <a:prstShdw prst="shdw17" dist="17961" dir="2700000">
              <a:srgbClr val="991F00"/>
            </a:prstShdw>
          </a:effectLst>
        </p:spPr>
        <p:txBody>
          <a:bodyPr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106520" name="Line 24"/>
          <p:cNvSpPr>
            <a:spLocks noChangeShapeType="1"/>
          </p:cNvSpPr>
          <p:nvPr/>
        </p:nvSpPr>
        <p:spPr bwMode="auto">
          <a:xfrm>
            <a:off x="2782888" y="4149725"/>
            <a:ext cx="6477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>
            <a:prstShdw prst="shdw17" dist="17961" dir="2700000">
              <a:srgbClr val="991F00"/>
            </a:prstShdw>
          </a:effectLst>
        </p:spPr>
        <p:txBody>
          <a:bodyPr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106521" name="Line 25"/>
          <p:cNvSpPr>
            <a:spLocks noChangeShapeType="1"/>
          </p:cNvSpPr>
          <p:nvPr/>
        </p:nvSpPr>
        <p:spPr bwMode="auto">
          <a:xfrm>
            <a:off x="2782888" y="4868863"/>
            <a:ext cx="6477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>
            <a:prstShdw prst="shdw17" dist="17961" dir="2700000">
              <a:srgbClr val="991F00"/>
            </a:prstShdw>
          </a:effectLst>
        </p:spPr>
        <p:txBody>
          <a:bodyPr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106523" name="Line 27"/>
          <p:cNvSpPr>
            <a:spLocks noChangeShapeType="1"/>
          </p:cNvSpPr>
          <p:nvPr/>
        </p:nvSpPr>
        <p:spPr bwMode="auto">
          <a:xfrm>
            <a:off x="2855913" y="2420938"/>
            <a:ext cx="6477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>
            <a:prstShdw prst="shdw17" dist="17961" dir="2700000">
              <a:srgbClr val="991F00"/>
            </a:prstShdw>
          </a:effectLst>
        </p:spPr>
        <p:txBody>
          <a:bodyPr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106524" name="Line 28"/>
          <p:cNvSpPr>
            <a:spLocks noChangeShapeType="1"/>
          </p:cNvSpPr>
          <p:nvPr/>
        </p:nvSpPr>
        <p:spPr bwMode="auto">
          <a:xfrm>
            <a:off x="2782889" y="5084763"/>
            <a:ext cx="649287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>
            <a:prstShdw prst="shdw17" dist="17961" dir="2700000">
              <a:srgbClr val="991F00"/>
            </a:prstShdw>
          </a:effectLst>
        </p:spPr>
        <p:txBody>
          <a:bodyPr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106525" name="Rectangle 29"/>
          <p:cNvSpPr>
            <a:spLocks noChangeArrowheads="1"/>
          </p:cNvSpPr>
          <p:nvPr/>
        </p:nvSpPr>
        <p:spPr bwMode="auto">
          <a:xfrm>
            <a:off x="3575051" y="3429000"/>
            <a:ext cx="4968875" cy="316865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bg2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altLang="zh-TW">
                <a:latin typeface="Calibri" panose="020F0502020204030204" pitchFamily="34" charset="0"/>
                <a:ea typeface="新細明體" pitchFamily="18" charset="-120"/>
              </a:rPr>
              <a:t>ls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102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6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6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6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65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65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6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41" dur="500"/>
                                        <p:tgtEl>
                                          <p:spTgt spid="1065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0" dur="500"/>
                                        <p:tgtEl>
                                          <p:spTgt spid="1065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9" dur="500"/>
                                        <p:tgtEl>
                                          <p:spTgt spid="1065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8" dur="500"/>
                                        <p:tgtEl>
                                          <p:spTgt spid="1065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77" dur="500"/>
                                        <p:tgtEl>
                                          <p:spTgt spid="1065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3" dur="500"/>
                                        <p:tgtEl>
                                          <p:spTgt spid="106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87" dur="500"/>
                                        <p:tgtEl>
                                          <p:spTgt spid="1065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96" dur="500"/>
                                        <p:tgtEl>
                                          <p:spTgt spid="1065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05" dur="500"/>
                                        <p:tgtEl>
                                          <p:spTgt spid="1065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65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065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6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10" grpId="0" animBg="1"/>
      <p:bldP spid="106512" grpId="0" animBg="1"/>
      <p:bldP spid="106512" grpId="1" animBg="1"/>
      <p:bldP spid="106514" grpId="0"/>
      <p:bldP spid="106515" grpId="0"/>
      <p:bldP spid="106516" grpId="0" animBg="1"/>
      <p:bldP spid="106516" grpId="1" animBg="1"/>
      <p:bldP spid="106517" grpId="0" animBg="1"/>
      <p:bldP spid="106517" grpId="1" animBg="1"/>
      <p:bldP spid="106518" grpId="0" animBg="1"/>
      <p:bldP spid="106518" grpId="1" animBg="1"/>
      <p:bldP spid="106519" grpId="0" animBg="1"/>
      <p:bldP spid="106519" grpId="1" animBg="1"/>
      <p:bldP spid="106520" grpId="0" animBg="1"/>
      <p:bldP spid="106520" grpId="1" animBg="1"/>
      <p:bldP spid="106521" grpId="0" animBg="1"/>
      <p:bldP spid="106521" grpId="1" animBg="1"/>
      <p:bldP spid="106523" grpId="0" animBg="1"/>
      <p:bldP spid="106524" grpId="0" animBg="1"/>
      <p:bldP spid="106524" grpId="1" animBg="1"/>
      <p:bldP spid="106525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Flow Diagram in above Program</a:t>
            </a:r>
            <a:endParaRPr lang="en-US" altLang="zh-TW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375" y="1412776"/>
            <a:ext cx="9228137" cy="4752528"/>
          </a:xfrm>
          <a:prstGeom prst="rect">
            <a:avLst/>
          </a:prstGeom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103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所以</a:t>
            </a:r>
            <a:r>
              <a:rPr lang="en-US" altLang="zh-TW" dirty="0" smtClean="0"/>
              <a:t>, </a:t>
            </a:r>
            <a:r>
              <a:rPr lang="zh-TW" altLang="en-US" dirty="0" smtClean="0"/>
              <a:t>我們有以下的整理</a:t>
            </a:r>
            <a:r>
              <a:rPr lang="en-US" altLang="zh-TW" dirty="0" smtClean="0"/>
              <a:t>~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3570853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Process Creation (Cont.)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spcBef>
                <a:spcPts val="600"/>
              </a:spcBef>
            </a:pPr>
            <a:r>
              <a:rPr lang="zh-TW" altLang="en-US" sz="3600" b="1" dirty="0" smtClean="0"/>
              <a:t>當</a:t>
            </a:r>
            <a:r>
              <a:rPr lang="en-US" altLang="zh-TW" sz="3600" b="1" dirty="0" smtClean="0"/>
              <a:t>parent create</a:t>
            </a:r>
            <a:r>
              <a:rPr lang="zh-TW" altLang="en-US" sz="3600" b="1" dirty="0" smtClean="0"/>
              <a:t>一個</a:t>
            </a:r>
            <a:r>
              <a:rPr lang="en-US" altLang="zh-TW" sz="3600" b="1" dirty="0" smtClean="0"/>
              <a:t>child process</a:t>
            </a:r>
            <a:r>
              <a:rPr lang="zh-TW" altLang="en-US" sz="3600" b="1" dirty="0" smtClean="0"/>
              <a:t>之後</a:t>
            </a:r>
            <a:r>
              <a:rPr lang="en-US" altLang="zh-TW" sz="3600" b="1" dirty="0" smtClean="0"/>
              <a:t>, parent</a:t>
            </a:r>
            <a:r>
              <a:rPr lang="zh-TW" altLang="en-US" sz="3600" b="1" dirty="0" smtClean="0"/>
              <a:t>有兩個選擇</a:t>
            </a:r>
            <a:endParaRPr lang="en-US" altLang="zh-TW" sz="3600" b="1" dirty="0" smtClean="0"/>
          </a:p>
          <a:p>
            <a:pPr lvl="1" eaLnBrk="1" hangingPunct="1">
              <a:spcBef>
                <a:spcPts val="600"/>
              </a:spcBef>
            </a:pPr>
            <a:endParaRPr lang="en-US" altLang="zh-TW" sz="3200" dirty="0" smtClean="0"/>
          </a:p>
          <a:p>
            <a:pPr lvl="1" eaLnBrk="1" hangingPunct="1">
              <a:spcBef>
                <a:spcPts val="600"/>
              </a:spcBef>
            </a:pPr>
            <a:r>
              <a:rPr lang="en-US" altLang="zh-TW" sz="3200" dirty="0" smtClean="0"/>
              <a:t>Parent </a:t>
            </a:r>
            <a:r>
              <a:rPr lang="en-US" altLang="zh-TW" sz="3200" dirty="0"/>
              <a:t>and children execute </a:t>
            </a:r>
            <a:r>
              <a:rPr lang="en-US" altLang="zh-TW" sz="3200" dirty="0" smtClean="0"/>
              <a:t>concurrently</a:t>
            </a:r>
            <a:endParaRPr lang="en-US" altLang="zh-TW" sz="3200" dirty="0"/>
          </a:p>
          <a:p>
            <a:pPr lvl="1" eaLnBrk="1" hangingPunct="1">
              <a:spcBef>
                <a:spcPts val="600"/>
              </a:spcBef>
            </a:pPr>
            <a:endParaRPr lang="en-US" altLang="zh-TW" sz="3200" dirty="0" smtClean="0"/>
          </a:p>
          <a:p>
            <a:pPr lvl="1" eaLnBrk="1" hangingPunct="1">
              <a:spcBef>
                <a:spcPts val="600"/>
              </a:spcBef>
            </a:pPr>
            <a:r>
              <a:rPr lang="en-US" altLang="zh-TW" sz="3200" dirty="0" smtClean="0"/>
              <a:t>Parent </a:t>
            </a:r>
            <a:r>
              <a:rPr lang="en-US" altLang="zh-TW" sz="3200" dirty="0"/>
              <a:t>waits until children terminate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zh-TW" sz="2800" b="1" dirty="0"/>
              <a:t>wait() </a:t>
            </a:r>
            <a:r>
              <a:rPr lang="en-US" altLang="zh-TW" sz="2800" dirty="0"/>
              <a:t>system call in Linux</a:t>
            </a:r>
            <a:endParaRPr lang="en-US" altLang="zh-TW" sz="3600" b="1" dirty="0"/>
          </a:p>
          <a:p>
            <a:pPr eaLnBrk="1" hangingPunct="1">
              <a:spcBef>
                <a:spcPts val="600"/>
              </a:spcBef>
            </a:pPr>
            <a:endParaRPr lang="en-US" altLang="zh-TW" sz="3600" b="1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105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68048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Process Creation (Cont.)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spcBef>
                <a:spcPts val="600"/>
              </a:spcBef>
            </a:pPr>
            <a:r>
              <a:rPr lang="zh-TW" altLang="en-US" sz="4000" b="1" dirty="0" smtClean="0"/>
              <a:t>當</a:t>
            </a:r>
            <a:r>
              <a:rPr lang="en-US" altLang="zh-TW" sz="4000" b="1" dirty="0" smtClean="0"/>
              <a:t>child</a:t>
            </a:r>
            <a:r>
              <a:rPr lang="zh-TW" altLang="en-US" sz="4000" b="1" dirty="0" smtClean="0"/>
              <a:t>被創建出來後</a:t>
            </a:r>
            <a:r>
              <a:rPr lang="en-US" altLang="zh-TW" sz="4000" b="1" dirty="0" smtClean="0"/>
              <a:t>, </a:t>
            </a:r>
            <a:r>
              <a:rPr lang="zh-TW" altLang="en-US" sz="4000" b="1" dirty="0" smtClean="0"/>
              <a:t>也有兩</a:t>
            </a:r>
            <a:r>
              <a:rPr lang="zh-TW" altLang="en-US" sz="4000" b="1" dirty="0"/>
              <a:t>個選擇</a:t>
            </a:r>
            <a:endParaRPr lang="en-US" altLang="zh-TW" sz="4000" b="1" dirty="0"/>
          </a:p>
          <a:p>
            <a:pPr lvl="1" eaLnBrk="1" hangingPunct="1">
              <a:lnSpc>
                <a:spcPct val="90000"/>
              </a:lnSpc>
            </a:pPr>
            <a:r>
              <a:rPr lang="en-US" altLang="zh-TW" sz="3200" dirty="0" smtClean="0"/>
              <a:t>Child duplicate of parent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2800" dirty="0" smtClean="0"/>
              <a:t>i.e., child has the </a:t>
            </a:r>
            <a:r>
              <a:rPr lang="en-US" altLang="zh-TW" sz="2800" dirty="0"/>
              <a:t>same program and data as the </a:t>
            </a:r>
            <a:r>
              <a:rPr lang="en-US" altLang="zh-TW" sz="2800" dirty="0" smtClean="0"/>
              <a:t>parent	</a:t>
            </a:r>
            <a:endParaRPr lang="en-US" altLang="zh-TW" sz="2800" dirty="0"/>
          </a:p>
          <a:p>
            <a:pPr lvl="2" eaLnBrk="1" hangingPunct="1">
              <a:lnSpc>
                <a:spcPct val="90000"/>
              </a:lnSpc>
            </a:pPr>
            <a:r>
              <a:rPr lang="en-US" altLang="zh-TW" sz="3200" b="1" dirty="0"/>
              <a:t>fork()</a:t>
            </a:r>
            <a:r>
              <a:rPr lang="en-US" altLang="zh-TW" sz="3200" dirty="0"/>
              <a:t> system call creates a new process in Linux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sz="36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TW" sz="3600" dirty="0"/>
              <a:t>Child has a new program loaded into it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3200" b="1" dirty="0"/>
              <a:t>exec()</a:t>
            </a:r>
            <a:r>
              <a:rPr lang="en-US" altLang="zh-TW" sz="3200" dirty="0"/>
              <a:t> system call replaces the process</a:t>
            </a:r>
            <a:r>
              <a:rPr lang="en-US" altLang="zh-TW" sz="3200" dirty="0">
                <a:latin typeface="Helvetica" pitchFamily="34" charset="0"/>
              </a:rPr>
              <a:t>’</a:t>
            </a:r>
            <a:r>
              <a:rPr lang="en-US" altLang="zh-TW" sz="3200" dirty="0"/>
              <a:t> memory space with a new program in Linux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106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16618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在之前的例子中</a:t>
            </a:r>
            <a:r>
              <a:rPr lang="en-US" altLang="zh-TW" dirty="0" smtClean="0"/>
              <a:t>, parent</a:t>
            </a:r>
            <a:r>
              <a:rPr lang="zh-TW" altLang="en-US" dirty="0" smtClean="0"/>
              <a:t>和</a:t>
            </a:r>
            <a:r>
              <a:rPr lang="en-US" altLang="zh-TW" dirty="0" smtClean="0"/>
              <a:t>child</a:t>
            </a:r>
            <a:r>
              <a:rPr lang="zh-TW" altLang="en-US" dirty="0" smtClean="0"/>
              <a:t>的選擇是什麼呢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err="1" smtClean="0"/>
              <a:t>Ans</a:t>
            </a:r>
            <a:r>
              <a:rPr lang="en-US" altLang="zh-TW" dirty="0" smtClean="0"/>
              <a:t>: see the following two slides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69789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Process Creation (Cont.)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spcBef>
                <a:spcPts val="600"/>
              </a:spcBef>
            </a:pPr>
            <a:r>
              <a:rPr lang="zh-TW" altLang="en-US" sz="3600" b="1" dirty="0" smtClean="0"/>
              <a:t>當</a:t>
            </a:r>
            <a:r>
              <a:rPr lang="en-US" altLang="zh-TW" sz="3600" b="1" dirty="0" smtClean="0"/>
              <a:t>parent create</a:t>
            </a:r>
            <a:r>
              <a:rPr lang="zh-TW" altLang="en-US" sz="3600" b="1" dirty="0" smtClean="0"/>
              <a:t>一個</a:t>
            </a:r>
            <a:r>
              <a:rPr lang="en-US" altLang="zh-TW" sz="3600" b="1" dirty="0" smtClean="0"/>
              <a:t>child process</a:t>
            </a:r>
            <a:r>
              <a:rPr lang="zh-TW" altLang="en-US" sz="3600" b="1" dirty="0" smtClean="0"/>
              <a:t>之後</a:t>
            </a:r>
            <a:r>
              <a:rPr lang="en-US" altLang="zh-TW" sz="3600" b="1" dirty="0" smtClean="0"/>
              <a:t>, parent</a:t>
            </a:r>
            <a:r>
              <a:rPr lang="zh-TW" altLang="en-US" sz="3600" b="1" dirty="0" smtClean="0"/>
              <a:t>有兩個選擇</a:t>
            </a:r>
            <a:endParaRPr lang="en-US" altLang="zh-TW" sz="3600" b="1" dirty="0" smtClean="0"/>
          </a:p>
          <a:p>
            <a:pPr lvl="1" eaLnBrk="1" hangingPunct="1">
              <a:spcBef>
                <a:spcPts val="600"/>
              </a:spcBef>
            </a:pPr>
            <a:endParaRPr lang="en-US" altLang="zh-TW" sz="3200" dirty="0" smtClean="0"/>
          </a:p>
          <a:p>
            <a:pPr lvl="1" eaLnBrk="1" hangingPunct="1">
              <a:spcBef>
                <a:spcPts val="600"/>
              </a:spcBef>
            </a:pPr>
            <a:r>
              <a:rPr lang="en-US" altLang="zh-TW" sz="3200" dirty="0" smtClean="0"/>
              <a:t>Parent </a:t>
            </a:r>
            <a:r>
              <a:rPr lang="en-US" altLang="zh-TW" sz="3200" dirty="0"/>
              <a:t>and children execute concurrently, or</a:t>
            </a:r>
          </a:p>
          <a:p>
            <a:pPr lvl="1" eaLnBrk="1" hangingPunct="1">
              <a:spcBef>
                <a:spcPts val="600"/>
              </a:spcBef>
            </a:pPr>
            <a:endParaRPr lang="en-US" altLang="zh-TW" sz="3200" dirty="0" smtClean="0"/>
          </a:p>
          <a:p>
            <a:pPr lvl="1" eaLnBrk="1" hangingPunct="1">
              <a:spcBef>
                <a:spcPts val="600"/>
              </a:spcBef>
            </a:pPr>
            <a:r>
              <a:rPr lang="en-US" altLang="zh-TW" sz="3200" b="1" dirty="0" smtClean="0">
                <a:solidFill>
                  <a:srgbClr val="FF0000"/>
                </a:solidFill>
              </a:rPr>
              <a:t>Parent </a:t>
            </a:r>
            <a:r>
              <a:rPr lang="en-US" altLang="zh-TW" sz="3200" b="1" dirty="0">
                <a:solidFill>
                  <a:srgbClr val="FF0000"/>
                </a:solidFill>
              </a:rPr>
              <a:t>waits until children terminate</a:t>
            </a:r>
          </a:p>
          <a:p>
            <a:pPr lvl="2" eaLnBrk="1" hangingPunct="1">
              <a:spcBef>
                <a:spcPts val="600"/>
              </a:spcBef>
            </a:pPr>
            <a:r>
              <a:rPr lang="en-US" altLang="zh-TW" sz="2800" b="1" dirty="0"/>
              <a:t>wait() </a:t>
            </a:r>
            <a:r>
              <a:rPr lang="en-US" altLang="zh-TW" sz="2800" dirty="0"/>
              <a:t>system call in Linux</a:t>
            </a:r>
            <a:endParaRPr lang="en-US" altLang="zh-TW" sz="3600" b="1" dirty="0"/>
          </a:p>
          <a:p>
            <a:pPr eaLnBrk="1" hangingPunct="1">
              <a:spcBef>
                <a:spcPts val="600"/>
              </a:spcBef>
            </a:pPr>
            <a:endParaRPr lang="en-US" altLang="zh-TW" sz="3600" b="1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108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46385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Process Creation (Cont.)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spcBef>
                <a:spcPts val="600"/>
              </a:spcBef>
            </a:pPr>
            <a:r>
              <a:rPr lang="zh-TW" altLang="en-US" sz="4000" b="1" dirty="0" smtClean="0"/>
              <a:t>當</a:t>
            </a:r>
            <a:r>
              <a:rPr lang="en-US" altLang="zh-TW" sz="4000" b="1" dirty="0" smtClean="0"/>
              <a:t>child</a:t>
            </a:r>
            <a:r>
              <a:rPr lang="zh-TW" altLang="en-US" sz="4000" b="1" dirty="0" smtClean="0"/>
              <a:t>被創建出來後</a:t>
            </a:r>
            <a:r>
              <a:rPr lang="en-US" altLang="zh-TW" sz="4000" b="1" dirty="0" smtClean="0"/>
              <a:t>, </a:t>
            </a:r>
            <a:r>
              <a:rPr lang="zh-TW" altLang="en-US" sz="4000" b="1" dirty="0" smtClean="0"/>
              <a:t>也有兩</a:t>
            </a:r>
            <a:r>
              <a:rPr lang="zh-TW" altLang="en-US" sz="4000" b="1" dirty="0"/>
              <a:t>個選擇</a:t>
            </a:r>
            <a:endParaRPr lang="en-US" altLang="zh-TW" sz="4000" b="1" dirty="0"/>
          </a:p>
          <a:p>
            <a:pPr lvl="1" eaLnBrk="1" hangingPunct="1">
              <a:lnSpc>
                <a:spcPct val="90000"/>
              </a:lnSpc>
            </a:pPr>
            <a:r>
              <a:rPr lang="en-US" altLang="zh-TW" sz="3200" dirty="0" smtClean="0"/>
              <a:t>Child duplicate of parent, or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2800" dirty="0" smtClean="0"/>
              <a:t>i.e., child has the </a:t>
            </a:r>
            <a:r>
              <a:rPr lang="en-US" altLang="zh-TW" sz="2800" dirty="0"/>
              <a:t>same program and data as the </a:t>
            </a:r>
            <a:r>
              <a:rPr lang="en-US" altLang="zh-TW" sz="2800" dirty="0" smtClean="0"/>
              <a:t>parent	</a:t>
            </a:r>
            <a:endParaRPr lang="en-US" altLang="zh-TW" sz="2800" dirty="0"/>
          </a:p>
          <a:p>
            <a:pPr lvl="2" eaLnBrk="1" hangingPunct="1">
              <a:lnSpc>
                <a:spcPct val="90000"/>
              </a:lnSpc>
            </a:pPr>
            <a:r>
              <a:rPr lang="en-US" altLang="zh-TW" sz="3200" b="1" dirty="0"/>
              <a:t>fork()</a:t>
            </a:r>
            <a:r>
              <a:rPr lang="en-US" altLang="zh-TW" sz="3200" dirty="0"/>
              <a:t> system call creates a new process in Linux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sz="36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TW" sz="3600" b="1" dirty="0">
                <a:solidFill>
                  <a:srgbClr val="FF0000"/>
                </a:solidFill>
              </a:rPr>
              <a:t>Child has a new program loaded into it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3200" b="1" dirty="0"/>
              <a:t>exec()</a:t>
            </a:r>
            <a:r>
              <a:rPr lang="en-US" altLang="zh-TW" sz="3200" dirty="0"/>
              <a:t> system call replaces the process</a:t>
            </a:r>
            <a:r>
              <a:rPr lang="en-US" altLang="zh-TW" sz="3200" dirty="0">
                <a:latin typeface="Helvetica" pitchFamily="34" charset="0"/>
              </a:rPr>
              <a:t>’</a:t>
            </a:r>
            <a:r>
              <a:rPr lang="en-US" altLang="zh-TW" sz="3200" dirty="0"/>
              <a:t> memory space with a new program in Linux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109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49456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注意</a:t>
            </a:r>
            <a:r>
              <a:rPr lang="en-US" altLang="zh-TW" dirty="0" smtClean="0"/>
              <a:t>:</a:t>
            </a:r>
            <a:r>
              <a:rPr lang="zh-TW" altLang="en-US" dirty="0" smtClean="0"/>
              <a:t> 不同的程式可能會有不同的選擇</a:t>
            </a:r>
            <a:r>
              <a:rPr lang="en-US" altLang="zh-TW" dirty="0" smtClean="0"/>
              <a:t>~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zh-TW" altLang="en-US" b="1" dirty="0" smtClean="0">
                <a:solidFill>
                  <a:srgbClr val="FF0000"/>
                </a:solidFill>
              </a:rPr>
              <a:t>端看程式的需求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179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Outline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zh-TW" dirty="0"/>
              <a:t>Process Concept</a:t>
            </a:r>
          </a:p>
          <a:p>
            <a:pPr eaLnBrk="1" hangingPunct="1"/>
            <a:r>
              <a:rPr lang="en-US" altLang="zh-TW" dirty="0"/>
              <a:t>Process Scheduling</a:t>
            </a:r>
          </a:p>
          <a:p>
            <a:pPr eaLnBrk="1" hangingPunct="1"/>
            <a:r>
              <a:rPr lang="en-US" altLang="zh-TW" b="1" dirty="0">
                <a:solidFill>
                  <a:srgbClr val="FF0000"/>
                </a:solidFill>
              </a:rPr>
              <a:t>Operations on Processes</a:t>
            </a:r>
          </a:p>
          <a:p>
            <a:pPr lvl="1" eaLnBrk="1" hangingPunct="1"/>
            <a:r>
              <a:rPr lang="en-US" altLang="zh-TW" dirty="0"/>
              <a:t>Process creation</a:t>
            </a:r>
          </a:p>
          <a:p>
            <a:pPr lvl="1" eaLnBrk="1" hangingPunct="1"/>
            <a:r>
              <a:rPr lang="en-US" altLang="zh-TW" b="1" dirty="0">
                <a:solidFill>
                  <a:srgbClr val="FF3300"/>
                </a:solidFill>
              </a:rPr>
              <a:t>Process termination</a:t>
            </a:r>
          </a:p>
          <a:p>
            <a:pPr eaLnBrk="1" hangingPunct="1"/>
            <a:r>
              <a:rPr lang="en-US" altLang="zh-TW" dirty="0" err="1"/>
              <a:t>Interprocess</a:t>
            </a:r>
            <a:r>
              <a:rPr lang="en-US" altLang="zh-TW" dirty="0"/>
              <a:t> Communication</a:t>
            </a:r>
          </a:p>
          <a:p>
            <a:pPr eaLnBrk="1" hangingPunct="1"/>
            <a:r>
              <a:rPr lang="en-US" altLang="zh-TW" dirty="0"/>
              <a:t>IPC in Shared-Memory Systems</a:t>
            </a:r>
          </a:p>
          <a:p>
            <a:pPr eaLnBrk="1" hangingPunct="1"/>
            <a:r>
              <a:rPr lang="en-US" altLang="zh-TW" dirty="0"/>
              <a:t>Examples of IPC Systems</a:t>
            </a:r>
          </a:p>
          <a:p>
            <a:pPr eaLnBrk="1" hangingPunct="1"/>
            <a:r>
              <a:rPr lang="en-US" altLang="zh-TW" dirty="0"/>
              <a:t>Communication in Client-Server Systems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111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02690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類似</a:t>
            </a:r>
            <a:r>
              <a:rPr lang="en-US" altLang="zh-TW" dirty="0" smtClean="0"/>
              <a:t>fork(), OS</a:t>
            </a:r>
            <a:r>
              <a:rPr lang="zh-TW" altLang="en-US" dirty="0" smtClean="0"/>
              <a:t>會提供</a:t>
            </a:r>
            <a:r>
              <a:rPr lang="en-US" altLang="zh-TW" dirty="0" smtClean="0"/>
              <a:t>system call (exit()), </a:t>
            </a:r>
            <a:r>
              <a:rPr lang="zh-TW" altLang="en-US" dirty="0" smtClean="0"/>
              <a:t>讓應用程式呼叫結束執行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7120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Process Termination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268413"/>
            <a:ext cx="10972800" cy="252062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2800" dirty="0"/>
              <a:t>Process invokes </a:t>
            </a:r>
            <a:r>
              <a:rPr lang="en-US" altLang="zh-TW" sz="2800" b="1" dirty="0"/>
              <a:t>exit() </a:t>
            </a:r>
            <a:r>
              <a:rPr lang="en-US" altLang="zh-TW" sz="2800" dirty="0"/>
              <a:t>system call </a:t>
            </a:r>
          </a:p>
          <a:p>
            <a:pPr lvl="1" eaLnBrk="1" hangingPunct="1"/>
            <a:r>
              <a:rPr lang="en-US" altLang="zh-TW" sz="2400" dirty="0"/>
              <a:t>Return a </a:t>
            </a:r>
            <a:r>
              <a:rPr lang="en-US" altLang="zh-TW" sz="2400" i="1" dirty="0">
                <a:solidFill>
                  <a:srgbClr val="FF0000"/>
                </a:solidFill>
              </a:rPr>
              <a:t>status value </a:t>
            </a:r>
            <a:r>
              <a:rPr lang="en-US" altLang="zh-TW" sz="2400" dirty="0"/>
              <a:t>with</a:t>
            </a:r>
            <a:r>
              <a:rPr lang="en-US" altLang="zh-TW" sz="2400" i="1" dirty="0">
                <a:solidFill>
                  <a:srgbClr val="FF0000"/>
                </a:solidFill>
              </a:rPr>
              <a:t> its process identifier </a:t>
            </a:r>
            <a:r>
              <a:rPr lang="en-US" altLang="zh-TW" sz="2400" dirty="0"/>
              <a:t>to parent</a:t>
            </a:r>
          </a:p>
          <a:p>
            <a:pPr lvl="1" eaLnBrk="1" hangingPunct="1"/>
            <a:r>
              <a:rPr lang="en-US" altLang="zh-TW" sz="2400" dirty="0"/>
              <a:t>Parent obtains the </a:t>
            </a:r>
            <a:r>
              <a:rPr lang="en-US" altLang="zh-TW" sz="2400" i="1" dirty="0">
                <a:solidFill>
                  <a:srgbClr val="FF0000"/>
                </a:solidFill>
              </a:rPr>
              <a:t>status value </a:t>
            </a:r>
            <a:r>
              <a:rPr lang="en-US" altLang="zh-TW" sz="2400" dirty="0"/>
              <a:t>and the </a:t>
            </a:r>
            <a:r>
              <a:rPr lang="en-US" altLang="zh-TW" sz="2400" i="1" dirty="0">
                <a:solidFill>
                  <a:srgbClr val="FF0000"/>
                </a:solidFill>
              </a:rPr>
              <a:t>process identifier </a:t>
            </a:r>
            <a:r>
              <a:rPr lang="en-US" altLang="zh-TW" sz="2400" dirty="0"/>
              <a:t>of the child via the </a:t>
            </a:r>
            <a:r>
              <a:rPr lang="en-US" altLang="zh-TW" sz="2400" b="1" dirty="0">
                <a:solidFill>
                  <a:srgbClr val="0000FF"/>
                </a:solidFill>
              </a:rPr>
              <a:t>wait() </a:t>
            </a:r>
            <a:r>
              <a:rPr lang="en-US" altLang="zh-TW" sz="2400" dirty="0"/>
              <a:t>system call</a:t>
            </a:r>
          </a:p>
          <a:p>
            <a:pPr lvl="1" eaLnBrk="1" hangingPunct="1"/>
            <a:r>
              <a:rPr lang="en-US" altLang="zh-TW" sz="2400" dirty="0"/>
              <a:t>Then, process’ resources are deallocated by OS</a:t>
            </a:r>
          </a:p>
          <a:p>
            <a:pPr eaLnBrk="1" hangingPunct="1"/>
            <a:endParaRPr lang="en-US" altLang="zh-TW" sz="2800" dirty="0"/>
          </a:p>
          <a:p>
            <a:pPr lvl="2" eaLnBrk="1" hangingPunct="1"/>
            <a:endParaRPr lang="en-US" altLang="zh-TW" dirty="0"/>
          </a:p>
          <a:p>
            <a:pPr lvl="2" eaLnBrk="1" hangingPunct="1"/>
            <a:endParaRPr lang="en-US" altLang="zh-TW" b="1" i="1" dirty="0">
              <a:solidFill>
                <a:srgbClr val="FF3300"/>
              </a:solidFill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983432" y="4466728"/>
            <a:ext cx="4680520" cy="101566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TW" sz="2000" b="1" dirty="0">
                <a:latin typeface="Courier New" pitchFamily="49" charset="0"/>
              </a:rPr>
              <a:t>#include &lt;</a:t>
            </a:r>
            <a:r>
              <a:rPr lang="en-US" altLang="zh-TW" sz="2000" b="1" dirty="0" err="1">
                <a:latin typeface="Courier New" pitchFamily="49" charset="0"/>
              </a:rPr>
              <a:t>stdlib.h</a:t>
            </a:r>
            <a:r>
              <a:rPr lang="en-US" altLang="zh-TW" sz="2000" b="1" dirty="0">
                <a:latin typeface="Courier New" pitchFamily="49" charset="0"/>
              </a:rPr>
              <a:t>&gt;</a:t>
            </a:r>
          </a:p>
          <a:p>
            <a:endParaRPr lang="en-US" altLang="zh-TW" sz="2000" b="1" dirty="0">
              <a:latin typeface="Courier New" pitchFamily="49" charset="0"/>
            </a:endParaRPr>
          </a:p>
          <a:p>
            <a:r>
              <a:rPr lang="en-US" altLang="zh-TW" sz="2000" b="1" dirty="0">
                <a:latin typeface="Courier New" pitchFamily="49" charset="0"/>
              </a:rPr>
              <a:t>void exit(</a:t>
            </a:r>
            <a:r>
              <a:rPr lang="en-US" altLang="zh-TW" sz="2000" b="1" dirty="0" err="1">
                <a:latin typeface="Courier New" pitchFamily="49" charset="0"/>
              </a:rPr>
              <a:t>int</a:t>
            </a:r>
            <a:r>
              <a:rPr lang="en-US" altLang="zh-TW" sz="2000" b="1" dirty="0">
                <a:latin typeface="Courier New" pitchFamily="49" charset="0"/>
              </a:rPr>
              <a:t> status);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600056" y="4005064"/>
            <a:ext cx="4680520" cy="193899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TW" sz="2000" b="1" dirty="0">
                <a:latin typeface="Courier New" pitchFamily="49" charset="0"/>
              </a:rPr>
              <a:t>#include &lt;sys/</a:t>
            </a:r>
            <a:r>
              <a:rPr lang="en-US" altLang="zh-TW" sz="2000" b="1" dirty="0" err="1">
                <a:latin typeface="Courier New" pitchFamily="49" charset="0"/>
              </a:rPr>
              <a:t>wait.h</a:t>
            </a:r>
            <a:r>
              <a:rPr lang="en-US" altLang="zh-TW" sz="2000" b="1" dirty="0">
                <a:latin typeface="Courier New" pitchFamily="49" charset="0"/>
              </a:rPr>
              <a:t>&gt;</a:t>
            </a:r>
          </a:p>
          <a:p>
            <a:endParaRPr lang="en-US" altLang="zh-TW" sz="2000" b="1" dirty="0">
              <a:latin typeface="Courier New" pitchFamily="49" charset="0"/>
            </a:endParaRPr>
          </a:p>
          <a:p>
            <a:r>
              <a:rPr lang="en-US" altLang="zh-TW" sz="2000" b="1" dirty="0" err="1">
                <a:latin typeface="Courier New" pitchFamily="49" charset="0"/>
              </a:rPr>
              <a:t>pid_t</a:t>
            </a:r>
            <a:r>
              <a:rPr lang="en-US" altLang="zh-TW" sz="2000" b="1" dirty="0">
                <a:latin typeface="Courier New" pitchFamily="49" charset="0"/>
              </a:rPr>
              <a:t>  </a:t>
            </a:r>
            <a:r>
              <a:rPr lang="en-US" altLang="zh-TW" sz="2000" b="1" dirty="0" err="1">
                <a:latin typeface="Courier New" pitchFamily="49" charset="0"/>
              </a:rPr>
              <a:t>pid</a:t>
            </a:r>
            <a:r>
              <a:rPr lang="en-US" altLang="zh-TW" sz="2000" b="1" dirty="0">
                <a:latin typeface="Courier New" pitchFamily="49" charset="0"/>
              </a:rPr>
              <a:t>;</a:t>
            </a:r>
          </a:p>
          <a:p>
            <a:r>
              <a:rPr lang="en-US" altLang="zh-TW" sz="2000" b="1" dirty="0" err="1">
                <a:latin typeface="Courier New" pitchFamily="49" charset="0"/>
              </a:rPr>
              <a:t>int</a:t>
            </a:r>
            <a:r>
              <a:rPr lang="en-US" altLang="zh-TW" sz="2000" b="1" dirty="0">
                <a:latin typeface="Courier New" pitchFamily="49" charset="0"/>
              </a:rPr>
              <a:t>	 status;</a:t>
            </a:r>
          </a:p>
          <a:p>
            <a:endParaRPr lang="en-US" altLang="zh-TW" sz="2000" b="1" dirty="0">
              <a:latin typeface="Courier New" pitchFamily="49" charset="0"/>
            </a:endParaRPr>
          </a:p>
          <a:p>
            <a:r>
              <a:rPr lang="en-US" altLang="zh-TW" sz="2000" b="1" dirty="0" err="1">
                <a:latin typeface="Courier New" pitchFamily="49" charset="0"/>
              </a:rPr>
              <a:t>pid_t</a:t>
            </a:r>
            <a:r>
              <a:rPr lang="en-US" altLang="zh-TW" sz="2000" b="1" dirty="0">
                <a:latin typeface="Courier New" pitchFamily="49" charset="0"/>
              </a:rPr>
              <a:t> wait(</a:t>
            </a:r>
            <a:r>
              <a:rPr lang="en-US" altLang="zh-TW" sz="2000" b="1" dirty="0" err="1">
                <a:latin typeface="Courier New" pitchFamily="49" charset="0"/>
              </a:rPr>
              <a:t>int</a:t>
            </a:r>
            <a:r>
              <a:rPr lang="en-US" altLang="zh-TW" sz="2000" b="1" dirty="0">
                <a:latin typeface="Courier New" pitchFamily="49" charset="0"/>
              </a:rPr>
              <a:t> *</a:t>
            </a:r>
            <a:r>
              <a:rPr lang="en-US" altLang="zh-TW" sz="2000" b="1" dirty="0" err="1">
                <a:latin typeface="Courier New" pitchFamily="49" charset="0"/>
              </a:rPr>
              <a:t>stat_loc</a:t>
            </a:r>
            <a:r>
              <a:rPr lang="en-US" altLang="zh-TW" sz="2000" b="1" dirty="0">
                <a:latin typeface="Courier New" pitchFamily="49" charset="0"/>
              </a:rPr>
              <a:t>);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113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群組 9"/>
          <p:cNvGrpSpPr/>
          <p:nvPr/>
        </p:nvGrpSpPr>
        <p:grpSpPr>
          <a:xfrm>
            <a:off x="1775520" y="1122015"/>
            <a:ext cx="8001000" cy="4971281"/>
            <a:chOff x="1559496" y="579006"/>
            <a:chExt cx="8001000" cy="4467225"/>
          </a:xfrm>
        </p:grpSpPr>
        <p:pic>
          <p:nvPicPr>
            <p:cNvPr id="9" name="圖片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9496" y="579006"/>
              <a:ext cx="8001000" cy="4467225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5604132" y="2121722"/>
              <a:ext cx="1499980" cy="39172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4223792" y="2803355"/>
              <a:ext cx="1440160" cy="33761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4254660" y="3717032"/>
              <a:ext cx="5305835" cy="41552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D03F6A1-8A0B-4905-8C4D-A2A892738299}" type="slidenum">
              <a:rPr lang="en-US" altLang="zh-TW" smtClean="0"/>
              <a:pPr>
                <a:defRPr/>
              </a:pPr>
              <a:t>114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03774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4000" dirty="0" smtClean="0"/>
              <a:t>Q: </a:t>
            </a:r>
            <a:r>
              <a:rPr lang="zh-TW" altLang="en-US" sz="4000" dirty="0" smtClean="0"/>
              <a:t>如果</a:t>
            </a:r>
            <a:r>
              <a:rPr lang="en-US" altLang="zh-TW" sz="4000" dirty="0" smtClean="0"/>
              <a:t>child</a:t>
            </a:r>
            <a:r>
              <a:rPr lang="zh-TW" altLang="en-US" sz="4000" dirty="0" smtClean="0"/>
              <a:t>先結束執行</a:t>
            </a:r>
            <a:r>
              <a:rPr lang="en-US" altLang="zh-TW" sz="4000" dirty="0" smtClean="0"/>
              <a:t>(</a:t>
            </a:r>
            <a:r>
              <a:rPr lang="zh-TW" altLang="en-US" sz="4000" dirty="0" smtClean="0"/>
              <a:t>呼叫</a:t>
            </a:r>
            <a:r>
              <a:rPr lang="en-US" altLang="zh-TW" sz="4000" dirty="0" smtClean="0"/>
              <a:t>exit()), </a:t>
            </a:r>
            <a:r>
              <a:rPr lang="zh-TW" altLang="en-US" sz="4000" dirty="0" smtClean="0"/>
              <a:t>但是</a:t>
            </a:r>
            <a:r>
              <a:rPr lang="en-US" altLang="zh-TW" sz="4000" dirty="0" smtClean="0"/>
              <a:t>parent</a:t>
            </a:r>
            <a:r>
              <a:rPr lang="zh-TW" altLang="en-US" sz="4000" dirty="0" smtClean="0"/>
              <a:t>還沒有呼叫</a:t>
            </a:r>
            <a:r>
              <a:rPr lang="en-US" altLang="zh-TW" sz="4000" dirty="0" smtClean="0"/>
              <a:t>wait(), </a:t>
            </a:r>
            <a:r>
              <a:rPr lang="zh-TW" altLang="en-US" sz="4000" dirty="0" smtClean="0"/>
              <a:t>會發生什麼問題呢</a:t>
            </a:r>
            <a:r>
              <a:rPr lang="en-US" altLang="zh-TW" sz="4000" dirty="0" smtClean="0"/>
              <a:t>?</a:t>
            </a:r>
            <a:endParaRPr lang="zh-TW" altLang="en-US" sz="40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3050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Zombie Process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3600" dirty="0"/>
              <a:t>When a process terminates </a:t>
            </a:r>
            <a:r>
              <a:rPr lang="en-US" altLang="zh-TW" sz="3600" dirty="0" smtClean="0"/>
              <a:t>before </a:t>
            </a:r>
            <a:r>
              <a:rPr lang="en-US" altLang="zh-TW" sz="3600" dirty="0"/>
              <a:t>parent calls wait()</a:t>
            </a:r>
          </a:p>
          <a:p>
            <a:pPr lvl="1" eaLnBrk="1" hangingPunct="1"/>
            <a:endParaRPr lang="en-US" altLang="zh-TW" sz="3200" dirty="0" smtClean="0"/>
          </a:p>
          <a:p>
            <a:pPr lvl="1" eaLnBrk="1" hangingPunct="1"/>
            <a:r>
              <a:rPr lang="en-US" altLang="zh-TW" sz="3200" dirty="0" smtClean="0"/>
              <a:t>The </a:t>
            </a:r>
            <a:r>
              <a:rPr lang="en-US" altLang="zh-TW" sz="3200" dirty="0"/>
              <a:t>terminated process becomes a </a:t>
            </a:r>
            <a:r>
              <a:rPr lang="en-US" altLang="zh-TW" sz="3200" b="1" dirty="0">
                <a:solidFill>
                  <a:srgbClr val="3366FF"/>
                </a:solidFill>
              </a:rPr>
              <a:t>zombie</a:t>
            </a:r>
            <a:r>
              <a:rPr lang="en-US" altLang="zh-TW" sz="3200" dirty="0"/>
              <a:t>(</a:t>
            </a:r>
            <a:r>
              <a:rPr lang="zh-TW" altLang="en-US" sz="3200" dirty="0"/>
              <a:t>殭屍</a:t>
            </a:r>
            <a:r>
              <a:rPr lang="en-US" altLang="zh-TW" sz="3200" dirty="0"/>
              <a:t>) process </a:t>
            </a:r>
          </a:p>
          <a:p>
            <a:pPr lvl="2" eaLnBrk="1" hangingPunct="1"/>
            <a:endParaRPr lang="en-US" altLang="zh-TW" sz="2800" dirty="0" smtClean="0"/>
          </a:p>
          <a:p>
            <a:pPr lvl="2" eaLnBrk="1" hangingPunct="1"/>
            <a:r>
              <a:rPr lang="en-US" altLang="zh-TW" sz="2800" dirty="0" smtClean="0"/>
              <a:t>Since </a:t>
            </a:r>
            <a:r>
              <a:rPr lang="en-US" altLang="zh-TW" sz="2800" dirty="0"/>
              <a:t>its </a:t>
            </a:r>
            <a:r>
              <a:rPr lang="en-US" altLang="zh-TW" sz="2800" b="1" dirty="0"/>
              <a:t>process control block (PCB) </a:t>
            </a:r>
            <a:r>
              <a:rPr lang="en-US" altLang="zh-TW" sz="2800" dirty="0"/>
              <a:t>still exists for storing the </a:t>
            </a:r>
            <a:r>
              <a:rPr lang="en-US" altLang="zh-TW" sz="2800" b="1" dirty="0">
                <a:solidFill>
                  <a:srgbClr val="FF3300"/>
                </a:solidFill>
              </a:rPr>
              <a:t>exit status</a:t>
            </a:r>
            <a:r>
              <a:rPr lang="en-US" altLang="zh-TW" sz="2800" b="1" dirty="0"/>
              <a:t> </a:t>
            </a:r>
            <a:r>
              <a:rPr lang="en-US" altLang="zh-TW" sz="2800" dirty="0"/>
              <a:t>value</a:t>
            </a:r>
          </a:p>
          <a:p>
            <a:pPr lvl="2" eaLnBrk="1" hangingPunct="1"/>
            <a:endParaRPr lang="en-US" altLang="zh-TW" sz="2800" dirty="0" smtClean="0"/>
          </a:p>
          <a:p>
            <a:pPr lvl="2" eaLnBrk="1" hangingPunct="1"/>
            <a:r>
              <a:rPr lang="en-US" altLang="zh-TW" sz="2800" dirty="0" smtClean="0"/>
              <a:t>See </a:t>
            </a:r>
            <a:r>
              <a:rPr lang="en-US" altLang="zh-TW" sz="2800" dirty="0"/>
              <a:t>the following two slides</a:t>
            </a:r>
          </a:p>
          <a:p>
            <a:pPr eaLnBrk="1" hangingPunct="1"/>
            <a:endParaRPr lang="en-US" altLang="zh-TW" sz="36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116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Zombie Process</a:t>
            </a:r>
            <a:endParaRPr lang="zh-TW" altLang="en-US" dirty="0"/>
          </a:p>
        </p:txBody>
      </p:sp>
      <p:sp>
        <p:nvSpPr>
          <p:cNvPr id="5" name="流程圖: 接點 4"/>
          <p:cNvSpPr/>
          <p:nvPr/>
        </p:nvSpPr>
        <p:spPr>
          <a:xfrm>
            <a:off x="2135560" y="3068960"/>
            <a:ext cx="1368152" cy="1296144"/>
          </a:xfrm>
          <a:prstGeom prst="flowChartConnector">
            <a:avLst/>
          </a:prstGeom>
          <a:solidFill>
            <a:srgbClr val="99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>
                <a:solidFill>
                  <a:srgbClr val="FF0000"/>
                </a:solidFill>
                <a:latin typeface="Calibri" panose="020F0502020204030204" pitchFamily="34" charset="0"/>
              </a:rPr>
              <a:t>fork()</a:t>
            </a:r>
            <a:endParaRPr lang="zh-TW" altLang="en-US" sz="28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流程圖: 接點 5"/>
          <p:cNvSpPr/>
          <p:nvPr/>
        </p:nvSpPr>
        <p:spPr>
          <a:xfrm>
            <a:off x="4511824" y="4941168"/>
            <a:ext cx="1368152" cy="1296144"/>
          </a:xfrm>
          <a:prstGeom prst="flowChartConnector">
            <a:avLst/>
          </a:prstGeom>
          <a:solidFill>
            <a:srgbClr val="99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7" name="流程圖: 接點 6"/>
          <p:cNvSpPr/>
          <p:nvPr/>
        </p:nvSpPr>
        <p:spPr>
          <a:xfrm>
            <a:off x="7350958" y="4941168"/>
            <a:ext cx="1368152" cy="1296144"/>
          </a:xfrm>
          <a:prstGeom prst="flowChartConnector">
            <a:avLst/>
          </a:prstGeom>
          <a:solidFill>
            <a:srgbClr val="99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>
                <a:solidFill>
                  <a:srgbClr val="FF0000"/>
                </a:solidFill>
                <a:latin typeface="Calibri" panose="020F0502020204030204" pitchFamily="34" charset="0"/>
              </a:rPr>
              <a:t>exit()</a:t>
            </a:r>
            <a:endParaRPr lang="zh-TW" altLang="en-US" sz="28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10" name="直線單箭頭接點 9"/>
          <p:cNvCxnSpPr>
            <a:stCxn id="5" idx="5"/>
            <a:endCxn id="6" idx="2"/>
          </p:cNvCxnSpPr>
          <p:nvPr/>
        </p:nvCxnSpPr>
        <p:spPr>
          <a:xfrm>
            <a:off x="3303352" y="4175288"/>
            <a:ext cx="1208473" cy="141395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 flipV="1">
            <a:off x="3388326" y="2296953"/>
            <a:ext cx="1195506" cy="1060024"/>
          </a:xfrm>
          <a:prstGeom prst="straightConnector1">
            <a:avLst/>
          </a:prstGeom>
          <a:ln w="762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>
            <a:stCxn id="6" idx="6"/>
            <a:endCxn id="7" idx="2"/>
          </p:cNvCxnSpPr>
          <p:nvPr/>
        </p:nvCxnSpPr>
        <p:spPr>
          <a:xfrm>
            <a:off x="5879976" y="5589240"/>
            <a:ext cx="1470982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>
          <a:xfrm flipV="1">
            <a:off x="6023992" y="2276872"/>
            <a:ext cx="1320070" cy="2008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/>
          <p:cNvSpPr/>
          <p:nvPr/>
        </p:nvSpPr>
        <p:spPr>
          <a:xfrm>
            <a:off x="7344062" y="1628800"/>
            <a:ext cx="1368152" cy="1296144"/>
          </a:xfrm>
          <a:prstGeom prst="flowChartConnector">
            <a:avLst/>
          </a:prstGeom>
          <a:solidFill>
            <a:srgbClr val="99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>
                <a:solidFill>
                  <a:srgbClr val="FF0000"/>
                </a:solidFill>
                <a:latin typeface="Calibri" panose="020F0502020204030204" pitchFamily="34" charset="0"/>
              </a:rPr>
              <a:t>wait()</a:t>
            </a:r>
            <a:endParaRPr lang="zh-TW" altLang="en-US" sz="28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3718018" y="4398639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latin typeface="Calibri" panose="020F0502020204030204" pitchFamily="34" charset="0"/>
              </a:rPr>
              <a:t>child</a:t>
            </a:r>
            <a:endParaRPr lang="zh-TW" altLang="en-US" sz="2400" b="1" dirty="0">
              <a:latin typeface="Calibri" panose="020F0502020204030204" pitchFamily="34" charset="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3671429" y="2984687"/>
            <a:ext cx="10327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latin typeface="Calibri" panose="020F0502020204030204" pitchFamily="34" charset="0"/>
              </a:rPr>
              <a:t>parent</a:t>
            </a:r>
            <a:endParaRPr lang="zh-TW" altLang="en-US" sz="2400" b="1" dirty="0">
              <a:latin typeface="Calibri" panose="020F0502020204030204" pitchFamily="34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8042108" y="3749262"/>
            <a:ext cx="2235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solidFill>
                  <a:srgbClr val="FF3300"/>
                </a:solidFill>
                <a:latin typeface="Calibri" panose="020F0502020204030204" pitchFamily="34" charset="0"/>
              </a:rPr>
              <a:t>exit status</a:t>
            </a:r>
            <a:r>
              <a:rPr lang="en-US" altLang="zh-TW" sz="2400" b="1" dirty="0">
                <a:latin typeface="Calibri" panose="020F0502020204030204" pitchFamily="34" charset="0"/>
              </a:rPr>
              <a:t> </a:t>
            </a:r>
            <a:r>
              <a:rPr lang="en-US" altLang="zh-TW" sz="2400" dirty="0">
                <a:latin typeface="Calibri" panose="020F0502020204030204" pitchFamily="34" charset="0"/>
              </a:rPr>
              <a:t>value</a:t>
            </a:r>
            <a:endParaRPr lang="zh-TW" altLang="en-US" sz="2400" b="1" dirty="0">
              <a:solidFill>
                <a:srgbClr val="FF0000"/>
              </a:solidFill>
              <a:latin typeface="Calibri" panose="020F0502020204030204" pitchFamily="34" charset="0"/>
              <a:cs typeface="Tahoma" pitchFamily="34" charset="0"/>
            </a:endParaRPr>
          </a:p>
        </p:txBody>
      </p:sp>
      <p:cxnSp>
        <p:nvCxnSpPr>
          <p:cNvPr id="33" name="直線單箭頭接點 32"/>
          <p:cNvCxnSpPr>
            <a:stCxn id="7" idx="0"/>
            <a:endCxn id="19" idx="4"/>
          </p:cNvCxnSpPr>
          <p:nvPr/>
        </p:nvCxnSpPr>
        <p:spPr>
          <a:xfrm flipH="1" flipV="1">
            <a:off x="8028138" y="2924944"/>
            <a:ext cx="6896" cy="201622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字方塊 36"/>
          <p:cNvSpPr txBox="1"/>
          <p:nvPr/>
        </p:nvSpPr>
        <p:spPr>
          <a:xfrm>
            <a:off x="8821941" y="5419963"/>
            <a:ext cx="9284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zombie</a:t>
            </a:r>
            <a:endParaRPr lang="zh-TW" altLang="en-US" sz="1600" b="1" dirty="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117</a:t>
            </a:fld>
            <a:endParaRPr lang="en-US" altLang="zh-TW"/>
          </a:p>
        </p:txBody>
      </p:sp>
      <p:sp>
        <p:nvSpPr>
          <p:cNvPr id="18" name="流程圖: 接點 17"/>
          <p:cNvSpPr/>
          <p:nvPr/>
        </p:nvSpPr>
        <p:spPr>
          <a:xfrm>
            <a:off x="4583832" y="1700808"/>
            <a:ext cx="1368152" cy="1296144"/>
          </a:xfrm>
          <a:prstGeom prst="flowChartConnector">
            <a:avLst/>
          </a:prstGeom>
          <a:solidFill>
            <a:srgbClr val="99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287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9" grpId="0" animBg="1"/>
      <p:bldP spid="21" grpId="0"/>
      <p:bldP spid="22" grpId="0"/>
      <p:bldP spid="32" grpId="0"/>
      <p:bldP spid="37" grpId="0"/>
      <p:bldP spid="37" grpId="1"/>
      <p:bldP spid="18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>
                <a:effectLst/>
                <a:latin typeface="Bookman Old Style" panose="02050604050505020204" pitchFamily="18" charset="0"/>
              </a:rPr>
              <a:t>Zombie Process</a:t>
            </a:r>
            <a:endParaRPr lang="en-US" altLang="zh-TW" dirty="0">
              <a:latin typeface="Bookman Old Style" panose="02050604050505020204" pitchFamily="18" charset="0"/>
            </a:endParaRPr>
          </a:p>
        </p:txBody>
      </p:sp>
      <p:sp>
        <p:nvSpPr>
          <p:cNvPr id="282627" name="Rectangle 4"/>
          <p:cNvSpPr>
            <a:spLocks noChangeArrowheads="1"/>
          </p:cNvSpPr>
          <p:nvPr/>
        </p:nvSpPr>
        <p:spPr bwMode="auto">
          <a:xfrm>
            <a:off x="6307138" y="1484314"/>
            <a:ext cx="2265362" cy="1235075"/>
          </a:xfrm>
          <a:prstGeom prst="rect">
            <a:avLst/>
          </a:prstGeom>
          <a:solidFill>
            <a:srgbClr val="99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dirty="0">
                <a:solidFill>
                  <a:srgbClr val="000000"/>
                </a:solidFill>
                <a:latin typeface="Bookman Old Style" panose="02050604050505020204" pitchFamily="18" charset="0"/>
                <a:ea typeface="新細明體" panose="02020500000000000000" pitchFamily="18" charset="-120"/>
              </a:rPr>
              <a:t>A = A +1;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dirty="0">
                <a:solidFill>
                  <a:srgbClr val="000000"/>
                </a:solidFill>
                <a:latin typeface="Bookman Old Style" panose="02050604050505020204" pitchFamily="18" charset="0"/>
                <a:ea typeface="新細明體" panose="02020500000000000000" pitchFamily="18" charset="-120"/>
              </a:rPr>
              <a:t>…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i="1" dirty="0">
                <a:solidFill>
                  <a:srgbClr val="FF3300"/>
                </a:solidFill>
                <a:latin typeface="Bookman Old Style" panose="02050604050505020204" pitchFamily="18" charset="0"/>
                <a:ea typeface="新細明體" panose="02020500000000000000" pitchFamily="18" charset="-120"/>
              </a:rPr>
              <a:t>wait();</a:t>
            </a: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6311900" y="4508500"/>
            <a:ext cx="2260600" cy="1931988"/>
          </a:xfrm>
          <a:prstGeom prst="rect">
            <a:avLst/>
          </a:prstGeom>
          <a:solidFill>
            <a:srgbClr val="CCFF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0" hangingPunct="0">
              <a:spcBef>
                <a:spcPct val="0"/>
              </a:spcBef>
              <a:buNone/>
              <a:defRPr/>
            </a:pPr>
            <a:endParaRPr kumimoji="0" lang="en-US" altLang="zh-TW" sz="2000" b="1" dirty="0">
              <a:solidFill>
                <a:srgbClr val="000000"/>
              </a:solidFill>
              <a:latin typeface="Bookman Old Style" panose="02050604050505020204" pitchFamily="18" charset="0"/>
              <a:ea typeface="新細明體" panose="02020500000000000000" pitchFamily="18" charset="-120"/>
            </a:endParaRPr>
          </a:p>
          <a:p>
            <a:pPr algn="ctr" eaLnBrk="0" hangingPunct="0">
              <a:spcBef>
                <a:spcPct val="0"/>
              </a:spcBef>
              <a:buNone/>
              <a:defRPr/>
            </a:pPr>
            <a:endParaRPr kumimoji="0" lang="en-US" altLang="zh-TW" sz="2000" b="1" dirty="0">
              <a:solidFill>
                <a:srgbClr val="000000"/>
              </a:solidFill>
              <a:latin typeface="Bookman Old Style" panose="02050604050505020204" pitchFamily="18" charset="0"/>
              <a:ea typeface="新細明體" panose="02020500000000000000" pitchFamily="18" charset="-120"/>
            </a:endParaRPr>
          </a:p>
          <a:p>
            <a:pPr algn="ctr" eaLnBrk="0" hangingPunct="0">
              <a:spcBef>
                <a:spcPct val="0"/>
              </a:spcBef>
              <a:buNone/>
              <a:defRPr/>
            </a:pPr>
            <a:endParaRPr kumimoji="0" lang="en-US" altLang="zh-TW" sz="2000" b="1" dirty="0">
              <a:solidFill>
                <a:srgbClr val="000000"/>
              </a:solidFill>
              <a:latin typeface="Bookman Old Style" panose="02050604050505020204" pitchFamily="18" charset="0"/>
              <a:ea typeface="新細明體" panose="02020500000000000000" pitchFamily="18" charset="-120"/>
            </a:endParaRPr>
          </a:p>
          <a:p>
            <a:pPr algn="ctr" eaLnBrk="0" hangingPunct="0">
              <a:spcBef>
                <a:spcPct val="0"/>
              </a:spcBef>
              <a:buNone/>
              <a:defRPr/>
            </a:pPr>
            <a:endParaRPr kumimoji="0" lang="en-US" altLang="zh-TW" sz="2000" b="1" dirty="0">
              <a:solidFill>
                <a:srgbClr val="000000"/>
              </a:solidFill>
              <a:latin typeface="Bookman Old Style" panose="02050604050505020204" pitchFamily="18" charset="0"/>
              <a:ea typeface="新細明體" panose="02020500000000000000" pitchFamily="18" charset="-120"/>
            </a:endParaRPr>
          </a:p>
          <a:p>
            <a:pPr algn="ctr" eaLnBrk="0" hangingPunct="0">
              <a:spcBef>
                <a:spcPct val="0"/>
              </a:spcBef>
              <a:buNone/>
              <a:defRPr/>
            </a:pPr>
            <a:endParaRPr kumimoji="0" lang="en-US" altLang="zh-TW" sz="2000" b="1" dirty="0">
              <a:solidFill>
                <a:srgbClr val="000000"/>
              </a:solidFill>
              <a:latin typeface="Bookman Old Style" panose="02050604050505020204" pitchFamily="18" charset="0"/>
              <a:ea typeface="新細明體" panose="02020500000000000000" pitchFamily="18" charset="-120"/>
            </a:endParaRPr>
          </a:p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>
                <a:solidFill>
                  <a:srgbClr val="000000"/>
                </a:solidFill>
                <a:latin typeface="Bookman Old Style" panose="02050604050505020204" pitchFamily="18" charset="0"/>
                <a:ea typeface="新細明體" panose="02020500000000000000" pitchFamily="18" charset="-120"/>
              </a:rPr>
              <a:t>OS</a:t>
            </a:r>
          </a:p>
        </p:txBody>
      </p:sp>
      <p:sp>
        <p:nvSpPr>
          <p:cNvPr id="282629" name="Rectangle 4"/>
          <p:cNvSpPr>
            <a:spLocks noChangeArrowheads="1"/>
          </p:cNvSpPr>
          <p:nvPr/>
        </p:nvSpPr>
        <p:spPr bwMode="auto">
          <a:xfrm>
            <a:off x="6311900" y="2719388"/>
            <a:ext cx="2260600" cy="1789112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eaLnBrk="0" hangingPunct="0">
              <a:spcBef>
                <a:spcPct val="0"/>
              </a:spcBef>
              <a:buNone/>
              <a:defRPr/>
            </a:pPr>
            <a:endParaRPr kumimoji="0" lang="en-US" altLang="zh-TW" sz="2000" dirty="0">
              <a:solidFill>
                <a:srgbClr val="000000"/>
              </a:solidFill>
              <a:latin typeface="Bookman Old Style" panose="02050604050505020204" pitchFamily="18" charset="0"/>
              <a:ea typeface="新細明體" panose="02020500000000000000" pitchFamily="18" charset="-120"/>
            </a:endParaRPr>
          </a:p>
        </p:txBody>
      </p:sp>
      <p:sp>
        <p:nvSpPr>
          <p:cNvPr id="282630" name="Rectangle 6"/>
          <p:cNvSpPr>
            <a:spLocks noChangeArrowheads="1"/>
          </p:cNvSpPr>
          <p:nvPr/>
        </p:nvSpPr>
        <p:spPr bwMode="auto">
          <a:xfrm>
            <a:off x="2566989" y="2189163"/>
            <a:ext cx="1870075" cy="1274762"/>
          </a:xfrm>
          <a:prstGeom prst="rect">
            <a:avLst/>
          </a:prstGeom>
          <a:solidFill>
            <a:srgbClr val="5B9BD5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0" hangingPunct="0">
              <a:spcBef>
                <a:spcPct val="0"/>
              </a:spcBef>
              <a:buNone/>
              <a:defRPr/>
            </a:pPr>
            <a:endParaRPr kumimoji="0" lang="en-US" altLang="zh-TW" sz="2400" b="1" dirty="0">
              <a:solidFill>
                <a:srgbClr val="FF3300"/>
              </a:solidFill>
              <a:latin typeface="Bookman Old Style" panose="02050604050505020204" pitchFamily="18" charset="0"/>
              <a:ea typeface="新細明體" panose="02020500000000000000" pitchFamily="18" charset="-120"/>
            </a:endParaRPr>
          </a:p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400" b="1" dirty="0">
                <a:solidFill>
                  <a:srgbClr val="FF3300"/>
                </a:solidFill>
                <a:latin typeface="Bookman Old Style" panose="02050604050505020204" pitchFamily="18" charset="0"/>
                <a:ea typeface="新細明體" panose="02020500000000000000" pitchFamily="18" charset="-120"/>
              </a:rPr>
              <a:t>CPU</a:t>
            </a:r>
          </a:p>
          <a:p>
            <a:pPr algn="ctr" eaLnBrk="0" hangingPunct="0">
              <a:spcBef>
                <a:spcPct val="0"/>
              </a:spcBef>
              <a:buNone/>
              <a:defRPr/>
            </a:pPr>
            <a:endParaRPr kumimoji="0" lang="en-US" altLang="zh-TW" sz="2400" b="1" dirty="0">
              <a:solidFill>
                <a:srgbClr val="FF3300"/>
              </a:solidFill>
              <a:latin typeface="Bookman Old Style" panose="02050604050505020204" pitchFamily="18" charset="0"/>
              <a:ea typeface="新細明體" panose="02020500000000000000" pitchFamily="18" charset="-120"/>
            </a:endParaRPr>
          </a:p>
          <a:p>
            <a:pPr algn="ctr" eaLnBrk="0" hangingPunct="0">
              <a:spcBef>
                <a:spcPct val="0"/>
              </a:spcBef>
              <a:buNone/>
              <a:defRPr/>
            </a:pPr>
            <a:endParaRPr kumimoji="0" lang="en-US" altLang="zh-TW" sz="2400" b="1" dirty="0">
              <a:solidFill>
                <a:srgbClr val="FF3300"/>
              </a:solidFill>
              <a:latin typeface="Bookman Old Style" panose="02050604050505020204" pitchFamily="18" charset="0"/>
              <a:ea typeface="新細明體" panose="02020500000000000000" pitchFamily="18" charset="-120"/>
            </a:endParaRPr>
          </a:p>
        </p:txBody>
      </p:sp>
      <p:cxnSp>
        <p:nvCxnSpPr>
          <p:cNvPr id="9" name="直線單箭頭接點 8"/>
          <p:cNvCxnSpPr/>
          <p:nvPr/>
        </p:nvCxnSpPr>
        <p:spPr>
          <a:xfrm flipH="1">
            <a:off x="4437065" y="1890469"/>
            <a:ext cx="1877215" cy="936075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 flipH="1" flipV="1">
            <a:off x="4444206" y="3000226"/>
            <a:ext cx="1837184" cy="494631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6307138" y="2723215"/>
            <a:ext cx="2265362" cy="1235075"/>
          </a:xfrm>
          <a:prstGeom prst="rect">
            <a:avLst/>
          </a:prstGeom>
          <a:solidFill>
            <a:srgbClr val="FFFF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dirty="0">
                <a:solidFill>
                  <a:srgbClr val="000000"/>
                </a:solidFill>
                <a:latin typeface="Bookman Old Style" panose="02050604050505020204" pitchFamily="18" charset="0"/>
                <a:ea typeface="新細明體" panose="02020500000000000000" pitchFamily="18" charset="-120"/>
              </a:rPr>
              <a:t>…</a:t>
            </a:r>
          </a:p>
          <a:p>
            <a:pPr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i="1" dirty="0">
                <a:solidFill>
                  <a:srgbClr val="FF3300"/>
                </a:solidFill>
                <a:latin typeface="Bookman Old Style" panose="02050604050505020204" pitchFamily="18" charset="0"/>
                <a:ea typeface="新細明體" panose="02020500000000000000" pitchFamily="18" charset="-120"/>
              </a:rPr>
              <a:t>exit(1);</a:t>
            </a:r>
          </a:p>
        </p:txBody>
      </p:sp>
      <p:sp>
        <p:nvSpPr>
          <p:cNvPr id="21" name="Rectangle 4"/>
          <p:cNvSpPr>
            <a:spLocks noChangeArrowheads="1"/>
          </p:cNvSpPr>
          <p:nvPr/>
        </p:nvSpPr>
        <p:spPr bwMode="auto">
          <a:xfrm>
            <a:off x="6304220" y="5175051"/>
            <a:ext cx="2260600" cy="705486"/>
          </a:xfrm>
          <a:prstGeom prst="rect">
            <a:avLst/>
          </a:prstGeom>
          <a:solidFill>
            <a:srgbClr val="00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>
                <a:solidFill>
                  <a:srgbClr val="000000"/>
                </a:solidFill>
                <a:latin typeface="Bookman Old Style" panose="02050604050505020204" pitchFamily="18" charset="0"/>
                <a:ea typeface="新細明體" panose="02020500000000000000" pitchFamily="18" charset="-120"/>
              </a:rPr>
              <a:t>P2 PCB </a:t>
            </a:r>
          </a:p>
        </p:txBody>
      </p:sp>
      <p:sp>
        <p:nvSpPr>
          <p:cNvPr id="24" name="Rectangle 4"/>
          <p:cNvSpPr>
            <a:spLocks noChangeArrowheads="1"/>
          </p:cNvSpPr>
          <p:nvPr/>
        </p:nvSpPr>
        <p:spPr bwMode="auto">
          <a:xfrm>
            <a:off x="6307261" y="4509264"/>
            <a:ext cx="2260600" cy="705486"/>
          </a:xfrm>
          <a:prstGeom prst="rect">
            <a:avLst/>
          </a:prstGeom>
          <a:solidFill>
            <a:srgbClr val="00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>
                <a:solidFill>
                  <a:srgbClr val="FF0000"/>
                </a:solidFill>
                <a:latin typeface="Bookman Old Style" panose="02050604050505020204" pitchFamily="18" charset="0"/>
                <a:ea typeface="新細明體" panose="02020500000000000000" pitchFamily="18" charset="-120"/>
              </a:rPr>
              <a:t>P1 PCB </a:t>
            </a:r>
          </a:p>
        </p:txBody>
      </p:sp>
      <p:sp>
        <p:nvSpPr>
          <p:cNvPr id="14" name="右大括弧 13"/>
          <p:cNvSpPr/>
          <p:nvPr/>
        </p:nvSpPr>
        <p:spPr>
          <a:xfrm>
            <a:off x="8888806" y="4536566"/>
            <a:ext cx="87515" cy="1903922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latin typeface="Bookman Old Style" panose="020506040505050202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8976320" y="5301208"/>
            <a:ext cx="5597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Bookman Old Style" panose="02050604050505020204" pitchFamily="18" charset="0"/>
              </a:rPr>
              <a:t>OS</a:t>
            </a:r>
            <a:endParaRPr lang="zh-TW" altLang="en-US" sz="2000" b="1" dirty="0">
              <a:latin typeface="Bookman Old Style" panose="02050604050505020204" pitchFamily="18" charset="0"/>
            </a:endParaRPr>
          </a:p>
        </p:txBody>
      </p:sp>
      <p:sp>
        <p:nvSpPr>
          <p:cNvPr id="25" name="弧形箭號 (左彎) 24"/>
          <p:cNvSpPr/>
          <p:nvPr/>
        </p:nvSpPr>
        <p:spPr>
          <a:xfrm>
            <a:off x="8694162" y="2189164"/>
            <a:ext cx="426175" cy="1301238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TW" altLang="en-US">
              <a:solidFill>
                <a:srgbClr val="000000"/>
              </a:solidFill>
              <a:latin typeface="Times New Roman"/>
              <a:ea typeface="新細明體"/>
            </a:endParaRPr>
          </a:p>
        </p:txBody>
      </p:sp>
      <p:sp>
        <p:nvSpPr>
          <p:cNvPr id="26" name="Rectangle 19"/>
          <p:cNvSpPr>
            <a:spLocks noChangeArrowheads="1"/>
          </p:cNvSpPr>
          <p:nvPr/>
        </p:nvSpPr>
        <p:spPr bwMode="auto">
          <a:xfrm>
            <a:off x="4057836" y="5278749"/>
            <a:ext cx="2088231" cy="391490"/>
          </a:xfrm>
          <a:prstGeom prst="rect">
            <a:avLst/>
          </a:prstGeom>
          <a:noFill/>
          <a:ln w="12700">
            <a:solidFill>
              <a:srgbClr val="FF3300"/>
            </a:solidFill>
            <a:miter lim="800000"/>
            <a:headEnd/>
            <a:tailEnd/>
          </a:ln>
          <a:effectLst>
            <a:prstShdw prst="shdw17" dist="17961" dir="2700000">
              <a:srgbClr val="991F00"/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altLang="zh-TW" sz="2400" b="1" dirty="0">
                <a:latin typeface="Calibri" panose="020F0502020204030204" pitchFamily="34" charset="0"/>
                <a:ea typeface="新細明體" pitchFamily="18" charset="-120"/>
              </a:rPr>
              <a:t>Zombie Process</a:t>
            </a:r>
            <a:endParaRPr lang="zh-TW" altLang="en-US" sz="2400" b="1" dirty="0">
              <a:latin typeface="Calibri" panose="020F0502020204030204" pitchFamily="34" charset="0"/>
              <a:ea typeface="新細明體" pitchFamily="18" charset="-120"/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6311101" y="5194901"/>
            <a:ext cx="2260600" cy="705486"/>
          </a:xfrm>
          <a:prstGeom prst="rect">
            <a:avLst/>
          </a:prstGeom>
          <a:solidFill>
            <a:srgbClr val="00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>
                <a:solidFill>
                  <a:srgbClr val="000000"/>
                </a:solidFill>
                <a:latin typeface="Bookman Old Style" panose="02050604050505020204" pitchFamily="18" charset="0"/>
                <a:ea typeface="新細明體" panose="02020500000000000000" pitchFamily="18" charset="-120"/>
              </a:rPr>
              <a:t>P2 PCB </a:t>
            </a:r>
          </a:p>
          <a:p>
            <a:pPr algn="ctr" eaLnBrk="0" hangingPunct="0">
              <a:spcBef>
                <a:spcPct val="0"/>
              </a:spcBef>
              <a:buNone/>
              <a:defRPr/>
            </a:pPr>
            <a:r>
              <a:rPr kumimoji="0" lang="en-US" altLang="zh-TW" sz="2000" b="1" dirty="0">
                <a:solidFill>
                  <a:srgbClr val="FF0000"/>
                </a:solidFill>
                <a:latin typeface="Bookman Old Style" panose="02050604050505020204" pitchFamily="18" charset="0"/>
                <a:ea typeface="新細明體" panose="02020500000000000000" pitchFamily="18" charset="-120"/>
              </a:rPr>
              <a:t>exit status = 1</a:t>
            </a:r>
          </a:p>
        </p:txBody>
      </p:sp>
      <p:cxnSp>
        <p:nvCxnSpPr>
          <p:cNvPr id="19" name="直線單箭頭接點 18"/>
          <p:cNvCxnSpPr/>
          <p:nvPr/>
        </p:nvCxnSpPr>
        <p:spPr>
          <a:xfrm flipH="1">
            <a:off x="4431113" y="2411138"/>
            <a:ext cx="1863152" cy="589088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弧形箭號 (左彎) 21"/>
          <p:cNvSpPr/>
          <p:nvPr/>
        </p:nvSpPr>
        <p:spPr>
          <a:xfrm flipV="1">
            <a:off x="8580180" y="2277169"/>
            <a:ext cx="477963" cy="3424148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TW" altLang="en-US">
              <a:solidFill>
                <a:srgbClr val="000000"/>
              </a:solidFill>
              <a:latin typeface="Times New Roman"/>
              <a:ea typeface="新細明體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118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44025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6" presetClass="exit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5" grpId="0" animBg="1"/>
      <p:bldP spid="25" grpId="1" animBg="1"/>
      <p:bldP spid="26" grpId="0" animBg="1"/>
      <p:bldP spid="26" grpId="1" animBg="1"/>
      <p:bldP spid="16" grpId="0" animBg="1"/>
      <p:bldP spid="16" grpId="1" animBg="1"/>
      <p:bldP spid="22" grpId="0" animBg="1"/>
      <p:bldP spid="22" grpId="1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4000" dirty="0" smtClean="0"/>
              <a:t>Q: </a:t>
            </a:r>
            <a:r>
              <a:rPr lang="zh-TW" altLang="en-US" sz="4000" dirty="0" smtClean="0"/>
              <a:t>如果</a:t>
            </a:r>
            <a:r>
              <a:rPr lang="en-US" altLang="zh-TW" sz="4000" dirty="0" smtClean="0"/>
              <a:t>parent</a:t>
            </a:r>
            <a:r>
              <a:rPr lang="zh-TW" altLang="en-US" sz="4000" dirty="0" smtClean="0"/>
              <a:t>比</a:t>
            </a:r>
            <a:r>
              <a:rPr lang="en-US" altLang="zh-TW" sz="4000" dirty="0" smtClean="0"/>
              <a:t>child</a:t>
            </a:r>
            <a:r>
              <a:rPr lang="zh-TW" altLang="en-US" sz="4000" dirty="0" smtClean="0"/>
              <a:t>先結束執行</a:t>
            </a:r>
            <a:r>
              <a:rPr lang="en-US" altLang="zh-TW" sz="4000" dirty="0" smtClean="0"/>
              <a:t>, </a:t>
            </a:r>
            <a:r>
              <a:rPr lang="zh-TW" altLang="en-US" sz="4000" dirty="0" smtClean="0"/>
              <a:t>會發生什麼問題呢</a:t>
            </a:r>
            <a:r>
              <a:rPr lang="en-US" altLang="zh-TW" sz="4000" dirty="0" smtClean="0"/>
              <a:t>?</a:t>
            </a:r>
            <a:endParaRPr lang="zh-TW" altLang="en-US" sz="40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pPr eaLnBrk="1" hangingPunct="1"/>
            <a:r>
              <a:rPr lang="en-US" altLang="zh-TW" dirty="0" err="1" smtClean="0"/>
              <a:t>Ans</a:t>
            </a:r>
            <a:r>
              <a:rPr lang="en-US" altLang="zh-TW" dirty="0" smtClean="0"/>
              <a:t>: </a:t>
            </a:r>
            <a:r>
              <a:rPr lang="en-US" altLang="zh-TW" dirty="0"/>
              <a:t>If parent terminates before child calls exit</a:t>
            </a:r>
            <a:r>
              <a:rPr lang="en-US" altLang="zh-TW" dirty="0" smtClean="0"/>
              <a:t>(), the </a:t>
            </a:r>
            <a:r>
              <a:rPr lang="en-US" altLang="zh-TW" dirty="0"/>
              <a:t>child process becomes as </a:t>
            </a:r>
            <a:r>
              <a:rPr lang="en-US" altLang="zh-TW" b="1" dirty="0">
                <a:solidFill>
                  <a:srgbClr val="FF0000"/>
                </a:solidFill>
              </a:rPr>
              <a:t>orphans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2963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Orphans Process</a:t>
            </a:r>
            <a:endParaRPr lang="zh-TW" altLang="en-US" dirty="0"/>
          </a:p>
        </p:txBody>
      </p:sp>
      <p:sp>
        <p:nvSpPr>
          <p:cNvPr id="5" name="流程圖: 接點 4"/>
          <p:cNvSpPr/>
          <p:nvPr/>
        </p:nvSpPr>
        <p:spPr>
          <a:xfrm>
            <a:off x="2135560" y="3068960"/>
            <a:ext cx="1368152" cy="1296144"/>
          </a:xfrm>
          <a:prstGeom prst="flowChartConnector">
            <a:avLst/>
          </a:prstGeom>
          <a:solidFill>
            <a:srgbClr val="99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>
                <a:solidFill>
                  <a:srgbClr val="FF0000"/>
                </a:solidFill>
                <a:latin typeface="Calibri" panose="020F0502020204030204" pitchFamily="34" charset="0"/>
              </a:rPr>
              <a:t>fork()</a:t>
            </a:r>
            <a:endParaRPr lang="zh-TW" altLang="en-US" sz="28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流程圖: 接點 5"/>
          <p:cNvSpPr/>
          <p:nvPr/>
        </p:nvSpPr>
        <p:spPr>
          <a:xfrm>
            <a:off x="4511824" y="4941168"/>
            <a:ext cx="1368152" cy="1296144"/>
          </a:xfrm>
          <a:prstGeom prst="flowChartConnector">
            <a:avLst/>
          </a:prstGeom>
          <a:solidFill>
            <a:srgbClr val="99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7" name="流程圖: 接點 6"/>
          <p:cNvSpPr/>
          <p:nvPr/>
        </p:nvSpPr>
        <p:spPr>
          <a:xfrm>
            <a:off x="7350958" y="4941168"/>
            <a:ext cx="1368152" cy="1296144"/>
          </a:xfrm>
          <a:prstGeom prst="flowChartConnector">
            <a:avLst/>
          </a:prstGeom>
          <a:solidFill>
            <a:srgbClr val="99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>
                <a:solidFill>
                  <a:srgbClr val="FF0000"/>
                </a:solidFill>
                <a:latin typeface="Calibri" panose="020F0502020204030204" pitchFamily="34" charset="0"/>
              </a:rPr>
              <a:t>exit()</a:t>
            </a:r>
            <a:endParaRPr lang="zh-TW" altLang="en-US" sz="28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10" name="直線單箭頭接點 9"/>
          <p:cNvCxnSpPr>
            <a:stCxn id="5" idx="5"/>
            <a:endCxn id="6" idx="2"/>
          </p:cNvCxnSpPr>
          <p:nvPr/>
        </p:nvCxnSpPr>
        <p:spPr>
          <a:xfrm>
            <a:off x="3303352" y="4175288"/>
            <a:ext cx="1208473" cy="141395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 flipV="1">
            <a:off x="3388326" y="2296953"/>
            <a:ext cx="1195506" cy="1060024"/>
          </a:xfrm>
          <a:prstGeom prst="straightConnector1">
            <a:avLst/>
          </a:prstGeom>
          <a:ln w="762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>
            <a:stCxn id="6" idx="6"/>
            <a:endCxn id="7" idx="2"/>
          </p:cNvCxnSpPr>
          <p:nvPr/>
        </p:nvCxnSpPr>
        <p:spPr>
          <a:xfrm>
            <a:off x="5879976" y="5589240"/>
            <a:ext cx="1470982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/>
          <p:cNvSpPr txBox="1"/>
          <p:nvPr/>
        </p:nvSpPr>
        <p:spPr>
          <a:xfrm>
            <a:off x="3718018" y="4398639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latin typeface="Calibri" panose="020F0502020204030204" pitchFamily="34" charset="0"/>
              </a:rPr>
              <a:t>child</a:t>
            </a:r>
            <a:endParaRPr lang="zh-TW" altLang="en-US" sz="2400" b="1" dirty="0">
              <a:latin typeface="Calibri" panose="020F0502020204030204" pitchFamily="34" charset="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3671429" y="2984687"/>
            <a:ext cx="10327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latin typeface="Calibri" panose="020F0502020204030204" pitchFamily="34" charset="0"/>
              </a:rPr>
              <a:t>parent</a:t>
            </a:r>
            <a:endParaRPr lang="zh-TW" altLang="en-US" sz="2400" b="1" dirty="0">
              <a:latin typeface="Calibri" panose="020F0502020204030204" pitchFamily="34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8042108" y="3749262"/>
            <a:ext cx="2235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solidFill>
                  <a:srgbClr val="FF3300"/>
                </a:solidFill>
                <a:latin typeface="Calibri" panose="020F0502020204030204" pitchFamily="34" charset="0"/>
              </a:rPr>
              <a:t>exit status</a:t>
            </a:r>
            <a:r>
              <a:rPr lang="en-US" altLang="zh-TW" sz="2400" b="1" dirty="0">
                <a:latin typeface="Calibri" panose="020F0502020204030204" pitchFamily="34" charset="0"/>
              </a:rPr>
              <a:t> </a:t>
            </a:r>
            <a:r>
              <a:rPr lang="en-US" altLang="zh-TW" sz="2400" dirty="0">
                <a:latin typeface="Calibri" panose="020F0502020204030204" pitchFamily="34" charset="0"/>
              </a:rPr>
              <a:t>value</a:t>
            </a:r>
            <a:endParaRPr lang="zh-TW" altLang="en-US" sz="2400" b="1" dirty="0">
              <a:solidFill>
                <a:srgbClr val="FF0000"/>
              </a:solidFill>
              <a:latin typeface="Calibri" panose="020F0502020204030204" pitchFamily="34" charset="0"/>
              <a:cs typeface="Tahoma" pitchFamily="34" charset="0"/>
            </a:endParaRPr>
          </a:p>
        </p:txBody>
      </p:sp>
      <p:cxnSp>
        <p:nvCxnSpPr>
          <p:cNvPr id="33" name="直線單箭頭接點 32"/>
          <p:cNvCxnSpPr>
            <a:stCxn id="7" idx="0"/>
          </p:cNvCxnSpPr>
          <p:nvPr/>
        </p:nvCxnSpPr>
        <p:spPr>
          <a:xfrm flipH="1" flipV="1">
            <a:off x="8028138" y="2924944"/>
            <a:ext cx="6896" cy="201622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字方塊 36"/>
          <p:cNvSpPr txBox="1"/>
          <p:nvPr/>
        </p:nvSpPr>
        <p:spPr>
          <a:xfrm>
            <a:off x="5951984" y="5682734"/>
            <a:ext cx="9172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 smtClean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orphan</a:t>
            </a:r>
            <a:endParaRPr lang="zh-TW" altLang="en-US" sz="1600" b="1" dirty="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120</a:t>
            </a:fld>
            <a:endParaRPr lang="en-US" altLang="zh-TW"/>
          </a:p>
        </p:txBody>
      </p:sp>
      <p:sp>
        <p:nvSpPr>
          <p:cNvPr id="4" name="文字方塊 3"/>
          <p:cNvSpPr txBox="1"/>
          <p:nvPr/>
        </p:nvSpPr>
        <p:spPr>
          <a:xfrm>
            <a:off x="7752184" y="2204864"/>
            <a:ext cx="4667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FF0000"/>
                </a:solidFill>
              </a:rPr>
              <a:t>?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18" name="流程圖: 接點 17"/>
          <p:cNvSpPr/>
          <p:nvPr/>
        </p:nvSpPr>
        <p:spPr>
          <a:xfrm>
            <a:off x="4583832" y="1700808"/>
            <a:ext cx="1368152" cy="1296144"/>
          </a:xfrm>
          <a:prstGeom prst="flowChartConnector">
            <a:avLst/>
          </a:prstGeom>
          <a:solidFill>
            <a:srgbClr val="99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流程圖: 接點 16"/>
          <p:cNvSpPr/>
          <p:nvPr/>
        </p:nvSpPr>
        <p:spPr>
          <a:xfrm>
            <a:off x="7320136" y="1700808"/>
            <a:ext cx="1368152" cy="1296144"/>
          </a:xfrm>
          <a:prstGeom prst="flowChartConnector">
            <a:avLst/>
          </a:prstGeom>
          <a:solidFill>
            <a:srgbClr val="99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>
                <a:solidFill>
                  <a:srgbClr val="FF0000"/>
                </a:solidFill>
                <a:latin typeface="Calibri" panose="020F0502020204030204" pitchFamily="34" charset="0"/>
              </a:rPr>
              <a:t>exit()</a:t>
            </a:r>
            <a:endParaRPr lang="zh-TW" altLang="en-US" sz="28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19" name="直線單箭頭接點 18"/>
          <p:cNvCxnSpPr/>
          <p:nvPr/>
        </p:nvCxnSpPr>
        <p:spPr>
          <a:xfrm>
            <a:off x="5951984" y="2276872"/>
            <a:ext cx="1470982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2552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21" grpId="0"/>
      <p:bldP spid="22" grpId="0"/>
      <p:bldP spid="32" grpId="0"/>
      <p:bldP spid="37" grpId="0"/>
      <p:bldP spid="18" grpId="0" animBg="1"/>
      <p:bldP spid="17" grpId="0" animBg="1"/>
      <p:bldP spid="17" grpId="1" animBg="1"/>
      <p:bldP spid="17" grpId="2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TW" sz="4000" dirty="0" smtClean="0"/>
              <a:t>Q: </a:t>
            </a:r>
            <a:r>
              <a:rPr lang="zh-TW" altLang="en-US" sz="4000" dirty="0"/>
              <a:t>怎麼辦</a:t>
            </a:r>
            <a:r>
              <a:rPr lang="zh-TW" altLang="en-US" sz="4000" dirty="0" smtClean="0"/>
              <a:t>呢</a:t>
            </a:r>
            <a:r>
              <a:rPr lang="en-US" altLang="zh-TW" sz="4000" dirty="0" smtClean="0"/>
              <a:t>?</a:t>
            </a:r>
            <a:r>
              <a:rPr lang="en-US" altLang="zh-TW" sz="4000" dirty="0"/>
              <a:t> </a:t>
            </a:r>
            <a:r>
              <a:rPr lang="en-US" altLang="zh-TW" sz="4000" dirty="0" smtClean="0"/>
              <a:t>Who </a:t>
            </a:r>
            <a:r>
              <a:rPr lang="en-US" altLang="zh-TW" sz="4000" dirty="0"/>
              <a:t>calls wait()?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42939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Orphans Process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zh-TW" sz="3600" dirty="0" smtClean="0"/>
              <a:t>Sol.: Linux </a:t>
            </a:r>
            <a:r>
              <a:rPr lang="en-US" altLang="zh-TW" sz="3600" dirty="0"/>
              <a:t>set the child’s parent to the </a:t>
            </a:r>
            <a:r>
              <a:rPr lang="en-US" altLang="zh-TW" sz="3600" b="1" dirty="0">
                <a:solidFill>
                  <a:srgbClr val="FF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endParaRPr lang="en-US" altLang="zh-TW" sz="3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1" hangingPunct="1"/>
            <a:r>
              <a:rPr lang="en-US" altLang="zh-TW" sz="3200" b="1" dirty="0" err="1">
                <a:solidFill>
                  <a:srgbClr val="FF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altLang="zh-TW" sz="3200" dirty="0"/>
              <a:t> process periodically calls </a:t>
            </a:r>
            <a:r>
              <a:rPr lang="en-US" altLang="zh-TW" sz="3200" b="1" dirty="0"/>
              <a:t>wait()</a:t>
            </a:r>
            <a:r>
              <a:rPr lang="en-US" altLang="zh-TW" sz="3200" dirty="0"/>
              <a:t> to collect children’s exit status value</a:t>
            </a:r>
          </a:p>
          <a:p>
            <a:pPr lvl="2" eaLnBrk="1" hangingPunct="1"/>
            <a:endParaRPr lang="en-US" altLang="zh-TW" sz="2800" dirty="0" smtClean="0"/>
          </a:p>
          <a:p>
            <a:pPr lvl="1" eaLnBrk="1" hangingPunct="1"/>
            <a:endParaRPr lang="en-US" altLang="zh-TW" sz="3200" dirty="0" smtClean="0"/>
          </a:p>
          <a:p>
            <a:pPr lvl="1" eaLnBrk="1" hangingPunct="1"/>
            <a:r>
              <a:rPr lang="en-US" altLang="zh-TW" sz="3200" dirty="0" smtClean="0"/>
              <a:t>See </a:t>
            </a:r>
            <a:r>
              <a:rPr lang="en-US" altLang="zh-TW" sz="3200" dirty="0"/>
              <a:t>the following </a:t>
            </a:r>
            <a:r>
              <a:rPr lang="en-US" altLang="zh-TW" sz="3200" dirty="0" smtClean="0"/>
              <a:t>two slides</a:t>
            </a:r>
            <a:endParaRPr lang="en-US" altLang="zh-TW" sz="32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122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93046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Orphans Process</a:t>
            </a:r>
            <a:endParaRPr lang="zh-TW" altLang="en-US" dirty="0"/>
          </a:p>
        </p:txBody>
      </p:sp>
      <p:sp>
        <p:nvSpPr>
          <p:cNvPr id="5" name="流程圖: 接點 4"/>
          <p:cNvSpPr/>
          <p:nvPr/>
        </p:nvSpPr>
        <p:spPr>
          <a:xfrm>
            <a:off x="2135560" y="3068960"/>
            <a:ext cx="1368152" cy="1296144"/>
          </a:xfrm>
          <a:prstGeom prst="flowChartConnector">
            <a:avLst/>
          </a:prstGeom>
          <a:solidFill>
            <a:srgbClr val="99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>
                <a:solidFill>
                  <a:srgbClr val="FF0000"/>
                </a:solidFill>
                <a:latin typeface="Calibri" panose="020F0502020204030204" pitchFamily="34" charset="0"/>
              </a:rPr>
              <a:t>fork()</a:t>
            </a:r>
            <a:endParaRPr lang="zh-TW" altLang="en-US" sz="28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流程圖: 接點 5"/>
          <p:cNvSpPr/>
          <p:nvPr/>
        </p:nvSpPr>
        <p:spPr>
          <a:xfrm>
            <a:off x="4511824" y="4941168"/>
            <a:ext cx="1368152" cy="1296144"/>
          </a:xfrm>
          <a:prstGeom prst="flowChartConnector">
            <a:avLst/>
          </a:prstGeom>
          <a:solidFill>
            <a:srgbClr val="99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>
                <a:solidFill>
                  <a:srgbClr val="FF0000"/>
                </a:solidFill>
                <a:latin typeface="Calibri" panose="020F0502020204030204" pitchFamily="34" charset="0"/>
              </a:rPr>
              <a:t>exec()</a:t>
            </a:r>
            <a:endParaRPr lang="zh-TW" altLang="en-US" sz="28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7" name="流程圖: 接點 6"/>
          <p:cNvSpPr/>
          <p:nvPr/>
        </p:nvSpPr>
        <p:spPr>
          <a:xfrm>
            <a:off x="7350958" y="4941168"/>
            <a:ext cx="1368152" cy="1296144"/>
          </a:xfrm>
          <a:prstGeom prst="flowChartConnector">
            <a:avLst/>
          </a:prstGeom>
          <a:solidFill>
            <a:srgbClr val="99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  <a:latin typeface="Calibri" panose="020F0502020204030204" pitchFamily="34" charset="0"/>
              </a:rPr>
              <a:t>a=a+1;</a:t>
            </a:r>
          </a:p>
          <a:p>
            <a:pPr algn="ctr"/>
            <a:r>
              <a:rPr lang="en-US" altLang="zh-TW" sz="2400" dirty="0">
                <a:solidFill>
                  <a:srgbClr val="FF0000"/>
                </a:solidFill>
                <a:latin typeface="Calibri" panose="020F0502020204030204" pitchFamily="34" charset="0"/>
              </a:rPr>
              <a:t>b=b-1;</a:t>
            </a:r>
          </a:p>
          <a:p>
            <a:pPr algn="ctr"/>
            <a:r>
              <a:rPr lang="en-US" altLang="zh-TW" sz="2400" dirty="0">
                <a:solidFill>
                  <a:srgbClr val="FF0000"/>
                </a:solidFill>
                <a:latin typeface="Calibri" panose="020F0502020204030204" pitchFamily="34" charset="0"/>
              </a:rPr>
              <a:t>…</a:t>
            </a:r>
            <a:endParaRPr lang="zh-TW" altLang="en-US" sz="2400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10" name="直線單箭頭接點 9"/>
          <p:cNvCxnSpPr>
            <a:stCxn id="5" idx="5"/>
            <a:endCxn id="6" idx="2"/>
          </p:cNvCxnSpPr>
          <p:nvPr/>
        </p:nvCxnSpPr>
        <p:spPr>
          <a:xfrm>
            <a:off x="3303352" y="4175288"/>
            <a:ext cx="1208473" cy="141395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 flipV="1">
            <a:off x="3388326" y="2296953"/>
            <a:ext cx="1195506" cy="1060024"/>
          </a:xfrm>
          <a:prstGeom prst="straightConnector1">
            <a:avLst/>
          </a:prstGeom>
          <a:ln w="762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>
            <a:stCxn id="6" idx="6"/>
            <a:endCxn id="7" idx="2"/>
          </p:cNvCxnSpPr>
          <p:nvPr/>
        </p:nvCxnSpPr>
        <p:spPr>
          <a:xfrm>
            <a:off x="5879976" y="5589240"/>
            <a:ext cx="1470982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流程圖: 接點 18"/>
          <p:cNvSpPr/>
          <p:nvPr/>
        </p:nvSpPr>
        <p:spPr>
          <a:xfrm>
            <a:off x="4583832" y="1648882"/>
            <a:ext cx="1368152" cy="1296144"/>
          </a:xfrm>
          <a:prstGeom prst="flowChartConnector">
            <a:avLst/>
          </a:prstGeom>
          <a:solidFill>
            <a:srgbClr val="99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>
                <a:solidFill>
                  <a:srgbClr val="FF0000"/>
                </a:solidFill>
                <a:latin typeface="Calibri" panose="020F0502020204030204" pitchFamily="34" charset="0"/>
              </a:rPr>
              <a:t>exit()</a:t>
            </a:r>
            <a:endParaRPr lang="zh-TW" altLang="en-US" sz="28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3718018" y="4398639"/>
            <a:ext cx="793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latin typeface="Calibri" panose="020F0502020204030204" pitchFamily="34" charset="0"/>
              </a:rPr>
              <a:t>child</a:t>
            </a:r>
            <a:endParaRPr lang="zh-TW" altLang="en-US" sz="2400" b="1" dirty="0">
              <a:latin typeface="Calibri" panose="020F0502020204030204" pitchFamily="34" charset="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3671429" y="2984687"/>
            <a:ext cx="10327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latin typeface="Calibri" panose="020F0502020204030204" pitchFamily="34" charset="0"/>
              </a:rPr>
              <a:t>parent</a:t>
            </a:r>
            <a:endParaRPr lang="zh-TW" altLang="en-US" sz="2400" b="1" dirty="0">
              <a:latin typeface="Calibri" panose="020F0502020204030204" pitchFamily="34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8665164" y="5389185"/>
            <a:ext cx="9893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FF0000"/>
                </a:solidFill>
                <a:latin typeface="Calibri" panose="020F0502020204030204" pitchFamily="34" charset="0"/>
                <a:ea typeface="Tahoma" pitchFamily="34" charset="0"/>
                <a:cs typeface="Tahoma" pitchFamily="34" charset="0"/>
              </a:rPr>
              <a:t>orphan</a:t>
            </a:r>
            <a:endParaRPr lang="zh-TW" altLang="en-US" sz="2000" b="1" dirty="0">
              <a:solidFill>
                <a:srgbClr val="FF0000"/>
              </a:solidFill>
              <a:latin typeface="Calibri" panose="020F0502020204030204" pitchFamily="34" charset="0"/>
              <a:cs typeface="Tahoma" pitchFamily="34" charset="0"/>
            </a:endParaRPr>
          </a:p>
        </p:txBody>
      </p:sp>
      <p:sp>
        <p:nvSpPr>
          <p:cNvPr id="14" name="流程圖: 接點 13"/>
          <p:cNvSpPr/>
          <p:nvPr/>
        </p:nvSpPr>
        <p:spPr>
          <a:xfrm>
            <a:off x="4583832" y="1628800"/>
            <a:ext cx="1368152" cy="1296144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 err="1">
                <a:solidFill>
                  <a:srgbClr val="FF0000"/>
                </a:solidFill>
                <a:latin typeface="Calibri" panose="020F0502020204030204" pitchFamily="34" charset="0"/>
              </a:rPr>
              <a:t>init</a:t>
            </a:r>
            <a:endParaRPr lang="zh-TW" altLang="en-US" sz="28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123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42785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9" grpId="0" animBg="1"/>
      <p:bldP spid="21" grpId="0"/>
      <p:bldP spid="22" grpId="0"/>
      <p:bldP spid="37" grpId="0"/>
      <p:bldP spid="37" grpId="1"/>
      <p:bldP spid="14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 smtClean="0"/>
              <a:t>複習</a:t>
            </a:r>
            <a:r>
              <a:rPr lang="en-US" altLang="zh-TW" dirty="0" smtClean="0"/>
              <a:t>:</a:t>
            </a:r>
            <a:r>
              <a:rPr lang="zh-TW" altLang="en-US" dirty="0" smtClean="0"/>
              <a:t> </a:t>
            </a:r>
            <a:r>
              <a:rPr lang="en-US" altLang="zh-TW" dirty="0" smtClean="0"/>
              <a:t>A </a:t>
            </a:r>
            <a:r>
              <a:rPr lang="en-US" altLang="zh-TW" dirty="0"/>
              <a:t>Tree of Processes in Linux</a:t>
            </a:r>
          </a:p>
        </p:txBody>
      </p:sp>
      <p:sp>
        <p:nvSpPr>
          <p:cNvPr id="32772" name="Text Box 4"/>
          <p:cNvSpPr txBox="1">
            <a:spLocks noChangeArrowheads="1"/>
          </p:cNvSpPr>
          <p:nvPr/>
        </p:nvSpPr>
        <p:spPr bwMode="auto">
          <a:xfrm>
            <a:off x="2135560" y="6020003"/>
            <a:ext cx="82486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dirty="0"/>
              <a:t>OS identify processes according to a unique </a:t>
            </a:r>
            <a:r>
              <a:rPr lang="en-US" altLang="zh-TW" sz="2000" b="1" dirty="0"/>
              <a:t>process identifier</a:t>
            </a:r>
            <a:r>
              <a:rPr lang="en-US" altLang="zh-TW" sz="2000" dirty="0"/>
              <a:t> (or </a:t>
            </a:r>
            <a:r>
              <a:rPr lang="en-US" altLang="zh-TW" sz="2000" b="1" dirty="0" err="1"/>
              <a:t>pid</a:t>
            </a:r>
            <a:r>
              <a:rPr lang="en-US" altLang="zh-TW" sz="2000" dirty="0"/>
              <a:t>)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5560" y="1484785"/>
            <a:ext cx="7984998" cy="4235923"/>
          </a:xfrm>
          <a:prstGeom prst="rect">
            <a:avLst/>
          </a:prstGeom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124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17606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作業系統實驗會有一個</a:t>
            </a:r>
            <a:r>
              <a:rPr lang="en-US" altLang="zh-TW" dirty="0"/>
              <a:t>Linux Process </a:t>
            </a:r>
            <a:r>
              <a:rPr lang="en-US" altLang="zh-TW" dirty="0" smtClean="0"/>
              <a:t>Control</a:t>
            </a:r>
            <a:r>
              <a:rPr lang="zh-TW" altLang="en-US" dirty="0" smtClean="0"/>
              <a:t>的實驗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6871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Outline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dirty="0"/>
              <a:t>Process Concept</a:t>
            </a:r>
          </a:p>
          <a:p>
            <a:pPr eaLnBrk="1" hangingPunct="1"/>
            <a:r>
              <a:rPr lang="en-US" altLang="zh-TW" dirty="0"/>
              <a:t>Process Scheduling</a:t>
            </a:r>
          </a:p>
          <a:p>
            <a:pPr eaLnBrk="1" hangingPunct="1"/>
            <a:r>
              <a:rPr lang="en-US" altLang="zh-TW" dirty="0"/>
              <a:t>Operations on Processes</a:t>
            </a:r>
          </a:p>
          <a:p>
            <a:pPr eaLnBrk="1" hangingPunct="1"/>
            <a:r>
              <a:rPr lang="en-US" altLang="zh-TW" b="1" dirty="0" err="1">
                <a:solidFill>
                  <a:srgbClr val="FF0000"/>
                </a:solidFill>
              </a:rPr>
              <a:t>Interprocess</a:t>
            </a:r>
            <a:r>
              <a:rPr lang="en-US" altLang="zh-TW" b="1" dirty="0">
                <a:solidFill>
                  <a:srgbClr val="FF0000"/>
                </a:solidFill>
              </a:rPr>
              <a:t> Communication</a:t>
            </a:r>
          </a:p>
          <a:p>
            <a:pPr eaLnBrk="1" hangingPunct="1"/>
            <a:r>
              <a:rPr lang="en-US" altLang="zh-TW" dirty="0"/>
              <a:t>IPC in Shared-Memory Systems</a:t>
            </a:r>
          </a:p>
          <a:p>
            <a:pPr eaLnBrk="1" hangingPunct="1"/>
            <a:r>
              <a:rPr lang="en-US" altLang="zh-TW" dirty="0"/>
              <a:t>Examples of IPC Systems</a:t>
            </a:r>
          </a:p>
          <a:p>
            <a:pPr eaLnBrk="1" hangingPunct="1"/>
            <a:r>
              <a:rPr lang="en-US" altLang="zh-TW" dirty="0"/>
              <a:t>Communication in Client-Server Systems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126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62975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1772816"/>
            <a:ext cx="10363200" cy="1470025"/>
          </a:xfrm>
        </p:spPr>
        <p:txBody>
          <a:bodyPr/>
          <a:lstStyle/>
          <a:p>
            <a:r>
              <a:rPr lang="en-US" altLang="zh-TW" sz="4000" dirty="0" smtClean="0"/>
              <a:t>YouTube</a:t>
            </a:r>
            <a:r>
              <a:rPr lang="zh-TW" altLang="en-US" sz="4000" dirty="0" smtClean="0"/>
              <a:t>會產生</a:t>
            </a:r>
            <a:r>
              <a:rPr lang="zh-TW" altLang="en-US" sz="4000" dirty="0"/>
              <a:t>兩</a:t>
            </a:r>
            <a:r>
              <a:rPr lang="zh-TW" altLang="en-US" sz="4000" dirty="0" smtClean="0"/>
              <a:t>個</a:t>
            </a:r>
            <a:r>
              <a:rPr lang="en-US" altLang="zh-TW" sz="4000" dirty="0" smtClean="0"/>
              <a:t>processes: </a:t>
            </a:r>
            <a:r>
              <a:rPr lang="zh-TW" altLang="en-US" sz="4000" dirty="0" smtClean="0"/>
              <a:t>一個負責前端以及畫面撥放</a:t>
            </a:r>
            <a:r>
              <a:rPr lang="en-US" altLang="zh-TW" sz="4000" dirty="0" smtClean="0"/>
              <a:t>, </a:t>
            </a:r>
            <a:r>
              <a:rPr lang="zh-TW" altLang="en-US" sz="4000" dirty="0" smtClean="0"/>
              <a:t>另一個負責聲音的產生</a:t>
            </a:r>
            <a:endParaRPr lang="zh-TW" altLang="en-US" sz="40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271464" y="3886200"/>
            <a:ext cx="9235752" cy="1752600"/>
          </a:xfrm>
        </p:spPr>
        <p:txBody>
          <a:bodyPr/>
          <a:lstStyle/>
          <a:p>
            <a:r>
              <a:rPr lang="en-US" altLang="zh-TW" sz="2800" dirty="0" smtClean="0"/>
              <a:t>Q: </a:t>
            </a:r>
            <a:r>
              <a:rPr lang="zh-TW" altLang="en-US" sz="2800" dirty="0"/>
              <a:t>當</a:t>
            </a:r>
            <a:r>
              <a:rPr lang="zh-TW" altLang="en-US" sz="2800" dirty="0" smtClean="0"/>
              <a:t>使用者按下暫停</a:t>
            </a:r>
            <a:r>
              <a:rPr lang="en-US" altLang="zh-TW" sz="2800" dirty="0" smtClean="0"/>
              <a:t>, </a:t>
            </a:r>
            <a:r>
              <a:rPr lang="zh-TW" altLang="en-US" sz="2800" dirty="0" smtClean="0"/>
              <a:t>前端的</a:t>
            </a:r>
            <a:r>
              <a:rPr lang="en-US" altLang="zh-TW" sz="2800" dirty="0" smtClean="0"/>
              <a:t>process</a:t>
            </a:r>
            <a:r>
              <a:rPr lang="zh-TW" altLang="en-US" sz="2800" dirty="0" smtClean="0"/>
              <a:t>如何</a:t>
            </a:r>
            <a:r>
              <a:rPr lang="zh-TW" altLang="en-US" sz="2800" dirty="0"/>
              <a:t>通知</a:t>
            </a:r>
            <a:r>
              <a:rPr lang="zh-TW" altLang="en-US" sz="2800" dirty="0" smtClean="0"/>
              <a:t>音訊</a:t>
            </a:r>
            <a:r>
              <a:rPr lang="en-US" altLang="zh-TW" sz="2800" dirty="0" smtClean="0"/>
              <a:t>process</a:t>
            </a:r>
            <a:r>
              <a:rPr lang="zh-TW" altLang="en-US" sz="2800" dirty="0" smtClean="0"/>
              <a:t>暫時停止</a:t>
            </a:r>
            <a:r>
              <a:rPr lang="en-US" altLang="zh-TW" sz="2800" dirty="0" smtClean="0"/>
              <a:t>?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818682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err="1"/>
              <a:t>Interprocess</a:t>
            </a:r>
            <a:r>
              <a:rPr lang="en-US" altLang="zh-TW" dirty="0"/>
              <a:t> Communication (IPC)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3600" dirty="0" smtClean="0"/>
              <a:t>Processes </a:t>
            </a:r>
            <a:r>
              <a:rPr lang="zh-TW" altLang="en-US" sz="3600" dirty="0" smtClean="0"/>
              <a:t>之間有時需要</a:t>
            </a:r>
            <a:r>
              <a:rPr lang="en-US" altLang="zh-TW" sz="3600" dirty="0" smtClean="0"/>
              <a:t> </a:t>
            </a:r>
            <a:r>
              <a:rPr lang="en-US" altLang="zh-TW" sz="3600" b="1" dirty="0" err="1">
                <a:solidFill>
                  <a:srgbClr val="FF0000"/>
                </a:solidFill>
              </a:rPr>
              <a:t>interprocess</a:t>
            </a:r>
            <a:r>
              <a:rPr lang="en-US" altLang="zh-TW" sz="3600" b="1" dirty="0">
                <a:solidFill>
                  <a:srgbClr val="FF0000"/>
                </a:solidFill>
              </a:rPr>
              <a:t> communication</a:t>
            </a:r>
            <a:r>
              <a:rPr lang="en-US" altLang="zh-TW" sz="3600" dirty="0">
                <a:solidFill>
                  <a:srgbClr val="FF0000"/>
                </a:solidFill>
              </a:rPr>
              <a:t> (</a:t>
            </a:r>
            <a:r>
              <a:rPr lang="en-US" altLang="zh-TW" sz="3600" b="1" dirty="0">
                <a:solidFill>
                  <a:srgbClr val="FF0000"/>
                </a:solidFill>
              </a:rPr>
              <a:t>IPC</a:t>
            </a:r>
            <a:r>
              <a:rPr lang="en-US" altLang="zh-TW" sz="3600" dirty="0" smtClean="0">
                <a:solidFill>
                  <a:srgbClr val="FF0000"/>
                </a:solidFill>
              </a:rPr>
              <a:t>)</a:t>
            </a:r>
            <a:endParaRPr lang="en-US" altLang="zh-TW" sz="3600" dirty="0"/>
          </a:p>
          <a:p>
            <a:pPr lvl="1" eaLnBrk="1" hangingPunct="1"/>
            <a:r>
              <a:rPr lang="zh-TW" altLang="en-US" sz="3200" dirty="0" smtClean="0"/>
              <a:t>例如</a:t>
            </a:r>
            <a:r>
              <a:rPr lang="en-US" altLang="zh-TW" sz="3200" dirty="0" smtClean="0"/>
              <a:t>YouTube</a:t>
            </a:r>
            <a:r>
              <a:rPr lang="zh-TW" altLang="en-US" sz="3200" dirty="0" smtClean="0"/>
              <a:t>的兩個</a:t>
            </a:r>
            <a:r>
              <a:rPr lang="en-US" altLang="zh-TW" sz="3200" dirty="0" smtClean="0"/>
              <a:t>processes</a:t>
            </a:r>
          </a:p>
          <a:p>
            <a:pPr lvl="1" eaLnBrk="1" hangingPunct="1"/>
            <a:endParaRPr lang="en-US" altLang="zh-TW" sz="3200" dirty="0"/>
          </a:p>
          <a:p>
            <a:pPr eaLnBrk="1" hangingPunct="1"/>
            <a:r>
              <a:rPr lang="en-US" altLang="zh-TW" sz="3600" dirty="0"/>
              <a:t>Two common models</a:t>
            </a:r>
          </a:p>
          <a:p>
            <a:pPr lvl="1" eaLnBrk="1" hangingPunct="1"/>
            <a:r>
              <a:rPr lang="en-US" altLang="zh-TW" sz="3200" b="1" dirty="0">
                <a:solidFill>
                  <a:srgbClr val="0000FF"/>
                </a:solidFill>
              </a:rPr>
              <a:t>Message passing</a:t>
            </a:r>
          </a:p>
          <a:p>
            <a:pPr lvl="1" eaLnBrk="1" hangingPunct="1"/>
            <a:r>
              <a:rPr lang="en-US" altLang="zh-TW" sz="3200" b="1" dirty="0" smtClean="0">
                <a:solidFill>
                  <a:srgbClr val="0000FF"/>
                </a:solidFill>
              </a:rPr>
              <a:t>Shared </a:t>
            </a:r>
            <a:r>
              <a:rPr lang="en-US" altLang="zh-TW" sz="3200" b="1" dirty="0">
                <a:solidFill>
                  <a:srgbClr val="0000FF"/>
                </a:solidFill>
              </a:rPr>
              <a:t>memory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128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IPC </a:t>
            </a:r>
            <a:r>
              <a:rPr lang="en-US" altLang="zh-TW" dirty="0"/>
              <a:t>Models </a:t>
            </a:r>
          </a:p>
        </p:txBody>
      </p:sp>
      <p:sp>
        <p:nvSpPr>
          <p:cNvPr id="46084" name="Text Box 4"/>
          <p:cNvSpPr txBox="1">
            <a:spLocks noChangeArrowheads="1"/>
          </p:cNvSpPr>
          <p:nvPr/>
        </p:nvSpPr>
        <p:spPr bwMode="auto">
          <a:xfrm>
            <a:off x="3935760" y="5983504"/>
            <a:ext cx="48641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dirty="0"/>
              <a:t>(a) Message passing. (b) Shared memory</a:t>
            </a:r>
          </a:p>
        </p:txBody>
      </p:sp>
      <p:pic>
        <p:nvPicPr>
          <p:cNvPr id="5" name="Picture 1" descr="3_12.pdf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87488" y="1512168"/>
            <a:ext cx="9145016" cy="436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129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46292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問題：如何實現</a:t>
            </a:r>
            <a:r>
              <a:rPr lang="en-US" altLang="zh-TW" dirty="0"/>
              <a:t>Message Passing?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8933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2586947" y="2123728"/>
            <a:ext cx="823535" cy="46085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Message Passing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3431704" y="1903494"/>
            <a:ext cx="4982857" cy="733418"/>
          </a:xfrm>
          <a:prstGeom prst="rect">
            <a:avLst/>
          </a:prstGeom>
          <a:solidFill>
            <a:schemeClr val="accent3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</a:pPr>
            <a:r>
              <a:rPr lang="en-US" altLang="zh-TW" sz="2000" b="1" dirty="0" err="1">
                <a:solidFill>
                  <a:srgbClr val="FF0000"/>
                </a:solidFill>
                <a:latin typeface="Calibri" panose="020F0502020204030204" pitchFamily="34" charset="0"/>
              </a:rPr>
              <a:t>send_msg</a:t>
            </a:r>
            <a:r>
              <a:rPr lang="en-US" altLang="zh-TW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()</a:t>
            </a:r>
            <a:endParaRPr lang="zh-TW" altLang="en-US" sz="20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441975" y="2504272"/>
            <a:ext cx="4972583" cy="14707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632" y="980728"/>
            <a:ext cx="6552728" cy="58326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3473468" y="5301208"/>
            <a:ext cx="822332" cy="58065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8476966" y="1052736"/>
            <a:ext cx="730707" cy="46085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/>
          <p:cNvSpPr/>
          <p:nvPr/>
        </p:nvSpPr>
        <p:spPr>
          <a:xfrm>
            <a:off x="2695521" y="2123728"/>
            <a:ext cx="730707" cy="46085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/>
          <p:cNvSpPr txBox="1"/>
          <p:nvPr/>
        </p:nvSpPr>
        <p:spPr>
          <a:xfrm>
            <a:off x="2240288" y="1215351"/>
            <a:ext cx="11914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Process A</a:t>
            </a:r>
            <a:endParaRPr lang="zh-TW" altLang="en-US" sz="20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451893" y="980728"/>
            <a:ext cx="4982857" cy="904160"/>
          </a:xfrm>
          <a:prstGeom prst="rect">
            <a:avLst/>
          </a:prstGeom>
          <a:solidFill>
            <a:schemeClr val="accent3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</a:pPr>
            <a:r>
              <a:rPr lang="en-US" altLang="zh-TW" sz="2000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receive()</a:t>
            </a:r>
            <a:endParaRPr lang="zh-TW" altLang="en-US" sz="20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592228" y="5301208"/>
            <a:ext cx="822332" cy="58075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弧形箭號 (左彎) 20"/>
          <p:cNvSpPr/>
          <p:nvPr/>
        </p:nvSpPr>
        <p:spPr>
          <a:xfrm flipV="1">
            <a:off x="8506220" y="1238447"/>
            <a:ext cx="923852" cy="4422799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451017" y="1753535"/>
            <a:ext cx="4972583" cy="14707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2282052" y="2060845"/>
            <a:ext cx="11914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Process B</a:t>
            </a:r>
            <a:endParaRPr lang="zh-TW" altLang="en-US" sz="20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弧形向右箭號 10"/>
          <p:cNvSpPr/>
          <p:nvPr/>
        </p:nvSpPr>
        <p:spPr>
          <a:xfrm>
            <a:off x="2571497" y="2504272"/>
            <a:ext cx="860208" cy="3228983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0" name="圓角矩形 9"/>
          <p:cNvSpPr/>
          <p:nvPr/>
        </p:nvSpPr>
        <p:spPr>
          <a:xfrm>
            <a:off x="839416" y="3570015"/>
            <a:ext cx="1618844" cy="79508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memory copy</a:t>
            </a:r>
            <a:endParaRPr lang="zh-TW" altLang="en-US" sz="24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463727" y="1914239"/>
            <a:ext cx="4982857" cy="737112"/>
          </a:xfrm>
          <a:prstGeom prst="rect">
            <a:avLst/>
          </a:prstGeom>
          <a:solidFill>
            <a:schemeClr val="accent3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</a:pPr>
            <a:r>
              <a:rPr lang="en-US" altLang="zh-TW" sz="2000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send()</a:t>
            </a:r>
            <a:endParaRPr lang="zh-TW" altLang="en-US" sz="20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457988" y="2511491"/>
            <a:ext cx="4972583" cy="14707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圓角矩形 19"/>
          <p:cNvSpPr/>
          <p:nvPr/>
        </p:nvSpPr>
        <p:spPr>
          <a:xfrm>
            <a:off x="9647614" y="3101963"/>
            <a:ext cx="1618844" cy="79508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memory copy</a:t>
            </a:r>
            <a:endParaRPr lang="zh-TW" altLang="en-US" sz="24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131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99152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9" grpId="0" animBg="1"/>
      <p:bldP spid="21" grpId="0" animBg="1"/>
      <p:bldP spid="22" grpId="0" animBg="1"/>
      <p:bldP spid="11" grpId="0" animBg="1"/>
      <p:bldP spid="10" grpId="0" animBg="1"/>
      <p:bldP spid="27" grpId="0" animBg="1"/>
      <p:bldP spid="20" grpId="0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Message-Passing Systems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3600" dirty="0"/>
              <a:t>Message-passing provides two operations:</a:t>
            </a:r>
          </a:p>
          <a:p>
            <a:pPr lvl="1" eaLnBrk="1" hangingPunct="1"/>
            <a:r>
              <a:rPr lang="en-US" altLang="zh-TW" sz="3200" b="1" dirty="0"/>
              <a:t>send</a:t>
            </a:r>
            <a:r>
              <a:rPr lang="en-US" altLang="zh-TW" sz="3200" dirty="0"/>
              <a:t>(</a:t>
            </a:r>
            <a:r>
              <a:rPr lang="en-US" altLang="zh-TW" sz="3200" i="1" dirty="0"/>
              <a:t>message</a:t>
            </a:r>
            <a:r>
              <a:rPr lang="en-US" altLang="zh-TW" sz="3200" dirty="0"/>
              <a:t>)</a:t>
            </a:r>
          </a:p>
          <a:p>
            <a:pPr lvl="1" eaLnBrk="1" hangingPunct="1"/>
            <a:endParaRPr lang="en-US" altLang="zh-TW" sz="3200" b="1" dirty="0"/>
          </a:p>
          <a:p>
            <a:pPr lvl="1" eaLnBrk="1" hangingPunct="1"/>
            <a:r>
              <a:rPr lang="en-US" altLang="zh-TW" sz="3200" b="1" dirty="0"/>
              <a:t>receive</a:t>
            </a:r>
            <a:r>
              <a:rPr lang="en-US" altLang="zh-TW" sz="3200" dirty="0"/>
              <a:t>(</a:t>
            </a:r>
            <a:r>
              <a:rPr lang="en-US" altLang="zh-TW" sz="3200" i="1" dirty="0"/>
              <a:t>message</a:t>
            </a:r>
            <a:r>
              <a:rPr lang="en-US" altLang="zh-TW" sz="3200" dirty="0"/>
              <a:t>)</a:t>
            </a:r>
          </a:p>
          <a:p>
            <a:pPr eaLnBrk="1" hangingPunct="1"/>
            <a:endParaRPr lang="en-US" altLang="zh-TW" sz="36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132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82646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Blocking and</a:t>
            </a:r>
            <a:r>
              <a:rPr lang="zh-TW" altLang="en-US" dirty="0" smtClean="0"/>
              <a:t> </a:t>
            </a:r>
            <a:r>
              <a:rPr lang="en-US" altLang="zh-TW" dirty="0" smtClean="0"/>
              <a:t>Nonblocking</a:t>
            </a:r>
            <a:endParaRPr lang="en-US" altLang="zh-TW" dirty="0"/>
          </a:p>
        </p:txBody>
      </p:sp>
      <p:sp>
        <p:nvSpPr>
          <p:cNvPr id="2385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Message passing may be either </a:t>
            </a:r>
            <a:r>
              <a:rPr lang="en-US" altLang="zh-TW" b="1" dirty="0">
                <a:solidFill>
                  <a:srgbClr val="FF0000"/>
                </a:solidFill>
              </a:rPr>
              <a:t>blocking</a:t>
            </a:r>
            <a:r>
              <a:rPr lang="en-US" altLang="zh-TW" dirty="0"/>
              <a:t> </a:t>
            </a:r>
            <a:r>
              <a:rPr lang="en-US" altLang="zh-TW" b="1" dirty="0">
                <a:solidFill>
                  <a:srgbClr val="FF0000"/>
                </a:solidFill>
              </a:rPr>
              <a:t>or non-blocking </a:t>
            </a:r>
          </a:p>
          <a:p>
            <a:pPr eaLnBrk="1" hangingPunct="1">
              <a:lnSpc>
                <a:spcPct val="120000"/>
              </a:lnSpc>
            </a:pPr>
            <a:endParaRPr lang="en-US" altLang="zh-TW" b="1" dirty="0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TW" b="1" dirty="0" smtClean="0">
                <a:solidFill>
                  <a:srgbClr val="FF0000"/>
                </a:solidFill>
              </a:rPr>
              <a:t>Blocking</a:t>
            </a:r>
            <a:r>
              <a:rPr lang="en-US" altLang="zh-TW" dirty="0" smtClean="0">
                <a:solidFill>
                  <a:srgbClr val="FF0000"/>
                </a:solidFill>
              </a:rPr>
              <a:t> </a:t>
            </a:r>
            <a:r>
              <a:rPr lang="en-US" altLang="zh-TW" dirty="0"/>
              <a:t>- process suspended until I/O completed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dirty="0"/>
              <a:t>Easy to use but insufficient for some needs</a:t>
            </a:r>
          </a:p>
          <a:p>
            <a:pPr eaLnBrk="1" hangingPunct="1">
              <a:lnSpc>
                <a:spcPct val="120000"/>
              </a:lnSpc>
            </a:pPr>
            <a:endParaRPr lang="en-US" altLang="zh-TW" b="1" dirty="0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TW" b="1" dirty="0" smtClean="0">
                <a:solidFill>
                  <a:srgbClr val="FF0000"/>
                </a:solidFill>
              </a:rPr>
              <a:t>Nonblocking</a:t>
            </a:r>
            <a:r>
              <a:rPr lang="en-US" altLang="zh-TW" dirty="0" smtClean="0"/>
              <a:t> </a:t>
            </a:r>
            <a:r>
              <a:rPr lang="en-US" altLang="zh-TW" dirty="0"/>
              <a:t>- I/O call returns </a:t>
            </a:r>
            <a:r>
              <a:rPr lang="en-US" altLang="zh-TW" b="1" dirty="0"/>
              <a:t>immediately</a:t>
            </a:r>
            <a:r>
              <a:rPr lang="en-US" altLang="zh-TW" dirty="0"/>
              <a:t> with </a:t>
            </a:r>
            <a:r>
              <a:rPr lang="en-US" altLang="zh-TW" b="1" dirty="0"/>
              <a:t>as much as data </a:t>
            </a:r>
            <a:r>
              <a:rPr lang="en-US" altLang="zh-TW" dirty="0"/>
              <a:t>available (maybe zero)</a:t>
            </a:r>
          </a:p>
          <a:p>
            <a:pPr lvl="1" eaLnBrk="1" hangingPunct="1">
              <a:lnSpc>
                <a:spcPct val="120000"/>
              </a:lnSpc>
            </a:pPr>
            <a:endParaRPr lang="en-US" altLang="zh-TW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133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97905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/>
              <a:t>Blocking I/O</a:t>
            </a:r>
            <a:endParaRPr lang="zh-TW" altLang="en-US" dirty="0"/>
          </a:p>
        </p:txBody>
      </p:sp>
      <p:pic>
        <p:nvPicPr>
          <p:cNvPr id="5" name="Picture 2" descr="http://www.ibm.com/developerworks/library/l-async/figure2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749" y="1224434"/>
            <a:ext cx="7559675" cy="4868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134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15228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2586947" y="2123728"/>
            <a:ext cx="823535" cy="46085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Blocking I/O-based Message </a:t>
            </a:r>
            <a:r>
              <a:rPr lang="en-US" altLang="zh-TW" dirty="0"/>
              <a:t>Passing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3431704" y="1903494"/>
            <a:ext cx="4982857" cy="733418"/>
          </a:xfrm>
          <a:prstGeom prst="rect">
            <a:avLst/>
          </a:prstGeom>
          <a:solidFill>
            <a:schemeClr val="accent3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</a:pPr>
            <a:r>
              <a:rPr lang="en-US" altLang="zh-TW" sz="2000" b="1" dirty="0" err="1">
                <a:solidFill>
                  <a:srgbClr val="FF0000"/>
                </a:solidFill>
                <a:latin typeface="Calibri" panose="020F0502020204030204" pitchFamily="34" charset="0"/>
              </a:rPr>
              <a:t>send_msg</a:t>
            </a:r>
            <a:r>
              <a:rPr lang="en-US" altLang="zh-TW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()</a:t>
            </a:r>
            <a:endParaRPr lang="zh-TW" altLang="en-US" sz="20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441975" y="2504272"/>
            <a:ext cx="4972583" cy="14707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632" y="980728"/>
            <a:ext cx="6552728" cy="58326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3473468" y="5301208"/>
            <a:ext cx="822332" cy="58065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8476966" y="1052736"/>
            <a:ext cx="730707" cy="46085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/>
          <p:cNvSpPr/>
          <p:nvPr/>
        </p:nvSpPr>
        <p:spPr>
          <a:xfrm>
            <a:off x="2695521" y="2123728"/>
            <a:ext cx="730707" cy="46085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/>
          <p:cNvSpPr txBox="1"/>
          <p:nvPr/>
        </p:nvSpPr>
        <p:spPr>
          <a:xfrm>
            <a:off x="2240288" y="1215351"/>
            <a:ext cx="11914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Process A</a:t>
            </a:r>
            <a:endParaRPr lang="zh-TW" altLang="en-US" sz="20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451893" y="980728"/>
            <a:ext cx="4982857" cy="904160"/>
          </a:xfrm>
          <a:prstGeom prst="rect">
            <a:avLst/>
          </a:prstGeom>
          <a:solidFill>
            <a:schemeClr val="accent3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</a:pPr>
            <a:r>
              <a:rPr lang="en-US" altLang="zh-TW" sz="2000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receive()</a:t>
            </a:r>
            <a:endParaRPr lang="zh-TW" altLang="en-US" sz="20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弧形箭號 (左彎) 20"/>
          <p:cNvSpPr/>
          <p:nvPr/>
        </p:nvSpPr>
        <p:spPr>
          <a:xfrm flipV="1">
            <a:off x="8506220" y="1238447"/>
            <a:ext cx="923852" cy="4422799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451017" y="1753535"/>
            <a:ext cx="4972583" cy="14707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2282052" y="2060845"/>
            <a:ext cx="11914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Process B</a:t>
            </a:r>
            <a:endParaRPr lang="zh-TW" altLang="en-US" sz="20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弧形向右箭號 10"/>
          <p:cNvSpPr/>
          <p:nvPr/>
        </p:nvSpPr>
        <p:spPr>
          <a:xfrm>
            <a:off x="2571497" y="2504272"/>
            <a:ext cx="860208" cy="3228983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0" name="圓角矩形 9"/>
          <p:cNvSpPr/>
          <p:nvPr/>
        </p:nvSpPr>
        <p:spPr>
          <a:xfrm>
            <a:off x="839416" y="3570015"/>
            <a:ext cx="1618844" cy="79508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memory copy</a:t>
            </a:r>
            <a:endParaRPr lang="zh-TW" altLang="en-US" sz="24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463727" y="1914239"/>
            <a:ext cx="4982857" cy="737112"/>
          </a:xfrm>
          <a:prstGeom prst="rect">
            <a:avLst/>
          </a:prstGeom>
          <a:solidFill>
            <a:schemeClr val="accent3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</a:pPr>
            <a:r>
              <a:rPr lang="en-US" altLang="zh-TW" sz="2000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send()</a:t>
            </a:r>
            <a:endParaRPr lang="zh-TW" altLang="en-US" sz="20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457988" y="2511491"/>
            <a:ext cx="4972583" cy="14707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圓角矩形 19"/>
          <p:cNvSpPr/>
          <p:nvPr/>
        </p:nvSpPr>
        <p:spPr>
          <a:xfrm>
            <a:off x="9647614" y="3101963"/>
            <a:ext cx="1618844" cy="79508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memory copy</a:t>
            </a:r>
            <a:endParaRPr lang="zh-TW" altLang="en-US" sz="24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6712228" y="1196752"/>
            <a:ext cx="15440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blocked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5015880" y="5066020"/>
            <a:ext cx="25316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Queue is empty</a:t>
            </a:r>
            <a:endParaRPr lang="zh-TW" altLang="en-US" sz="2800" b="1" dirty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135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57725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21" grpId="0" animBg="1"/>
      <p:bldP spid="22" grpId="0" animBg="1"/>
      <p:bldP spid="11" grpId="0" animBg="1"/>
      <p:bldP spid="10" grpId="0" animBg="1"/>
      <p:bldP spid="27" grpId="0" animBg="1"/>
      <p:bldP spid="20" grpId="0" animBg="1"/>
      <p:bldP spid="3" grpId="0"/>
      <p:bldP spid="3" grpId="1"/>
      <p:bldP spid="4" grpId="0"/>
      <p:bldP spid="4" grpId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Non-Blocking I/O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6600056" y="6550739"/>
            <a:ext cx="55808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i="1" dirty="0">
                <a:latin typeface="Calibri" panose="020F0502020204030204" pitchFamily="34" charset="0"/>
              </a:rPr>
              <a:t>https://medium.com/@clu1022/%E6%B7%BA%E8%AB%87i-o-model-32da09c619e6</a:t>
            </a:r>
            <a:endParaRPr lang="zh-TW" altLang="en-US" sz="1200" b="1" i="1" dirty="0">
              <a:latin typeface="Calibri" panose="020F0502020204030204" pitchFamily="34" charset="0"/>
            </a:endParaRPr>
          </a:p>
        </p:txBody>
      </p:sp>
      <p:grpSp>
        <p:nvGrpSpPr>
          <p:cNvPr id="5" name="群組 4"/>
          <p:cNvGrpSpPr/>
          <p:nvPr/>
        </p:nvGrpSpPr>
        <p:grpSpPr>
          <a:xfrm>
            <a:off x="1991544" y="1196752"/>
            <a:ext cx="9012535" cy="4896520"/>
            <a:chOff x="2309813" y="1916113"/>
            <a:chExt cx="7572375" cy="4321175"/>
          </a:xfrm>
        </p:grpSpPr>
        <p:pic>
          <p:nvPicPr>
            <p:cNvPr id="6" name="Picture 2" descr="https://daemondshu.github.io/2019/12/24/System%20Design/Linux/Linux_IO/ubs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09813" y="1916113"/>
              <a:ext cx="7572375" cy="4321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矩形 6"/>
            <p:cNvSpPr/>
            <p:nvPr/>
          </p:nvSpPr>
          <p:spPr>
            <a:xfrm>
              <a:off x="2783632" y="2636912"/>
              <a:ext cx="360040" cy="33843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136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18705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2586947" y="2123728"/>
            <a:ext cx="823535" cy="46085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Non-Blocking I/O-based Message </a:t>
            </a:r>
            <a:r>
              <a:rPr lang="en-US" altLang="zh-TW" dirty="0"/>
              <a:t>Passing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3431704" y="1903494"/>
            <a:ext cx="4982857" cy="733418"/>
          </a:xfrm>
          <a:prstGeom prst="rect">
            <a:avLst/>
          </a:prstGeom>
          <a:solidFill>
            <a:schemeClr val="accent3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</a:pPr>
            <a:r>
              <a:rPr lang="en-US" altLang="zh-TW" sz="2000" b="1" dirty="0" err="1">
                <a:solidFill>
                  <a:srgbClr val="FF0000"/>
                </a:solidFill>
                <a:latin typeface="Calibri" panose="020F0502020204030204" pitchFamily="34" charset="0"/>
              </a:rPr>
              <a:t>send_msg</a:t>
            </a:r>
            <a:r>
              <a:rPr lang="en-US" altLang="zh-TW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()</a:t>
            </a:r>
            <a:endParaRPr lang="zh-TW" altLang="en-US" sz="20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441975" y="2504272"/>
            <a:ext cx="4972583" cy="14707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632" y="980728"/>
            <a:ext cx="6552728" cy="5832648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8476966" y="1052736"/>
            <a:ext cx="730707" cy="46085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/>
          <p:cNvSpPr/>
          <p:nvPr/>
        </p:nvSpPr>
        <p:spPr>
          <a:xfrm>
            <a:off x="2695521" y="2123728"/>
            <a:ext cx="730707" cy="46085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/>
          <p:cNvSpPr txBox="1"/>
          <p:nvPr/>
        </p:nvSpPr>
        <p:spPr>
          <a:xfrm>
            <a:off x="2240288" y="1215351"/>
            <a:ext cx="11914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Process A</a:t>
            </a:r>
            <a:endParaRPr lang="zh-TW" altLang="en-US" sz="20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451893" y="980728"/>
            <a:ext cx="4982857" cy="1143000"/>
          </a:xfrm>
          <a:prstGeom prst="rect">
            <a:avLst/>
          </a:prstGeom>
          <a:solidFill>
            <a:schemeClr val="accent3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en-US" altLang="zh-TW" sz="2000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receive()</a:t>
            </a:r>
          </a:p>
          <a:p>
            <a:pPr algn="ctr">
              <a:spcAft>
                <a:spcPts val="0"/>
              </a:spcAft>
            </a:pPr>
            <a:r>
              <a:rPr lang="en-US" altLang="zh-TW" sz="2000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receive()</a:t>
            </a:r>
          </a:p>
          <a:p>
            <a:pPr algn="ctr">
              <a:spcAft>
                <a:spcPts val="0"/>
              </a:spcAft>
            </a:pPr>
            <a:r>
              <a:rPr lang="en-US" altLang="zh-TW" sz="2000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…</a:t>
            </a:r>
            <a:endParaRPr lang="zh-TW" altLang="en-US" sz="20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2282052" y="2060845"/>
            <a:ext cx="11914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zh-TW" sz="2000" b="1" dirty="0" smtClean="0">
              <a:solidFill>
                <a:srgbClr val="FF0000"/>
              </a:solidFill>
              <a:latin typeface="Calibri" panose="020F0502020204030204" pitchFamily="34" charset="0"/>
            </a:endParaRPr>
          </a:p>
          <a:p>
            <a:r>
              <a:rPr lang="en-US" altLang="zh-TW" sz="2000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Process </a:t>
            </a:r>
            <a:r>
              <a:rPr lang="en-US" altLang="zh-TW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B</a:t>
            </a:r>
            <a:endParaRPr lang="zh-TW" altLang="en-US" sz="20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463727" y="2132856"/>
            <a:ext cx="4982857" cy="737112"/>
          </a:xfrm>
          <a:prstGeom prst="rect">
            <a:avLst/>
          </a:prstGeom>
          <a:solidFill>
            <a:schemeClr val="accent3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</a:pPr>
            <a:endParaRPr lang="zh-TW" altLang="en-US" sz="20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6712228" y="1196752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5015880" y="5066020"/>
            <a:ext cx="25316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Queue is empty</a:t>
            </a:r>
            <a:endParaRPr lang="zh-TW" altLang="en-US" sz="2800" b="1" dirty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137</a:t>
            </a:fld>
            <a:endParaRPr lang="en-US" altLang="zh-TW"/>
          </a:p>
        </p:txBody>
      </p:sp>
      <p:sp>
        <p:nvSpPr>
          <p:cNvPr id="23" name="矩形 22"/>
          <p:cNvSpPr/>
          <p:nvPr/>
        </p:nvSpPr>
        <p:spPr>
          <a:xfrm>
            <a:off x="8629366" y="1205136"/>
            <a:ext cx="730707" cy="46085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弧形箭號 (左彎) 27"/>
          <p:cNvSpPr/>
          <p:nvPr/>
        </p:nvSpPr>
        <p:spPr>
          <a:xfrm flipV="1">
            <a:off x="8506220" y="1238447"/>
            <a:ext cx="923852" cy="4422799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9" name="圓角矩形 28"/>
          <p:cNvSpPr/>
          <p:nvPr/>
        </p:nvSpPr>
        <p:spPr>
          <a:xfrm>
            <a:off x="9480376" y="3101963"/>
            <a:ext cx="1272922" cy="47105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EAGAIN</a:t>
            </a:r>
            <a:endParaRPr lang="zh-TW" altLang="en-US" sz="24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6796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28" grpId="0" animBg="1"/>
      <p:bldP spid="29" grpId="0" animBg="1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問題：如何實現</a:t>
            </a:r>
            <a:r>
              <a:rPr lang="en-US" altLang="zh-TW" dirty="0"/>
              <a:t>Shared Memory?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2973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Shared Memory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728" y="1412776"/>
            <a:ext cx="5112568" cy="5040560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74632AD-9D6A-45CC-A1CF-8EF7EBEC2259}" type="slidenum">
              <a:rPr lang="en-US" altLang="zh-TW" smtClean="0"/>
              <a:pPr>
                <a:defRPr/>
              </a:pPr>
              <a:t>139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57782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err="1"/>
              <a:t>Interprocess</a:t>
            </a:r>
            <a:r>
              <a:rPr lang="en-US" altLang="zh-TW" dirty="0"/>
              <a:t> Communication (IPC) (Cont.)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zh-TW" dirty="0"/>
              <a:t>Comparisons</a:t>
            </a:r>
          </a:p>
          <a:p>
            <a:pPr lvl="1" eaLnBrk="1" hangingPunct="1"/>
            <a:r>
              <a:rPr lang="en-US" altLang="zh-TW" b="1" dirty="0">
                <a:solidFill>
                  <a:srgbClr val="0000FF"/>
                </a:solidFill>
              </a:rPr>
              <a:t>Message passing</a:t>
            </a:r>
          </a:p>
          <a:p>
            <a:pPr lvl="2" eaLnBrk="1" hangingPunct="1"/>
            <a:r>
              <a:rPr lang="en-US" altLang="zh-TW" b="1" dirty="0"/>
              <a:t>Useful</a:t>
            </a:r>
            <a:r>
              <a:rPr lang="en-US" altLang="zh-TW" dirty="0"/>
              <a:t> for exchanging </a:t>
            </a:r>
            <a:r>
              <a:rPr lang="en-US" altLang="zh-TW" b="1" dirty="0"/>
              <a:t>smaller </a:t>
            </a:r>
            <a:r>
              <a:rPr lang="en-US" altLang="zh-TW" dirty="0"/>
              <a:t>amounts of data</a:t>
            </a:r>
          </a:p>
          <a:p>
            <a:pPr lvl="2" eaLnBrk="1" hangingPunct="1"/>
            <a:r>
              <a:rPr lang="en-US" altLang="zh-TW" dirty="0"/>
              <a:t>Easier to implement</a:t>
            </a:r>
          </a:p>
          <a:p>
            <a:pPr lvl="2" eaLnBrk="1" hangingPunct="1"/>
            <a:r>
              <a:rPr lang="en-US" altLang="zh-TW" b="1" dirty="0" smtClean="0"/>
              <a:t>Slower: </a:t>
            </a:r>
            <a:r>
              <a:rPr lang="en-US" altLang="zh-TW" dirty="0" smtClean="0"/>
              <a:t>requires </a:t>
            </a:r>
            <a:r>
              <a:rPr lang="en-US" altLang="zh-TW" b="1" dirty="0"/>
              <a:t>system calls </a:t>
            </a:r>
            <a:r>
              <a:rPr lang="en-US" altLang="zh-TW" dirty="0"/>
              <a:t>for sending/receiving messages (via </a:t>
            </a:r>
            <a:r>
              <a:rPr lang="en-US" altLang="zh-TW" b="1" dirty="0"/>
              <a:t>memory copying</a:t>
            </a:r>
            <a:r>
              <a:rPr lang="en-US" altLang="zh-TW" dirty="0"/>
              <a:t>)</a:t>
            </a:r>
          </a:p>
          <a:p>
            <a:pPr lvl="2" eaLnBrk="1" hangingPunct="1"/>
            <a:r>
              <a:rPr lang="en-US" altLang="zh-TW" dirty="0">
                <a:solidFill>
                  <a:srgbClr val="000000"/>
                </a:solidFill>
              </a:rPr>
              <a:t>No conflict need to be avoided</a:t>
            </a:r>
            <a:r>
              <a:rPr lang="en-US" altLang="zh-TW" dirty="0"/>
              <a:t> </a:t>
            </a:r>
            <a:r>
              <a:rPr lang="en-US" altLang="zh-TW" dirty="0" smtClean="0"/>
              <a:t>(introduced in Chapter 6)</a:t>
            </a:r>
            <a:endParaRPr lang="en-US" altLang="zh-TW" dirty="0"/>
          </a:p>
          <a:p>
            <a:pPr lvl="1" eaLnBrk="1" hangingPunct="1"/>
            <a:r>
              <a:rPr lang="en-US" altLang="zh-TW" b="1" dirty="0" smtClean="0">
                <a:solidFill>
                  <a:srgbClr val="0000FF"/>
                </a:solidFill>
              </a:rPr>
              <a:t>Shared </a:t>
            </a:r>
            <a:r>
              <a:rPr lang="en-US" altLang="zh-TW" b="1" dirty="0">
                <a:solidFill>
                  <a:srgbClr val="0000FF"/>
                </a:solidFill>
              </a:rPr>
              <a:t>memory</a:t>
            </a:r>
          </a:p>
          <a:p>
            <a:pPr lvl="2" eaLnBrk="1" hangingPunct="1"/>
            <a:r>
              <a:rPr lang="en-US" altLang="zh-TW" dirty="0" smtClean="0"/>
              <a:t>Faster: </a:t>
            </a:r>
            <a:r>
              <a:rPr lang="en-US" altLang="zh-TW" dirty="0"/>
              <a:t>requires </a:t>
            </a:r>
            <a:r>
              <a:rPr lang="en-US" altLang="zh-TW" b="1" dirty="0"/>
              <a:t>no</a:t>
            </a:r>
            <a:r>
              <a:rPr lang="en-US" altLang="zh-TW" dirty="0"/>
              <a:t> system calls when reading/writing data</a:t>
            </a:r>
          </a:p>
          <a:p>
            <a:pPr lvl="2" eaLnBrk="1" hangingPunct="1"/>
            <a:r>
              <a:rPr lang="en-US" altLang="zh-TW" dirty="0" smtClean="0">
                <a:solidFill>
                  <a:srgbClr val="000000"/>
                </a:solidFill>
              </a:rPr>
              <a:t>But </a:t>
            </a:r>
            <a:r>
              <a:rPr lang="en-US" altLang="zh-TW" dirty="0">
                <a:solidFill>
                  <a:srgbClr val="000000"/>
                </a:solidFill>
              </a:rPr>
              <a:t>need </a:t>
            </a:r>
            <a:r>
              <a:rPr lang="en-US" altLang="zh-TW" b="1" dirty="0">
                <a:solidFill>
                  <a:srgbClr val="FF0000"/>
                </a:solidFill>
              </a:rPr>
              <a:t>protection and </a:t>
            </a:r>
            <a:r>
              <a:rPr lang="en-US" altLang="zh-TW" b="1" dirty="0" smtClean="0">
                <a:solidFill>
                  <a:srgbClr val="FF0000"/>
                </a:solidFill>
              </a:rPr>
              <a:t>synchronization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/>
              <a:t>(introduced in Chapter 6)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140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51108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複習：</a:t>
            </a:r>
            <a:r>
              <a:rPr lang="en-US" altLang="zh-TW" dirty="0"/>
              <a:t>Microkernel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13620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Microkernel System Structure </a:t>
            </a:r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6614" y="1644650"/>
            <a:ext cx="8340725" cy="4592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142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84105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問題：為何</a:t>
            </a:r>
            <a:r>
              <a:rPr lang="en-US" altLang="zh-TW" dirty="0"/>
              <a:t>Microkernel</a:t>
            </a:r>
            <a:r>
              <a:rPr lang="zh-TW" altLang="en-US" dirty="0"/>
              <a:t>效能不好？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39400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/>
              <a:t>Microkernel (Cont.)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Advantages: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Easier to extend the OS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2000" dirty="0"/>
              <a:t>By adding </a:t>
            </a:r>
            <a:r>
              <a:rPr lang="en-US" altLang="zh-TW" sz="2000" b="1" dirty="0">
                <a:solidFill>
                  <a:srgbClr val="FF0000"/>
                </a:solidFill>
              </a:rPr>
              <a:t>new services </a:t>
            </a:r>
            <a:r>
              <a:rPr lang="en-US" altLang="zh-TW" sz="2000" dirty="0"/>
              <a:t>and do not require kernel modification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Easier to port the OS to new architectures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2000" dirty="0"/>
              <a:t>The kernel is small and the changes tend to be fewer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More reliable and more secure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2000" dirty="0"/>
              <a:t>Most services are running as user processes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2000" dirty="0"/>
              <a:t>If a service failed, the rest of the OS remains untouched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Disadvantages</a:t>
            </a:r>
            <a:r>
              <a:rPr lang="en-US" altLang="zh-TW" sz="2800" dirty="0"/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b="1" i="1" dirty="0">
                <a:solidFill>
                  <a:srgbClr val="FF3300"/>
                </a:solidFill>
              </a:rPr>
              <a:t>Performance overhead by </a:t>
            </a:r>
            <a:r>
              <a:rPr lang="en-US" altLang="zh-TW" sz="2400" b="1" i="1" dirty="0">
                <a:solidFill>
                  <a:srgbClr val="0000FF"/>
                </a:solidFill>
              </a:rPr>
              <a:t>message passing </a:t>
            </a:r>
            <a:r>
              <a:rPr lang="en-US" altLang="zh-TW" sz="2400" b="1" i="1" dirty="0">
                <a:solidFill>
                  <a:srgbClr val="FF3300"/>
                </a:solidFill>
              </a:rPr>
              <a:t>between services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Window NT: microkernel, Windows XP: a monolithic kernel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144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79383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複習結束：</a:t>
            </a:r>
            <a:r>
              <a:rPr lang="en-US" altLang="zh-TW" dirty="0"/>
              <a:t>Microkernel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4392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作業系統實驗會有一個</a:t>
            </a:r>
            <a:r>
              <a:rPr lang="en-US" altLang="zh-TW"/>
              <a:t>Linux </a:t>
            </a:r>
            <a:r>
              <a:rPr lang="en-US" altLang="zh-TW" smtClean="0"/>
              <a:t>IPC</a:t>
            </a:r>
            <a:r>
              <a:rPr lang="zh-TW" altLang="en-US" smtClean="0"/>
              <a:t>的</a:t>
            </a:r>
            <a:r>
              <a:rPr lang="zh-TW" altLang="en-US" dirty="0" smtClean="0"/>
              <a:t>實驗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8098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事實上</a:t>
            </a:r>
            <a:r>
              <a:rPr lang="en-US" altLang="zh-TW" dirty="0" smtClean="0"/>
              <a:t>, </a:t>
            </a:r>
            <a:r>
              <a:rPr lang="zh-TW" altLang="en-US" dirty="0" smtClean="0"/>
              <a:t>除了</a:t>
            </a:r>
            <a:r>
              <a:rPr lang="en-US" altLang="zh-TW" dirty="0" smtClean="0"/>
              <a:t>Message Passing</a:t>
            </a:r>
            <a:r>
              <a:rPr lang="zh-TW" altLang="en-US" dirty="0" smtClean="0"/>
              <a:t>和</a:t>
            </a:r>
            <a:r>
              <a:rPr lang="en-US" altLang="zh-TW" dirty="0" smtClean="0"/>
              <a:t>Shared Memory, </a:t>
            </a:r>
            <a:r>
              <a:rPr lang="zh-TW" altLang="en-US" dirty="0" smtClean="0"/>
              <a:t>還有許多可以使用在單一電腦或是</a:t>
            </a:r>
            <a:r>
              <a:rPr lang="zh-TW" altLang="en-US" dirty="0"/>
              <a:t>不同電腦之間</a:t>
            </a:r>
            <a:r>
              <a:rPr lang="zh-TW" altLang="en-US" dirty="0" smtClean="0"/>
              <a:t>的</a:t>
            </a:r>
            <a:r>
              <a:rPr lang="en-US" altLang="zh-TW" dirty="0" smtClean="0"/>
              <a:t>IPC</a:t>
            </a:r>
            <a:r>
              <a:rPr lang="zh-TW" altLang="en-US" dirty="0"/>
              <a:t>機制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43892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Other IPC Schemes</a:t>
            </a:r>
            <a:endParaRPr lang="en-US" altLang="zh-TW" dirty="0"/>
          </a:p>
        </p:txBody>
      </p:sp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zh-TW" dirty="0" smtClean="0"/>
              <a:t>Communication between processes (maybe in different computers) (Skip!)</a:t>
            </a:r>
          </a:p>
          <a:p>
            <a:pPr lvl="1" eaLnBrk="1" hangingPunct="1">
              <a:spcBef>
                <a:spcPts val="600"/>
              </a:spcBef>
            </a:pPr>
            <a:endParaRPr lang="en-US" altLang="zh-TW" dirty="0" smtClean="0"/>
          </a:p>
          <a:p>
            <a:pPr lvl="1" eaLnBrk="1" hangingPunct="1">
              <a:spcBef>
                <a:spcPts val="600"/>
              </a:spcBef>
            </a:pPr>
            <a:r>
              <a:rPr lang="en-US" altLang="zh-TW" dirty="0" smtClean="0"/>
              <a:t>Sockets</a:t>
            </a:r>
          </a:p>
          <a:p>
            <a:pPr lvl="1" eaLnBrk="1" hangingPunct="1">
              <a:spcBef>
                <a:spcPts val="600"/>
              </a:spcBef>
            </a:pPr>
            <a:endParaRPr lang="en-US" altLang="zh-TW" dirty="0" smtClean="0"/>
          </a:p>
          <a:p>
            <a:pPr lvl="1" eaLnBrk="1" hangingPunct="1">
              <a:spcBef>
                <a:spcPts val="600"/>
              </a:spcBef>
            </a:pPr>
            <a:r>
              <a:rPr lang="en-US" altLang="zh-TW" dirty="0" smtClean="0"/>
              <a:t>Remote Procedure Calls (RPC)</a:t>
            </a:r>
          </a:p>
          <a:p>
            <a:pPr lvl="1" eaLnBrk="1" hangingPunct="1">
              <a:spcBef>
                <a:spcPts val="600"/>
              </a:spcBef>
            </a:pPr>
            <a:endParaRPr lang="en-US" altLang="zh-TW" dirty="0" smtClean="0"/>
          </a:p>
          <a:p>
            <a:pPr lvl="1" eaLnBrk="1" hangingPunct="1">
              <a:spcBef>
                <a:spcPts val="600"/>
              </a:spcBef>
            </a:pPr>
            <a:r>
              <a:rPr lang="en-US" altLang="zh-TW" dirty="0" smtClean="0"/>
              <a:t>pipe()</a:t>
            </a:r>
            <a:endParaRPr lang="en-US" altLang="zh-TW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148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作業系統實驗會有一個</a:t>
            </a:r>
            <a:r>
              <a:rPr lang="en-US" altLang="zh-TW" dirty="0" smtClean="0"/>
              <a:t>Socket</a:t>
            </a:r>
            <a:r>
              <a:rPr lang="zh-TW" altLang="en-US" dirty="0" smtClean="0"/>
              <a:t>的實驗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2085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snetppt">
  <a:themeElements>
    <a:clrScheme name="osnetpp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snetppt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snet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osnetppt">
  <a:themeElements>
    <a:clrScheme name="osnetpp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snetppt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snet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4_osnetppt">
  <a:themeElements>
    <a:clrScheme name="osnetpp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snetppt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snet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6_osnetppt">
  <a:themeElements>
    <a:clrScheme name="osnetpp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snetppt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snet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8_osnetppt">
  <a:themeElements>
    <a:clrScheme name="osnetpp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snetppt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snet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9_osnetppt">
  <a:themeElements>
    <a:clrScheme name="osnetpp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snetppt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snet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osnetppt">
  <a:themeElements>
    <a:clrScheme name="osnetpp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snetppt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snet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8924</TotalTime>
  <Words>3873</Words>
  <Application>Microsoft Office PowerPoint</Application>
  <PresentationFormat>寬螢幕</PresentationFormat>
  <Paragraphs>1012</Paragraphs>
  <Slides>149</Slides>
  <Notes>0</Notes>
  <HiddenSlides>0</HiddenSlides>
  <MMClips>0</MMClips>
  <ScaleCrop>false</ScaleCrop>
  <HeadingPairs>
    <vt:vector size="8" baseType="variant">
      <vt:variant>
        <vt:lpstr>使用字型</vt:lpstr>
      </vt:variant>
      <vt:variant>
        <vt:i4>14</vt:i4>
      </vt:variant>
      <vt:variant>
        <vt:lpstr>佈景主題</vt:lpstr>
      </vt:variant>
      <vt:variant>
        <vt:i4>8</vt:i4>
      </vt:variant>
      <vt:variant>
        <vt:lpstr>內嵌 OLE 伺服程式</vt:lpstr>
      </vt:variant>
      <vt:variant>
        <vt:i4>2</vt:i4>
      </vt:variant>
      <vt:variant>
        <vt:lpstr>投影片標題</vt:lpstr>
      </vt:variant>
      <vt:variant>
        <vt:i4>149</vt:i4>
      </vt:variant>
    </vt:vector>
  </HeadingPairs>
  <TitlesOfParts>
    <vt:vector size="173" baseType="lpstr">
      <vt:lpstr>Arial Unicode MS</vt:lpstr>
      <vt:lpstr>Monotype Sorts</vt:lpstr>
      <vt:lpstr>新細明體</vt:lpstr>
      <vt:lpstr>標楷體</vt:lpstr>
      <vt:lpstr>Agency FB</vt:lpstr>
      <vt:lpstr>Arial</vt:lpstr>
      <vt:lpstr>Arial Rounded MT Bold</vt:lpstr>
      <vt:lpstr>Bookman Old Style</vt:lpstr>
      <vt:lpstr>Calibri</vt:lpstr>
      <vt:lpstr>Courier New</vt:lpstr>
      <vt:lpstr>Helvetica</vt:lpstr>
      <vt:lpstr>Symbol</vt:lpstr>
      <vt:lpstr>Tahoma</vt:lpstr>
      <vt:lpstr>Times New Roman</vt:lpstr>
      <vt:lpstr>osnetppt</vt:lpstr>
      <vt:lpstr>1_osnetppt</vt:lpstr>
      <vt:lpstr>Office Theme</vt:lpstr>
      <vt:lpstr>4_osnetppt</vt:lpstr>
      <vt:lpstr>6_osnetppt</vt:lpstr>
      <vt:lpstr>8_osnetppt</vt:lpstr>
      <vt:lpstr>9_osnetppt</vt:lpstr>
      <vt:lpstr>2_osnetppt</vt:lpstr>
      <vt:lpstr>點陣圖影像</vt:lpstr>
      <vt:lpstr>VISIO</vt:lpstr>
      <vt:lpstr>Chapter 3: Processes</vt:lpstr>
      <vt:lpstr>Outline</vt:lpstr>
      <vt:lpstr>Outline</vt:lpstr>
      <vt:lpstr>What is a process?</vt:lpstr>
      <vt:lpstr>Overview</vt:lpstr>
      <vt:lpstr>Programs and Processes</vt:lpstr>
      <vt:lpstr>如何讓Process順利執行呢?</vt:lpstr>
      <vt:lpstr>Process執行時需要什麼資源呢?</vt:lpstr>
      <vt:lpstr>Overview (Cont.)</vt:lpstr>
      <vt:lpstr>本章關注於CPU和記憶體~</vt:lpstr>
      <vt:lpstr>CPU and Memory Used by a Process</vt:lpstr>
      <vt:lpstr>複習: EIP (or PC)</vt:lpstr>
      <vt:lpstr>為什麼要分為text section, data section, stack section and heap section?</vt:lpstr>
      <vt:lpstr>複習:Example: Adding and Subtracting Integers</vt:lpstr>
      <vt:lpstr>為什麼使用stack section儲存parameter, return address, local variables? </vt:lpstr>
      <vt:lpstr>複習: Stack: Example 1</vt:lpstr>
      <vt:lpstr>複習: Stack: Example 2</vt:lpstr>
      <vt:lpstr>複習: Stack: Example 3</vt:lpstr>
      <vt:lpstr>Heap section的用途? </vt:lpstr>
      <vt:lpstr>Heap</vt:lpstr>
      <vt:lpstr>為什麼stack and heap sections要動態分配? </vt:lpstr>
      <vt:lpstr>Actual Memory Layout of a C Program</vt:lpstr>
      <vt:lpstr>Actual Memory Layout of a C Program</vt:lpstr>
      <vt:lpstr>Actual Memory Layout of a Process</vt:lpstr>
      <vt:lpstr>Memory Layout of a C Program</vt:lpstr>
      <vt:lpstr>為什麼沒有stack and heap sections的sizes? </vt:lpstr>
      <vt:lpstr>Outline</vt:lpstr>
      <vt:lpstr>如何讓Process順利執行呢?</vt:lpstr>
      <vt:lpstr>Process State</vt:lpstr>
      <vt:lpstr>Diagram of Process State</vt:lpstr>
      <vt:lpstr>為什麼要維護process的狀態? 由誰維護的呢?</vt:lpstr>
      <vt:lpstr>Outline</vt:lpstr>
      <vt:lpstr>如何讓Process順利執行呢?</vt:lpstr>
      <vt:lpstr>由誰紀錄呢?</vt:lpstr>
      <vt:lpstr>Process Control Block (PCB) (or Process Descriptor) </vt:lpstr>
      <vt:lpstr>紀錄哪些資訊呢?</vt:lpstr>
      <vt:lpstr>Process Control Block (PCB) (Cont.) </vt:lpstr>
      <vt:lpstr>Process Control Block (PCB)</vt:lpstr>
      <vt:lpstr>Process Control Block (PCB)</vt:lpstr>
      <vt:lpstr>Process Representation in Linux</vt:lpstr>
      <vt:lpstr>Accounting</vt:lpstr>
      <vt:lpstr>Outline</vt:lpstr>
      <vt:lpstr>Outline</vt:lpstr>
      <vt:lpstr>什麼是CPU Scheduler?</vt:lpstr>
      <vt:lpstr>CPU Scheduling</vt:lpstr>
      <vt:lpstr>CPU Scheduler</vt:lpstr>
      <vt:lpstr>Question: 如何選擇呢?</vt:lpstr>
      <vt:lpstr>CPU Scheduling (CPU)</vt:lpstr>
      <vt:lpstr>詳細的CPU排程演算法會在第五章介紹!</vt:lpstr>
      <vt:lpstr>Outline</vt:lpstr>
      <vt:lpstr>CPU Scheduler需要什麼資料結構？</vt:lpstr>
      <vt:lpstr>Scheduling Queues</vt:lpstr>
      <vt:lpstr>複習: Diagram of Process State</vt:lpstr>
      <vt:lpstr>The Ready Queue and Wait Queues</vt:lpstr>
      <vt:lpstr>A Simple Queuing-Diagram Representation of Processes</vt:lpstr>
      <vt:lpstr>Outline</vt:lpstr>
      <vt:lpstr>CPU排程演算法會伴隨Context Switch!</vt:lpstr>
      <vt:lpstr>Context Switch</vt:lpstr>
      <vt:lpstr>  複習：  問題: What is a state?</vt:lpstr>
      <vt:lpstr>複習：Storage-Device Hierarchy</vt:lpstr>
      <vt:lpstr>Context Switch (Cont.)</vt:lpstr>
      <vt:lpstr>簡而言之, context (state)就是程式執行到某一行時的狀態</vt:lpstr>
      <vt:lpstr>因此, 當從P1切換到P2執行時(也就是context switch), 我們必須確保P1的狀態不會被P2破壞</vt:lpstr>
      <vt:lpstr>複習：暫存器內容被破壞</vt:lpstr>
      <vt:lpstr>Q: 怎麼辦呢?</vt:lpstr>
      <vt:lpstr>所以，切換Process時 (Context Switch)，必須要儲存當下Process的state，然後復原接下來要執行的Process的state!  </vt:lpstr>
      <vt:lpstr>Q: 儲存的state要放在哪裡呢?</vt:lpstr>
      <vt:lpstr>Context Switch</vt:lpstr>
      <vt:lpstr>Context Switch</vt:lpstr>
      <vt:lpstr>Context Switch 1</vt:lpstr>
      <vt:lpstr>Context Switch 2</vt:lpstr>
      <vt:lpstr>但是, ISR(Interrupt Service Routine)執行時不需要對ISR做state restore和state save</vt:lpstr>
      <vt:lpstr>CPU Dispatch an Interrupt to ISR</vt:lpstr>
      <vt:lpstr>比較：ISR Has no State to Be Saved/Restored</vt:lpstr>
      <vt:lpstr>Q: 為什麼不需要對ISR做state restore和state save呢? </vt:lpstr>
      <vt:lpstr>Context Switch (Cont.)</vt:lpstr>
      <vt:lpstr>複習: Context Switch</vt:lpstr>
      <vt:lpstr>Context Switch (Cont.)</vt:lpstr>
      <vt:lpstr>複習：Related Instructions</vt:lpstr>
      <vt:lpstr>Multiple Sets of Registers</vt:lpstr>
      <vt:lpstr>Q: 前面只關心CPU內部暫存器的狀態, 當context switch時, 那P1的記憶體內容(變數)和硬碟內容(檔案)也會被P2破壞嗎?</vt:lpstr>
      <vt:lpstr>Q: 怎樣的情形下會被破壞?</vt:lpstr>
      <vt:lpstr>複習: Multiple Sets of Registers</vt:lpstr>
      <vt:lpstr>所以, P1的記憶體(變數)和硬碟(檔案)也會被P2破壞嗎?</vt:lpstr>
      <vt:lpstr>此外, 記憶體(變數)和硬碟(檔案)的共享問題必須由應用程式自已解決, OS不處理. Why?</vt:lpstr>
      <vt:lpstr>Outline</vt:lpstr>
      <vt:lpstr>問題：如何產生(建立) 一個process?</vt:lpstr>
      <vt:lpstr>Q1：誰決定產生(建立) 一個process?</vt:lpstr>
      <vt:lpstr>Q2：誰負責創建一個process?</vt:lpstr>
      <vt:lpstr>Q3：應用程式如何請OS創建一個process?</vt:lpstr>
      <vt:lpstr>所以,當Double Click某一個應用程式，發生了什麼事情呢?</vt:lpstr>
      <vt:lpstr>Process Creation</vt:lpstr>
      <vt:lpstr>A Tree of Processes in Linux</vt:lpstr>
      <vt:lpstr>在Linux, 如何創建一個process?</vt:lpstr>
      <vt:lpstr>The fork() System Call</vt:lpstr>
      <vt:lpstr>在fork()中, child會跟parent執行相同的程式, 但如果child想載入不同的程式執行呢?</vt:lpstr>
      <vt:lpstr>The exec() System Call</vt:lpstr>
      <vt:lpstr>呼叫fork()之後, parent和child就並行執行, 但如果parent想等待child結束再繼續執行呢?</vt:lpstr>
      <vt:lpstr>看一個簡單的例子</vt:lpstr>
      <vt:lpstr>UNIX Process Creation</vt:lpstr>
      <vt:lpstr>C Program Forking Process</vt:lpstr>
      <vt:lpstr>PowerPoint 簡報</vt:lpstr>
      <vt:lpstr>Flow Diagram in above Program</vt:lpstr>
      <vt:lpstr>所以, 我們有以下的整理~</vt:lpstr>
      <vt:lpstr>Process Creation (Cont.)</vt:lpstr>
      <vt:lpstr>Process Creation (Cont.)</vt:lpstr>
      <vt:lpstr>在之前的例子中, parent和child的選擇是什麼呢?</vt:lpstr>
      <vt:lpstr>Process Creation (Cont.)</vt:lpstr>
      <vt:lpstr>Process Creation (Cont.)</vt:lpstr>
      <vt:lpstr>注意: 不同的程式可能會有不同的選擇~</vt:lpstr>
      <vt:lpstr>Outline</vt:lpstr>
      <vt:lpstr>類似fork(), OS會提供system call (exit()), 讓應用程式呼叫結束執行</vt:lpstr>
      <vt:lpstr>Process Termination</vt:lpstr>
      <vt:lpstr>PowerPoint 簡報</vt:lpstr>
      <vt:lpstr>Q: 如果child先結束執行(呼叫exit()), 但是parent還沒有呼叫wait(), 會發生什麼問題呢?</vt:lpstr>
      <vt:lpstr>Zombie Process</vt:lpstr>
      <vt:lpstr>Zombie Process</vt:lpstr>
      <vt:lpstr>Zombie Process</vt:lpstr>
      <vt:lpstr>Q: 如果parent比child先結束執行, 會發生什麼問題呢?</vt:lpstr>
      <vt:lpstr>Orphans Process</vt:lpstr>
      <vt:lpstr>Q: 怎麼辦呢? Who calls wait()?</vt:lpstr>
      <vt:lpstr>Orphans Process</vt:lpstr>
      <vt:lpstr>Orphans Process</vt:lpstr>
      <vt:lpstr>複習: A Tree of Processes in Linux</vt:lpstr>
      <vt:lpstr>作業系統實驗會有一個Linux Process Control的實驗</vt:lpstr>
      <vt:lpstr>Outline</vt:lpstr>
      <vt:lpstr>YouTube會產生兩個processes: 一個負責前端以及畫面撥放, 另一個負責聲音的產生</vt:lpstr>
      <vt:lpstr>Interprocess Communication (IPC)</vt:lpstr>
      <vt:lpstr>IPC Models </vt:lpstr>
      <vt:lpstr>問題：如何實現Message Passing?</vt:lpstr>
      <vt:lpstr>Message Passing</vt:lpstr>
      <vt:lpstr>Message-Passing Systems</vt:lpstr>
      <vt:lpstr>Blocking and Nonblocking</vt:lpstr>
      <vt:lpstr>Blocking I/O</vt:lpstr>
      <vt:lpstr>Blocking I/O-based Message Passing</vt:lpstr>
      <vt:lpstr>Non-Blocking I/O</vt:lpstr>
      <vt:lpstr>Non-Blocking I/O-based Message Passing</vt:lpstr>
      <vt:lpstr>問題：如何實現Shared Memory?</vt:lpstr>
      <vt:lpstr>Shared Memory</vt:lpstr>
      <vt:lpstr>Interprocess Communication (IPC) (Cont.)</vt:lpstr>
      <vt:lpstr>複習：Microkernel</vt:lpstr>
      <vt:lpstr>Microkernel System Structure </vt:lpstr>
      <vt:lpstr>問題：為何Microkernel效能不好？</vt:lpstr>
      <vt:lpstr>Microkernel (Cont.)</vt:lpstr>
      <vt:lpstr>複習結束：Microkernel</vt:lpstr>
      <vt:lpstr>作業系統實驗會有一個Linux IPC的實驗</vt:lpstr>
      <vt:lpstr>事實上, 除了Message Passing和Shared Memory, 還有許多可以使用在單一電腦或是不同電腦之間的IPC機制</vt:lpstr>
      <vt:lpstr>Other IPC Schemes</vt:lpstr>
      <vt:lpstr>作業系統實驗會有一個Socket的實驗</vt:lpstr>
    </vt:vector>
  </TitlesOfParts>
  <Company>NCHU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CJSREX</dc:creator>
  <cp:lastModifiedBy>hpchang</cp:lastModifiedBy>
  <cp:revision>2003</cp:revision>
  <dcterms:created xsi:type="dcterms:W3CDTF">2007-09-05T09:28:55Z</dcterms:created>
  <dcterms:modified xsi:type="dcterms:W3CDTF">2025-09-29T05:10:34Z</dcterms:modified>
</cp:coreProperties>
</file>