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713" r:id="rId2"/>
    <p:sldMasterId id="2147483725" r:id="rId3"/>
  </p:sldMasterIdLst>
  <p:notesMasterIdLst>
    <p:notesMasterId r:id="rId250"/>
  </p:notesMasterIdLst>
  <p:sldIdLst>
    <p:sldId id="280" r:id="rId4"/>
    <p:sldId id="343" r:id="rId5"/>
    <p:sldId id="344" r:id="rId6"/>
    <p:sldId id="597" r:id="rId7"/>
    <p:sldId id="346" r:id="rId8"/>
    <p:sldId id="347" r:id="rId9"/>
    <p:sldId id="650" r:id="rId10"/>
    <p:sldId id="620" r:id="rId11"/>
    <p:sldId id="621" r:id="rId12"/>
    <p:sldId id="651" r:id="rId13"/>
    <p:sldId id="623" r:id="rId14"/>
    <p:sldId id="745" r:id="rId15"/>
    <p:sldId id="746" r:id="rId16"/>
    <p:sldId id="438" r:id="rId17"/>
    <p:sldId id="705" r:id="rId18"/>
    <p:sldId id="706" r:id="rId19"/>
    <p:sldId id="704" r:id="rId20"/>
    <p:sldId id="742" r:id="rId21"/>
    <p:sldId id="743" r:id="rId22"/>
    <p:sldId id="744" r:id="rId23"/>
    <p:sldId id="747" r:id="rId24"/>
    <p:sldId id="656" r:id="rId25"/>
    <p:sldId id="523" r:id="rId26"/>
    <p:sldId id="349" r:id="rId27"/>
    <p:sldId id="598" r:id="rId28"/>
    <p:sldId id="657" r:id="rId29"/>
    <p:sldId id="658" r:id="rId30"/>
    <p:sldId id="530" r:id="rId31"/>
    <p:sldId id="531" r:id="rId32"/>
    <p:sldId id="659" r:id="rId33"/>
    <p:sldId id="352" r:id="rId34"/>
    <p:sldId id="643" r:id="rId35"/>
    <p:sldId id="660" r:id="rId36"/>
    <p:sldId id="632" r:id="rId37"/>
    <p:sldId id="524" r:id="rId38"/>
    <p:sldId id="355" r:id="rId39"/>
    <p:sldId id="287" r:id="rId40"/>
    <p:sldId id="356" r:id="rId41"/>
    <p:sldId id="661" r:id="rId42"/>
    <p:sldId id="587" r:id="rId43"/>
    <p:sldId id="662" r:id="rId44"/>
    <p:sldId id="618" r:id="rId45"/>
    <p:sldId id="666" r:id="rId46"/>
    <p:sldId id="750" r:id="rId47"/>
    <p:sldId id="749" r:id="rId48"/>
    <p:sldId id="751" r:id="rId49"/>
    <p:sldId id="664" r:id="rId50"/>
    <p:sldId id="663" r:id="rId51"/>
    <p:sldId id="601" r:id="rId52"/>
    <p:sldId id="667" r:id="rId53"/>
    <p:sldId id="665" r:id="rId54"/>
    <p:sldId id="752" r:id="rId55"/>
    <p:sldId id="753" r:id="rId56"/>
    <p:sldId id="755" r:id="rId57"/>
    <p:sldId id="756" r:id="rId58"/>
    <p:sldId id="532" r:id="rId59"/>
    <p:sldId id="535" r:id="rId60"/>
    <p:sldId id="757" r:id="rId61"/>
    <p:sldId id="754" r:id="rId62"/>
    <p:sldId id="758" r:id="rId63"/>
    <p:sldId id="574" r:id="rId64"/>
    <p:sldId id="748" r:id="rId65"/>
    <p:sldId id="525" r:id="rId66"/>
    <p:sldId id="606" r:id="rId67"/>
    <p:sldId id="537" r:id="rId68"/>
    <p:sldId id="554" r:id="rId69"/>
    <p:sldId id="575" r:id="rId70"/>
    <p:sldId id="767" r:id="rId71"/>
    <p:sldId id="759" r:id="rId72"/>
    <p:sldId id="765" r:id="rId73"/>
    <p:sldId id="605" r:id="rId74"/>
    <p:sldId id="668" r:id="rId75"/>
    <p:sldId id="541" r:id="rId76"/>
    <p:sldId id="766" r:id="rId77"/>
    <p:sldId id="760" r:id="rId78"/>
    <p:sldId id="761" r:id="rId79"/>
    <p:sldId id="762" r:id="rId80"/>
    <p:sldId id="763" r:id="rId81"/>
    <p:sldId id="764" r:id="rId82"/>
    <p:sldId id="588" r:id="rId83"/>
    <p:sldId id="555" r:id="rId84"/>
    <p:sldId id="669" r:id="rId85"/>
    <p:sldId id="581" r:id="rId86"/>
    <p:sldId id="670" r:id="rId87"/>
    <p:sldId id="582" r:id="rId88"/>
    <p:sldId id="672" r:id="rId89"/>
    <p:sldId id="671" r:id="rId90"/>
    <p:sldId id="769" r:id="rId91"/>
    <p:sldId id="768" r:id="rId92"/>
    <p:sldId id="772" r:id="rId93"/>
    <p:sldId id="773" r:id="rId94"/>
    <p:sldId id="771" r:id="rId95"/>
    <p:sldId id="584" r:id="rId96"/>
    <p:sldId id="774" r:id="rId97"/>
    <p:sldId id="673" r:id="rId98"/>
    <p:sldId id="593" r:id="rId99"/>
    <p:sldId id="674" r:id="rId100"/>
    <p:sldId id="361" r:id="rId101"/>
    <p:sldId id="675" r:id="rId102"/>
    <p:sldId id="362" r:id="rId103"/>
    <p:sldId id="447" r:id="rId104"/>
    <p:sldId id="775" r:id="rId105"/>
    <p:sldId id="776" r:id="rId106"/>
    <p:sldId id="777" r:id="rId107"/>
    <p:sldId id="778" r:id="rId108"/>
    <p:sldId id="779" r:id="rId109"/>
    <p:sldId id="782" r:id="rId110"/>
    <p:sldId id="781" r:id="rId111"/>
    <p:sldId id="780" r:id="rId112"/>
    <p:sldId id="783" r:id="rId113"/>
    <p:sldId id="676" r:id="rId114"/>
    <p:sldId id="364" r:id="rId115"/>
    <p:sldId id="677" r:id="rId116"/>
    <p:sldId id="365" r:id="rId117"/>
    <p:sldId id="448" r:id="rId118"/>
    <p:sldId id="678" r:id="rId119"/>
    <p:sldId id="511" r:id="rId120"/>
    <p:sldId id="485" r:id="rId121"/>
    <p:sldId id="680" r:id="rId122"/>
    <p:sldId id="679" r:id="rId123"/>
    <p:sldId id="449" r:id="rId124"/>
    <p:sldId id="784" r:id="rId125"/>
    <p:sldId id="785" r:id="rId126"/>
    <p:sldId id="486" r:id="rId127"/>
    <p:sldId id="607" r:id="rId128"/>
    <p:sldId id="556" r:id="rId129"/>
    <p:sldId id="546" r:id="rId130"/>
    <p:sldId id="549" r:id="rId131"/>
    <p:sldId id="589" r:id="rId132"/>
    <p:sldId id="683" r:id="rId133"/>
    <p:sldId id="681" r:id="rId134"/>
    <p:sldId id="684" r:id="rId135"/>
    <p:sldId id="685" r:id="rId136"/>
    <p:sldId id="686" r:id="rId137"/>
    <p:sldId id="635" r:id="rId138"/>
    <p:sldId id="687" r:id="rId139"/>
    <p:sldId id="551" r:id="rId140"/>
    <p:sldId id="526" r:id="rId141"/>
    <p:sldId id="633" r:id="rId142"/>
    <p:sldId id="372" r:id="rId143"/>
    <p:sldId id="688" r:id="rId144"/>
    <p:sldId id="631" r:id="rId145"/>
    <p:sldId id="689" r:id="rId146"/>
    <p:sldId id="690" r:id="rId147"/>
    <p:sldId id="691" r:id="rId148"/>
    <p:sldId id="494" r:id="rId149"/>
    <p:sldId id="692" r:id="rId150"/>
    <p:sldId id="604" r:id="rId151"/>
    <p:sldId id="610" r:id="rId152"/>
    <p:sldId id="506" r:id="rId153"/>
    <p:sldId id="514" r:id="rId154"/>
    <p:sldId id="723" r:id="rId155"/>
    <p:sldId id="693" r:id="rId156"/>
    <p:sldId id="694" r:id="rId157"/>
    <p:sldId id="695" r:id="rId158"/>
    <p:sldId id="696" r:id="rId159"/>
    <p:sldId id="701" r:id="rId160"/>
    <p:sldId id="702" r:id="rId161"/>
    <p:sldId id="697" r:id="rId162"/>
    <p:sldId id="698" r:id="rId163"/>
    <p:sldId id="703" r:id="rId164"/>
    <p:sldId id="724" r:id="rId165"/>
    <p:sldId id="700" r:id="rId166"/>
    <p:sldId id="636" r:id="rId167"/>
    <p:sldId id="613" r:id="rId168"/>
    <p:sldId id="707" r:id="rId169"/>
    <p:sldId id="708" r:id="rId170"/>
    <p:sldId id="709" r:id="rId171"/>
    <p:sldId id="710" r:id="rId172"/>
    <p:sldId id="590" r:id="rId173"/>
    <p:sldId id="711" r:id="rId174"/>
    <p:sldId id="712" r:id="rId175"/>
    <p:sldId id="713" r:id="rId176"/>
    <p:sldId id="714" r:id="rId177"/>
    <p:sldId id="715" r:id="rId178"/>
    <p:sldId id="716" r:id="rId179"/>
    <p:sldId id="717" r:id="rId180"/>
    <p:sldId id="718" r:id="rId181"/>
    <p:sldId id="591" r:id="rId182"/>
    <p:sldId id="648" r:id="rId183"/>
    <p:sldId id="527" r:id="rId184"/>
    <p:sldId id="727" r:id="rId185"/>
    <p:sldId id="726" r:id="rId186"/>
    <p:sldId id="369" r:id="rId187"/>
    <p:sldId id="721" r:id="rId188"/>
    <p:sldId id="725" r:id="rId189"/>
    <p:sldId id="373" r:id="rId190"/>
    <p:sldId id="558" r:id="rId191"/>
    <p:sldId id="728" r:id="rId192"/>
    <p:sldId id="376" r:id="rId193"/>
    <p:sldId id="611" r:id="rId194"/>
    <p:sldId id="722" r:id="rId195"/>
    <p:sldId id="729" r:id="rId196"/>
    <p:sldId id="451" r:id="rId197"/>
    <p:sldId id="731" r:id="rId198"/>
    <p:sldId id="730" r:id="rId199"/>
    <p:sldId id="468" r:id="rId200"/>
    <p:sldId id="638" r:id="rId201"/>
    <p:sldId id="528" r:id="rId202"/>
    <p:sldId id="634" r:id="rId203"/>
    <p:sldId id="565" r:id="rId204"/>
    <p:sldId id="407" r:id="rId205"/>
    <p:sldId id="395" r:id="rId206"/>
    <p:sldId id="311" r:id="rId207"/>
    <p:sldId id="616" r:id="rId208"/>
    <p:sldId id="473" r:id="rId209"/>
    <p:sldId id="733" r:id="rId210"/>
    <p:sldId id="396" r:id="rId211"/>
    <p:sldId id="313" r:id="rId212"/>
    <p:sldId id="474" r:id="rId213"/>
    <p:sldId id="734" r:id="rId214"/>
    <p:sldId id="397" r:id="rId215"/>
    <p:sldId id="566" r:id="rId216"/>
    <p:sldId id="735" r:id="rId217"/>
    <p:sldId id="786" r:id="rId218"/>
    <p:sldId id="483" r:id="rId219"/>
    <p:sldId id="787" r:id="rId220"/>
    <p:sldId id="458" r:id="rId221"/>
    <p:sldId id="736" r:id="rId222"/>
    <p:sldId id="788" r:id="rId223"/>
    <p:sldId id="404" r:id="rId224"/>
    <p:sldId id="405" r:id="rId225"/>
    <p:sldId id="645" r:id="rId226"/>
    <p:sldId id="737" r:id="rId227"/>
    <p:sldId id="647" r:id="rId228"/>
    <p:sldId id="641" r:id="rId229"/>
    <p:sldId id="487" r:id="rId230"/>
    <p:sldId id="567" r:id="rId231"/>
    <p:sldId id="408" r:id="rId232"/>
    <p:sldId id="639" r:id="rId233"/>
    <p:sldId id="564" r:id="rId234"/>
    <p:sldId id="569" r:id="rId235"/>
    <p:sldId id="561" r:id="rId236"/>
    <p:sldId id="562" r:id="rId237"/>
    <p:sldId id="738" r:id="rId238"/>
    <p:sldId id="563" r:id="rId239"/>
    <p:sldId id="568" r:id="rId240"/>
    <p:sldId id="571" r:id="rId241"/>
    <p:sldId id="789" r:id="rId242"/>
    <p:sldId id="792" r:id="rId243"/>
    <p:sldId id="791" r:id="rId244"/>
    <p:sldId id="739" r:id="rId245"/>
    <p:sldId id="741" r:id="rId246"/>
    <p:sldId id="573" r:id="rId247"/>
    <p:sldId id="740" r:id="rId248"/>
    <p:sldId id="570" r:id="rId249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000000"/>
    <a:srgbClr val="00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00" autoAdjust="0"/>
    <p:restoredTop sz="94660"/>
  </p:normalViewPr>
  <p:slideViewPr>
    <p:cSldViewPr>
      <p:cViewPr varScale="1">
        <p:scale>
          <a:sx n="70" d="100"/>
          <a:sy n="70" d="100"/>
        </p:scale>
        <p:origin x="26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191" Type="http://schemas.openxmlformats.org/officeDocument/2006/relationships/slide" Target="slides/slide188.xml"/><Relationship Id="rId205" Type="http://schemas.openxmlformats.org/officeDocument/2006/relationships/slide" Target="slides/slide202.xml"/><Relationship Id="rId226" Type="http://schemas.openxmlformats.org/officeDocument/2006/relationships/slide" Target="slides/slide223.xml"/><Relationship Id="rId247" Type="http://schemas.openxmlformats.org/officeDocument/2006/relationships/slide" Target="slides/slide244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16" Type="http://schemas.openxmlformats.org/officeDocument/2006/relationships/slide" Target="slides/slide213.xml"/><Relationship Id="rId237" Type="http://schemas.openxmlformats.org/officeDocument/2006/relationships/slide" Target="slides/slide234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92" Type="http://schemas.openxmlformats.org/officeDocument/2006/relationships/slide" Target="slides/slide189.xml"/><Relationship Id="rId206" Type="http://schemas.openxmlformats.org/officeDocument/2006/relationships/slide" Target="slides/slide203.xml"/><Relationship Id="rId227" Type="http://schemas.openxmlformats.org/officeDocument/2006/relationships/slide" Target="slides/slide224.xml"/><Relationship Id="rId248" Type="http://schemas.openxmlformats.org/officeDocument/2006/relationships/slide" Target="slides/slide245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217" Type="http://schemas.openxmlformats.org/officeDocument/2006/relationships/slide" Target="slides/slide214.xml"/><Relationship Id="rId6" Type="http://schemas.openxmlformats.org/officeDocument/2006/relationships/slide" Target="slides/slide3.xml"/><Relationship Id="rId238" Type="http://schemas.openxmlformats.org/officeDocument/2006/relationships/slide" Target="slides/slide235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93" Type="http://schemas.openxmlformats.org/officeDocument/2006/relationships/slide" Target="slides/slide190.xml"/><Relationship Id="rId207" Type="http://schemas.openxmlformats.org/officeDocument/2006/relationships/slide" Target="slides/slide204.xml"/><Relationship Id="rId228" Type="http://schemas.openxmlformats.org/officeDocument/2006/relationships/slide" Target="slides/slide225.xml"/><Relationship Id="rId249" Type="http://schemas.openxmlformats.org/officeDocument/2006/relationships/slide" Target="slides/slide246.xml"/><Relationship Id="rId13" Type="http://schemas.openxmlformats.org/officeDocument/2006/relationships/slide" Target="slides/slide10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20" Type="http://schemas.openxmlformats.org/officeDocument/2006/relationships/slide" Target="slides/slide117.xml"/><Relationship Id="rId141" Type="http://schemas.openxmlformats.org/officeDocument/2006/relationships/slide" Target="slides/slide138.xml"/><Relationship Id="rId7" Type="http://schemas.openxmlformats.org/officeDocument/2006/relationships/slide" Target="slides/slide4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18" Type="http://schemas.openxmlformats.org/officeDocument/2006/relationships/slide" Target="slides/slide215.xml"/><Relationship Id="rId239" Type="http://schemas.openxmlformats.org/officeDocument/2006/relationships/slide" Target="slides/slide236.xml"/><Relationship Id="rId250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31" Type="http://schemas.openxmlformats.org/officeDocument/2006/relationships/slide" Target="slides/slide128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4" Type="http://schemas.openxmlformats.org/officeDocument/2006/relationships/slide" Target="slides/slide191.xml"/><Relationship Id="rId208" Type="http://schemas.openxmlformats.org/officeDocument/2006/relationships/slide" Target="slides/slide205.xml"/><Relationship Id="rId229" Type="http://schemas.openxmlformats.org/officeDocument/2006/relationships/slide" Target="slides/slide226.xml"/><Relationship Id="rId240" Type="http://schemas.openxmlformats.org/officeDocument/2006/relationships/slide" Target="slides/slide237.xml"/><Relationship Id="rId14" Type="http://schemas.openxmlformats.org/officeDocument/2006/relationships/slide" Target="slides/slide11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8" Type="http://schemas.openxmlformats.org/officeDocument/2006/relationships/slide" Target="slides/slide5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219" Type="http://schemas.openxmlformats.org/officeDocument/2006/relationships/slide" Target="slides/slide216.xml"/><Relationship Id="rId230" Type="http://schemas.openxmlformats.org/officeDocument/2006/relationships/slide" Target="slides/slide227.xml"/><Relationship Id="rId251" Type="http://schemas.openxmlformats.org/officeDocument/2006/relationships/presProps" Target="presProps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95" Type="http://schemas.openxmlformats.org/officeDocument/2006/relationships/slide" Target="slides/slide192.xml"/><Relationship Id="rId209" Type="http://schemas.openxmlformats.org/officeDocument/2006/relationships/slide" Target="slides/slide206.xml"/><Relationship Id="rId220" Type="http://schemas.openxmlformats.org/officeDocument/2006/relationships/slide" Target="slides/slide217.xml"/><Relationship Id="rId241" Type="http://schemas.openxmlformats.org/officeDocument/2006/relationships/slide" Target="slides/slide23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78" Type="http://schemas.openxmlformats.org/officeDocument/2006/relationships/slide" Target="slides/slide75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64" Type="http://schemas.openxmlformats.org/officeDocument/2006/relationships/slide" Target="slides/slide161.xml"/><Relationship Id="rId185" Type="http://schemas.openxmlformats.org/officeDocument/2006/relationships/slide" Target="slides/slide182.xml"/><Relationship Id="rId9" Type="http://schemas.openxmlformats.org/officeDocument/2006/relationships/slide" Target="slides/slide6.xml"/><Relationship Id="rId210" Type="http://schemas.openxmlformats.org/officeDocument/2006/relationships/slide" Target="slides/slide207.xml"/><Relationship Id="rId26" Type="http://schemas.openxmlformats.org/officeDocument/2006/relationships/slide" Target="slides/slide23.xml"/><Relationship Id="rId231" Type="http://schemas.openxmlformats.org/officeDocument/2006/relationships/slide" Target="slides/slide228.xml"/><Relationship Id="rId252" Type="http://schemas.openxmlformats.org/officeDocument/2006/relationships/viewProps" Target="viewProps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96" Type="http://schemas.openxmlformats.org/officeDocument/2006/relationships/slide" Target="slides/slide193.xml"/><Relationship Id="rId200" Type="http://schemas.openxmlformats.org/officeDocument/2006/relationships/slide" Target="slides/slide197.xml"/><Relationship Id="rId16" Type="http://schemas.openxmlformats.org/officeDocument/2006/relationships/slide" Target="slides/slide13.xml"/><Relationship Id="rId221" Type="http://schemas.openxmlformats.org/officeDocument/2006/relationships/slide" Target="slides/slide218.xml"/><Relationship Id="rId242" Type="http://schemas.openxmlformats.org/officeDocument/2006/relationships/slide" Target="slides/slide239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slide" Target="slides/slide183.xml"/><Relationship Id="rId211" Type="http://schemas.openxmlformats.org/officeDocument/2006/relationships/slide" Target="slides/slide208.xml"/><Relationship Id="rId232" Type="http://schemas.openxmlformats.org/officeDocument/2006/relationships/slide" Target="slides/slide229.xml"/><Relationship Id="rId253" Type="http://schemas.openxmlformats.org/officeDocument/2006/relationships/theme" Target="theme/theme1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97" Type="http://schemas.openxmlformats.org/officeDocument/2006/relationships/slide" Target="slides/slide194.xml"/><Relationship Id="rId201" Type="http://schemas.openxmlformats.org/officeDocument/2006/relationships/slide" Target="slides/slide198.xml"/><Relationship Id="rId222" Type="http://schemas.openxmlformats.org/officeDocument/2006/relationships/slide" Target="slides/slide219.xml"/><Relationship Id="rId243" Type="http://schemas.openxmlformats.org/officeDocument/2006/relationships/slide" Target="slides/slide240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slide" Target="slides/slide184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9.xml"/><Relationship Id="rId233" Type="http://schemas.openxmlformats.org/officeDocument/2006/relationships/slide" Target="slides/slide230.xml"/><Relationship Id="rId254" Type="http://schemas.openxmlformats.org/officeDocument/2006/relationships/tableStyles" Target="tableStyles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Relationship Id="rId198" Type="http://schemas.openxmlformats.org/officeDocument/2006/relationships/slide" Target="slides/slide195.xml"/><Relationship Id="rId202" Type="http://schemas.openxmlformats.org/officeDocument/2006/relationships/slide" Target="slides/slide199.xml"/><Relationship Id="rId223" Type="http://schemas.openxmlformats.org/officeDocument/2006/relationships/slide" Target="slides/slide220.xml"/><Relationship Id="rId244" Type="http://schemas.openxmlformats.org/officeDocument/2006/relationships/slide" Target="slides/slide241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50" Type="http://schemas.openxmlformats.org/officeDocument/2006/relationships/slide" Target="slides/slide47.xml"/><Relationship Id="rId104" Type="http://schemas.openxmlformats.org/officeDocument/2006/relationships/slide" Target="slides/slide101.xml"/><Relationship Id="rId125" Type="http://schemas.openxmlformats.org/officeDocument/2006/relationships/slide" Target="slides/slide122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slide" Target="slides/slide185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13" Type="http://schemas.openxmlformats.org/officeDocument/2006/relationships/slide" Target="slides/slide210.xml"/><Relationship Id="rId234" Type="http://schemas.openxmlformats.org/officeDocument/2006/relationships/slide" Target="slides/slide23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40" Type="http://schemas.openxmlformats.org/officeDocument/2006/relationships/slide" Target="slides/slide37.xml"/><Relationship Id="rId115" Type="http://schemas.openxmlformats.org/officeDocument/2006/relationships/slide" Target="slides/slide112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9" Type="http://schemas.openxmlformats.org/officeDocument/2006/relationships/slide" Target="slides/slide196.xml"/><Relationship Id="rId203" Type="http://schemas.openxmlformats.org/officeDocument/2006/relationships/slide" Target="slides/slide200.xml"/><Relationship Id="rId19" Type="http://schemas.openxmlformats.org/officeDocument/2006/relationships/slide" Target="slides/slide16.xml"/><Relationship Id="rId224" Type="http://schemas.openxmlformats.org/officeDocument/2006/relationships/slide" Target="slides/slide221.xml"/><Relationship Id="rId245" Type="http://schemas.openxmlformats.org/officeDocument/2006/relationships/slide" Target="slides/slide242.xml"/><Relationship Id="rId30" Type="http://schemas.openxmlformats.org/officeDocument/2006/relationships/slide" Target="slides/slide2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189" Type="http://schemas.openxmlformats.org/officeDocument/2006/relationships/slide" Target="slides/slide186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11.xml"/><Relationship Id="rId235" Type="http://schemas.openxmlformats.org/officeDocument/2006/relationships/slide" Target="slides/slide232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179" Type="http://schemas.openxmlformats.org/officeDocument/2006/relationships/slide" Target="slides/slide176.xml"/><Relationship Id="rId190" Type="http://schemas.openxmlformats.org/officeDocument/2006/relationships/slide" Target="slides/slide187.xml"/><Relationship Id="rId204" Type="http://schemas.openxmlformats.org/officeDocument/2006/relationships/slide" Target="slides/slide201.xml"/><Relationship Id="rId225" Type="http://schemas.openxmlformats.org/officeDocument/2006/relationships/slide" Target="slides/slide222.xml"/><Relationship Id="rId246" Type="http://schemas.openxmlformats.org/officeDocument/2006/relationships/slide" Target="slides/slide243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94" Type="http://schemas.openxmlformats.org/officeDocument/2006/relationships/slide" Target="slides/slide91.xml"/><Relationship Id="rId148" Type="http://schemas.openxmlformats.org/officeDocument/2006/relationships/slide" Target="slides/slide145.xml"/><Relationship Id="rId169" Type="http://schemas.openxmlformats.org/officeDocument/2006/relationships/slide" Target="slides/slide166.xml"/><Relationship Id="rId4" Type="http://schemas.openxmlformats.org/officeDocument/2006/relationships/slide" Target="slides/slide1.xml"/><Relationship Id="rId180" Type="http://schemas.openxmlformats.org/officeDocument/2006/relationships/slide" Target="slides/slide177.xml"/><Relationship Id="rId215" Type="http://schemas.openxmlformats.org/officeDocument/2006/relationships/slide" Target="slides/slide212.xml"/><Relationship Id="rId236" Type="http://schemas.openxmlformats.org/officeDocument/2006/relationships/slide" Target="slides/slide2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1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5F437E7-E8DA-489A-8E5A-16B9A4E6AFD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11705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7EDD7-EE19-449C-94A9-7F4AB4F873DB}" type="slidenum">
              <a:rPr lang="en-US" altLang="zh-TW" smtClean="0">
                <a:latin typeface="Arial" pitchFamily="34" charset="0"/>
              </a:rPr>
              <a:pPr/>
              <a:t>1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631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CCB297-D39E-44C1-8118-DF807420EA4C}" type="slidenum">
              <a:rPr lang="en-US" altLang="zh-TW" smtClean="0">
                <a:latin typeface="Arial" pitchFamily="34" charset="0"/>
              </a:rPr>
              <a:pPr/>
              <a:t>37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625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695D7B-1502-49C4-8AE6-22F477D0511D}" type="slidenum">
              <a:rPr lang="en-US" altLang="zh-TW" smtClean="0">
                <a:latin typeface="Arial" pitchFamily="34" charset="0"/>
              </a:rPr>
              <a:pPr/>
              <a:t>38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1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695D7B-1502-49C4-8AE6-22F477D0511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32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F437E7-E8DA-489A-8E5A-16B9A4E6AFD4}" type="slidenum">
              <a:rPr lang="en-US" altLang="zh-TW" smtClean="0"/>
              <a:pPr>
                <a:defRPr/>
              </a:pPr>
              <a:t>98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4625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F437E7-E8DA-489A-8E5A-16B9A4E6AFD4}" type="slidenum">
              <a:rPr lang="en-US" altLang="zh-TW" smtClean="0"/>
              <a:pPr>
                <a:defRPr/>
              </a:pPr>
              <a:t>124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042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8E5EEC-CF48-4997-8C95-54E2AA40E27E}" type="slidenum">
              <a:rPr lang="en-US" altLang="zh-TW" smtClean="0">
                <a:latin typeface="Arial" pitchFamily="34" charset="0"/>
              </a:rPr>
              <a:pPr/>
              <a:t>150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87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8E5EEC-CF48-4997-8C95-54E2AA40E27E}" type="slidenum">
              <a:rPr lang="en-US" altLang="zh-TW" smtClean="0">
                <a:latin typeface="Arial" pitchFamily="34" charset="0"/>
              </a:rPr>
              <a:pPr/>
              <a:t>190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762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F34C0D-CEEF-4463-9C5B-6AE5D6D4E0BF}" type="slidenum">
              <a:rPr lang="en-US" altLang="zh-TW" smtClean="0">
                <a:latin typeface="Arial" pitchFamily="34" charset="0"/>
              </a:rPr>
              <a:pPr/>
              <a:t>202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550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5D3544-DBE5-4027-B5D6-ABF40E962000}" type="slidenum">
              <a:rPr lang="en-US" altLang="zh-TW" smtClean="0">
                <a:latin typeface="Arial" pitchFamily="34" charset="0"/>
              </a:rPr>
              <a:pPr/>
              <a:t>204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70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CEAEAA-C32A-4EB0-95CC-48F0DB7E4777}" type="slidenum">
              <a:rPr lang="en-US" altLang="zh-TW" smtClean="0">
                <a:latin typeface="Arial" pitchFamily="34" charset="0"/>
              </a:rPr>
              <a:pPr/>
              <a:t>209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800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14477-DA9E-4870-BC56-0B13F1877D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8A350-744B-49DF-B28E-7549FE7B03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0BBE9-14F4-495D-A35C-6E2A18F094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1521F6B2-21FE-4301-92EC-4E744D63E10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4B064-C74B-42FA-86F4-1FAA1C9E77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5BB6D-4B8F-4480-8C03-916AD761FC8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6411F-0E6B-46A7-B6C8-FFFEDD49D6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9D127-2E37-46B1-B3F2-6448B64FFB6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A7B10-8818-449E-B827-E1B57F6D44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9C6BA-2156-453B-83C6-37E2004EA5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標題，文字及美工圖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美工圖案版面配置區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C9406-70A7-40B1-B969-BB3EF1835D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DE9D4-AF82-415F-B680-2811F45E4A7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9FE31-96F8-D2CA-36CA-78530D762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4EEB8D9-8C93-002B-8BC7-5121F7013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C1D130-DBA2-FFBC-B3AF-EC8F70B2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68713-7C15-B646-5ADA-4E7404A3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5E5E85-B39A-473F-1A3A-2834FD11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64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A8D98E-29E5-95A9-82D1-C1462B70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3581DF-B386-D28B-ED49-7D9B061AC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B5AAFD-C7F7-359A-3E33-890653D5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7DC02D-B780-00C2-56FD-64B4006D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E0CD43-CA63-1455-4020-E6485CBD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762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7AF2D-A7D3-C6DB-EEA3-36DDDFED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B6427A-AA28-0B2F-EEF4-E57F6904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E0FE41-91FE-FACA-5769-9EE09A57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8DB81C-B8F9-3C8F-AAB6-A4875B2F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961014-CE14-7563-EBE3-0D9A0527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15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C80CA6-22A8-10F6-4073-F44A5776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F04F6F-F673-BF0C-5533-601A80ABD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54557A-2017-FB9D-3D08-C527049DA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40EA01-17C8-F156-D46A-5D7BBE6C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7EE7FF-73DF-73B7-D3BD-F1B86DF9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028837-B4F2-9224-74EA-D54EB8D2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663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CC736E-7008-0963-F5A6-C2FF1FCA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93E848-4ED2-79CF-EE3C-D191D779C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020EF9-C4EF-0F08-5D20-8C6FD325D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15D98E9-4EEE-E38C-44A4-8A18D124E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1869FA5-2A7F-E741-AA43-4F8CD65AD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A5EB0DD-FBE7-9654-B3B7-2C4897A0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7002F0-F6AD-0219-EDF2-3A7D9A9B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9FA5CFC-DF0B-CDF6-44AC-6C77A747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15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18BD-54EF-B1BC-9BB7-90D54EAC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D18C54-BC95-C520-7FBE-2C150F17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E92AF78-28BC-101C-EB8F-BE7C439E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769A78-B498-B865-5655-FEE17EBD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2021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61F66A-361D-D368-D09A-F84EEFAB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E9237A-D72A-6351-AAA5-29DF7D0A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2C5928-83F0-6415-9DC6-B5FFC8D1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3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E1FCE-DF47-6FAF-8AB8-5DB77CAC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31478F-5D4C-F4C3-719F-FD03C026F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0429BCE-84BF-AE62-F31E-0069A3B11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D56DF0-C9E6-E2EF-9421-9B8BA18B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60EEB0-03DE-2636-B274-53979C35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BABEA4-E1C6-0199-67F3-D6EF1A72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79187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496B95-0B35-DFF2-B1F2-E7A4A714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912612-3388-6F90-1421-E74048A62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CDD226-20DB-34F2-FF60-53BDE83F3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21459D-3358-ECB8-4D19-BB84DA64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11822C-29AB-2EC6-06C8-C03270A4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AABBA0-C048-27E6-3E6F-DC10FD70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960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C84D3-DAC6-4877-E01A-818457BE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FC0612-518D-BE62-84E4-8DD2E99C0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22D297-424E-21D8-6A84-93918726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E020BC-FA79-8AE7-7F45-079700F97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568FF0-FD20-ACF5-05C5-E0F20A8E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4310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1042B53-2889-9F9F-6677-4A12F2727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907C5D-B638-0D5A-6903-44EFF85AD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83DB73-3667-44D8-1EA9-EF5F140B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D41BC3-ACEB-3ED7-BB1F-3FA07DD0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428A29-9BC6-5DF6-5DC2-83731D71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3878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B165F-22E7-1CC0-86C0-70BA7EF36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DE5371-4FDA-E3F4-41EE-A40FA7F4E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EEE77-4E88-ABEB-5B96-4126481E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FD343C-298B-B7F2-9B12-28B34D1E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AA3DDD-E676-9B86-AA94-80A09B09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026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C248C5-3F74-D023-C3AD-C2EEDAB1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38CB8E-DCDF-45C8-E48D-3DBBEE5DE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B5B6A1-AE3B-0F6F-D680-3CE56A13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A4C8A0-5F19-0958-FDB6-FA9D5ACAC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3656B4-CF32-5B3C-084A-0FABF4E8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42851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37B6E-388A-A0CC-E59F-02B94825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D57A39-F065-0DDF-B80F-2880014FE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99CA0E-6140-2FEA-1C44-08131F22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6E22EE-9D04-8FA8-C304-83356F4F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D6B846-D9A9-68D0-F0F5-156D978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738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57D8ED-BA4B-5BC9-FD81-17A4FC7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0F1FE3-320D-AA24-0A28-1A5AA7B08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F580FE-4177-5DAE-A4F1-1B95C044A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A3A4C-7A6D-CD4D-CE5A-F81A7CEB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469735-613D-EFC4-159B-A97D37E0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80A045-A809-CA00-83DC-E8992527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974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EA2F6-ACD4-A719-A978-80FB09E5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0683C-A27A-2CD7-B60E-33B906EC3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77C045-0377-19CB-E407-76FF561C6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4DB29F0-3952-F620-0121-00FD5A93A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C5D17FC-79BD-C18F-6AA1-8DFCD2B1F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99A4E70-D7F1-9E1A-C8AF-4286CEBB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E3F929-7B4F-AD1E-88CD-4CE494AC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9FA4A50-E45D-6D4C-7573-F8CDFA2B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911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DCDB-B14F-B40C-1E13-C98952B6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9C2BDBF-115B-FDE9-9DF3-1B02BB83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863E0D6-A2F7-85B5-A717-A6BB39F8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E5EE65-FD36-7408-5163-4A7C997C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641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E08765D-94DC-A4AB-36FF-989257F1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FF8FE66-2C2A-8B99-53DA-C1C30C5F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70680C-9503-B80E-187B-28DD6268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076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47788B-CDB7-72AB-6BFD-D90567C5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650524-49FD-6194-1871-9193C8C19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C7EB18-1FD3-B0D4-8A69-5CACB2961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8A7702-DC18-8049-FE88-39ADF8F1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5E881C-EC8C-D31A-CB6C-1E2F1AE1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C4C4B0-C3D4-E97F-2546-BCF25302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8164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471B0F-DD53-A629-24C1-9A637DFF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BECAEA6-7D31-128B-8773-EE7991108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7E9556-9881-C5C5-9F46-0D3C24E94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C87788-C6C3-8F24-AAC9-CBE91542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C6D4AB-78CA-41FB-A413-CE6C4EF0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208C7B-3B95-731D-60E8-6FA40090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7990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5D48D8-B43D-278C-36AB-7035AD7C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E00392-2D77-DA13-8FCF-10E6E5CD2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194F30-1757-0E88-4154-A9BE0F6E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308284-C258-90AA-1D86-42958E19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3438A3-F32C-ACA4-2143-6C585D69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0723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9D332C2-8030-8BC1-0184-C3FC38D4D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F774F7-679D-A85A-4AC4-3FFFAB342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1DA2FF-06A3-CADE-6522-E4B3E7C2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80D2AF-F16D-E785-D184-2E43F671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270E48-6005-B8B0-C0ED-677DCC50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01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A3E44CE7-679C-49BB-85DA-7B57689998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F0FEA7-74D4-AF90-1B47-03390D0C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A900D9-9B46-2F96-6E41-EFF8C2275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3855E7-E9A7-9486-8E85-965786380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61E989-88A8-0A2D-9172-07980B797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51ADE2-6971-7860-1FBE-556A87EA4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72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7C36430-5FA1-6A21-2A3B-94DDD44B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66A323-F980-A035-9ADD-13E803228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4C082E-B8A1-58B2-BD7C-C3B826B4B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3CDF0-E10B-42B3-859E-83BBB16886DE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E553A5-B195-E050-AA5B-9CDFEDC4D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3BBCDB-FD01-B140-DBB2-65F9538EF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048930-F7E3-4407-9E39-22E2BF64236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63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TW" dirty="0" smtClean="0"/>
              <a:t>Chapter 6  </a:t>
            </a:r>
            <a:br>
              <a:rPr lang="en-US" altLang="zh-TW" dirty="0" smtClean="0"/>
            </a:br>
            <a:r>
              <a:rPr lang="en-US" altLang="zh-TW" dirty="0" smtClean="0"/>
              <a:t>Process Synchronization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Evaluation</a:t>
            </a:r>
            <a:endParaRPr lang="en-US" altLang="zh-TW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Background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zh-TW" dirty="0" smtClean="0"/>
              <a:t>Example: </a:t>
            </a:r>
            <a:r>
              <a:rPr lang="zh-TW" altLang="en-US" dirty="0"/>
              <a:t>請</a:t>
            </a:r>
            <a:r>
              <a:rPr lang="zh-TW" altLang="en-US" dirty="0" smtClean="0"/>
              <a:t>寫一個</a:t>
            </a:r>
            <a:r>
              <a:rPr lang="en-US" altLang="zh-TW" b="1" dirty="0" smtClean="0"/>
              <a:t>producer-consumer</a:t>
            </a:r>
            <a:r>
              <a:rPr lang="zh-TW" altLang="en-US" b="1" dirty="0" smtClean="0"/>
              <a:t>的程式</a:t>
            </a:r>
            <a:endParaRPr lang="en-US" altLang="zh-TW" sz="2800" b="1" dirty="0" smtClean="0"/>
          </a:p>
          <a:p>
            <a:pPr lvl="1" eaLnBrk="1" hangingPunct="1"/>
            <a:r>
              <a:rPr lang="en-US" altLang="zh-TW" dirty="0" smtClean="0"/>
              <a:t>Producer produces items </a:t>
            </a:r>
          </a:p>
          <a:p>
            <a:pPr lvl="1" eaLnBrk="1" hangingPunct="1"/>
            <a:r>
              <a:rPr lang="en-US" altLang="zh-TW" dirty="0" smtClean="0"/>
              <a:t>Consumer consumes items</a:t>
            </a:r>
          </a:p>
          <a:p>
            <a:pPr lvl="1" eaLnBrk="1" hangingPunct="1"/>
            <a:r>
              <a:rPr lang="en-US" altLang="zh-TW" dirty="0" smtClean="0"/>
              <a:t>The </a:t>
            </a:r>
            <a:r>
              <a:rPr lang="en-US" altLang="zh-TW" b="1" dirty="0" smtClean="0"/>
              <a:t>buffer</a:t>
            </a:r>
            <a:r>
              <a:rPr lang="en-US" altLang="zh-TW" dirty="0" smtClean="0"/>
              <a:t>, </a:t>
            </a:r>
            <a:r>
              <a:rPr lang="en-US" altLang="zh-TW" b="1" dirty="0" smtClean="0"/>
              <a:t>in</a:t>
            </a:r>
            <a:r>
              <a:rPr lang="en-US" altLang="zh-TW" dirty="0" smtClean="0"/>
              <a:t>, </a:t>
            </a:r>
            <a:r>
              <a:rPr lang="en-US" altLang="zh-TW" b="1" dirty="0" smtClean="0"/>
              <a:t>out</a:t>
            </a:r>
            <a:r>
              <a:rPr lang="en-US" altLang="zh-TW" dirty="0" smtClean="0"/>
              <a:t> and </a:t>
            </a:r>
            <a:r>
              <a:rPr lang="en-US" altLang="zh-TW" b="1" dirty="0" smtClean="0"/>
              <a:t>counter</a:t>
            </a:r>
            <a:r>
              <a:rPr lang="en-US" altLang="zh-TW" dirty="0" smtClean="0"/>
              <a:t> are </a:t>
            </a:r>
            <a:r>
              <a:rPr lang="en-US" altLang="zh-TW" b="1" dirty="0" smtClean="0"/>
              <a:t>shared</a:t>
            </a:r>
            <a:r>
              <a:rPr lang="en-US" altLang="zh-TW" dirty="0" smtClean="0"/>
              <a:t> between producer/consumer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Producer and consumer may be processes </a:t>
            </a:r>
          </a:p>
          <a:p>
            <a:pPr lvl="2" eaLnBrk="1" hangingPunct="1"/>
            <a:r>
              <a:rPr lang="en-US" altLang="zh-TW" dirty="0" smtClean="0"/>
              <a:t>Buffer, in, out, and counter are in their </a:t>
            </a:r>
            <a:r>
              <a:rPr lang="en-US" altLang="zh-TW" b="1" dirty="0" smtClean="0"/>
              <a:t>shared memory </a:t>
            </a:r>
            <a:r>
              <a:rPr lang="en-US" altLang="zh-TW" dirty="0" smtClean="0"/>
              <a:t>(IPC)</a:t>
            </a:r>
          </a:p>
          <a:p>
            <a:pPr lvl="1" eaLnBrk="1" hangingPunct="1"/>
            <a:r>
              <a:rPr lang="en-US" altLang="zh-TW" dirty="0" smtClean="0"/>
              <a:t>Or Producer and consumer may be threads in the same process</a:t>
            </a:r>
          </a:p>
          <a:p>
            <a:pPr lvl="2" eaLnBrk="1" hangingPunct="1"/>
            <a:r>
              <a:rPr lang="en-US" altLang="zh-TW" dirty="0"/>
              <a:t>Buffer, in, out, and counter </a:t>
            </a:r>
            <a:r>
              <a:rPr lang="en-US" altLang="zh-TW" dirty="0" smtClean="0"/>
              <a:t>are </a:t>
            </a:r>
            <a:r>
              <a:rPr lang="en-US" altLang="zh-TW" b="1" dirty="0" smtClean="0"/>
              <a:t>global variables</a:t>
            </a:r>
            <a:endParaRPr lang="en-US" altLang="zh-TW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資料結構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244844"/>
            <a:ext cx="8064895" cy="3672408"/>
          </a:xfrm>
          <a:prstGeom prst="rect">
            <a:avLst/>
          </a:prstGeom>
        </p:spPr>
      </p:pic>
      <p:grpSp>
        <p:nvGrpSpPr>
          <p:cNvPr id="25" name="群組 24"/>
          <p:cNvGrpSpPr/>
          <p:nvPr/>
        </p:nvGrpSpPr>
        <p:grpSpPr>
          <a:xfrm>
            <a:off x="2279576" y="5229200"/>
            <a:ext cx="7704856" cy="1181522"/>
            <a:chOff x="3302505" y="5415607"/>
            <a:chExt cx="5616624" cy="1181522"/>
          </a:xfrm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425417" y="6111354"/>
              <a:ext cx="561456" cy="4857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986873" y="6111354"/>
              <a:ext cx="561456" cy="4857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5548329" y="6111354"/>
              <a:ext cx="561456" cy="4857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111849" y="6111354"/>
              <a:ext cx="561456" cy="4857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863961" y="6111354"/>
              <a:ext cx="561456" cy="485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3302505" y="6111354"/>
              <a:ext cx="561456" cy="485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6673305" y="6111354"/>
              <a:ext cx="561456" cy="485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7234761" y="6111354"/>
              <a:ext cx="561456" cy="485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7796217" y="6111354"/>
              <a:ext cx="561456" cy="485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8357673" y="6111354"/>
              <a:ext cx="561456" cy="485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6951969" y="5841082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6819456" y="5445224"/>
              <a:ext cx="4411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2400" b="1" dirty="0">
                  <a:latin typeface="Times New Roman" pitchFamily="18" charset="0"/>
                </a:rPr>
                <a:t>in</a:t>
              </a: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708209" y="5841082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TW" altLang="en-US" sz="2700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4439816" y="5415607"/>
              <a:ext cx="61266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2400" b="1" dirty="0">
                  <a:latin typeface="Times New Roman" pitchFamily="18" charset="0"/>
                </a:rPr>
                <a:t>out</a:t>
              </a:r>
            </a:p>
          </p:txBody>
        </p:sp>
        <p:sp>
          <p:nvSpPr>
            <p:cNvPr id="24" name="圓角矩形圖說文字 23"/>
            <p:cNvSpPr/>
            <p:nvPr/>
          </p:nvSpPr>
          <p:spPr>
            <a:xfrm>
              <a:off x="5236637" y="5517232"/>
              <a:ext cx="1436667" cy="422846"/>
            </a:xfrm>
            <a:prstGeom prst="wedgeRoundRectCallout">
              <a:avLst>
                <a:gd name="adj1" fmla="val -11252"/>
                <a:gd name="adj2" fmla="val 71801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b="1" dirty="0" smtClean="0">
                  <a:solidFill>
                    <a:srgbClr val="FF0000"/>
                  </a:solidFill>
                  <a:latin typeface="Calibri" panose="020F0502020204030204" pitchFamily="34" charset="0"/>
                </a:rPr>
                <a:t>counter = 4</a:t>
              </a:r>
              <a:endParaRPr lang="zh-TW" altLang="en-US" sz="18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118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程式碼</a:t>
            </a:r>
            <a:r>
              <a:rPr lang="en-US" altLang="zh-TW" dirty="0" smtClean="0"/>
              <a:t>: Producer Process/Thread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9601" y="1498601"/>
            <a:ext cx="8334375" cy="4882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21F6B2-21FE-4301-92EC-4E744D63E105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程式碼</a:t>
            </a:r>
            <a:r>
              <a:rPr lang="en-US" altLang="zh-TW" dirty="0"/>
              <a:t>: Consumer </a:t>
            </a:r>
            <a:r>
              <a:rPr lang="en-US" altLang="zh-TW" dirty="0" smtClean="0"/>
              <a:t>Process/Thread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1504" y="1412776"/>
            <a:ext cx="8856984" cy="4932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21F6B2-21FE-4301-92EC-4E744D63E105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然而</a:t>
            </a:r>
            <a:r>
              <a:rPr lang="en-US" altLang="zh-TW" dirty="0" smtClean="0"/>
              <a:t>, </a:t>
            </a:r>
            <a:r>
              <a:rPr lang="zh-TW" altLang="en-US" dirty="0" smtClean="0"/>
              <a:t>上述的程式有</a:t>
            </a:r>
            <a:r>
              <a:rPr lang="en-US" altLang="zh-TW" dirty="0" smtClean="0"/>
              <a:t>Bug!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Q: Bug</a:t>
            </a:r>
            <a:r>
              <a:rPr lang="zh-TW" altLang="en-US" dirty="0" smtClean="0"/>
              <a:t>在哪裡呢</a:t>
            </a:r>
            <a:r>
              <a:rPr lang="en-US" altLang="zh-TW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0833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TW" dirty="0"/>
              <a:t>The </a:t>
            </a:r>
            <a:r>
              <a:rPr lang="en-US" altLang="zh-TW" sz="2800" dirty="0"/>
              <a:t>“</a:t>
            </a:r>
            <a:r>
              <a:rPr lang="en-US" altLang="zh-TW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counter++</a:t>
            </a:r>
            <a:r>
              <a:rPr lang="en-US" altLang="zh-TW" sz="2800" dirty="0"/>
              <a:t>” </a:t>
            </a:r>
            <a:r>
              <a:rPr lang="en-US" altLang="zh-TW" dirty="0"/>
              <a:t>and </a:t>
            </a:r>
            <a:r>
              <a:rPr lang="en-US" altLang="zh-TW" sz="2800" dirty="0"/>
              <a:t>“</a:t>
            </a:r>
            <a:r>
              <a:rPr lang="en-US" altLang="zh-TW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counter--</a:t>
            </a:r>
            <a:r>
              <a:rPr lang="en-US" altLang="zh-TW" sz="2800" dirty="0"/>
              <a:t>” </a:t>
            </a:r>
            <a:r>
              <a:rPr lang="en-US" altLang="zh-TW" dirty="0"/>
              <a:t>is </a:t>
            </a:r>
            <a:r>
              <a:rPr lang="en-US" altLang="zh-TW" b="1" dirty="0"/>
              <a:t>compiled</a:t>
            </a:r>
            <a:r>
              <a:rPr lang="en-US" altLang="zh-TW" dirty="0"/>
              <a:t> to a sequential of </a:t>
            </a:r>
            <a:r>
              <a:rPr lang="en-US" altLang="zh-TW" dirty="0" smtClean="0"/>
              <a:t>CPU instructions</a:t>
            </a:r>
          </a:p>
          <a:p>
            <a:pPr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Then, these CPU instructions are executed in some arbitrary order.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As shown in the following slide</a:t>
            </a:r>
          </a:p>
          <a:p>
            <a:pPr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415480" y="2924944"/>
            <a:ext cx="10084534" cy="1642878"/>
            <a:chOff x="971600" y="3253407"/>
            <a:chExt cx="8175704" cy="1442475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971600" y="3680219"/>
              <a:ext cx="3671887" cy="10156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mov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eax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, counter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inc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eax</a:t>
              </a:r>
              <a:endPara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mov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 counter, </a:t>
              </a: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eax</a:t>
              </a:r>
              <a:endParaRPr kumimoji="1" lang="en-US" altLang="zh-TW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064422" y="3680219"/>
              <a:ext cx="3527425" cy="10156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mov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0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ebx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, counter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dec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0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ebx</a:t>
              </a:r>
              <a:endPara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mov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 counter, </a:t>
              </a:r>
              <a:r>
                <a:rPr kumimoji="1" lang="en-US" altLang="zh-TW" sz="20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ebx</a:t>
              </a:r>
              <a:endParaRPr kumimoji="1" lang="en-US" altLang="zh-TW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058416" y="3253407"/>
              <a:ext cx="41775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rPr>
                <a:t>“</a:t>
              </a:r>
              <a:r>
                <a:rPr kumimoji="1" lang="en-US" altLang="zh-TW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counter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rPr>
                <a:t>++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rPr>
                <a:t>”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maybe </a:t>
              </a:r>
              <a:r>
                <a:rPr kumimoji="1" lang="en-US" altLang="zh-TW" sz="2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compiled</a:t>
              </a:r>
              <a:r>
                <a:rPr kumimoji="1" lang="en-US" altLang="zh-TW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as</a:t>
              </a:r>
              <a:endParaRPr kumimoji="1" lang="zh-TW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5097990" y="3304948"/>
              <a:ext cx="40493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rPr>
                <a:t>“</a:t>
              </a:r>
              <a:r>
                <a:rPr kumimoji="1" lang="en-US" altLang="zh-TW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新細明體" pitchFamily="18" charset="-120"/>
                  <a:cs typeface="+mn-cs"/>
                </a:rPr>
                <a:t>counter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rPr>
                <a:t>--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rPr>
                <a:t>”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rPr>
                <a:t> </a:t>
              </a:r>
              <a:r>
                <a:rPr kumimoji="1" lang="en-US" altLang="zh-TW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maybe </a:t>
              </a:r>
              <a:r>
                <a:rPr kumimoji="1" lang="en-US" altLang="zh-TW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compiled</a:t>
              </a:r>
              <a:r>
                <a:rPr kumimoji="1" lang="en-US" altLang="zh-TW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 as</a:t>
              </a:r>
              <a:endParaRPr kumimoji="1" lang="zh-TW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endParaRPr>
            </a:p>
          </p:txBody>
        </p:sp>
      </p:grpSp>
      <p:sp>
        <p:nvSpPr>
          <p:cNvPr id="9" name="投影片編號版面配置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923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dirty="0" smtClean="0"/>
              <a:t>可能的執行</a:t>
            </a:r>
            <a:r>
              <a:rPr lang="zh-TW" altLang="en-US" dirty="0"/>
              <a:t>結果</a:t>
            </a:r>
            <a:r>
              <a:rPr lang="en-US" altLang="zh-TW" dirty="0" smtClean="0">
                <a:effectLst/>
                <a:latin typeface="Calibri" panose="020F0502020204030204" pitchFamily="34" charset="0"/>
              </a:rPr>
              <a:t>(Cont.)</a:t>
            </a:r>
          </a:p>
        </p:txBody>
      </p:sp>
      <p:graphicFrame>
        <p:nvGraphicFramePr>
          <p:cNvPr id="5683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697649"/>
              </p:ext>
            </p:extLst>
          </p:nvPr>
        </p:nvGraphicFramePr>
        <p:xfrm>
          <a:off x="624417" y="2060848"/>
          <a:ext cx="11160215" cy="4059558"/>
        </p:xfrm>
        <a:graphic>
          <a:graphicData uri="http://schemas.openxmlformats.org/drawingml/2006/table">
            <a:tbl>
              <a:tblPr/>
              <a:tblGrid>
                <a:gridCol w="259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96695550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32198030"/>
                    </a:ext>
                  </a:extLst>
                </a:gridCol>
                <a:gridCol w="1296143">
                  <a:extLst>
                    <a:ext uri="{9D8B030D-6E8A-4147-A177-3AD203B41FA5}">
                      <a16:colId xmlns:a16="http://schemas.microsoft.com/office/drawing/2014/main" val="1314049782"/>
                    </a:ext>
                  </a:extLst>
                </a:gridCol>
              </a:tblGrid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Producer Thread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Consumer Thread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(in CPU)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ebx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(in CPU)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counter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eax_P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(in P’s PCB)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ebx_C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(in C’s PCB)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counter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inc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ebx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dec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ebx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ebx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4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431704" y="1412776"/>
            <a:ext cx="490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+mn-cs"/>
              </a:rPr>
              <a:t>Assume that initially 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+mn-cs"/>
              </a:rPr>
              <a:t>counter = 5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747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你看的出來問題在哪裡嗎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64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chemeClr val="tx1"/>
                </a:solidFill>
              </a:rPr>
              <a:t>結論</a:t>
            </a:r>
            <a:r>
              <a:rPr lang="en-US" altLang="zh-TW" dirty="0" smtClean="0">
                <a:solidFill>
                  <a:schemeClr val="tx1"/>
                </a:solidFill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</a:rPr>
              <a:t>Concurrent </a:t>
            </a:r>
            <a:r>
              <a:rPr lang="en-US" altLang="zh-TW" dirty="0">
                <a:solidFill>
                  <a:srgbClr val="0000FF"/>
                </a:solidFill>
              </a:rPr>
              <a:t>access </a:t>
            </a:r>
            <a:r>
              <a:rPr lang="en-US" altLang="zh-TW" dirty="0"/>
              <a:t>to </a:t>
            </a:r>
            <a:r>
              <a:rPr lang="en-US" altLang="zh-TW" dirty="0">
                <a:solidFill>
                  <a:srgbClr val="0000FF"/>
                </a:solidFill>
              </a:rPr>
              <a:t>shared data </a:t>
            </a:r>
            <a:r>
              <a:rPr lang="en-US" altLang="zh-TW" dirty="0"/>
              <a:t>may result in </a:t>
            </a:r>
            <a:r>
              <a:rPr lang="en-US" altLang="zh-TW" dirty="0">
                <a:solidFill>
                  <a:srgbClr val="FF3300"/>
                </a:solidFill>
              </a:rPr>
              <a:t>data </a:t>
            </a:r>
            <a:r>
              <a:rPr lang="en-US" altLang="zh-TW" dirty="0" smtClean="0">
                <a:solidFill>
                  <a:srgbClr val="FF3300"/>
                </a:solidFill>
              </a:rPr>
              <a:t>inconsistency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44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注意</a:t>
            </a:r>
            <a:r>
              <a:rPr lang="en-US" altLang="zh-TW" dirty="0" smtClean="0"/>
              <a:t>: </a:t>
            </a:r>
            <a:r>
              <a:rPr lang="zh-TW" altLang="en-US" dirty="0" smtClean="0"/>
              <a:t>不是每一次執行都會出錯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220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dirty="0" smtClean="0"/>
              <a:t>可能的執行</a:t>
            </a:r>
            <a:r>
              <a:rPr lang="zh-TW" altLang="en-US" dirty="0"/>
              <a:t>結果</a:t>
            </a:r>
            <a:r>
              <a:rPr lang="en-US" altLang="zh-TW" dirty="0" smtClean="0">
                <a:effectLst/>
                <a:latin typeface="Calibri" panose="020F0502020204030204" pitchFamily="34" charset="0"/>
              </a:rPr>
              <a:t>(Cont.)</a:t>
            </a:r>
          </a:p>
        </p:txBody>
      </p:sp>
      <p:graphicFrame>
        <p:nvGraphicFramePr>
          <p:cNvPr id="568324" name="Group 4"/>
          <p:cNvGraphicFramePr>
            <a:graphicFrameLocks noGrp="1"/>
          </p:cNvGraphicFramePr>
          <p:nvPr>
            <p:extLst/>
          </p:nvPr>
        </p:nvGraphicFramePr>
        <p:xfrm>
          <a:off x="2064576" y="2060848"/>
          <a:ext cx="8495920" cy="4059558"/>
        </p:xfrm>
        <a:graphic>
          <a:graphicData uri="http://schemas.openxmlformats.org/drawingml/2006/table">
            <a:tbl>
              <a:tblPr/>
              <a:tblGrid>
                <a:gridCol w="259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966955507"/>
                    </a:ext>
                  </a:extLst>
                </a:gridCol>
              </a:tblGrid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Producer Thread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Consumer Thread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(in CPU)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ebx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(in CPU)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counter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counter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inc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ebx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dec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ebx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ebx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5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431704" y="1412776"/>
            <a:ext cx="490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+mn-cs"/>
              </a:rPr>
              <a:t>Assume that initially 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+mn-cs"/>
              </a:rPr>
              <a:t>counter = 5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7111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Race Condition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Race condition</a:t>
            </a:r>
            <a:r>
              <a:rPr lang="en-US" altLang="zh-TW" dirty="0">
                <a:solidFill>
                  <a:srgbClr val="FF3300"/>
                </a:solidFill>
              </a:rPr>
              <a:t>:</a:t>
            </a:r>
            <a:r>
              <a:rPr lang="en-US" altLang="zh-TW" dirty="0"/>
              <a:t> </a:t>
            </a:r>
          </a:p>
          <a:p>
            <a:pPr lvl="1" eaLnBrk="1" hangingPunct="1"/>
            <a:r>
              <a:rPr lang="en-US" altLang="zh-TW" dirty="0"/>
              <a:t>Several processes </a:t>
            </a:r>
            <a:r>
              <a:rPr lang="en-US" altLang="zh-TW" b="1" dirty="0"/>
              <a:t>concurrently</a:t>
            </a:r>
            <a:r>
              <a:rPr lang="en-US" altLang="zh-TW" dirty="0"/>
              <a:t> access and </a:t>
            </a:r>
            <a:r>
              <a:rPr lang="en-US" altLang="zh-TW" b="1" dirty="0"/>
              <a:t>manipulate</a:t>
            </a:r>
            <a:r>
              <a:rPr lang="en-US" altLang="zh-TW" dirty="0"/>
              <a:t> the </a:t>
            </a:r>
            <a:r>
              <a:rPr lang="en-US" altLang="zh-TW" b="1" dirty="0"/>
              <a:t>shared data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Outcome relies </a:t>
            </a:r>
            <a:r>
              <a:rPr lang="en-US" altLang="zh-TW" dirty="0"/>
              <a:t>on the particular order in which the access takes place</a:t>
            </a:r>
          </a:p>
          <a:p>
            <a:pPr eaLnBrk="1" hangingPunct="1"/>
            <a:endParaRPr lang="en-US" altLang="zh-TW" b="1" dirty="0"/>
          </a:p>
          <a:p>
            <a:pPr eaLnBrk="1" hangingPunct="1"/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 </a:t>
            </a:r>
            <a:r>
              <a:rPr lang="zh-TW" altLang="en-US" dirty="0" smtClean="0"/>
              <a:t>第三章</a:t>
            </a:r>
            <a:r>
              <a:rPr lang="en-US" altLang="zh-TW" dirty="0" smtClean="0"/>
              <a:t> IPC</a:t>
            </a:r>
            <a:endParaRPr lang="en-US" altLang="zh-TW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dirty="0"/>
              <a:t>Comparisons</a:t>
            </a:r>
          </a:p>
          <a:p>
            <a:pPr lvl="1" eaLnBrk="1" hangingPunct="1"/>
            <a:r>
              <a:rPr lang="en-US" altLang="zh-TW" b="1" dirty="0">
                <a:solidFill>
                  <a:srgbClr val="0000FF"/>
                </a:solidFill>
              </a:rPr>
              <a:t>Message passing</a:t>
            </a:r>
          </a:p>
          <a:p>
            <a:pPr lvl="2" eaLnBrk="1" hangingPunct="1"/>
            <a:r>
              <a:rPr lang="en-US" altLang="zh-TW" b="1" dirty="0"/>
              <a:t>Useful</a:t>
            </a:r>
            <a:r>
              <a:rPr lang="en-US" altLang="zh-TW" dirty="0"/>
              <a:t> for exchanging </a:t>
            </a:r>
            <a:r>
              <a:rPr lang="en-US" altLang="zh-TW" b="1" dirty="0"/>
              <a:t>smaller </a:t>
            </a:r>
            <a:r>
              <a:rPr lang="en-US" altLang="zh-TW" dirty="0"/>
              <a:t>amounts of </a:t>
            </a:r>
            <a:r>
              <a:rPr lang="en-US" altLang="zh-TW" dirty="0" smtClean="0"/>
              <a:t>data (see the following slide)</a:t>
            </a:r>
            <a:endParaRPr lang="en-US" altLang="zh-TW" dirty="0"/>
          </a:p>
          <a:p>
            <a:pPr lvl="2" eaLnBrk="1" hangingPunct="1"/>
            <a:r>
              <a:rPr lang="en-US" altLang="zh-TW" dirty="0"/>
              <a:t>Easier to implement</a:t>
            </a:r>
          </a:p>
          <a:p>
            <a:pPr lvl="2" eaLnBrk="1" hangingPunct="1"/>
            <a:r>
              <a:rPr lang="en-US" altLang="zh-TW" b="1" dirty="0" smtClean="0"/>
              <a:t>Slower: </a:t>
            </a:r>
            <a:r>
              <a:rPr lang="en-US" altLang="zh-TW" dirty="0" smtClean="0"/>
              <a:t>requires </a:t>
            </a:r>
            <a:r>
              <a:rPr lang="en-US" altLang="zh-TW" b="1" dirty="0"/>
              <a:t>system calls </a:t>
            </a:r>
            <a:r>
              <a:rPr lang="en-US" altLang="zh-TW" dirty="0"/>
              <a:t>for sending/receiving messages (via </a:t>
            </a:r>
            <a:r>
              <a:rPr lang="en-US" altLang="zh-TW" b="1" dirty="0"/>
              <a:t>memory copying</a:t>
            </a:r>
            <a:r>
              <a:rPr lang="en-US" altLang="zh-TW" dirty="0"/>
              <a:t>)</a:t>
            </a:r>
          </a:p>
          <a:p>
            <a:pPr lvl="2" eaLnBrk="1" hangingPunct="1"/>
            <a:r>
              <a:rPr lang="en-US" altLang="zh-TW" dirty="0"/>
              <a:t>No conflict need to be avoided </a:t>
            </a:r>
            <a:r>
              <a:rPr lang="en-US" altLang="zh-TW" dirty="0" smtClean="0"/>
              <a:t>(introduced in Chapter 6)</a:t>
            </a:r>
            <a:endParaRPr lang="en-US" altLang="zh-TW" dirty="0"/>
          </a:p>
          <a:p>
            <a:pPr lvl="1" eaLnBrk="1" hangingPunct="1"/>
            <a:r>
              <a:rPr lang="en-US" altLang="zh-TW" b="1" dirty="0" smtClean="0">
                <a:solidFill>
                  <a:srgbClr val="0000FF"/>
                </a:solidFill>
              </a:rPr>
              <a:t>Shared memory</a:t>
            </a:r>
            <a:r>
              <a:rPr lang="zh-TW" altLang="en-US" b="1" dirty="0" smtClean="0">
                <a:solidFill>
                  <a:srgbClr val="0000FF"/>
                </a:solidFill>
              </a:rPr>
              <a:t> </a:t>
            </a:r>
            <a:r>
              <a:rPr lang="en-US" altLang="zh-TW" sz="2400" dirty="0" smtClean="0"/>
              <a:t>(see the following slide)</a:t>
            </a:r>
            <a:endParaRPr lang="en-US" altLang="zh-TW" sz="2400" dirty="0"/>
          </a:p>
          <a:p>
            <a:pPr lvl="2" eaLnBrk="1" hangingPunct="1"/>
            <a:r>
              <a:rPr lang="en-US" altLang="zh-TW" dirty="0" smtClean="0"/>
              <a:t>Faster: </a:t>
            </a:r>
            <a:r>
              <a:rPr lang="en-US" altLang="zh-TW" dirty="0"/>
              <a:t>requires </a:t>
            </a:r>
            <a:r>
              <a:rPr lang="en-US" altLang="zh-TW" b="1" dirty="0"/>
              <a:t>no</a:t>
            </a:r>
            <a:r>
              <a:rPr lang="en-US" altLang="zh-TW" dirty="0"/>
              <a:t> system calls when reading/writing data</a:t>
            </a:r>
          </a:p>
          <a:p>
            <a:pPr lvl="2" eaLnBrk="1" hangingPunct="1"/>
            <a:r>
              <a:rPr lang="en-US" altLang="zh-TW" dirty="0" smtClean="0">
                <a:solidFill>
                  <a:srgbClr val="000000"/>
                </a:solidFill>
              </a:rPr>
              <a:t>But </a:t>
            </a:r>
            <a:r>
              <a:rPr lang="en-US" altLang="zh-TW" dirty="0">
                <a:solidFill>
                  <a:srgbClr val="000000"/>
                </a:solidFill>
              </a:rPr>
              <a:t>need </a:t>
            </a:r>
            <a:r>
              <a:rPr lang="en-US" altLang="zh-TW" b="1" dirty="0">
                <a:solidFill>
                  <a:srgbClr val="FF0000"/>
                </a:solidFill>
              </a:rPr>
              <a:t>protection and </a:t>
            </a:r>
            <a:r>
              <a:rPr lang="en-US" altLang="zh-TW" b="1" dirty="0" smtClean="0">
                <a:solidFill>
                  <a:srgbClr val="FF0000"/>
                </a:solidFill>
              </a:rPr>
              <a:t>synchronization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/>
              <a:t>(introduced in Chapter 6)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989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Shared </a:t>
            </a:r>
            <a:r>
              <a:rPr lang="en-US" altLang="zh-TW" dirty="0"/>
              <a:t>Memory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1412776"/>
            <a:ext cx="5112568" cy="504056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4632AD-9D6A-45CC-A1CF-8EF7EBEC2259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615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在第四章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我們提到</a:t>
            </a:r>
            <a:r>
              <a:rPr lang="en-US" altLang="zh-TW" dirty="0" smtClean="0"/>
              <a:t>threads</a:t>
            </a:r>
            <a:r>
              <a:rPr lang="zh-TW" altLang="en-US" dirty="0" smtClean="0"/>
              <a:t>共享</a:t>
            </a:r>
            <a:r>
              <a:rPr lang="en-US" altLang="zh-TW" dirty="0" smtClean="0"/>
              <a:t>data section</a:t>
            </a:r>
            <a:r>
              <a:rPr lang="zh-TW" altLang="en-US" dirty="0" smtClean="0"/>
              <a:t>有時候會出問題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第六章會介紹</a:t>
            </a:r>
          </a:p>
        </p:txBody>
      </p:sp>
    </p:spTree>
    <p:extLst>
      <p:ext uri="{BB962C8B-B14F-4D97-AF65-F5344CB8AC3E}">
        <p14:creationId xmlns:p14="http://schemas.microsoft.com/office/powerpoint/2010/main" val="193722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第四章提到</a:t>
            </a:r>
            <a:r>
              <a:rPr lang="en-US" altLang="zh-TW" dirty="0" smtClean="0"/>
              <a:t>Nonpreemptive </a:t>
            </a:r>
            <a:r>
              <a:rPr lang="en-US" altLang="zh-TW" dirty="0" err="1" smtClean="0"/>
              <a:t>v.s</a:t>
            </a:r>
            <a:r>
              <a:rPr lang="en-US" altLang="zh-TW" dirty="0" smtClean="0"/>
              <a:t> Preemptive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dirty="0"/>
              <a:t>Nonpreemptive</a:t>
            </a:r>
            <a:r>
              <a:rPr lang="en-US" altLang="zh-TW" sz="2800" dirty="0"/>
              <a:t> or </a:t>
            </a:r>
            <a:r>
              <a:rPr lang="en-US" altLang="zh-TW" sz="2800" b="1" dirty="0"/>
              <a:t>cooperative </a:t>
            </a:r>
            <a:r>
              <a:rPr lang="en-US" altLang="zh-TW" sz="2800" dirty="0"/>
              <a:t>scheduling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When scheduling takes place only under 1 and 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Process keeps the CPU until it </a:t>
            </a:r>
            <a:r>
              <a:rPr lang="en-US" altLang="zh-TW" sz="2400" b="1" dirty="0">
                <a:solidFill>
                  <a:srgbClr val="FF0000"/>
                </a:solidFill>
              </a:rPr>
              <a:t>releases</a:t>
            </a:r>
            <a:r>
              <a:rPr lang="en-US" altLang="zh-TW" sz="2400" dirty="0"/>
              <a:t> the CPU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/>
              <a:t>Bad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for </a:t>
            </a:r>
            <a:r>
              <a:rPr lang="en-US" altLang="zh-TW" sz="2400" b="1" dirty="0">
                <a:solidFill>
                  <a:srgbClr val="FF0000"/>
                </a:solidFill>
              </a:rPr>
              <a:t>time-sharing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system</a:t>
            </a:r>
            <a:r>
              <a:rPr lang="en-US" altLang="zh-TW" sz="2000" dirty="0" smtClean="0"/>
              <a:t> (see the following slide)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endParaRPr lang="en-US" altLang="zh-TW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/>
              <a:t>Preemptive </a:t>
            </a:r>
            <a:r>
              <a:rPr lang="en-US" altLang="zh-TW" sz="2800" dirty="0"/>
              <a:t>scheduling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Scheduling takes place under all the circumstances (1 to 4)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process having obtained CPU may </a:t>
            </a:r>
            <a:r>
              <a:rPr lang="en-US" altLang="zh-TW" sz="2400" b="1" dirty="0">
                <a:solidFill>
                  <a:srgbClr val="FF3300"/>
                </a:solidFill>
              </a:rPr>
              <a:t>be forced to</a:t>
            </a:r>
            <a:r>
              <a:rPr lang="en-US" altLang="zh-TW" sz="2400" b="1" dirty="0"/>
              <a:t> </a:t>
            </a:r>
            <a:r>
              <a:rPr lang="en-US" altLang="zh-TW" sz="2400" dirty="0"/>
              <a:t>release CPU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A cost associated with </a:t>
            </a:r>
            <a:r>
              <a:rPr lang="en-US" altLang="zh-TW" sz="2400" b="1" dirty="0">
                <a:solidFill>
                  <a:srgbClr val="0000FF"/>
                </a:solidFill>
              </a:rPr>
              <a:t>shared data </a:t>
            </a:r>
            <a:r>
              <a:rPr lang="en-US" altLang="zh-TW" sz="2400" dirty="0">
                <a:solidFill>
                  <a:srgbClr val="0000FF"/>
                </a:solidFill>
              </a:rPr>
              <a:t>access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 smtClean="0">
                <a:solidFill>
                  <a:srgbClr val="0000FF"/>
                </a:solidFill>
              </a:rPr>
              <a:t>Addressed </a:t>
            </a:r>
            <a:r>
              <a:rPr lang="en-US" altLang="zh-TW" sz="2000" dirty="0">
                <a:solidFill>
                  <a:srgbClr val="0000FF"/>
                </a:solidFill>
              </a:rPr>
              <a:t>in Chapter 6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98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/>
              <a:t>複習</a:t>
            </a:r>
            <a:r>
              <a:rPr lang="en-US" altLang="zh-TW" sz="3600" dirty="0"/>
              <a:t>:</a:t>
            </a:r>
            <a:r>
              <a:rPr lang="zh-TW" altLang="en-US" sz="3600" dirty="0"/>
              <a:t> 第四</a:t>
            </a:r>
            <a:r>
              <a:rPr lang="zh-TW" altLang="en-US" sz="3600" dirty="0" smtClean="0"/>
              <a:t>章提到</a:t>
            </a:r>
            <a:r>
              <a:rPr lang="en-US" altLang="zh-TW" sz="3600" dirty="0" smtClean="0">
                <a:effectLst/>
              </a:rPr>
              <a:t>Approaches </a:t>
            </a:r>
            <a:r>
              <a:rPr lang="en-US" altLang="zh-TW" sz="3600" dirty="0">
                <a:effectLst/>
              </a:rPr>
              <a:t>to Multiple-Processor Scheduling</a:t>
            </a:r>
            <a:r>
              <a:rPr lang="zh-TW" altLang="en-US" sz="3600" dirty="0">
                <a:effectLst/>
              </a:rPr>
              <a:t> </a:t>
            </a:r>
            <a:r>
              <a:rPr lang="en-US" altLang="zh-TW" sz="3600" dirty="0">
                <a:effectLst/>
              </a:rPr>
              <a:t>(Cont.)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/>
              <a:t>Organizations of the ready </a:t>
            </a:r>
            <a:r>
              <a:rPr lang="en-US" altLang="zh-TW" dirty="0" smtClean="0"/>
              <a:t>queue in SMP</a:t>
            </a:r>
            <a:endParaRPr lang="en-US" altLang="zh-TW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3300"/>
                </a:solidFill>
              </a:rPr>
              <a:t>A common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3300"/>
                </a:solidFill>
              </a:rPr>
              <a:t>ready </a:t>
            </a:r>
            <a:r>
              <a:rPr lang="en-US" altLang="zh-TW" dirty="0" smtClean="0">
                <a:solidFill>
                  <a:srgbClr val="FF3300"/>
                </a:solidFill>
              </a:rPr>
              <a:t>queue,  </a:t>
            </a:r>
            <a:r>
              <a:rPr lang="en-US" altLang="zh-TW" dirty="0"/>
              <a:t>or</a:t>
            </a:r>
            <a:r>
              <a:rPr lang="en-US" altLang="zh-TW" dirty="0">
                <a:solidFill>
                  <a:srgbClr val="FF3300"/>
                </a:solidFill>
              </a:rPr>
              <a:t> </a:t>
            </a:r>
            <a:endParaRPr lang="en-US" altLang="zh-TW" dirty="0" smtClean="0">
              <a:solidFill>
                <a:srgbClr val="FF3300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 smtClean="0">
                <a:solidFill>
                  <a:srgbClr val="0000FF"/>
                </a:solidFill>
              </a:rPr>
              <a:t>Need to </a:t>
            </a:r>
            <a:r>
              <a:rPr lang="en-US" altLang="zh-TW" b="1" dirty="0" smtClean="0">
                <a:solidFill>
                  <a:srgbClr val="0000FF"/>
                </a:solidFill>
              </a:rPr>
              <a:t>protect the queue </a:t>
            </a:r>
            <a:r>
              <a:rPr lang="en-US" altLang="zh-TW" sz="2200" dirty="0">
                <a:solidFill>
                  <a:srgbClr val="0000FF"/>
                </a:solidFill>
              </a:rPr>
              <a:t>(addressed later)</a:t>
            </a:r>
            <a:endParaRPr lang="en-US" altLang="zh-TW" sz="4300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 smtClean="0"/>
              <a:t>Accessing the queue is a </a:t>
            </a:r>
            <a:r>
              <a:rPr lang="en-US" altLang="zh-TW" b="1" dirty="0" smtClean="0"/>
              <a:t>performance bottleneck</a:t>
            </a:r>
            <a:endParaRPr lang="en-US" altLang="zh-TW" b="1" dirty="0"/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>
                <a:solidFill>
                  <a:srgbClr val="FF3300"/>
                </a:solidFill>
              </a:rPr>
              <a:t>Each </a:t>
            </a:r>
            <a:r>
              <a:rPr lang="en-US" altLang="zh-TW" dirty="0">
                <a:solidFill>
                  <a:srgbClr val="FF3300"/>
                </a:solidFill>
              </a:rPr>
              <a:t>processor has its private ready </a:t>
            </a:r>
            <a:r>
              <a:rPr lang="en-US" altLang="zh-TW" dirty="0" smtClean="0">
                <a:solidFill>
                  <a:srgbClr val="FF3300"/>
                </a:solidFill>
              </a:rPr>
              <a:t>queue</a:t>
            </a:r>
            <a:endParaRPr lang="en-US" altLang="zh-TW" sz="2000" dirty="0"/>
          </a:p>
          <a:p>
            <a:pPr lvl="2"/>
            <a:r>
              <a:rPr lang="en-US" altLang="zh-TW" dirty="0" smtClean="0"/>
              <a:t>Good</a:t>
            </a:r>
          </a:p>
          <a:p>
            <a:pPr lvl="3"/>
            <a:r>
              <a:rPr lang="en-US" altLang="zh-TW" dirty="0" smtClean="0"/>
              <a:t>Does not have the protection problem</a:t>
            </a:r>
          </a:p>
          <a:p>
            <a:pPr lvl="3"/>
            <a:r>
              <a:rPr lang="en-US" altLang="zh-TW" dirty="0" smtClean="0"/>
              <a:t>Allow more efficient use of </a:t>
            </a:r>
            <a:r>
              <a:rPr lang="en-US" altLang="zh-TW" b="1" dirty="0" smtClean="0"/>
              <a:t>cache memory </a:t>
            </a:r>
            <a:r>
              <a:rPr lang="en-US" altLang="zh-TW" sz="2200" dirty="0"/>
              <a:t>(addressed later)</a:t>
            </a:r>
          </a:p>
          <a:p>
            <a:pPr lvl="2"/>
            <a:r>
              <a:rPr lang="en-US" altLang="zh-TW" dirty="0" smtClean="0"/>
              <a:t>Bad</a:t>
            </a:r>
          </a:p>
          <a:p>
            <a:pPr lvl="3"/>
            <a:r>
              <a:rPr lang="en-US" altLang="zh-TW" dirty="0" smtClean="0"/>
              <a:t>Workload of varying size 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dirty="0" smtClean="0"/>
              <a:t> solved by </a:t>
            </a:r>
            <a:r>
              <a:rPr lang="en-US" altLang="zh-TW" b="1" dirty="0" smtClean="0"/>
              <a:t>load balance </a:t>
            </a:r>
            <a:r>
              <a:rPr lang="en-US" altLang="zh-TW" sz="2200" dirty="0"/>
              <a:t>(addressed later)</a:t>
            </a:r>
            <a:endParaRPr lang="en-US" altLang="zh-TW" sz="2600" dirty="0"/>
          </a:p>
          <a:p>
            <a:pPr lvl="2"/>
            <a:r>
              <a:rPr lang="en-US" altLang="zh-TW" b="1" dirty="0"/>
              <a:t>Most commonly </a:t>
            </a:r>
            <a:r>
              <a:rPr lang="en-US" altLang="zh-TW" b="1" dirty="0" smtClean="0"/>
              <a:t>used</a:t>
            </a:r>
            <a:endParaRPr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8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Organizations of </a:t>
            </a:r>
            <a:r>
              <a:rPr lang="en-US" altLang="zh-TW" dirty="0" smtClean="0"/>
              <a:t>Ready Queue in SMP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82" y="1362075"/>
            <a:ext cx="9393381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75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</a:t>
            </a:r>
            <a:r>
              <a:rPr lang="zh-TW" altLang="en-US" dirty="0">
                <a:solidFill>
                  <a:schemeClr val="tx1"/>
                </a:solidFill>
              </a:rPr>
              <a:t>怎麼辦呢</a:t>
            </a:r>
            <a:r>
              <a:rPr lang="en-US" altLang="zh-TW" dirty="0" smtClean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 smtClean="0"/>
              <a:t>Hint : </a:t>
            </a:r>
            <a:r>
              <a:rPr lang="zh-TW" altLang="en-US" b="1" dirty="0" smtClean="0"/>
              <a:t>觀察</a:t>
            </a:r>
            <a:r>
              <a:rPr lang="zh-TW" altLang="en-US" b="1" dirty="0" smtClean="0">
                <a:solidFill>
                  <a:srgbClr val="FF3300"/>
                </a:solidFill>
              </a:rPr>
              <a:t>前面兩個不同的執行流程</a:t>
            </a:r>
            <a:r>
              <a:rPr lang="en-US" altLang="zh-TW" b="1" dirty="0" smtClean="0">
                <a:solidFill>
                  <a:srgbClr val="FF3300"/>
                </a:solidFill>
              </a:rPr>
              <a:t>(P.9</a:t>
            </a:r>
            <a:r>
              <a:rPr lang="zh-TW" altLang="en-US" b="1" dirty="0" smtClean="0">
                <a:solidFill>
                  <a:srgbClr val="FF3300"/>
                </a:solidFill>
              </a:rPr>
              <a:t>和</a:t>
            </a:r>
            <a:r>
              <a:rPr lang="en-US" altLang="zh-TW" b="1" dirty="0" smtClean="0">
                <a:solidFill>
                  <a:srgbClr val="FF3300"/>
                </a:solidFill>
              </a:rPr>
              <a:t>P.13)</a:t>
            </a:r>
          </a:p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323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</a:t>
            </a:r>
            <a:r>
              <a:rPr lang="zh-TW" altLang="en-US" dirty="0">
                <a:solidFill>
                  <a:schemeClr val="tx1"/>
                </a:solidFill>
              </a:rPr>
              <a:t>怎麼辦呢</a:t>
            </a:r>
            <a:r>
              <a:rPr lang="en-US" altLang="zh-TW" dirty="0" smtClean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b="1" dirty="0" smtClean="0"/>
              <a:t>Sol</a:t>
            </a:r>
            <a:r>
              <a:rPr lang="en-US" altLang="zh-TW" b="1" dirty="0"/>
              <a:t>.: </a:t>
            </a:r>
            <a:r>
              <a:rPr lang="en-US" altLang="zh-TW" b="1" dirty="0">
                <a:solidFill>
                  <a:srgbClr val="FF3300"/>
                </a:solidFill>
              </a:rPr>
              <a:t>Process synchronization</a:t>
            </a:r>
            <a:r>
              <a:rPr lang="en-US" altLang="zh-TW" dirty="0"/>
              <a:t> and </a:t>
            </a:r>
            <a:r>
              <a:rPr lang="en-US" altLang="zh-TW" b="1" dirty="0" smtClean="0">
                <a:solidFill>
                  <a:srgbClr val="FF3300"/>
                </a:solidFill>
              </a:rPr>
              <a:t>coordination </a:t>
            </a:r>
            <a:r>
              <a:rPr lang="en-US" altLang="zh-TW" dirty="0" smtClean="0">
                <a:cs typeface="Calibri" panose="020F0502020204030204" pitchFamily="34" charset="0"/>
              </a:rPr>
              <a:t>Ensure </a:t>
            </a:r>
            <a:r>
              <a:rPr lang="en-US" altLang="zh-TW" b="1" dirty="0">
                <a:cs typeface="Calibri" panose="020F0502020204030204" pitchFamily="34" charset="0"/>
              </a:rPr>
              <a:t>only one process </a:t>
            </a:r>
            <a:r>
              <a:rPr lang="en-US" altLang="zh-TW" b="1" dirty="0">
                <a:solidFill>
                  <a:srgbClr val="FF3300"/>
                </a:solidFill>
                <a:cs typeface="Calibri" panose="020F0502020204030204" pitchFamily="34" charset="0"/>
              </a:rPr>
              <a:t>at a time</a:t>
            </a:r>
            <a:r>
              <a:rPr lang="en-US" altLang="zh-TW" dirty="0">
                <a:cs typeface="Calibri" panose="020F0502020204030204" pitchFamily="34" charset="0"/>
              </a:rPr>
              <a:t> can manipulate the shared data</a:t>
            </a:r>
          </a:p>
          <a:p>
            <a:pPr eaLnBrk="1" hangingPunct="1">
              <a:spcBef>
                <a:spcPts val="600"/>
              </a:spcBef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35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0000"/>
                </a:solidFill>
              </a:rPr>
              <a:t>Critical-Section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362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Critical Section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000" i="1" dirty="0"/>
              <a:t>n</a:t>
            </a:r>
            <a:r>
              <a:rPr lang="en-US" altLang="zh-TW" sz="3000" dirty="0"/>
              <a:t> processes all competing to use some shared data</a:t>
            </a:r>
          </a:p>
          <a:p>
            <a:pPr eaLnBrk="1" hangingPunct="1"/>
            <a:r>
              <a:rPr lang="en-US" altLang="zh-TW" sz="3000" dirty="0"/>
              <a:t>Each process has a </a:t>
            </a:r>
            <a:r>
              <a:rPr lang="en-US" altLang="zh-TW" sz="3000" b="1" dirty="0"/>
              <a:t>code segment </a:t>
            </a:r>
            <a:r>
              <a:rPr lang="en-US" altLang="zh-TW" sz="3000" dirty="0"/>
              <a:t>in which </a:t>
            </a:r>
            <a:r>
              <a:rPr lang="en-US" altLang="zh-TW" sz="3000" i="1" dirty="0">
                <a:solidFill>
                  <a:srgbClr val="FF0000"/>
                </a:solidFill>
              </a:rPr>
              <a:t>the shared data is accessed</a:t>
            </a:r>
            <a:r>
              <a:rPr lang="en-US" altLang="zh-TW" sz="3000" dirty="0"/>
              <a:t>.</a:t>
            </a:r>
          </a:p>
          <a:p>
            <a:pPr lvl="1" eaLnBrk="1" hangingPunct="1"/>
            <a:r>
              <a:rPr lang="en-US" altLang="zh-TW" sz="2600" dirty="0"/>
              <a:t>This segment is called a </a:t>
            </a:r>
            <a:r>
              <a:rPr lang="en-US" altLang="zh-TW" sz="2600" b="1" dirty="0">
                <a:solidFill>
                  <a:srgbClr val="FF3300"/>
                </a:solidFill>
              </a:rPr>
              <a:t>critical section (CS)</a:t>
            </a:r>
          </a:p>
          <a:p>
            <a:pPr lvl="1" eaLnBrk="1" hangingPunct="1"/>
            <a:r>
              <a:rPr lang="en-US" altLang="zh-TW" sz="1800" dirty="0" smtClean="0"/>
              <a:t>See the following slide</a:t>
            </a:r>
            <a:endParaRPr lang="en-US" altLang="zh-TW" sz="1800" dirty="0"/>
          </a:p>
          <a:p>
            <a:pPr eaLnBrk="1" hangingPunct="1"/>
            <a:endParaRPr lang="en-US" altLang="zh-TW" sz="3000" b="1" dirty="0" smtClean="0"/>
          </a:p>
          <a:p>
            <a:pPr eaLnBrk="1" hangingPunct="1"/>
            <a:r>
              <a:rPr lang="en-US" altLang="zh-TW" sz="3000" b="1" dirty="0" smtClean="0"/>
              <a:t>Goal: </a:t>
            </a:r>
            <a:r>
              <a:rPr lang="zh-TW" altLang="en-US" sz="3000" b="1" dirty="0" smtClean="0"/>
              <a:t>為了解決</a:t>
            </a:r>
            <a:r>
              <a:rPr lang="en-US" altLang="zh-TW" sz="3000" b="1" dirty="0" smtClean="0"/>
              <a:t>race condition</a:t>
            </a:r>
            <a:r>
              <a:rPr lang="zh-TW" altLang="en-US" sz="3000" b="1" dirty="0" smtClean="0"/>
              <a:t>的問題</a:t>
            </a:r>
            <a:endParaRPr lang="en-US" altLang="zh-TW" sz="3000" b="1" dirty="0"/>
          </a:p>
          <a:p>
            <a:pPr lvl="1" eaLnBrk="1" hangingPunct="1"/>
            <a:r>
              <a:rPr lang="en-US" altLang="zh-TW" sz="2600" dirty="0"/>
              <a:t>When one process is executing in its critical section</a:t>
            </a:r>
          </a:p>
          <a:p>
            <a:pPr lvl="1" eaLnBrk="1" hangingPunct="1"/>
            <a:r>
              <a:rPr lang="en-US" altLang="zh-TW" sz="2600" dirty="0"/>
              <a:t>No other processes are executing in their critical sections at the same time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Critical </a:t>
            </a:r>
            <a:r>
              <a:rPr lang="en-US" altLang="zh-TW" dirty="0" smtClean="0"/>
              <a:t>Section Example</a:t>
            </a:r>
            <a:endParaRPr lang="zh-TW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26" y="1520826"/>
            <a:ext cx="8177213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圓角矩形 3"/>
          <p:cNvSpPr/>
          <p:nvPr/>
        </p:nvSpPr>
        <p:spPr>
          <a:xfrm>
            <a:off x="3503712" y="5085184"/>
            <a:ext cx="1800200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"/>
          <p:cNvSpPr/>
          <p:nvPr/>
        </p:nvSpPr>
        <p:spPr>
          <a:xfrm>
            <a:off x="5746062" y="5305808"/>
            <a:ext cx="2222145" cy="499455"/>
          </a:xfrm>
          <a:prstGeom prst="wedgeRoundRectCallout">
            <a:avLst>
              <a:gd name="adj1" fmla="val -73115"/>
              <a:gd name="adj2" fmla="val -49112"/>
              <a:gd name="adj3" fmla="val 16667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Critical Section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21F6B2-21FE-4301-92EC-4E744D63E105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834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如何實現上述的目標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b="1" dirty="0" err="1" smtClean="0"/>
              <a:t>Ans</a:t>
            </a:r>
            <a:r>
              <a:rPr lang="en-US" altLang="zh-TW" b="1" dirty="0" smtClean="0"/>
              <a:t>: </a:t>
            </a:r>
            <a:r>
              <a:rPr lang="zh-TW" altLang="en-US" b="1" dirty="0" smtClean="0"/>
              <a:t>一定要修改程式碼</a:t>
            </a:r>
            <a:endParaRPr lang="en-US" altLang="zh-TW" b="1" dirty="0" smtClean="0"/>
          </a:p>
        </p:txBody>
      </p:sp>
    </p:spTree>
    <p:extLst>
      <p:ext uri="{BB962C8B-B14F-4D97-AF65-F5344CB8AC3E}">
        <p14:creationId xmlns:p14="http://schemas.microsoft.com/office/powerpoint/2010/main" val="101936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改在哪裡呢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b="1" dirty="0" err="1" smtClean="0"/>
              <a:t>Ans</a:t>
            </a:r>
            <a:r>
              <a:rPr lang="en-US" altLang="zh-TW" b="1" dirty="0" smtClean="0"/>
              <a:t>: </a:t>
            </a:r>
            <a:r>
              <a:rPr lang="zh-TW" altLang="en-US" b="1" dirty="0" smtClean="0"/>
              <a:t>一定是</a:t>
            </a:r>
            <a:r>
              <a:rPr lang="en-US" altLang="zh-TW" b="1" dirty="0" smtClean="0"/>
              <a:t>Critical Section</a:t>
            </a:r>
            <a:r>
              <a:rPr lang="zh-TW" altLang="en-US" b="1" dirty="0" smtClean="0"/>
              <a:t>前後</a:t>
            </a:r>
            <a:endParaRPr lang="en-US" altLang="zh-TW" b="1" dirty="0" smtClean="0"/>
          </a:p>
        </p:txBody>
      </p:sp>
    </p:spTree>
    <p:extLst>
      <p:ext uri="{BB962C8B-B14F-4D97-AF65-F5344CB8AC3E}">
        <p14:creationId xmlns:p14="http://schemas.microsoft.com/office/powerpoint/2010/main" val="292108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Critical Section Problem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 accomplish the goal, we need to </a:t>
            </a:r>
            <a:r>
              <a:rPr lang="en-US" altLang="zh-TW" b="1" dirty="0"/>
              <a:t>modify</a:t>
            </a:r>
            <a:r>
              <a:rPr lang="en-US" altLang="zh-TW" dirty="0"/>
              <a:t> the original code.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Before the </a:t>
            </a:r>
            <a:r>
              <a:rPr lang="en-US" altLang="zh-TW" dirty="0"/>
              <a:t>CS, each process </a:t>
            </a:r>
            <a:r>
              <a:rPr lang="en-US" altLang="zh-TW" b="1" dirty="0" smtClean="0">
                <a:solidFill>
                  <a:srgbClr val="0000FF"/>
                </a:solidFill>
              </a:rPr>
              <a:t>requests </a:t>
            </a:r>
            <a:r>
              <a:rPr lang="en-US" altLang="zh-TW" dirty="0" smtClean="0"/>
              <a:t>to </a:t>
            </a:r>
            <a:r>
              <a:rPr lang="en-US" altLang="zh-TW" dirty="0"/>
              <a:t>use </a:t>
            </a:r>
            <a:r>
              <a:rPr lang="en-US" altLang="zh-TW" dirty="0" smtClean="0"/>
              <a:t>the </a:t>
            </a:r>
            <a:r>
              <a:rPr lang="en-US" altLang="zh-TW" dirty="0"/>
              <a:t>critical sections </a:t>
            </a:r>
            <a:r>
              <a:rPr lang="en-US" altLang="zh-TW" b="1" dirty="0" smtClean="0">
                <a:solidFill>
                  <a:srgbClr val="0000FF"/>
                </a:solidFill>
              </a:rPr>
              <a:t>exclusively</a:t>
            </a:r>
            <a:r>
              <a:rPr lang="en-US" altLang="zh-TW" dirty="0" smtClean="0"/>
              <a:t>: </a:t>
            </a:r>
            <a:r>
              <a:rPr lang="en-US" altLang="zh-TW" b="1" dirty="0">
                <a:solidFill>
                  <a:srgbClr val="FF0000"/>
                </a:solidFill>
              </a:rPr>
              <a:t>entry section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After the CS, each process </a:t>
            </a:r>
            <a:r>
              <a:rPr lang="en-US" altLang="zh-TW" b="1" dirty="0" smtClean="0">
                <a:solidFill>
                  <a:srgbClr val="0000FF"/>
                </a:solidFill>
              </a:rPr>
              <a:t>releases the request</a:t>
            </a:r>
            <a:r>
              <a:rPr lang="en-US" altLang="zh-TW" dirty="0" smtClean="0"/>
              <a:t>: </a:t>
            </a:r>
            <a:r>
              <a:rPr lang="en-US" altLang="zh-TW" b="1" dirty="0">
                <a:solidFill>
                  <a:srgbClr val="FF0000"/>
                </a:solidFill>
              </a:rPr>
              <a:t>exit section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remaining code is the </a:t>
            </a:r>
            <a:r>
              <a:rPr lang="en-US" altLang="zh-TW" b="1" dirty="0">
                <a:solidFill>
                  <a:srgbClr val="FF0000"/>
                </a:solidFill>
              </a:rPr>
              <a:t>remainder section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870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General Structure of a Typical Process</a:t>
            </a:r>
            <a:endParaRPr lang="zh-TW" altLang="en-US" sz="4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3404770" y="5949281"/>
            <a:ext cx="5342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>
                <a:latin typeface="Calibri" panose="020F0502020204030204" pitchFamily="34" charset="0"/>
              </a:rPr>
              <a:t>General structure of process </a:t>
            </a:r>
            <a:r>
              <a:rPr lang="en-US" altLang="en-US" sz="3200" b="1" i="1" dirty="0">
                <a:latin typeface="Calibri" panose="020F0502020204030204" pitchFamily="34" charset="0"/>
              </a:rPr>
              <a:t>P</a:t>
            </a:r>
            <a:r>
              <a:rPr lang="en-US" altLang="en-US" sz="3200" b="1" i="1" baseline="-25000" dirty="0">
                <a:latin typeface="Calibri" panose="020F0502020204030204" pitchFamily="34" charset="0"/>
              </a:rPr>
              <a:t>i </a:t>
            </a:r>
            <a:endParaRPr lang="zh-TW" altLang="en-US" sz="3200" dirty="0">
              <a:latin typeface="Calibri" panose="020F0502020204030204" pitchFamily="34" charset="0"/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648967"/>
            <a:ext cx="7416824" cy="391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圓角矩形圖說文字 4"/>
          <p:cNvSpPr/>
          <p:nvPr/>
        </p:nvSpPr>
        <p:spPr>
          <a:xfrm>
            <a:off x="7968208" y="2276872"/>
            <a:ext cx="2222145" cy="499455"/>
          </a:xfrm>
          <a:prstGeom prst="wedgeRoundRectCallout">
            <a:avLst>
              <a:gd name="adj1" fmla="val -95681"/>
              <a:gd name="adj2" fmla="val 9946"/>
              <a:gd name="adj3" fmla="val 16667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New Code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圓角矩形圖說文字 5"/>
          <p:cNvSpPr/>
          <p:nvPr/>
        </p:nvSpPr>
        <p:spPr>
          <a:xfrm>
            <a:off x="7752184" y="3625276"/>
            <a:ext cx="2222145" cy="499455"/>
          </a:xfrm>
          <a:prstGeom prst="wedgeRoundRectCallout">
            <a:avLst>
              <a:gd name="adj1" fmla="val -95681"/>
              <a:gd name="adj2" fmla="val 9946"/>
              <a:gd name="adj3" fmla="val 16667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New Code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211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問題：如何撰寫這兩段程式碼</a:t>
            </a:r>
            <a:r>
              <a:rPr lang="zh-TW" altLang="en-US" dirty="0" smtClean="0"/>
              <a:t>？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先理解這兩段程式碼的要求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957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Solution to Critical-Section Problem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3300"/>
                </a:solidFill>
              </a:rPr>
              <a:t>A solution should satisfy the following requirements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 dirty="0"/>
              <a:t>1. Mutual Exclusion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At any time, at most </a:t>
            </a:r>
            <a:r>
              <a:rPr lang="en-US" altLang="zh-TW" sz="2000" b="1" dirty="0">
                <a:solidFill>
                  <a:srgbClr val="0000FF"/>
                </a:solidFill>
              </a:rPr>
              <a:t>one</a:t>
            </a:r>
            <a:r>
              <a:rPr lang="en-US" altLang="zh-TW" sz="2000" dirty="0"/>
              <a:t> process can be in its critical section (CS)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 dirty="0"/>
              <a:t>2. Progress: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If </a:t>
            </a:r>
            <a:r>
              <a:rPr lang="en-US" altLang="zh-TW" sz="2000" b="1" dirty="0"/>
              <a:t>no process </a:t>
            </a:r>
            <a:r>
              <a:rPr lang="en-US" altLang="zh-TW" sz="2000" dirty="0"/>
              <a:t>is executing in its CS and there exist some processes that wish to enter their CS…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Only those processes that are </a:t>
            </a:r>
            <a:r>
              <a:rPr lang="en-US" altLang="zh-TW" sz="2000" b="1" dirty="0"/>
              <a:t>not</a:t>
            </a:r>
            <a:r>
              <a:rPr lang="en-US" altLang="zh-TW" sz="2000" dirty="0"/>
              <a:t> executing in their </a:t>
            </a:r>
            <a:r>
              <a:rPr lang="en-US" altLang="zh-TW" sz="2000" b="1" dirty="0"/>
              <a:t>remainder</a:t>
            </a:r>
            <a:r>
              <a:rPr lang="en-US" altLang="zh-TW" sz="2000" dirty="0"/>
              <a:t> sections (i.e., in </a:t>
            </a:r>
            <a:r>
              <a:rPr lang="en-US" altLang="zh-TW" sz="2000" dirty="0">
                <a:solidFill>
                  <a:srgbClr val="FF0000"/>
                </a:solidFill>
              </a:rPr>
              <a:t>entry- or exit-sections</a:t>
            </a:r>
            <a:r>
              <a:rPr lang="en-US" altLang="zh-TW" sz="2000" dirty="0"/>
              <a:t>) can participate in deciding which process will enter its critical section next (</a:t>
            </a:r>
            <a:r>
              <a:rPr lang="zh-TW" altLang="en-US" sz="2000" dirty="0">
                <a:latin typeface="標楷體" pitchFamily="65" charset="-120"/>
              </a:rPr>
              <a:t>不相干者不參與決策</a:t>
            </a:r>
            <a:r>
              <a:rPr lang="en-US" altLang="zh-TW" sz="20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And the selection of the processes that will enter the critical section next </a:t>
            </a:r>
            <a:r>
              <a:rPr lang="en-US" altLang="zh-TW" sz="2000" b="1" dirty="0">
                <a:solidFill>
                  <a:srgbClr val="0000FF"/>
                </a:solidFill>
              </a:rPr>
              <a:t>cannot be postponed indefinitely</a:t>
            </a:r>
            <a:r>
              <a:rPr lang="en-US" altLang="zh-TW" sz="2000" dirty="0"/>
              <a:t>. </a:t>
            </a:r>
            <a:r>
              <a:rPr lang="en-US" altLang="zh-TW" sz="2000" dirty="0" smtClean="0"/>
              <a:t>(see the following slide)</a:t>
            </a:r>
            <a:endParaRPr lang="en-US" altLang="zh-TW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 dirty="0"/>
              <a:t>3. Bounded Waiting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After a process has made a request to enter its CS and before that request is granted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A </a:t>
            </a:r>
            <a:r>
              <a:rPr lang="en-US" altLang="zh-TW" sz="2000" b="1" dirty="0"/>
              <a:t>bound</a:t>
            </a:r>
            <a:r>
              <a:rPr lang="en-US" altLang="zh-TW" sz="2000" dirty="0"/>
              <a:t> must exist on the number of times that </a:t>
            </a:r>
            <a:r>
              <a:rPr lang="en-US" altLang="zh-TW" sz="2000" b="1" dirty="0"/>
              <a:t>other</a:t>
            </a:r>
            <a:r>
              <a:rPr lang="en-US" altLang="zh-TW" sz="2000" dirty="0"/>
              <a:t> processes are allowed to enter its critical sections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srgbClr val="0000FF"/>
                </a:solidFill>
              </a:rPr>
              <a:t>Guarantee 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the process will </a:t>
            </a:r>
            <a:r>
              <a:rPr lang="en-US" altLang="zh-TW" sz="2000" b="1" dirty="0">
                <a:solidFill>
                  <a:srgbClr val="0000FF"/>
                </a:solidFill>
              </a:rPr>
              <a:t>be selected to enter its CS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dirty="0"/>
              <a:t>Otherwise the process will </a:t>
            </a:r>
            <a:r>
              <a:rPr lang="en-US" altLang="zh-TW" sz="1800" dirty="0" smtClean="0"/>
              <a:t>suffer from </a:t>
            </a:r>
            <a:r>
              <a:rPr lang="en-US" altLang="zh-TW" sz="1800" b="1" dirty="0" smtClean="0">
                <a:solidFill>
                  <a:srgbClr val="0000FF"/>
                </a:solidFill>
              </a:rPr>
              <a:t>starvation</a:t>
            </a:r>
            <a:endParaRPr lang="en-US" altLang="zh-TW" sz="1800" b="1" dirty="0">
              <a:solidFill>
                <a:srgbClr val="0000FF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983432" y="1052736"/>
            <a:ext cx="2880320" cy="4680520"/>
            <a:chOff x="983432" y="1916832"/>
            <a:chExt cx="2880320" cy="4104456"/>
          </a:xfrm>
        </p:grpSpPr>
        <p:sp>
          <p:nvSpPr>
            <p:cNvPr id="8" name="矩形 7"/>
            <p:cNvSpPr/>
            <p:nvPr/>
          </p:nvSpPr>
          <p:spPr>
            <a:xfrm>
              <a:off x="983432" y="1916832"/>
              <a:ext cx="2880320" cy="4104456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440" y="1988841"/>
              <a:ext cx="2736304" cy="3870932"/>
            </a:xfrm>
            <a:prstGeom prst="rect">
              <a:avLst/>
            </a:prstGeom>
          </p:spPr>
        </p:pic>
      </p:grpSp>
      <p:grpSp>
        <p:nvGrpSpPr>
          <p:cNvPr id="11" name="群組 10"/>
          <p:cNvGrpSpPr/>
          <p:nvPr/>
        </p:nvGrpSpPr>
        <p:grpSpPr>
          <a:xfrm>
            <a:off x="4727848" y="1052736"/>
            <a:ext cx="2880320" cy="4680520"/>
            <a:chOff x="983432" y="1916832"/>
            <a:chExt cx="2880320" cy="4104456"/>
          </a:xfrm>
        </p:grpSpPr>
        <p:sp>
          <p:nvSpPr>
            <p:cNvPr id="12" name="矩形 11"/>
            <p:cNvSpPr/>
            <p:nvPr/>
          </p:nvSpPr>
          <p:spPr>
            <a:xfrm>
              <a:off x="983432" y="1916832"/>
              <a:ext cx="2880320" cy="4104456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440" y="1988841"/>
              <a:ext cx="2736304" cy="3870932"/>
            </a:xfrm>
            <a:prstGeom prst="rect">
              <a:avLst/>
            </a:prstGeom>
          </p:spPr>
        </p:pic>
      </p:grpSp>
      <p:grpSp>
        <p:nvGrpSpPr>
          <p:cNvPr id="14" name="群組 13"/>
          <p:cNvGrpSpPr/>
          <p:nvPr/>
        </p:nvGrpSpPr>
        <p:grpSpPr>
          <a:xfrm>
            <a:off x="8472264" y="1052736"/>
            <a:ext cx="2880320" cy="4680520"/>
            <a:chOff x="983432" y="1916832"/>
            <a:chExt cx="2880320" cy="4104456"/>
          </a:xfrm>
        </p:grpSpPr>
        <p:sp>
          <p:nvSpPr>
            <p:cNvPr id="15" name="矩形 14"/>
            <p:cNvSpPr/>
            <p:nvPr/>
          </p:nvSpPr>
          <p:spPr>
            <a:xfrm>
              <a:off x="983432" y="1916832"/>
              <a:ext cx="2880320" cy="4104456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6" name="圖片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440" y="1988841"/>
              <a:ext cx="2736304" cy="3870932"/>
            </a:xfrm>
            <a:prstGeom prst="rect">
              <a:avLst/>
            </a:prstGeom>
          </p:spPr>
        </p:pic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256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那到底</a:t>
            </a:r>
            <a:r>
              <a:rPr lang="en-US" altLang="zh-TW" dirty="0" smtClean="0"/>
              <a:t>Entry Section</a:t>
            </a:r>
            <a:r>
              <a:rPr lang="zh-TW" altLang="en-US" dirty="0" smtClean="0"/>
              <a:t>和</a:t>
            </a:r>
            <a:r>
              <a:rPr lang="en-US" altLang="zh-TW" dirty="0" smtClean="0"/>
              <a:t>Exit Section</a:t>
            </a:r>
            <a:r>
              <a:rPr lang="zh-TW" altLang="en-US" dirty="0" smtClean="0"/>
              <a:t>的程式碼</a:t>
            </a:r>
            <a:r>
              <a:rPr lang="zh-TW" altLang="en-US" dirty="0"/>
              <a:t>要如何寫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本章要</a:t>
            </a:r>
            <a:r>
              <a:rPr lang="zh-TW" altLang="en-US" dirty="0" smtClean="0"/>
              <a:t>學習的</a:t>
            </a:r>
            <a:r>
              <a:rPr lang="en-US" altLang="zh-TW" dirty="0" smtClean="0"/>
              <a:t>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297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Solutions to Race Conditions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/>
              <a:t>Software solutions</a:t>
            </a:r>
          </a:p>
          <a:p>
            <a:pPr lvl="1" eaLnBrk="1" hangingPunct="1"/>
            <a:r>
              <a:rPr lang="en-US" altLang="zh-TW" dirty="0" smtClean="0"/>
              <a:t>Peterson’s solutions</a:t>
            </a:r>
          </a:p>
          <a:p>
            <a:pPr eaLnBrk="1" hangingPunct="1"/>
            <a:r>
              <a:rPr lang="en-US" altLang="zh-TW" b="1" dirty="0" smtClean="0"/>
              <a:t>Hardware solutions</a:t>
            </a:r>
          </a:p>
          <a:p>
            <a:pPr lvl="1" eaLnBrk="1" hangingPunct="1"/>
            <a:r>
              <a:rPr lang="en-US" altLang="zh-TW" dirty="0" smtClean="0"/>
              <a:t>Rely on some special machine instructions</a:t>
            </a:r>
          </a:p>
          <a:p>
            <a:pPr eaLnBrk="1" hangingPunct="1"/>
            <a:r>
              <a:rPr lang="en-US" altLang="zh-TW" b="1" dirty="0" smtClean="0"/>
              <a:t>Operation System solutions</a:t>
            </a:r>
          </a:p>
          <a:p>
            <a:pPr lvl="1" eaLnBrk="1" hangingPunct="1"/>
            <a:r>
              <a:rPr lang="en-US" altLang="zh-TW" dirty="0" smtClean="0"/>
              <a:t>Provide some functions and data structures to the programmer</a:t>
            </a:r>
          </a:p>
          <a:p>
            <a:pPr lvl="1" eaLnBrk="1" hangingPunct="1"/>
            <a:r>
              <a:rPr lang="en-US" altLang="zh-TW" dirty="0" smtClean="0"/>
              <a:t>Built upon the hardware solutions</a:t>
            </a:r>
          </a:p>
          <a:p>
            <a:pPr eaLnBrk="1" hangingPunct="1"/>
            <a:r>
              <a:rPr lang="en-US" altLang="zh-TW" b="1" dirty="0" smtClean="0"/>
              <a:t>Language level solutions</a:t>
            </a:r>
          </a:p>
          <a:p>
            <a:pPr lvl="1" eaLnBrk="1" hangingPunct="1"/>
            <a:r>
              <a:rPr lang="en-US" altLang="zh-TW" dirty="0" smtClean="0"/>
              <a:t>Built upon the OS solutions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492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Peterson</a:t>
            </a:r>
            <a:r>
              <a:rPr lang="en-US" altLang="zh-TW" sz="2800" b="1" dirty="0">
                <a:solidFill>
                  <a:srgbClr val="FF0000"/>
                </a:solidFill>
                <a:latin typeface="Helvetica" pitchFamily="34" charset="0"/>
              </a:rPr>
              <a:t>’</a:t>
            </a:r>
            <a:r>
              <a:rPr lang="en-US" altLang="zh-TW" sz="2800" b="1" dirty="0">
                <a:solidFill>
                  <a:srgbClr val="FF0000"/>
                </a:solidFill>
              </a:rPr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973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Peterson</a:t>
            </a:r>
            <a:r>
              <a:rPr lang="en-US" altLang="zh-TW" dirty="0" smtClean="0">
                <a:latin typeface="Helvetica"/>
              </a:rPr>
              <a:t>’</a:t>
            </a:r>
            <a:r>
              <a:rPr lang="en-US" altLang="zh-TW" dirty="0" smtClean="0"/>
              <a:t>s Solution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Not guaranteed to work on modern architectures!</a:t>
            </a:r>
          </a:p>
          <a:p>
            <a:pPr lvl="1" eaLnBrk="1" hangingPunct="1"/>
            <a:r>
              <a:rPr lang="en-US" altLang="en-US" sz="2400" dirty="0"/>
              <a:t>Discussed later</a:t>
            </a:r>
          </a:p>
          <a:p>
            <a:pPr eaLnBrk="1" hangingPunct="1"/>
            <a:r>
              <a:rPr lang="en-US" altLang="zh-TW" sz="2800" b="1" dirty="0">
                <a:solidFill>
                  <a:srgbClr val="FF3300"/>
                </a:solidFill>
              </a:rPr>
              <a:t>Two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processes </a:t>
            </a:r>
            <a:r>
              <a:rPr lang="en-US" altLang="zh-TW" sz="2800" dirty="0"/>
              <a:t>solution</a:t>
            </a:r>
          </a:p>
          <a:p>
            <a:pPr eaLnBrk="1" hangingPunct="1"/>
            <a:r>
              <a:rPr lang="en-US" altLang="zh-TW" sz="2800" dirty="0" smtClean="0"/>
              <a:t>The </a:t>
            </a:r>
            <a:r>
              <a:rPr lang="en-US" altLang="zh-TW" sz="2800" dirty="0"/>
              <a:t>two processes share two variables:</a:t>
            </a:r>
          </a:p>
          <a:p>
            <a:pPr lvl="1" eaLnBrk="1" hangingPunct="1"/>
            <a:r>
              <a:rPr lang="en-US" altLang="zh-TW" sz="2400" dirty="0" err="1"/>
              <a:t>int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</a:rPr>
              <a:t>turn</a:t>
            </a:r>
            <a:r>
              <a:rPr lang="en-US" altLang="zh-TW" sz="2400" dirty="0"/>
              <a:t>; </a:t>
            </a:r>
          </a:p>
          <a:p>
            <a:pPr lvl="2" eaLnBrk="1" hangingPunct="1"/>
            <a:r>
              <a:rPr lang="en-US" altLang="zh-TW" sz="2000" dirty="0"/>
              <a:t>Indicate whose turn it is to enter the critical section</a:t>
            </a:r>
          </a:p>
          <a:p>
            <a:pPr lvl="1" eaLnBrk="1" hangingPunct="1"/>
            <a:r>
              <a:rPr lang="en-US" altLang="zh-TW" sz="2400" dirty="0"/>
              <a:t>Boolean </a:t>
            </a:r>
            <a:r>
              <a:rPr lang="en-US" altLang="zh-TW" sz="2400" dirty="0">
                <a:solidFill>
                  <a:srgbClr val="FF0000"/>
                </a:solidFill>
              </a:rPr>
              <a:t>flag[2]</a:t>
            </a:r>
          </a:p>
          <a:p>
            <a:pPr lvl="2" eaLnBrk="1" hangingPunct="1"/>
            <a:r>
              <a:rPr lang="en-US" altLang="zh-TW" sz="2000" dirty="0"/>
              <a:t>Indicate if a process is ready to enter the critical section. </a:t>
            </a:r>
          </a:p>
          <a:p>
            <a:pPr lvl="2" eaLnBrk="1" hangingPunct="1"/>
            <a:r>
              <a:rPr lang="en-US" altLang="zh-TW" sz="2000" dirty="0">
                <a:solidFill>
                  <a:srgbClr val="FF0000"/>
                </a:solidFill>
              </a:rPr>
              <a:t>flag[</a:t>
            </a:r>
            <a:r>
              <a:rPr lang="en-US" altLang="zh-TW" sz="2000" dirty="0" err="1">
                <a:solidFill>
                  <a:srgbClr val="FF0000"/>
                </a:solidFill>
              </a:rPr>
              <a:t>i</a:t>
            </a:r>
            <a:r>
              <a:rPr lang="en-US" altLang="zh-TW" sz="2000" dirty="0">
                <a:solidFill>
                  <a:srgbClr val="FF0000"/>
                </a:solidFill>
              </a:rPr>
              <a:t>] </a:t>
            </a:r>
            <a:r>
              <a:rPr lang="en-US" altLang="zh-TW" sz="2000" dirty="0"/>
              <a:t>= 1, implies that process </a:t>
            </a:r>
            <a:r>
              <a:rPr lang="en-US" altLang="zh-TW" sz="2000" i="1" dirty="0">
                <a:solidFill>
                  <a:srgbClr val="0000FF"/>
                </a:solidFill>
              </a:rPr>
              <a:t>P</a:t>
            </a:r>
            <a:r>
              <a:rPr lang="en-US" altLang="zh-TW" sz="2000" i="1" baseline="-25000" dirty="0">
                <a:solidFill>
                  <a:srgbClr val="0000FF"/>
                </a:solidFill>
              </a:rPr>
              <a:t>i</a:t>
            </a:r>
            <a:r>
              <a:rPr lang="en-US" altLang="zh-TW" sz="2000" dirty="0"/>
              <a:t> is ready to enter CS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Peterson</a:t>
            </a:r>
            <a:r>
              <a:rPr lang="en-US" altLang="zh-TW" smtClean="0">
                <a:latin typeface="Helvetica"/>
              </a:rPr>
              <a:t>’</a:t>
            </a:r>
            <a:r>
              <a:rPr lang="en-US" altLang="zh-TW" smtClean="0"/>
              <a:t>s Solution</a:t>
            </a: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2351088" y="1198564"/>
            <a:ext cx="7345312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do {</a:t>
            </a: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	flag[i] = TRUE;</a:t>
            </a: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	turn = j;		</a:t>
            </a:r>
            <a:r>
              <a:rPr lang="en-US" altLang="zh-TW" sz="2800" dirty="0">
                <a:solidFill>
                  <a:srgbClr val="FF3300"/>
                </a:solidFill>
                <a:latin typeface="Calibri" panose="020F0502020204030204" pitchFamily="34" charset="0"/>
              </a:rPr>
              <a:t>// you first</a:t>
            </a: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	while ( flag[j] &amp;&amp; turn == j); </a:t>
            </a:r>
          </a:p>
          <a:p>
            <a:endParaRPr lang="en-US" altLang="zh-TW" sz="28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		</a:t>
            </a:r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CRITICAL SECTION</a:t>
            </a:r>
          </a:p>
          <a:p>
            <a:endParaRPr lang="en-US" altLang="zh-TW" sz="28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	flag[i] = FALSE; 	</a:t>
            </a:r>
            <a:r>
              <a:rPr lang="en-US" altLang="zh-TW" sz="2800" dirty="0">
                <a:solidFill>
                  <a:srgbClr val="FF3300"/>
                </a:solidFill>
                <a:latin typeface="Calibri" panose="020F0502020204030204" pitchFamily="34" charset="0"/>
              </a:rPr>
              <a:t>// exit</a:t>
            </a:r>
          </a:p>
          <a:p>
            <a:endParaRPr lang="en-US" altLang="zh-TW" sz="2800" dirty="0">
              <a:solidFill>
                <a:srgbClr val="FF3300"/>
              </a:solidFill>
              <a:latin typeface="Calibri" panose="020F0502020204030204" pitchFamily="34" charset="0"/>
            </a:endParaRP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		REMAINDER SECTION</a:t>
            </a:r>
          </a:p>
          <a:p>
            <a:endParaRPr lang="en-US" altLang="zh-TW" sz="28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r>
              <a:rPr lang="en-US" altLang="zh-TW" sz="2800" dirty="0">
                <a:solidFill>
                  <a:srgbClr val="0000FF"/>
                </a:solidFill>
                <a:latin typeface="Calibri" panose="020F0502020204030204" pitchFamily="34" charset="0"/>
              </a:rPr>
              <a:t>} while (TRUE);</a:t>
            </a:r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3287713" y="1700214"/>
            <a:ext cx="4608512" cy="1296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3289301" y="4149725"/>
            <a:ext cx="3959225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8112225" y="2002520"/>
            <a:ext cx="2154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Entry Section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112225" y="4273932"/>
            <a:ext cx="1919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Exit Section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905000" y="1814514"/>
            <a:ext cx="4191000" cy="4067175"/>
          </a:xfrm>
          <a:prstGeom prst="rect">
            <a:avLst/>
          </a:prstGeom>
          <a:noFill/>
          <a:ln w="12700" cap="sq">
            <a:solidFill>
              <a:srgbClr val="00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Process P0:</a:t>
            </a: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Do {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flag[0]:=true;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// </a:t>
            </a:r>
            <a:r>
              <a:rPr kumimoji="0" lang="en-US" altLang="zh-TW" sz="1600" b="1" dirty="0" smtClean="0">
                <a:solidFill>
                  <a:schemeClr val="hlink"/>
                </a:solidFill>
                <a:latin typeface="Courier New" pitchFamily="49" charset="0"/>
              </a:rPr>
              <a:t>P0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wants in 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turn:= 1; 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// </a:t>
            </a:r>
            <a:r>
              <a:rPr kumimoji="0" lang="en-US" altLang="zh-TW" sz="1600" b="1" dirty="0" smtClean="0">
                <a:solidFill>
                  <a:srgbClr val="FF3300"/>
                </a:solidFill>
                <a:latin typeface="Courier New" pitchFamily="49" charset="0"/>
              </a:rPr>
              <a:t>P0 </a:t>
            </a:r>
            <a:r>
              <a:rPr kumimoji="0" lang="en-US" altLang="zh-TW" sz="1600" b="1" dirty="0">
                <a:solidFill>
                  <a:srgbClr val="FF3300"/>
                </a:solidFill>
                <a:latin typeface="Courier New" pitchFamily="49" charset="0"/>
              </a:rPr>
              <a:t>gives a chance to </a:t>
            </a:r>
            <a:r>
              <a:rPr kumimoji="0" lang="en-US" altLang="zh-TW" sz="1600" b="1" dirty="0" smtClean="0">
                <a:solidFill>
                  <a:srgbClr val="FF3300"/>
                </a:solidFill>
                <a:latin typeface="Courier New" pitchFamily="49" charset="0"/>
              </a:rPr>
              <a:t>P1</a:t>
            </a:r>
            <a:endParaRPr kumimoji="0" lang="en-US" altLang="zh-TW" sz="1800" b="1" dirty="0">
              <a:solidFill>
                <a:srgbClr val="FF3300"/>
              </a:solidFill>
              <a:latin typeface="Courier New" pitchFamily="49" charset="0"/>
            </a:endParaRP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while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(flag[1]&amp;&amp;turn=1){};</a:t>
            </a:r>
            <a:endParaRPr kumimoji="0" lang="en-US" altLang="zh-TW" sz="2000" b="1" dirty="0">
              <a:latin typeface="Courier New" pitchFamily="49" charset="0"/>
            </a:endParaRP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     CS</a:t>
            </a: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  </a:t>
            </a:r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flag[0]:=false;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// </a:t>
            </a:r>
            <a:r>
              <a:rPr kumimoji="0" lang="en-US" altLang="zh-TW" sz="1600" b="1" dirty="0" smtClean="0">
                <a:solidFill>
                  <a:schemeClr val="hlink"/>
                </a:solidFill>
                <a:latin typeface="Courier New" pitchFamily="49" charset="0"/>
              </a:rPr>
              <a:t>P0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no longer wants in</a:t>
            </a:r>
            <a:endParaRPr kumimoji="0" lang="en-US" altLang="zh-TW" sz="2000" b="1" dirty="0">
              <a:latin typeface="Courier New" pitchFamily="49" charset="0"/>
            </a:endParaRP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     RS</a:t>
            </a: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While (1);</a:t>
            </a:r>
            <a:endParaRPr kumimoji="0" lang="en-US" altLang="zh-TW" sz="2400" dirty="0">
              <a:latin typeface="Times New Roman" pitchFamily="18" charset="0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400800" y="1814514"/>
            <a:ext cx="3886200" cy="4067175"/>
          </a:xfrm>
          <a:prstGeom prst="rect">
            <a:avLst/>
          </a:prstGeom>
          <a:noFill/>
          <a:ln w="12700" cap="sq">
            <a:solidFill>
              <a:srgbClr val="00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Process P1:</a:t>
            </a: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Do {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flag[1]:=true;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// </a:t>
            </a:r>
            <a:r>
              <a:rPr kumimoji="0" lang="en-US" altLang="zh-TW" sz="1600" b="1" dirty="0" smtClean="0">
                <a:solidFill>
                  <a:schemeClr val="hlink"/>
                </a:solidFill>
                <a:latin typeface="Courier New" pitchFamily="49" charset="0"/>
              </a:rPr>
              <a:t>P1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wants in 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turn:=0; 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// </a:t>
            </a:r>
            <a:r>
              <a:rPr kumimoji="0" lang="en-US" altLang="zh-TW" sz="1600" b="1" dirty="0" smtClean="0">
                <a:solidFill>
                  <a:srgbClr val="FF3300"/>
                </a:solidFill>
                <a:latin typeface="Courier New" pitchFamily="49" charset="0"/>
              </a:rPr>
              <a:t>P1 </a:t>
            </a:r>
            <a:r>
              <a:rPr kumimoji="0" lang="en-US" altLang="zh-TW" sz="1600" b="1" dirty="0">
                <a:solidFill>
                  <a:srgbClr val="FF3300"/>
                </a:solidFill>
                <a:latin typeface="Courier New" pitchFamily="49" charset="0"/>
              </a:rPr>
              <a:t>gives a chance to </a:t>
            </a:r>
            <a:r>
              <a:rPr kumimoji="0" lang="en-US" altLang="zh-TW" sz="1600" b="1" dirty="0" smtClean="0">
                <a:solidFill>
                  <a:srgbClr val="FF3300"/>
                </a:solidFill>
                <a:latin typeface="Courier New" pitchFamily="49" charset="0"/>
              </a:rPr>
              <a:t>P0</a:t>
            </a:r>
            <a:endParaRPr kumimoji="0" lang="en-US" altLang="zh-TW" sz="1800" b="1" dirty="0">
              <a:solidFill>
                <a:srgbClr val="FF3300"/>
              </a:solidFill>
              <a:latin typeface="Courier New" pitchFamily="49" charset="0"/>
            </a:endParaRP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while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(flag[0]&amp;&amp;turn=0){};</a:t>
            </a:r>
            <a:endParaRPr kumimoji="0" lang="en-US" altLang="zh-TW" sz="2000" b="1" dirty="0">
              <a:latin typeface="Courier New" pitchFamily="49" charset="0"/>
            </a:endParaRP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     CS</a:t>
            </a: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  </a:t>
            </a:r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flag[1]:=false;</a:t>
            </a:r>
          </a:p>
          <a:p>
            <a:pPr eaLnBrk="0" hangingPunct="0"/>
            <a:r>
              <a:rPr kumimoji="0" lang="en-US" altLang="zh-TW" sz="2000" b="1" dirty="0">
                <a:solidFill>
                  <a:schemeClr val="hlink"/>
                </a:solidFill>
                <a:latin typeface="Courier New" pitchFamily="49" charset="0"/>
              </a:rPr>
              <a:t>  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// </a:t>
            </a:r>
            <a:r>
              <a:rPr kumimoji="0" lang="en-US" altLang="zh-TW" sz="1600" b="1" dirty="0" smtClean="0">
                <a:solidFill>
                  <a:schemeClr val="hlink"/>
                </a:solidFill>
                <a:latin typeface="Courier New" pitchFamily="49" charset="0"/>
              </a:rPr>
              <a:t>P1 </a:t>
            </a:r>
            <a:r>
              <a:rPr kumimoji="0" lang="en-US" altLang="zh-TW" sz="1600" b="1" dirty="0">
                <a:solidFill>
                  <a:schemeClr val="hlink"/>
                </a:solidFill>
                <a:latin typeface="Courier New" pitchFamily="49" charset="0"/>
              </a:rPr>
              <a:t>no longer wants in</a:t>
            </a:r>
            <a:endParaRPr kumimoji="0" lang="en-US" altLang="zh-TW" sz="2000" b="1" dirty="0">
              <a:latin typeface="Courier New" pitchFamily="49" charset="0"/>
            </a:endParaRP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     RS</a:t>
            </a:r>
          </a:p>
          <a:p>
            <a:pPr eaLnBrk="0" hangingPunct="0"/>
            <a:r>
              <a:rPr kumimoji="0" lang="en-US" altLang="zh-TW" sz="2000" b="1" dirty="0">
                <a:latin typeface="Courier New" pitchFamily="49" charset="0"/>
              </a:rPr>
              <a:t>While (1);</a:t>
            </a:r>
            <a:endParaRPr kumimoji="0" lang="en-US" altLang="zh-TW" sz="2400" dirty="0">
              <a:latin typeface="Times New Roman" pitchFamily="18" charset="0"/>
            </a:endParaRPr>
          </a:p>
        </p:txBody>
      </p:sp>
      <p:sp>
        <p:nvSpPr>
          <p:cNvPr id="467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Peterson’s Algorithm Global View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讓我們看一個例子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557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83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446104"/>
              </p:ext>
            </p:extLst>
          </p:nvPr>
        </p:nvGraphicFramePr>
        <p:xfrm>
          <a:off x="1919537" y="332657"/>
          <a:ext cx="8352157" cy="5931001"/>
        </p:xfrm>
        <a:graphic>
          <a:graphicData uri="http://schemas.openxmlformats.org/drawingml/2006/table">
            <a:tbl>
              <a:tblPr/>
              <a:tblGrid>
                <a:gridCol w="387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P0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P1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turn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flag[0]:=true;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1;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flag[1]:=true;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0;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while(flag[1]&amp;&amp;turn=1){};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while(flag[0]&amp;&amp;turn=0){};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flag[0]:=false;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……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while(flag[0]&amp;&amp;turn=0){};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95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Q1: In </a:t>
            </a:r>
            <a:r>
              <a:rPr lang="en-US" altLang="zh-TW" dirty="0"/>
              <a:t>P0(P1), why set turn to 1 (0)?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</a:t>
            </a:r>
            <a:r>
              <a:rPr lang="en-US" altLang="zh-TW" dirty="0"/>
              <a:t>: </a:t>
            </a:r>
            <a:r>
              <a:rPr lang="zh-TW" altLang="en-US" dirty="0" smtClean="0"/>
              <a:t>看看不禮讓的結果</a:t>
            </a:r>
            <a:endParaRPr lang="en-US" altLang="zh-TW" dirty="0" smtClean="0"/>
          </a:p>
          <a:p>
            <a:r>
              <a:rPr lang="en-US" altLang="zh-TW" dirty="0" smtClean="0"/>
              <a:t>(</a:t>
            </a:r>
            <a:r>
              <a:rPr lang="en-US" altLang="zh-TW" dirty="0"/>
              <a:t>see the following slide!)</a:t>
            </a:r>
          </a:p>
        </p:txBody>
      </p:sp>
    </p:spTree>
    <p:extLst>
      <p:ext uri="{BB962C8B-B14F-4D97-AF65-F5344CB8AC3E}">
        <p14:creationId xmlns:p14="http://schemas.microsoft.com/office/powerpoint/2010/main" val="201924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451706"/>
              </p:ext>
            </p:extLst>
          </p:nvPr>
        </p:nvGraphicFramePr>
        <p:xfrm>
          <a:off x="1343472" y="908720"/>
          <a:ext cx="9476416" cy="5847697"/>
        </p:xfrm>
        <a:graphic>
          <a:graphicData uri="http://schemas.openxmlformats.org/drawingml/2006/table">
            <a:tbl>
              <a:tblPr/>
              <a:tblGrid>
                <a:gridCol w="4399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2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P0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P1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turn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flag[0]:=true;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0;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flag[1]:=true;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1;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while(flag[1]&amp;&amp;turn=1){};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7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while(flag[0]&amp;&amp;turn=0){};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5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flag[1]:=false;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RS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10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// P1 wants to enter again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flag[1]:=true;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turn:= 1;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5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while(flag[0]&amp;&amp;turn=0){};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690071"/>
                  </a:ext>
                </a:extLst>
              </a:tr>
              <a:tr h="4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標題 1"/>
          <p:cNvSpPr txBox="1">
            <a:spLocks/>
          </p:cNvSpPr>
          <p:nvPr/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3600" dirty="0"/>
              <a:t>Question </a:t>
            </a:r>
            <a:r>
              <a:rPr lang="en-US" altLang="zh-TW" sz="3600" dirty="0" smtClean="0"/>
              <a:t>1 : In </a:t>
            </a:r>
            <a:r>
              <a:rPr lang="en-US" altLang="zh-TW" sz="3600" dirty="0"/>
              <a:t>P0(P1), </a:t>
            </a:r>
            <a:r>
              <a:rPr lang="en-US" altLang="zh-TW" sz="3600" dirty="0" smtClean="0"/>
              <a:t>Why </a:t>
            </a:r>
            <a:r>
              <a:rPr lang="en-US" altLang="zh-TW" sz="3600" dirty="0"/>
              <a:t>set turn to 1 (0</a:t>
            </a:r>
            <a:r>
              <a:rPr lang="en-US" altLang="zh-TW" sz="3600" dirty="0" smtClean="0"/>
              <a:t>)?</a:t>
            </a:r>
          </a:p>
          <a:p>
            <a:pPr>
              <a:lnSpc>
                <a:spcPct val="110000"/>
              </a:lnSpc>
            </a:pPr>
            <a:endParaRPr lang="en-US" altLang="zh-TW" sz="36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CF667-0FFD-214F-9F24-9B9BE5772A9E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48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你看的出來上述程式錯在哪裡嗎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endParaRPr lang="en-US" altLang="zh-TW" sz="3600" b="1" dirty="0" smtClean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charset="-120"/>
              <a:cs typeface="Calibri" panose="020F0502020204030204" pitchFamily="34" charset="0"/>
            </a:endParaRPr>
          </a:p>
          <a:p>
            <a:pPr lvl="0"/>
            <a:r>
              <a:rPr lang="en-US" altLang="zh-TW" sz="36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Ans</a:t>
            </a:r>
            <a:r>
              <a:rPr lang="en-US" altLang="zh-TW" sz="36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: violate </a:t>
            </a:r>
            <a:r>
              <a:rPr lang="en-US" altLang="zh-TW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bounded </a:t>
            </a:r>
            <a:r>
              <a:rPr lang="en-US" altLang="zh-TW" sz="36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waiting</a:t>
            </a:r>
            <a:endParaRPr lang="en-US" altLang="zh-TW" sz="3600" dirty="0">
              <a:ea typeface="新細明體" charset="-120"/>
              <a:cs typeface="Calibri" panose="020F0502020204030204" pitchFamily="34" charset="0"/>
            </a:endParaRPr>
          </a:p>
          <a:p>
            <a:endParaRPr lang="zh-TW" altLang="en-US" sz="36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35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再看</a:t>
            </a:r>
            <a:r>
              <a:rPr lang="zh-TW" altLang="en-US" dirty="0"/>
              <a:t>另外一個執行順序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481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3B60-0F04-FE78-256E-2E45C456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934B7309-490B-2459-77F6-CB1F2B2B1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2149"/>
              </p:ext>
            </p:extLst>
          </p:nvPr>
        </p:nvGraphicFramePr>
        <p:xfrm>
          <a:off x="1444120" y="1022656"/>
          <a:ext cx="9476416" cy="5362800"/>
        </p:xfrm>
        <a:graphic>
          <a:graphicData uri="http://schemas.openxmlformats.org/drawingml/2006/table">
            <a:tbl>
              <a:tblPr/>
              <a:tblGrid>
                <a:gridCol w="4399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P0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P1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turn</a:t>
                      </a:r>
                      <a:endParaRPr kumimoji="1" lang="en-US" altLang="zh-TW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flag[0]:=true;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0;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while(flag[1]&amp;&amp;turn=1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){};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flag[1]:=true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;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1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;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while(flag[0]&amp;&amp;turn=0){};</a:t>
                      </a: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標題 1">
            <a:extLst>
              <a:ext uri="{FF2B5EF4-FFF2-40B4-BE49-F238E27FC236}">
                <a16:creationId xmlns:a16="http://schemas.microsoft.com/office/drawing/2014/main" id="{B61EECFB-3A83-C919-6DFC-4D70544747D3}"/>
              </a:ext>
            </a:extLst>
          </p:cNvPr>
          <p:cNvSpPr txBox="1">
            <a:spLocks/>
          </p:cNvSpPr>
          <p:nvPr/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Question 1 : In P0(P1), Why set turn to 1 (0)?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3600" b="1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73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你看的出來上述程式錯在哪裡嗎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endParaRPr lang="en-US" altLang="zh-TW" sz="3600" b="1" dirty="0" smtClean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charset="-120"/>
              <a:cs typeface="Calibri" panose="020F0502020204030204" pitchFamily="34" charset="0"/>
            </a:endParaRPr>
          </a:p>
          <a:p>
            <a:pPr lvl="0"/>
            <a:r>
              <a:rPr lang="en-US" altLang="zh-TW" sz="36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Ans</a:t>
            </a:r>
            <a:r>
              <a:rPr lang="en-US" altLang="zh-TW" sz="36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: violate mutual exclusion</a:t>
            </a:r>
            <a:endParaRPr lang="en-US" altLang="zh-TW" sz="3600" dirty="0">
              <a:ea typeface="新細明體" charset="-120"/>
              <a:cs typeface="Calibri" panose="020F0502020204030204" pitchFamily="34" charset="0"/>
            </a:endParaRPr>
          </a:p>
          <a:p>
            <a:endParaRPr lang="zh-TW" altLang="en-US" sz="36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97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注意</a:t>
            </a:r>
            <a:r>
              <a:rPr lang="en-US" altLang="zh-TW" sz="4000" dirty="0" smtClean="0"/>
              <a:t>: </a:t>
            </a:r>
            <a:r>
              <a:rPr lang="zh-TW" altLang="en-US" sz="4000" dirty="0" smtClean="0"/>
              <a:t>不是每一次執行都會出錯</a:t>
            </a:r>
            <a:r>
              <a:rPr lang="en-US" altLang="zh-TW" sz="4000" dirty="0" smtClean="0"/>
              <a:t/>
            </a:r>
            <a:br>
              <a:rPr lang="en-US" altLang="zh-TW" sz="4000" dirty="0" smtClean="0"/>
            </a:br>
            <a:r>
              <a:rPr lang="en-US" altLang="zh-TW" sz="4000" dirty="0" smtClean="0"/>
              <a:t>(</a:t>
            </a:r>
            <a:r>
              <a:rPr lang="zh-TW" altLang="en-US" sz="4000" dirty="0" smtClean="0"/>
              <a:t>違反</a:t>
            </a:r>
            <a:r>
              <a:rPr lang="en-US" altLang="zh-TW" sz="4000" dirty="0" smtClean="0"/>
              <a:t>Bounded Waiting</a:t>
            </a:r>
            <a:r>
              <a:rPr lang="zh-TW" altLang="en-US" sz="4000" dirty="0" smtClean="0"/>
              <a:t>或是</a:t>
            </a:r>
            <a:r>
              <a:rPr lang="en-US" altLang="zh-TW" sz="4000" dirty="0" smtClean="0"/>
              <a:t>Mutual Exclusion)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你可以自己舉個例子</a:t>
            </a:r>
            <a:r>
              <a:rPr lang="zh-TW" altLang="en-US" dirty="0" smtClean="0"/>
              <a:t>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082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Q2: </a:t>
            </a:r>
            <a:r>
              <a:rPr lang="en-US" altLang="zh-TW" dirty="0"/>
              <a:t>Is it possible to change the first two statements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</a:t>
            </a:r>
            <a:r>
              <a:rPr lang="en-US" altLang="zh-TW" dirty="0"/>
              <a:t>: </a:t>
            </a:r>
            <a:r>
              <a:rPr lang="zh-TW" altLang="en-US" dirty="0" smtClean="0"/>
              <a:t>試試看 </a:t>
            </a:r>
            <a:r>
              <a:rPr lang="en-US" altLang="zh-TW" dirty="0" smtClean="0"/>
              <a:t>(</a:t>
            </a:r>
            <a:r>
              <a:rPr lang="en-US" altLang="zh-TW" dirty="0"/>
              <a:t>see the following slide!)</a:t>
            </a:r>
          </a:p>
        </p:txBody>
      </p:sp>
    </p:spTree>
    <p:extLst>
      <p:ext uri="{BB962C8B-B14F-4D97-AF65-F5344CB8AC3E}">
        <p14:creationId xmlns:p14="http://schemas.microsoft.com/office/powerpoint/2010/main" val="135052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83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37500"/>
              </p:ext>
            </p:extLst>
          </p:nvPr>
        </p:nvGraphicFramePr>
        <p:xfrm>
          <a:off x="1775520" y="1340768"/>
          <a:ext cx="8640959" cy="4270751"/>
        </p:xfrm>
        <a:graphic>
          <a:graphicData uri="http://schemas.openxmlformats.org/drawingml/2006/table">
            <a:tbl>
              <a:tblPr/>
              <a:tblGrid>
                <a:gridCol w="440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P0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P1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1;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turn:= 0;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flag[1]:=true;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while(flag[0]&amp;&amp;turn=0){};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flag[0]:=true;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while(flag[1]&amp;&amp;turn=1){};</a:t>
                      </a:r>
                      <a:endParaRPr kumimoji="1" lang="en-US" altLang="zh-TW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標題 1"/>
          <p:cNvSpPr txBox="1">
            <a:spLocks/>
          </p:cNvSpPr>
          <p:nvPr/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3600" dirty="0"/>
              <a:t>Question 2 : Is it possible to change the first two statements?</a:t>
            </a:r>
          </a:p>
          <a:p>
            <a:pPr>
              <a:lnSpc>
                <a:spcPct val="110000"/>
              </a:lnSpc>
            </a:pPr>
            <a:endParaRPr lang="en-US" altLang="zh-TW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349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你看的出來上述程式錯在哪裡嗎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endParaRPr lang="en-US" altLang="zh-TW" sz="3600" b="1" dirty="0" smtClean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charset="-120"/>
              <a:cs typeface="Calibri" panose="020F0502020204030204" pitchFamily="34" charset="0"/>
            </a:endParaRPr>
          </a:p>
          <a:p>
            <a:pPr lvl="0"/>
            <a:r>
              <a:rPr lang="en-US" altLang="zh-TW" sz="36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Ans</a:t>
            </a:r>
            <a:r>
              <a:rPr lang="en-US" altLang="zh-TW" sz="36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charset="-120"/>
                <a:cs typeface="Calibri" panose="020F0502020204030204" pitchFamily="34" charset="0"/>
              </a:rPr>
              <a:t>: violate mutual exclusion</a:t>
            </a:r>
            <a:endParaRPr lang="zh-TW" altLang="en-US" sz="3600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41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注意</a:t>
            </a:r>
            <a:r>
              <a:rPr lang="en-US" altLang="zh-TW" dirty="0" smtClean="0"/>
              <a:t>: </a:t>
            </a:r>
            <a:r>
              <a:rPr lang="zh-TW" altLang="en-US" dirty="0" smtClean="0"/>
              <a:t>不是每一次執行都會出錯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zh-TW" altLang="en-US" dirty="0" smtClean="0"/>
              <a:t>違反</a:t>
            </a:r>
            <a:r>
              <a:rPr lang="en-US" altLang="zh-TW" dirty="0" smtClean="0"/>
              <a:t>Mutual Exclusion)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你可以自己舉個例子嗎</a:t>
            </a:r>
            <a:r>
              <a:rPr lang="en-US" altLang="zh-TW" dirty="0"/>
              <a:t>?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090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Q3: </a:t>
            </a:r>
            <a:r>
              <a:rPr lang="zh-TW" altLang="en-US" dirty="0"/>
              <a:t>你看得出</a:t>
            </a:r>
            <a:r>
              <a:rPr lang="zh-TW" altLang="en-US" dirty="0" smtClean="0"/>
              <a:t>來</a:t>
            </a:r>
            <a:r>
              <a:rPr lang="en-US" altLang="zh-TW" dirty="0" smtClean="0"/>
              <a:t>flag[]</a:t>
            </a:r>
            <a:r>
              <a:rPr lang="zh-TW" altLang="en-US" dirty="0" smtClean="0"/>
              <a:t>和</a:t>
            </a:r>
            <a:r>
              <a:rPr lang="en-US" altLang="zh-TW" dirty="0" smtClean="0"/>
              <a:t>turn</a:t>
            </a:r>
            <a:r>
              <a:rPr lang="zh-TW" altLang="en-US" dirty="0" smtClean="0"/>
              <a:t>本身可能也有問題嗎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</a:t>
            </a:r>
            <a:r>
              <a:rPr lang="en-US" altLang="zh-TW" dirty="0"/>
              <a:t>: </a:t>
            </a:r>
            <a:r>
              <a:rPr lang="zh-TW" altLang="en-US" dirty="0" smtClean="0"/>
              <a:t>它們也是共享變數啊</a:t>
            </a:r>
            <a:r>
              <a:rPr lang="en-US" altLang="zh-TW" dirty="0" smtClean="0"/>
              <a:t>~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2877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Peterson </a:t>
            </a:r>
            <a:r>
              <a:rPr lang="zh-TW" altLang="en-US" dirty="0" smtClean="0"/>
              <a:t>演算法的假設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Peterson </a:t>
            </a:r>
            <a:r>
              <a:rPr lang="zh-TW" altLang="en-US" sz="3600" dirty="0"/>
              <a:t>的</a:t>
            </a:r>
            <a:r>
              <a:rPr lang="zh-TW" altLang="en-US" sz="3600" dirty="0" smtClean="0"/>
              <a:t>演算法假設</a:t>
            </a:r>
            <a:r>
              <a:rPr lang="zh-TW" altLang="en-US" sz="3600" dirty="0"/>
              <a:t>：</a:t>
            </a:r>
          </a:p>
          <a:p>
            <a:pPr lvl="1"/>
            <a:r>
              <a:rPr lang="zh-TW" altLang="en-US" sz="3200" dirty="0"/>
              <a:t>每次讀或</a:t>
            </a:r>
            <a:r>
              <a:rPr lang="zh-TW" altLang="en-US" sz="3200" dirty="0" smtClean="0"/>
              <a:t>寫</a:t>
            </a:r>
            <a:r>
              <a:rPr lang="en-US" altLang="zh-TW" sz="3200" b="1" dirty="0" smtClean="0"/>
              <a:t>turn</a:t>
            </a:r>
            <a:r>
              <a:rPr lang="zh-TW" altLang="en-US" sz="3200" b="1" dirty="0" smtClean="0"/>
              <a:t>和</a:t>
            </a:r>
            <a:r>
              <a:rPr lang="en-US" altLang="zh-TW" sz="3200" b="1" dirty="0" smtClean="0"/>
              <a:t>flag</a:t>
            </a:r>
            <a:r>
              <a:rPr lang="zh-TW" altLang="en-US" sz="3200" dirty="0" smtClean="0"/>
              <a:t>都</a:t>
            </a:r>
            <a:r>
              <a:rPr lang="zh-TW" altLang="en-US" sz="3200" dirty="0"/>
              <a:t>是</a:t>
            </a:r>
            <a:r>
              <a:rPr lang="zh-TW" altLang="en-US" sz="3200" b="1" dirty="0"/>
              <a:t>原子</a:t>
            </a:r>
            <a:r>
              <a:rPr lang="zh-TW" altLang="en-US" sz="3200" b="1" dirty="0" smtClean="0"/>
              <a:t>操作</a:t>
            </a:r>
            <a:r>
              <a:rPr lang="en-US" altLang="zh-TW" sz="3200" b="1" dirty="0" smtClean="0"/>
              <a:t>(atomic operation);	</a:t>
            </a:r>
            <a:endParaRPr lang="zh-TW" altLang="en-US" sz="3200" dirty="0"/>
          </a:p>
          <a:p>
            <a:endParaRPr lang="en-US" altLang="zh-TW" sz="3600" dirty="0" smtClean="0"/>
          </a:p>
          <a:p>
            <a:r>
              <a:rPr lang="zh-TW" altLang="en-US" sz="3600" dirty="0" smtClean="0"/>
              <a:t>但</a:t>
            </a:r>
            <a:r>
              <a:rPr lang="en-US" altLang="zh-TW" sz="3600" dirty="0" smtClean="0"/>
              <a:t>Peterson</a:t>
            </a:r>
            <a:r>
              <a:rPr lang="zh-TW" altLang="en-US" sz="3600" dirty="0" smtClean="0"/>
              <a:t>演算法在現在多核心的系統可能會有問題</a:t>
            </a:r>
            <a:endParaRPr lang="en-US" altLang="zh-TW" sz="3600" dirty="0" smtClean="0"/>
          </a:p>
          <a:p>
            <a:pPr lvl="1"/>
            <a:r>
              <a:rPr lang="en-US" altLang="zh-TW" sz="3200" dirty="0" smtClean="0"/>
              <a:t>Shown later</a:t>
            </a:r>
            <a:r>
              <a:rPr lang="zh-TW" altLang="en-US" sz="3200" dirty="0"/>
              <a:t/>
            </a:r>
            <a:br>
              <a:rPr lang="zh-TW" altLang="en-US" sz="3200" dirty="0"/>
            </a:b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393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Not Guaranteed to Work on Modern Computer Architecture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Peterson’s </a:t>
            </a:r>
            <a:r>
              <a:rPr lang="en-US" altLang="zh-TW" dirty="0"/>
              <a:t>Solution is not guaranteed to work on modern architectures.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Re-order problem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Cache effect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879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Not Guaranteed to Work on Modern Computer Architecture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Peterson’s </a:t>
            </a:r>
            <a:r>
              <a:rPr lang="en-US" altLang="zh-TW" dirty="0"/>
              <a:t>Solution is not guaranteed to work on modern architectures.</a:t>
            </a:r>
          </a:p>
          <a:p>
            <a:pPr lvl="1"/>
            <a:endParaRPr lang="en-US" altLang="zh-TW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Re-order problem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Cache effect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331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Not Guaranteed to Work on Modern Computer Architecture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 current computers, </a:t>
            </a:r>
            <a:r>
              <a:rPr lang="en-US" altLang="zh-TW" dirty="0"/>
              <a:t>processors and/or compilers may </a:t>
            </a:r>
            <a:r>
              <a:rPr lang="en-US" altLang="zh-TW" b="1" dirty="0">
                <a:solidFill>
                  <a:srgbClr val="FF0000"/>
                </a:solidFill>
              </a:rPr>
              <a:t>reorder operations </a:t>
            </a:r>
            <a:r>
              <a:rPr lang="en-US" altLang="zh-TW" dirty="0"/>
              <a:t>that have </a:t>
            </a:r>
            <a:r>
              <a:rPr lang="en-US" altLang="zh-TW" b="1" dirty="0">
                <a:solidFill>
                  <a:srgbClr val="0000FF"/>
                </a:solidFill>
              </a:rPr>
              <a:t>no </a:t>
            </a:r>
            <a:r>
              <a:rPr lang="en-US" altLang="zh-TW" b="1" dirty="0" smtClean="0">
                <a:solidFill>
                  <a:srgbClr val="0000FF"/>
                </a:solidFill>
              </a:rPr>
              <a:t>dependencies</a:t>
            </a:r>
            <a:r>
              <a:rPr lang="en-US" altLang="zh-TW" dirty="0" smtClean="0"/>
              <a:t> </a:t>
            </a:r>
            <a:r>
              <a:rPr lang="en-US" altLang="zh-TW" dirty="0"/>
              <a:t>to improve performance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Thus, the </a:t>
            </a:r>
            <a:r>
              <a:rPr lang="en-US" altLang="zh-TW" dirty="0" smtClean="0"/>
              <a:t>statements </a:t>
            </a:r>
            <a:r>
              <a:rPr lang="en-US" altLang="zh-TW" dirty="0"/>
              <a:t>in the </a:t>
            </a:r>
            <a:r>
              <a:rPr lang="en-US" altLang="zh-TW" dirty="0" smtClean="0"/>
              <a:t>Peterson’s solution may be </a:t>
            </a:r>
            <a:r>
              <a:rPr lang="en-US" altLang="zh-TW" dirty="0"/>
              <a:t>reordered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563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Peterson</a:t>
            </a:r>
            <a:r>
              <a:rPr lang="en-US" altLang="zh-TW" dirty="0">
                <a:latin typeface="Helvetica"/>
              </a:rPr>
              <a:t>’</a:t>
            </a:r>
            <a:r>
              <a:rPr lang="en-US" altLang="zh-TW" dirty="0"/>
              <a:t>s </a:t>
            </a:r>
            <a:r>
              <a:rPr lang="en-US" altLang="zh-TW" dirty="0" smtClean="0"/>
              <a:t>Solution in Current Computer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168478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Example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Assume the first two statements in the </a:t>
            </a:r>
            <a:r>
              <a:rPr lang="en-US" altLang="zh-TW" b="1" dirty="0" smtClean="0"/>
              <a:t>entry section </a:t>
            </a:r>
            <a:r>
              <a:rPr lang="en-US" altLang="zh-TW" dirty="0" smtClean="0"/>
              <a:t>are reordered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Assume that P0 and P1 run on two different processors</a:t>
            </a: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361" y="3429000"/>
            <a:ext cx="8208912" cy="1598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1775520" y="5445224"/>
            <a:ext cx="8424936" cy="91440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TW" altLang="en-US" sz="2800" b="1" dirty="0">
                <a:solidFill>
                  <a:srgbClr val="0000FF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前面的例子</a:t>
            </a:r>
            <a:r>
              <a:rPr lang="zh-TW" altLang="en-US" sz="2800" b="1" dirty="0" smtClean="0">
                <a:solidFill>
                  <a:srgbClr val="0000FF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看過此一問題 </a:t>
            </a:r>
            <a:r>
              <a:rPr lang="en-US" altLang="zh-TW" sz="2800" b="1" dirty="0" smtClean="0">
                <a:solidFill>
                  <a:srgbClr val="0000FF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(both processes may be in their critical section at the same time!)</a:t>
            </a:r>
            <a:endParaRPr lang="zh-TW" altLang="en-US" sz="2800" b="1" dirty="0">
              <a:solidFill>
                <a:srgbClr val="0000FF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47528" y="3721459"/>
            <a:ext cx="1080120" cy="28360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854995" y="4346244"/>
            <a:ext cx="1080120" cy="28360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102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Not Guaranteed to Work on Modern Computer Architecture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Peterson’s </a:t>
            </a:r>
            <a:r>
              <a:rPr lang="en-US" altLang="zh-TW" dirty="0"/>
              <a:t>Solution is not guaranteed to work on modern architectures.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Re-order problem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Cache effect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8570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Not Guaranteed to Work on Modern Computer Architecture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Assume P0 runs at core 1, and P1 at core 2</a:t>
            </a:r>
            <a:r>
              <a:rPr lang="zh-TW" altLang="en-US" dirty="0" smtClean="0"/>
              <a:t> </a:t>
            </a:r>
            <a:r>
              <a:rPr lang="en-US" altLang="zh-TW" sz="2400" dirty="0" smtClean="0"/>
              <a:t>(see the following slide)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當</a:t>
            </a:r>
            <a:r>
              <a:rPr lang="en-US" altLang="zh-TW" dirty="0" smtClean="0"/>
              <a:t>P0 </a:t>
            </a:r>
            <a:r>
              <a:rPr lang="zh-TW" altLang="en-US" dirty="0" smtClean="0"/>
              <a:t>寫入</a:t>
            </a:r>
            <a:r>
              <a:rPr lang="en-US" altLang="zh-TW" dirty="0" smtClean="0"/>
              <a:t>flag[0] = 1;</a:t>
            </a:r>
          </a:p>
          <a:p>
            <a:pPr lvl="1"/>
            <a:r>
              <a:rPr lang="en-US" altLang="zh-TW" dirty="0" smtClean="0"/>
              <a:t>Flag[0] is cached in core 1’s L1 cache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Later, when P1 read flag[0]</a:t>
            </a:r>
          </a:p>
          <a:p>
            <a:pPr lvl="1"/>
            <a:r>
              <a:rPr lang="zh-TW" altLang="en-US" dirty="0"/>
              <a:t>可能</a:t>
            </a:r>
            <a:r>
              <a:rPr lang="zh-TW" altLang="en-US" dirty="0" smtClean="0"/>
              <a:t>讀到</a:t>
            </a:r>
            <a:r>
              <a:rPr lang="en-US" altLang="zh-TW" dirty="0" smtClean="0"/>
              <a:t>P1</a:t>
            </a:r>
            <a:r>
              <a:rPr lang="zh-TW" altLang="en-US" dirty="0" smtClean="0"/>
              <a:t>的是</a:t>
            </a:r>
            <a:r>
              <a:rPr lang="en-US" altLang="zh-TW" dirty="0" smtClean="0"/>
              <a:t>core 2</a:t>
            </a:r>
            <a:r>
              <a:rPr lang="zh-TW" altLang="en-US" dirty="0" smtClean="0"/>
              <a:t>自己</a:t>
            </a:r>
            <a:r>
              <a:rPr lang="en-US" altLang="zh-TW" dirty="0" smtClean="0"/>
              <a:t>L1 cache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flag[0]</a:t>
            </a:r>
            <a:r>
              <a:rPr lang="zh-TW" altLang="en-US" dirty="0" smtClean="0"/>
              <a:t>或是記憶體的</a:t>
            </a:r>
            <a:r>
              <a:rPr lang="en-US" altLang="zh-TW" dirty="0" smtClean="0"/>
              <a:t>flag[0]</a:t>
            </a:r>
          </a:p>
          <a:p>
            <a:pPr lvl="1"/>
            <a:r>
              <a:rPr lang="zh-TW" altLang="en-US" dirty="0" smtClean="0"/>
              <a:t>結果都是</a:t>
            </a:r>
            <a:r>
              <a:rPr lang="en-US" altLang="zh-TW" dirty="0" smtClean="0"/>
              <a:t> flag[0] = 0;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888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177309" y="6581001"/>
            <a:ext cx="9122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libri" panose="020F0502020204030204" pitchFamily="34" charset="0"/>
              </a:rPr>
              <a:t>https://www.researchgate.net/figure/Cache-hierarchy-of-an-Intel-processor-the-L3-cache-is-shared-among-available-cores_fig3_321241798</a:t>
            </a:r>
            <a:endParaRPr lang="zh-TW" altLang="en-US" sz="1200" b="1" dirty="0">
              <a:latin typeface="Calibri" panose="020F0502020204030204" pitchFamily="34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062182" y="886114"/>
            <a:ext cx="9841345" cy="5359111"/>
            <a:chOff x="1062182" y="886114"/>
            <a:chExt cx="9841345" cy="4803485"/>
          </a:xfrm>
        </p:grpSpPr>
        <p:pic>
          <p:nvPicPr>
            <p:cNvPr id="8194" name="Picture 2" descr="Two-level Cache Hierarchy in MPSoC Architectur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273" y="1080797"/>
              <a:ext cx="9180945" cy="4608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273" y="886114"/>
              <a:ext cx="9180945" cy="328872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062182" y="4174836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063673" y="4186427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92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結論</a:t>
            </a:r>
            <a:r>
              <a:rPr lang="en-US" altLang="zh-TW" dirty="0" smtClean="0"/>
              <a:t>: Drawbacks of Software Solutions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Prone to error if not careful</a:t>
            </a:r>
          </a:p>
          <a:p>
            <a:pPr eaLnBrk="1" hangingPunct="1">
              <a:spcBef>
                <a:spcPts val="600"/>
              </a:spcBef>
            </a:pP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Not </a:t>
            </a:r>
            <a:r>
              <a:rPr lang="en-US" altLang="zh-TW" dirty="0"/>
              <a:t>guarantee work </a:t>
            </a:r>
            <a:r>
              <a:rPr lang="en-US" altLang="zh-TW" b="1" dirty="0"/>
              <a:t>on modern </a:t>
            </a:r>
            <a:r>
              <a:rPr lang="en-US" altLang="zh-TW" dirty="0"/>
              <a:t>computer architecture</a:t>
            </a:r>
          </a:p>
          <a:p>
            <a:pPr eaLnBrk="1" hangingPunct="1">
              <a:spcBef>
                <a:spcPts val="600"/>
              </a:spcBef>
            </a:pP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A </a:t>
            </a:r>
            <a:r>
              <a:rPr lang="en-US" altLang="zh-TW" b="1" dirty="0">
                <a:solidFill>
                  <a:srgbClr val="FF0000"/>
                </a:solidFill>
              </a:rPr>
              <a:t>two processes </a:t>
            </a:r>
            <a:r>
              <a:rPr lang="en-US" altLang="zh-TW" dirty="0"/>
              <a:t>solution</a:t>
            </a:r>
          </a:p>
          <a:p>
            <a:pPr eaLnBrk="1" hangingPunct="1">
              <a:spcBef>
                <a:spcPts val="600"/>
              </a:spcBef>
            </a:pP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Processes </a:t>
            </a:r>
            <a:r>
              <a:rPr lang="en-US" altLang="zh-TW" dirty="0"/>
              <a:t>that are requesting to enter in their critical sections are </a:t>
            </a:r>
            <a:r>
              <a:rPr lang="en-US" altLang="zh-TW" b="1" dirty="0">
                <a:solidFill>
                  <a:srgbClr val="FF0000"/>
                </a:solidFill>
              </a:rPr>
              <a:t>busy waiting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Consuming processor </a:t>
            </a:r>
            <a:r>
              <a:rPr lang="en-US" altLang="zh-TW" dirty="0" smtClean="0"/>
              <a:t>time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157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我們需要新的方法</a:t>
            </a:r>
            <a:r>
              <a:rPr lang="en-US" altLang="zh-TW" dirty="0" smtClean="0"/>
              <a:t>!</a:t>
            </a:r>
            <a:br>
              <a:rPr lang="en-US" altLang="zh-TW" dirty="0" smtClean="0"/>
            </a:br>
            <a:r>
              <a:rPr lang="en-US" altLang="zh-TW" dirty="0" smtClean="0"/>
              <a:t>Q:</a:t>
            </a:r>
            <a:r>
              <a:rPr lang="zh-TW" altLang="en-US" dirty="0" smtClean="0"/>
              <a:t>誰來提供呢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Hardware, OS, and Compiler/Library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932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264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>
                <a:effectLst/>
              </a:rPr>
              <a:t>複習： </a:t>
            </a:r>
            <a:r>
              <a:rPr lang="en-US" altLang="zh-TW" dirty="0" smtClean="0"/>
              <a:t>Solutions to Race Conditions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/>
              <a:t>Software solutions</a:t>
            </a:r>
          </a:p>
          <a:p>
            <a:pPr lvl="1" eaLnBrk="1" hangingPunct="1"/>
            <a:r>
              <a:rPr lang="en-US" altLang="zh-TW" dirty="0" smtClean="0"/>
              <a:t>Peterson’s solutions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Hardware solutions</a:t>
            </a:r>
          </a:p>
          <a:p>
            <a:pPr lvl="1" eaLnBrk="1" hangingPunct="1"/>
            <a:r>
              <a:rPr lang="en-US" altLang="zh-TW" dirty="0" smtClean="0">
                <a:solidFill>
                  <a:srgbClr val="FF0000"/>
                </a:solidFill>
              </a:rPr>
              <a:t>Rely on some special machine instructions</a:t>
            </a:r>
          </a:p>
          <a:p>
            <a:pPr eaLnBrk="1" hangingPunct="1"/>
            <a:r>
              <a:rPr lang="en-US" altLang="zh-TW" b="1" dirty="0" smtClean="0"/>
              <a:t>Operation System solutions</a:t>
            </a:r>
          </a:p>
          <a:p>
            <a:pPr lvl="1" eaLnBrk="1" hangingPunct="1"/>
            <a:r>
              <a:rPr lang="en-US" altLang="zh-TW" dirty="0" smtClean="0"/>
              <a:t>Provide some functions and data structures to the programmer</a:t>
            </a:r>
          </a:p>
          <a:p>
            <a:pPr lvl="1" eaLnBrk="1" hangingPunct="1"/>
            <a:r>
              <a:rPr lang="en-US" altLang="zh-TW" dirty="0" smtClean="0"/>
              <a:t>Built upon the hardware solutions</a:t>
            </a:r>
          </a:p>
          <a:p>
            <a:pPr eaLnBrk="1" hangingPunct="1"/>
            <a:r>
              <a:rPr lang="en-US" altLang="zh-TW" b="1" dirty="0" smtClean="0"/>
              <a:t>Language level solutions</a:t>
            </a:r>
          </a:p>
          <a:p>
            <a:pPr lvl="1" eaLnBrk="1" hangingPunct="1"/>
            <a:r>
              <a:rPr lang="en-US" altLang="zh-TW" dirty="0" smtClean="0"/>
              <a:t>Built upon the OS solutions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1279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Hardware Support for Synchronization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Three common forms </a:t>
            </a:r>
            <a:r>
              <a:rPr lang="en-US" altLang="en-US" dirty="0"/>
              <a:t>of hardware support</a:t>
            </a:r>
            <a:r>
              <a:rPr lang="en-US" altLang="en-US" dirty="0" smtClean="0"/>
              <a:t>: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Memory barriers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Hardware instructions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Atomic </a:t>
            </a:r>
            <a:r>
              <a:rPr lang="en-US" altLang="en-US" dirty="0"/>
              <a:t>variables</a:t>
            </a:r>
            <a:br>
              <a:rPr lang="en-US" altLang="en-US" dirty="0"/>
            </a:br>
            <a:endParaRPr lang="en-US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413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Hardware Support for Synchronization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Memory barriers</a:t>
            </a:r>
          </a:p>
          <a:p>
            <a:pPr lvl="1"/>
            <a:r>
              <a:rPr lang="en-US" altLang="en-US" sz="2400" dirty="0"/>
              <a:t>Hardware instructions</a:t>
            </a:r>
          </a:p>
          <a:p>
            <a:pPr lvl="1"/>
            <a:r>
              <a:rPr lang="en-US" altLang="en-US" sz="2400" dirty="0"/>
              <a:t>Atomic variables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4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Memory </a:t>
            </a:r>
            <a:r>
              <a:rPr lang="en-US" altLang="zh-TW" smtClean="0"/>
              <a:t>Barriers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rgbClr val="FF3300"/>
                </a:solidFill>
              </a:rPr>
              <a:t>Memory Barrier </a:t>
            </a:r>
            <a:r>
              <a:rPr lang="en-US" altLang="zh-TW" dirty="0"/>
              <a:t>(</a:t>
            </a:r>
            <a:r>
              <a:rPr lang="zh-TW" altLang="en-US" dirty="0"/>
              <a:t>屏障</a:t>
            </a:r>
            <a:r>
              <a:rPr lang="en-US" altLang="zh-TW" dirty="0"/>
              <a:t>), or </a:t>
            </a:r>
            <a:r>
              <a:rPr lang="en-US" altLang="zh-TW" b="1" dirty="0">
                <a:solidFill>
                  <a:srgbClr val="FF3300"/>
                </a:solidFill>
              </a:rPr>
              <a:t>memory fences </a:t>
            </a:r>
            <a:r>
              <a:rPr lang="en-US" altLang="zh-TW" dirty="0"/>
              <a:t>(</a:t>
            </a:r>
            <a:r>
              <a:rPr lang="zh-TW" altLang="en-US" dirty="0"/>
              <a:t>籬笆</a:t>
            </a:r>
            <a:r>
              <a:rPr lang="en-US" altLang="zh-TW" dirty="0"/>
              <a:t>) :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An </a:t>
            </a:r>
            <a:r>
              <a:rPr lang="en-US" altLang="zh-TW" b="1" dirty="0"/>
              <a:t>instruction</a:t>
            </a:r>
            <a:r>
              <a:rPr lang="en-US" altLang="zh-TW" dirty="0"/>
              <a:t> (</a:t>
            </a:r>
            <a:r>
              <a:rPr lang="en-US" altLang="zh-TW" i="1" dirty="0" err="1"/>
              <a:t>mfence</a:t>
            </a:r>
            <a:r>
              <a:rPr lang="en-US" altLang="zh-TW" i="1" dirty="0"/>
              <a:t> </a:t>
            </a:r>
            <a:r>
              <a:rPr lang="en-US" altLang="zh-TW" dirty="0"/>
              <a:t>for x86) that </a:t>
            </a:r>
            <a:r>
              <a:rPr lang="en-US" altLang="zh-TW" dirty="0" smtClean="0"/>
              <a:t>enforce </a:t>
            </a:r>
            <a:r>
              <a:rPr lang="en-US" altLang="zh-TW" dirty="0"/>
              <a:t>an </a:t>
            </a:r>
            <a:r>
              <a:rPr lang="en-US" altLang="zh-TW" b="1" dirty="0"/>
              <a:t>ordering constraint </a:t>
            </a:r>
            <a:r>
              <a:rPr lang="en-US" altLang="zh-TW" dirty="0"/>
              <a:t>on memory operations issued </a:t>
            </a:r>
            <a:r>
              <a:rPr lang="en-US" altLang="zh-TW" b="1" dirty="0"/>
              <a:t>before</a:t>
            </a:r>
            <a:r>
              <a:rPr lang="en-US" altLang="zh-TW" dirty="0"/>
              <a:t> and </a:t>
            </a:r>
            <a:r>
              <a:rPr lang="en-US" altLang="zh-TW" b="1" dirty="0"/>
              <a:t>after</a:t>
            </a:r>
            <a:r>
              <a:rPr lang="en-US" altLang="zh-TW" dirty="0"/>
              <a:t> the barrier </a:t>
            </a:r>
            <a:r>
              <a:rPr lang="en-US" altLang="zh-TW" dirty="0" smtClean="0"/>
              <a:t>instruction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Operations </a:t>
            </a:r>
            <a:r>
              <a:rPr lang="en-US" altLang="zh-TW" dirty="0"/>
              <a:t>issued prior to the barrier are guaranteed to be performed before operations issued after the barrier</a:t>
            </a:r>
            <a:r>
              <a:rPr lang="en-US" altLang="zh-TW" dirty="0" smtClean="0"/>
              <a:t>.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In fact</a:t>
            </a:r>
            <a:r>
              <a:rPr lang="en-US" altLang="zh-TW" dirty="0"/>
              <a:t>, </a:t>
            </a:r>
            <a:r>
              <a:rPr lang="en-US" altLang="zh-TW" dirty="0" smtClean="0"/>
              <a:t>it </a:t>
            </a:r>
            <a:r>
              <a:rPr lang="en-US" altLang="zh-TW" dirty="0"/>
              <a:t>is </a:t>
            </a:r>
            <a:r>
              <a:rPr lang="en-US" altLang="zh-TW" dirty="0" smtClean="0"/>
              <a:t>when </a:t>
            </a:r>
            <a:r>
              <a:rPr lang="en-US" altLang="zh-TW" dirty="0"/>
              <a:t>a memory barrier instruction is </a:t>
            </a:r>
            <a:r>
              <a:rPr lang="en-US" altLang="zh-TW" dirty="0" smtClean="0"/>
              <a:t>performed, all </a:t>
            </a:r>
            <a:r>
              <a:rPr lang="en-US" altLang="zh-TW" b="1" dirty="0"/>
              <a:t>loads and stores </a:t>
            </a:r>
            <a:r>
              <a:rPr lang="en-US" altLang="zh-TW" dirty="0"/>
              <a:t>are completed before any subsequent </a:t>
            </a:r>
            <a:r>
              <a:rPr lang="en-US" altLang="zh-TW" b="1" dirty="0"/>
              <a:t>load or store </a:t>
            </a:r>
            <a:r>
              <a:rPr lang="en-US" altLang="zh-TW" dirty="0"/>
              <a:t>operations are </a:t>
            </a:r>
            <a:r>
              <a:rPr lang="en-US" altLang="zh-TW" dirty="0" smtClean="0"/>
              <a:t>performed </a:t>
            </a:r>
            <a:r>
              <a:rPr lang="en-US" altLang="zh-TW" b="1" dirty="0" smtClean="0"/>
              <a:t>(SKIP!)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TW" altLang="en-US" dirty="0"/>
              <a:t>在這個 </a:t>
            </a:r>
            <a:r>
              <a:rPr lang="en-US" altLang="zh-TW" dirty="0"/>
              <a:t>fence </a:t>
            </a:r>
            <a:r>
              <a:rPr lang="zh-TW" altLang="en-US" dirty="0"/>
              <a:t>之前的所有讀寫，必須被全</a:t>
            </a:r>
            <a:r>
              <a:rPr lang="zh-TW" altLang="en-US" dirty="0" smtClean="0"/>
              <a:t>系統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</a:t>
            </a:r>
            <a:r>
              <a:rPr lang="zh-TW" altLang="en-US" dirty="0"/>
              <a:t>其他</a:t>
            </a:r>
            <a:r>
              <a:rPr lang="zh-TW" altLang="en-US" dirty="0" smtClean="0"/>
              <a:t>核心</a:t>
            </a:r>
            <a:r>
              <a:rPr lang="en-US" altLang="zh-TW" dirty="0" smtClean="0"/>
              <a:t>)</a:t>
            </a:r>
            <a:r>
              <a:rPr lang="zh-TW" altLang="en-US" dirty="0" smtClean="0"/>
              <a:t>看見，</a:t>
            </a:r>
            <a:r>
              <a:rPr lang="zh-TW" altLang="en-US" dirty="0"/>
              <a:t>才能繼續執行之後的</a:t>
            </a:r>
            <a:r>
              <a:rPr lang="zh-TW" altLang="en-US" dirty="0" smtClean="0"/>
              <a:t>指令 </a:t>
            </a:r>
            <a:r>
              <a:rPr lang="en-US" altLang="zh-TW" dirty="0" smtClean="0"/>
              <a:t>(see the following slide)</a:t>
            </a:r>
            <a:r>
              <a:rPr lang="zh-TW" altLang="en-US" dirty="0" smtClean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67</a:t>
            </a:fld>
            <a:endParaRPr lang="en-US" altLang="zh-TW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在這個 fence 之前的所有讀寫，必須被全系統（含其他核心）看見，才能繼續執行之後的指令。」 </a:t>
            </a:r>
          </a:p>
        </p:txBody>
      </p:sp>
    </p:spTree>
    <p:extLst>
      <p:ext uri="{BB962C8B-B14F-4D97-AF65-F5344CB8AC3E}">
        <p14:creationId xmlns:p14="http://schemas.microsoft.com/office/powerpoint/2010/main" val="19608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Example of</a:t>
            </a:r>
            <a:r>
              <a:rPr lang="zh-TW" altLang="en-US" dirty="0" smtClean="0"/>
              <a:t> </a:t>
            </a:r>
            <a:r>
              <a:rPr lang="en-US" altLang="zh-TW" dirty="0" smtClean="0"/>
              <a:t>Memory Barriers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Place a memory barrier between the first two statements</a:t>
            </a:r>
          </a:p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zh-TW" dirty="0" smtClean="0"/>
              <a:t>			</a:t>
            </a:r>
          </a:p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flag[</a:t>
            </a:r>
            <a:r>
              <a:rPr lang="en-US" altLang="zh-TW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600" b="1" dirty="0"/>
              <a:t>	</a:t>
            </a:r>
            <a:r>
              <a:rPr lang="en-US" altLang="zh-TW" sz="2600" b="1" dirty="0" smtClean="0"/>
              <a:t>		</a:t>
            </a:r>
            <a:r>
              <a:rPr lang="en-US" altLang="zh-TW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memory_barrier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US" altLang="zh-TW" sz="2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600" b="1" dirty="0"/>
              <a:t>	</a:t>
            </a:r>
            <a:r>
              <a:rPr lang="en-US" altLang="zh-TW" sz="2600" b="1" dirty="0" smtClean="0"/>
              <a:t>		</a:t>
            </a:r>
            <a:r>
              <a:rPr lang="en-US" altLang="zh-TW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turn 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j;</a:t>
            </a:r>
            <a:r>
              <a:rPr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3215680" y="2996952"/>
            <a:ext cx="3600400" cy="144016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273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Memory </a:t>
            </a:r>
            <a:r>
              <a:rPr lang="en-US" altLang="zh-TW" smtClean="0"/>
              <a:t>Barriers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藉由</a:t>
            </a:r>
            <a:r>
              <a:rPr lang="en-US" altLang="zh-TW" dirty="0" smtClean="0"/>
              <a:t>Memory </a:t>
            </a:r>
            <a:r>
              <a:rPr lang="en-US" altLang="zh-TW" dirty="0"/>
              <a:t>Barrier (</a:t>
            </a:r>
            <a:r>
              <a:rPr lang="zh-TW" altLang="en-US" dirty="0"/>
              <a:t>屏障</a:t>
            </a:r>
            <a:r>
              <a:rPr lang="en-US" altLang="zh-TW" dirty="0"/>
              <a:t>), or memory fences (</a:t>
            </a:r>
            <a:r>
              <a:rPr lang="zh-TW" altLang="en-US" dirty="0"/>
              <a:t>籬笆</a:t>
            </a:r>
            <a:r>
              <a:rPr lang="en-US" altLang="zh-TW" dirty="0" smtClean="0"/>
              <a:t>), </a:t>
            </a:r>
            <a:r>
              <a:rPr lang="zh-TW" altLang="en-US" dirty="0" smtClean="0"/>
              <a:t>我們可以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TW" dirty="0" smtClean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Disable out-of-order execution (reordering) of CPUs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TW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TW" altLang="en-US" dirty="0" smtClean="0"/>
              <a:t>提供了</a:t>
            </a:r>
            <a:r>
              <a:rPr lang="en-US" altLang="zh-TW" dirty="0" smtClean="0"/>
              <a:t>L1 cache/</a:t>
            </a:r>
            <a:r>
              <a:rPr lang="zh-TW" altLang="en-US" dirty="0" smtClean="0"/>
              <a:t>記憶體的同步</a:t>
            </a:r>
            <a:r>
              <a:rPr lang="zh-TW" altLang="en-US" dirty="0"/>
              <a:t>機制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69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527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Memory </a:t>
            </a:r>
            <a:r>
              <a:rPr lang="en-US" altLang="zh-TW" smtClean="0"/>
              <a:t>Barriers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藉由</a:t>
            </a:r>
            <a:r>
              <a:rPr lang="en-US" altLang="zh-TW" dirty="0" smtClean="0"/>
              <a:t>Memory </a:t>
            </a:r>
            <a:r>
              <a:rPr lang="en-US" altLang="zh-TW" dirty="0"/>
              <a:t>Barrier (</a:t>
            </a:r>
            <a:r>
              <a:rPr lang="zh-TW" altLang="en-US" dirty="0"/>
              <a:t>屏障</a:t>
            </a:r>
            <a:r>
              <a:rPr lang="en-US" altLang="zh-TW" dirty="0"/>
              <a:t>), or memory fences (</a:t>
            </a:r>
            <a:r>
              <a:rPr lang="zh-TW" altLang="en-US" dirty="0"/>
              <a:t>籬笆</a:t>
            </a:r>
            <a:r>
              <a:rPr lang="en-US" altLang="zh-TW" dirty="0"/>
              <a:t>)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TW" b="1" dirty="0" smtClean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TW" b="1" dirty="0" smtClean="0">
                <a:solidFill>
                  <a:srgbClr val="FF0000"/>
                </a:solidFill>
              </a:rPr>
              <a:t>Disable out-of-order execution (reordering) of CPUs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TW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TW" altLang="en-US" dirty="0" smtClean="0"/>
              <a:t>提供了</a:t>
            </a:r>
            <a:r>
              <a:rPr lang="en-US" altLang="zh-TW" dirty="0" smtClean="0"/>
              <a:t>L1 cache/</a:t>
            </a:r>
            <a:r>
              <a:rPr lang="zh-TW" altLang="en-US" dirty="0" smtClean="0"/>
              <a:t>記憶體的同步</a:t>
            </a:r>
            <a:r>
              <a:rPr lang="zh-TW" altLang="en-US" dirty="0"/>
              <a:t>機制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240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effectLst/>
              </a:rPr>
              <a:t>複習： </a:t>
            </a:r>
            <a:r>
              <a:rPr lang="en-US" altLang="zh-TW" dirty="0" smtClean="0"/>
              <a:t>Peterson</a:t>
            </a:r>
            <a:r>
              <a:rPr lang="en-US" altLang="zh-TW" dirty="0" smtClean="0">
                <a:latin typeface="Helvetica"/>
              </a:rPr>
              <a:t>’</a:t>
            </a:r>
            <a:r>
              <a:rPr lang="en-US" altLang="zh-TW" dirty="0" smtClean="0"/>
              <a:t>s Solution in Current Computer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68478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Example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Assume the first two statements in the </a:t>
            </a:r>
            <a:r>
              <a:rPr lang="en-US" altLang="zh-TW" b="1" dirty="0" smtClean="0"/>
              <a:t>entry section </a:t>
            </a:r>
            <a:r>
              <a:rPr lang="en-US" altLang="zh-TW" dirty="0" smtClean="0"/>
              <a:t>are reordered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Assume that P0 and P1 run on two different processors</a:t>
            </a: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361" y="3721459"/>
            <a:ext cx="8208912" cy="1598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2567608" y="5661248"/>
            <a:ext cx="7560840" cy="91440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Calibri" panose="020F0502020204030204" pitchFamily="34" charset="0"/>
              </a:rPr>
              <a:t>It is possible that both processes are in their critical section at the same time!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71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259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如何使用</a:t>
            </a:r>
            <a:r>
              <a:rPr lang="en-US" altLang="zh-TW" dirty="0" smtClean="0"/>
              <a:t>memory barrier</a:t>
            </a:r>
            <a:r>
              <a:rPr lang="zh-TW" altLang="en-US" dirty="0" smtClean="0"/>
              <a:t>來解決上述問題呢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Ans.: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33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Using Memory Barriers for Peterson’s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Place a memory barrier between the first two statements</a:t>
            </a:r>
          </a:p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zh-TW" dirty="0" smtClean="0"/>
              <a:t>			</a:t>
            </a:r>
          </a:p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flag[</a:t>
            </a:r>
            <a:r>
              <a:rPr lang="en-US" altLang="zh-TW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600" b="1" dirty="0"/>
              <a:t>	</a:t>
            </a:r>
            <a:r>
              <a:rPr lang="en-US" altLang="zh-TW" sz="2600" b="1" dirty="0" smtClean="0"/>
              <a:t>		</a:t>
            </a:r>
            <a:r>
              <a:rPr lang="en-US" altLang="zh-TW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memory_barrier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US" altLang="zh-TW" sz="2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600" b="1" dirty="0"/>
              <a:t>	</a:t>
            </a:r>
            <a:r>
              <a:rPr lang="en-US" altLang="zh-TW" sz="2600" b="1" dirty="0" smtClean="0"/>
              <a:t>		</a:t>
            </a:r>
            <a:r>
              <a:rPr lang="en-US" altLang="zh-TW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turn 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j;</a:t>
            </a:r>
            <a:r>
              <a:rPr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3215680" y="2996952"/>
            <a:ext cx="3600400" cy="144016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73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1540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Memory </a:t>
            </a:r>
            <a:r>
              <a:rPr lang="en-US" altLang="zh-TW" smtClean="0"/>
              <a:t>Barriers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藉由</a:t>
            </a:r>
            <a:r>
              <a:rPr lang="en-US" altLang="zh-TW" dirty="0" smtClean="0"/>
              <a:t>Memory </a:t>
            </a:r>
            <a:r>
              <a:rPr lang="en-US" altLang="zh-TW" dirty="0"/>
              <a:t>Barrier (</a:t>
            </a:r>
            <a:r>
              <a:rPr lang="zh-TW" altLang="en-US" dirty="0"/>
              <a:t>屏障</a:t>
            </a:r>
            <a:r>
              <a:rPr lang="en-US" altLang="zh-TW" dirty="0"/>
              <a:t>), or memory fences (</a:t>
            </a:r>
            <a:r>
              <a:rPr lang="zh-TW" altLang="en-US" dirty="0"/>
              <a:t>籬笆</a:t>
            </a:r>
            <a:r>
              <a:rPr lang="en-US" altLang="zh-TW" dirty="0"/>
              <a:t>)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TW" dirty="0" smtClean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Disable out-of-order execution (reordering) of CPUs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TW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TW" altLang="en-US" b="1" dirty="0" smtClean="0">
                <a:solidFill>
                  <a:srgbClr val="FF0000"/>
                </a:solidFill>
              </a:rPr>
              <a:t>提供了</a:t>
            </a:r>
            <a:r>
              <a:rPr lang="en-US" altLang="zh-TW" b="1" dirty="0" smtClean="0">
                <a:solidFill>
                  <a:srgbClr val="FF0000"/>
                </a:solidFill>
              </a:rPr>
              <a:t>L1 cache/</a:t>
            </a:r>
            <a:r>
              <a:rPr lang="zh-TW" altLang="en-US" b="1" dirty="0" smtClean="0">
                <a:solidFill>
                  <a:srgbClr val="FF0000"/>
                </a:solidFill>
              </a:rPr>
              <a:t>記憶體的同步</a:t>
            </a:r>
            <a:r>
              <a:rPr lang="zh-TW" altLang="en-US" b="1" dirty="0">
                <a:solidFill>
                  <a:srgbClr val="FF0000"/>
                </a:solidFill>
              </a:rPr>
              <a:t>機制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74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10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 smtClean="0"/>
              <a:t>複習</a:t>
            </a:r>
            <a:r>
              <a:rPr lang="en-US" altLang="zh-TW" sz="3600" dirty="0" smtClean="0"/>
              <a:t>: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Not </a:t>
            </a:r>
            <a:r>
              <a:rPr lang="en-US" altLang="zh-TW" sz="3600" dirty="0"/>
              <a:t>Guaranteed to Work on Modern Computer Architecture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Assume P0 runs at core 0, and P1 at core </a:t>
            </a:r>
            <a:r>
              <a:rPr lang="en-US" altLang="zh-TW" dirty="0"/>
              <a:t>1 </a:t>
            </a:r>
            <a:r>
              <a:rPr lang="en-US" altLang="zh-TW" sz="2400" dirty="0" smtClean="0"/>
              <a:t>(see </a:t>
            </a:r>
            <a:r>
              <a:rPr lang="en-US" altLang="zh-TW" sz="2400" dirty="0"/>
              <a:t>the following </a:t>
            </a:r>
            <a:r>
              <a:rPr lang="en-US" altLang="zh-TW" sz="2400" dirty="0" smtClean="0"/>
              <a:t>slide)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 smtClean="0"/>
              <a:t>當</a:t>
            </a:r>
            <a:r>
              <a:rPr lang="en-US" altLang="zh-TW" dirty="0" smtClean="0"/>
              <a:t>P0 </a:t>
            </a:r>
            <a:r>
              <a:rPr lang="zh-TW" altLang="en-US" dirty="0" smtClean="0"/>
              <a:t>寫入</a:t>
            </a:r>
            <a:r>
              <a:rPr lang="en-US" altLang="zh-TW" dirty="0" smtClean="0"/>
              <a:t>flag[0] = 1;</a:t>
            </a:r>
          </a:p>
          <a:p>
            <a:pPr lvl="1"/>
            <a:r>
              <a:rPr lang="en-US" altLang="zh-TW" dirty="0" smtClean="0"/>
              <a:t>Flag[0] is cached in P0’s L1 cache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Later, when P1 read flag[0]</a:t>
            </a:r>
          </a:p>
          <a:p>
            <a:pPr lvl="1"/>
            <a:r>
              <a:rPr lang="zh-TW" altLang="en-US" dirty="0"/>
              <a:t>可能</a:t>
            </a:r>
            <a:r>
              <a:rPr lang="zh-TW" altLang="en-US" dirty="0" smtClean="0"/>
              <a:t>讀到</a:t>
            </a:r>
            <a:r>
              <a:rPr lang="en-US" altLang="zh-TW" dirty="0" smtClean="0"/>
              <a:t>P1</a:t>
            </a:r>
            <a:r>
              <a:rPr lang="zh-TW" altLang="en-US" dirty="0" smtClean="0"/>
              <a:t>自己</a:t>
            </a:r>
            <a:r>
              <a:rPr lang="en-US" altLang="zh-TW" dirty="0" smtClean="0"/>
              <a:t>cache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flag[0]</a:t>
            </a:r>
            <a:r>
              <a:rPr lang="zh-TW" altLang="en-US" dirty="0" smtClean="0"/>
              <a:t>或是記憶體的</a:t>
            </a:r>
            <a:r>
              <a:rPr lang="en-US" altLang="zh-TW" dirty="0" smtClean="0"/>
              <a:t>flag[0]</a:t>
            </a:r>
          </a:p>
          <a:p>
            <a:pPr lvl="1"/>
            <a:r>
              <a:rPr lang="zh-TW" altLang="en-US" dirty="0" smtClean="0"/>
              <a:t>結果都是</a:t>
            </a:r>
            <a:r>
              <a:rPr lang="en-US" altLang="zh-TW" dirty="0" smtClean="0"/>
              <a:t> flag[0] = 0;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75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792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177309" y="6581001"/>
            <a:ext cx="9122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libri" panose="020F0502020204030204" pitchFamily="34" charset="0"/>
              </a:rPr>
              <a:t>https://www.researchgate.net/figure/Cache-hierarchy-of-an-Intel-processor-the-L3-cache-is-shared-among-available-cores_fig3_321241798</a:t>
            </a:r>
            <a:endParaRPr lang="zh-TW" altLang="en-US" sz="1200" b="1" dirty="0">
              <a:latin typeface="Calibri" panose="020F0502020204030204" pitchFamily="34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062182" y="886114"/>
            <a:ext cx="9841345" cy="5359111"/>
            <a:chOff x="1062182" y="886114"/>
            <a:chExt cx="9841345" cy="4803485"/>
          </a:xfrm>
        </p:grpSpPr>
        <p:pic>
          <p:nvPicPr>
            <p:cNvPr id="8194" name="Picture 2" descr="Two-level Cache Hierarchy in MPSoC Architectur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273" y="1080797"/>
              <a:ext cx="9180945" cy="4608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273" y="886114"/>
              <a:ext cx="9180945" cy="328872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062182" y="4174836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063673" y="4186427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6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如何使用</a:t>
            </a:r>
            <a:r>
              <a:rPr lang="en-US" altLang="zh-TW" dirty="0" smtClean="0"/>
              <a:t>memory barrier</a:t>
            </a:r>
            <a:r>
              <a:rPr lang="zh-TW" altLang="en-US" dirty="0" smtClean="0"/>
              <a:t>來解決上述問題呢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Ans.: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38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Using Memory Barriers for Peterson’s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Place a memory barrier between the first two statements</a:t>
            </a:r>
          </a:p>
          <a:p>
            <a:pPr lvl="1">
              <a:lnSpc>
                <a:spcPct val="110000"/>
              </a:lnSpc>
            </a:pPr>
            <a:endParaRPr lang="en-US" altLang="zh-TW" dirty="0" smtClean="0"/>
          </a:p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zh-TW" dirty="0" smtClean="0"/>
              <a:t>			</a:t>
            </a:r>
            <a:r>
              <a:rPr lang="en-US" altLang="zh-TW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flag[</a:t>
            </a:r>
            <a:r>
              <a:rPr lang="en-US" altLang="zh-TW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600" b="1" dirty="0"/>
              <a:t>	</a:t>
            </a:r>
            <a:r>
              <a:rPr lang="en-US" altLang="zh-TW" sz="2600" b="1" dirty="0" smtClean="0"/>
              <a:t>		</a:t>
            </a:r>
            <a:r>
              <a:rPr lang="en-US" altLang="zh-TW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memory_barrier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US" altLang="zh-TW" sz="2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600" b="1" dirty="0"/>
              <a:t>	</a:t>
            </a:r>
            <a:r>
              <a:rPr lang="en-US" altLang="zh-TW" sz="2600" b="1" dirty="0" smtClean="0"/>
              <a:t>		</a:t>
            </a:r>
            <a:r>
              <a:rPr lang="en-US" altLang="zh-TW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turn 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j;</a:t>
            </a:r>
            <a:r>
              <a:rPr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3215680" y="2996952"/>
            <a:ext cx="3600400" cy="144016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78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814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905000" y="1814514"/>
            <a:ext cx="4191000" cy="4067175"/>
          </a:xfrm>
          <a:prstGeom prst="rect">
            <a:avLst/>
          </a:prstGeom>
          <a:noFill/>
          <a:ln w="12700" cap="sq">
            <a:solidFill>
              <a:srgbClr val="00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Process P0: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Do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flag[0]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:=true;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memory_barrier</a:t>
            </a:r>
            <a:r>
              <a:rPr kumimoji="0" lang="en-US" altLang="zh-TW" sz="2000" b="1" dirty="0" smtClean="0">
                <a:solidFill>
                  <a:srgbClr val="FF0000"/>
                </a:solidFill>
                <a:latin typeface="Courier New" pitchFamily="49" charset="0"/>
              </a:rPr>
              <a:t>();</a:t>
            </a:r>
            <a:endParaRPr kumimoji="0" lang="en-US" altLang="zh-TW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turn:= 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//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P0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gives a chance to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P1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while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(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flag[1]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&amp;&amp;turn=1){};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  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flag[0]:=false;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//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P0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no longer wants in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  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While (1);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400800" y="1814514"/>
            <a:ext cx="3886200" cy="4093428"/>
          </a:xfrm>
          <a:prstGeom prst="rect">
            <a:avLst/>
          </a:prstGeom>
          <a:noFill/>
          <a:ln w="12700" cap="sq">
            <a:solidFill>
              <a:srgbClr val="00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Process P1: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Do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flag[1]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:=true;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dirty="0" err="1">
                <a:solidFill>
                  <a:srgbClr val="FF0000"/>
                </a:solidFill>
                <a:latin typeface="Courier New" pitchFamily="49" charset="0"/>
              </a:rPr>
              <a:t>memory_barrier</a:t>
            </a:r>
            <a:r>
              <a:rPr kumimoji="0" lang="en-US" altLang="zh-TW" sz="2000" b="1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turn:=0;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//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P1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gives a chance to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P0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while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(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flag[0]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&amp;&amp;turn=0){};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  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flag[1]:=false;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//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P1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no longer wants in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  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While (1);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7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Peterson’s Algorithm Global View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8332E-BC01-4448-8CFF-D9751CFACD8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07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Barriers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However, memory </a:t>
            </a:r>
            <a:r>
              <a:rPr lang="en-US" altLang="zh-TW" dirty="0"/>
              <a:t>barriers is </a:t>
            </a:r>
            <a:r>
              <a:rPr lang="en-US" altLang="zh-TW" b="1" dirty="0"/>
              <a:t>low-level</a:t>
            </a:r>
            <a:r>
              <a:rPr lang="en-US" altLang="zh-TW" dirty="0"/>
              <a:t> operations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Only adopted by </a:t>
            </a:r>
            <a:r>
              <a:rPr lang="en-US" altLang="zh-TW" b="1" dirty="0"/>
              <a:t>kernel developers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Not friendly to user application programmers</a:t>
            </a:r>
            <a:endParaRPr lang="en-US" altLang="zh-TW" b="1" dirty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Besides, using memory barriers is not enough</a:t>
            </a:r>
          </a:p>
          <a:p>
            <a:pPr lvl="1">
              <a:lnSpc>
                <a:spcPct val="110000"/>
              </a:lnSpc>
            </a:pPr>
            <a:r>
              <a:rPr lang="zh-TW" altLang="en-US" dirty="0"/>
              <a:t>只</a:t>
            </a:r>
            <a:r>
              <a:rPr lang="zh-TW" altLang="en-US" dirty="0" smtClean="0"/>
              <a:t>保證不會</a:t>
            </a:r>
            <a:r>
              <a:rPr lang="en-US" altLang="zh-TW" dirty="0" smtClean="0"/>
              <a:t>re-order</a:t>
            </a:r>
            <a:r>
              <a:rPr lang="zh-TW" altLang="en-US" dirty="0" smtClean="0"/>
              <a:t>和解決</a:t>
            </a:r>
            <a:r>
              <a:rPr lang="en-US" altLang="zh-TW" dirty="0" smtClean="0"/>
              <a:t>cache</a:t>
            </a:r>
            <a:r>
              <a:rPr lang="zh-TW" altLang="en-US" dirty="0" smtClean="0"/>
              <a:t>同步的問題</a:t>
            </a:r>
            <a:endParaRPr lang="en-US" altLang="zh-TW" dirty="0" smtClean="0"/>
          </a:p>
          <a:p>
            <a:pPr lvl="1">
              <a:lnSpc>
                <a:spcPct val="110000"/>
              </a:lnSpc>
            </a:pPr>
            <a:r>
              <a:rPr lang="zh-TW" altLang="en-US" dirty="0" smtClean="0"/>
              <a:t>不能完整解決</a:t>
            </a:r>
            <a:r>
              <a:rPr lang="en-US" altLang="zh-TW" dirty="0" smtClean="0"/>
              <a:t>race condition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954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Hardware Support for Synchronization</a:t>
            </a:r>
          </a:p>
          <a:p>
            <a:pPr lvl="1"/>
            <a:r>
              <a:rPr lang="en-US" altLang="en-US" sz="2400" dirty="0"/>
              <a:t>Memory barriers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Hardware instructions</a:t>
            </a:r>
          </a:p>
          <a:p>
            <a:pPr lvl="1"/>
            <a:r>
              <a:rPr lang="en-US" altLang="en-US" sz="2400" dirty="0"/>
              <a:t>Atomic variables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864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How to Provide Synchronization Tools by Hardware Instruction?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 1: </a:t>
            </a:r>
            <a:r>
              <a:rPr lang="zh-TW" altLang="en-US" dirty="0" smtClean="0"/>
              <a:t>基本的解法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083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基本想法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最佳</a:t>
            </a:r>
            <a:r>
              <a:rPr lang="zh-TW" altLang="en-US" dirty="0" smtClean="0"/>
              <a:t>的解法</a:t>
            </a:r>
            <a:r>
              <a:rPr lang="en-US" altLang="zh-TW" dirty="0" smtClean="0"/>
              <a:t>: </a:t>
            </a:r>
            <a:r>
              <a:rPr lang="zh-TW" altLang="en-US" dirty="0" smtClean="0"/>
              <a:t>維護一個變數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假設是</a:t>
            </a:r>
            <a:r>
              <a:rPr lang="en-US" altLang="zh-TW" b="1" dirty="0" smtClean="0">
                <a:solidFill>
                  <a:srgbClr val="0000FF"/>
                </a:solidFill>
              </a:rPr>
              <a:t>Locks</a:t>
            </a:r>
            <a:endParaRPr lang="en-US" altLang="zh-TW" dirty="0">
              <a:solidFill>
                <a:srgbClr val="0000FF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564904"/>
            <a:ext cx="2160240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863752" y="2524387"/>
            <a:ext cx="8140370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471" b="1" dirty="0" smtClean="0">
                <a:solidFill>
                  <a:srgbClr val="3333FF"/>
                </a:solidFill>
                <a:latin typeface="Trebuchet MS" panose="020B0603020202020204" pitchFamily="34" charset="0"/>
              </a:rPr>
              <a:t>when lock = 0, </a:t>
            </a:r>
            <a:r>
              <a:rPr kumimoji="0" lang="en-US" altLang="zh-TW" sz="2471" b="1" dirty="0" smtClean="0">
                <a:solidFill>
                  <a:srgbClr val="FF3300"/>
                </a:solidFill>
                <a:latin typeface="Trebuchet MS" panose="020B0603020202020204" pitchFamily="34" charset="0"/>
              </a:rPr>
              <a:t>set lock </a:t>
            </a:r>
            <a:r>
              <a:rPr kumimoji="0" lang="en-US" altLang="zh-TW" sz="2471" b="1" dirty="0">
                <a:solidFill>
                  <a:srgbClr val="FF3300"/>
                </a:solidFill>
                <a:latin typeface="Trebuchet MS" panose="020B0603020202020204" pitchFamily="34" charset="0"/>
              </a:rPr>
              <a:t>= 1</a:t>
            </a:r>
            <a:r>
              <a:rPr kumimoji="0" lang="en-US" altLang="zh-TW" sz="2471" b="1" dirty="0">
                <a:solidFill>
                  <a:srgbClr val="3333FF"/>
                </a:solidFill>
                <a:latin typeface="Trebuchet MS" panose="020B0603020202020204" pitchFamily="34" charset="0"/>
              </a:rPr>
              <a:t>, </a:t>
            </a:r>
            <a:r>
              <a:rPr kumimoji="0" lang="en-US" altLang="zh-TW" sz="2471" b="1" dirty="0" smtClean="0">
                <a:solidFill>
                  <a:srgbClr val="3333FF"/>
                </a:solidFill>
                <a:latin typeface="Trebuchet MS" panose="020B0603020202020204" pitchFamily="34" charset="0"/>
              </a:rPr>
              <a:t>and enter critical section</a:t>
            </a:r>
            <a:endParaRPr kumimoji="0" lang="en-US" altLang="zh-TW" sz="2471" b="1" dirty="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35760" y="5253305"/>
            <a:ext cx="1356462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471" b="1" dirty="0">
                <a:solidFill>
                  <a:srgbClr val="3333FF"/>
                </a:solidFill>
                <a:latin typeface="Trebuchet MS" panose="020B0603020202020204" pitchFamily="34" charset="0"/>
              </a:rPr>
              <a:t>lock = 0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32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然而</a:t>
            </a:r>
            <a:r>
              <a:rPr lang="en-US" altLang="zh-TW" dirty="0" smtClean="0"/>
              <a:t>, </a:t>
            </a:r>
            <a:r>
              <a:rPr lang="zh-TW" altLang="en-US" dirty="0" smtClean="0"/>
              <a:t>上述的程式有問題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你看得出來</a:t>
            </a:r>
            <a:r>
              <a:rPr lang="zh-TW" altLang="en-US" dirty="0" smtClean="0"/>
              <a:t>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25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 </a:t>
            </a:r>
            <a:r>
              <a:rPr lang="en-US" altLang="zh-TW" dirty="0" smtClean="0"/>
              <a:t>Idea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sz="3600" b="1" dirty="0" smtClean="0">
                <a:solidFill>
                  <a:srgbClr val="0000FF"/>
                </a:solidFill>
              </a:rPr>
              <a:t>You cannot update the lock by yourself</a:t>
            </a:r>
          </a:p>
          <a:p>
            <a:pPr>
              <a:spcBef>
                <a:spcPts val="600"/>
              </a:spcBef>
            </a:pPr>
            <a:r>
              <a:rPr lang="en-US" altLang="zh-TW" sz="3600" dirty="0" smtClean="0"/>
              <a:t>i.e., You cannot implement the following code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altLang="zh-TW" sz="3200" dirty="0" smtClean="0"/>
          </a:p>
          <a:p>
            <a:pPr marL="457200" lvl="1" indent="0">
              <a:spcBef>
                <a:spcPts val="600"/>
              </a:spcBef>
              <a:buNone/>
            </a:pPr>
            <a:endParaRPr lang="en-US" altLang="zh-TW" sz="3200" dirty="0"/>
          </a:p>
          <a:p>
            <a:pPr marL="457200" lvl="1" indent="0">
              <a:spcBef>
                <a:spcPts val="600"/>
              </a:spcBef>
              <a:buNone/>
            </a:pPr>
            <a:endParaRPr lang="en-US" altLang="zh-TW" sz="3200" dirty="0" smtClean="0"/>
          </a:p>
          <a:p>
            <a:pPr>
              <a:spcBef>
                <a:spcPts val="600"/>
              </a:spcBef>
            </a:pPr>
            <a:endParaRPr lang="en-US" altLang="zh-TW" sz="3600" dirty="0" smtClean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359697" y="3485326"/>
            <a:ext cx="4824535" cy="18158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Courier New" pitchFamily="49" charset="0"/>
              </a:rPr>
              <a:t>while (lock </a:t>
            </a:r>
            <a:r>
              <a:rPr lang="en-US" altLang="zh-TW" sz="2800" b="1" dirty="0" smtClean="0">
                <a:latin typeface="Courier New" pitchFamily="49" charset="0"/>
              </a:rPr>
              <a:t>== 1) </a:t>
            </a:r>
            <a:r>
              <a:rPr lang="en-US" altLang="zh-TW" sz="2800" b="1" dirty="0">
                <a:latin typeface="Courier New" pitchFamily="49" charset="0"/>
              </a:rPr>
              <a:t>;</a:t>
            </a:r>
          </a:p>
          <a:p>
            <a:r>
              <a:rPr lang="en-US" altLang="zh-TW" sz="2800" b="1" dirty="0">
                <a:latin typeface="Courier New" pitchFamily="49" charset="0"/>
              </a:rPr>
              <a:t>lock = 1;</a:t>
            </a:r>
          </a:p>
          <a:p>
            <a:r>
              <a:rPr lang="en-US" altLang="zh-TW" sz="2800" b="1" dirty="0">
                <a:latin typeface="Courier New" pitchFamily="49" charset="0"/>
              </a:rPr>
              <a:t>  CS</a:t>
            </a:r>
          </a:p>
          <a:p>
            <a:r>
              <a:rPr lang="en-US" altLang="zh-TW" sz="2800" b="1" dirty="0">
                <a:latin typeface="Courier New" pitchFamily="49" charset="0"/>
              </a:rPr>
              <a:t>lock = 0;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16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/>
          </a:p>
          <a:p>
            <a:r>
              <a:rPr lang="en-US" altLang="zh-TW" b="1" dirty="0" smtClean="0"/>
              <a:t>Case 1</a:t>
            </a:r>
            <a:endParaRPr lang="en-US" altLang="zh-TW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57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Cannot Access Lock by Yourself ? Case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sz="1200" dirty="0"/>
          </a:p>
          <a:p>
            <a:endParaRPr lang="en-US" altLang="zh-TW" dirty="0" smtClean="0"/>
          </a:p>
        </p:txBody>
      </p:sp>
      <p:grpSp>
        <p:nvGrpSpPr>
          <p:cNvPr id="4" name="群組 3"/>
          <p:cNvGrpSpPr/>
          <p:nvPr/>
        </p:nvGrpSpPr>
        <p:grpSpPr>
          <a:xfrm>
            <a:off x="2351584" y="2420888"/>
            <a:ext cx="7083029" cy="1243300"/>
            <a:chOff x="-36512" y="980729"/>
            <a:chExt cx="7083029" cy="12433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475656" y="1700809"/>
              <a:ext cx="3671887" cy="5232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2800" b="1" dirty="0" err="1" smtClean="0">
                  <a:latin typeface="Courier New" pitchFamily="49" charset="0"/>
                </a:rPr>
                <a:t>mov</a:t>
              </a:r>
              <a:r>
                <a:rPr lang="en-US" altLang="zh-TW" sz="2800" b="1" dirty="0" smtClean="0">
                  <a:latin typeface="Courier New" pitchFamily="49" charset="0"/>
                </a:rPr>
                <a:t> </a:t>
              </a:r>
              <a:r>
                <a:rPr lang="en-US" altLang="zh-TW" sz="2800" b="1" dirty="0">
                  <a:latin typeface="Courier New" pitchFamily="49" charset="0"/>
                </a:rPr>
                <a:t>lock, </a:t>
              </a:r>
              <a:r>
                <a:rPr lang="en-US" altLang="zh-TW" sz="2800" b="1" dirty="0" smtClean="0">
                  <a:latin typeface="Courier New" pitchFamily="49" charset="0"/>
                </a:rPr>
                <a:t>1</a:t>
              </a:r>
              <a:endParaRPr lang="en-US" altLang="zh-TW" sz="2800" b="1" baseline="-25000" dirty="0">
                <a:latin typeface="Courier New" pitchFamily="49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-36512" y="980729"/>
              <a:ext cx="70830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latin typeface="Calibri" panose="020F0502020204030204" pitchFamily="34" charset="0"/>
                </a:rPr>
                <a:t>Assume that </a:t>
              </a:r>
              <a:r>
                <a:rPr lang="en-US" altLang="zh-TW" sz="3200" dirty="0"/>
                <a:t>“</a:t>
              </a:r>
              <a:r>
                <a:rPr lang="en-US" altLang="zh-TW" sz="3200" b="1" dirty="0">
                  <a:latin typeface="Courier New" pitchFamily="49" charset="0"/>
                </a:rPr>
                <a:t>lock = 1</a:t>
              </a:r>
              <a:r>
                <a:rPr lang="en-US" altLang="zh-TW" sz="3200" dirty="0"/>
                <a:t>”</a:t>
              </a:r>
              <a:r>
                <a:rPr lang="en-US" altLang="zh-TW" sz="3200" dirty="0">
                  <a:latin typeface="Times New Roman" pitchFamily="18" charset="0"/>
                </a:rPr>
                <a:t> </a:t>
              </a:r>
              <a:r>
                <a:rPr lang="en-US" altLang="zh-TW" sz="3200" dirty="0">
                  <a:latin typeface="Calibri" panose="020F0502020204030204" pitchFamily="34" charset="0"/>
                </a:rPr>
                <a:t>is </a:t>
              </a:r>
              <a:r>
                <a:rPr lang="en-US" altLang="zh-TW" sz="3200" b="1" dirty="0">
                  <a:latin typeface="Calibri" panose="020F0502020204030204" pitchFamily="34" charset="0"/>
                </a:rPr>
                <a:t>compiled</a:t>
              </a:r>
              <a:r>
                <a:rPr lang="en-US" altLang="zh-TW" sz="3200" dirty="0">
                  <a:latin typeface="Calibri" panose="020F0502020204030204" pitchFamily="34" charset="0"/>
                </a:rPr>
                <a:t> as</a:t>
              </a:r>
              <a:endParaRPr lang="zh-TW" altLang="en-US" sz="3200" dirty="0"/>
            </a:p>
          </p:txBody>
        </p:sp>
      </p:grp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215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800" dirty="0" smtClean="0"/>
              <a:t>Case 1 (Cont.)</a:t>
            </a:r>
            <a:endParaRPr lang="zh-TW" altLang="en-US" sz="4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Assume P1 runs at core 0, and P2 at core </a:t>
            </a:r>
            <a:r>
              <a:rPr lang="en-US" altLang="zh-TW" dirty="0"/>
              <a:t>1 </a:t>
            </a:r>
            <a:r>
              <a:rPr lang="en-US" altLang="zh-TW" sz="2400" dirty="0" smtClean="0"/>
              <a:t>(see </a:t>
            </a:r>
            <a:r>
              <a:rPr lang="en-US" altLang="zh-TW" sz="2400" dirty="0"/>
              <a:t>the following </a:t>
            </a:r>
            <a:r>
              <a:rPr lang="en-US" altLang="zh-TW" sz="2400" dirty="0" smtClean="0"/>
              <a:t>slide)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 smtClean="0"/>
              <a:t>當</a:t>
            </a:r>
            <a:r>
              <a:rPr lang="en-US" altLang="zh-TW" dirty="0" smtClean="0"/>
              <a:t>P1 </a:t>
            </a:r>
            <a:r>
              <a:rPr lang="zh-TW" altLang="en-US" dirty="0" smtClean="0"/>
              <a:t>寫入</a:t>
            </a:r>
            <a:r>
              <a:rPr lang="en-US" altLang="zh-TW" dirty="0" smtClean="0"/>
              <a:t>lock = 1 (</a:t>
            </a:r>
            <a:r>
              <a:rPr lang="en-US" altLang="zh-TW" dirty="0" err="1" smtClean="0"/>
              <a:t>mov</a:t>
            </a:r>
            <a:r>
              <a:rPr lang="en-US" altLang="zh-TW" dirty="0" smtClean="0"/>
              <a:t> lock 1), </a:t>
            </a:r>
            <a:r>
              <a:rPr lang="zh-TW" altLang="en-US" dirty="0" smtClean="0"/>
              <a:t>進入</a:t>
            </a:r>
            <a:r>
              <a:rPr lang="en-US" altLang="zh-TW" dirty="0" smtClean="0"/>
              <a:t>CS</a:t>
            </a:r>
          </a:p>
          <a:p>
            <a:pPr lvl="1"/>
            <a:r>
              <a:rPr lang="en-US" altLang="zh-TW" dirty="0" smtClean="0"/>
              <a:t>Lock is cached in P0’s L1 cache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Later, when P2 read lock (</a:t>
            </a:r>
            <a:r>
              <a:rPr lang="zh-TW" altLang="en-US" dirty="0" smtClean="0"/>
              <a:t>判斷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是否</a:t>
            </a:r>
            <a:r>
              <a:rPr lang="en-US" altLang="zh-TW" dirty="0" smtClean="0"/>
              <a:t>==1?)</a:t>
            </a:r>
          </a:p>
          <a:p>
            <a:pPr lvl="1"/>
            <a:r>
              <a:rPr lang="zh-TW" altLang="en-US" dirty="0"/>
              <a:t>可能</a:t>
            </a:r>
            <a:r>
              <a:rPr lang="zh-TW" altLang="en-US" dirty="0" smtClean="0"/>
              <a:t>讀到</a:t>
            </a:r>
            <a:r>
              <a:rPr lang="en-US" altLang="zh-TW" dirty="0" smtClean="0"/>
              <a:t>P1</a:t>
            </a:r>
            <a:r>
              <a:rPr lang="zh-TW" altLang="en-US" dirty="0" smtClean="0"/>
              <a:t>自己</a:t>
            </a:r>
            <a:r>
              <a:rPr lang="en-US" altLang="zh-TW" dirty="0" smtClean="0"/>
              <a:t>cache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lock</a:t>
            </a:r>
          </a:p>
          <a:p>
            <a:pPr lvl="1"/>
            <a:r>
              <a:rPr lang="en-US" altLang="zh-TW" dirty="0" smtClean="0"/>
              <a:t>Lock</a:t>
            </a:r>
            <a:r>
              <a:rPr lang="zh-TW" altLang="en-US" dirty="0" smtClean="0"/>
              <a:t>也是</a:t>
            </a:r>
            <a:r>
              <a:rPr lang="en-US" altLang="zh-TW" dirty="0" smtClean="0"/>
              <a:t> = 0, P1</a:t>
            </a:r>
            <a:r>
              <a:rPr lang="zh-TW" altLang="en-US" dirty="0" smtClean="0"/>
              <a:t>將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設為</a:t>
            </a:r>
            <a:r>
              <a:rPr lang="en-US" altLang="zh-TW" dirty="0" smtClean="0"/>
              <a:t>1, </a:t>
            </a:r>
            <a:r>
              <a:rPr lang="zh-TW" altLang="en-US" dirty="0" smtClean="0"/>
              <a:t>進入</a:t>
            </a:r>
            <a:r>
              <a:rPr lang="en-US" altLang="zh-TW" dirty="0" smtClean="0"/>
              <a:t>CS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88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4932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177309" y="6581001"/>
            <a:ext cx="9122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libri" panose="020F0502020204030204" pitchFamily="34" charset="0"/>
              </a:rPr>
              <a:t>https://www.researchgate.net/figure/Cache-hierarchy-of-an-Intel-processor-the-L3-cache-is-shared-among-available-cores_fig3_321241798</a:t>
            </a:r>
            <a:endParaRPr lang="zh-TW" altLang="en-US" sz="1200" b="1" dirty="0">
              <a:latin typeface="Calibri" panose="020F0502020204030204" pitchFamily="34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062182" y="886114"/>
            <a:ext cx="9841345" cy="5359111"/>
            <a:chOff x="1062182" y="886114"/>
            <a:chExt cx="9841345" cy="4803485"/>
          </a:xfrm>
        </p:grpSpPr>
        <p:pic>
          <p:nvPicPr>
            <p:cNvPr id="8194" name="Picture 2" descr="Two-level Cache Hierarchy in MPSoC Architectur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273" y="1080797"/>
              <a:ext cx="9180945" cy="4608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273" y="886114"/>
              <a:ext cx="9180945" cy="328872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062182" y="4174836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063673" y="4186427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14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/>
          </a:p>
          <a:p>
            <a:r>
              <a:rPr lang="en-US" altLang="zh-TW" b="1" dirty="0" smtClean="0"/>
              <a:t>Case 2</a:t>
            </a:r>
            <a:endParaRPr lang="en-US" altLang="zh-TW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45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Why Cannot Access Lock by Yourself ? Case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Assume P1 runs at core 0, and P2 at core 1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P1 and P2</a:t>
            </a:r>
            <a:r>
              <a:rPr lang="zh-TW" altLang="en-US" dirty="0" smtClean="0"/>
              <a:t>都看到 </a:t>
            </a:r>
            <a:r>
              <a:rPr lang="en-US" altLang="zh-TW" dirty="0"/>
              <a:t>Lock </a:t>
            </a:r>
            <a:r>
              <a:rPr lang="en-US" altLang="zh-TW" dirty="0" smtClean="0"/>
              <a:t>== 0, </a:t>
            </a:r>
            <a:r>
              <a:rPr lang="zh-TW" altLang="en-US" dirty="0" smtClean="0"/>
              <a:t>於是</a:t>
            </a:r>
            <a:r>
              <a:rPr lang="zh-TW" altLang="en-US" dirty="0"/>
              <a:t>同時設成 </a:t>
            </a:r>
            <a:r>
              <a:rPr lang="en-US" altLang="zh-TW" dirty="0"/>
              <a:t>1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/>
              <a:t>結果兩個執行緒都「以為」自己拿到</a:t>
            </a:r>
            <a:r>
              <a:rPr lang="zh-TW" altLang="en-US" dirty="0" smtClean="0"/>
              <a:t>鎖並進入</a:t>
            </a:r>
            <a:r>
              <a:rPr lang="en-US" altLang="zh-TW" dirty="0" smtClean="0"/>
              <a:t>CS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91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977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628" name="Group 11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997162"/>
              </p:ext>
            </p:extLst>
          </p:nvPr>
        </p:nvGraphicFramePr>
        <p:xfrm>
          <a:off x="1415481" y="2060848"/>
          <a:ext cx="9505056" cy="2640742"/>
        </p:xfrm>
        <a:graphic>
          <a:graphicData uri="http://schemas.openxmlformats.org/drawingml/2006/table">
            <a:tbl>
              <a:tblPr/>
              <a:tblGrid>
                <a:gridCol w="475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P1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P2</a:t>
                      </a: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while ( lock == 1); 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while ( lock == 1); 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Lock = 1;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Lock = 1;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26" name="Text Box 56"/>
          <p:cNvSpPr txBox="1">
            <a:spLocks noChangeArrowheads="1"/>
          </p:cNvSpPr>
          <p:nvPr/>
        </p:nvSpPr>
        <p:spPr bwMode="auto">
          <a:xfrm>
            <a:off x="5087888" y="776898"/>
            <a:ext cx="214712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lock = </a:t>
            </a:r>
            <a:r>
              <a:rPr kumimoji="1" lang="en-US" altLang="zh-TW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8332E-BC01-4448-8CFF-D9751CFACD8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28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結論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dirty="0" smtClean="0"/>
              <a:t>因為</a:t>
            </a:r>
            <a:r>
              <a:rPr lang="en-US" altLang="zh-TW" b="1" dirty="0" smtClean="0">
                <a:solidFill>
                  <a:srgbClr val="FF0000"/>
                </a:solidFill>
              </a:rPr>
              <a:t>Lock </a:t>
            </a:r>
            <a:r>
              <a:rPr lang="en-US" altLang="zh-TW" b="1" dirty="0">
                <a:solidFill>
                  <a:srgbClr val="FF0000"/>
                </a:solidFill>
              </a:rPr>
              <a:t>is a shared variable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Thus, </a:t>
            </a:r>
            <a:r>
              <a:rPr lang="en-US" altLang="zh-TW" b="1" dirty="0" smtClean="0"/>
              <a:t>accessing lock </a:t>
            </a:r>
            <a:r>
              <a:rPr lang="en-US" altLang="zh-TW" dirty="0" smtClean="0"/>
              <a:t>must be </a:t>
            </a:r>
            <a:r>
              <a:rPr lang="en-US" altLang="zh-TW" b="1" dirty="0" smtClean="0"/>
              <a:t>synchronized and protected</a:t>
            </a:r>
          </a:p>
          <a:p>
            <a:pPr lvl="1">
              <a:lnSpc>
                <a:spcPct val="110000"/>
              </a:lnSpc>
            </a:pPr>
            <a:r>
              <a:rPr lang="zh-TW" altLang="en-US" dirty="0" smtClean="0"/>
              <a:t>存取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本身也是一個</a:t>
            </a:r>
            <a:r>
              <a:rPr lang="en-US" altLang="zh-TW" dirty="0" smtClean="0"/>
              <a:t>critical section</a:t>
            </a:r>
          </a:p>
          <a:p>
            <a:pPr lvl="1">
              <a:lnSpc>
                <a:spcPct val="11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You cannot access lock by yourself~</a:t>
            </a:r>
          </a:p>
          <a:p>
            <a:pPr>
              <a:lnSpc>
                <a:spcPct val="110000"/>
              </a:lnSpc>
            </a:pPr>
            <a:endParaRPr lang="en-US" altLang="zh-TW" b="1" dirty="0" smtClean="0"/>
          </a:p>
          <a:p>
            <a:pPr>
              <a:lnSpc>
                <a:spcPct val="110000"/>
              </a:lnSpc>
            </a:pPr>
            <a:endParaRPr lang="zh-TW" altLang="en-US" dirty="0"/>
          </a:p>
          <a:p>
            <a:pPr lvl="1">
              <a:lnSpc>
                <a:spcPct val="110000"/>
              </a:lnSpc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93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510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怎麼辦</a:t>
            </a:r>
            <a:r>
              <a:rPr lang="zh-TW" altLang="en-US" dirty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417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 Idea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b="1" dirty="0" smtClean="0"/>
              <a:t>Idea: </a:t>
            </a:r>
            <a:r>
              <a:rPr lang="zh-TW" altLang="en-US" b="1" dirty="0" smtClean="0"/>
              <a:t>硬體</a:t>
            </a:r>
            <a:r>
              <a:rPr lang="zh-TW" altLang="en-US" b="1" dirty="0"/>
              <a:t>可以</a:t>
            </a:r>
            <a:r>
              <a:rPr lang="zh-TW" altLang="en-US" b="1" dirty="0" smtClean="0"/>
              <a:t>提供特殊的</a:t>
            </a:r>
            <a:r>
              <a:rPr lang="en-US" altLang="zh-TW" b="1" dirty="0" smtClean="0"/>
              <a:t>instructions</a:t>
            </a:r>
            <a:r>
              <a:rPr lang="zh-TW" altLang="en-US" b="1" dirty="0"/>
              <a:t>讓我們安全的存取</a:t>
            </a:r>
            <a:r>
              <a:rPr lang="en-US" altLang="zh-TW" b="1" dirty="0" smtClean="0"/>
              <a:t>lock(</a:t>
            </a:r>
            <a:r>
              <a:rPr lang="zh-TW" altLang="en-US" b="1" dirty="0" smtClean="0"/>
              <a:t>檢查</a:t>
            </a:r>
            <a:r>
              <a:rPr lang="en-US" altLang="zh-TW" b="1" dirty="0" smtClean="0"/>
              <a:t>lock</a:t>
            </a:r>
            <a:r>
              <a:rPr lang="zh-TW" altLang="en-US" b="1" dirty="0" smtClean="0"/>
              <a:t>的值以及設定</a:t>
            </a:r>
            <a:r>
              <a:rPr lang="en-US" altLang="zh-TW" b="1" dirty="0" smtClean="0"/>
              <a:t>lock</a:t>
            </a:r>
            <a:r>
              <a:rPr lang="zh-TW" altLang="en-US" b="1" dirty="0" smtClean="0"/>
              <a:t>的值</a:t>
            </a:r>
            <a:r>
              <a:rPr lang="en-US" altLang="zh-TW" b="1" dirty="0" smtClean="0"/>
              <a:t>)</a:t>
            </a:r>
          </a:p>
          <a:p>
            <a:pPr>
              <a:lnSpc>
                <a:spcPct val="110000"/>
              </a:lnSpc>
            </a:pPr>
            <a:endParaRPr lang="en-US" altLang="zh-TW" b="1" dirty="0" smtClean="0"/>
          </a:p>
          <a:p>
            <a:pPr>
              <a:lnSpc>
                <a:spcPct val="110000"/>
              </a:lnSpc>
            </a:pPr>
            <a:r>
              <a:rPr lang="en-US" altLang="zh-TW" b="1" dirty="0" smtClean="0"/>
              <a:t>Sol</a:t>
            </a:r>
            <a:r>
              <a:rPr lang="en-US" altLang="zh-TW" b="1" dirty="0"/>
              <a:t>.: </a:t>
            </a:r>
            <a:r>
              <a:rPr lang="en-US" altLang="zh-TW" b="1" dirty="0">
                <a:solidFill>
                  <a:srgbClr val="0000FF"/>
                </a:solidFill>
              </a:rPr>
              <a:t>atomic</a:t>
            </a:r>
            <a:r>
              <a:rPr lang="en-US" altLang="zh-TW" dirty="0"/>
              <a:t> hardware instructions</a:t>
            </a:r>
          </a:p>
          <a:p>
            <a:pPr lvl="1">
              <a:lnSpc>
                <a:spcPct val="110000"/>
              </a:lnSpc>
            </a:pPr>
            <a:r>
              <a:rPr lang="en-US" altLang="zh-TW" b="1" dirty="0" err="1">
                <a:solidFill>
                  <a:srgbClr val="FF0000"/>
                </a:solidFill>
              </a:rPr>
              <a:t>test_and_set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endParaRPr lang="en-US" altLang="zh-TW" b="1" dirty="0" smtClean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TW" b="1" dirty="0" err="1" smtClean="0">
                <a:solidFill>
                  <a:srgbClr val="FF0000"/>
                </a:solidFill>
              </a:rPr>
              <a:t>compare_and_swap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95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508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Atomic Instructions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Modern </a:t>
            </a:r>
            <a:r>
              <a:rPr lang="en-US" altLang="zh-TW" dirty="0" smtClean="0"/>
              <a:t>CPUs </a:t>
            </a:r>
            <a:r>
              <a:rPr lang="en-US" altLang="zh-TW" dirty="0"/>
              <a:t>provide special </a:t>
            </a:r>
            <a:r>
              <a:rPr lang="en-US" altLang="zh-TW" b="1" dirty="0">
                <a:solidFill>
                  <a:srgbClr val="FF0000"/>
                </a:solidFill>
              </a:rPr>
              <a:t>atomic </a:t>
            </a:r>
            <a:r>
              <a:rPr lang="en-US" altLang="zh-TW" dirty="0" smtClean="0"/>
              <a:t>instructions </a:t>
            </a:r>
            <a:r>
              <a:rPr lang="en-US" altLang="zh-TW" dirty="0"/>
              <a:t>even in </a:t>
            </a:r>
            <a:r>
              <a:rPr lang="en-US" altLang="zh-TW" b="1" dirty="0"/>
              <a:t>MP</a:t>
            </a:r>
            <a:r>
              <a:rPr lang="en-US" altLang="zh-TW" dirty="0"/>
              <a:t> systems</a:t>
            </a:r>
          </a:p>
          <a:p>
            <a:pPr lvl="1">
              <a:lnSpc>
                <a:spcPct val="11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Atomic</a:t>
            </a:r>
            <a:r>
              <a:rPr lang="en-US" altLang="zh-TW" dirty="0" smtClean="0"/>
              <a:t>: non-interrupted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If two atomic instructions are executed simultaneously (each on a different core), they will be executed </a:t>
            </a:r>
            <a:r>
              <a:rPr lang="en-US" altLang="zh-TW" b="1" dirty="0" smtClean="0">
                <a:solidFill>
                  <a:srgbClr val="0000FF"/>
                </a:solidFill>
              </a:rPr>
              <a:t>sequentially</a:t>
            </a:r>
            <a:r>
              <a:rPr lang="en-US" altLang="zh-TW" dirty="0" smtClean="0"/>
              <a:t> in some arbitrary order (shown later)</a:t>
            </a:r>
          </a:p>
          <a:p>
            <a:pPr lvl="1">
              <a:lnSpc>
                <a:spcPct val="110000"/>
              </a:lnSpc>
            </a:pPr>
            <a:r>
              <a:rPr lang="zh-TW" altLang="en-US" dirty="0"/>
              <a:t>也會</a:t>
            </a:r>
            <a:r>
              <a:rPr lang="zh-TW" altLang="en-US" dirty="0" smtClean="0"/>
              <a:t>確保</a:t>
            </a:r>
            <a:r>
              <a:rPr lang="en-US" altLang="zh-TW" dirty="0" smtClean="0"/>
              <a:t>cache</a:t>
            </a:r>
            <a:r>
              <a:rPr lang="zh-TW" altLang="en-US" dirty="0" smtClean="0"/>
              <a:t>內容的一致性 </a:t>
            </a:r>
            <a:r>
              <a:rPr lang="en-US" altLang="zh-TW" dirty="0" smtClean="0"/>
              <a:t>(shown later)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96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808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第一個</a:t>
            </a:r>
            <a:r>
              <a:rPr lang="en-US" altLang="zh-TW" dirty="0" smtClean="0"/>
              <a:t>instruction</a:t>
            </a:r>
            <a:r>
              <a:rPr lang="zh-TW" altLang="en-US" dirty="0" smtClean="0"/>
              <a:t>是</a:t>
            </a:r>
            <a:r>
              <a:rPr lang="en-US" altLang="zh-TW" dirty="0" err="1" smtClean="0"/>
              <a:t>test_and_set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你覺得它的定義是什麼呢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233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zh-TW" dirty="0" smtClean="0"/>
              <a:t> Instruction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TW" dirty="0" smtClean="0"/>
              <a:t>Definition:</a:t>
            </a:r>
            <a:endParaRPr lang="en-US" altLang="zh-TW" i="1" dirty="0" smtClean="0"/>
          </a:p>
          <a:p>
            <a:pPr eaLnBrk="1" hangingPunct="1">
              <a:spcBef>
                <a:spcPts val="1200"/>
              </a:spcBef>
              <a:buNone/>
            </a:pPr>
            <a:r>
              <a:rPr lang="en-US" altLang="zh-TW" dirty="0" smtClean="0"/>
              <a:t>         </a:t>
            </a:r>
            <a:r>
              <a:rPr lang="en-US" altLang="zh-TW" dirty="0" err="1" smtClean="0">
                <a:solidFill>
                  <a:srgbClr val="0000FF"/>
                </a:solidFill>
              </a:rPr>
              <a:t>boolean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 err="1" smtClean="0">
                <a:solidFill>
                  <a:srgbClr val="0000FF"/>
                </a:solidFill>
              </a:rPr>
              <a:t>test_and_set</a:t>
            </a:r>
            <a:r>
              <a:rPr lang="en-US" altLang="zh-TW" dirty="0" smtClean="0">
                <a:solidFill>
                  <a:srgbClr val="0000FF"/>
                </a:solidFill>
              </a:rPr>
              <a:t> (</a:t>
            </a:r>
            <a:r>
              <a:rPr lang="en-US" altLang="zh-TW" dirty="0" err="1" smtClean="0">
                <a:solidFill>
                  <a:srgbClr val="0000FF"/>
                </a:solidFill>
              </a:rPr>
              <a:t>boolean</a:t>
            </a:r>
            <a:r>
              <a:rPr lang="en-US" altLang="zh-TW" dirty="0" smtClean="0">
                <a:solidFill>
                  <a:srgbClr val="0000FF"/>
                </a:solidFill>
              </a:rPr>
              <a:t> *target)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          {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               </a:t>
            </a:r>
            <a:r>
              <a:rPr lang="en-US" altLang="zh-TW" dirty="0" err="1" smtClean="0">
                <a:solidFill>
                  <a:srgbClr val="0000FF"/>
                </a:solidFill>
              </a:rPr>
              <a:t>boolean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 err="1" smtClean="0">
                <a:solidFill>
                  <a:srgbClr val="0000FF"/>
                </a:solidFill>
              </a:rPr>
              <a:t>rv</a:t>
            </a:r>
            <a:r>
              <a:rPr lang="en-US" altLang="zh-TW" dirty="0" smtClean="0">
                <a:solidFill>
                  <a:srgbClr val="0000FF"/>
                </a:solidFill>
              </a:rPr>
              <a:t> = *target;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               *target = TRUE;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               return </a:t>
            </a:r>
            <a:r>
              <a:rPr lang="en-US" altLang="zh-TW" dirty="0" err="1" smtClean="0">
                <a:solidFill>
                  <a:srgbClr val="0000FF"/>
                </a:solidFill>
              </a:rPr>
              <a:t>rv</a:t>
            </a:r>
            <a:r>
              <a:rPr lang="en-US" altLang="zh-TW" dirty="0" smtClean="0">
                <a:solidFill>
                  <a:srgbClr val="0000FF"/>
                </a:solidFill>
              </a:rPr>
              <a:t>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          }</a:t>
            </a:r>
            <a:endParaRPr lang="en-US" altLang="zh-TW" dirty="0" smtClean="0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 flipH="1">
            <a:off x="911424" y="4022849"/>
            <a:ext cx="6477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911424" y="4022850"/>
            <a:ext cx="0" cy="116951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911424" y="5192365"/>
            <a:ext cx="37433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4727848" y="4981929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Done by a single instruction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402682" y="5378804"/>
            <a:ext cx="7408863" cy="1266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kern="0" dirty="0"/>
              <a:t>Executed atomically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kern="0" dirty="0"/>
              <a:t>Returns the original value of passed parameter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kern="0" dirty="0"/>
              <a:t>Set the new value of passed parameter to </a:t>
            </a:r>
            <a:r>
              <a:rPr lang="en-US" altLang="en-US" sz="2400" b="1" kern="0" dirty="0">
                <a:solidFill>
                  <a:srgbClr val="000000"/>
                </a:solidFill>
              </a:rPr>
              <a:t>true</a:t>
            </a:r>
            <a:endParaRPr lang="en-US" altLang="en-US" sz="2400" kern="0" dirty="0">
              <a:solidFill>
                <a:srgbClr val="0000FF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98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如何使用</a:t>
            </a:r>
            <a:r>
              <a:rPr lang="en-US" altLang="zh-TW" dirty="0" err="1" smtClean="0"/>
              <a:t>test_and_set</a:t>
            </a:r>
            <a:r>
              <a:rPr lang="zh-TW" altLang="en-US" dirty="0" smtClean="0"/>
              <a:t>來解決</a:t>
            </a:r>
            <a:r>
              <a:rPr lang="en-US" altLang="zh-TW" dirty="0" smtClean="0"/>
              <a:t>race condition?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03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 smtClean="0"/>
              <a:t>Mutual-Exclusion using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A shared Boolean variable </a:t>
            </a:r>
            <a:r>
              <a:rPr lang="en-US" altLang="zh-TW" b="1" dirty="0" smtClean="0">
                <a:solidFill>
                  <a:srgbClr val="FF3300"/>
                </a:solidFill>
              </a:rPr>
              <a:t>lock</a:t>
            </a:r>
            <a:r>
              <a:rPr lang="en-US" altLang="zh-TW" dirty="0" smtClean="0"/>
              <a:t>, initialized to </a:t>
            </a:r>
            <a:r>
              <a:rPr lang="en-US" altLang="zh-TW" b="1" dirty="0" smtClean="0">
                <a:solidFill>
                  <a:srgbClr val="FF3300"/>
                </a:solidFill>
              </a:rPr>
              <a:t>false</a:t>
            </a:r>
            <a:r>
              <a:rPr lang="en-US" altLang="zh-TW" sz="2800" dirty="0"/>
              <a:t>: </a:t>
            </a:r>
            <a:br>
              <a:rPr lang="en-US" altLang="zh-TW" sz="2800" dirty="0"/>
            </a:br>
            <a:r>
              <a:rPr lang="en-US" altLang="zh-TW" sz="2800" dirty="0"/>
              <a:t>	</a:t>
            </a:r>
            <a:endParaRPr lang="en-US" altLang="zh-TW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Process </a:t>
            </a:r>
            <a:r>
              <a:rPr lang="en-US" altLang="zh-TW" sz="2800" i="1" dirty="0"/>
              <a:t>P</a:t>
            </a:r>
            <a:r>
              <a:rPr lang="en-US" altLang="zh-TW" sz="2800" i="1" baseline="-25000" dirty="0"/>
              <a:t>i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dirty="0"/>
              <a:t>		</a:t>
            </a:r>
            <a:r>
              <a:rPr lang="en-US" altLang="zh-TW" sz="2800" b="1" dirty="0"/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b="1" dirty="0"/>
              <a:t>			while (</a:t>
            </a:r>
            <a:r>
              <a:rPr lang="en-US" altLang="zh-TW" sz="2800" b="1" dirty="0" err="1">
                <a:solidFill>
                  <a:srgbClr val="0070C0"/>
                </a:solidFill>
              </a:rPr>
              <a:t>test_and_set</a:t>
            </a:r>
            <a:r>
              <a:rPr lang="en-US" altLang="zh-TW" sz="2800" b="1" dirty="0"/>
              <a:t>(lock)) 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b="1" dirty="0"/>
              <a:t>			</a:t>
            </a:r>
            <a:r>
              <a:rPr lang="en-US" altLang="zh-TW" sz="2800" b="1" dirty="0" smtClean="0"/>
              <a:t>	</a:t>
            </a:r>
            <a:r>
              <a:rPr lang="en-US" altLang="zh-TW" sz="2800" b="1" dirty="0" smtClean="0">
                <a:solidFill>
                  <a:srgbClr val="CC0000"/>
                </a:solidFill>
              </a:rPr>
              <a:t>critical </a:t>
            </a:r>
            <a:r>
              <a:rPr lang="en-US" altLang="zh-TW" sz="2800" b="1" dirty="0">
                <a:solidFill>
                  <a:srgbClr val="CC0000"/>
                </a:solidFill>
              </a:rPr>
              <a:t>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b="1" dirty="0"/>
              <a:t>			lock = false;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b="1" dirty="0" smtClean="0"/>
              <a:t>	</a:t>
            </a:r>
            <a:r>
              <a:rPr lang="en-US" altLang="zh-TW" sz="2800" b="1" dirty="0"/>
              <a:t>			</a:t>
            </a:r>
            <a:r>
              <a:rPr lang="en-US" altLang="zh-TW" sz="2800" b="1" dirty="0" smtClean="0">
                <a:solidFill>
                  <a:srgbClr val="CC0000"/>
                </a:solidFill>
              </a:rPr>
              <a:t>remainder </a:t>
            </a:r>
            <a:r>
              <a:rPr lang="en-US" altLang="zh-TW" sz="2800" b="1" dirty="0">
                <a:solidFill>
                  <a:srgbClr val="CC0000"/>
                </a:solidFill>
              </a:rPr>
              <a:t>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b="1" dirty="0"/>
              <a:t>		}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100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628" name="Group 11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334511"/>
              </p:ext>
            </p:extLst>
          </p:nvPr>
        </p:nvGraphicFramePr>
        <p:xfrm>
          <a:off x="1415481" y="646855"/>
          <a:ext cx="9505056" cy="5685569"/>
        </p:xfrm>
        <a:graphic>
          <a:graphicData uri="http://schemas.openxmlformats.org/drawingml/2006/table">
            <a:tbl>
              <a:tblPr/>
              <a:tblGrid>
                <a:gridCol w="475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Thread//Process 1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Thread//Process 2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rv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 = FALSE, 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*target(=LOCK)=TRUE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, 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return FALSE   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Enter 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CS,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 but soon context switch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rv = TRUE, </a:t>
                      </a: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*target (=LOCK)= TRUE,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return TRUE</a:t>
                      </a:r>
                      <a:endParaRPr kumimoji="1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rv = TRUE, </a:t>
                      </a: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*target (=LOCK)= TRUE,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return TRUE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rv = TRUE, </a:t>
                      </a: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*target (=LOCK)= TRUE,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return TRUE</a:t>
                      </a:r>
                      <a:endParaRPr kumimoji="1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Exit CRITICAL SECTION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LOCK=FALSE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rv = FALSE, *target(=LOCK)=TRUE, </a:t>
                      </a: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return FALSE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Enter CRITICAL SECTION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826" name="Text Box 56"/>
          <p:cNvSpPr txBox="1">
            <a:spLocks noChangeArrowheads="1"/>
          </p:cNvSpPr>
          <p:nvPr/>
        </p:nvSpPr>
        <p:spPr bwMode="auto">
          <a:xfrm>
            <a:off x="5303913" y="55563"/>
            <a:ext cx="1643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lock = false</a:t>
            </a:r>
          </a:p>
        </p:txBody>
      </p:sp>
      <p:sp>
        <p:nvSpPr>
          <p:cNvPr id="33827" name="Text Box 102"/>
          <p:cNvSpPr txBox="1">
            <a:spLocks noChangeArrowheads="1"/>
          </p:cNvSpPr>
          <p:nvPr/>
        </p:nvSpPr>
        <p:spPr bwMode="auto">
          <a:xfrm>
            <a:off x="10488488" y="332656"/>
            <a:ext cx="142859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FF3300"/>
                </a:solidFill>
              </a:rPr>
              <a:t>busy waiting</a:t>
            </a:r>
          </a:p>
        </p:txBody>
      </p:sp>
      <p:sp>
        <p:nvSpPr>
          <p:cNvPr id="33828" name="Line 103"/>
          <p:cNvSpPr>
            <a:spLocks noChangeShapeType="1"/>
          </p:cNvSpPr>
          <p:nvPr/>
        </p:nvSpPr>
        <p:spPr bwMode="auto">
          <a:xfrm>
            <a:off x="11207873" y="836613"/>
            <a:ext cx="0" cy="2592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829" name="Line 106"/>
          <p:cNvSpPr>
            <a:spLocks noChangeShapeType="1"/>
          </p:cNvSpPr>
          <p:nvPr/>
        </p:nvSpPr>
        <p:spPr bwMode="auto">
          <a:xfrm flipH="1">
            <a:off x="10920536" y="3426952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101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可以解決之前的問題嗎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81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800" dirty="0" smtClean="0"/>
              <a:t>複習</a:t>
            </a:r>
            <a:r>
              <a:rPr lang="en-US" altLang="zh-TW" sz="4800" dirty="0" smtClean="0"/>
              <a:t>:</a:t>
            </a:r>
            <a:r>
              <a:rPr lang="zh-TW" altLang="en-US" sz="4800" dirty="0" smtClean="0"/>
              <a:t> </a:t>
            </a:r>
            <a:r>
              <a:rPr lang="en-US" altLang="zh-TW" sz="4800" dirty="0" smtClean="0"/>
              <a:t>Case 1</a:t>
            </a:r>
            <a:endParaRPr lang="zh-TW" altLang="en-US" sz="4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Assume P1 runs at core 0, and P2 at core </a:t>
            </a:r>
            <a:r>
              <a:rPr lang="en-US" altLang="zh-TW" dirty="0"/>
              <a:t>1 </a:t>
            </a:r>
            <a:r>
              <a:rPr lang="en-US" altLang="zh-TW" sz="2400" dirty="0" smtClean="0"/>
              <a:t>(see </a:t>
            </a:r>
            <a:r>
              <a:rPr lang="en-US" altLang="zh-TW" sz="2400" dirty="0"/>
              <a:t>the following </a:t>
            </a:r>
            <a:r>
              <a:rPr lang="en-US" altLang="zh-TW" sz="2400" dirty="0" smtClean="0"/>
              <a:t>slide)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 smtClean="0"/>
              <a:t>當</a:t>
            </a:r>
            <a:r>
              <a:rPr lang="en-US" altLang="zh-TW" dirty="0" smtClean="0"/>
              <a:t>P1 </a:t>
            </a:r>
            <a:r>
              <a:rPr lang="zh-TW" altLang="en-US" dirty="0" smtClean="0"/>
              <a:t>寫入</a:t>
            </a:r>
            <a:r>
              <a:rPr lang="en-US" altLang="zh-TW" dirty="0" smtClean="0"/>
              <a:t>lock = 1 (</a:t>
            </a:r>
            <a:r>
              <a:rPr lang="en-US" altLang="zh-TW" dirty="0" err="1" smtClean="0"/>
              <a:t>mov</a:t>
            </a:r>
            <a:r>
              <a:rPr lang="en-US" altLang="zh-TW" dirty="0" smtClean="0"/>
              <a:t> lock 1), </a:t>
            </a:r>
            <a:r>
              <a:rPr lang="zh-TW" altLang="en-US" dirty="0" smtClean="0"/>
              <a:t>進入</a:t>
            </a:r>
            <a:r>
              <a:rPr lang="en-US" altLang="zh-TW" dirty="0" smtClean="0"/>
              <a:t>CS</a:t>
            </a:r>
          </a:p>
          <a:p>
            <a:pPr lvl="1"/>
            <a:r>
              <a:rPr lang="en-US" altLang="zh-TW" dirty="0" smtClean="0"/>
              <a:t>Lock is cached in P0’s L1 cache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Later, when P2 read lock (</a:t>
            </a:r>
            <a:r>
              <a:rPr lang="zh-TW" altLang="en-US" dirty="0" smtClean="0"/>
              <a:t>判斷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是否</a:t>
            </a:r>
            <a:r>
              <a:rPr lang="en-US" altLang="zh-TW" dirty="0" smtClean="0"/>
              <a:t>==1?)</a:t>
            </a:r>
          </a:p>
          <a:p>
            <a:pPr lvl="1"/>
            <a:r>
              <a:rPr lang="zh-TW" altLang="en-US" dirty="0"/>
              <a:t>可能</a:t>
            </a:r>
            <a:r>
              <a:rPr lang="zh-TW" altLang="en-US" dirty="0" smtClean="0"/>
              <a:t>讀到</a:t>
            </a:r>
            <a:r>
              <a:rPr lang="en-US" altLang="zh-TW" dirty="0" smtClean="0"/>
              <a:t>P1</a:t>
            </a:r>
            <a:r>
              <a:rPr lang="zh-TW" altLang="en-US" dirty="0" smtClean="0"/>
              <a:t>自己</a:t>
            </a:r>
            <a:r>
              <a:rPr lang="en-US" altLang="zh-TW" dirty="0" smtClean="0"/>
              <a:t>cache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lock</a:t>
            </a:r>
          </a:p>
          <a:p>
            <a:pPr lvl="1"/>
            <a:r>
              <a:rPr lang="en-US" altLang="zh-TW" dirty="0" smtClean="0"/>
              <a:t>Lock</a:t>
            </a:r>
            <a:r>
              <a:rPr lang="zh-TW" altLang="en-US" dirty="0" smtClean="0"/>
              <a:t>也是</a:t>
            </a:r>
            <a:r>
              <a:rPr lang="en-US" altLang="zh-TW" dirty="0" smtClean="0"/>
              <a:t> = 0, P1</a:t>
            </a:r>
            <a:r>
              <a:rPr lang="zh-TW" altLang="en-US" dirty="0" smtClean="0"/>
              <a:t>將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設為</a:t>
            </a:r>
            <a:r>
              <a:rPr lang="en-US" altLang="zh-TW" dirty="0" smtClean="0"/>
              <a:t>1, </a:t>
            </a:r>
            <a:r>
              <a:rPr lang="zh-TW" altLang="en-US" dirty="0" smtClean="0"/>
              <a:t>進入</a:t>
            </a:r>
            <a:r>
              <a:rPr lang="en-US" altLang="zh-TW" dirty="0" smtClean="0"/>
              <a:t>CS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103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3008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177309" y="6581001"/>
            <a:ext cx="9122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libri" panose="020F0502020204030204" pitchFamily="34" charset="0"/>
              </a:rPr>
              <a:t>https://www.researchgate.net/figure/Cache-hierarchy-of-an-Intel-processor-the-L3-cache-is-shared-among-available-cores_fig3_321241798</a:t>
            </a:r>
            <a:endParaRPr lang="zh-TW" altLang="en-US" sz="1200" b="1" dirty="0">
              <a:latin typeface="Calibri" panose="020F0502020204030204" pitchFamily="34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062182" y="886114"/>
            <a:ext cx="9841345" cy="5359111"/>
            <a:chOff x="1062182" y="886114"/>
            <a:chExt cx="9841345" cy="4803485"/>
          </a:xfrm>
        </p:grpSpPr>
        <p:pic>
          <p:nvPicPr>
            <p:cNvPr id="8194" name="Picture 2" descr="Two-level Cache Hierarchy in MPSoC Architectur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273" y="1080797"/>
              <a:ext cx="9180945" cy="4608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273" y="886114"/>
              <a:ext cx="9180945" cy="328872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062182" y="4174836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063673" y="4186427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104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4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如前述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test_and_set</a:t>
            </a:r>
            <a:r>
              <a:rPr lang="zh-TW" altLang="en-US" dirty="0" smtClean="0"/>
              <a:t>會確保</a:t>
            </a:r>
            <a:r>
              <a:rPr lang="en-US" altLang="zh-TW" dirty="0" smtClean="0"/>
              <a:t>cache</a:t>
            </a:r>
            <a:r>
              <a:rPr lang="zh-TW" altLang="en-US" dirty="0" smtClean="0"/>
              <a:t>內容的一至性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P1</a:t>
            </a:r>
            <a:r>
              <a:rPr lang="zh-TW" altLang="en-US" dirty="0" smtClean="0"/>
              <a:t>寫入</a:t>
            </a:r>
            <a:r>
              <a:rPr lang="en-US" altLang="zh-TW" dirty="0" smtClean="0"/>
              <a:t>lock = 1, </a:t>
            </a:r>
            <a:r>
              <a:rPr lang="zh-TW" altLang="en-US" dirty="0" smtClean="0"/>
              <a:t>其他核心的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也會更新為</a:t>
            </a:r>
            <a:r>
              <a:rPr lang="en-US" altLang="zh-TW" dirty="0" smtClean="0"/>
              <a:t>lock= 1,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005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Case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Assume P1 runs at core 0, and P2 at core 1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P1 and P2</a:t>
            </a:r>
            <a:r>
              <a:rPr lang="zh-TW" altLang="en-US" dirty="0" smtClean="0"/>
              <a:t>都看到 </a:t>
            </a:r>
            <a:r>
              <a:rPr lang="en-US" altLang="zh-TW" dirty="0"/>
              <a:t>Lock </a:t>
            </a:r>
            <a:r>
              <a:rPr lang="en-US" altLang="zh-TW" dirty="0" smtClean="0"/>
              <a:t>== 0, </a:t>
            </a:r>
            <a:r>
              <a:rPr lang="zh-TW" altLang="en-US" dirty="0" smtClean="0"/>
              <a:t>於是</a:t>
            </a:r>
            <a:r>
              <a:rPr lang="zh-TW" altLang="en-US" dirty="0"/>
              <a:t>同時設成 </a:t>
            </a:r>
            <a:r>
              <a:rPr lang="en-US" altLang="zh-TW" dirty="0"/>
              <a:t>1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/>
              <a:t>結果兩個執行緒都「以為」自己拿到</a:t>
            </a:r>
            <a:r>
              <a:rPr lang="zh-TW" altLang="en-US" dirty="0" smtClean="0"/>
              <a:t>鎖並進入</a:t>
            </a:r>
            <a:r>
              <a:rPr lang="en-US" altLang="zh-TW" dirty="0" smtClean="0"/>
              <a:t>CS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106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27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628" name="Group 116"/>
          <p:cNvGraphicFramePr>
            <a:graphicFrameLocks noGrp="1"/>
          </p:cNvGraphicFramePr>
          <p:nvPr>
            <p:ph idx="1"/>
            <p:extLst/>
          </p:nvPr>
        </p:nvGraphicFramePr>
        <p:xfrm>
          <a:off x="1415481" y="2564904"/>
          <a:ext cx="9505056" cy="2640742"/>
        </p:xfrm>
        <a:graphic>
          <a:graphicData uri="http://schemas.openxmlformats.org/drawingml/2006/table">
            <a:tbl>
              <a:tblPr/>
              <a:tblGrid>
                <a:gridCol w="475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P1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P2</a:t>
                      </a: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while ( lock == 1); 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while ( lock == 1); 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Lock = 1;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Lock = 1;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26" name="Text Box 56"/>
          <p:cNvSpPr txBox="1">
            <a:spLocks noChangeArrowheads="1"/>
          </p:cNvSpPr>
          <p:nvPr/>
        </p:nvSpPr>
        <p:spPr bwMode="auto">
          <a:xfrm>
            <a:off x="5087888" y="1844824"/>
            <a:ext cx="214712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lock = </a:t>
            </a:r>
            <a:r>
              <a:rPr kumimoji="1" lang="en-US" altLang="zh-TW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8332E-BC01-4448-8CFF-D9751CFACD8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>
            <a:noAutofit/>
          </a:bodyPr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Case 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660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200" dirty="0" smtClean="0"/>
              <a:t>如前述</a:t>
            </a:r>
            <a:r>
              <a:rPr lang="en-US" altLang="zh-TW" sz="3200" dirty="0"/>
              <a:t>, If two atomic instructions are executed simultaneously (each on a different core) </a:t>
            </a:r>
            <a:br>
              <a:rPr lang="en-US" altLang="zh-TW" sz="3200" dirty="0"/>
            </a:br>
            <a:r>
              <a:rPr lang="en-US" altLang="zh-TW" sz="3200" dirty="0"/>
              <a:t>They will be executed </a:t>
            </a:r>
            <a:r>
              <a:rPr lang="en-US" altLang="zh-TW" sz="3200" dirty="0">
                <a:solidFill>
                  <a:srgbClr val="FF3300"/>
                </a:solidFill>
              </a:rPr>
              <a:t>sequentially</a:t>
            </a:r>
            <a:r>
              <a:rPr lang="en-US" altLang="zh-TW" sz="3200" dirty="0"/>
              <a:t> in some arbitrary </a:t>
            </a:r>
            <a:r>
              <a:rPr lang="en-US" altLang="zh-TW" sz="3200" dirty="0" smtClean="0"/>
              <a:t>order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/>
              <a:t>後一</a:t>
            </a:r>
            <a:r>
              <a:rPr lang="zh-TW" altLang="en-US" dirty="0" smtClean="0"/>
              <a:t>頁的圖不會成立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36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628" name="Group 11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624242"/>
              </p:ext>
            </p:extLst>
          </p:nvPr>
        </p:nvGraphicFramePr>
        <p:xfrm>
          <a:off x="1415481" y="2724482"/>
          <a:ext cx="9505056" cy="2000662"/>
        </p:xfrm>
        <a:graphic>
          <a:graphicData uri="http://schemas.openxmlformats.org/drawingml/2006/table">
            <a:tbl>
              <a:tblPr/>
              <a:tblGrid>
                <a:gridCol w="475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P1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P2</a:t>
                      </a: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while ( </a:t>
                      </a:r>
                      <a:r>
                        <a:rPr kumimoji="1" lang="en-US" altLang="zh-TW" sz="3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test_and_set</a:t>
                      </a: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()…) 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while ( </a:t>
                      </a:r>
                      <a:r>
                        <a:rPr kumimoji="1" lang="en-US" altLang="zh-TW" sz="3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test_and_set</a:t>
                      </a: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()…) </a:t>
                      </a:r>
                      <a:endParaRPr kumimoji="1" lang="en-US" altLang="zh-TW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CS</a:t>
                      </a:r>
                    </a:p>
                  </a:txBody>
                  <a:tcPr marL="116119" marR="116119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26" name="Text Box 56"/>
          <p:cNvSpPr txBox="1">
            <a:spLocks noChangeArrowheads="1"/>
          </p:cNvSpPr>
          <p:nvPr/>
        </p:nvSpPr>
        <p:spPr bwMode="auto">
          <a:xfrm>
            <a:off x="5087888" y="1844824"/>
            <a:ext cx="214712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lock = </a:t>
            </a:r>
            <a:r>
              <a:rPr kumimoji="1" lang="en-US" altLang="zh-TW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8332E-BC01-4448-8CFF-D9751CFACD8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>
            <a:noAutofit/>
          </a:bodyPr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Case 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02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真的可以解決前述的問題</a:t>
            </a:r>
            <a:r>
              <a:rPr lang="en-US" altLang="zh-TW" smtClean="0"/>
              <a:t>!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4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第二個</a:t>
            </a:r>
            <a:r>
              <a:rPr lang="en-US" altLang="zh-TW" dirty="0" smtClean="0"/>
              <a:t>instruction</a:t>
            </a:r>
            <a:r>
              <a:rPr lang="zh-TW" altLang="en-US" dirty="0" smtClean="0"/>
              <a:t>是</a:t>
            </a:r>
            <a:r>
              <a:rPr lang="en-US" altLang="zh-TW" dirty="0" err="1" smtClean="0"/>
              <a:t>compare_and_swap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你覺得它的定義是什麼呢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273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r>
              <a:rPr lang="en-US" altLang="zh-TW" dirty="0" smtClean="0"/>
              <a:t>  Instruction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Definition. </a:t>
            </a:r>
          </a:p>
          <a:p>
            <a:pPr eaLnBrk="1" hangingPunct="1">
              <a:buFontTx/>
              <a:buNone/>
            </a:pPr>
            <a:r>
              <a:rPr lang="en-US" altLang="zh-TW" dirty="0" smtClean="0"/>
              <a:t>		</a:t>
            </a:r>
            <a:r>
              <a:rPr lang="en-US" altLang="zh-TW" sz="2000" b="1" dirty="0" err="1" smtClean="0">
                <a:solidFill>
                  <a:srgbClr val="0000FF"/>
                </a:solidFill>
              </a:rPr>
              <a:t>int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2000" b="1" dirty="0" err="1">
                <a:solidFill>
                  <a:srgbClr val="0000FF"/>
                </a:solidFill>
              </a:rPr>
              <a:t>compare_and_swap</a:t>
            </a:r>
            <a:r>
              <a:rPr lang="en-US" altLang="zh-TW" sz="2000" b="1" dirty="0">
                <a:solidFill>
                  <a:srgbClr val="0000FF"/>
                </a:solidFill>
              </a:rPr>
              <a:t>(</a:t>
            </a:r>
            <a:r>
              <a:rPr lang="en-US" altLang="zh-TW" sz="2000" b="1" dirty="0" err="1">
                <a:solidFill>
                  <a:srgbClr val="0000FF"/>
                </a:solidFill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</a:rPr>
              <a:t> *value, </a:t>
            </a:r>
            <a:r>
              <a:rPr lang="en-US" altLang="zh-TW" sz="2000" b="1" dirty="0" err="1">
                <a:solidFill>
                  <a:srgbClr val="0000FF"/>
                </a:solidFill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</a:rPr>
              <a:t> expected, </a:t>
            </a:r>
            <a:r>
              <a:rPr lang="en-US" altLang="zh-TW" sz="2000" b="1" dirty="0" err="1">
                <a:solidFill>
                  <a:srgbClr val="0000FF"/>
                </a:solidFill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</a:rPr>
              <a:t> </a:t>
            </a:r>
            <a:r>
              <a:rPr lang="en-US" altLang="zh-TW" sz="2000" b="1" dirty="0" err="1">
                <a:solidFill>
                  <a:srgbClr val="0000FF"/>
                </a:solidFill>
              </a:rPr>
              <a:t>new_value</a:t>
            </a:r>
            <a:r>
              <a:rPr lang="en-US" altLang="zh-TW" sz="2000" b="1" dirty="0">
                <a:solidFill>
                  <a:srgbClr val="0000FF"/>
                </a:solidFill>
              </a:rPr>
              <a:t>)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sz="2000" b="1" dirty="0">
                <a:solidFill>
                  <a:srgbClr val="0000FF"/>
                </a:solidFill>
              </a:rPr>
              <a:t>	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	{</a:t>
            </a:r>
            <a:endParaRPr lang="en-US" altLang="zh-TW" sz="2000" b="1" dirty="0">
              <a:solidFill>
                <a:srgbClr val="0000FF"/>
              </a:solidFill>
            </a:endParaRP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</a:rPr>
              <a:t>		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	</a:t>
            </a:r>
            <a:r>
              <a:rPr lang="en-US" altLang="zh-TW" sz="2000" b="1" dirty="0" err="1" smtClean="0">
                <a:solidFill>
                  <a:srgbClr val="0000FF"/>
                </a:solidFill>
                <a:cs typeface="Courier New" pitchFamily="49" charset="0"/>
              </a:rPr>
              <a:t>int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temp = *value; </a:t>
            </a: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   		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	if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(*value == expected) </a:t>
            </a: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		    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		 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*value = </a:t>
            </a:r>
            <a:r>
              <a:rPr lang="en-US" altLang="zh-TW" sz="2000" b="1" dirty="0" err="1">
                <a:solidFill>
                  <a:srgbClr val="0000FF"/>
                </a:solidFill>
                <a:cs typeface="Courier New" pitchFamily="49" charset="0"/>
              </a:rPr>
              <a:t>new_value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; </a:t>
            </a: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		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	return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temp; </a:t>
            </a:r>
          </a:p>
          <a:p>
            <a:pPr eaLnBrk="1" hangingPunct="1">
              <a:buFontTx/>
              <a:buNone/>
            </a:pPr>
            <a:r>
              <a:rPr lang="en-US" altLang="zh-TW" sz="2000" b="1" dirty="0">
                <a:solidFill>
                  <a:srgbClr val="0000FF"/>
                </a:solidFill>
              </a:rPr>
              <a:t>	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	}</a:t>
            </a:r>
            <a:endParaRPr lang="en-US" altLang="zh-TW" sz="2000" b="1" dirty="0">
              <a:solidFill>
                <a:srgbClr val="0000FF"/>
              </a:solidFill>
            </a:endParaRPr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 flipH="1">
            <a:off x="1229072" y="3861049"/>
            <a:ext cx="360040" cy="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1229073" y="3861048"/>
            <a:ext cx="0" cy="124152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>
            <a:off x="1232338" y="5102521"/>
            <a:ext cx="3959994" cy="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5343872" y="4904084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Done by a single instruction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407368" y="5797032"/>
            <a:ext cx="11370891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If the </a:t>
            </a:r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“value” </a:t>
            </a:r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matches “expected”, write “</a:t>
            </a:r>
            <a:r>
              <a:rPr lang="en-US" altLang="zh-TW" sz="2400" dirty="0" err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new_value</a:t>
            </a:r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” into </a:t>
            </a:r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value! Finally, return value</a:t>
            </a:r>
            <a:endParaRPr lang="en-US" altLang="zh-TW" sz="2400" b="1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112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如何使用</a:t>
            </a:r>
            <a:r>
              <a:rPr lang="en-US" altLang="zh-TW" dirty="0" err="1" smtClean="0"/>
              <a:t>compare_and_swap</a:t>
            </a:r>
            <a:r>
              <a:rPr lang="zh-TW" altLang="en-US" dirty="0" smtClean="0"/>
              <a:t>來解決</a:t>
            </a:r>
            <a:r>
              <a:rPr lang="en-US" altLang="zh-TW" dirty="0" smtClean="0"/>
              <a:t>race condition?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79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dirty="0" smtClean="0"/>
              <a:t>Mutual-Exclusion using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Shared Boolean variable</a:t>
            </a:r>
            <a:r>
              <a:rPr lang="en-US" altLang="zh-TW" sz="2400" b="1" dirty="0">
                <a:solidFill>
                  <a:srgbClr val="FF3300"/>
                </a:solidFill>
              </a:rPr>
              <a:t> lock</a:t>
            </a:r>
            <a:r>
              <a:rPr lang="en-US" altLang="zh-TW" sz="2400" b="1" dirty="0"/>
              <a:t> initialized to </a:t>
            </a:r>
            <a:r>
              <a:rPr lang="en-US" altLang="zh-TW" sz="2400" b="1" dirty="0">
                <a:solidFill>
                  <a:srgbClr val="FF3300"/>
                </a:solidFill>
              </a:rPr>
              <a:t>0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Process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i</a:t>
            </a:r>
            <a:endParaRPr lang="en-US" altLang="zh-TW" sz="2400" dirty="0"/>
          </a:p>
          <a:p>
            <a:pPr marL="487363" indent="-487363">
              <a:spcBef>
                <a:spcPct val="35000"/>
              </a:spcBef>
              <a:buClr>
                <a:srgbClr val="993300"/>
              </a:buClr>
              <a:buSzPct val="90000"/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400" dirty="0"/>
              <a:t>	</a:t>
            </a:r>
            <a: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do {</a:t>
            </a:r>
            <a:b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</a:br>
            <a: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while (</a:t>
            </a:r>
            <a:r>
              <a:rPr lang="en-US" altLang="zh-TW" sz="2000" b="1" dirty="0" err="1" smtClean="0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compare_and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_</a:t>
            </a:r>
            <a:r>
              <a:rPr lang="en-US" altLang="zh-TW" sz="2000" b="1" dirty="0" err="1" smtClean="0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swap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(&amp;lock, 0, 1) != 0) </a:t>
            </a:r>
            <a:r>
              <a:rPr lang="en-US" altLang="zh-TW" sz="2000" b="1" dirty="0" smtClean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; </a:t>
            </a:r>
            <a:endParaRPr lang="en-US" altLang="zh-TW" sz="2000" b="1" dirty="0">
              <a:solidFill>
                <a:srgbClr val="000000"/>
              </a:solidFill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  <a:p>
            <a:pPr marL="487363" indent="-487363">
              <a:spcBef>
                <a:spcPct val="35000"/>
              </a:spcBef>
              <a:buClr>
                <a:srgbClr val="993300"/>
              </a:buClr>
              <a:buSzPct val="90000"/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</a:t>
            </a:r>
            <a:r>
              <a:rPr lang="en-US" altLang="zh-TW" sz="2000" b="1" dirty="0" smtClean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</a:t>
            </a:r>
            <a:r>
              <a:rPr lang="en-US" altLang="zh-TW" sz="2000" b="1" dirty="0" smtClean="0">
                <a:solidFill>
                  <a:srgbClr val="FF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/* </a:t>
            </a:r>
            <a:r>
              <a:rPr lang="en-US" altLang="zh-TW" sz="2000" b="1" dirty="0">
                <a:solidFill>
                  <a:srgbClr val="FF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critical section */ </a:t>
            </a:r>
          </a:p>
          <a:p>
            <a:pPr marL="487363" indent="-487363">
              <a:spcBef>
                <a:spcPct val="35000"/>
              </a:spcBef>
              <a:buClr>
                <a:srgbClr val="993300"/>
              </a:buClr>
              <a:buSzPct val="90000"/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	</a:t>
            </a:r>
            <a:r>
              <a:rPr lang="en-US" altLang="zh-TW" sz="2000" b="1" dirty="0" smtClean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</a:t>
            </a:r>
            <a:r>
              <a:rPr lang="en-US" altLang="zh-TW" sz="2000" b="1" dirty="0" smtClean="0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lock 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= 0; </a:t>
            </a:r>
          </a:p>
          <a:p>
            <a:pPr marL="487363" indent="-487363">
              <a:spcBef>
                <a:spcPct val="35000"/>
              </a:spcBef>
              <a:buClr>
                <a:srgbClr val="993300"/>
              </a:buClr>
              <a:buSzPct val="90000"/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</a:t>
            </a:r>
            <a:r>
              <a:rPr lang="en-US" altLang="zh-TW" sz="2000" b="1" dirty="0" smtClean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</a:t>
            </a:r>
            <a:r>
              <a:rPr lang="en-US" altLang="zh-TW" sz="2000" b="1" dirty="0" smtClean="0">
                <a:solidFill>
                  <a:srgbClr val="FF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/* </a:t>
            </a:r>
            <a:r>
              <a:rPr lang="en-US" altLang="zh-TW" sz="2000" b="1" dirty="0">
                <a:solidFill>
                  <a:srgbClr val="FF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remainder section */ </a:t>
            </a:r>
          </a:p>
          <a:p>
            <a:pPr marL="487363" indent="-487363">
              <a:spcBef>
                <a:spcPct val="35000"/>
              </a:spcBef>
              <a:buClr>
                <a:srgbClr val="993300"/>
              </a:buClr>
              <a:buSzPct val="90000"/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00"/>
                </a:solidFill>
                <a:latin typeface="Courier New" pitchFamily="49" charset="0"/>
                <a:ea typeface="MS PGothic" pitchFamily="34" charset="-128"/>
                <a:cs typeface="Courier New" pitchFamily="49" charset="0"/>
              </a:rPr>
              <a:t>	} while (true);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114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442646"/>
              </p:ext>
            </p:extLst>
          </p:nvPr>
        </p:nvGraphicFramePr>
        <p:xfrm>
          <a:off x="551383" y="1071346"/>
          <a:ext cx="10297144" cy="4949942"/>
        </p:xfrm>
        <a:graphic>
          <a:graphicData uri="http://schemas.openxmlformats.org/drawingml/2006/table">
            <a:tbl>
              <a:tblPr/>
              <a:tblGrid>
                <a:gridCol w="3944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0317">
                  <a:extLst>
                    <a:ext uri="{9D8B030D-6E8A-4147-A177-3AD203B41FA5}">
                      <a16:colId xmlns:a16="http://schemas.microsoft.com/office/drawing/2014/main" val="136887384"/>
                    </a:ext>
                  </a:extLst>
                </a:gridCol>
                <a:gridCol w="3942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Thread/Process 0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Thread/Process 1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Thread/Process 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err="1" smtClean="0">
                          <a:solidFill>
                            <a:srgbClr val="0000FF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compare_and_swap</a:t>
                      </a:r>
                      <a:r>
                        <a:rPr lang="en-US" altLang="zh-TW" sz="2000" b="1" dirty="0" smtClean="0">
                          <a:solidFill>
                            <a:srgbClr val="0000FF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()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return 0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不成立 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Remainder Section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937297"/>
                  </a:ext>
                </a:extLst>
              </a:tr>
              <a:tr h="59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err="1" smtClean="0">
                          <a:solidFill>
                            <a:srgbClr val="0000FF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compare_and_swap</a:t>
                      </a:r>
                      <a:r>
                        <a:rPr lang="en-US" altLang="zh-TW" sz="2000" b="1" dirty="0" smtClean="0">
                          <a:solidFill>
                            <a:srgbClr val="0000FF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()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return 1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itchFamily="65" charset="-120"/>
                          <a:cs typeface="Courier New" pitchFamily="49" charset="0"/>
                        </a:rPr>
                        <a:t>while ()</a:t>
                      </a:r>
                      <a:r>
                        <a:rPr kumimoji="1" lang="zh-TW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itchFamily="65" charset="-120"/>
                          <a:cs typeface="Courier New" pitchFamily="49" charset="0"/>
                        </a:rPr>
                        <a:t>成立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err="1" smtClean="0">
                          <a:solidFill>
                            <a:srgbClr val="0000FF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compare_and_swap</a:t>
                      </a:r>
                      <a:r>
                        <a:rPr lang="en-US" altLang="zh-TW" sz="2000" b="1" dirty="0" smtClean="0">
                          <a:solidFill>
                            <a:srgbClr val="0000FF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()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return 1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itchFamily="65" charset="-120"/>
                          <a:cs typeface="Courier New" pitchFamily="49" charset="0"/>
                        </a:rPr>
                        <a:t>while ()</a:t>
                      </a:r>
                      <a:r>
                        <a:rPr kumimoji="1" lang="zh-TW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itchFamily="65" charset="-120"/>
                          <a:cs typeface="Courier New" pitchFamily="49" charset="0"/>
                        </a:rPr>
                        <a:t>成立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itchFamily="65" charset="-120"/>
                          <a:cs typeface="Courier New" pitchFamily="49" charset="0"/>
                        </a:rPr>
                        <a:t>……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4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zh-TW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……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itchFamily="65" charset="-120"/>
                          <a:cs typeface="Times New Roman" pitchFamily="18" charset="0"/>
                        </a:rPr>
                        <a:t>……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5232401" y="451520"/>
            <a:ext cx="1643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lock = 0</a:t>
            </a:r>
          </a:p>
        </p:txBody>
      </p:sp>
      <p:sp>
        <p:nvSpPr>
          <p:cNvPr id="36905" name="Line 56"/>
          <p:cNvSpPr>
            <a:spLocks noChangeShapeType="1"/>
          </p:cNvSpPr>
          <p:nvPr/>
        </p:nvSpPr>
        <p:spPr bwMode="auto">
          <a:xfrm>
            <a:off x="11279532" y="1791400"/>
            <a:ext cx="1" cy="23762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6906" name="Line 57"/>
          <p:cNvSpPr>
            <a:spLocks noChangeShapeType="1"/>
          </p:cNvSpPr>
          <p:nvPr/>
        </p:nvSpPr>
        <p:spPr bwMode="auto">
          <a:xfrm flipH="1">
            <a:off x="10992196" y="4167664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6907" name="Text Box 58"/>
          <p:cNvSpPr txBox="1">
            <a:spLocks noChangeArrowheads="1"/>
          </p:cNvSpPr>
          <p:nvPr/>
        </p:nvSpPr>
        <p:spPr bwMode="auto">
          <a:xfrm>
            <a:off x="10516470" y="1443263"/>
            <a:ext cx="152612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busy waiting</a:t>
            </a:r>
          </a:p>
        </p:txBody>
      </p:sp>
      <p:sp>
        <p:nvSpPr>
          <p:cNvPr id="2" name="右大括弧 1"/>
          <p:cNvSpPr/>
          <p:nvPr/>
        </p:nvSpPr>
        <p:spPr>
          <a:xfrm>
            <a:off x="10836748" y="3231560"/>
            <a:ext cx="155796" cy="1944216"/>
          </a:xfrm>
          <a:prstGeom prst="rightBrac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115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不過</a:t>
            </a:r>
            <a:r>
              <a:rPr lang="en-US" altLang="zh-TW" dirty="0" smtClean="0"/>
              <a:t>, </a:t>
            </a:r>
            <a:r>
              <a:rPr lang="zh-TW" altLang="en-US" dirty="0" smtClean="0"/>
              <a:t>上述使用</a:t>
            </a:r>
            <a:r>
              <a:rPr lang="en-US" altLang="zh-TW" dirty="0" err="1" smtClean="0"/>
              <a:t>test_and_set</a:t>
            </a:r>
            <a:r>
              <a:rPr lang="zh-TW" altLang="en-US" dirty="0" smtClean="0"/>
              <a:t>和</a:t>
            </a:r>
            <a:r>
              <a:rPr lang="en-US" altLang="zh-TW" dirty="0" err="1" smtClean="0"/>
              <a:t>compare_and_swap</a:t>
            </a:r>
            <a:r>
              <a:rPr lang="zh-TW" altLang="en-US" dirty="0" smtClean="0"/>
              <a:t>的程式都還有</a:t>
            </a:r>
            <a:r>
              <a:rPr lang="en-US" altLang="zh-TW" dirty="0" smtClean="0"/>
              <a:t>bug~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不滿足三個條件中的哪一個條件呢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946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Bounded-Waiting with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zh-TW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Previous two versions only guarantees </a:t>
            </a:r>
            <a:r>
              <a:rPr lang="en-US" altLang="zh-TW" b="1" dirty="0" smtClean="0"/>
              <a:t>mutual exclusion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But do not satisfy </a:t>
            </a:r>
            <a:r>
              <a:rPr lang="en-US" altLang="zh-TW" b="1" dirty="0" smtClean="0"/>
              <a:t>bounded-waiting</a:t>
            </a:r>
            <a:endParaRPr lang="en-US" altLang="zh-TW" dirty="0" smtClean="0"/>
          </a:p>
          <a:p>
            <a:pPr lvl="1"/>
            <a:endParaRPr lang="en-US" altLang="zh-TW" b="1" i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b="1" i="1" dirty="0" smtClean="0">
                <a:solidFill>
                  <a:srgbClr val="FF0000"/>
                </a:solidFill>
              </a:rPr>
              <a:t>Pi </a:t>
            </a:r>
            <a:r>
              <a:rPr lang="en-US" altLang="zh-TW" b="1" dirty="0" smtClean="0">
                <a:solidFill>
                  <a:srgbClr val="FF0000"/>
                </a:solidFill>
              </a:rPr>
              <a:t>can enter CS repeatedly </a:t>
            </a:r>
          </a:p>
          <a:p>
            <a:pPr lvl="2"/>
            <a:endParaRPr lang="en-US" altLang="zh-TW" dirty="0" smtClean="0"/>
          </a:p>
          <a:p>
            <a:pPr lvl="2"/>
            <a:r>
              <a:rPr lang="en-US" altLang="zh-TW" dirty="0" smtClean="0"/>
              <a:t>As shown in the next page</a:t>
            </a:r>
          </a:p>
          <a:p>
            <a:pPr marL="342900" lvl="1" indent="-342900">
              <a:buFontTx/>
              <a:buChar char="•"/>
            </a:pP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117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363831"/>
              </p:ext>
            </p:extLst>
          </p:nvPr>
        </p:nvGraphicFramePr>
        <p:xfrm>
          <a:off x="1876972" y="980728"/>
          <a:ext cx="8784975" cy="5237572"/>
        </p:xfrm>
        <a:graphic>
          <a:graphicData uri="http://schemas.openxmlformats.org/drawingml/2006/table">
            <a:tbl>
              <a:tblPr/>
              <a:tblGrid>
                <a:gridCol w="295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154">
                  <a:extLst>
                    <a:ext uri="{9D8B030D-6E8A-4147-A177-3AD203B41FA5}">
                      <a16:colId xmlns:a16="http://schemas.microsoft.com/office/drawing/2014/main" val="2358898395"/>
                    </a:ext>
                  </a:extLst>
                </a:gridCol>
                <a:gridCol w="287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Thread/Process 0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Thread/Process 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Thread/Process 2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不成立 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03583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Remainder Section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48662"/>
                  </a:ext>
                </a:extLst>
              </a:tr>
              <a:tr h="369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成立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endParaRPr kumimoji="1" lang="en-US" altLang="zh-TW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endParaRPr kumimoji="1" lang="en-US" altLang="zh-TW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FALSE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Remainder Section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;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0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不成立 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10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Enter CRITICAL SECTION Again</a:t>
                      </a: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593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endParaRPr kumimoji="1" lang="en-US" altLang="zh-TW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endParaRPr kumimoji="1" lang="en-US" altLang="zh-TW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itchFamily="18" charset="0"/>
                        </a:rPr>
                        <a:t>lock = TRUE, </a:t>
                      </a:r>
                      <a:r>
                        <a:rPr kumimoji="1" lang="en-US" altLang="zh-TW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while </a:t>
                      </a:r>
                      <a:r>
                        <a:rPr kumimoji="1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()</a:t>
                      </a:r>
                      <a:r>
                        <a:rPr kumimoji="1" lang="zh-TW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endParaRPr kumimoji="1" lang="en-US" altLang="zh-TW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marL="130236" marR="1302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5447929" y="307504"/>
            <a:ext cx="1643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 dirty="0">
                <a:latin typeface="Calibri" pitchFamily="34" charset="0"/>
                <a:ea typeface="標楷體" panose="03000509000000000000" pitchFamily="65" charset="-120"/>
                <a:cs typeface="Calibri" pitchFamily="34" charset="0"/>
              </a:rPr>
              <a:t>lock = </a:t>
            </a:r>
            <a:r>
              <a:rPr lang="en-US" altLang="zh-TW" sz="2400" b="1" dirty="0" smtClean="0">
                <a:latin typeface="Calibri" pitchFamily="34" charset="0"/>
                <a:ea typeface="標楷體" panose="03000509000000000000" pitchFamily="65" charset="-120"/>
                <a:cs typeface="Calibri" pitchFamily="34" charset="0"/>
              </a:rPr>
              <a:t>0</a:t>
            </a:r>
            <a:endParaRPr lang="en-US" altLang="zh-TW" sz="2400" b="1" dirty="0"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118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離開</a:t>
            </a:r>
            <a:r>
              <a:rPr lang="en-US" altLang="zh-TW" dirty="0" smtClean="0"/>
              <a:t>CS</a:t>
            </a:r>
            <a:r>
              <a:rPr lang="zh-TW" altLang="en-US" dirty="0" smtClean="0"/>
              <a:t>時檢查是否有其他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想進入</a:t>
            </a:r>
            <a:r>
              <a:rPr lang="en-US" altLang="zh-TW" dirty="0" smtClean="0"/>
              <a:t>, </a:t>
            </a:r>
            <a:r>
              <a:rPr lang="zh-TW" altLang="en-US" dirty="0" smtClean="0"/>
              <a:t>如果有</a:t>
            </a:r>
            <a:r>
              <a:rPr lang="en-US" altLang="zh-TW" dirty="0" smtClean="0"/>
              <a:t>, </a:t>
            </a:r>
            <a:r>
              <a:rPr lang="zh-TW" altLang="en-US" dirty="0" smtClean="0"/>
              <a:t>則讓其中一個進入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0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Bounded-Waiting with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zh-TW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Tx/>
              <a:buChar char="•"/>
            </a:pPr>
            <a:r>
              <a:rPr lang="en-US" altLang="zh-TW" sz="3200" b="1" dirty="0" smtClean="0"/>
              <a:t>Solution</a:t>
            </a:r>
            <a:r>
              <a:rPr lang="en-US" altLang="zh-TW" sz="3200" dirty="0" smtClean="0"/>
              <a:t>: in addition to </a:t>
            </a:r>
            <a:r>
              <a:rPr lang="en-US" altLang="zh-TW" sz="3200" i="1" dirty="0" smtClean="0"/>
              <a:t>lock</a:t>
            </a:r>
            <a:r>
              <a:rPr lang="en-US" altLang="zh-TW" sz="3200" b="1" dirty="0" smtClean="0"/>
              <a:t>, </a:t>
            </a:r>
            <a:r>
              <a:rPr lang="en-US" altLang="zh-TW" sz="3200" dirty="0" smtClean="0"/>
              <a:t>add another DS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waiting[n]</a:t>
            </a:r>
          </a:p>
          <a:p>
            <a:pPr lvl="1"/>
            <a:endParaRPr lang="en-US" altLang="zh-TW" sz="3200" dirty="0" smtClean="0">
              <a:solidFill>
                <a:srgbClr val="0000FF"/>
              </a:solidFill>
            </a:endParaRPr>
          </a:p>
          <a:p>
            <a:pPr lvl="1"/>
            <a:r>
              <a:rPr lang="en-US" altLang="zh-TW" sz="3200" dirty="0" err="1" smtClean="0">
                <a:solidFill>
                  <a:srgbClr val="0000FF"/>
                </a:solidFill>
              </a:rPr>
              <a:t>boolean</a:t>
            </a:r>
            <a:r>
              <a:rPr lang="en-US" altLang="zh-TW" sz="3200" dirty="0" smtClean="0">
                <a:solidFill>
                  <a:srgbClr val="0000FF"/>
                </a:solidFill>
              </a:rPr>
              <a:t>  waiting[n];     </a:t>
            </a:r>
          </a:p>
          <a:p>
            <a:pPr lvl="2"/>
            <a:r>
              <a:rPr lang="en-US" altLang="zh-TW" sz="2800" dirty="0" smtClean="0"/>
              <a:t>waiting[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]=1;  Pi wait to enter CS, </a:t>
            </a:r>
            <a:r>
              <a:rPr lang="zh-TW" altLang="en-US" sz="2800" dirty="0" smtClean="0"/>
              <a:t>並且先假設自己必須等待</a:t>
            </a:r>
            <a:endParaRPr lang="en-US" altLang="zh-TW" sz="2800" dirty="0" smtClean="0"/>
          </a:p>
          <a:p>
            <a:pPr lvl="2"/>
            <a:r>
              <a:rPr lang="en-US" altLang="zh-TW" sz="2800" dirty="0" smtClean="0"/>
              <a:t>Initialized to </a:t>
            </a:r>
            <a:r>
              <a:rPr lang="en-US" altLang="zh-TW" sz="2800" b="1" dirty="0" smtClean="0"/>
              <a:t>false</a:t>
            </a:r>
            <a:endParaRPr lang="en-US" altLang="zh-TW" sz="2800" dirty="0" smtClean="0"/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err="1" smtClean="0"/>
              <a:t>boolean</a:t>
            </a:r>
            <a:r>
              <a:rPr lang="en-US" altLang="zh-TW" sz="3200" dirty="0" smtClean="0"/>
              <a:t>   lock;</a:t>
            </a:r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56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88640"/>
            <a:ext cx="10972800" cy="6669360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zh-TW" sz="2000" b="1" dirty="0"/>
              <a:t>Shared Boolean variable</a:t>
            </a:r>
            <a:r>
              <a:rPr lang="en-US" altLang="zh-TW" sz="2000" b="1" dirty="0">
                <a:solidFill>
                  <a:srgbClr val="FF3300"/>
                </a:solidFill>
              </a:rPr>
              <a:t> lock</a:t>
            </a:r>
            <a:r>
              <a:rPr lang="en-US" altLang="zh-TW" sz="2000" b="1" dirty="0"/>
              <a:t> and </a:t>
            </a:r>
            <a:r>
              <a:rPr lang="en-US" altLang="zh-TW" sz="2000" b="1" dirty="0">
                <a:solidFill>
                  <a:srgbClr val="FF3300"/>
                </a:solidFill>
              </a:rPr>
              <a:t>wait[i</a:t>
            </a:r>
            <a:r>
              <a:rPr lang="en-US" altLang="zh-TW" sz="2000" b="1" dirty="0"/>
              <a:t>] are initialized to </a:t>
            </a:r>
            <a:r>
              <a:rPr lang="en-US" altLang="zh-TW" sz="2000" b="1" dirty="0" smtClean="0">
                <a:solidFill>
                  <a:srgbClr val="FF3300"/>
                </a:solidFill>
              </a:rPr>
              <a:t>FALSE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altLang="zh-TW" sz="20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Do </a:t>
            </a:r>
            <a:r>
              <a:rPr lang="en-US" altLang="zh-TW" sz="2200" dirty="0" smtClean="0"/>
              <a:t>{</a:t>
            </a:r>
            <a:endParaRPr lang="en-US" altLang="zh-TW" sz="2200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>
                <a:solidFill>
                  <a:srgbClr val="0000FF"/>
                </a:solidFill>
              </a:rPr>
              <a:t>waiting[i] = TRUE; </a:t>
            </a:r>
            <a:r>
              <a:rPr lang="en-US" altLang="zh-TW" sz="2200" dirty="0"/>
              <a:t>			      </a:t>
            </a:r>
            <a:r>
              <a:rPr lang="en-US" altLang="zh-TW" sz="2200" dirty="0" smtClean="0"/>
              <a:t>         // </a:t>
            </a:r>
            <a:r>
              <a:rPr lang="en-US" altLang="zh-TW" sz="2200" i="1" dirty="0"/>
              <a:t>P</a:t>
            </a:r>
            <a:r>
              <a:rPr lang="en-US" altLang="zh-TW" sz="2200" i="1" baseline="-25000" dirty="0"/>
              <a:t>i</a:t>
            </a:r>
            <a:r>
              <a:rPr lang="en-US" altLang="zh-TW" sz="2200" dirty="0"/>
              <a:t> wish to enter </a:t>
            </a:r>
            <a:r>
              <a:rPr lang="en-US" altLang="zh-TW" sz="2200" dirty="0" smtClean="0"/>
              <a:t>CS </a:t>
            </a:r>
            <a:r>
              <a:rPr lang="zh-TW" altLang="en-US" sz="2200" dirty="0" smtClean="0"/>
              <a:t>並且</a:t>
            </a:r>
            <a:r>
              <a:rPr lang="zh-TW" altLang="en-US" sz="2200" b="1" dirty="0" smtClean="0">
                <a:solidFill>
                  <a:srgbClr val="FF3300"/>
                </a:solidFill>
              </a:rPr>
              <a:t>先假設會被</a:t>
            </a:r>
            <a:r>
              <a:rPr lang="en-US" altLang="zh-TW" sz="2200" b="1" dirty="0">
                <a:solidFill>
                  <a:srgbClr val="FF3300"/>
                </a:solidFill>
              </a:rPr>
              <a:t>block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  while (</a:t>
            </a:r>
            <a:r>
              <a:rPr lang="en-US" altLang="zh-TW" sz="2200" dirty="0">
                <a:solidFill>
                  <a:srgbClr val="0000FF"/>
                </a:solidFill>
              </a:rPr>
              <a:t>waiting[i]</a:t>
            </a:r>
            <a:r>
              <a:rPr lang="en-US" altLang="zh-TW" sz="2200" dirty="0"/>
              <a:t> &amp;&amp; </a:t>
            </a:r>
            <a:r>
              <a:rPr lang="en-US" altLang="zh-TW" sz="2200" b="1" dirty="0" err="1"/>
              <a:t>TestandSet</a:t>
            </a:r>
            <a:r>
              <a:rPr lang="en-US" altLang="zh-TW" sz="2200" b="1" dirty="0"/>
              <a:t>(&amp;lock</a:t>
            </a:r>
            <a:r>
              <a:rPr lang="en-US" altLang="zh-TW" sz="2200" b="1" dirty="0" smtClean="0"/>
              <a:t>)</a:t>
            </a:r>
            <a:r>
              <a:rPr lang="en-US" altLang="zh-TW" sz="2200" dirty="0" smtClean="0"/>
              <a:t>) ;     </a:t>
            </a:r>
            <a:r>
              <a:rPr lang="en-US" altLang="zh-TW" sz="2200" dirty="0"/>
              <a:t>// if waiting[</a:t>
            </a:r>
            <a:r>
              <a:rPr lang="en-US" altLang="zh-TW" sz="2200" dirty="0" err="1"/>
              <a:t>i</a:t>
            </a:r>
            <a:r>
              <a:rPr lang="en-US" altLang="zh-TW" sz="2200" dirty="0"/>
              <a:t>]=false || </a:t>
            </a:r>
            <a:r>
              <a:rPr lang="en-US" altLang="zh-TW" sz="2200" dirty="0" smtClean="0"/>
              <a:t>lock=false</a:t>
            </a:r>
            <a:endParaRPr lang="en-US" altLang="zh-TW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  </a:t>
            </a:r>
            <a:r>
              <a:rPr lang="en-US" altLang="zh-TW" sz="2200" dirty="0">
                <a:solidFill>
                  <a:srgbClr val="0000FF"/>
                </a:solidFill>
              </a:rPr>
              <a:t>waiting[i] = FALSE;	</a:t>
            </a:r>
            <a:r>
              <a:rPr lang="en-US" altLang="zh-TW" sz="2200" dirty="0"/>
              <a:t>		 </a:t>
            </a:r>
            <a:r>
              <a:rPr lang="en-US" altLang="zh-TW" sz="2200" dirty="0" smtClean="0"/>
              <a:t>             // </a:t>
            </a:r>
            <a:r>
              <a:rPr lang="en-US" altLang="zh-TW" sz="2200" dirty="0"/>
              <a:t>=&gt; escape the </a:t>
            </a:r>
            <a:r>
              <a:rPr lang="en-US" altLang="zh-TW" sz="2200" dirty="0" smtClean="0"/>
              <a:t>loop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22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 smtClean="0"/>
              <a:t>		</a:t>
            </a:r>
            <a:r>
              <a:rPr lang="en-US" altLang="zh-TW" sz="2200" b="1" dirty="0" smtClean="0"/>
              <a:t>critical section                                             </a:t>
            </a:r>
            <a:r>
              <a:rPr lang="en-US" altLang="zh-TW" sz="2200" dirty="0" smtClean="0"/>
              <a:t>// </a:t>
            </a:r>
            <a:r>
              <a:rPr lang="en-US" altLang="zh-TW" sz="2200" i="1" dirty="0"/>
              <a:t>P</a:t>
            </a:r>
            <a:r>
              <a:rPr lang="en-US" altLang="zh-TW" sz="2200" i="1" baseline="-25000" dirty="0"/>
              <a:t>i</a:t>
            </a:r>
            <a:r>
              <a:rPr lang="en-US" altLang="zh-TW" sz="2200" dirty="0"/>
              <a:t> enters </a:t>
            </a:r>
            <a:r>
              <a:rPr lang="en-US" altLang="zh-TW" sz="2200" dirty="0" smtClean="0"/>
              <a:t>CS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22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  j = (i+1)%n;				   </a:t>
            </a:r>
            <a:r>
              <a:rPr lang="en-US" altLang="zh-TW" sz="2200" dirty="0" smtClean="0"/>
              <a:t>            // </a:t>
            </a:r>
            <a:r>
              <a:rPr lang="en-US" altLang="zh-TW" sz="2200" dirty="0"/>
              <a:t>scan from i+1, i+2, …,n-1, 0, …i-1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  while ( (j!= i) &amp;&amp; </a:t>
            </a:r>
            <a:r>
              <a:rPr lang="en-US" altLang="zh-TW" sz="2200" b="1" dirty="0">
                <a:solidFill>
                  <a:srgbClr val="0000FF"/>
                </a:solidFill>
              </a:rPr>
              <a:t>waiting[j] == FALSE</a:t>
            </a:r>
            <a:r>
              <a:rPr lang="en-US" altLang="zh-TW" sz="2200" dirty="0"/>
              <a:t>) 	</a:t>
            </a:r>
            <a:r>
              <a:rPr lang="en-US" altLang="zh-TW" sz="2200" dirty="0" smtClean="0"/>
              <a:t>// </a:t>
            </a:r>
            <a:r>
              <a:rPr lang="en-US" altLang="zh-TW" sz="2200" dirty="0"/>
              <a:t>scan wait[j]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	j = (j+1)%n; 			   </a:t>
            </a:r>
            <a:r>
              <a:rPr lang="en-US" altLang="zh-TW" sz="2200" dirty="0" smtClean="0"/>
              <a:t>            // </a:t>
            </a:r>
            <a:r>
              <a:rPr lang="en-US" altLang="zh-TW" sz="2200" dirty="0"/>
              <a:t>select wait[j] = true to enter CS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  if ( j == i ) </a:t>
            </a:r>
            <a:r>
              <a:rPr lang="en-US" altLang="zh-TW" sz="2200" b="1" dirty="0">
                <a:solidFill>
                  <a:srgbClr val="FF0000"/>
                </a:solidFill>
              </a:rPr>
              <a:t>lock = FALSE</a:t>
            </a:r>
            <a:r>
              <a:rPr lang="en-US" altLang="zh-TW" sz="2200" dirty="0"/>
              <a:t>;		</a:t>
            </a:r>
            <a:r>
              <a:rPr lang="en-US" altLang="zh-TW" sz="2200" dirty="0" smtClean="0"/>
              <a:t>               // </a:t>
            </a:r>
            <a:r>
              <a:rPr lang="en-US" altLang="zh-TW" sz="2200" dirty="0"/>
              <a:t>nobody wants to enter CS (as usual)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  </a:t>
            </a:r>
            <a:r>
              <a:rPr lang="en-US" altLang="zh-TW" sz="2200" dirty="0">
                <a:solidFill>
                  <a:srgbClr val="0000FF"/>
                </a:solidFill>
              </a:rPr>
              <a:t>else </a:t>
            </a:r>
            <a:r>
              <a:rPr lang="en-US" altLang="zh-TW" sz="2200" b="1" dirty="0">
                <a:solidFill>
                  <a:srgbClr val="FF0000"/>
                </a:solidFill>
              </a:rPr>
              <a:t>waiting[j] = FALSE</a:t>
            </a:r>
            <a:r>
              <a:rPr lang="en-US" altLang="zh-TW" sz="2200" dirty="0">
                <a:solidFill>
                  <a:srgbClr val="0000FF"/>
                </a:solidFill>
              </a:rPr>
              <a:t>;</a:t>
            </a:r>
            <a:r>
              <a:rPr lang="en-US" altLang="zh-TW" sz="2200" dirty="0"/>
              <a:t>		</a:t>
            </a:r>
            <a:r>
              <a:rPr lang="en-US" altLang="zh-TW" sz="2200" dirty="0" smtClean="0"/>
              <a:t>              // </a:t>
            </a:r>
            <a:r>
              <a:rPr lang="en-US" altLang="zh-TW" sz="2200" b="1" dirty="0">
                <a:solidFill>
                  <a:srgbClr val="0066FF"/>
                </a:solidFill>
              </a:rPr>
              <a:t>select wait[j] = false to enter CS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		</a:t>
            </a:r>
            <a:r>
              <a:rPr lang="en-US" altLang="zh-TW" sz="2200" b="1" dirty="0"/>
              <a:t>// remainder section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200" dirty="0"/>
              <a:t>} while (TRUE);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你看的出來前面的程式在做什麼嗎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271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Bounded-Waiting with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進入</a:t>
            </a:r>
            <a:r>
              <a:rPr lang="en-US" altLang="zh-TW" dirty="0"/>
              <a:t>CS</a:t>
            </a:r>
            <a:r>
              <a:rPr lang="zh-TW" altLang="en-US" dirty="0"/>
              <a:t>有兩個</a:t>
            </a:r>
            <a:r>
              <a:rPr lang="zh-TW" altLang="en-US" dirty="0" smtClean="0"/>
              <a:t>方法</a:t>
            </a:r>
            <a:endParaRPr lang="en-US" altLang="zh-TW" dirty="0" smtClean="0"/>
          </a:p>
          <a:p>
            <a:pPr marL="914400" lvl="1" indent="-514350">
              <a:buAutoNum type="arabicPeriod"/>
            </a:pPr>
            <a:r>
              <a:rPr lang="en-US" altLang="zh-TW" dirty="0"/>
              <a:t>waiting[</a:t>
            </a:r>
            <a:r>
              <a:rPr lang="en-US" altLang="zh-TW" dirty="0" err="1"/>
              <a:t>i</a:t>
            </a:r>
            <a:r>
              <a:rPr lang="en-US" altLang="zh-TW" dirty="0"/>
              <a:t>] = false;</a:t>
            </a:r>
          </a:p>
          <a:p>
            <a:pPr marL="914400" lvl="1" indent="-514350">
              <a:buAutoNum type="arabicPeriod"/>
            </a:pPr>
            <a:r>
              <a:rPr lang="en-US" altLang="zh-TW" dirty="0"/>
              <a:t>lock = 0;</a:t>
            </a:r>
            <a:endParaRPr lang="zh-TW" altLang="en-US" dirty="0"/>
          </a:p>
          <a:p>
            <a:r>
              <a:rPr lang="zh-TW" altLang="en-US" dirty="0" smtClean="0"/>
              <a:t>假設有</a:t>
            </a:r>
            <a:r>
              <a:rPr lang="en-US" altLang="zh-TW" dirty="0" smtClean="0"/>
              <a:t>10</a:t>
            </a:r>
            <a:r>
              <a:rPr lang="zh-TW" altLang="en-US" dirty="0" smtClean="0"/>
              <a:t>個</a:t>
            </a:r>
            <a:r>
              <a:rPr lang="en-US" altLang="zh-TW" dirty="0" smtClean="0"/>
              <a:t>processes, </a:t>
            </a:r>
            <a:r>
              <a:rPr lang="zh-TW" altLang="en-US" dirty="0" smtClean="0"/>
              <a:t>目前</a:t>
            </a:r>
            <a:r>
              <a:rPr lang="en-US" altLang="zh-TW" dirty="0" smtClean="0"/>
              <a:t>process 3</a:t>
            </a:r>
            <a:r>
              <a:rPr lang="zh-TW" altLang="en-US" dirty="0" smtClean="0"/>
              <a:t>在</a:t>
            </a:r>
            <a:r>
              <a:rPr lang="en-US" altLang="zh-TW" dirty="0" smtClean="0"/>
              <a:t>CS</a:t>
            </a:r>
            <a:r>
              <a:rPr lang="zh-TW" altLang="en-US" dirty="0" smtClean="0"/>
              <a:t>當中</a:t>
            </a:r>
            <a:r>
              <a:rPr lang="en-US" altLang="zh-TW" dirty="0" smtClean="0"/>
              <a:t>, </a:t>
            </a:r>
            <a:r>
              <a:rPr lang="zh-TW" altLang="en-US" dirty="0" smtClean="0"/>
              <a:t>當</a:t>
            </a:r>
            <a:r>
              <a:rPr lang="en-US" altLang="zh-TW" dirty="0" smtClean="0"/>
              <a:t>process[3]</a:t>
            </a:r>
            <a:r>
              <a:rPr lang="zh-TW" altLang="en-US" dirty="0" smtClean="0"/>
              <a:t>離開</a:t>
            </a:r>
            <a:r>
              <a:rPr lang="en-US" altLang="zh-TW" dirty="0" smtClean="0"/>
              <a:t>CS, </a:t>
            </a:r>
            <a:r>
              <a:rPr lang="zh-TW" altLang="en-US" dirty="0" smtClean="0"/>
              <a:t>逐一檢查</a:t>
            </a:r>
            <a:r>
              <a:rPr lang="en-US" altLang="zh-TW" dirty="0" smtClean="0"/>
              <a:t>process 4, 5, 6, 7, 8, 9, 0, 1, 2</a:t>
            </a:r>
            <a:r>
              <a:rPr lang="zh-TW" altLang="en-US" dirty="0" smtClean="0"/>
              <a:t>是否有人要進入</a:t>
            </a:r>
            <a:r>
              <a:rPr lang="en-US" altLang="zh-TW" dirty="0" smtClean="0"/>
              <a:t>CS(waiting[j]=true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如果有</a:t>
            </a:r>
            <a:r>
              <a:rPr lang="en-US" altLang="zh-TW" dirty="0" smtClean="0"/>
              <a:t>, say j = 7,</a:t>
            </a:r>
            <a:r>
              <a:rPr lang="zh-TW" altLang="en-US" dirty="0" smtClean="0"/>
              <a:t>直接將</a:t>
            </a:r>
            <a:r>
              <a:rPr lang="en-US" altLang="zh-TW" dirty="0" smtClean="0"/>
              <a:t>waiting[7]</a:t>
            </a:r>
            <a:r>
              <a:rPr lang="zh-TW" altLang="en-US" dirty="0" smtClean="0"/>
              <a:t>設為</a:t>
            </a:r>
            <a:r>
              <a:rPr lang="en-US" altLang="zh-TW" dirty="0" smtClean="0"/>
              <a:t>false</a:t>
            </a:r>
          </a:p>
          <a:p>
            <a:r>
              <a:rPr lang="zh-TW" altLang="en-US" dirty="0"/>
              <a:t>如果都</a:t>
            </a:r>
            <a:r>
              <a:rPr lang="zh-TW" altLang="en-US" dirty="0" smtClean="0"/>
              <a:t>沒有</a:t>
            </a:r>
            <a:r>
              <a:rPr lang="en-US" altLang="zh-TW" dirty="0" smtClean="0"/>
              <a:t>(j=3), </a:t>
            </a:r>
            <a:r>
              <a:rPr lang="zh-TW" altLang="en-US" dirty="0" smtClean="0"/>
              <a:t>則將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打開</a:t>
            </a:r>
            <a:r>
              <a:rPr lang="en-US" altLang="zh-TW" dirty="0" smtClean="0"/>
              <a:t>(lock</a:t>
            </a:r>
            <a:r>
              <a:rPr lang="zh-TW" altLang="en-US" dirty="0" smtClean="0"/>
              <a:t>設為</a:t>
            </a:r>
            <a:r>
              <a:rPr lang="en-US" altLang="zh-TW" dirty="0" smtClean="0"/>
              <a:t>0)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407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069240"/>
              </p:ext>
            </p:extLst>
          </p:nvPr>
        </p:nvGraphicFramePr>
        <p:xfrm>
          <a:off x="335360" y="290656"/>
          <a:ext cx="11593288" cy="6522720"/>
        </p:xfrm>
        <a:graphic>
          <a:graphicData uri="http://schemas.openxmlformats.org/drawingml/2006/table">
            <a:tbl>
              <a:tblPr/>
              <a:tblGrid>
                <a:gridCol w="5249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1907783764"/>
                    </a:ext>
                  </a:extLst>
                </a:gridCol>
              </a:tblGrid>
              <a:tr h="173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Thread 0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Thread 1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Thread 2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waiting[0]=True 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(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TetAndSet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)return False, Lock=True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waiting[0]=False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3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33990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Remainder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849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waiting[2]=True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(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TetAndSet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)return True, Lock=True…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3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j=1; while()</a:t>
                      </a: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成立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; j=j+1(=2)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j=2; while()</a:t>
                      </a:r>
                      <a:r>
                        <a:rPr kumimoji="1" lang="zh-TW" alt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不</a:t>
                      </a: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成立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; (waiting[2]=True)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跳開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while()</a:t>
                      </a: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迴圈</a:t>
                      </a: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526527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if </a:t>
                      </a:r>
                      <a:r>
                        <a:rPr kumimoji="1" lang="zh-TW" alt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不成立</a:t>
                      </a: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; </a:t>
                      </a:r>
                      <a:r>
                        <a:rPr kumimoji="1" lang="zh-TW" alt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執行</a:t>
                      </a: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else </a:t>
                      </a: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waiting[2]=False</a:t>
                      </a:r>
                      <a:endParaRPr kumimoji="1" lang="zh-TW" altLang="zh-TW" sz="16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REMAINDER SECTION</a:t>
                      </a: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waiting[0]=True 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21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(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TetAndSet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)return 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True,Lock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=True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(Cannot Enter Critical Section Again)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while()</a:t>
                      </a: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不成立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(waiting[2]=False)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waiting[2]=False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Enter CRITICAL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351584" y="-27384"/>
            <a:ext cx="77048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Calibri" pitchFamily="34" charset="0"/>
                <a:cs typeface="Calibri" pitchFamily="34" charset="0"/>
              </a:rPr>
              <a:t>lock = false, waiting[0]=false, waiting[1]=false, </a:t>
            </a:r>
            <a:r>
              <a:rPr lang="en-US" altLang="zh-TW" sz="2000" b="1" dirty="0" smtClean="0">
                <a:latin typeface="Calibri" pitchFamily="34" charset="0"/>
                <a:cs typeface="Calibri" pitchFamily="34" charset="0"/>
              </a:rPr>
              <a:t>waiting[2]=</a:t>
            </a:r>
            <a:r>
              <a:rPr lang="en-US" altLang="zh-TW" sz="2000" b="1" dirty="0">
                <a:latin typeface="Calibri" pitchFamily="34" charset="0"/>
                <a:cs typeface="Calibri" pitchFamily="34" charset="0"/>
              </a:rPr>
              <a:t>false</a:t>
            </a:r>
          </a:p>
          <a:p>
            <a:pPr algn="ctr"/>
            <a:endParaRPr lang="en-US" altLang="zh-TW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392" y="270892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However, Using test-and-set and compare-and-swap is </a:t>
            </a:r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dirty="0" smtClean="0">
                <a:solidFill>
                  <a:srgbClr val="FF0000"/>
                </a:solidFill>
              </a:rPr>
              <a:t>till difficult </a:t>
            </a:r>
            <a:r>
              <a:rPr lang="en-US" altLang="zh-TW" dirty="0" smtClean="0"/>
              <a:t>for programmers!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854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Hardware Support for Synchronization</a:t>
            </a:r>
          </a:p>
          <a:p>
            <a:pPr lvl="1"/>
            <a:r>
              <a:rPr lang="en-US" altLang="en-US" sz="2400" dirty="0"/>
              <a:t>Memory barriers</a:t>
            </a:r>
          </a:p>
          <a:p>
            <a:pPr lvl="1"/>
            <a:r>
              <a:rPr lang="en-US" altLang="en-US" sz="2400" dirty="0"/>
              <a:t>Hardware instructions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Atomic variables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733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</a:t>
            </a:r>
            <a:r>
              <a:rPr lang="en-US" altLang="zh-TW" dirty="0" smtClean="0"/>
              <a:t>Variables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Instructions such as </a:t>
            </a:r>
            <a:r>
              <a:rPr lang="en-US" altLang="zh-TW" b="1" dirty="0" smtClean="0"/>
              <a:t>compare-and-swap</a:t>
            </a:r>
            <a:r>
              <a:rPr lang="en-US" altLang="zh-TW" dirty="0" smtClean="0"/>
              <a:t> and </a:t>
            </a:r>
            <a:r>
              <a:rPr lang="en-US" altLang="zh-TW" b="1" dirty="0" smtClean="0"/>
              <a:t>test-and-set </a:t>
            </a:r>
            <a:r>
              <a:rPr lang="en-US" altLang="zh-TW" dirty="0" smtClean="0"/>
              <a:t>are used as </a:t>
            </a:r>
            <a:r>
              <a:rPr lang="en-US" altLang="zh-TW" b="1" dirty="0" smtClean="0"/>
              <a:t>building blocks </a:t>
            </a:r>
            <a:r>
              <a:rPr lang="en-US" altLang="zh-TW" dirty="0" smtClean="0"/>
              <a:t>for other synchronization tools.</a:t>
            </a:r>
          </a:p>
          <a:p>
            <a:pPr>
              <a:lnSpc>
                <a:spcPct val="120000"/>
              </a:lnSpc>
            </a:pP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dirty="0" smtClean="0"/>
              <a:t>One </a:t>
            </a:r>
            <a:r>
              <a:rPr lang="en-US" altLang="zh-TW" dirty="0"/>
              <a:t>tool is an </a:t>
            </a:r>
            <a:r>
              <a:rPr lang="en-US" altLang="zh-TW" b="1" dirty="0"/>
              <a:t>atomic variable </a:t>
            </a:r>
            <a:endParaRPr lang="en-US" altLang="zh-TW" b="1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Provides </a:t>
            </a:r>
            <a:r>
              <a:rPr lang="en-US" altLang="zh-TW" b="1" i="1" dirty="0">
                <a:solidFill>
                  <a:srgbClr val="FF0000"/>
                </a:solidFill>
              </a:rPr>
              <a:t>atomic</a:t>
            </a:r>
            <a:r>
              <a:rPr lang="en-US" altLang="zh-TW" dirty="0"/>
              <a:t> (</a:t>
            </a:r>
            <a:r>
              <a:rPr lang="en-US" altLang="zh-TW" dirty="0" smtClean="0"/>
              <a:t>uninterruptable</a:t>
            </a:r>
            <a:r>
              <a:rPr lang="en-US" altLang="zh-TW" dirty="0"/>
              <a:t>) </a:t>
            </a:r>
            <a:r>
              <a:rPr lang="en-US" altLang="zh-TW" b="1" dirty="0"/>
              <a:t>updates</a:t>
            </a:r>
            <a:r>
              <a:rPr lang="en-US" altLang="zh-TW" dirty="0"/>
              <a:t> on </a:t>
            </a:r>
            <a:r>
              <a:rPr lang="en-US" altLang="zh-TW" b="1" dirty="0">
                <a:solidFill>
                  <a:srgbClr val="FF0000"/>
                </a:solidFill>
              </a:rPr>
              <a:t>basic data</a:t>
            </a:r>
            <a:r>
              <a:rPr lang="en-US" altLang="zh-TW" dirty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types</a:t>
            </a:r>
            <a:r>
              <a:rPr lang="en-US" altLang="zh-TW" dirty="0" smtClean="0"/>
              <a:t> (e.g., integers </a:t>
            </a:r>
            <a:r>
              <a:rPr lang="en-US" altLang="zh-TW" dirty="0"/>
              <a:t>and </a:t>
            </a:r>
            <a:r>
              <a:rPr lang="en-US" altLang="zh-TW" dirty="0" smtClean="0"/>
              <a:t>booleans).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834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</a:t>
            </a:r>
            <a:r>
              <a:rPr lang="en-US" altLang="zh-TW" dirty="0" smtClean="0"/>
              <a:t>Variables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691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Example: </a:t>
            </a:r>
            <a:r>
              <a:rPr lang="en-US" altLang="zh-TW" dirty="0"/>
              <a:t>x86 provides a “lock” prefix </a:t>
            </a:r>
            <a:endParaRPr lang="en-US" altLang="zh-TW" dirty="0" smtClean="0"/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Tells </a:t>
            </a:r>
            <a:r>
              <a:rPr lang="en-US" altLang="zh-TW" dirty="0"/>
              <a:t>the hardware: “</a:t>
            </a:r>
            <a:r>
              <a:rPr lang="en-US" altLang="zh-TW" dirty="0">
                <a:solidFill>
                  <a:srgbClr val="FF0000"/>
                </a:solidFill>
              </a:rPr>
              <a:t>don’t let anyone read/write the value until I’m done with it</a:t>
            </a:r>
            <a:r>
              <a:rPr lang="en-US" altLang="zh-TW" dirty="0" smtClean="0"/>
              <a:t>”</a:t>
            </a:r>
          </a:p>
          <a:p>
            <a:pPr lvl="1">
              <a:lnSpc>
                <a:spcPct val="110000"/>
              </a:lnSpc>
            </a:pPr>
            <a:endParaRPr lang="en-US" altLang="zh-TW" sz="2100" dirty="0" smtClean="0"/>
          </a:p>
          <a:p>
            <a:pPr lvl="1">
              <a:lnSpc>
                <a:spcPct val="110000"/>
              </a:lnSpc>
            </a:pPr>
            <a:r>
              <a:rPr lang="en-US" altLang="zh-TW" sz="2100" dirty="0" smtClean="0"/>
              <a:t>See the following slide</a:t>
            </a:r>
            <a:endParaRPr lang="en-US" altLang="zh-TW" sz="2100" dirty="0"/>
          </a:p>
          <a:p>
            <a:pPr>
              <a:lnSpc>
                <a:spcPct val="110000"/>
              </a:lnSpc>
            </a:pPr>
            <a:endParaRPr lang="zh-TW" altLang="en-US" b="1" dirty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443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Example: Intel Lock Prefix</a:t>
            </a:r>
            <a:endParaRPr lang="zh-TW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ct val="30000"/>
              </a:spcBef>
              <a:buNone/>
            </a:pPr>
            <a:r>
              <a:rPr kumimoji="0" lang="zh-TW" altLang="zh-TW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solidFill>
                  <a:srgbClr val="B00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fetch_and_add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zh-TW" altLang="zh-TW" sz="2000" dirty="0">
                <a:solidFill>
                  <a:srgbClr val="B00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*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latin typeface="Arial" panose="020B0604020202020204" pitchFamily="34" charset="0"/>
              </a:rPr>
              <a:t>variable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zh-TW" altLang="zh-TW" sz="2000" dirty="0">
                <a:solidFill>
                  <a:srgbClr val="B00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latin typeface="Arial" panose="020B0604020202020204" pitchFamily="34" charset="0"/>
              </a:rPr>
              <a:t>value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en-US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zh-TW" altLang="zh-TW" sz="2000" dirty="0">
                <a:latin typeface="Arial" panose="020B0604020202020204" pitchFamily="34" charset="0"/>
              </a:rPr>
              <a:t>__asm__</a:t>
            </a:r>
            <a:r>
              <a:rPr kumimoji="0" lang="zh-TW" altLang="zh-TW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zh-TW" altLang="zh-TW" sz="2000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zh-TW" altLang="zh-TW" sz="2000" b="1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kumimoji="0" lang="zh-TW" altLang="zh-TW" sz="2000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xaddl %0, %1"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en-US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: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"+r"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zh-TW" altLang="zh-TW" sz="2000" dirty="0">
                <a:latin typeface="Arial" panose="020B0604020202020204" pitchFamily="34" charset="0"/>
              </a:rPr>
              <a:t>value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kumimoji="0" lang="zh-TW" altLang="zh-TW" sz="2000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"+m"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*</a:t>
            </a:r>
            <a:r>
              <a:rPr kumimoji="0" lang="zh-TW" altLang="zh-TW" sz="2000" dirty="0">
                <a:latin typeface="Arial" panose="020B0604020202020204" pitchFamily="34" charset="0"/>
              </a:rPr>
              <a:t>variable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kumimoji="0" lang="zh-TW" altLang="zh-TW" sz="20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input+output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: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en-US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 </a:t>
            </a:r>
            <a:r>
              <a:rPr kumimoji="0" lang="zh-TW" altLang="zh-TW" sz="20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input-only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: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en-US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kumimoji="0" lang="zh-TW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zh-TW" sz="2000" dirty="0">
                <a:solidFill>
                  <a:srgbClr val="666666"/>
                </a:solidFill>
                <a:latin typeface="Arial" panose="020B0604020202020204" pitchFamily="34" charset="0"/>
              </a:rPr>
              <a:t> </a:t>
            </a:r>
            <a:r>
              <a:rPr kumimoji="0" lang="zh-TW" altLang="zh-TW" sz="2000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"memory"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en-US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en-US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zh-TW" altLang="zh-TW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TW" altLang="zh-TW" sz="2000" dirty="0">
                <a:latin typeface="Arial" panose="020B0604020202020204" pitchFamily="34" charset="0"/>
              </a:rPr>
              <a:t>value</a:t>
            </a: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kumimoji="0" lang="en-US" altLang="zh-TW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None/>
            </a:pPr>
            <a:r>
              <a:rPr kumimoji="0" lang="zh-TW" altLang="zh-TW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zh-TW" altLang="zh-TW" sz="2000" dirty="0"/>
              <a:t> </a:t>
            </a:r>
            <a:endParaRPr kumimoji="0" lang="zh-TW" altLang="zh-TW" sz="2000" dirty="0">
              <a:latin typeface="Arial" panose="020B0604020202020204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644962" y="5750772"/>
            <a:ext cx="89243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dirty="0">
                <a:latin typeface="Calibri" panose="020F0502020204030204" pitchFamily="34" charset="0"/>
              </a:rPr>
              <a:t>Adding </a:t>
            </a:r>
            <a:r>
              <a:rPr lang="en-US" altLang="zh-TW" sz="2600" b="1" dirty="0">
                <a:latin typeface="Calibri" panose="020F0502020204030204" pitchFamily="34" charset="0"/>
              </a:rPr>
              <a:t>lock</a:t>
            </a:r>
            <a:r>
              <a:rPr lang="en-US" altLang="zh-TW" sz="2600" dirty="0">
                <a:latin typeface="Calibri" panose="020F0502020204030204" pitchFamily="34" charset="0"/>
              </a:rPr>
              <a:t> prefix makes “</a:t>
            </a:r>
            <a:r>
              <a:rPr lang="en-US" altLang="zh-TW" sz="2600" dirty="0" err="1">
                <a:latin typeface="Calibri" panose="020F0502020204030204" pitchFamily="34" charset="0"/>
              </a:rPr>
              <a:t>xaddl</a:t>
            </a:r>
            <a:r>
              <a:rPr lang="en-US" altLang="zh-TW" sz="2600" dirty="0">
                <a:latin typeface="Calibri" panose="020F0502020204030204" pitchFamily="34" charset="0"/>
              </a:rPr>
              <a:t>” instruction executed atomically</a:t>
            </a:r>
            <a:endParaRPr lang="zh-TW" altLang="en-US" sz="2600" dirty="0"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802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可是我們目前都使用高階語言寫程式</a:t>
            </a:r>
            <a:r>
              <a:rPr lang="en-US" altLang="zh-TW" dirty="0" smtClean="0"/>
              <a:t>,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事實上</a:t>
            </a:r>
            <a:r>
              <a:rPr lang="en-US" altLang="zh-TW" dirty="0"/>
              <a:t>, </a:t>
            </a:r>
            <a:r>
              <a:rPr lang="zh-TW" altLang="en-US" dirty="0"/>
              <a:t>目前高階語言</a:t>
            </a:r>
            <a:r>
              <a:rPr lang="zh-TW" altLang="en-US" dirty="0" smtClean="0"/>
              <a:t>也再包裝</a:t>
            </a:r>
            <a:r>
              <a:rPr lang="en-US" altLang="zh-TW" dirty="0"/>
              <a:t>CPU</a:t>
            </a:r>
            <a:r>
              <a:rPr lang="zh-TW" altLang="en-US" dirty="0"/>
              <a:t>提供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compare_and_swap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或是</a:t>
            </a:r>
            <a:r>
              <a:rPr lang="en-US" altLang="zh-TW" dirty="0" err="1" smtClean="0"/>
              <a:t>test_and_set</a:t>
            </a:r>
            <a:r>
              <a:rPr lang="en-US" altLang="zh-TW" dirty="0" smtClean="0"/>
              <a:t>), </a:t>
            </a:r>
            <a:r>
              <a:rPr lang="zh-TW" altLang="en-US" dirty="0" smtClean="0"/>
              <a:t>提供程式設計師更方便使用</a:t>
            </a:r>
            <a:r>
              <a:rPr lang="en-US" altLang="zh-TW" dirty="0"/>
              <a:t>atomic </a:t>
            </a:r>
            <a:r>
              <a:rPr lang="en-US" altLang="zh-TW" dirty="0" smtClean="0"/>
              <a:t>variable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240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</a:t>
            </a:r>
            <a:r>
              <a:rPr lang="en-US" altLang="zh-TW" dirty="0" smtClean="0"/>
              <a:t>Variables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6915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Some high level language, e.g., C++ and Java, also support </a:t>
            </a:r>
            <a:r>
              <a:rPr lang="en-US" altLang="zh-TW" b="1" dirty="0" smtClean="0">
                <a:solidFill>
                  <a:srgbClr val="FF0000"/>
                </a:solidFill>
              </a:rPr>
              <a:t>atomic variables</a:t>
            </a:r>
            <a:endParaRPr lang="en-US" altLang="zh-TW" dirty="0" smtClean="0"/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Provides special </a:t>
            </a:r>
            <a:r>
              <a:rPr lang="en-US" altLang="zh-TW" b="1" dirty="0">
                <a:solidFill>
                  <a:srgbClr val="0000FF"/>
                </a:solidFill>
              </a:rPr>
              <a:t>atomic data types </a:t>
            </a:r>
            <a:r>
              <a:rPr lang="en-US" altLang="zh-TW" dirty="0"/>
              <a:t>+ </a:t>
            </a:r>
            <a:r>
              <a:rPr lang="en-US" altLang="zh-TW" b="1" dirty="0" smtClean="0">
                <a:solidFill>
                  <a:srgbClr val="0000FF"/>
                </a:solidFill>
              </a:rPr>
              <a:t>special functions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/>
              <a:t>for accessing </a:t>
            </a:r>
            <a:r>
              <a:rPr lang="en-US" altLang="zh-TW" dirty="0" smtClean="0"/>
              <a:t>atomic </a:t>
            </a:r>
            <a:r>
              <a:rPr lang="en-US" altLang="zh-TW" dirty="0"/>
              <a:t>variables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These </a:t>
            </a:r>
            <a:r>
              <a:rPr lang="en-US" altLang="zh-TW" dirty="0"/>
              <a:t>functions are implemented using </a:t>
            </a:r>
            <a:r>
              <a:rPr lang="en-US" altLang="zh-TW" b="1" dirty="0" smtClean="0"/>
              <a:t>compare-and-swap </a:t>
            </a:r>
            <a:r>
              <a:rPr lang="en-US" altLang="zh-TW" dirty="0" smtClean="0"/>
              <a:t>or</a:t>
            </a:r>
            <a:r>
              <a:rPr lang="en-US" altLang="zh-TW" b="1" dirty="0" smtClean="0"/>
              <a:t> test-and-set </a:t>
            </a:r>
            <a:r>
              <a:rPr lang="en-US" altLang="zh-TW" sz="2000" dirty="0" smtClean="0"/>
              <a:t>(see the following slide)</a:t>
            </a:r>
            <a:endParaRPr lang="en-US" altLang="zh-TW" dirty="0" smtClean="0"/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For </a:t>
            </a:r>
            <a:r>
              <a:rPr lang="en-US" altLang="zh-TW" dirty="0"/>
              <a:t>example, the </a:t>
            </a:r>
            <a:r>
              <a:rPr lang="en-US" altLang="zh-TW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increment()</a:t>
            </a:r>
            <a:r>
              <a:rPr lang="en-US" altLang="zh-TW" dirty="0">
                <a:solidFill>
                  <a:srgbClr val="0000FF"/>
                </a:solidFill>
              </a:rPr>
              <a:t> operation </a:t>
            </a:r>
            <a:r>
              <a:rPr lang="en-US" altLang="zh-TW" dirty="0"/>
              <a:t>on </a:t>
            </a:r>
            <a:r>
              <a:rPr lang="en-US" altLang="zh-TW" dirty="0" smtClean="0"/>
              <a:t>an </a:t>
            </a:r>
            <a:r>
              <a:rPr lang="en-US" altLang="zh-TW" b="1" dirty="0">
                <a:solidFill>
                  <a:srgbClr val="0000FF"/>
                </a:solidFill>
              </a:rPr>
              <a:t>atomic variable </a:t>
            </a:r>
            <a:r>
              <a:rPr lang="en-US" altLang="zh-TW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altLang="zh-TW" dirty="0" smtClean="0"/>
              <a:t> </a:t>
            </a:r>
          </a:p>
          <a:p>
            <a:pPr lvl="2">
              <a:lnSpc>
                <a:spcPct val="110000"/>
              </a:lnSpc>
            </a:pPr>
            <a:r>
              <a:rPr lang="en-US" altLang="zh-TW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altLang="zh-TW" dirty="0" smtClean="0"/>
              <a:t> </a:t>
            </a:r>
            <a:r>
              <a:rPr lang="en-US" altLang="zh-TW" dirty="0"/>
              <a:t>is incremented </a:t>
            </a:r>
            <a:r>
              <a:rPr lang="en-US" altLang="zh-TW" b="1" dirty="0">
                <a:solidFill>
                  <a:srgbClr val="FF0000"/>
                </a:solidFill>
              </a:rPr>
              <a:t>without </a:t>
            </a:r>
            <a:r>
              <a:rPr lang="en-US" altLang="zh-TW" b="1" dirty="0" smtClean="0">
                <a:solidFill>
                  <a:srgbClr val="FF0000"/>
                </a:solidFill>
              </a:rPr>
              <a:t>race condition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  <a:p>
            <a:pPr marL="9144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		</a:t>
            </a:r>
            <a:r>
              <a:rPr lang="en-US" altLang="zh-TW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increment</a:t>
            </a:r>
            <a:r>
              <a:rPr lang="en-US" altLang="zh-TW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(&amp;counter);</a:t>
            </a:r>
            <a:r>
              <a:rPr lang="en-US" altLang="zh-TW" sz="2800" dirty="0"/>
              <a:t> </a:t>
            </a:r>
          </a:p>
          <a:p>
            <a:pPr>
              <a:lnSpc>
                <a:spcPct val="110000"/>
              </a:lnSpc>
            </a:pPr>
            <a:endParaRPr lang="zh-TW" altLang="en-US" b="1" dirty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231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Using </a:t>
            </a:r>
            <a:r>
              <a:rPr lang="en-US" altLang="zh-TW" dirty="0" err="1" smtClean="0"/>
              <a:t>compare_and_swap</a:t>
            </a:r>
            <a:r>
              <a:rPr lang="en-US" altLang="zh-TW" dirty="0" smtClean="0"/>
              <a:t> to Implement atomic variable</a:t>
            </a:r>
            <a:endParaRPr lang="zh-TW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775520" y="2132856"/>
            <a:ext cx="936104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void increment(</a:t>
            </a:r>
            <a:r>
              <a:rPr kumimoji="1" lang="en-US" altLang="zh-TW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atomic_int</a:t>
            </a: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*v)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{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</a:t>
            </a:r>
            <a:r>
              <a:rPr kumimoji="1" lang="en-US" altLang="zh-TW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int</a:t>
            </a: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temp;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/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do {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	temp = *v;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}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while (temp != (</a:t>
            </a:r>
            <a:r>
              <a:rPr kumimoji="1" lang="en-US" altLang="zh-TW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compare_and_swap</a:t>
            </a: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(v,temp,temp+1));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} </a:t>
            </a:r>
            <a:endParaRPr kumimoji="1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711624" y="5455096"/>
            <a:ext cx="6348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Implementation of increment() operation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881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>
                <a:effectLst/>
                <a:latin typeface="Calibri" panose="020F0502020204030204" pitchFamily="34" charset="0"/>
              </a:rPr>
              <a:t>Example: </a:t>
            </a:r>
            <a:r>
              <a:rPr lang="en-US" altLang="zh-TW" sz="3600" dirty="0">
                <a:solidFill>
                  <a:srgbClr val="FF3300"/>
                </a:solidFill>
                <a:effectLst/>
                <a:latin typeface="Calibri" panose="020F0502020204030204" pitchFamily="34" charset="0"/>
              </a:rPr>
              <a:t>without</a:t>
            </a:r>
            <a:r>
              <a:rPr lang="en-US" altLang="zh-TW" sz="3600" dirty="0">
                <a:effectLst/>
                <a:latin typeface="Calibri" panose="020F0502020204030204" pitchFamily="34" charset="0"/>
              </a:rPr>
              <a:t> Atomic </a:t>
            </a:r>
            <a:r>
              <a:rPr lang="en-US" altLang="zh-TW" sz="3600" dirty="0" smtClean="0">
                <a:effectLst/>
                <a:latin typeface="Calibri" panose="020F0502020204030204" pitchFamily="34" charset="0"/>
              </a:rPr>
              <a:t>Variables </a:t>
            </a:r>
            <a:r>
              <a:rPr lang="en-US" altLang="zh-TW" sz="3600" dirty="0"/>
              <a:t>(Skip!)</a:t>
            </a:r>
            <a:r>
              <a:rPr lang="en-US" altLang="zh-TW" sz="3600" dirty="0" smtClean="0">
                <a:effectLst/>
                <a:latin typeface="Calibri" panose="020F0502020204030204" pitchFamily="34" charset="0"/>
              </a:rPr>
              <a:t> </a:t>
            </a:r>
            <a:endParaRPr lang="en-US" altLang="zh-TW" sz="3600" dirty="0"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568324" name="Group 4"/>
          <p:cNvGraphicFramePr>
            <a:graphicFrameLocks noGrp="1"/>
          </p:cNvGraphicFramePr>
          <p:nvPr>
            <p:extLst/>
          </p:nvPr>
        </p:nvGraphicFramePr>
        <p:xfrm>
          <a:off x="2063552" y="2204864"/>
          <a:ext cx="8280400" cy="3989391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Thread 1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Thread 2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Times New Roman" pitchFamily="18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counter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counter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inc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inc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新細明體" charset="-12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mov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 </a:t>
                      </a:r>
                      <a:r>
                        <a:rPr lang="en-US" altLang="zh-TW" sz="1800" b="1" dirty="0" smtClean="0">
                          <a:latin typeface="Courier New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,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charset="-120"/>
                          <a:cs typeface="Courier New" pitchFamily="49" charset="0"/>
                        </a:rPr>
                        <a:t>eax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190133" y="1268760"/>
            <a:ext cx="7942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Assume two threads executes “counter++”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Assume initially counter = 5; (The result should be 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+mn-cs"/>
              </a:rPr>
              <a:t>7, but 6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+mn-cs"/>
              </a:rPr>
              <a:t>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771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896226"/>
              </p:ext>
            </p:extLst>
          </p:nvPr>
        </p:nvGraphicFramePr>
        <p:xfrm>
          <a:off x="479376" y="836712"/>
          <a:ext cx="10972800" cy="5730240"/>
        </p:xfrm>
        <a:graphic>
          <a:graphicData uri="http://schemas.openxmlformats.org/drawingml/2006/table">
            <a:tbl>
              <a:tblPr/>
              <a:tblGrid>
                <a:gridCol w="582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 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 2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*v (=counter) = 5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*v (=counter) = 5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5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compare_and_swap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(v, temp, temp+1);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// *v (=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counter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) = temp+1 = 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6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; return 5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compare_and_swap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(v(=6), temp(=5), temp+1);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// *v != temp, v = 6, return 6;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temp != 6; while()</a:t>
                      </a:r>
                      <a:r>
                        <a:rPr kumimoji="1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(busy waiting)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*v (=counter) = 6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5; return </a:t>
                      </a:r>
                      <a:r>
                        <a:rPr kumimoji="1" lang="zh-TW" alt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也是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5, while ()</a:t>
                      </a:r>
                      <a:r>
                        <a:rPr kumimoji="1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不成立</a:t>
                      </a: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9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increment() </a:t>
                      </a:r>
                      <a:r>
                        <a:rPr kumimoji="1" lang="zh-TW" altLang="en-US" sz="18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完成</a:t>
                      </a:r>
                      <a:endParaRPr kumimoji="1" lang="en-US" altLang="zh-TW" sz="1800" b="1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Continue to the following instruction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compare_and_swap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(v, temp, temp+1);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// *v (=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counter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) = temp+1=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7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, return 6;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temp == 6; 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while ()</a:t>
                      </a:r>
                      <a:r>
                        <a:rPr kumimoji="1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不成立</a:t>
                      </a:r>
                      <a:endParaRPr kumimoji="1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increment() </a:t>
                      </a:r>
                      <a:r>
                        <a:rPr kumimoji="1" lang="zh-TW" altLang="en-US" sz="18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完成</a:t>
                      </a:r>
                      <a:endParaRPr kumimoji="1" lang="en-US" altLang="zh-TW" sz="18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Continue to the following instruction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51384" y="-99392"/>
            <a:ext cx="10972800" cy="93610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800" dirty="0">
                <a:effectLst/>
              </a:rPr>
              <a:t>Example: </a:t>
            </a:r>
            <a:r>
              <a:rPr lang="en-US" altLang="zh-TW" sz="2800" dirty="0" smtClean="0">
                <a:solidFill>
                  <a:srgbClr val="FF3300"/>
                </a:solidFill>
                <a:effectLst/>
              </a:rPr>
              <a:t>with</a:t>
            </a:r>
            <a:r>
              <a:rPr lang="en-US" altLang="zh-TW" sz="2800" dirty="0" smtClean="0">
                <a:effectLst/>
              </a:rPr>
              <a:t> </a:t>
            </a:r>
            <a:r>
              <a:rPr lang="en-US" altLang="zh-TW" sz="2800" dirty="0">
                <a:effectLst/>
              </a:rPr>
              <a:t>Atomic </a:t>
            </a:r>
            <a:r>
              <a:rPr lang="en-US" altLang="zh-TW" sz="2800" dirty="0" smtClean="0">
                <a:effectLst/>
              </a:rPr>
              <a:t>Variables </a:t>
            </a:r>
            <a:r>
              <a:rPr lang="en-US" altLang="zh-TW" sz="2800" dirty="0"/>
              <a:t>(Skip</a:t>
            </a:r>
            <a:r>
              <a:rPr lang="en-US" altLang="zh-TW" sz="2800" dirty="0" smtClean="0"/>
              <a:t>!)</a:t>
            </a:r>
            <a:br>
              <a:rPr lang="en-US" altLang="zh-TW" sz="2800" dirty="0" smtClean="0"/>
            </a:br>
            <a:r>
              <a:rPr lang="en-US" altLang="zh-TW" sz="1800" dirty="0" smtClean="0">
                <a:cs typeface="Calibri" pitchFamily="34" charset="0"/>
              </a:rPr>
              <a:t>*</a:t>
            </a:r>
            <a:r>
              <a:rPr lang="en-US" altLang="zh-TW" sz="1800" i="1" dirty="0">
                <a:cs typeface="Calibri" pitchFamily="34" charset="0"/>
              </a:rPr>
              <a:t>counter</a:t>
            </a:r>
            <a:r>
              <a:rPr lang="en-US" altLang="zh-TW" sz="1800" dirty="0">
                <a:cs typeface="Calibri" pitchFamily="34" charset="0"/>
              </a:rPr>
              <a:t> = 5, c</a:t>
            </a:r>
            <a:r>
              <a:rPr lang="en-US" altLang="zh-TW" sz="1800" dirty="0"/>
              <a:t>alling increment(), the result is 7 </a:t>
            </a:r>
            <a:r>
              <a:rPr lang="en-US" altLang="zh-TW" sz="1800" dirty="0" smtClean="0">
                <a:effectLst/>
              </a:rPr>
              <a:t> </a:t>
            </a:r>
            <a:endParaRPr lang="en-US" altLang="zh-TW" sz="1800" dirty="0">
              <a:effectLst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8734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Atomic Variable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791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zh-TW" altLang="en-US" dirty="0"/>
              <a:t>所有的問題都解決了</a:t>
            </a:r>
            <a:r>
              <a:rPr lang="zh-TW" altLang="en-US" dirty="0" smtClean="0"/>
              <a:t>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26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Variables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But, atomic variables do not </a:t>
            </a:r>
            <a:r>
              <a:rPr lang="en-US" altLang="zh-TW" b="1" dirty="0" smtClean="0"/>
              <a:t>entirely</a:t>
            </a:r>
            <a:r>
              <a:rPr lang="en-US" altLang="zh-TW" dirty="0" smtClean="0"/>
              <a:t> solve CS problems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Only do </a:t>
            </a:r>
            <a:r>
              <a:rPr lang="en-US" altLang="zh-TW" b="1" dirty="0" smtClean="0"/>
              <a:t>a limited </a:t>
            </a:r>
            <a:r>
              <a:rPr lang="en-US" altLang="zh-TW" dirty="0" smtClean="0"/>
              <a:t>set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of </a:t>
            </a:r>
            <a:r>
              <a:rPr lang="en-US" altLang="zh-TW" b="1" dirty="0" smtClean="0">
                <a:solidFill>
                  <a:srgbClr val="0000FF"/>
                </a:solidFill>
              </a:rPr>
              <a:t>operations</a:t>
            </a:r>
            <a:r>
              <a:rPr lang="en-US" altLang="zh-TW" dirty="0" smtClean="0"/>
              <a:t> to </a:t>
            </a:r>
            <a:r>
              <a:rPr lang="en-US" altLang="zh-TW" b="1" dirty="0" smtClean="0">
                <a:solidFill>
                  <a:srgbClr val="0000FF"/>
                </a:solidFill>
              </a:rPr>
              <a:t>basic data type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Not enough to synthesize more </a:t>
            </a:r>
            <a:r>
              <a:rPr lang="en-US" altLang="zh-TW" b="1" dirty="0" smtClean="0">
                <a:solidFill>
                  <a:srgbClr val="FF0000"/>
                </a:solidFill>
              </a:rPr>
              <a:t>complicated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operations</a:t>
            </a:r>
          </a:p>
          <a:p>
            <a:pPr>
              <a:lnSpc>
                <a:spcPct val="120000"/>
              </a:lnSpc>
            </a:pPr>
            <a:endParaRPr lang="en-US" altLang="zh-TW" dirty="0" smtClean="0">
              <a:ea typeface="新細明體" panose="02020500000000000000" pitchFamily="18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Example 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Consider </a:t>
            </a:r>
            <a:r>
              <a:rPr lang="en-US" altLang="zh-TW" dirty="0">
                <a:ea typeface="新細明體" panose="02020500000000000000" pitchFamily="18" charset="-120"/>
              </a:rPr>
              <a:t>a </a:t>
            </a:r>
            <a:r>
              <a:rPr lang="en-US" altLang="zh-TW" b="1" dirty="0">
                <a:ea typeface="新細明體" panose="02020500000000000000" pitchFamily="18" charset="-120"/>
              </a:rPr>
              <a:t>red-black tree </a:t>
            </a:r>
            <a:r>
              <a:rPr lang="en-US" altLang="zh-TW" dirty="0" smtClean="0">
                <a:ea typeface="新細明體" panose="02020500000000000000" pitchFamily="18" charset="-120"/>
              </a:rPr>
              <a:t>shared by </a:t>
            </a:r>
            <a:r>
              <a:rPr lang="en-US" altLang="zh-TW" dirty="0">
                <a:ea typeface="新細明體" panose="02020500000000000000" pitchFamily="18" charset="-120"/>
              </a:rPr>
              <a:t>multiple </a:t>
            </a:r>
            <a:r>
              <a:rPr lang="en-US" altLang="zh-TW" dirty="0" smtClean="0">
                <a:ea typeface="新細明體" panose="02020500000000000000" pitchFamily="18" charset="-120"/>
              </a:rPr>
              <a:t>processes/threads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513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0000"/>
                </a:solidFill>
              </a:rPr>
              <a:t>OS Solution: Mutex </a:t>
            </a:r>
            <a:r>
              <a:rPr lang="en-US" altLang="zh-TW" sz="2800" b="1" dirty="0">
                <a:solidFill>
                  <a:srgbClr val="FF0000"/>
                </a:solidFill>
              </a:rPr>
              <a:t>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Spin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Semaphores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667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>
                <a:effectLst/>
              </a:rPr>
              <a:t>複習： </a:t>
            </a:r>
            <a:r>
              <a:rPr lang="en-US" altLang="zh-TW" dirty="0" smtClean="0"/>
              <a:t>Solutions to Race Conditions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/>
              <a:t>Software solutions</a:t>
            </a:r>
          </a:p>
          <a:p>
            <a:pPr lvl="1" eaLnBrk="1" hangingPunct="1"/>
            <a:r>
              <a:rPr lang="en-US" altLang="zh-TW" dirty="0" smtClean="0"/>
              <a:t>Peterson’s solutions</a:t>
            </a:r>
          </a:p>
          <a:p>
            <a:pPr eaLnBrk="1" hangingPunct="1"/>
            <a:r>
              <a:rPr lang="en-US" altLang="zh-TW" b="1" dirty="0" smtClean="0"/>
              <a:t>Hardware solutions</a:t>
            </a:r>
          </a:p>
          <a:p>
            <a:pPr lvl="1" eaLnBrk="1" hangingPunct="1"/>
            <a:r>
              <a:rPr lang="en-US" altLang="zh-TW" dirty="0" smtClean="0"/>
              <a:t>Rely on some special machine instructions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Operation System solutions</a:t>
            </a:r>
          </a:p>
          <a:p>
            <a:pPr lvl="1" eaLnBrk="1" hangingPunct="1"/>
            <a:r>
              <a:rPr lang="en-US" altLang="zh-TW" dirty="0" smtClean="0"/>
              <a:t>Provide </a:t>
            </a:r>
            <a:r>
              <a:rPr lang="en-US" altLang="zh-TW" b="1" dirty="0" smtClean="0">
                <a:solidFill>
                  <a:srgbClr val="FF0000"/>
                </a:solidFill>
              </a:rPr>
              <a:t>functions</a:t>
            </a:r>
            <a:r>
              <a:rPr lang="en-US" altLang="zh-TW" dirty="0" smtClean="0"/>
              <a:t> and </a:t>
            </a:r>
            <a:r>
              <a:rPr lang="en-US" altLang="zh-TW" b="1" dirty="0" smtClean="0">
                <a:solidFill>
                  <a:srgbClr val="FF0000"/>
                </a:solidFill>
              </a:rPr>
              <a:t>data structures</a:t>
            </a:r>
            <a:r>
              <a:rPr lang="en-US" altLang="zh-TW" dirty="0" smtClean="0"/>
              <a:t> to the programmer</a:t>
            </a:r>
          </a:p>
          <a:p>
            <a:pPr lvl="1" eaLnBrk="1" hangingPunct="1"/>
            <a:r>
              <a:rPr lang="en-US" altLang="zh-TW" dirty="0" smtClean="0">
                <a:solidFill>
                  <a:srgbClr val="FF0000"/>
                </a:solidFill>
              </a:rPr>
              <a:t>Built upon the hardware solutions</a:t>
            </a:r>
          </a:p>
          <a:p>
            <a:pPr eaLnBrk="1" hangingPunct="1"/>
            <a:r>
              <a:rPr lang="en-US" altLang="zh-TW" b="1" dirty="0" smtClean="0"/>
              <a:t>Language level solutions</a:t>
            </a:r>
          </a:p>
          <a:p>
            <a:pPr lvl="1" eaLnBrk="1" hangingPunct="1"/>
            <a:r>
              <a:rPr lang="en-US" altLang="zh-TW" dirty="0" smtClean="0"/>
              <a:t>Built upon the OS solutions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14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mtClean="0"/>
              <a:t>Problems in Previous Approaches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Previous </a:t>
            </a:r>
            <a:r>
              <a:rPr lang="en-US" altLang="zh-TW" dirty="0" smtClean="0"/>
              <a:t>hardware-based solutions </a:t>
            </a:r>
            <a:r>
              <a:rPr lang="en-US" altLang="zh-TW" dirty="0"/>
              <a:t>are </a:t>
            </a:r>
            <a:r>
              <a:rPr lang="en-US" altLang="zh-TW" b="1" dirty="0"/>
              <a:t>complicated</a:t>
            </a:r>
            <a:r>
              <a:rPr lang="en-US" altLang="zh-TW" dirty="0"/>
              <a:t> </a:t>
            </a:r>
            <a:r>
              <a:rPr lang="en-US" altLang="zh-TW" dirty="0" smtClean="0"/>
              <a:t>or </a:t>
            </a:r>
            <a:r>
              <a:rPr lang="en-US" altLang="zh-TW" b="1" dirty="0" smtClean="0"/>
              <a:t>not enough </a:t>
            </a:r>
            <a:r>
              <a:rPr lang="en-US" altLang="zh-TW" dirty="0" smtClean="0"/>
              <a:t>to </a:t>
            </a:r>
            <a:r>
              <a:rPr lang="en-US" altLang="zh-TW" dirty="0"/>
              <a:t>application </a:t>
            </a:r>
            <a:r>
              <a:rPr lang="en-US" altLang="zh-TW" dirty="0" smtClean="0"/>
              <a:t>programmers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Solution</a:t>
            </a:r>
            <a:r>
              <a:rPr lang="en-US" altLang="zh-TW" dirty="0"/>
              <a:t>: </a:t>
            </a:r>
            <a:r>
              <a:rPr lang="en-US" altLang="zh-TW" b="1" dirty="0">
                <a:solidFill>
                  <a:srgbClr val="002060"/>
                </a:solidFill>
              </a:rPr>
              <a:t>OS</a:t>
            </a:r>
            <a:r>
              <a:rPr lang="en-US" altLang="zh-TW" dirty="0"/>
              <a:t> build a more </a:t>
            </a:r>
            <a:r>
              <a:rPr lang="en-US" altLang="zh-TW" b="1" dirty="0"/>
              <a:t>convenient</a:t>
            </a:r>
            <a:r>
              <a:rPr lang="en-US" altLang="zh-TW" dirty="0"/>
              <a:t> approach to solve critical section </a:t>
            </a:r>
            <a:r>
              <a:rPr lang="en-US" altLang="zh-TW" dirty="0" smtClean="0"/>
              <a:t>problem</a:t>
            </a:r>
          </a:p>
          <a:p>
            <a:pPr lvl="1"/>
            <a:r>
              <a:rPr lang="en-US" altLang="zh-TW" b="1" dirty="0" smtClean="0">
                <a:solidFill>
                  <a:srgbClr val="FF3300"/>
                </a:solidFill>
              </a:rPr>
              <a:t>Mutex </a:t>
            </a:r>
            <a:r>
              <a:rPr lang="en-US" altLang="zh-TW" b="1" dirty="0">
                <a:solidFill>
                  <a:srgbClr val="FF3300"/>
                </a:solidFill>
              </a:rPr>
              <a:t>locks, </a:t>
            </a:r>
            <a:r>
              <a:rPr lang="en-US" altLang="zh-TW" b="1" dirty="0" smtClean="0">
                <a:solidFill>
                  <a:srgbClr val="FF3300"/>
                </a:solidFill>
              </a:rPr>
              <a:t>spin lock, semaphores</a:t>
            </a:r>
            <a:endParaRPr lang="en-US" altLang="zh-TW" dirty="0"/>
          </a:p>
          <a:p>
            <a:pPr eaLnBrk="1" hangingPunct="1"/>
            <a:endParaRPr lang="en-US" altLang="zh-TW" sz="2800" dirty="0"/>
          </a:p>
          <a:p>
            <a:pPr eaLnBrk="1" hangingPunct="1"/>
            <a:endParaRPr lang="en-US" altLang="zh-TW" sz="2800" dirty="0"/>
          </a:p>
          <a:p>
            <a:pPr lvl="1" eaLnBrk="1" hangingPunct="1"/>
            <a:endParaRPr lang="en-US" altLang="zh-TW" sz="2400" b="1" dirty="0">
              <a:solidFill>
                <a:srgbClr val="FF33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複習：基本</a:t>
            </a:r>
            <a:r>
              <a:rPr lang="zh-TW" altLang="en-US" dirty="0" smtClean="0"/>
              <a:t>想法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最佳</a:t>
            </a:r>
            <a:r>
              <a:rPr lang="zh-TW" altLang="en-US" dirty="0" smtClean="0"/>
              <a:t>的解法</a:t>
            </a:r>
            <a:r>
              <a:rPr lang="en-US" altLang="zh-TW" dirty="0" smtClean="0"/>
              <a:t>: </a:t>
            </a:r>
            <a:r>
              <a:rPr lang="zh-TW" altLang="en-US" dirty="0" smtClean="0"/>
              <a:t>維護一個變數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假設是</a:t>
            </a:r>
            <a:r>
              <a:rPr lang="en-US" altLang="zh-TW" b="1" dirty="0" smtClean="0">
                <a:solidFill>
                  <a:srgbClr val="0000FF"/>
                </a:solidFill>
              </a:rPr>
              <a:t>Locks</a:t>
            </a:r>
            <a:endParaRPr lang="en-US" altLang="zh-TW" dirty="0">
              <a:solidFill>
                <a:srgbClr val="0000FF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564904"/>
            <a:ext cx="2160240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863752" y="2524387"/>
            <a:ext cx="8140370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71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rebuchet MS" panose="020B0603020202020204" pitchFamily="34" charset="0"/>
                <a:ea typeface="新細明體" pitchFamily="18" charset="-120"/>
                <a:cs typeface="+mn-cs"/>
              </a:rPr>
              <a:t>when lock = 0, </a:t>
            </a:r>
            <a:r>
              <a:rPr kumimoji="0" lang="en-US" altLang="zh-TW" sz="2471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rebuchet MS" panose="020B0603020202020204" pitchFamily="34" charset="0"/>
                <a:ea typeface="新細明體" pitchFamily="18" charset="-120"/>
                <a:cs typeface="+mn-cs"/>
              </a:rPr>
              <a:t>set lock </a:t>
            </a:r>
            <a:r>
              <a:rPr kumimoji="0" lang="en-US" altLang="zh-TW" sz="2471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rebuchet MS" panose="020B0603020202020204" pitchFamily="34" charset="0"/>
                <a:ea typeface="新細明體" pitchFamily="18" charset="-120"/>
                <a:cs typeface="+mn-cs"/>
              </a:rPr>
              <a:t>= 1</a:t>
            </a:r>
            <a:r>
              <a:rPr kumimoji="0" lang="en-US" altLang="zh-TW" sz="2471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rebuchet MS" panose="020B0603020202020204" pitchFamily="34" charset="0"/>
                <a:ea typeface="新細明體" pitchFamily="18" charset="-120"/>
                <a:cs typeface="+mn-cs"/>
              </a:rPr>
              <a:t>, </a:t>
            </a:r>
            <a:r>
              <a:rPr kumimoji="0" lang="en-US" altLang="zh-TW" sz="2471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rebuchet MS" panose="020B0603020202020204" pitchFamily="34" charset="0"/>
                <a:ea typeface="新細明體" pitchFamily="18" charset="-120"/>
                <a:cs typeface="+mn-cs"/>
              </a:rPr>
              <a:t>and enter critical section</a:t>
            </a:r>
            <a:endParaRPr kumimoji="0" lang="en-US" altLang="zh-TW" sz="2471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rebuchet MS" panose="020B060302020202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35760" y="5253305"/>
            <a:ext cx="1356462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71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rebuchet MS" panose="020B0603020202020204" pitchFamily="34" charset="0"/>
                <a:ea typeface="新細明體" pitchFamily="18" charset="-120"/>
                <a:cs typeface="+mn-cs"/>
              </a:rPr>
              <a:t>lock = 0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694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複習： </a:t>
            </a:r>
            <a:r>
              <a:rPr lang="en-US" altLang="zh-TW" dirty="0" smtClean="0"/>
              <a:t>General Idea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But, you cannot update the lock by yourself</a:t>
            </a:r>
          </a:p>
          <a:p>
            <a:pPr lvl="1"/>
            <a:r>
              <a:rPr lang="en-US" altLang="zh-TW" dirty="0" smtClean="0"/>
              <a:t>i.e., you cannot implement the following code </a:t>
            </a:r>
            <a:r>
              <a:rPr lang="en-US" altLang="zh-TW" dirty="0"/>
              <a:t>by yourself</a:t>
            </a:r>
            <a:endParaRPr lang="en-US" altLang="zh-TW" dirty="0" smtClean="0"/>
          </a:p>
          <a:p>
            <a:pPr marL="457200" lvl="1" indent="0">
              <a:buNone/>
            </a:pPr>
            <a:endParaRPr lang="en-US" altLang="zh-TW" dirty="0" smtClean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Why?</a:t>
            </a:r>
            <a:r>
              <a:rPr lang="en-US" altLang="zh-TW" sz="1800" dirty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Lock is a shared variable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sz="1200" dirty="0"/>
          </a:p>
          <a:p>
            <a:endParaRPr lang="en-US" altLang="zh-TW" dirty="0" smtClean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431704" y="2852936"/>
            <a:ext cx="4680519" cy="18158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while (lock != 0)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lock = 1;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CS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lock = 0;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36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前面我們看過如何使用</a:t>
            </a:r>
            <a:r>
              <a:rPr lang="en-US" altLang="zh-TW" dirty="0" smtClean="0"/>
              <a:t>Hardware</a:t>
            </a:r>
            <a:r>
              <a:rPr lang="zh-TW" altLang="en-US" dirty="0" smtClean="0"/>
              <a:t>來保護</a:t>
            </a:r>
            <a:r>
              <a:rPr lang="en-US" altLang="zh-TW" dirty="0" smtClean="0"/>
              <a:t>Lock, </a:t>
            </a:r>
            <a:r>
              <a:rPr lang="zh-TW" altLang="en-US" dirty="0" smtClean="0"/>
              <a:t>但是太複雜</a:t>
            </a:r>
            <a:r>
              <a:rPr lang="zh-TW" altLang="en-US" dirty="0"/>
              <a:t>了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我們希望</a:t>
            </a:r>
            <a:r>
              <a:rPr lang="en-US" altLang="zh-TW" dirty="0" smtClean="0"/>
              <a:t>OS</a:t>
            </a:r>
            <a:r>
              <a:rPr lang="zh-TW" altLang="en-US" dirty="0" smtClean="0"/>
              <a:t>幫助我們</a:t>
            </a:r>
            <a:r>
              <a:rPr lang="en-US" altLang="zh-TW" dirty="0" smtClean="0"/>
              <a:t>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370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OS</a:t>
            </a:r>
            <a:r>
              <a:rPr lang="zh-TW" altLang="en-US" dirty="0" smtClean="0"/>
              <a:t>如何幫助我們呢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請</a:t>
            </a:r>
            <a:r>
              <a:rPr lang="en-US" altLang="zh-TW" dirty="0" smtClean="0"/>
              <a:t>OS</a:t>
            </a:r>
            <a:r>
              <a:rPr lang="zh-TW" altLang="en-US" dirty="0" smtClean="0"/>
              <a:t>幫我們取得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和</a:t>
            </a:r>
            <a:r>
              <a:rPr lang="en-US" altLang="zh-TW" dirty="0" smtClean="0"/>
              <a:t>release lock!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63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結論</a:t>
            </a:r>
            <a:r>
              <a:rPr lang="en-US" altLang="zh-TW" dirty="0" smtClean="0"/>
              <a:t>,</a:t>
            </a:r>
            <a:r>
              <a:rPr lang="zh-TW" altLang="en-US" dirty="0" smtClean="0"/>
              <a:t>怎麼做呢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OS</a:t>
            </a:r>
            <a:r>
              <a:rPr lang="zh-TW" altLang="en-US" dirty="0" smtClean="0"/>
              <a:t>提供</a:t>
            </a:r>
            <a:r>
              <a:rPr lang="en-US" altLang="zh-TW" dirty="0" smtClean="0"/>
              <a:t>lock, </a:t>
            </a:r>
            <a:r>
              <a:rPr lang="zh-TW" altLang="en-US" dirty="0" smtClean="0"/>
              <a:t>以及兩個</a:t>
            </a:r>
            <a:r>
              <a:rPr lang="en-US" altLang="zh-TW" dirty="0" smtClean="0"/>
              <a:t>system calls(acquire()</a:t>
            </a:r>
            <a:r>
              <a:rPr lang="zh-TW" altLang="en-US" dirty="0" smtClean="0"/>
              <a:t>和</a:t>
            </a:r>
            <a:r>
              <a:rPr lang="en-US" altLang="zh-TW" dirty="0" smtClean="0"/>
              <a:t>release())</a:t>
            </a:r>
            <a:r>
              <a:rPr lang="zh-TW" altLang="en-US" dirty="0" smtClean="0"/>
              <a:t>幫我們取得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和</a:t>
            </a:r>
            <a:r>
              <a:rPr lang="en-US" altLang="zh-TW" dirty="0" smtClean="0"/>
              <a:t>release lock!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925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Mutex</a:t>
            </a:r>
            <a:r>
              <a:rPr lang="en-US" altLang="zh-TW" dirty="0" smtClean="0"/>
              <a:t> 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783357"/>
            <a:ext cx="10972800" cy="4525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TW" dirty="0" smtClean="0"/>
              <a:t>OS</a:t>
            </a:r>
            <a:r>
              <a:rPr lang="zh-TW" altLang="en-US" dirty="0" smtClean="0"/>
              <a:t>提供一種</a:t>
            </a:r>
            <a:r>
              <a:rPr lang="en-US" altLang="zh-TW" dirty="0" smtClean="0"/>
              <a:t>lock, </a:t>
            </a:r>
            <a:r>
              <a:rPr lang="zh-TW" altLang="en-US" dirty="0" smtClean="0"/>
              <a:t>稱為</a:t>
            </a:r>
            <a:r>
              <a:rPr lang="en-US" altLang="zh-TW" dirty="0" smtClean="0"/>
              <a:t>mutex (</a:t>
            </a:r>
            <a:r>
              <a:rPr lang="en-US" altLang="zh-TW" b="1" i="1" dirty="0" smtClean="0">
                <a:solidFill>
                  <a:srgbClr val="002060"/>
                </a:solidFill>
              </a:rPr>
              <a:t>mut</a:t>
            </a:r>
            <a:r>
              <a:rPr lang="en-US" altLang="zh-TW" dirty="0" smtClean="0"/>
              <a:t>ual </a:t>
            </a:r>
            <a:r>
              <a:rPr lang="en-US" altLang="zh-TW" b="1" dirty="0" smtClean="0">
                <a:solidFill>
                  <a:srgbClr val="002060"/>
                </a:solidFill>
              </a:rPr>
              <a:t>ex</a:t>
            </a:r>
            <a:r>
              <a:rPr lang="en-US" altLang="zh-TW" dirty="0" smtClean="0"/>
              <a:t>clusion) lock  </a:t>
            </a:r>
          </a:p>
          <a:p>
            <a:pPr lvl="1">
              <a:spcBef>
                <a:spcPts val="0"/>
              </a:spcBef>
            </a:pPr>
            <a:r>
              <a:rPr lang="en-US" altLang="zh-TW" dirty="0" smtClean="0"/>
              <a:t>A synchronization tool provided by </a:t>
            </a:r>
            <a:r>
              <a:rPr lang="en-US" altLang="zh-TW" b="1" dirty="0" smtClean="0"/>
              <a:t>OS</a:t>
            </a:r>
          </a:p>
          <a:p>
            <a:pPr>
              <a:spcBef>
                <a:spcPts val="0"/>
              </a:spcBef>
            </a:pPr>
            <a:endParaRPr lang="en-US" altLang="zh-TW" b="1" i="1" dirty="0" smtClean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TW" b="1" i="1" dirty="0" smtClean="0">
                <a:solidFill>
                  <a:srgbClr val="FF0000"/>
                </a:solidFill>
              </a:rPr>
              <a:t>mutex</a:t>
            </a:r>
            <a:r>
              <a:rPr lang="en-US" altLang="zh-TW" dirty="0" smtClean="0"/>
              <a:t> </a:t>
            </a:r>
            <a:r>
              <a:rPr lang="en-US" altLang="zh-TW" dirty="0"/>
              <a:t>: a </a:t>
            </a:r>
            <a:r>
              <a:rPr lang="en-US" altLang="zh-TW" dirty="0" err="1"/>
              <a:t>boolean</a:t>
            </a:r>
            <a:r>
              <a:rPr lang="en-US" altLang="zh-TW" dirty="0"/>
              <a:t> </a:t>
            </a:r>
            <a:r>
              <a:rPr lang="en-US" altLang="zh-TW" dirty="0" smtClean="0"/>
              <a:t>variable, </a:t>
            </a:r>
            <a:r>
              <a:rPr lang="zh-TW" altLang="en-US" dirty="0" smtClean="0"/>
              <a:t>初始值為</a:t>
            </a:r>
            <a:r>
              <a:rPr lang="en-US" altLang="zh-TW" b="1" dirty="0" smtClean="0"/>
              <a:t>true</a:t>
            </a:r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>
              <a:spcBef>
                <a:spcPts val="0"/>
              </a:spcBef>
            </a:pPr>
            <a:r>
              <a:rPr lang="en-US" altLang="zh-TW" b="1" dirty="0" smtClean="0"/>
              <a:t>Can only be accessed via two </a:t>
            </a:r>
            <a:r>
              <a:rPr lang="en-US" altLang="zh-TW" b="1" dirty="0" smtClean="0">
                <a:solidFill>
                  <a:srgbClr val="0000FF"/>
                </a:solidFill>
              </a:rPr>
              <a:t>atomic system calls</a:t>
            </a:r>
            <a:r>
              <a:rPr lang="en-US" altLang="zh-TW" b="1" dirty="0" smtClean="0"/>
              <a:t>:</a:t>
            </a:r>
          </a:p>
          <a:p>
            <a:pPr lvl="1">
              <a:spcBef>
                <a:spcPts val="0"/>
              </a:spcBef>
            </a:pPr>
            <a:r>
              <a:rPr lang="en-US" altLang="zh-TW" dirty="0" smtClean="0"/>
              <a:t>acquire() and release()</a:t>
            </a:r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>
              <a:spcBef>
                <a:spcPts val="0"/>
              </a:spcBef>
            </a:pPr>
            <a:endParaRPr lang="en-US" altLang="zh-TW" sz="1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那</a:t>
            </a:r>
            <a:r>
              <a:rPr lang="en-US" altLang="zh-TW" dirty="0" smtClean="0"/>
              <a:t>acquire()</a:t>
            </a:r>
            <a:r>
              <a:rPr lang="zh-TW" altLang="en-US" dirty="0" smtClean="0"/>
              <a:t>和</a:t>
            </a:r>
            <a:r>
              <a:rPr lang="en-US" altLang="zh-TW" dirty="0" smtClean="0"/>
              <a:t>release()</a:t>
            </a:r>
            <a:r>
              <a:rPr lang="zh-TW" altLang="en-US" dirty="0" smtClean="0"/>
              <a:t>做什麼呢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5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Mutex Locks</a:t>
            </a:r>
            <a:endParaRPr lang="zh-TW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287688" y="1556792"/>
            <a:ext cx="5904655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zh-TW" sz="2400" b="1" kern="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acquire() 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{</a:t>
            </a:r>
            <a:b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while ( </a:t>
            </a:r>
            <a:r>
              <a:rPr lang="en-US" altLang="zh-TW" sz="2400" b="1" kern="0" dirty="0" err="1">
                <a:latin typeface="Courier New" pitchFamily="49" charset="0"/>
                <a:ea typeface="+mn-ea"/>
                <a:cs typeface="Courier New" pitchFamily="49" charset="0"/>
              </a:rPr>
              <a:t>mutex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==false )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   ; /* busy wait */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altLang="zh-TW" sz="2400" b="1" kern="0" dirty="0" err="1">
                <a:latin typeface="Courier New" pitchFamily="49" charset="0"/>
                <a:ea typeface="+mn-ea"/>
                <a:cs typeface="Courier New" pitchFamily="49" charset="0"/>
              </a:rPr>
              <a:t>mutex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= false;;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} </a:t>
            </a:r>
          </a:p>
          <a:p>
            <a:pPr eaLnBrk="0" hangingPunct="0">
              <a:spcBef>
                <a:spcPct val="20000"/>
              </a:spcBef>
              <a:defRPr/>
            </a:pPr>
            <a:endParaRPr lang="en-US" altLang="zh-TW" sz="2400" b="1" kern="0" dirty="0" smtClean="0">
              <a:solidFill>
                <a:srgbClr val="FF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n-US" altLang="zh-TW" sz="2400" b="1" kern="0" dirty="0" smtClean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release</a:t>
            </a:r>
            <a:r>
              <a:rPr lang="en-US" altLang="zh-TW" sz="2400" b="1" kern="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() 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{ </a:t>
            </a:r>
          </a:p>
          <a:p>
            <a:pPr lvl="0" eaLnBrk="0" hangingPunct="0">
              <a:spcBef>
                <a:spcPct val="20000"/>
              </a:spcBef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altLang="zh-TW" sz="2400" b="1" kern="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= true;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} </a:t>
            </a:r>
          </a:p>
        </p:txBody>
      </p:sp>
      <p:sp>
        <p:nvSpPr>
          <p:cNvPr id="3" name="圓角矩形 2"/>
          <p:cNvSpPr/>
          <p:nvPr/>
        </p:nvSpPr>
        <p:spPr>
          <a:xfrm>
            <a:off x="1347305" y="5672170"/>
            <a:ext cx="10253745" cy="91440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請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OS</a:t>
            </a:r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幫你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acquire lock(</a:t>
            </a:r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呼叫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acquire()) </a:t>
            </a:r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以及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release lock(</a:t>
            </a:r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呼叫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release())</a:t>
            </a:r>
            <a:endParaRPr lang="zh-TW" altLang="en-US" sz="2800" dirty="0">
              <a:solidFill>
                <a:srgbClr val="FF000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573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 Idea: Using </a:t>
            </a:r>
            <a:r>
              <a:rPr lang="en-US" altLang="zh-TW" dirty="0" smtClean="0"/>
              <a:t>Mutex Lock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916832"/>
            <a:ext cx="1697691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443989" y="2332612"/>
            <a:ext cx="3166251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471" b="1" dirty="0" smtClean="0">
                <a:solidFill>
                  <a:srgbClr val="3333FF"/>
                </a:solidFill>
                <a:latin typeface="Trebuchet MS" panose="020B0603020202020204" pitchFamily="34" charset="0"/>
              </a:rPr>
              <a:t>Acquire mutex lock</a:t>
            </a:r>
            <a:endParaRPr kumimoji="0" lang="en-US" altLang="zh-TW" sz="2471" b="1" dirty="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375919" y="4396595"/>
            <a:ext cx="3066865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471" b="1" dirty="0" smtClean="0">
                <a:solidFill>
                  <a:srgbClr val="3333FF"/>
                </a:solidFill>
                <a:latin typeface="Trebuchet MS" panose="020B0603020202020204" pitchFamily="34" charset="0"/>
              </a:rPr>
              <a:t>Release mutex lock</a:t>
            </a:r>
            <a:endParaRPr kumimoji="0" lang="en-US" altLang="zh-TW" sz="2471" b="1" dirty="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149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7586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>
                <a:latin typeface="Calibri" panose="020F0502020204030204" pitchFamily="34" charset="0"/>
              </a:rPr>
              <a:t>Race Condition Problem Solved by </a:t>
            </a:r>
            <a:r>
              <a:rPr lang="en-US" altLang="zh-TW" sz="4000" dirty="0">
                <a:solidFill>
                  <a:srgbClr val="FF0000"/>
                </a:solidFill>
                <a:latin typeface="Calibri" panose="020F0502020204030204" pitchFamily="34" charset="0"/>
              </a:rPr>
              <a:t>mutex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2"/>
            <a:ext cx="10972800" cy="1142984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latin typeface="Calibri" panose="020F0502020204030204" pitchFamily="34" charset="0"/>
              </a:rPr>
              <a:t>For </a:t>
            </a:r>
            <a:r>
              <a:rPr lang="en-US" altLang="zh-TW" sz="2800" i="1" dirty="0">
                <a:latin typeface="Calibri" panose="020F0502020204030204" pitchFamily="34" charset="0"/>
              </a:rPr>
              <a:t>n</a:t>
            </a:r>
            <a:r>
              <a:rPr lang="en-US" altLang="zh-TW" sz="2800" dirty="0">
                <a:latin typeface="Calibri" panose="020F0502020204030204" pitchFamily="34" charset="0"/>
              </a:rPr>
              <a:t> processes, initialize </a:t>
            </a:r>
            <a:r>
              <a:rPr lang="en-US" altLang="zh-TW" sz="28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mutex</a:t>
            </a:r>
            <a:r>
              <a:rPr lang="en-US" altLang="zh-TW" sz="2800" dirty="0">
                <a:latin typeface="Calibri" panose="020F0502020204030204" pitchFamily="34" charset="0"/>
              </a:rPr>
              <a:t> value to </a:t>
            </a:r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latin typeface="Calibri" panose="020F0502020204030204" pitchFamily="34" charset="0"/>
              </a:rPr>
              <a:t>Then only </a:t>
            </a:r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1</a:t>
            </a:r>
            <a:r>
              <a:rPr lang="en-US" altLang="zh-TW" sz="2800" dirty="0">
                <a:latin typeface="Calibri" panose="020F0502020204030204" pitchFamily="34" charset="0"/>
              </a:rPr>
              <a:t> process is allowed into </a:t>
            </a:r>
            <a:r>
              <a:rPr lang="en-US" altLang="zh-TW" sz="2800" dirty="0" smtClean="0">
                <a:latin typeface="Calibri" panose="020F0502020204030204" pitchFamily="34" charset="0"/>
              </a:rPr>
              <a:t>CS</a:t>
            </a:r>
            <a:endParaRPr lang="en-US" altLang="zh-TW" sz="2800" dirty="0">
              <a:latin typeface="Calibri" panose="020F0502020204030204" pitchFamily="34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3158489" y="3284984"/>
            <a:ext cx="5904656" cy="2520280"/>
            <a:chOff x="2193280" y="3356992"/>
            <a:chExt cx="5829013" cy="2659891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193280" y="3356992"/>
              <a:ext cx="5829013" cy="2659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534081" y="3583366"/>
              <a:ext cx="5217980" cy="1904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3200" b="1" dirty="0">
                  <a:solidFill>
                    <a:srgbClr val="FF0000"/>
                  </a:solidFill>
                  <a:latin typeface="Courier New" pitchFamily="49" charset="0"/>
                </a:rPr>
                <a:t>acquire(</a:t>
              </a:r>
              <a:r>
                <a:rPr lang="en-US" altLang="zh-TW" sz="3200" b="1" dirty="0" err="1">
                  <a:solidFill>
                    <a:srgbClr val="FF0000"/>
                  </a:solidFill>
                  <a:latin typeface="Courier New" pitchFamily="49" charset="0"/>
                </a:rPr>
                <a:t>mutex</a:t>
              </a:r>
              <a:r>
                <a:rPr lang="en-US" altLang="zh-TW" sz="3200" b="1" dirty="0">
                  <a:solidFill>
                    <a:srgbClr val="FF0000"/>
                  </a:solidFill>
                  <a:latin typeface="Courier New" pitchFamily="49" charset="0"/>
                </a:rPr>
                <a:t>);</a:t>
              </a:r>
            </a:p>
            <a:p>
              <a:r>
                <a:rPr lang="en-US" altLang="zh-TW" sz="3200" b="1" dirty="0">
                  <a:latin typeface="Courier New" pitchFamily="49" charset="0"/>
                </a:rPr>
                <a:t>// CS</a:t>
              </a:r>
            </a:p>
            <a:p>
              <a:r>
                <a:rPr lang="en-US" altLang="zh-TW" sz="3200" b="1" dirty="0">
                  <a:solidFill>
                    <a:srgbClr val="FF0000"/>
                  </a:solidFill>
                  <a:latin typeface="Courier New" pitchFamily="49" charset="0"/>
                </a:rPr>
                <a:t>release(</a:t>
              </a:r>
              <a:r>
                <a:rPr lang="en-US" altLang="zh-TW" sz="3200" b="1" dirty="0" err="1">
                  <a:solidFill>
                    <a:srgbClr val="FF0000"/>
                  </a:solidFill>
                  <a:latin typeface="Courier New" pitchFamily="49" charset="0"/>
                </a:rPr>
                <a:t>mutex</a:t>
              </a:r>
              <a:r>
                <a:rPr lang="en-US" altLang="zh-TW" sz="3200" b="1" dirty="0">
                  <a:solidFill>
                    <a:srgbClr val="FF0000"/>
                  </a:solidFill>
                  <a:latin typeface="Courier New" pitchFamily="49" charset="0"/>
                </a:rPr>
                <a:t>);</a:t>
              </a:r>
            </a:p>
            <a:p>
              <a:r>
                <a:rPr lang="en-US" altLang="zh-TW" sz="3200" b="1" dirty="0">
                  <a:latin typeface="Courier New" pitchFamily="49" charset="0"/>
                </a:rPr>
                <a:t>Remainder section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150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897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045488"/>
              </p:ext>
            </p:extLst>
          </p:nvPr>
        </p:nvGraphicFramePr>
        <p:xfrm>
          <a:off x="623392" y="692696"/>
          <a:ext cx="10972322" cy="5376094"/>
        </p:xfrm>
        <a:graphic>
          <a:graphicData uri="http://schemas.openxmlformats.org/drawingml/2006/table">
            <a:tbl>
              <a:tblPr/>
              <a:tblGrid>
                <a:gridCol w="5724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Thread 0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Thread 1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acquire() set  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Courier New" pitchFamily="49" charset="0"/>
                        </a:rPr>
                        <a:t>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Courier New" pitchFamily="49" charset="0"/>
                        </a:rPr>
                        <a:t>=false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acquire()’s while() busy waiting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release() set 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Courier New" pitchFamily="49" charset="0"/>
                        </a:rPr>
                        <a:t>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Courier New" pitchFamily="49" charset="0"/>
                        </a:rPr>
                        <a:t>=true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REMAINDER SECTION</a:t>
                      </a: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acquire()’s while() break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CRITICAL SECTION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release() set 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Courier New" pitchFamily="49" charset="0"/>
                        </a:rPr>
                        <a:t>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Courier New" pitchFamily="49" charset="0"/>
                        </a:rPr>
                        <a:t>=true</a:t>
                      </a: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REMAINDER SECTION</a:t>
                      </a: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17087" marR="11708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351584" y="91480"/>
            <a:ext cx="77048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000" b="1" kern="0" dirty="0">
                <a:latin typeface="Calibri" panose="020F0502020204030204" pitchFamily="34" charset="0"/>
                <a:cs typeface="Courier New" pitchFamily="49" charset="0"/>
              </a:rPr>
              <a:t>mutex</a:t>
            </a:r>
            <a:r>
              <a:rPr lang="en-US" altLang="zh-TW" sz="2000" b="1" dirty="0">
                <a:latin typeface="Calibri" pitchFamily="34" charset="0"/>
                <a:cs typeface="Calibri" pitchFamily="34" charset="0"/>
              </a:rPr>
              <a:t> = 1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151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252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3600" dirty="0"/>
              <a:t>Mutual-Exclusion Implementation with </a:t>
            </a:r>
            <a:r>
              <a:rPr lang="en-US" altLang="zh-TW" sz="3600" dirty="0" smtClean="0"/>
              <a:t>mutex</a:t>
            </a:r>
            <a:endParaRPr lang="en-US" altLang="zh-TW" sz="3600" dirty="0"/>
          </a:p>
        </p:txBody>
      </p:sp>
      <p:sp>
        <p:nvSpPr>
          <p:cNvPr id="45059" name="Text Box 5"/>
          <p:cNvSpPr txBox="1">
            <a:spLocks noChangeArrowheads="1"/>
          </p:cNvSpPr>
          <p:nvPr/>
        </p:nvSpPr>
        <p:spPr bwMode="auto">
          <a:xfrm>
            <a:off x="2351089" y="3357563"/>
            <a:ext cx="28082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1919289" y="4437064"/>
            <a:ext cx="19186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anose="020F0502020204030204" pitchFamily="34" charset="0"/>
              </a:rPr>
              <a:t>acquire(mutex</a:t>
            </a:r>
            <a:r>
              <a:rPr lang="en-US" altLang="zh-TW" sz="2000" b="1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zh-TW" sz="2000" b="1" dirty="0">
                <a:latin typeface="Calibri" panose="020F0502020204030204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anose="020F0502020204030204" pitchFamily="34" charset="0"/>
              </a:rPr>
              <a:t>release(mutex</a:t>
            </a:r>
            <a:r>
              <a:rPr lang="en-US" altLang="zh-TW" sz="2000" b="1" dirty="0">
                <a:latin typeface="Calibri" panose="020F0502020204030204" pitchFamily="34" charset="0"/>
              </a:rPr>
              <a:t>);</a:t>
            </a:r>
          </a:p>
        </p:txBody>
      </p:sp>
      <p:sp>
        <p:nvSpPr>
          <p:cNvPr id="45061" name="Text Box 8"/>
          <p:cNvSpPr txBox="1">
            <a:spLocks noChangeArrowheads="1"/>
          </p:cNvSpPr>
          <p:nvPr/>
        </p:nvSpPr>
        <p:spPr bwMode="auto">
          <a:xfrm>
            <a:off x="4727576" y="4437064"/>
            <a:ext cx="19186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anose="020F0502020204030204" pitchFamily="34" charset="0"/>
              </a:rPr>
              <a:t>acquire(mutex</a:t>
            </a:r>
            <a:r>
              <a:rPr lang="en-US" altLang="zh-TW" sz="2000" b="1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zh-TW" sz="2000" b="1" dirty="0">
                <a:latin typeface="Calibri" panose="020F0502020204030204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anose="020F0502020204030204" pitchFamily="34" charset="0"/>
              </a:rPr>
              <a:t>release(mutex</a:t>
            </a:r>
            <a:r>
              <a:rPr lang="en-US" altLang="zh-TW" sz="2000" b="1" dirty="0">
                <a:latin typeface="Calibri" panose="020F0502020204030204" pitchFamily="34" charset="0"/>
              </a:rPr>
              <a:t>);</a:t>
            </a:r>
          </a:p>
        </p:txBody>
      </p:sp>
      <p:sp>
        <p:nvSpPr>
          <p:cNvPr id="45062" name="Text Box 9"/>
          <p:cNvSpPr txBox="1">
            <a:spLocks noChangeArrowheads="1"/>
          </p:cNvSpPr>
          <p:nvPr/>
        </p:nvSpPr>
        <p:spPr bwMode="auto">
          <a:xfrm>
            <a:off x="7535864" y="4438651"/>
            <a:ext cx="19186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anose="020F0502020204030204" pitchFamily="34" charset="0"/>
              </a:rPr>
              <a:t>acquire(mutex</a:t>
            </a:r>
            <a:r>
              <a:rPr lang="en-US" altLang="zh-TW" sz="2000" b="1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zh-TW" sz="2000" b="1" dirty="0">
                <a:latin typeface="Calibri" panose="020F0502020204030204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anose="020F0502020204030204" pitchFamily="34" charset="0"/>
              </a:rPr>
              <a:t>release(mutex</a:t>
            </a:r>
            <a:r>
              <a:rPr lang="en-US" altLang="zh-TW" sz="2000" b="1" dirty="0">
                <a:latin typeface="Calibri" panose="020F0502020204030204" pitchFamily="34" charset="0"/>
              </a:rPr>
              <a:t>);</a:t>
            </a:r>
          </a:p>
        </p:txBody>
      </p:sp>
      <p:sp>
        <p:nvSpPr>
          <p:cNvPr id="45063" name="Rectangle 10"/>
          <p:cNvSpPr>
            <a:spLocks noChangeArrowheads="1"/>
          </p:cNvSpPr>
          <p:nvPr/>
        </p:nvSpPr>
        <p:spPr bwMode="auto">
          <a:xfrm>
            <a:off x="1919288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4" name="Rectangle 11"/>
          <p:cNvSpPr>
            <a:spLocks noChangeArrowheads="1"/>
          </p:cNvSpPr>
          <p:nvPr/>
        </p:nvSpPr>
        <p:spPr bwMode="auto">
          <a:xfrm>
            <a:off x="4727575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5" name="Rectangle 12"/>
          <p:cNvSpPr>
            <a:spLocks noChangeArrowheads="1"/>
          </p:cNvSpPr>
          <p:nvPr/>
        </p:nvSpPr>
        <p:spPr bwMode="auto">
          <a:xfrm>
            <a:off x="7535863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6" name="Text Box 13"/>
          <p:cNvSpPr txBox="1">
            <a:spLocks noChangeArrowheads="1"/>
          </p:cNvSpPr>
          <p:nvPr/>
        </p:nvSpPr>
        <p:spPr bwMode="auto">
          <a:xfrm>
            <a:off x="2424113" y="3860801"/>
            <a:ext cx="1130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A</a:t>
            </a:r>
          </a:p>
        </p:txBody>
      </p:sp>
      <p:sp>
        <p:nvSpPr>
          <p:cNvPr id="45067" name="Text Box 14"/>
          <p:cNvSpPr txBox="1">
            <a:spLocks noChangeArrowheads="1"/>
          </p:cNvSpPr>
          <p:nvPr/>
        </p:nvSpPr>
        <p:spPr bwMode="auto">
          <a:xfrm>
            <a:off x="5375275" y="3860801"/>
            <a:ext cx="111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B</a:t>
            </a:r>
          </a:p>
        </p:txBody>
      </p:sp>
      <p:sp>
        <p:nvSpPr>
          <p:cNvPr id="45068" name="Text Box 15"/>
          <p:cNvSpPr txBox="1">
            <a:spLocks noChangeArrowheads="1"/>
          </p:cNvSpPr>
          <p:nvPr/>
        </p:nvSpPr>
        <p:spPr bwMode="auto">
          <a:xfrm>
            <a:off x="8040688" y="3860800"/>
            <a:ext cx="10795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C</a:t>
            </a:r>
          </a:p>
        </p:txBody>
      </p:sp>
      <p:sp>
        <p:nvSpPr>
          <p:cNvPr id="602128" name="Text Box 16"/>
          <p:cNvSpPr txBox="1">
            <a:spLocks noChangeArrowheads="1"/>
          </p:cNvSpPr>
          <p:nvPr/>
        </p:nvSpPr>
        <p:spPr bwMode="auto">
          <a:xfrm>
            <a:off x="2640013" y="1628775"/>
            <a:ext cx="106074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</a:rPr>
              <a:t>mutex:1</a:t>
            </a:r>
          </a:p>
        </p:txBody>
      </p:sp>
      <p:sp>
        <p:nvSpPr>
          <p:cNvPr id="602129" name="Rectangle 17"/>
          <p:cNvSpPr>
            <a:spLocks noChangeArrowheads="1"/>
          </p:cNvSpPr>
          <p:nvPr/>
        </p:nvSpPr>
        <p:spPr bwMode="auto">
          <a:xfrm>
            <a:off x="1992313" y="4437063"/>
            <a:ext cx="1871662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0" name="Rectangle 18"/>
          <p:cNvSpPr>
            <a:spLocks noChangeArrowheads="1"/>
          </p:cNvSpPr>
          <p:nvPr/>
        </p:nvSpPr>
        <p:spPr bwMode="auto">
          <a:xfrm>
            <a:off x="3495145" y="1700214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02131" name="Rectangle 19"/>
          <p:cNvSpPr>
            <a:spLocks noChangeArrowheads="1"/>
          </p:cNvSpPr>
          <p:nvPr/>
        </p:nvSpPr>
        <p:spPr bwMode="auto">
          <a:xfrm>
            <a:off x="4872039" y="1484314"/>
            <a:ext cx="2808287" cy="2016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zh-TW" sz="2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</a:rPr>
              <a:t>acquire(M) </a:t>
            </a:r>
            <a:r>
              <a:rPr lang="en-US" altLang="zh-TW" sz="2000" b="1" dirty="0" smtClean="0">
                <a:latin typeface="Calibri" panose="020F0502020204030204" pitchFamily="34" charset="0"/>
              </a:rPr>
              <a:t>{</a:t>
            </a:r>
            <a:endParaRPr lang="en-US" altLang="zh-TW" sz="2000" b="1" dirty="0">
              <a:latin typeface="Calibri" panose="020F0502020204030204" pitchFamily="34" charset="0"/>
            </a:endParaRPr>
          </a:p>
          <a:p>
            <a:pPr>
              <a:defRPr/>
            </a:pPr>
            <a:r>
              <a:rPr lang="en-US" altLang="zh-TW" sz="2000" b="1" dirty="0">
                <a:latin typeface="Calibri" panose="020F0502020204030204" pitchFamily="34" charset="0"/>
              </a:rPr>
              <a:t>   while </a:t>
            </a:r>
            <a:r>
              <a:rPr lang="en-US" altLang="zh-TW" sz="2000" b="1" i="1" dirty="0" smtClean="0">
                <a:latin typeface="Calibri" panose="020F0502020204030204" pitchFamily="34" charset="0"/>
              </a:rPr>
              <a:t>M </a:t>
            </a:r>
            <a:r>
              <a:rPr lang="en-US" altLang="zh-TW" sz="2000" b="1" dirty="0" smtClean="0">
                <a:latin typeface="Calibri" panose="020F0502020204030204" pitchFamily="34" charset="0"/>
                <a:sym typeface="Symbol" pitchFamily="18" charset="2"/>
              </a:rPr>
              <a:t>== </a:t>
            </a:r>
            <a:r>
              <a:rPr lang="en-US" altLang="zh-TW" sz="2000" b="1" dirty="0">
                <a:latin typeface="Calibri" panose="020F0502020204030204" pitchFamily="34" charset="0"/>
                <a:sym typeface="Symbol" pitchFamily="18" charset="2"/>
              </a:rPr>
              <a:t>0</a:t>
            </a:r>
          </a:p>
          <a:p>
            <a:pPr>
              <a:defRPr/>
            </a:pPr>
            <a:r>
              <a:rPr lang="en-US" altLang="zh-TW" sz="2000" b="1" dirty="0">
                <a:latin typeface="Calibri" panose="020F0502020204030204" pitchFamily="34" charset="0"/>
                <a:sym typeface="Symbol" pitchFamily="18" charset="2"/>
              </a:rPr>
              <a:t>     ; // no-op</a:t>
            </a:r>
          </a:p>
          <a:p>
            <a:pPr>
              <a:defRPr/>
            </a:pPr>
            <a:r>
              <a:rPr lang="en-US" altLang="zh-TW" sz="2000" b="1" dirty="0">
                <a:latin typeface="Calibri" panose="020F0502020204030204" pitchFamily="34" charset="0"/>
                <a:sym typeface="Symbol" pitchFamily="18" charset="2"/>
              </a:rPr>
              <a:t>   </a:t>
            </a:r>
            <a:r>
              <a:rPr lang="en-US" altLang="zh-TW" sz="2000" b="1" i="1" dirty="0" smtClean="0">
                <a:latin typeface="Calibri" panose="020F0502020204030204" pitchFamily="34" charset="0"/>
              </a:rPr>
              <a:t>M</a:t>
            </a:r>
            <a:r>
              <a:rPr lang="en-US" altLang="zh-TW" sz="2000" b="1" dirty="0" smtClean="0">
                <a:latin typeface="Calibri" panose="020F0502020204030204" pitchFamily="34" charset="0"/>
              </a:rPr>
              <a:t>=0;</a:t>
            </a:r>
            <a:r>
              <a:rPr lang="en-US" altLang="zh-TW" sz="2000" b="1" dirty="0">
                <a:latin typeface="Calibri" panose="020F0502020204030204" pitchFamily="34" charset="0"/>
                <a:sym typeface="Symbol" pitchFamily="18" charset="2"/>
              </a:rPr>
              <a:t/>
            </a:r>
            <a:br>
              <a:rPr lang="en-US" altLang="zh-TW" sz="2000" b="1" dirty="0">
                <a:latin typeface="Calibri" panose="020F0502020204030204" pitchFamily="34" charset="0"/>
                <a:sym typeface="Symbol" pitchFamily="18" charset="2"/>
              </a:rPr>
            </a:br>
            <a:r>
              <a:rPr lang="en-US" altLang="zh-TW" sz="2000" b="1" dirty="0">
                <a:latin typeface="Calibri" panose="020F0502020204030204" pitchFamily="34" charset="0"/>
                <a:sym typeface="Symbol" pitchFamily="18" charset="2"/>
              </a:rPr>
              <a:t>}</a:t>
            </a:r>
          </a:p>
          <a:p>
            <a:pPr>
              <a:defRPr/>
            </a:pPr>
            <a:endParaRPr lang="en-US" altLang="zh-TW" sz="2000" b="1" dirty="0">
              <a:latin typeface="Calibri" panose="020F0502020204030204" pitchFamily="34" charset="0"/>
            </a:endParaRPr>
          </a:p>
        </p:txBody>
      </p:sp>
      <p:sp>
        <p:nvSpPr>
          <p:cNvPr id="602132" name="Rectangle 20"/>
          <p:cNvSpPr>
            <a:spLocks noChangeArrowheads="1"/>
          </p:cNvSpPr>
          <p:nvPr/>
        </p:nvSpPr>
        <p:spPr bwMode="auto">
          <a:xfrm>
            <a:off x="1992313" y="4797426"/>
            <a:ext cx="1871662" cy="360363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3" name="AutoShape 21"/>
          <p:cNvSpPr>
            <a:spLocks noChangeArrowheads="1"/>
          </p:cNvSpPr>
          <p:nvPr/>
        </p:nvSpPr>
        <p:spPr bwMode="auto">
          <a:xfrm>
            <a:off x="3935414" y="3644901"/>
            <a:ext cx="1214437" cy="733425"/>
          </a:xfrm>
          <a:prstGeom prst="curvedDown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4" name="Rectangle 22"/>
          <p:cNvSpPr>
            <a:spLocks noChangeArrowheads="1"/>
          </p:cNvSpPr>
          <p:nvPr/>
        </p:nvSpPr>
        <p:spPr bwMode="auto">
          <a:xfrm>
            <a:off x="4800601" y="4437063"/>
            <a:ext cx="1871663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5" name="Rectangle 23"/>
          <p:cNvSpPr>
            <a:spLocks noChangeArrowheads="1"/>
          </p:cNvSpPr>
          <p:nvPr/>
        </p:nvSpPr>
        <p:spPr bwMode="auto">
          <a:xfrm>
            <a:off x="5075744" y="1918420"/>
            <a:ext cx="2014537" cy="5762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6" name="Text Box 24"/>
          <p:cNvSpPr txBox="1">
            <a:spLocks noChangeArrowheads="1"/>
          </p:cNvSpPr>
          <p:nvPr/>
        </p:nvSpPr>
        <p:spPr bwMode="auto">
          <a:xfrm>
            <a:off x="5735639" y="4149726"/>
            <a:ext cx="1558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solidFill>
                  <a:srgbClr val="FF3300"/>
                </a:solidFill>
                <a:latin typeface="Calibri" panose="020F0502020204030204" pitchFamily="34" charset="0"/>
              </a:rPr>
              <a:t>busy waiting</a:t>
            </a:r>
          </a:p>
        </p:txBody>
      </p:sp>
      <p:sp>
        <p:nvSpPr>
          <p:cNvPr id="602137" name="AutoShape 25"/>
          <p:cNvSpPr>
            <a:spLocks noChangeArrowheads="1"/>
          </p:cNvSpPr>
          <p:nvPr/>
        </p:nvSpPr>
        <p:spPr bwMode="auto">
          <a:xfrm flipV="1">
            <a:off x="6816725" y="5516564"/>
            <a:ext cx="1214438" cy="720725"/>
          </a:xfrm>
          <a:prstGeom prst="curvedDownArrow">
            <a:avLst>
              <a:gd name="adj1" fmla="val 33700"/>
              <a:gd name="adj2" fmla="val 6740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8" name="Rectangle 26"/>
          <p:cNvSpPr>
            <a:spLocks noChangeArrowheads="1"/>
          </p:cNvSpPr>
          <p:nvPr/>
        </p:nvSpPr>
        <p:spPr bwMode="auto">
          <a:xfrm>
            <a:off x="7608888" y="4437063"/>
            <a:ext cx="1871662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9" name="Text Box 27"/>
          <p:cNvSpPr txBox="1">
            <a:spLocks noChangeArrowheads="1"/>
          </p:cNvSpPr>
          <p:nvPr/>
        </p:nvSpPr>
        <p:spPr bwMode="auto">
          <a:xfrm>
            <a:off x="8543926" y="4149726"/>
            <a:ext cx="1558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solidFill>
                  <a:srgbClr val="FF3300"/>
                </a:solidFill>
                <a:latin typeface="Calibri" panose="020F0502020204030204" pitchFamily="34" charset="0"/>
              </a:rPr>
              <a:t>busy waiting</a:t>
            </a:r>
          </a:p>
        </p:txBody>
      </p:sp>
      <p:sp>
        <p:nvSpPr>
          <p:cNvPr id="602140" name="AutoShape 28"/>
          <p:cNvSpPr>
            <a:spLocks noChangeArrowheads="1"/>
          </p:cNvSpPr>
          <p:nvPr/>
        </p:nvSpPr>
        <p:spPr bwMode="auto">
          <a:xfrm flipH="1">
            <a:off x="2711450" y="5734051"/>
            <a:ext cx="6337300" cy="733425"/>
          </a:xfrm>
          <a:prstGeom prst="curvedUpArrow">
            <a:avLst>
              <a:gd name="adj1" fmla="val 172814"/>
              <a:gd name="adj2" fmla="val 34562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41" name="Rectangle 29"/>
          <p:cNvSpPr>
            <a:spLocks noChangeArrowheads="1"/>
          </p:cNvSpPr>
          <p:nvPr/>
        </p:nvSpPr>
        <p:spPr bwMode="auto">
          <a:xfrm>
            <a:off x="1992313" y="5084763"/>
            <a:ext cx="1943100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42" name="Rectangle 30"/>
          <p:cNvSpPr>
            <a:spLocks noChangeArrowheads="1"/>
          </p:cNvSpPr>
          <p:nvPr/>
        </p:nvSpPr>
        <p:spPr bwMode="auto">
          <a:xfrm>
            <a:off x="5374878" y="1772816"/>
            <a:ext cx="1873250" cy="1511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sym typeface="Symbol" pitchFamily="18" charset="2"/>
              </a:rPr>
              <a:t>Release(M) </a:t>
            </a:r>
            <a:r>
              <a:rPr lang="en-US" altLang="zh-TW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  <a:sym typeface="Symbol" pitchFamily="18" charset="2"/>
              </a:rPr>
              <a:t>{</a:t>
            </a:r>
            <a:r>
              <a:rPr lang="en-US" altLang="zh-TW" sz="2000" dirty="0" smtClean="0">
                <a:latin typeface="Calibri" panose="020F0502020204030204" pitchFamily="34" charset="0"/>
                <a:sym typeface="Symbol" pitchFamily="18" charset="2"/>
              </a:rPr>
              <a:t> </a:t>
            </a:r>
            <a:endParaRPr lang="en-US" altLang="zh-TW" sz="2000" dirty="0">
              <a:latin typeface="Calibri" panose="020F0502020204030204" pitchFamily="34" charset="0"/>
              <a:sym typeface="Symbol" pitchFamily="18" charset="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i="1" dirty="0">
                <a:latin typeface="Calibri" panose="020F0502020204030204" pitchFamily="34" charset="0"/>
                <a:sym typeface="Symbol" pitchFamily="18" charset="2"/>
              </a:rPr>
              <a:t>  </a:t>
            </a:r>
            <a:r>
              <a:rPr lang="en-US" altLang="zh-TW" sz="2000" b="1" i="1" dirty="0" smtClean="0">
                <a:latin typeface="Calibri" panose="020F0502020204030204" pitchFamily="34" charset="0"/>
                <a:sym typeface="Symbol" pitchFamily="18" charset="2"/>
              </a:rPr>
              <a:t>M = 1;</a:t>
            </a:r>
            <a:endParaRPr lang="en-US" altLang="zh-TW" sz="2000" b="1" dirty="0">
              <a:latin typeface="Calibri" panose="020F0502020204030204" pitchFamily="34" charset="0"/>
              <a:sym typeface="Symbol" pitchFamily="18" charset="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dirty="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602143" name="Rectangle 31"/>
          <p:cNvSpPr>
            <a:spLocks noChangeArrowheads="1"/>
          </p:cNvSpPr>
          <p:nvPr/>
        </p:nvSpPr>
        <p:spPr bwMode="auto">
          <a:xfrm>
            <a:off x="4800601" y="4724400"/>
            <a:ext cx="1871663" cy="4333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71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0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0" fill="hold"/>
                                        <p:tgtEl>
                                          <p:spTgt spid="602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" dur="500"/>
                                        <p:tgtEl>
                                          <p:spTgt spid="602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8" dur="500"/>
                                        <p:tgtEl>
                                          <p:spTgt spid="602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2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0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602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602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0" dur="500"/>
                                        <p:tgtEl>
                                          <p:spTgt spid="602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9" dur="500"/>
                                        <p:tgtEl>
                                          <p:spTgt spid="602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4" dur="500"/>
                                        <p:tgtEl>
                                          <p:spTgt spid="60213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xit" presetSubtype="16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9" dur="500"/>
                                        <p:tgtEl>
                                          <p:spTgt spid="602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500"/>
                                        <p:tgtEl>
                                          <p:spTgt spid="60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9" dur="500"/>
                                        <p:tgtEl>
                                          <p:spTgt spid="60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4" dur="500"/>
                                        <p:tgtEl>
                                          <p:spTgt spid="60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0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4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9" dur="500"/>
                                        <p:tgtEl>
                                          <p:spTgt spid="602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1" dur="500"/>
                                        <p:tgtEl>
                                          <p:spTgt spid="60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75" dur="500"/>
                                        <p:tgtEl>
                                          <p:spTgt spid="602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1" dur="500"/>
                                        <p:tgtEl>
                                          <p:spTgt spid="60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28" grpId="0"/>
      <p:bldP spid="602129" grpId="0" animBg="1"/>
      <p:bldP spid="602129" grpId="1" animBg="1"/>
      <p:bldP spid="602130" grpId="0" animBg="1"/>
      <p:bldP spid="602130" grpId="1" animBg="1"/>
      <p:bldP spid="602130" grpId="2" animBg="1"/>
      <p:bldP spid="602131" grpId="0" animBg="1"/>
      <p:bldP spid="602131" grpId="1" animBg="1"/>
      <p:bldP spid="602131" grpId="2" animBg="1"/>
      <p:bldP spid="602131" grpId="3"/>
      <p:bldP spid="602131" grpId="4" animBg="1"/>
      <p:bldP spid="602132" grpId="0" animBg="1"/>
      <p:bldP spid="602132" grpId="1" animBg="1"/>
      <p:bldP spid="602133" grpId="0" animBg="1"/>
      <p:bldP spid="602133" grpId="1" animBg="1"/>
      <p:bldP spid="602133" grpId="2" animBg="1"/>
      <p:bldP spid="602133" grpId="3" animBg="1"/>
      <p:bldP spid="602134" grpId="0" animBg="1"/>
      <p:bldP spid="602134" grpId="1" animBg="1"/>
      <p:bldP spid="602135" grpId="0" animBg="1"/>
      <p:bldP spid="602135" grpId="1" animBg="1"/>
      <p:bldP spid="602135" grpId="2" animBg="1"/>
      <p:bldP spid="602136" grpId="0"/>
      <p:bldP spid="602136" grpId="1"/>
      <p:bldP spid="602137" grpId="0" animBg="1"/>
      <p:bldP spid="602137" grpId="1" animBg="1"/>
      <p:bldP spid="602138" grpId="0" animBg="1"/>
      <p:bldP spid="602139" grpId="0"/>
      <p:bldP spid="602140" grpId="0" animBg="1"/>
      <p:bldP spid="602140" grpId="1" animBg="1"/>
      <p:bldP spid="602141" grpId="0" animBg="1"/>
      <p:bldP spid="602141" grpId="1" animBg="1"/>
      <p:bldP spid="602142" grpId="0" animBg="1"/>
      <p:bldP spid="602142" grpId="1" animBg="1"/>
      <p:bldP spid="602143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我們可以宣告一個</a:t>
            </a:r>
            <a:r>
              <a:rPr lang="en-US" altLang="zh-TW" dirty="0" smtClean="0"/>
              <a:t>mutex lock, </a:t>
            </a:r>
            <a:r>
              <a:rPr lang="zh-TW" altLang="en-US" dirty="0" smtClean="0"/>
              <a:t>然後自己存取他嗎</a:t>
            </a:r>
            <a:r>
              <a:rPr lang="en-US" altLang="zh-TW" dirty="0" smtClean="0"/>
              <a:t>? 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: mutex++; mutex--?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743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 smtClean="0"/>
              <a:t>Q: </a:t>
            </a:r>
            <a:r>
              <a:rPr lang="en-US" altLang="zh-TW" sz="3200" dirty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t>since </a:t>
            </a:r>
            <a:r>
              <a:rPr lang="en-US" altLang="zh-TW" sz="3200" i="1" dirty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t>mutex</a:t>
            </a:r>
            <a:r>
              <a:rPr lang="en-US" altLang="zh-TW" sz="3200" dirty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t> is a shared variable, acquire() and release() must be </a:t>
            </a:r>
            <a:r>
              <a:rPr lang="en-US" altLang="zh-TW" sz="3200" dirty="0">
                <a:solidFill>
                  <a:srgbClr val="FF0000"/>
                </a:solidFill>
                <a:latin typeface="Arial" pitchFamily="34" charset="0"/>
                <a:ea typeface="新細明體" pitchFamily="18" charset="-120"/>
              </a:rPr>
              <a:t>atomically</a:t>
            </a:r>
            <a:r>
              <a:rPr lang="en-US" altLang="zh-TW" sz="3200" dirty="0" smtClean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t>. </a:t>
            </a:r>
            <a:br>
              <a:rPr lang="en-US" altLang="zh-TW" sz="3200" dirty="0" smtClean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</a:br>
            <a:r>
              <a:rPr lang="zh-TW" altLang="en-US" sz="3200" dirty="0" smtClean="0"/>
              <a:t>那</a:t>
            </a:r>
            <a:r>
              <a:rPr lang="en-US" altLang="zh-TW" sz="3200" dirty="0" smtClean="0"/>
              <a:t>OS</a:t>
            </a:r>
            <a:r>
              <a:rPr lang="zh-TW" altLang="en-US" sz="3200" dirty="0" smtClean="0"/>
              <a:t>如何確保</a:t>
            </a:r>
            <a:r>
              <a:rPr lang="en-US" altLang="zh-TW" sz="3200" dirty="0" smtClean="0"/>
              <a:t>acquire()</a:t>
            </a:r>
            <a:r>
              <a:rPr lang="zh-TW" altLang="en-US" sz="3200" dirty="0" smtClean="0"/>
              <a:t>和</a:t>
            </a:r>
            <a:r>
              <a:rPr lang="en-US" altLang="zh-TW" sz="3200" dirty="0" smtClean="0"/>
              <a:t>release()</a:t>
            </a:r>
            <a:r>
              <a:rPr lang="zh-TW" altLang="en-US" sz="3200" dirty="0" smtClean="0"/>
              <a:t>是</a:t>
            </a:r>
            <a:r>
              <a:rPr lang="en-US" altLang="zh-TW" sz="3200" dirty="0" smtClean="0">
                <a:solidFill>
                  <a:srgbClr val="FF0000"/>
                </a:solidFill>
              </a:rPr>
              <a:t>atomic </a:t>
            </a:r>
            <a:r>
              <a:rPr lang="en-US" altLang="zh-TW" sz="3200" dirty="0" smtClean="0"/>
              <a:t>system calls?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j-cs"/>
              </a:rPr>
              <a:t>Hint</a:t>
            </a:r>
            <a:r>
              <a:rPr lang="en-US" altLang="zh-TW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j-cs"/>
              </a:rPr>
              <a:t>: </a:t>
            </a:r>
            <a:r>
              <a:rPr lang="zh-TW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j-cs"/>
              </a:rPr>
              <a:t>利用</a:t>
            </a:r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j-cs"/>
              </a:rPr>
              <a:t>硬體</a:t>
            </a:r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j-cs"/>
            </a:endParaRPr>
          </a:p>
          <a:p>
            <a:r>
              <a:rPr lang="en-US" altLang="zh-TW" dirty="0" err="1" smtClean="0">
                <a:solidFill>
                  <a:srgbClr val="000000"/>
                </a:solidFill>
                <a:ea typeface="新細明體" pitchFamily="18" charset="-120"/>
              </a:rPr>
              <a:t>Ans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: OS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uses </a:t>
            </a:r>
            <a:r>
              <a:rPr lang="en-US" altLang="zh-TW" b="1" dirty="0">
                <a:solidFill>
                  <a:srgbClr val="000000"/>
                </a:solidFill>
                <a:ea typeface="新細明體" pitchFamily="18" charset="-120"/>
              </a:rPr>
              <a:t>test-and-set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or </a:t>
            </a:r>
            <a:r>
              <a:rPr lang="en-US" altLang="zh-TW" b="1" dirty="0">
                <a:solidFill>
                  <a:srgbClr val="000000"/>
                </a:solidFill>
                <a:ea typeface="新細明體" pitchFamily="18" charset="-120"/>
              </a:rPr>
              <a:t>compare-and-swap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to implement above two functions</a:t>
            </a:r>
            <a:endParaRPr lang="zh-TW" altLang="en-US" dirty="0"/>
          </a:p>
          <a:p>
            <a:endParaRPr lang="zh-TW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069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簡化版的</a:t>
            </a:r>
            <a:r>
              <a:rPr lang="en-US" altLang="zh-TW" dirty="0" smtClean="0"/>
              <a:t>acquire (Skip!)</a:t>
            </a:r>
            <a:endParaRPr lang="zh-TW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1739524"/>
            <a:ext cx="937483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acquire: 嘗試用 CAS 把 locked 從 0 改成 1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 acquire(spinlock_t *lk) {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(1) {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	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 expected = 0;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atomic_compare_and_swap: 原子操作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	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(__sync_bool_</a:t>
            </a:r>
            <a:r>
              <a:rPr kumimoji="0" lang="zh-TW" altLang="zh-TW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compare_and_swap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(&amp;lk-&gt;locked, expected, 1)) {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        		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__asm__ __volatile__("" ::: "memory"); // memory barrier (acquire)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         	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return; // 成功拿到鎖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	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如果失敗，就一直忙等（自旋）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 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(lk-&gt;locked) {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         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在這裡 spin，等鎖可能釋放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  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155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736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簡化版的</a:t>
            </a:r>
            <a:r>
              <a:rPr lang="en-US" altLang="zh-TW" dirty="0" smtClean="0"/>
              <a:t>release (Skip!)</a:t>
            </a:r>
            <a:endParaRPr lang="zh-TW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1608" y="2708920"/>
            <a:ext cx="113910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// release: </a:t>
            </a:r>
            <a:r>
              <a:rPr kumimoji="0" lang="zh-TW" altLang="en-US" sz="2400" dirty="0">
                <a:solidFill>
                  <a:srgbClr val="222222"/>
                </a:solidFill>
                <a:cs typeface="Arial" panose="020B0604020202020204" pitchFamily="34" charset="0"/>
              </a:rPr>
              <a:t>把 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locked </a:t>
            </a:r>
            <a:r>
              <a:rPr kumimoji="0" lang="zh-TW" altLang="en-US" sz="2400" dirty="0">
                <a:solidFill>
                  <a:srgbClr val="222222"/>
                </a:solidFill>
                <a:cs typeface="Arial" panose="020B0604020202020204" pitchFamily="34" charset="0"/>
              </a:rPr>
              <a:t>設回 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0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void release(</a:t>
            </a:r>
            <a:r>
              <a:rPr kumimoji="0" lang="en-US" altLang="zh-TW" sz="2400" dirty="0" err="1">
                <a:solidFill>
                  <a:srgbClr val="222222"/>
                </a:solidFill>
                <a:cs typeface="Arial" panose="020B0604020202020204" pitchFamily="34" charset="0"/>
              </a:rPr>
              <a:t>spinlock_t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 *</a:t>
            </a:r>
            <a:r>
              <a:rPr kumimoji="0" lang="en-US" altLang="zh-TW" sz="2400" dirty="0" err="1">
                <a:solidFill>
                  <a:srgbClr val="222222"/>
                </a:solidFill>
                <a:cs typeface="Arial" panose="020B0604020202020204" pitchFamily="34" charset="0"/>
              </a:rPr>
              <a:t>lk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) {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en-US" altLang="zh-TW" sz="2400" dirty="0" smtClean="0">
                <a:solidFill>
                  <a:srgbClr val="222222"/>
                </a:solidFill>
                <a:cs typeface="Arial" panose="020B0604020202020204" pitchFamily="34" charset="0"/>
              </a:rPr>
              <a:t>	__</a:t>
            </a:r>
            <a:r>
              <a:rPr kumimoji="0" lang="en-US" altLang="zh-TW" sz="2400" dirty="0" err="1">
                <a:solidFill>
                  <a:srgbClr val="222222"/>
                </a:solidFill>
                <a:cs typeface="Arial" panose="020B0604020202020204" pitchFamily="34" charset="0"/>
              </a:rPr>
              <a:t>asm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__ __volatile__("" ::: "memory"); // memory </a:t>
            </a:r>
            <a:r>
              <a:rPr kumimoji="0" lang="en-US" altLang="zh-TW" sz="2400" dirty="0" smtClean="0">
                <a:solidFill>
                  <a:srgbClr val="222222"/>
                </a:solidFill>
                <a:cs typeface="Arial" panose="020B0604020202020204" pitchFamily="34" charset="0"/>
              </a:rPr>
              <a:t>barrier (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release)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en-US" altLang="zh-TW" sz="2400" dirty="0" smtClean="0">
                <a:solidFill>
                  <a:srgbClr val="222222"/>
                </a:solidFill>
                <a:cs typeface="Arial" panose="020B0604020202020204" pitchFamily="34" charset="0"/>
              </a:rPr>
              <a:t>	</a:t>
            </a:r>
            <a:r>
              <a:rPr kumimoji="0" lang="en-US" altLang="zh-TW" sz="2400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lk</a:t>
            </a:r>
            <a:r>
              <a:rPr kumimoji="0" lang="en-US" altLang="zh-TW" sz="2400" dirty="0" smtClean="0">
                <a:solidFill>
                  <a:srgbClr val="222222"/>
                </a:solidFill>
                <a:cs typeface="Arial" panose="020B0604020202020204" pitchFamily="34" charset="0"/>
              </a:rPr>
              <a:t>-</a:t>
            </a: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&gt;locked = 0;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}</a:t>
            </a:r>
            <a:endParaRPr kumimoji="0" lang="zh-TW" altLang="zh-TW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960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然而</a:t>
            </a:r>
            <a:r>
              <a:rPr lang="en-US" altLang="zh-TW" dirty="0" smtClean="0"/>
              <a:t>, </a:t>
            </a:r>
            <a:r>
              <a:rPr lang="zh-TW" altLang="en-US" dirty="0" smtClean="0"/>
              <a:t>前述的</a:t>
            </a:r>
            <a:r>
              <a:rPr lang="en-US" altLang="zh-TW" dirty="0" smtClean="0"/>
              <a:t>mutex</a:t>
            </a:r>
            <a:r>
              <a:rPr lang="zh-TW" altLang="en-US" dirty="0" smtClean="0"/>
              <a:t>定義有一個問題</a:t>
            </a:r>
            <a:r>
              <a:rPr lang="en-US" altLang="zh-TW" dirty="0" smtClean="0"/>
              <a:t>, </a:t>
            </a:r>
            <a:r>
              <a:rPr lang="zh-TW" altLang="en-US" dirty="0" smtClean="0"/>
              <a:t>什麼問題呢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err="1" smtClean="0">
                <a:solidFill>
                  <a:srgbClr val="FF0000"/>
                </a:solidFill>
              </a:rPr>
              <a:t>Ans</a:t>
            </a:r>
            <a:r>
              <a:rPr lang="en-US" altLang="zh-TW" b="1" dirty="0" smtClean="0">
                <a:solidFill>
                  <a:srgbClr val="FF0000"/>
                </a:solidFill>
              </a:rPr>
              <a:t>: busy waiting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68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那怎麼辦呢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44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/>
              <a:t>Mutex </a:t>
            </a:r>
            <a:r>
              <a:rPr lang="en-US" altLang="zh-TW" sz="4000" dirty="0"/>
              <a:t>Implementation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zh-TW" dirty="0" smtClean="0"/>
              <a:t>But, above mutex needs </a:t>
            </a:r>
            <a:r>
              <a:rPr lang="en-US" altLang="zh-TW" b="1" dirty="0" smtClean="0"/>
              <a:t>busy waiting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To avoid busy waiting: </a:t>
            </a:r>
          </a:p>
          <a:p>
            <a:pPr lvl="1" eaLnBrk="1" hangingPunct="1"/>
            <a:r>
              <a:rPr lang="en-US" altLang="zh-TW" dirty="0" smtClean="0"/>
              <a:t>Put the process to wait, i.e., put in a </a:t>
            </a:r>
            <a:r>
              <a:rPr lang="en-US" altLang="zh-TW" b="1" dirty="0" smtClean="0">
                <a:solidFill>
                  <a:srgbClr val="FF0000"/>
                </a:solidFill>
              </a:rPr>
              <a:t>waiting queue 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Each mutex is associated with a </a:t>
            </a:r>
            <a:r>
              <a:rPr lang="en-US" altLang="zh-TW" b="1" dirty="0" smtClean="0">
                <a:solidFill>
                  <a:srgbClr val="FF3300"/>
                </a:solidFill>
              </a:rPr>
              <a:t>waiting queue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 smtClean="0">
                <a:solidFill>
                  <a:srgbClr val="0000FF"/>
                </a:solidFill>
              </a:rPr>
              <a:t>Re-define</a:t>
            </a:r>
            <a:r>
              <a:rPr lang="en-US" altLang="zh-TW" dirty="0" smtClean="0"/>
              <a:t> a mutex as a record		</a:t>
            </a:r>
          </a:p>
          <a:p>
            <a:pPr eaLnBrk="1" hangingPunct="1">
              <a:buFontTx/>
              <a:buNone/>
            </a:pPr>
            <a:r>
              <a:rPr lang="en-US" altLang="zh-TW" b="1" dirty="0" smtClean="0"/>
              <a:t>				</a:t>
            </a:r>
            <a:r>
              <a:rPr lang="en-US" altLang="zh-TW" b="1" dirty="0" err="1" smtClean="0"/>
              <a:t>typedef</a:t>
            </a:r>
            <a:r>
              <a:rPr lang="en-US" altLang="zh-TW" b="1" dirty="0" smtClean="0"/>
              <a:t> </a:t>
            </a:r>
            <a:r>
              <a:rPr lang="en-US" altLang="zh-TW" b="1" dirty="0" err="1" smtClean="0"/>
              <a:t>struct</a:t>
            </a:r>
            <a:r>
              <a:rPr lang="en-US" altLang="zh-TW" b="1" dirty="0" smtClean="0"/>
              <a:t> {</a:t>
            </a:r>
          </a:p>
          <a:p>
            <a:pPr eaLnBrk="1" hangingPunct="1">
              <a:buFontTx/>
              <a:buNone/>
            </a:pPr>
            <a:r>
              <a:rPr lang="en-US" altLang="zh-TW" b="1" dirty="0" smtClean="0"/>
              <a:t>		   			</a:t>
            </a:r>
            <a:r>
              <a:rPr lang="en-US" altLang="zh-TW" b="1" dirty="0" err="1" smtClean="0"/>
              <a:t>int</a:t>
            </a:r>
            <a:r>
              <a:rPr lang="en-US" altLang="zh-TW" b="1" dirty="0" smtClean="0"/>
              <a:t> value;</a:t>
            </a:r>
            <a:br>
              <a:rPr lang="en-US" altLang="zh-TW" b="1" dirty="0" smtClean="0"/>
            </a:br>
            <a:r>
              <a:rPr lang="en-US" altLang="zh-TW" b="1" dirty="0" smtClean="0"/>
              <a:t>	  			</a:t>
            </a:r>
            <a:r>
              <a:rPr lang="en-US" altLang="zh-TW" b="1" dirty="0" err="1" smtClean="0">
                <a:solidFill>
                  <a:srgbClr val="FF3300"/>
                </a:solidFill>
              </a:rPr>
              <a:t>struct</a:t>
            </a:r>
            <a:r>
              <a:rPr lang="en-US" altLang="zh-TW" b="1" dirty="0" smtClean="0">
                <a:solidFill>
                  <a:srgbClr val="FF3300"/>
                </a:solidFill>
              </a:rPr>
              <a:t> PCB *L;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>			} mutex;</a:t>
            </a:r>
            <a:endParaRPr lang="en-US" altLang="zh-TW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159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649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4000" dirty="0" smtClean="0"/>
              <a:t>複習：</a:t>
            </a:r>
            <a:r>
              <a:rPr lang="en-US" altLang="zh-TW" sz="4000" dirty="0" smtClean="0"/>
              <a:t>Various Wait </a:t>
            </a:r>
            <a:r>
              <a:rPr lang="en-US" altLang="zh-TW" sz="4000" dirty="0"/>
              <a:t>Queues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 l="7364" t="517" r="7364" b="1550"/>
          <a:stretch>
            <a:fillRect/>
          </a:stretch>
        </p:blipFill>
        <p:spPr bwMode="auto">
          <a:xfrm>
            <a:off x="2207568" y="1916833"/>
            <a:ext cx="7992888" cy="4471719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3199857" y="1268761"/>
            <a:ext cx="6008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0000FF"/>
                </a:solidFill>
                <a:latin typeface="Calibri" panose="020F0502020204030204" pitchFamily="34" charset="0"/>
              </a:rPr>
              <a:t>There may be a set of wait queues</a:t>
            </a:r>
            <a:endParaRPr lang="zh-TW" altLang="en-US" sz="32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159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Mutex Locks</a:t>
            </a:r>
            <a:endParaRPr lang="zh-TW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927648" y="1268760"/>
            <a:ext cx="676875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acquire() 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{</a:t>
            </a:r>
            <a:b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altLang="zh-TW" sz="2400" b="1" kern="0" dirty="0" err="1" smtClean="0">
                <a:latin typeface="Courier New" pitchFamily="49" charset="0"/>
                <a:ea typeface="+mn-ea"/>
                <a:cs typeface="Courier New" pitchFamily="49" charset="0"/>
              </a:rPr>
              <a:t>mutex.value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--;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 if ( </a:t>
            </a:r>
            <a:r>
              <a:rPr lang="en-US" altLang="zh-TW" sz="2400" b="1" kern="0" dirty="0" err="1" smtClean="0">
                <a:latin typeface="Courier New" pitchFamily="49" charset="0"/>
                <a:ea typeface="+mn-ea"/>
                <a:cs typeface="Courier New" pitchFamily="49" charset="0"/>
              </a:rPr>
              <a:t>mutex.value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&lt; 0 ) </a:t>
            </a:r>
            <a:endParaRPr lang="en-US" altLang="zh-TW" sz="24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   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add this process to </a:t>
            </a:r>
            <a:r>
              <a:rPr lang="en-US" altLang="zh-TW" sz="2400" b="1" kern="0" dirty="0" err="1" smtClean="0">
                <a:latin typeface="Courier New" pitchFamily="49" charset="0"/>
                <a:ea typeface="+mn-ea"/>
                <a:cs typeface="Courier New" pitchFamily="49" charset="0"/>
              </a:rPr>
              <a:t>mutex.L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;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block;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} </a:t>
            </a:r>
          </a:p>
          <a:p>
            <a:pPr eaLnBrk="0" hangingPunct="0">
              <a:spcBef>
                <a:spcPts val="0"/>
              </a:spcBef>
              <a:defRPr/>
            </a:pPr>
            <a:endParaRPr lang="en-US" altLang="zh-TW" sz="2400" b="1" kern="0" dirty="0" smtClean="0"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release() 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{ </a:t>
            </a:r>
          </a:p>
          <a:p>
            <a:pPr lvl="0" eaLnBrk="0" hangingPunct="0">
              <a:spcBef>
                <a:spcPts val="0"/>
              </a:spcBef>
            </a:pP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altLang="zh-TW" sz="2400" b="1" kern="0" dirty="0" err="1" smtClean="0">
                <a:latin typeface="Courier New" pitchFamily="49" charset="0"/>
                <a:cs typeface="Courier New" pitchFamily="49" charset="0"/>
              </a:rPr>
              <a:t>mutex.value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if ( </a:t>
            </a:r>
            <a:r>
              <a:rPr lang="en-US" altLang="zh-TW" sz="2400" b="1" kern="0" dirty="0" err="1">
                <a:latin typeface="Courier New" pitchFamily="49" charset="0"/>
                <a:cs typeface="Courier New" pitchFamily="49" charset="0"/>
              </a:rPr>
              <a:t>mutex.value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&lt;= 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0 )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remove a 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process 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altLang="zh-TW" sz="2400" b="1" kern="0" dirty="0" err="1">
                <a:latin typeface="Courier New" pitchFamily="49" charset="0"/>
                <a:cs typeface="Courier New" pitchFamily="49" charset="0"/>
              </a:rPr>
              <a:t>mutex.L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TW" sz="2400" b="1" kern="0" dirty="0" err="1" smtClean="0">
                <a:latin typeface="Courier New" pitchFamily="49" charset="0"/>
                <a:cs typeface="Courier New" pitchFamily="49" charset="0"/>
              </a:rPr>
              <a:t>waitup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(P);</a:t>
            </a:r>
            <a:endParaRPr lang="en-US" altLang="zh-TW" sz="24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} 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8681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Mutex Locks</a:t>
            </a:r>
            <a:endParaRPr lang="zh-TW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927648" y="1268760"/>
            <a:ext cx="676875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acquire() </a:t>
            </a: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{</a:t>
            </a:r>
            <a:b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altLang="zh-TW" sz="2400" b="1" kern="0" dirty="0" err="1" smtClean="0">
                <a:latin typeface="Courier New" pitchFamily="49" charset="0"/>
                <a:ea typeface="+mn-ea"/>
                <a:cs typeface="Courier New" pitchFamily="49" charset="0"/>
              </a:rPr>
              <a:t>mutex.value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--;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 if ( </a:t>
            </a:r>
            <a:r>
              <a:rPr lang="en-US" altLang="zh-TW" sz="2400" b="1" kern="0" dirty="0" err="1" smtClean="0">
                <a:latin typeface="Courier New" pitchFamily="49" charset="0"/>
                <a:ea typeface="+mn-ea"/>
                <a:cs typeface="Courier New" pitchFamily="49" charset="0"/>
              </a:rPr>
              <a:t>mutex.value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&lt; 0 ) </a:t>
            </a:r>
            <a:endParaRPr lang="en-US" altLang="zh-TW" sz="24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      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add this process to </a:t>
            </a:r>
            <a:r>
              <a:rPr lang="en-US" altLang="zh-TW" sz="2400" b="1" kern="0" dirty="0" err="1" smtClean="0">
                <a:latin typeface="Courier New" pitchFamily="49" charset="0"/>
                <a:ea typeface="+mn-ea"/>
                <a:cs typeface="Courier New" pitchFamily="49" charset="0"/>
              </a:rPr>
              <a:t>mutex.L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;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block;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} </a:t>
            </a:r>
          </a:p>
          <a:p>
            <a:pPr eaLnBrk="0" hangingPunct="0">
              <a:spcBef>
                <a:spcPts val="0"/>
              </a:spcBef>
              <a:defRPr/>
            </a:pPr>
            <a:endParaRPr lang="en-US" altLang="zh-TW" sz="2400" b="1" kern="0" dirty="0" smtClean="0"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release() </a:t>
            </a: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{ </a:t>
            </a:r>
          </a:p>
          <a:p>
            <a:pPr lvl="0" eaLnBrk="0" hangingPunct="0">
              <a:spcBef>
                <a:spcPts val="0"/>
              </a:spcBef>
            </a:pPr>
            <a:r>
              <a:rPr lang="en-US" altLang="zh-TW" sz="2400" b="1" kern="0" dirty="0" smtClean="0"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altLang="zh-TW" sz="2400" b="1" kern="0" dirty="0" err="1" smtClean="0">
                <a:latin typeface="Courier New" pitchFamily="49" charset="0"/>
                <a:cs typeface="Courier New" pitchFamily="49" charset="0"/>
              </a:rPr>
              <a:t>mutex.value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if ( </a:t>
            </a:r>
            <a:r>
              <a:rPr lang="en-US" altLang="zh-TW" sz="2400" b="1" kern="0" dirty="0" err="1">
                <a:latin typeface="Courier New" pitchFamily="49" charset="0"/>
                <a:cs typeface="Courier New" pitchFamily="49" charset="0"/>
              </a:rPr>
              <a:t>mutex.value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&lt;= 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0 )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remove a 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process 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altLang="zh-TW" sz="2400" b="1" kern="0" dirty="0" err="1">
                <a:latin typeface="Courier New" pitchFamily="49" charset="0"/>
                <a:cs typeface="Courier New" pitchFamily="49" charset="0"/>
              </a:rPr>
              <a:t>mutex.L</a:t>
            </a: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TW" sz="2400" b="1" kern="0" dirty="0" err="1" smtClean="0">
                <a:latin typeface="Courier New" pitchFamily="49" charset="0"/>
                <a:cs typeface="Courier New" pitchFamily="49" charset="0"/>
              </a:rPr>
              <a:t>waitup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(P);</a:t>
            </a:r>
            <a:endParaRPr lang="en-US" altLang="zh-TW" sz="24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  <a:defRPr/>
            </a:pPr>
            <a:r>
              <a:rPr lang="en-US" altLang="zh-TW" sz="2400" b="1" kern="0" dirty="0">
                <a:latin typeface="Courier New" pitchFamily="49" charset="0"/>
                <a:ea typeface="+mn-ea"/>
                <a:cs typeface="Courier New" pitchFamily="49" charset="0"/>
              </a:rPr>
              <a:t>} 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713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 dirty="0"/>
              <a:t>Mutual-Exclusion Implementation with the New </a:t>
            </a:r>
            <a:r>
              <a:rPr lang="en-US" altLang="zh-TW" sz="3200" dirty="0" smtClean="0"/>
              <a:t>Mutex</a:t>
            </a:r>
            <a:endParaRPr lang="en-US" altLang="zh-TW" sz="3200" dirty="0"/>
          </a:p>
        </p:txBody>
      </p:sp>
      <p:sp>
        <p:nvSpPr>
          <p:cNvPr id="45059" name="Text Box 5"/>
          <p:cNvSpPr txBox="1">
            <a:spLocks noChangeArrowheads="1"/>
          </p:cNvSpPr>
          <p:nvPr/>
        </p:nvSpPr>
        <p:spPr bwMode="auto">
          <a:xfrm>
            <a:off x="2351089" y="3357563"/>
            <a:ext cx="28082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1919289" y="4437064"/>
            <a:ext cx="193950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itchFamily="34" charset="0"/>
              </a:rPr>
              <a:t>acquire(mutex</a:t>
            </a:r>
            <a:r>
              <a:rPr lang="en-US" altLang="zh-TW" sz="2000" b="1" dirty="0">
                <a:latin typeface="Calibri" pitchFamily="34" charset="0"/>
              </a:rPr>
              <a:t>);</a:t>
            </a:r>
          </a:p>
          <a:p>
            <a:r>
              <a:rPr lang="en-US" altLang="zh-TW" sz="2000" b="1" dirty="0">
                <a:latin typeface="Calibri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itchFamily="34" charset="0"/>
              </a:rPr>
              <a:t>release(mutex</a:t>
            </a:r>
            <a:r>
              <a:rPr lang="en-US" altLang="zh-TW" sz="2000" b="1" dirty="0">
                <a:latin typeface="Calibri" pitchFamily="34" charset="0"/>
              </a:rPr>
              <a:t>);</a:t>
            </a:r>
          </a:p>
        </p:txBody>
      </p:sp>
      <p:sp>
        <p:nvSpPr>
          <p:cNvPr id="45061" name="Text Box 8"/>
          <p:cNvSpPr txBox="1">
            <a:spLocks noChangeArrowheads="1"/>
          </p:cNvSpPr>
          <p:nvPr/>
        </p:nvSpPr>
        <p:spPr bwMode="auto">
          <a:xfrm>
            <a:off x="4727576" y="4437064"/>
            <a:ext cx="193950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itchFamily="34" charset="0"/>
              </a:rPr>
              <a:t>acquire(mutex</a:t>
            </a:r>
            <a:r>
              <a:rPr lang="en-US" altLang="zh-TW" sz="2000" b="1" dirty="0">
                <a:latin typeface="Calibri" pitchFamily="34" charset="0"/>
              </a:rPr>
              <a:t>);</a:t>
            </a:r>
          </a:p>
          <a:p>
            <a:r>
              <a:rPr lang="en-US" altLang="zh-TW" sz="2000" b="1" dirty="0">
                <a:latin typeface="Calibri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itchFamily="34" charset="0"/>
              </a:rPr>
              <a:t>release(mutex</a:t>
            </a:r>
            <a:r>
              <a:rPr lang="en-US" altLang="zh-TW" sz="2000" b="1" dirty="0">
                <a:latin typeface="Calibri" pitchFamily="34" charset="0"/>
              </a:rPr>
              <a:t>);</a:t>
            </a:r>
          </a:p>
        </p:txBody>
      </p:sp>
      <p:sp>
        <p:nvSpPr>
          <p:cNvPr id="45062" name="Text Box 9"/>
          <p:cNvSpPr txBox="1">
            <a:spLocks noChangeArrowheads="1"/>
          </p:cNvSpPr>
          <p:nvPr/>
        </p:nvSpPr>
        <p:spPr bwMode="auto">
          <a:xfrm>
            <a:off x="7535864" y="4438651"/>
            <a:ext cx="19186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itchFamily="34" charset="0"/>
              </a:rPr>
              <a:t>acquire(mutex</a:t>
            </a:r>
            <a:r>
              <a:rPr lang="en-US" altLang="zh-TW" sz="2000" b="1" dirty="0">
                <a:latin typeface="Calibri" pitchFamily="34" charset="0"/>
              </a:rPr>
              <a:t>);</a:t>
            </a:r>
          </a:p>
          <a:p>
            <a:r>
              <a:rPr lang="en-US" altLang="zh-TW" sz="2000" b="1" dirty="0">
                <a:latin typeface="Calibri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itchFamily="34" charset="0"/>
              </a:rPr>
              <a:t>release (mutex</a:t>
            </a:r>
            <a:r>
              <a:rPr lang="en-US" altLang="zh-TW" sz="2000" b="1" dirty="0">
                <a:latin typeface="Calibri" pitchFamily="34" charset="0"/>
              </a:rPr>
              <a:t>);</a:t>
            </a:r>
          </a:p>
        </p:txBody>
      </p:sp>
      <p:sp>
        <p:nvSpPr>
          <p:cNvPr id="45063" name="Rectangle 10"/>
          <p:cNvSpPr>
            <a:spLocks noChangeArrowheads="1"/>
          </p:cNvSpPr>
          <p:nvPr/>
        </p:nvSpPr>
        <p:spPr bwMode="auto">
          <a:xfrm>
            <a:off x="1919288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4" name="Rectangle 11"/>
          <p:cNvSpPr>
            <a:spLocks noChangeArrowheads="1"/>
          </p:cNvSpPr>
          <p:nvPr/>
        </p:nvSpPr>
        <p:spPr bwMode="auto">
          <a:xfrm>
            <a:off x="4727575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5" name="Rectangle 12"/>
          <p:cNvSpPr>
            <a:spLocks noChangeArrowheads="1"/>
          </p:cNvSpPr>
          <p:nvPr/>
        </p:nvSpPr>
        <p:spPr bwMode="auto">
          <a:xfrm>
            <a:off x="7535863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6" name="Text Box 13"/>
          <p:cNvSpPr txBox="1">
            <a:spLocks noChangeArrowheads="1"/>
          </p:cNvSpPr>
          <p:nvPr/>
        </p:nvSpPr>
        <p:spPr bwMode="auto">
          <a:xfrm>
            <a:off x="2424113" y="3860801"/>
            <a:ext cx="1130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A</a:t>
            </a:r>
          </a:p>
        </p:txBody>
      </p:sp>
      <p:sp>
        <p:nvSpPr>
          <p:cNvPr id="45067" name="Text Box 14"/>
          <p:cNvSpPr txBox="1">
            <a:spLocks noChangeArrowheads="1"/>
          </p:cNvSpPr>
          <p:nvPr/>
        </p:nvSpPr>
        <p:spPr bwMode="auto">
          <a:xfrm>
            <a:off x="5375275" y="3860801"/>
            <a:ext cx="111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B</a:t>
            </a:r>
          </a:p>
        </p:txBody>
      </p:sp>
      <p:sp>
        <p:nvSpPr>
          <p:cNvPr id="45068" name="Text Box 15"/>
          <p:cNvSpPr txBox="1">
            <a:spLocks noChangeArrowheads="1"/>
          </p:cNvSpPr>
          <p:nvPr/>
        </p:nvSpPr>
        <p:spPr bwMode="auto">
          <a:xfrm>
            <a:off x="8040688" y="3860800"/>
            <a:ext cx="10795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C</a:t>
            </a:r>
          </a:p>
        </p:txBody>
      </p:sp>
      <p:sp>
        <p:nvSpPr>
          <p:cNvPr id="602128" name="Text Box 16"/>
          <p:cNvSpPr txBox="1">
            <a:spLocks noChangeArrowheads="1"/>
          </p:cNvSpPr>
          <p:nvPr/>
        </p:nvSpPr>
        <p:spPr bwMode="auto">
          <a:xfrm>
            <a:off x="1631504" y="1628800"/>
            <a:ext cx="17534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err="1" smtClean="0">
                <a:latin typeface="Calibri" panose="020F0502020204030204" pitchFamily="34" charset="0"/>
              </a:rPr>
              <a:t>mutex.value</a:t>
            </a:r>
            <a:r>
              <a:rPr lang="en-US" altLang="zh-TW" sz="2000" b="1" dirty="0">
                <a:latin typeface="Calibri" pitchFamily="34" charset="0"/>
              </a:rPr>
              <a:t>: 1</a:t>
            </a:r>
          </a:p>
        </p:txBody>
      </p:sp>
      <p:sp>
        <p:nvSpPr>
          <p:cNvPr id="602129" name="Rectangle 17"/>
          <p:cNvSpPr>
            <a:spLocks noChangeArrowheads="1"/>
          </p:cNvSpPr>
          <p:nvPr/>
        </p:nvSpPr>
        <p:spPr bwMode="auto">
          <a:xfrm>
            <a:off x="1992313" y="4437063"/>
            <a:ext cx="1871662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0" name="Rectangle 18"/>
          <p:cNvSpPr>
            <a:spLocks noChangeArrowheads="1"/>
          </p:cNvSpPr>
          <p:nvPr/>
        </p:nvSpPr>
        <p:spPr bwMode="auto">
          <a:xfrm>
            <a:off x="3134148" y="1691284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02132" name="Rectangle 20"/>
          <p:cNvSpPr>
            <a:spLocks noChangeArrowheads="1"/>
          </p:cNvSpPr>
          <p:nvPr/>
        </p:nvSpPr>
        <p:spPr bwMode="auto">
          <a:xfrm>
            <a:off x="1992313" y="4797426"/>
            <a:ext cx="1871662" cy="360363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3" name="AutoShape 21"/>
          <p:cNvSpPr>
            <a:spLocks noChangeArrowheads="1"/>
          </p:cNvSpPr>
          <p:nvPr/>
        </p:nvSpPr>
        <p:spPr bwMode="auto">
          <a:xfrm>
            <a:off x="3935414" y="3644901"/>
            <a:ext cx="1214437" cy="733425"/>
          </a:xfrm>
          <a:prstGeom prst="curvedDown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4" name="Rectangle 22"/>
          <p:cNvSpPr>
            <a:spLocks noChangeArrowheads="1"/>
          </p:cNvSpPr>
          <p:nvPr/>
        </p:nvSpPr>
        <p:spPr bwMode="auto">
          <a:xfrm>
            <a:off x="4800601" y="4437063"/>
            <a:ext cx="1871663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6" name="Text Box 24"/>
          <p:cNvSpPr txBox="1">
            <a:spLocks noChangeArrowheads="1"/>
          </p:cNvSpPr>
          <p:nvPr/>
        </p:nvSpPr>
        <p:spPr bwMode="auto">
          <a:xfrm>
            <a:off x="5735639" y="4149725"/>
            <a:ext cx="20842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 (waiting)</a:t>
            </a:r>
          </a:p>
        </p:txBody>
      </p:sp>
      <p:sp>
        <p:nvSpPr>
          <p:cNvPr id="602137" name="AutoShape 25"/>
          <p:cNvSpPr>
            <a:spLocks noChangeArrowheads="1"/>
          </p:cNvSpPr>
          <p:nvPr/>
        </p:nvSpPr>
        <p:spPr bwMode="auto">
          <a:xfrm flipV="1">
            <a:off x="6816725" y="5516564"/>
            <a:ext cx="1214438" cy="720725"/>
          </a:xfrm>
          <a:prstGeom prst="curvedDownArrow">
            <a:avLst>
              <a:gd name="adj1" fmla="val 33700"/>
              <a:gd name="adj2" fmla="val 6740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8" name="Rectangle 26"/>
          <p:cNvSpPr>
            <a:spLocks noChangeArrowheads="1"/>
          </p:cNvSpPr>
          <p:nvPr/>
        </p:nvSpPr>
        <p:spPr bwMode="auto">
          <a:xfrm>
            <a:off x="7608888" y="4437063"/>
            <a:ext cx="1871662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9" name="Text Box 27"/>
          <p:cNvSpPr txBox="1">
            <a:spLocks noChangeArrowheads="1"/>
          </p:cNvSpPr>
          <p:nvPr/>
        </p:nvSpPr>
        <p:spPr bwMode="auto">
          <a:xfrm>
            <a:off x="8543926" y="4149725"/>
            <a:ext cx="20842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 (waiting)</a:t>
            </a:r>
          </a:p>
        </p:txBody>
      </p:sp>
      <p:sp>
        <p:nvSpPr>
          <p:cNvPr id="602140" name="AutoShape 28"/>
          <p:cNvSpPr>
            <a:spLocks noChangeArrowheads="1"/>
          </p:cNvSpPr>
          <p:nvPr/>
        </p:nvSpPr>
        <p:spPr bwMode="auto">
          <a:xfrm flipH="1">
            <a:off x="2711450" y="5734051"/>
            <a:ext cx="6337300" cy="733425"/>
          </a:xfrm>
          <a:prstGeom prst="curvedUpArrow">
            <a:avLst>
              <a:gd name="adj1" fmla="val 172814"/>
              <a:gd name="adj2" fmla="val 34562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41" name="Rectangle 29"/>
          <p:cNvSpPr>
            <a:spLocks noChangeArrowheads="1"/>
          </p:cNvSpPr>
          <p:nvPr/>
        </p:nvSpPr>
        <p:spPr bwMode="auto">
          <a:xfrm>
            <a:off x="1992313" y="5084763"/>
            <a:ext cx="1943100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43" name="Rectangle 31"/>
          <p:cNvSpPr>
            <a:spLocks noChangeArrowheads="1"/>
          </p:cNvSpPr>
          <p:nvPr/>
        </p:nvSpPr>
        <p:spPr bwMode="auto">
          <a:xfrm>
            <a:off x="4800601" y="4724400"/>
            <a:ext cx="1871663" cy="4333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4127706" y="1340769"/>
            <a:ext cx="3840502" cy="165433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TW" sz="20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>
              <a:defRPr/>
            </a:pPr>
            <a:r>
              <a:rPr lang="en-US" altLang="zh-TW" sz="2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signal (mutex) </a:t>
            </a:r>
            <a:r>
              <a:rPr lang="en-US" altLang="zh-TW" sz="2000" b="1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en-US" altLang="zh-TW" sz="2000" b="1" i="1" dirty="0">
                <a:latin typeface="Calibri" pitchFamily="34" charset="0"/>
              </a:rPr>
              <a:t>   </a:t>
            </a:r>
            <a:r>
              <a:rPr lang="en-US" altLang="zh-TW" sz="2000" b="1" i="1" dirty="0" err="1" smtClean="0">
                <a:latin typeface="Calibri" pitchFamily="34" charset="0"/>
              </a:rPr>
              <a:t>mutex.value</a:t>
            </a:r>
            <a:r>
              <a:rPr lang="en-US" altLang="zh-TW" sz="2000" b="1" i="1" dirty="0" smtClean="0">
                <a:latin typeface="Calibri" pitchFamily="34" charset="0"/>
              </a:rPr>
              <a:t>-</a:t>
            </a:r>
            <a:r>
              <a:rPr lang="en-US" altLang="zh-TW" sz="2000" b="1" i="1" dirty="0">
                <a:latin typeface="Calibri" pitchFamily="34" charset="0"/>
              </a:rPr>
              <a:t>-;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if </a:t>
            </a:r>
            <a:r>
              <a:rPr lang="en-US" altLang="zh-TW" sz="2000" b="1" dirty="0" smtClean="0">
                <a:latin typeface="Calibri" pitchFamily="34" charset="0"/>
                <a:sym typeface="Symbol" pitchFamily="18" charset="2"/>
              </a:rPr>
              <a:t>(</a:t>
            </a:r>
            <a:r>
              <a:rPr lang="en-US" altLang="zh-TW" sz="2000" b="1" dirty="0" err="1" smtClean="0">
                <a:latin typeface="Calibri" pitchFamily="34" charset="0"/>
                <a:sym typeface="Symbol" pitchFamily="18" charset="2"/>
              </a:rPr>
              <a:t>mutex</a:t>
            </a:r>
            <a:r>
              <a:rPr lang="en-US" altLang="zh-TW" sz="2000" b="1" i="1" dirty="0" err="1" smtClean="0">
                <a:latin typeface="Calibri" pitchFamily="34" charset="0"/>
              </a:rPr>
              <a:t>.Value</a:t>
            </a:r>
            <a:r>
              <a:rPr lang="en-US" altLang="zh-TW" sz="2000" b="1" i="1" dirty="0" smtClean="0">
                <a:latin typeface="Calibri" pitchFamily="34" charset="0"/>
              </a:rPr>
              <a:t> </a:t>
            </a:r>
            <a:r>
              <a:rPr lang="en-US" altLang="zh-TW" sz="2000" b="1" i="1" dirty="0">
                <a:latin typeface="Calibri" pitchFamily="34" charset="0"/>
              </a:rPr>
              <a:t>&lt; 0 </a:t>
            </a: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)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   Add process to </a:t>
            </a:r>
            <a:r>
              <a:rPr lang="en-US" altLang="zh-TW" sz="2000" b="1" dirty="0" err="1" smtClean="0">
                <a:latin typeface="Calibri" pitchFamily="34" charset="0"/>
                <a:sym typeface="Symbol" pitchFamily="18" charset="2"/>
              </a:rPr>
              <a:t>mutex.L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}</a:t>
            </a:r>
          </a:p>
          <a:p>
            <a:pPr>
              <a:defRPr/>
            </a:pP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4079776" y="1340768"/>
            <a:ext cx="4140437" cy="165433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TW" sz="20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pitchFamily="34" charset="0"/>
            </a:endParaRPr>
          </a:p>
          <a:p>
            <a:pPr>
              <a:defRPr/>
            </a:pPr>
            <a:r>
              <a:rPr lang="en-US" altLang="zh-TW" sz="2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release (mutex) </a:t>
            </a:r>
            <a:r>
              <a:rPr lang="en-US" altLang="zh-TW" sz="2000" b="1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en-US" altLang="zh-TW" sz="2000" b="1" i="1" dirty="0">
                <a:latin typeface="Calibri" pitchFamily="34" charset="0"/>
              </a:rPr>
              <a:t>   </a:t>
            </a:r>
            <a:r>
              <a:rPr lang="en-US" altLang="zh-TW" sz="2000" b="1" i="1" dirty="0" err="1" smtClean="0">
                <a:latin typeface="Calibri" pitchFamily="34" charset="0"/>
              </a:rPr>
              <a:t>mutex.value</a:t>
            </a:r>
            <a:r>
              <a:rPr lang="en-US" altLang="zh-TW" sz="2000" b="1" i="1" dirty="0">
                <a:latin typeface="Calibri" pitchFamily="34" charset="0"/>
              </a:rPr>
              <a:t>++;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if </a:t>
            </a:r>
            <a:r>
              <a:rPr lang="en-US" altLang="zh-TW" sz="2000" b="1" dirty="0" smtClean="0">
                <a:latin typeface="Calibri" pitchFamily="34" charset="0"/>
                <a:sym typeface="Symbol" pitchFamily="18" charset="2"/>
              </a:rPr>
              <a:t>(</a:t>
            </a:r>
            <a:r>
              <a:rPr lang="en-US" altLang="zh-TW" sz="2000" b="1" dirty="0" err="1" smtClean="0">
                <a:latin typeface="Calibri" pitchFamily="34" charset="0"/>
                <a:sym typeface="Symbol" pitchFamily="18" charset="2"/>
              </a:rPr>
              <a:t>mutex</a:t>
            </a:r>
            <a:r>
              <a:rPr lang="en-US" altLang="zh-TW" sz="2000" b="1" i="1" dirty="0" err="1" smtClean="0">
                <a:latin typeface="Calibri" pitchFamily="34" charset="0"/>
              </a:rPr>
              <a:t>.value</a:t>
            </a:r>
            <a:r>
              <a:rPr lang="en-US" altLang="zh-TW" sz="2000" b="1" i="1" dirty="0" smtClean="0">
                <a:latin typeface="Calibri" pitchFamily="34" charset="0"/>
              </a:rPr>
              <a:t> </a:t>
            </a:r>
            <a:r>
              <a:rPr lang="en-US" altLang="zh-TW" sz="2000" b="1" i="1" dirty="0">
                <a:latin typeface="Calibri" pitchFamily="34" charset="0"/>
              </a:rPr>
              <a:t>&lt;= 0</a:t>
            </a: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)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  Wake process from </a:t>
            </a:r>
            <a:r>
              <a:rPr lang="en-US" altLang="zh-TW" sz="2000" b="1" dirty="0" err="1" smtClean="0">
                <a:latin typeface="Calibri" pitchFamily="34" charset="0"/>
                <a:sym typeface="Symbol" pitchFamily="18" charset="2"/>
              </a:rPr>
              <a:t>mutex.L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}</a:t>
            </a:r>
          </a:p>
          <a:p>
            <a:pPr>
              <a:defRPr/>
            </a:pP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1631504" y="2060848"/>
            <a:ext cx="11088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err="1" smtClean="0">
                <a:latin typeface="Calibri" panose="020F0502020204030204" pitchFamily="34" charset="0"/>
              </a:rPr>
              <a:t>mutex.L</a:t>
            </a:r>
            <a:r>
              <a:rPr lang="en-US" altLang="zh-TW" sz="2000" b="1" dirty="0">
                <a:latin typeface="Calibri" panose="020F0502020204030204" pitchFamily="34" charset="0"/>
              </a:rPr>
              <a:t>:</a:t>
            </a:r>
          </a:p>
        </p:txBody>
      </p:sp>
      <p:sp>
        <p:nvSpPr>
          <p:cNvPr id="32" name="圓角矩形 31"/>
          <p:cNvSpPr/>
          <p:nvPr/>
        </p:nvSpPr>
        <p:spPr>
          <a:xfrm>
            <a:off x="2711624" y="2070373"/>
            <a:ext cx="36004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itchFamily="34" charset="0"/>
              </a:rPr>
              <a:t>B</a:t>
            </a:r>
            <a:endParaRPr lang="zh-TW" altLang="en-US" sz="24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3143672" y="2060848"/>
            <a:ext cx="36004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itchFamily="34" charset="0"/>
              </a:rPr>
              <a:t>C</a:t>
            </a:r>
            <a:endParaRPr lang="zh-TW" altLang="en-US" sz="24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4" name="Rectangle 18"/>
          <p:cNvSpPr>
            <a:spLocks noChangeArrowheads="1"/>
          </p:cNvSpPr>
          <p:nvPr/>
        </p:nvSpPr>
        <p:spPr bwMode="auto">
          <a:xfrm>
            <a:off x="3143673" y="1701504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-1</a:t>
            </a:r>
          </a:p>
        </p:txBody>
      </p: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3143673" y="1700809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-2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825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0" fill="hold"/>
                                        <p:tgtEl>
                                          <p:spTgt spid="602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" dur="500"/>
                                        <p:tgtEl>
                                          <p:spTgt spid="602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602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602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0" dur="500"/>
                                        <p:tgtEl>
                                          <p:spTgt spid="602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4" dur="500"/>
                                        <p:tgtEl>
                                          <p:spTgt spid="60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" presetClass="emph" presetSubtype="0" accel="50000" decel="5000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4" dur="500"/>
                                        <p:tgtEl>
                                          <p:spTgt spid="60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0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4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0" dur="500"/>
                                        <p:tgtEl>
                                          <p:spTgt spid="60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74" dur="500"/>
                                        <p:tgtEl>
                                          <p:spTgt spid="602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60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28" grpId="0"/>
      <p:bldP spid="602129" grpId="0" animBg="1"/>
      <p:bldP spid="602129" grpId="1" animBg="1"/>
      <p:bldP spid="602130" grpId="0" animBg="1"/>
      <p:bldP spid="602130" grpId="1" animBg="1"/>
      <p:bldP spid="602132" grpId="0" animBg="1"/>
      <p:bldP spid="602132" grpId="1" animBg="1"/>
      <p:bldP spid="602133" grpId="0" animBg="1"/>
      <p:bldP spid="602133" grpId="1" animBg="1"/>
      <p:bldP spid="602133" grpId="2" animBg="1"/>
      <p:bldP spid="602133" grpId="3" animBg="1"/>
      <p:bldP spid="602134" grpId="0" animBg="1"/>
      <p:bldP spid="602134" grpId="1" animBg="1"/>
      <p:bldP spid="602136" grpId="0"/>
      <p:bldP spid="602136" grpId="1"/>
      <p:bldP spid="602137" grpId="0" animBg="1"/>
      <p:bldP spid="602137" grpId="1" animBg="1"/>
      <p:bldP spid="602138" grpId="0" animBg="1"/>
      <p:bldP spid="602139" grpId="0"/>
      <p:bldP spid="602140" grpId="0" animBg="1"/>
      <p:bldP spid="602140" grpId="1" animBg="1"/>
      <p:bldP spid="602141" grpId="0" animBg="1"/>
      <p:bldP spid="602141" grpId="1" animBg="1"/>
      <p:bldP spid="602143" grpId="0" animBg="1"/>
      <p:bldP spid="29" grpId="0" animBg="1"/>
      <p:bldP spid="29" grpId="1" animBg="1"/>
      <p:bldP spid="30" grpId="0" animBg="1"/>
      <p:bldP spid="31" grpId="0"/>
      <p:bldP spid="32" grpId="0" animBg="1"/>
      <p:bldP spid="32" grpId="1" animBg="1"/>
      <p:bldP spid="32" grpId="2" animBg="1"/>
      <p:bldP spid="33" grpId="0" animBg="1"/>
      <p:bldP spid="34" grpId="0" animBg="1"/>
      <p:bldP spid="35" grpId="0" animBg="1"/>
      <p:bldP spid="35" grpId="1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Mutex Lock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47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</a:t>
            </a:r>
            <a:r>
              <a:rPr lang="en-US" altLang="zh-TW" sz="2800" dirty="0" smtClean="0"/>
              <a:t>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OS Solution: Mutex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0000"/>
                </a:solidFill>
              </a:rPr>
              <a:t>OS Solution: Spin Locks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Semaphores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298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前面提到初版</a:t>
            </a:r>
            <a:r>
              <a:rPr lang="zh-TW" altLang="en-US" dirty="0"/>
              <a:t>的</a:t>
            </a:r>
            <a:r>
              <a:rPr lang="en-US" altLang="zh-TW" dirty="0" smtClean="0"/>
              <a:t>mutex</a:t>
            </a:r>
            <a:r>
              <a:rPr lang="zh-TW" altLang="en-US" dirty="0" smtClean="0"/>
              <a:t>有</a:t>
            </a:r>
            <a:r>
              <a:rPr lang="en-US" altLang="zh-TW" dirty="0" smtClean="0"/>
              <a:t>busy waiting</a:t>
            </a:r>
            <a:r>
              <a:rPr lang="zh-TW" altLang="en-US" dirty="0" smtClean="0"/>
              <a:t>的問題</a:t>
            </a:r>
            <a:r>
              <a:rPr lang="en-US" altLang="zh-TW" dirty="0" smtClean="0"/>
              <a:t>(</a:t>
            </a:r>
            <a:r>
              <a:rPr lang="zh-TW" altLang="en-US" dirty="0" smtClean="0"/>
              <a:t>如下圖</a:t>
            </a:r>
            <a:r>
              <a:rPr lang="en-US" altLang="zh-TW" dirty="0" smtClean="0"/>
              <a:t>)!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但是</a:t>
            </a:r>
            <a:r>
              <a:rPr lang="en-US" altLang="zh-TW" dirty="0" smtClean="0"/>
              <a:t>, busy waiting</a:t>
            </a:r>
            <a:r>
              <a:rPr lang="zh-TW" altLang="en-US" dirty="0" smtClean="0"/>
              <a:t>有時候是好的方法</a:t>
            </a:r>
            <a:r>
              <a:rPr lang="en-US" altLang="zh-TW" dirty="0" smtClean="0"/>
              <a:t>!</a:t>
            </a: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Q: </a:t>
            </a:r>
            <a:r>
              <a:rPr lang="zh-TW" altLang="en-US" b="1" dirty="0" smtClean="0">
                <a:solidFill>
                  <a:srgbClr val="FF0000"/>
                </a:solidFill>
              </a:rPr>
              <a:t>何時是好的方法</a:t>
            </a:r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799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Busy Waiting</a:t>
            </a:r>
            <a:r>
              <a:rPr lang="zh-TW" altLang="en-US" dirty="0" smtClean="0"/>
              <a:t>版本的</a:t>
            </a:r>
            <a:r>
              <a:rPr lang="en-US" altLang="zh-TW" dirty="0" smtClean="0"/>
              <a:t>Mutex Locks</a:t>
            </a:r>
            <a:endParaRPr lang="zh-TW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287688" y="1556792"/>
            <a:ext cx="5904655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acquire() 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{</a:t>
            </a:r>
            <a:b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</a:b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   while ( </a:t>
            </a:r>
            <a:r>
              <a:rPr kumimoji="1" lang="en-US" altLang="zh-TW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mutex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==false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      ; /* busy wait */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   </a:t>
            </a:r>
            <a:r>
              <a:rPr kumimoji="1" lang="en-US" altLang="zh-TW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mutex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 = false;;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新細明體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新細明體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release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() 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   </a:t>
            </a:r>
            <a:r>
              <a:rPr kumimoji="1" lang="en-US" altLang="zh-TW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Courier New" pitchFamily="49" charset="0"/>
              </a:rPr>
              <a:t>mutex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 = true;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/>
                <a:cs typeface="Courier New" pitchFamily="49" charset="0"/>
              </a:rPr>
              <a:t>} 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9417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舉個例子</a:t>
            </a:r>
            <a:r>
              <a:rPr lang="zh-TW" altLang="en-US" dirty="0"/>
              <a:t>：看漫畫，如果漫畫在他人手上</a:t>
            </a:r>
            <a:r>
              <a:rPr lang="en-US" altLang="zh-TW" dirty="0"/>
              <a:t>(</a:t>
            </a:r>
            <a:r>
              <a:rPr lang="zh-TW" altLang="en-US" dirty="0"/>
              <a:t>漫畫是</a:t>
            </a:r>
            <a:r>
              <a:rPr lang="en-US" altLang="zh-TW" dirty="0"/>
              <a:t>shared variable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如果</a:t>
            </a:r>
            <a:r>
              <a:rPr lang="zh-TW" altLang="en-US" dirty="0"/>
              <a:t>剩下兩頁</a:t>
            </a:r>
            <a:r>
              <a:rPr lang="zh-TW" altLang="en-US" dirty="0" smtClean="0"/>
              <a:t>：</a:t>
            </a:r>
            <a:r>
              <a:rPr lang="en-US" altLang="zh-TW" dirty="0" smtClean="0"/>
              <a:t>busy waiting</a:t>
            </a:r>
          </a:p>
          <a:p>
            <a:pPr lvl="1"/>
            <a:endParaRPr lang="en-US" altLang="zh-TW" dirty="0"/>
          </a:p>
          <a:p>
            <a:pPr lvl="1"/>
            <a:r>
              <a:rPr lang="zh-TW" altLang="en-US" dirty="0" smtClean="0"/>
              <a:t>如果還很多</a:t>
            </a:r>
            <a:r>
              <a:rPr lang="en-US" altLang="zh-TW" dirty="0" smtClean="0"/>
              <a:t>: </a:t>
            </a:r>
            <a:r>
              <a:rPr lang="en-US" altLang="zh-TW" dirty="0"/>
              <a:t>sleep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570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我們定義一個新的</a:t>
            </a:r>
            <a:r>
              <a:rPr lang="en-US" altLang="zh-TW" dirty="0" smtClean="0"/>
              <a:t>synchronization</a:t>
            </a:r>
            <a:r>
              <a:rPr lang="zh-TW" altLang="en-US" dirty="0" smtClean="0"/>
              <a:t>機制</a:t>
            </a:r>
            <a:r>
              <a:rPr lang="en-US" altLang="zh-TW" dirty="0" smtClean="0"/>
              <a:t>: Spin Lock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8058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Spin 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Calibri" pitchFamily="34" charset="0"/>
                <a:ea typeface="標楷體" pitchFamily="65" charset="-120"/>
              </a:rPr>
              <a:t>Spinlock </a:t>
            </a:r>
          </a:p>
          <a:p>
            <a:pPr lvl="1"/>
            <a:endParaRPr lang="en-US" altLang="zh-TW" dirty="0" smtClean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dirty="0" smtClean="0">
                <a:latin typeface="Calibri" pitchFamily="34" charset="0"/>
                <a:ea typeface="標楷體" pitchFamily="65" charset="-120"/>
              </a:rPr>
              <a:t>“spin”(</a:t>
            </a:r>
            <a:r>
              <a:rPr lang="zh-TW" altLang="en-US" dirty="0" smtClean="0"/>
              <a:t>旋轉</a:t>
            </a:r>
            <a:r>
              <a:rPr lang="en-US" altLang="zh-TW" dirty="0" smtClean="0"/>
              <a:t>) </a:t>
            </a:r>
            <a:r>
              <a:rPr lang="en-US" altLang="zh-TW" dirty="0" smtClean="0">
                <a:latin typeface="Calibri" pitchFamily="34" charset="0"/>
                <a:ea typeface="標楷體" pitchFamily="65" charset="-120"/>
              </a:rPr>
              <a:t>while waiting the lock, i.e., </a:t>
            </a:r>
            <a:r>
              <a:rPr lang="en-US" altLang="zh-TW" b="1" dirty="0" smtClean="0">
                <a:solidFill>
                  <a:srgbClr val="FF0000"/>
                </a:solidFill>
                <a:latin typeface="Calibri" pitchFamily="34" charset="0"/>
                <a:ea typeface="標楷體" pitchFamily="65" charset="-120"/>
              </a:rPr>
              <a:t>busy waiting</a:t>
            </a:r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就是</a:t>
            </a:r>
            <a:r>
              <a:rPr lang="zh-TW" altLang="en-US" dirty="0"/>
              <a:t>原本</a:t>
            </a:r>
            <a:r>
              <a:rPr lang="en-US" altLang="zh-TW" dirty="0"/>
              <a:t>busy waiting</a:t>
            </a:r>
            <a:r>
              <a:rPr lang="zh-TW" altLang="en-US" dirty="0"/>
              <a:t>版本的</a:t>
            </a:r>
            <a:r>
              <a:rPr lang="en-US" altLang="zh-TW" dirty="0"/>
              <a:t>mutex lock</a:t>
            </a:r>
            <a:endParaRPr lang="zh-TW" altLang="en-US" dirty="0"/>
          </a:p>
          <a:p>
            <a:endParaRPr lang="en-US" altLang="zh-TW" b="1" dirty="0" smtClean="0">
              <a:solidFill>
                <a:srgbClr val="FF0000"/>
              </a:solidFill>
              <a:latin typeface="Calibri" pitchFamily="34" charset="0"/>
              <a:ea typeface="標楷體" pitchFamily="65" charset="-120"/>
            </a:endParaRPr>
          </a:p>
          <a:p>
            <a:pPr lvl="1"/>
            <a:endParaRPr lang="en-US" altLang="zh-TW" dirty="0" smtClean="0"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170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261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那到底何時適合使用</a:t>
            </a:r>
            <a:r>
              <a:rPr lang="en-US" altLang="zh-TW" dirty="0" smtClean="0"/>
              <a:t>Spin Lock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876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Spin 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何時適合使用</a:t>
            </a:r>
            <a:r>
              <a:rPr lang="en-US" altLang="zh-TW" dirty="0" smtClean="0"/>
              <a:t>spin lock?</a:t>
            </a:r>
          </a:p>
          <a:p>
            <a:pPr lvl="1"/>
            <a:r>
              <a:rPr lang="en-US" altLang="zh-TW" dirty="0"/>
              <a:t>I</a:t>
            </a:r>
            <a:r>
              <a:rPr lang="en-US" altLang="zh-TW" dirty="0" smtClean="0">
                <a:latin typeface="Calibri" pitchFamily="34" charset="0"/>
                <a:ea typeface="標楷體" pitchFamily="65" charset="-120"/>
              </a:rPr>
              <a:t>n </a:t>
            </a:r>
            <a:r>
              <a:rPr lang="en-US" altLang="zh-TW" b="1" dirty="0" smtClean="0">
                <a:solidFill>
                  <a:srgbClr val="0000FF"/>
                </a:solidFill>
                <a:latin typeface="Calibri" pitchFamily="34" charset="0"/>
                <a:ea typeface="標楷體" pitchFamily="65" charset="-120"/>
              </a:rPr>
              <a:t>MP</a:t>
            </a:r>
            <a:r>
              <a:rPr lang="en-US" altLang="zh-TW" dirty="0" smtClean="0">
                <a:latin typeface="Calibri" pitchFamily="34" charset="0"/>
                <a:ea typeface="標楷體" pitchFamily="65" charset="-120"/>
              </a:rPr>
              <a:t> and if critical section is </a:t>
            </a:r>
            <a:r>
              <a:rPr lang="en-US" altLang="zh-TW" b="1" dirty="0" smtClean="0">
                <a:solidFill>
                  <a:srgbClr val="0000FF"/>
                </a:solidFill>
                <a:latin typeface="Calibri" pitchFamily="34" charset="0"/>
                <a:ea typeface="標楷體" pitchFamily="65" charset="-120"/>
              </a:rPr>
              <a:t>short </a:t>
            </a:r>
          </a:p>
          <a:p>
            <a:pPr lvl="2"/>
            <a:endParaRPr lang="en-US" altLang="zh-TW" dirty="0" smtClean="0">
              <a:latin typeface="Calibri" pitchFamily="34" charset="0"/>
              <a:ea typeface="標楷體" pitchFamily="65" charset="-120"/>
            </a:endParaRPr>
          </a:p>
          <a:p>
            <a:r>
              <a:rPr lang="en-US" altLang="zh-TW" dirty="0" smtClean="0"/>
              <a:t>Why?</a:t>
            </a:r>
            <a:endParaRPr lang="en-US" altLang="zh-TW" dirty="0" smtClean="0">
              <a:latin typeface="Calibri" pitchFamily="34" charset="0"/>
              <a:ea typeface="標楷體" pitchFamily="65" charset="-120"/>
            </a:endParaRPr>
          </a:p>
          <a:p>
            <a:pPr lvl="1"/>
            <a:endParaRPr lang="en-US" altLang="zh-TW" b="1" dirty="0" smtClean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b="1" dirty="0" smtClean="0">
                <a:latin typeface="Calibri" pitchFamily="34" charset="0"/>
                <a:ea typeface="標楷體" pitchFamily="65" charset="-120"/>
              </a:rPr>
              <a:t>No context switch overhead </a:t>
            </a:r>
            <a:r>
              <a:rPr lang="en-US" altLang="zh-TW" dirty="0" smtClean="0">
                <a:latin typeface="Calibri" pitchFamily="34" charset="0"/>
                <a:ea typeface="標楷體" pitchFamily="65" charset="-120"/>
              </a:rPr>
              <a:t>and can quickly obtain the lock</a:t>
            </a:r>
          </a:p>
          <a:p>
            <a:pPr lvl="2"/>
            <a:endParaRPr lang="en-US" altLang="zh-TW" dirty="0" smtClean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dirty="0" smtClean="0">
                <a:latin typeface="Calibri" pitchFamily="34" charset="0"/>
                <a:ea typeface="標楷體" pitchFamily="65" charset="-120"/>
              </a:rPr>
              <a:t>See the next slide </a:t>
            </a:r>
          </a:p>
          <a:p>
            <a:pPr lvl="1"/>
            <a:endParaRPr lang="en-US" altLang="zh-TW" dirty="0" smtClean="0"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172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8145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Q1: </a:t>
            </a:r>
            <a:r>
              <a:rPr lang="zh-TW" altLang="en-US" dirty="0" smtClean="0"/>
              <a:t>為什麼只適用於</a:t>
            </a:r>
            <a:r>
              <a:rPr lang="en-US" altLang="zh-TW" dirty="0" smtClean="0"/>
              <a:t>MP</a:t>
            </a:r>
            <a:r>
              <a:rPr lang="zh-TW" altLang="en-US" dirty="0" smtClean="0"/>
              <a:t>電腦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如下頁顯示</a:t>
            </a:r>
            <a:r>
              <a:rPr lang="en-US" altLang="zh-TW" dirty="0" smtClean="0"/>
              <a:t>Single Processor</a:t>
            </a:r>
            <a:r>
              <a:rPr lang="zh-TW" altLang="en-US" dirty="0" smtClean="0"/>
              <a:t>的情形</a:t>
            </a:r>
            <a:endParaRPr lang="en-US" altLang="zh-TW" dirty="0" smtClean="0"/>
          </a:p>
          <a:p>
            <a:r>
              <a:rPr lang="en-US" altLang="zh-TW" dirty="0" smtClean="0"/>
              <a:t>(</a:t>
            </a:r>
            <a:r>
              <a:rPr lang="zh-TW" altLang="en-US" dirty="0" smtClean="0"/>
              <a:t>你等待</a:t>
            </a:r>
            <a:r>
              <a:rPr lang="en-US" altLang="zh-TW" dirty="0" smtClean="0"/>
              <a:t>, </a:t>
            </a:r>
            <a:r>
              <a:rPr lang="zh-TW" altLang="en-US" dirty="0" smtClean="0"/>
              <a:t>他就不看漫畫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65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Single Processor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1559496" y="5199583"/>
            <a:ext cx="1440160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2999656" y="5199583"/>
            <a:ext cx="1296144" cy="57606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4295800" y="5199583"/>
            <a:ext cx="1944216" cy="5760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busy waiting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6240016" y="5199583"/>
            <a:ext cx="1728192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7968208" y="5199583"/>
            <a:ext cx="1728192" cy="57606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圖說文字 14"/>
          <p:cNvSpPr/>
          <p:nvPr/>
        </p:nvSpPr>
        <p:spPr>
          <a:xfrm>
            <a:off x="7320136" y="4479503"/>
            <a:ext cx="1872208" cy="360040"/>
          </a:xfrm>
          <a:prstGeom prst="wedgeRectCallout">
            <a:avLst>
              <a:gd name="adj1" fmla="val -16925"/>
              <a:gd name="adj2" fmla="val 15266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release ();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1559496" y="2267000"/>
            <a:ext cx="1440160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2999656" y="2267000"/>
            <a:ext cx="1296144" cy="57606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矩形圖說文字 18"/>
          <p:cNvSpPr/>
          <p:nvPr/>
        </p:nvSpPr>
        <p:spPr>
          <a:xfrm>
            <a:off x="911424" y="1628800"/>
            <a:ext cx="4176464" cy="360040"/>
          </a:xfrm>
          <a:prstGeom prst="wedgeRectCallout">
            <a:avLst>
              <a:gd name="adj1" fmla="val 28686"/>
              <a:gd name="adj2" fmla="val 11586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acquire();</a:t>
            </a:r>
            <a:r>
              <a:rPr lang="en-US" altLang="zh-TW" sz="2400" b="1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sleep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4295800" y="2267000"/>
            <a:ext cx="1728192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6023992" y="2267000"/>
            <a:ext cx="1728192" cy="57606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矩形圖說文字 21"/>
          <p:cNvSpPr/>
          <p:nvPr/>
        </p:nvSpPr>
        <p:spPr>
          <a:xfrm>
            <a:off x="5375920" y="1618928"/>
            <a:ext cx="1872208" cy="369912"/>
          </a:xfrm>
          <a:prstGeom prst="wedgeRectCallout">
            <a:avLst>
              <a:gd name="adj1" fmla="val -16925"/>
              <a:gd name="adj2" fmla="val 1180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release ();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727848" y="5991671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(b)</a:t>
            </a:r>
            <a:r>
              <a:rPr lang="zh-TW" altLang="en-US" sz="2400" dirty="0">
                <a:latin typeface="Calibri" panose="020F0502020204030204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</a:rPr>
              <a:t>spin 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lock</a:t>
            </a:r>
            <a:endParaRPr lang="zh-TW" altLang="en-US" sz="2400" dirty="0"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07768" y="3029471"/>
            <a:ext cx="4439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</a:rPr>
              <a:t>(a)</a:t>
            </a:r>
            <a:r>
              <a:rPr lang="zh-TW" altLang="en-US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sleeping-based mutex 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</a:rPr>
              <a:t>lock</a:t>
            </a:r>
            <a:endParaRPr lang="zh-TW" altLang="en-US" sz="2400" dirty="0"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26" name="矩形圖說文字 25"/>
          <p:cNvSpPr/>
          <p:nvPr/>
        </p:nvSpPr>
        <p:spPr>
          <a:xfrm>
            <a:off x="1559496" y="4479502"/>
            <a:ext cx="4464496" cy="403394"/>
          </a:xfrm>
          <a:prstGeom prst="wedgeRectCallout">
            <a:avLst>
              <a:gd name="adj1" fmla="val 10253"/>
              <a:gd name="adj2" fmla="val 1380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acquire();</a:t>
            </a:r>
            <a:r>
              <a:rPr lang="en-US" altLang="zh-TW" sz="2400" b="1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busy waiting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21F6B2-21FE-4301-92EC-4E744D63E105}" type="slidenum">
              <a:rPr lang="en-US" altLang="zh-TW" smtClean="0"/>
              <a:pPr>
                <a:defRPr/>
              </a:pPr>
              <a:t>174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729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mtClean="0"/>
              <a:t>Q2: </a:t>
            </a:r>
            <a:r>
              <a:rPr lang="zh-TW" altLang="en-US" dirty="0" smtClean="0"/>
              <a:t>為什麼只適用於</a:t>
            </a:r>
            <a:r>
              <a:rPr lang="en-US" altLang="zh-TW" dirty="0" smtClean="0"/>
              <a:t>Critical Section</a:t>
            </a:r>
            <a:r>
              <a:rPr lang="zh-TW" altLang="en-US" dirty="0" smtClean="0"/>
              <a:t>短的情形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如下頁顯示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768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MP Processor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2639616" y="3821559"/>
            <a:ext cx="1440160" cy="327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4079776" y="3821559"/>
            <a:ext cx="720080" cy="32752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CS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4799856" y="3821559"/>
            <a:ext cx="2305312" cy="3275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P3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7824192" y="3821559"/>
            <a:ext cx="1728192" cy="327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圖說文字 14"/>
          <p:cNvSpPr/>
          <p:nvPr/>
        </p:nvSpPr>
        <p:spPr>
          <a:xfrm>
            <a:off x="6456040" y="3173487"/>
            <a:ext cx="1872208" cy="360040"/>
          </a:xfrm>
          <a:prstGeom prst="wedgeRectCallout">
            <a:avLst>
              <a:gd name="adj1" fmla="val -15948"/>
              <a:gd name="adj2" fmla="val 12726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wakeup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2639616" y="2008585"/>
            <a:ext cx="1187637" cy="369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矩形圖說文字 18"/>
          <p:cNvSpPr/>
          <p:nvPr/>
        </p:nvSpPr>
        <p:spPr>
          <a:xfrm>
            <a:off x="2855640" y="1268760"/>
            <a:ext cx="2232248" cy="389657"/>
          </a:xfrm>
          <a:prstGeom prst="wedgeRectCallout">
            <a:avLst>
              <a:gd name="adj1" fmla="val -6693"/>
              <a:gd name="adj2" fmla="val 15511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acquire();</a:t>
            </a:r>
          </a:p>
        </p:txBody>
      </p:sp>
      <p:sp>
        <p:nvSpPr>
          <p:cNvPr id="20" name="圓角矩形 19"/>
          <p:cNvSpPr/>
          <p:nvPr/>
        </p:nvSpPr>
        <p:spPr>
          <a:xfrm>
            <a:off x="3827253" y="2008585"/>
            <a:ext cx="3276859" cy="37978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in CS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(critical section)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矩形圖說文字 21"/>
          <p:cNvSpPr/>
          <p:nvPr/>
        </p:nvSpPr>
        <p:spPr>
          <a:xfrm>
            <a:off x="6456040" y="1288505"/>
            <a:ext cx="1872208" cy="360040"/>
          </a:xfrm>
          <a:prstGeom prst="wedgeRectCallout">
            <a:avLst>
              <a:gd name="adj1" fmla="val -16925"/>
              <a:gd name="adj2" fmla="val 15266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release ();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151784" y="4119463"/>
            <a:ext cx="3943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(b)P2</a:t>
            </a:r>
            <a:r>
              <a:rPr lang="zh-TW" altLang="en-US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執行在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CPU</a:t>
            </a:r>
            <a:r>
              <a:rPr lang="en-US" altLang="zh-TW" sz="2400" baseline="-250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2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, </a:t>
            </a:r>
            <a:r>
              <a:rPr lang="zh-TW" altLang="en-US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mutex</a:t>
            </a:r>
            <a:endParaRPr lang="zh-TW" altLang="en-US" sz="2400" dirty="0"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24935" y="2420888"/>
            <a:ext cx="2379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</a:rPr>
              <a:t>(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a)P1</a:t>
            </a:r>
            <a:r>
              <a:rPr lang="zh-TW" altLang="en-US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執行在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CPU</a:t>
            </a:r>
            <a:r>
              <a:rPr lang="en-US" altLang="zh-TW" sz="2400" baseline="-250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1</a:t>
            </a:r>
            <a:endParaRPr lang="zh-TW" altLang="en-US" sz="2400" dirty="0"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26" name="矩形圖說文字 25"/>
          <p:cNvSpPr/>
          <p:nvPr/>
        </p:nvSpPr>
        <p:spPr>
          <a:xfrm>
            <a:off x="1991544" y="3215878"/>
            <a:ext cx="3384376" cy="389657"/>
          </a:xfrm>
          <a:prstGeom prst="wedgeRectCallout">
            <a:avLst>
              <a:gd name="adj1" fmla="val 10580"/>
              <a:gd name="adj2" fmla="val 1029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acquire()</a:t>
            </a:r>
            <a:r>
              <a:rPr lang="en-US" altLang="zh-TW" sz="2400" b="1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blocked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7104112" y="2018457"/>
            <a:ext cx="2232248" cy="3797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7104112" y="3821559"/>
            <a:ext cx="720080" cy="32752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圓角矩形 26"/>
          <p:cNvSpPr/>
          <p:nvPr/>
        </p:nvSpPr>
        <p:spPr>
          <a:xfrm>
            <a:off x="2639616" y="5755903"/>
            <a:ext cx="1440160" cy="327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4079776" y="5755903"/>
            <a:ext cx="3024336" cy="32752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busy waiting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圓角矩形 29"/>
          <p:cNvSpPr/>
          <p:nvPr/>
        </p:nvSpPr>
        <p:spPr>
          <a:xfrm>
            <a:off x="7104112" y="5755903"/>
            <a:ext cx="1728192" cy="327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in CS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圖說文字 31"/>
          <p:cNvSpPr/>
          <p:nvPr/>
        </p:nvSpPr>
        <p:spPr>
          <a:xfrm>
            <a:off x="2135560" y="5085184"/>
            <a:ext cx="4032448" cy="422176"/>
          </a:xfrm>
          <a:prstGeom prst="wedgeRectCallout">
            <a:avLst>
              <a:gd name="adj1" fmla="val -145"/>
              <a:gd name="adj2" fmla="val 11799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acquire()</a:t>
            </a:r>
            <a:r>
              <a:rPr lang="en-US" altLang="zh-TW" sz="2400" b="1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busy waiting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199456" y="1844824"/>
            <a:ext cx="899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Agency FB" panose="020B0503020202020204" pitchFamily="34" charset="0"/>
              </a:rPr>
              <a:t>CPU</a:t>
            </a:r>
            <a:r>
              <a:rPr lang="en-US" altLang="zh-TW" b="1" baseline="-25000" dirty="0">
                <a:latin typeface="Agency FB" panose="020B0503020202020204" pitchFamily="34" charset="0"/>
              </a:rPr>
              <a:t>1</a:t>
            </a:r>
            <a:endParaRPr lang="zh-TW" altLang="en-US" b="1" dirty="0">
              <a:latin typeface="Agency FB" panose="020B0503020202020204" pitchFamily="34" charset="0"/>
            </a:endParaRPr>
          </a:p>
        </p:txBody>
      </p:sp>
      <p:cxnSp>
        <p:nvCxnSpPr>
          <p:cNvPr id="5" name="直線接點 4"/>
          <p:cNvCxnSpPr/>
          <p:nvPr/>
        </p:nvCxnSpPr>
        <p:spPr>
          <a:xfrm>
            <a:off x="7104112" y="1844824"/>
            <a:ext cx="0" cy="4392488"/>
          </a:xfrm>
          <a:prstGeom prst="line">
            <a:avLst/>
          </a:prstGeom>
          <a:ln w="57150"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4151784" y="6063679"/>
            <a:ext cx="4240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(b)P2</a:t>
            </a:r>
            <a:r>
              <a:rPr lang="zh-TW" altLang="en-US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執行在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CPU</a:t>
            </a:r>
            <a:r>
              <a:rPr lang="en-US" altLang="zh-TW" sz="2400" baseline="-250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2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, </a:t>
            </a:r>
            <a:r>
              <a:rPr lang="zh-TW" altLang="en-US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sz="24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spin lock</a:t>
            </a:r>
            <a:endParaRPr lang="zh-TW" altLang="en-US" sz="2400" dirty="0"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35" name="圓角矩形 34"/>
          <p:cNvSpPr/>
          <p:nvPr/>
        </p:nvSpPr>
        <p:spPr>
          <a:xfrm>
            <a:off x="9120336" y="404664"/>
            <a:ext cx="2952328" cy="432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CS: context switch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1199456" y="3646765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Agency FB" panose="020B0503020202020204" pitchFamily="34" charset="0"/>
              </a:rPr>
              <a:t>CPU</a:t>
            </a:r>
            <a:r>
              <a:rPr lang="en-US" altLang="zh-TW" b="1" baseline="-25000" dirty="0" smtClean="0">
                <a:latin typeface="Agency FB" panose="020B0503020202020204" pitchFamily="34" charset="0"/>
              </a:rPr>
              <a:t>2</a:t>
            </a:r>
            <a:endParaRPr lang="zh-TW" altLang="en-US" b="1" dirty="0">
              <a:latin typeface="Agency FB" panose="020B0503020202020204" pitchFamily="34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1199456" y="5589240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Agency FB" panose="020B0503020202020204" pitchFamily="34" charset="0"/>
              </a:rPr>
              <a:t>CPU</a:t>
            </a:r>
            <a:r>
              <a:rPr lang="en-US" altLang="zh-TW" b="1" baseline="-25000" dirty="0" smtClean="0">
                <a:latin typeface="Agency FB" panose="020B0503020202020204" pitchFamily="34" charset="0"/>
              </a:rPr>
              <a:t>2</a:t>
            </a:r>
            <a:endParaRPr lang="zh-TW" altLang="en-US" b="1" dirty="0">
              <a:latin typeface="Agency FB" panose="020B0503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21F6B2-21FE-4301-92EC-4E744D63E105}" type="slidenum">
              <a:rPr lang="en-US" altLang="zh-TW" smtClean="0"/>
              <a:pPr>
                <a:defRPr/>
              </a:pPr>
              <a:t>176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667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 MP Processor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由上圖</a:t>
            </a:r>
            <a:r>
              <a:rPr lang="en-US" altLang="zh-TW" dirty="0" smtClean="0"/>
              <a:t>, CS(context switch)</a:t>
            </a:r>
            <a:r>
              <a:rPr lang="zh-TW" altLang="en-US" dirty="0" smtClean="0"/>
              <a:t>和</a:t>
            </a:r>
            <a:r>
              <a:rPr lang="en-US" altLang="zh-TW" dirty="0" smtClean="0"/>
              <a:t>busy waiting</a:t>
            </a:r>
            <a:r>
              <a:rPr lang="zh-TW" altLang="en-US" dirty="0" smtClean="0"/>
              <a:t>都是</a:t>
            </a:r>
            <a:r>
              <a:rPr lang="en-US" altLang="zh-TW" dirty="0" smtClean="0"/>
              <a:t>overhead</a:t>
            </a:r>
          </a:p>
          <a:p>
            <a:r>
              <a:rPr lang="zh-TW" altLang="en-US" dirty="0" smtClean="0"/>
              <a:t>因為</a:t>
            </a:r>
            <a:r>
              <a:rPr lang="en-US" altLang="zh-TW" dirty="0" smtClean="0"/>
              <a:t>busy waiting</a:t>
            </a:r>
            <a:r>
              <a:rPr lang="zh-TW" altLang="en-US" dirty="0" smtClean="0"/>
              <a:t>的時機</a:t>
            </a:r>
            <a:r>
              <a:rPr lang="en-US" altLang="zh-TW" dirty="0" smtClean="0"/>
              <a:t> 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≈ </a:t>
            </a:r>
            <a:r>
              <a:rPr lang="en-US" altLang="zh-TW" dirty="0"/>
              <a:t>critical section</a:t>
            </a:r>
            <a:r>
              <a:rPr lang="zh-TW" altLang="en-US" dirty="0"/>
              <a:t>的時間</a:t>
            </a:r>
            <a:endParaRPr lang="en-US" altLang="zh-TW" dirty="0"/>
          </a:p>
          <a:p>
            <a:r>
              <a:rPr lang="en-US" altLang="zh-TW" dirty="0" smtClean="0"/>
              <a:t>Thus, if T(CS + CS) &gt; T(busy waiting)</a:t>
            </a:r>
          </a:p>
          <a:p>
            <a:pPr lvl="1"/>
            <a:r>
              <a:rPr lang="zh-TW" altLang="en-US" dirty="0" smtClean="0"/>
              <a:t>代表</a:t>
            </a:r>
            <a:r>
              <a:rPr lang="en-US" altLang="zh-TW" dirty="0" smtClean="0"/>
              <a:t>critical section</a:t>
            </a:r>
            <a:r>
              <a:rPr lang="zh-TW" altLang="en-US" dirty="0" smtClean="0"/>
              <a:t>短 </a:t>
            </a:r>
            <a:r>
              <a:rPr lang="en-US" altLang="zh-TW" dirty="0" smtClean="0"/>
              <a:t>(</a:t>
            </a:r>
            <a:r>
              <a:rPr lang="zh-TW" altLang="en-US" dirty="0"/>
              <a:t>漫畫只</a:t>
            </a:r>
            <a:r>
              <a:rPr lang="zh-TW" altLang="en-US" dirty="0" smtClean="0"/>
              <a:t>剩下兩頁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使用</a:t>
            </a:r>
            <a:r>
              <a:rPr lang="en-US" altLang="zh-TW" dirty="0" smtClean="0"/>
              <a:t>busy waiting (spin lock)</a:t>
            </a:r>
          </a:p>
          <a:p>
            <a:r>
              <a:rPr lang="en-US" altLang="zh-TW" dirty="0" smtClean="0"/>
              <a:t>Else</a:t>
            </a:r>
          </a:p>
          <a:p>
            <a:pPr lvl="1"/>
            <a:r>
              <a:rPr lang="zh-TW" altLang="en-US" dirty="0"/>
              <a:t>代表</a:t>
            </a:r>
            <a:r>
              <a:rPr lang="en-US" altLang="zh-TW" dirty="0"/>
              <a:t>critical </a:t>
            </a:r>
            <a:r>
              <a:rPr lang="en-US" altLang="zh-TW" dirty="0" smtClean="0"/>
              <a:t>section</a:t>
            </a:r>
            <a:r>
              <a:rPr lang="zh-TW" altLang="en-US" dirty="0"/>
              <a:t>長  </a:t>
            </a:r>
            <a:r>
              <a:rPr lang="en-US" altLang="zh-TW" dirty="0" smtClean="0"/>
              <a:t>(</a:t>
            </a:r>
            <a:r>
              <a:rPr lang="zh-TW" altLang="en-US" dirty="0" smtClean="0"/>
              <a:t>漫畫</a:t>
            </a:r>
            <a:r>
              <a:rPr lang="zh-TW" altLang="en-US" dirty="0"/>
              <a:t>還有很多</a:t>
            </a:r>
            <a:r>
              <a:rPr lang="zh-TW" altLang="en-US" dirty="0" smtClean="0"/>
              <a:t>很多頁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 smtClean="0"/>
              <a:t>使用</a:t>
            </a:r>
            <a:r>
              <a:rPr lang="en-US" altLang="zh-TW" dirty="0" smtClean="0"/>
              <a:t>mutex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177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684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再看一個例子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56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800" dirty="0"/>
              <a:t>Spinlock Is Only Useful in </a:t>
            </a:r>
            <a:r>
              <a:rPr lang="en-US" altLang="zh-TW" sz="3800" dirty="0" smtClean="0"/>
              <a:t>Short CS and in MP </a:t>
            </a:r>
            <a:r>
              <a:rPr lang="en-US" altLang="zh-TW" sz="3800" dirty="0"/>
              <a:t>Systems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351089" y="3357563"/>
            <a:ext cx="28082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TW" altLang="zh-TW"/>
          </a:p>
        </p:txBody>
      </p:sp>
      <p:sp>
        <p:nvSpPr>
          <p:cNvPr id="607245" name="Text Box 13"/>
          <p:cNvSpPr txBox="1">
            <a:spLocks noChangeArrowheads="1"/>
          </p:cNvSpPr>
          <p:nvPr/>
        </p:nvSpPr>
        <p:spPr bwMode="auto">
          <a:xfrm>
            <a:off x="5159375" y="1341439"/>
            <a:ext cx="12618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ourier New" pitchFamily="49" charset="0"/>
              </a:rPr>
              <a:t>slock:1</a:t>
            </a:r>
            <a:endParaRPr lang="en-US" altLang="zh-TW" sz="2000" b="1" dirty="0">
              <a:latin typeface="Courier New" pitchFamily="49" charset="0"/>
            </a:endParaRPr>
          </a:p>
        </p:txBody>
      </p:sp>
      <p:sp>
        <p:nvSpPr>
          <p:cNvPr id="607247" name="Rectangle 15"/>
          <p:cNvSpPr>
            <a:spLocks noChangeArrowheads="1"/>
          </p:cNvSpPr>
          <p:nvPr/>
        </p:nvSpPr>
        <p:spPr bwMode="auto">
          <a:xfrm>
            <a:off x="6135689" y="1403350"/>
            <a:ext cx="358775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607248" name="Rectangle 16"/>
          <p:cNvSpPr>
            <a:spLocks noChangeArrowheads="1"/>
          </p:cNvSpPr>
          <p:nvPr/>
        </p:nvSpPr>
        <p:spPr bwMode="auto">
          <a:xfrm>
            <a:off x="6896768" y="1858454"/>
            <a:ext cx="2808288" cy="149910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zh-TW" sz="2000" b="1" dirty="0" err="1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spin_unlock</a:t>
            </a:r>
            <a:r>
              <a:rPr lang="en-US" altLang="zh-TW" sz="2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(M</a:t>
            </a:r>
            <a:r>
              <a:rPr lang="en-US" altLang="zh-TW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)</a:t>
            </a:r>
            <a:r>
              <a:rPr lang="en-US" altLang="zh-TW" sz="2000" b="1" dirty="0">
                <a:latin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zh-TW" sz="2000" b="1" i="1" dirty="0">
                <a:latin typeface="Courier New" pitchFamily="49" charset="0"/>
              </a:rPr>
              <a:t>   M=1;</a:t>
            </a:r>
            <a:r>
              <a:rPr lang="en-US" altLang="zh-TW" sz="2000" b="1" dirty="0">
                <a:latin typeface="Courier New" pitchFamily="49" charset="0"/>
                <a:sym typeface="Symbol" pitchFamily="18" charset="2"/>
              </a:rPr>
              <a:t/>
            </a:r>
            <a:br>
              <a:rPr lang="en-US" altLang="zh-TW" sz="2000" b="1" dirty="0">
                <a:latin typeface="Courier New" pitchFamily="49" charset="0"/>
                <a:sym typeface="Symbol" pitchFamily="18" charset="2"/>
              </a:rPr>
            </a:br>
            <a:r>
              <a:rPr lang="en-US" altLang="zh-TW" sz="2000" b="1" dirty="0" smtClean="0">
                <a:latin typeface="Courier New" pitchFamily="49" charset="0"/>
                <a:sym typeface="Symbol" pitchFamily="18" charset="2"/>
              </a:rPr>
              <a:t>}</a:t>
            </a:r>
            <a:endParaRPr lang="en-US" altLang="zh-TW" sz="2000" b="1" dirty="0">
              <a:latin typeface="Courier New" pitchFamily="49" charset="0"/>
              <a:sym typeface="Symbol" pitchFamily="18" charset="2"/>
            </a:endParaRPr>
          </a:p>
        </p:txBody>
      </p:sp>
      <p:sp>
        <p:nvSpPr>
          <p:cNvPr id="49159" name="Text Box 4"/>
          <p:cNvSpPr txBox="1">
            <a:spLocks noChangeArrowheads="1"/>
          </p:cNvSpPr>
          <p:nvPr/>
        </p:nvSpPr>
        <p:spPr bwMode="auto">
          <a:xfrm>
            <a:off x="2443912" y="4769857"/>
            <a:ext cx="3724096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err="1" smtClean="0">
                <a:latin typeface="Courier New" pitchFamily="49" charset="0"/>
              </a:rPr>
              <a:t>spin_lock</a:t>
            </a:r>
            <a:r>
              <a:rPr lang="en-US" altLang="zh-TW" sz="2000" b="1" dirty="0" smtClean="0">
                <a:latin typeface="Courier New" pitchFamily="49" charset="0"/>
              </a:rPr>
              <a:t>(</a:t>
            </a:r>
            <a:r>
              <a:rPr lang="en-US" altLang="zh-TW" sz="2000" b="1" dirty="0" err="1" smtClean="0">
                <a:latin typeface="Courier New" pitchFamily="49" charset="0"/>
              </a:rPr>
              <a:t>spin_lock</a:t>
            </a:r>
            <a:r>
              <a:rPr lang="en-US" altLang="zh-TW" sz="2000" b="1" dirty="0" smtClean="0">
                <a:latin typeface="Courier New" pitchFamily="49" charset="0"/>
              </a:rPr>
              <a:t>);</a:t>
            </a:r>
            <a:endParaRPr lang="en-US" altLang="zh-TW" sz="2000" b="1" dirty="0">
              <a:latin typeface="Courier New" pitchFamily="49" charset="0"/>
            </a:endParaRPr>
          </a:p>
          <a:p>
            <a:r>
              <a:rPr lang="en-US" altLang="zh-TW" sz="2000" b="1" dirty="0">
                <a:latin typeface="Courier New" pitchFamily="49" charset="0"/>
              </a:rPr>
              <a:t>// CS</a:t>
            </a:r>
          </a:p>
          <a:p>
            <a:r>
              <a:rPr lang="en-US" altLang="zh-TW" sz="2000" b="1" dirty="0" err="1" smtClean="0">
                <a:latin typeface="Courier New" pitchFamily="49" charset="0"/>
              </a:rPr>
              <a:t>spin_unlock</a:t>
            </a:r>
            <a:r>
              <a:rPr lang="en-US" altLang="zh-TW" sz="2000" b="1" dirty="0" smtClean="0">
                <a:latin typeface="Courier New" pitchFamily="49" charset="0"/>
              </a:rPr>
              <a:t>(</a:t>
            </a:r>
            <a:r>
              <a:rPr lang="en-US" altLang="zh-TW" sz="2000" b="1" dirty="0" err="1" smtClean="0">
                <a:latin typeface="Courier New" pitchFamily="49" charset="0"/>
              </a:rPr>
              <a:t>spin_lock</a:t>
            </a:r>
            <a:r>
              <a:rPr lang="en-US" altLang="zh-TW" sz="2000" b="1" dirty="0" smtClean="0">
                <a:latin typeface="Courier New" pitchFamily="49" charset="0"/>
              </a:rPr>
              <a:t>);</a:t>
            </a:r>
            <a:endParaRPr lang="en-US" altLang="zh-TW" sz="2000" b="1" dirty="0">
              <a:latin typeface="Courier New" pitchFamily="49" charset="0"/>
            </a:endParaRPr>
          </a:p>
          <a:p>
            <a:r>
              <a:rPr lang="en-US" altLang="zh-TW" sz="2000" b="1" dirty="0">
                <a:latin typeface="Courier New" pitchFamily="49" charset="0"/>
              </a:rPr>
              <a:t>B=B+1;</a:t>
            </a:r>
          </a:p>
        </p:txBody>
      </p:sp>
      <p:sp>
        <p:nvSpPr>
          <p:cNvPr id="49160" name="Rectangle 7"/>
          <p:cNvSpPr>
            <a:spLocks noChangeArrowheads="1"/>
          </p:cNvSpPr>
          <p:nvPr/>
        </p:nvSpPr>
        <p:spPr bwMode="auto">
          <a:xfrm>
            <a:off x="2495600" y="4652964"/>
            <a:ext cx="3528392" cy="18002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61" name="Text Box 10"/>
          <p:cNvSpPr txBox="1">
            <a:spLocks noChangeArrowheads="1"/>
          </p:cNvSpPr>
          <p:nvPr/>
        </p:nvSpPr>
        <p:spPr bwMode="auto">
          <a:xfrm>
            <a:off x="2853531" y="4092125"/>
            <a:ext cx="259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process A on processor 1</a:t>
            </a:r>
          </a:p>
        </p:txBody>
      </p:sp>
      <p:sp>
        <p:nvSpPr>
          <p:cNvPr id="607246" name="Rectangle 14"/>
          <p:cNvSpPr>
            <a:spLocks noChangeArrowheads="1"/>
          </p:cNvSpPr>
          <p:nvPr/>
        </p:nvSpPr>
        <p:spPr bwMode="auto">
          <a:xfrm>
            <a:off x="2567608" y="4725144"/>
            <a:ext cx="3028206" cy="370457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7259" name="Rectangle 27"/>
          <p:cNvSpPr>
            <a:spLocks noChangeArrowheads="1"/>
          </p:cNvSpPr>
          <p:nvPr/>
        </p:nvSpPr>
        <p:spPr bwMode="auto">
          <a:xfrm>
            <a:off x="2783632" y="1916113"/>
            <a:ext cx="2709118" cy="1511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dirty="0" err="1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sym typeface="Symbol" pitchFamily="18" charset="2"/>
              </a:rPr>
              <a:t>spin_lock</a:t>
            </a:r>
            <a:r>
              <a:rPr lang="en-US" altLang="zh-TW" sz="2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sym typeface="Symbol" pitchFamily="18" charset="2"/>
              </a:rPr>
              <a:t>(M</a:t>
            </a:r>
            <a:r>
              <a:rPr lang="en-US" altLang="zh-TW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sym typeface="Symbol" pitchFamily="18" charset="2"/>
              </a:rPr>
              <a:t>)</a:t>
            </a:r>
            <a:r>
              <a:rPr lang="en-US" altLang="zh-TW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sym typeface="Symbol" pitchFamily="18" charset="2"/>
              </a:rPr>
              <a:t>{</a:t>
            </a:r>
            <a:r>
              <a:rPr lang="en-US" altLang="zh-TW" sz="2000" dirty="0">
                <a:latin typeface="Courier New" pitchFamily="49" charset="0"/>
                <a:sym typeface="Symbol" pitchFamily="18" charset="2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i="1" dirty="0">
                <a:latin typeface="Courier New" pitchFamily="49" charset="0"/>
                <a:sym typeface="Symbol" pitchFamily="18" charset="2"/>
              </a:rPr>
              <a:t>  while(M==False)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i="1" dirty="0">
                <a:latin typeface="Courier New" pitchFamily="49" charset="0"/>
                <a:sym typeface="Symbol" pitchFamily="18" charset="2"/>
              </a:rPr>
              <a:t>	;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i="1" dirty="0">
                <a:latin typeface="Courier New" pitchFamily="49" charset="0"/>
                <a:sym typeface="Symbol" pitchFamily="18" charset="2"/>
              </a:rPr>
              <a:t>  M=0; </a:t>
            </a:r>
            <a:endParaRPr lang="en-US" altLang="zh-TW" sz="2000" b="1" dirty="0">
              <a:latin typeface="Courier New" pitchFamily="49" charset="0"/>
              <a:sym typeface="Symbol" pitchFamily="18" charset="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TW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49164" name="Text Box 5"/>
          <p:cNvSpPr txBox="1">
            <a:spLocks noChangeArrowheads="1"/>
          </p:cNvSpPr>
          <p:nvPr/>
        </p:nvSpPr>
        <p:spPr bwMode="auto">
          <a:xfrm>
            <a:off x="6814939" y="4797426"/>
            <a:ext cx="3724096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ourier New" pitchFamily="49" charset="0"/>
              </a:rPr>
              <a:t>A=A+1;</a:t>
            </a:r>
          </a:p>
          <a:p>
            <a:r>
              <a:rPr lang="en-US" altLang="zh-TW" sz="2000" b="1" dirty="0" err="1" smtClean="0">
                <a:latin typeface="Courier New" pitchFamily="49" charset="0"/>
              </a:rPr>
              <a:t>spin_lock</a:t>
            </a:r>
            <a:r>
              <a:rPr lang="en-US" altLang="zh-TW" sz="2000" b="1" dirty="0" smtClean="0">
                <a:latin typeface="Courier New" pitchFamily="49" charset="0"/>
              </a:rPr>
              <a:t>(</a:t>
            </a:r>
            <a:r>
              <a:rPr lang="en-US" altLang="zh-TW" sz="2000" b="1" dirty="0" err="1" smtClean="0">
                <a:latin typeface="Courier New" pitchFamily="49" charset="0"/>
              </a:rPr>
              <a:t>spin_lock</a:t>
            </a:r>
            <a:r>
              <a:rPr lang="en-US" altLang="zh-TW" sz="2000" b="1" dirty="0" smtClean="0">
                <a:latin typeface="Courier New" pitchFamily="49" charset="0"/>
              </a:rPr>
              <a:t>);</a:t>
            </a:r>
            <a:endParaRPr lang="en-US" altLang="zh-TW" sz="2000" b="1" dirty="0">
              <a:latin typeface="Courier New" pitchFamily="49" charset="0"/>
            </a:endParaRPr>
          </a:p>
          <a:p>
            <a:r>
              <a:rPr lang="en-US" altLang="zh-TW" sz="2000" b="1" dirty="0">
                <a:latin typeface="Courier New" pitchFamily="49" charset="0"/>
              </a:rPr>
              <a:t>// CS</a:t>
            </a:r>
          </a:p>
          <a:p>
            <a:r>
              <a:rPr lang="en-US" altLang="zh-TW" sz="2000" b="1" dirty="0" err="1" smtClean="0">
                <a:latin typeface="Courier New" pitchFamily="49" charset="0"/>
              </a:rPr>
              <a:t>spin_unlock</a:t>
            </a:r>
            <a:r>
              <a:rPr lang="en-US" altLang="zh-TW" sz="2000" b="1" dirty="0" smtClean="0">
                <a:latin typeface="Courier New" pitchFamily="49" charset="0"/>
              </a:rPr>
              <a:t>(</a:t>
            </a:r>
            <a:r>
              <a:rPr lang="en-US" altLang="zh-TW" sz="2000" b="1" dirty="0" err="1" smtClean="0">
                <a:latin typeface="Courier New" pitchFamily="49" charset="0"/>
              </a:rPr>
              <a:t>spin_lock</a:t>
            </a:r>
            <a:r>
              <a:rPr lang="en-US" altLang="zh-TW" sz="2000" b="1" dirty="0" smtClean="0">
                <a:latin typeface="Courier New" pitchFamily="49" charset="0"/>
              </a:rPr>
              <a:t>);</a:t>
            </a:r>
            <a:endParaRPr lang="en-US" altLang="zh-TW" sz="2000" b="1" dirty="0">
              <a:latin typeface="Courier New" pitchFamily="49" charset="0"/>
            </a:endParaRPr>
          </a:p>
        </p:txBody>
      </p:sp>
      <p:sp>
        <p:nvSpPr>
          <p:cNvPr id="49165" name="Rectangle 8"/>
          <p:cNvSpPr>
            <a:spLocks noChangeArrowheads="1"/>
          </p:cNvSpPr>
          <p:nvPr/>
        </p:nvSpPr>
        <p:spPr bwMode="auto">
          <a:xfrm>
            <a:off x="6814938" y="4652964"/>
            <a:ext cx="3673550" cy="18002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66" name="Text Box 11"/>
          <p:cNvSpPr txBox="1">
            <a:spLocks noChangeArrowheads="1"/>
          </p:cNvSpPr>
          <p:nvPr/>
        </p:nvSpPr>
        <p:spPr bwMode="auto">
          <a:xfrm>
            <a:off x="6960096" y="4090988"/>
            <a:ext cx="2584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process B on processor 2</a:t>
            </a:r>
          </a:p>
        </p:txBody>
      </p:sp>
      <p:sp>
        <p:nvSpPr>
          <p:cNvPr id="607277" name="Rectangle 45"/>
          <p:cNvSpPr>
            <a:spLocks noChangeArrowheads="1"/>
          </p:cNvSpPr>
          <p:nvPr/>
        </p:nvSpPr>
        <p:spPr bwMode="auto">
          <a:xfrm>
            <a:off x="6887965" y="4797427"/>
            <a:ext cx="1008235" cy="3127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7279" name="Rectangle 47"/>
          <p:cNvSpPr>
            <a:spLocks noChangeArrowheads="1"/>
          </p:cNvSpPr>
          <p:nvPr/>
        </p:nvSpPr>
        <p:spPr bwMode="auto">
          <a:xfrm>
            <a:off x="2567608" y="5085184"/>
            <a:ext cx="1103005" cy="368299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7280" name="Rectangle 48"/>
          <p:cNvSpPr>
            <a:spLocks noChangeArrowheads="1"/>
          </p:cNvSpPr>
          <p:nvPr/>
        </p:nvSpPr>
        <p:spPr bwMode="auto">
          <a:xfrm>
            <a:off x="6887964" y="5110164"/>
            <a:ext cx="3168475" cy="33506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7281" name="Text Box 49"/>
          <p:cNvSpPr txBox="1">
            <a:spLocks noChangeArrowheads="1"/>
          </p:cNvSpPr>
          <p:nvPr/>
        </p:nvSpPr>
        <p:spPr bwMode="auto">
          <a:xfrm>
            <a:off x="10081691" y="5120357"/>
            <a:ext cx="1558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busy waiting</a:t>
            </a:r>
          </a:p>
        </p:txBody>
      </p:sp>
      <p:sp>
        <p:nvSpPr>
          <p:cNvPr id="607282" name="Rectangle 50"/>
          <p:cNvSpPr>
            <a:spLocks noChangeArrowheads="1"/>
          </p:cNvSpPr>
          <p:nvPr/>
        </p:nvSpPr>
        <p:spPr bwMode="auto">
          <a:xfrm>
            <a:off x="2567608" y="5445225"/>
            <a:ext cx="3481636" cy="28803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7283" name="Rectangle 51"/>
          <p:cNvSpPr>
            <a:spLocks noChangeArrowheads="1"/>
          </p:cNvSpPr>
          <p:nvPr/>
        </p:nvSpPr>
        <p:spPr bwMode="auto">
          <a:xfrm>
            <a:off x="2567608" y="5733256"/>
            <a:ext cx="1017487" cy="3492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7284" name="Rectangle 52"/>
          <p:cNvSpPr>
            <a:spLocks noChangeArrowheads="1"/>
          </p:cNvSpPr>
          <p:nvPr/>
        </p:nvSpPr>
        <p:spPr bwMode="auto">
          <a:xfrm>
            <a:off x="6887965" y="5373689"/>
            <a:ext cx="1008235" cy="371476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 flipH="1" flipV="1">
            <a:off x="5735961" y="1570510"/>
            <a:ext cx="72008" cy="39467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 flipV="1">
            <a:off x="6023992" y="1700808"/>
            <a:ext cx="792088" cy="35283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179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232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7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0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607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" dur="500"/>
                                        <p:tgtEl>
                                          <p:spTgt spid="607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5" dur="500"/>
                                        <p:tgtEl>
                                          <p:spTgt spid="607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8" dur="500"/>
                                        <p:tgtEl>
                                          <p:spTgt spid="607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2" dur="500"/>
                                        <p:tgtEl>
                                          <p:spTgt spid="607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607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607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4" dur="500"/>
                                        <p:tgtEl>
                                          <p:spTgt spid="607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45" grpId="0"/>
      <p:bldP spid="607247" grpId="0" animBg="1"/>
      <p:bldP spid="607247" grpId="1" animBg="1"/>
      <p:bldP spid="607247" grpId="2" animBg="1"/>
      <p:bldP spid="607246" grpId="0" animBg="1"/>
      <p:bldP spid="607246" grpId="1" animBg="1"/>
      <p:bldP spid="607277" grpId="0" animBg="1"/>
      <p:bldP spid="607277" grpId="1" animBg="1"/>
      <p:bldP spid="607279" grpId="0" animBg="1"/>
      <p:bldP spid="607279" grpId="1" animBg="1"/>
      <p:bldP spid="607280" grpId="0" animBg="1"/>
      <p:bldP spid="607280" grpId="1" animBg="1"/>
      <p:bldP spid="607281" grpId="0"/>
      <p:bldP spid="607281" grpId="1"/>
      <p:bldP spid="607282" grpId="0" animBg="1"/>
      <p:bldP spid="607282" grpId="1" animBg="1"/>
      <p:bldP spid="607283" grpId="0" animBg="1"/>
      <p:bldP spid="607284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Spin Lock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9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</a:t>
            </a:r>
            <a:r>
              <a:rPr lang="en-US" altLang="zh-TW" sz="2800" dirty="0" smtClean="0"/>
              <a:t>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Spin Locks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OS Solution: 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Monitors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181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567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</a:t>
            </a:r>
            <a:r>
              <a:rPr lang="zh-TW" altLang="en-US" sz="4000" dirty="0" smtClean="0"/>
              <a:t>假設我們有三台印表機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所以我們希望最多可以同時有三個</a:t>
            </a:r>
            <a:r>
              <a:rPr lang="en-US" altLang="zh-TW" sz="4000" dirty="0" smtClean="0"/>
              <a:t>processes</a:t>
            </a:r>
            <a:r>
              <a:rPr lang="zh-TW" altLang="en-US" sz="4000" dirty="0" smtClean="0"/>
              <a:t>存取印表機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將</a:t>
            </a:r>
            <a:r>
              <a:rPr lang="zh-TW" altLang="en-US" dirty="0"/>
              <a:t>存取</a:t>
            </a:r>
            <a:r>
              <a:rPr lang="en-US" altLang="zh-TW" dirty="0" smtClean="0"/>
              <a:t>printer</a:t>
            </a:r>
            <a:r>
              <a:rPr lang="zh-TW" altLang="en-US" dirty="0" smtClean="0"/>
              <a:t>視為一個</a:t>
            </a:r>
            <a:r>
              <a:rPr lang="en-US" altLang="zh-TW" dirty="0" smtClean="0"/>
              <a:t>critical section, </a:t>
            </a:r>
          </a:p>
          <a:p>
            <a:r>
              <a:rPr lang="zh-TW" altLang="en-US" dirty="0" smtClean="0"/>
              <a:t>然後最多有三個</a:t>
            </a:r>
            <a:r>
              <a:rPr lang="en-US" altLang="zh-TW" dirty="0" smtClean="0"/>
              <a:t>processes</a:t>
            </a:r>
            <a:r>
              <a:rPr lang="zh-TW" altLang="en-US" dirty="0" smtClean="0"/>
              <a:t>進入</a:t>
            </a:r>
            <a:r>
              <a:rPr lang="en-US" altLang="zh-TW" dirty="0" smtClean="0"/>
              <a:t>critical sections</a:t>
            </a:r>
          </a:p>
          <a:p>
            <a:r>
              <a:rPr lang="en-US" altLang="zh-TW" dirty="0" smtClean="0"/>
              <a:t>Sol.: semaphore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001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</a:t>
            </a:r>
            <a:r>
              <a:rPr lang="en-US" altLang="zh-TW" sz="2800" dirty="0" smtClean="0"/>
              <a:t>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Spin Locks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OS Solution: Semaphores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Semaphore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Semaphore Usage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Monitors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183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448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Semaphore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0"/>
              </a:spcBef>
              <a:defRPr/>
            </a:pPr>
            <a:r>
              <a:rPr lang="en-US" altLang="zh-TW" sz="2800" dirty="0"/>
              <a:t>Semaphore: a more powerful synchronization tool </a:t>
            </a:r>
            <a:r>
              <a:rPr lang="en-US" altLang="zh-TW" sz="2800" dirty="0" smtClean="0"/>
              <a:t>provided </a:t>
            </a:r>
            <a:r>
              <a:rPr lang="en-US" altLang="zh-TW" sz="2800" dirty="0"/>
              <a:t>by </a:t>
            </a:r>
            <a:r>
              <a:rPr lang="en-US" altLang="zh-TW" sz="2800" b="1" dirty="0"/>
              <a:t>OS</a:t>
            </a:r>
            <a:r>
              <a:rPr lang="en-US" altLang="zh-TW" sz="2800" dirty="0"/>
              <a:t> 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altLang="zh-TW" sz="2800" b="1" dirty="0">
                <a:solidFill>
                  <a:srgbClr val="800000"/>
                </a:solidFill>
              </a:rPr>
              <a:t>Semaphore </a:t>
            </a:r>
            <a:r>
              <a:rPr lang="en-US" altLang="zh-TW" sz="2800" b="1" i="1" dirty="0">
                <a:solidFill>
                  <a:srgbClr val="800000"/>
                </a:solidFill>
              </a:rPr>
              <a:t>S</a:t>
            </a:r>
            <a:r>
              <a:rPr lang="en-US" altLang="zh-TW" sz="2800" b="1" dirty="0">
                <a:solidFill>
                  <a:srgbClr val="800000"/>
                </a:solidFill>
              </a:rPr>
              <a:t> – integer variable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TW" sz="2800" dirty="0" smtClean="0"/>
              <a:t>But, each </a:t>
            </a:r>
            <a:r>
              <a:rPr lang="en-US" altLang="zh-TW" sz="2800" dirty="0"/>
              <a:t>semaphore is associated with a </a:t>
            </a:r>
            <a:r>
              <a:rPr lang="en-US" altLang="zh-TW" sz="2800" b="1" dirty="0">
                <a:solidFill>
                  <a:srgbClr val="FF3300"/>
                </a:solidFill>
              </a:rPr>
              <a:t>waiting queue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TW" sz="2800" dirty="0" smtClean="0"/>
              <a:t>Thus, each semaphore is in fact a </a:t>
            </a:r>
            <a:r>
              <a:rPr lang="en-US" altLang="zh-TW" sz="2800" dirty="0"/>
              <a:t>record		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zh-TW" sz="2800" b="1" dirty="0"/>
              <a:t>				</a:t>
            </a:r>
            <a:r>
              <a:rPr lang="en-US" altLang="zh-TW" sz="2800" b="1" dirty="0" err="1" smtClean="0"/>
              <a:t>typedef</a:t>
            </a:r>
            <a:r>
              <a:rPr lang="en-US" altLang="zh-TW" sz="2800" b="1" dirty="0" smtClean="0"/>
              <a:t> </a:t>
            </a:r>
            <a:r>
              <a:rPr lang="en-US" altLang="zh-TW" sz="2800" b="1" dirty="0" err="1"/>
              <a:t>struct</a:t>
            </a:r>
            <a:r>
              <a:rPr lang="en-US" altLang="zh-TW" sz="2800" b="1" dirty="0"/>
              <a:t> {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zh-TW" sz="2800" b="1" dirty="0"/>
              <a:t>		   			</a:t>
            </a:r>
            <a:r>
              <a:rPr lang="en-US" altLang="zh-TW" sz="2800" b="1" dirty="0" err="1"/>
              <a:t>int</a:t>
            </a:r>
            <a:r>
              <a:rPr lang="en-US" altLang="zh-TW" sz="2800" b="1" dirty="0"/>
              <a:t> value;</a:t>
            </a:r>
            <a:br>
              <a:rPr lang="en-US" altLang="zh-TW" sz="2800" b="1" dirty="0"/>
            </a:br>
            <a:r>
              <a:rPr lang="en-US" altLang="zh-TW" sz="2800" b="1" dirty="0"/>
              <a:t>	  			</a:t>
            </a:r>
            <a:r>
              <a:rPr lang="en-US" altLang="zh-TW" sz="2800" b="1" dirty="0" err="1">
                <a:solidFill>
                  <a:srgbClr val="FF3300"/>
                </a:solidFill>
              </a:rPr>
              <a:t>struct</a:t>
            </a:r>
            <a:r>
              <a:rPr lang="en-US" altLang="zh-TW" sz="2800" b="1" dirty="0">
                <a:solidFill>
                  <a:srgbClr val="FF3300"/>
                </a:solidFill>
              </a:rPr>
              <a:t> PCB *L;</a:t>
            </a:r>
            <a:r>
              <a:rPr lang="en-US" altLang="zh-TW" sz="2800" b="1" dirty="0"/>
              <a:t/>
            </a:r>
            <a:br>
              <a:rPr lang="en-US" altLang="zh-TW" sz="2800" b="1" dirty="0"/>
            </a:br>
            <a:r>
              <a:rPr lang="en-US" altLang="zh-TW" sz="2800" b="1" dirty="0"/>
              <a:t>			} semaphore;</a:t>
            </a:r>
            <a:endParaRPr lang="en-US" altLang="zh-TW" sz="2800" dirty="0"/>
          </a:p>
          <a:p>
            <a:pPr eaLnBrk="1" hangingPunct="1">
              <a:spcBef>
                <a:spcPts val="0"/>
              </a:spcBef>
              <a:defRPr/>
            </a:pPr>
            <a:endParaRPr lang="en-US" altLang="zh-TW" sz="2800" dirty="0" smtClean="0"/>
          </a:p>
          <a:p>
            <a:pPr eaLnBrk="1" hangingPunct="1">
              <a:spcBef>
                <a:spcPts val="0"/>
              </a:spcBef>
              <a:defRPr/>
            </a:pPr>
            <a:r>
              <a:rPr lang="en-US" altLang="zh-TW" sz="2800" dirty="0" smtClean="0"/>
              <a:t>Can </a:t>
            </a:r>
            <a:r>
              <a:rPr lang="en-US" altLang="zh-TW" sz="2800" b="1" dirty="0">
                <a:solidFill>
                  <a:srgbClr val="0000FF"/>
                </a:solidFill>
              </a:rPr>
              <a:t>only</a:t>
            </a:r>
            <a:r>
              <a:rPr lang="en-US" altLang="zh-TW" sz="2800" dirty="0"/>
              <a:t> be accessed via two </a:t>
            </a:r>
            <a:r>
              <a:rPr lang="en-US" altLang="zh-TW" sz="2800" dirty="0" smtClean="0"/>
              <a:t>operations, wait() and signal()</a:t>
            </a:r>
            <a:endParaRPr lang="en-US" altLang="zh-TW" sz="2800" dirty="0"/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US" altLang="zh-TW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endParaRPr lang="en-US" altLang="zh-TW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184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Semaphore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7226" y="1412776"/>
            <a:ext cx="8296275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185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942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 smtClean="0"/>
              <a:t>OS </a:t>
            </a:r>
            <a:r>
              <a:rPr lang="zh-TW" altLang="en-US" sz="3200" dirty="0" smtClean="0"/>
              <a:t>必須確保</a:t>
            </a:r>
            <a:r>
              <a:rPr lang="en-US" altLang="zh-TW" sz="3200" dirty="0" smtClean="0"/>
              <a:t> </a:t>
            </a:r>
            <a:r>
              <a:rPr lang="en-US" altLang="zh-TW" sz="3200" dirty="0">
                <a:solidFill>
                  <a:srgbClr val="0000FF"/>
                </a:solidFill>
              </a:rPr>
              <a:t>no two processes </a:t>
            </a:r>
            <a:r>
              <a:rPr lang="en-US" altLang="zh-TW" sz="3200" dirty="0"/>
              <a:t>can execute wait() and signal() </a:t>
            </a:r>
            <a:r>
              <a:rPr lang="en-US" altLang="zh-TW" sz="3200" dirty="0">
                <a:solidFill>
                  <a:srgbClr val="FF0000"/>
                </a:solidFill>
              </a:rPr>
              <a:t>on the same semaphore</a:t>
            </a:r>
            <a:r>
              <a:rPr lang="en-US" altLang="zh-TW" sz="3200" dirty="0"/>
              <a:t> at the same time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OS</a:t>
            </a:r>
            <a:r>
              <a:rPr lang="zh-TW" altLang="en-US" dirty="0" smtClean="0"/>
              <a:t>會利用</a:t>
            </a:r>
            <a:r>
              <a:rPr lang="en-US" altLang="zh-TW" b="1" dirty="0" err="1" smtClean="0"/>
              <a:t>test_and_set</a:t>
            </a:r>
            <a:r>
              <a:rPr lang="zh-TW" altLang="en-US" dirty="0" smtClean="0"/>
              <a:t>或是</a:t>
            </a:r>
            <a:r>
              <a:rPr lang="en-US" altLang="zh-TW" b="1" dirty="0" err="1" smtClean="0"/>
              <a:t>compare_and_set</a:t>
            </a:r>
            <a:r>
              <a:rPr lang="zh-TW" altLang="en-US" dirty="0" smtClean="0"/>
              <a:t>確保上述條件成立</a:t>
            </a:r>
            <a:endParaRPr lang="zh-TW" altLang="en-US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kern="0" dirty="0" smtClean="0"/>
              <a:t>複習</a:t>
            </a:r>
            <a:endParaRPr lang="en-US" altLang="zh-TW" kern="0" dirty="0"/>
          </a:p>
        </p:txBody>
      </p:sp>
    </p:spTree>
    <p:extLst>
      <p:ext uri="{BB962C8B-B14F-4D97-AF65-F5344CB8AC3E}">
        <p14:creationId xmlns:p14="http://schemas.microsoft.com/office/powerpoint/2010/main" val="404823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Semaphore Types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chemeClr val="tx2"/>
                </a:solidFill>
              </a:rPr>
              <a:t>Semaphore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Counting semaphore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unrestricted integer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/>
              <a:t>Control access to a given resource with </a:t>
            </a:r>
            <a:r>
              <a:rPr lang="en-US" altLang="zh-TW" i="1" dirty="0" smtClean="0">
                <a:solidFill>
                  <a:srgbClr val="FF3300"/>
                </a:solidFill>
              </a:rPr>
              <a:t>N</a:t>
            </a:r>
            <a:r>
              <a:rPr lang="en-US" altLang="zh-TW" dirty="0" smtClean="0"/>
              <a:t> instances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/>
              <a:t>Semaphore value is initialized to </a:t>
            </a:r>
            <a:r>
              <a:rPr lang="en-US" altLang="zh-TW" i="1" dirty="0" smtClean="0">
                <a:solidFill>
                  <a:srgbClr val="FF3300"/>
                </a:solidFill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b="1" dirty="0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Binary semaphore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integer value can range only between 0 and 1;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>
                <a:sym typeface="MT Extra" pitchFamily="18" charset="2"/>
              </a:rPr>
              <a:t>Similar to </a:t>
            </a:r>
            <a:r>
              <a:rPr lang="en-US" altLang="zh-TW" b="1" dirty="0" smtClean="0">
                <a:solidFill>
                  <a:schemeClr val="tx2"/>
                </a:solidFill>
                <a:sym typeface="MT Extra" pitchFamily="18" charset="2"/>
              </a:rPr>
              <a:t>mutex locks</a:t>
            </a:r>
            <a:endParaRPr lang="en-US" altLang="zh-TW" dirty="0" smtClean="0">
              <a:solidFill>
                <a:schemeClr val="tx2"/>
              </a:solidFill>
              <a:sym typeface="MT Extra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chemeClr val="tx2"/>
                </a:solidFill>
              </a:rPr>
              <a:t>Binary semaphore is initialized to 1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187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</a:t>
            </a:r>
            <a:r>
              <a:rPr lang="en-US" altLang="zh-TW" sz="2800" dirty="0" smtClean="0"/>
              <a:t>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Spin Locks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Semaphores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Semaphore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Semaphore Usage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Monitors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188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341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使用</a:t>
            </a:r>
            <a:r>
              <a:rPr lang="en-US" altLang="zh-TW" dirty="0" smtClean="0"/>
              <a:t>semaphore </a:t>
            </a:r>
            <a:r>
              <a:rPr lang="zh-TW" altLang="en-US" dirty="0" smtClean="0"/>
              <a:t>同樣可以實現</a:t>
            </a:r>
            <a:r>
              <a:rPr lang="en-US" altLang="zh-TW" dirty="0" smtClean="0"/>
              <a:t>mutual exclusion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28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>
                <a:latin typeface="Calibri" panose="020F0502020204030204" pitchFamily="34" charset="0"/>
              </a:rPr>
              <a:t>Mutual-Exclusion </a:t>
            </a:r>
            <a:r>
              <a:rPr lang="en-US" altLang="zh-TW" sz="4000" dirty="0" smtClean="0">
                <a:latin typeface="Calibri" panose="020F0502020204030204" pitchFamily="34" charset="0"/>
              </a:rPr>
              <a:t>with </a:t>
            </a:r>
            <a:r>
              <a:rPr lang="en-US" altLang="zh-TW" sz="4000" dirty="0">
                <a:solidFill>
                  <a:srgbClr val="FF0000"/>
                </a:solidFill>
                <a:latin typeface="Calibri" panose="020F0502020204030204" pitchFamily="34" charset="0"/>
              </a:rPr>
              <a:t>Binary Semaphores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latin typeface="Calibri" panose="020F0502020204030204" pitchFamily="34" charset="0"/>
              </a:rPr>
              <a:t>For </a:t>
            </a:r>
            <a:r>
              <a:rPr lang="en-US" altLang="zh-TW" sz="2400" i="1" dirty="0">
                <a:latin typeface="Calibri" panose="020F0502020204030204" pitchFamily="34" charset="0"/>
              </a:rPr>
              <a:t>n</a:t>
            </a:r>
            <a:r>
              <a:rPr lang="en-US" altLang="zh-TW" sz="2400" dirty="0">
                <a:latin typeface="Calibri" panose="020F0502020204030204" pitchFamily="34" charset="0"/>
              </a:rPr>
              <a:t> processes, initialize</a:t>
            </a: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S </a:t>
            </a:r>
            <a:r>
              <a:rPr lang="en-US" altLang="zh-TW" sz="2400" dirty="0">
                <a:latin typeface="Calibri" panose="020F0502020204030204" pitchFamily="34" charset="0"/>
              </a:rPr>
              <a:t>value to </a:t>
            </a: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latin typeface="Calibri" panose="020F0502020204030204" pitchFamily="34" charset="0"/>
              </a:rPr>
              <a:t>Then only </a:t>
            </a:r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1</a:t>
            </a:r>
            <a:r>
              <a:rPr lang="en-US" altLang="zh-TW" sz="2400" dirty="0">
                <a:latin typeface="Calibri" panose="020F0502020204030204" pitchFamily="34" charset="0"/>
              </a:rPr>
              <a:t> process is allowed into CS (mutual exclusion)</a:t>
            </a: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66232" y="2636912"/>
            <a:ext cx="6481762" cy="390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General Idea: Mutual-Exclusion with </a:t>
            </a:r>
            <a:r>
              <a:rPr lang="en-US" altLang="zh-TW" dirty="0">
                <a:solidFill>
                  <a:srgbClr val="FF0000"/>
                </a:solidFill>
              </a:rPr>
              <a:t>Binary Semaphores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916832"/>
            <a:ext cx="1697691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443989" y="2332612"/>
            <a:ext cx="3055645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471" b="1" dirty="0" smtClean="0">
                <a:solidFill>
                  <a:srgbClr val="3333FF"/>
                </a:solidFill>
                <a:latin typeface="Trebuchet MS" panose="020B0603020202020204" pitchFamily="34" charset="0"/>
              </a:rPr>
              <a:t>Acquire semaphore</a:t>
            </a:r>
            <a:endParaRPr kumimoji="0" lang="en-US" altLang="zh-TW" sz="2471" b="1" dirty="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375919" y="4396595"/>
            <a:ext cx="3049233" cy="47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471" b="1" dirty="0" smtClean="0">
                <a:solidFill>
                  <a:srgbClr val="3333FF"/>
                </a:solidFill>
                <a:latin typeface="Trebuchet MS" panose="020B0603020202020204" pitchFamily="34" charset="0"/>
              </a:rPr>
              <a:t>Release semaphore</a:t>
            </a:r>
            <a:endParaRPr kumimoji="0" lang="en-US" altLang="zh-TW" sz="2471" b="1" dirty="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635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/>
              <a:t>Mutual-Exclusion </a:t>
            </a:r>
            <a:r>
              <a:rPr lang="en-US" altLang="zh-TW" sz="4000" dirty="0" smtClean="0"/>
              <a:t>with Binary Semaphores</a:t>
            </a:r>
            <a:endParaRPr lang="en-US" altLang="zh-TW" sz="4000" dirty="0"/>
          </a:p>
        </p:txBody>
      </p:sp>
      <p:sp>
        <p:nvSpPr>
          <p:cNvPr id="45059" name="Text Box 5"/>
          <p:cNvSpPr txBox="1">
            <a:spLocks noChangeArrowheads="1"/>
          </p:cNvSpPr>
          <p:nvPr/>
        </p:nvSpPr>
        <p:spPr bwMode="auto">
          <a:xfrm>
            <a:off x="2351089" y="3357563"/>
            <a:ext cx="28082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1919289" y="4437064"/>
            <a:ext cx="14702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itchFamily="34" charset="0"/>
              </a:rPr>
              <a:t>wait(</a:t>
            </a:r>
            <a:r>
              <a:rPr lang="en-US" altLang="zh-TW" sz="2000" b="1" dirty="0" err="1" smtClean="0">
                <a:latin typeface="Calibri" pitchFamily="34" charset="0"/>
              </a:rPr>
              <a:t>sem</a:t>
            </a:r>
            <a:r>
              <a:rPr lang="en-US" altLang="zh-TW" sz="2000" b="1" dirty="0" smtClean="0">
                <a:latin typeface="Calibri" pitchFamily="34" charset="0"/>
              </a:rPr>
              <a:t>);</a:t>
            </a:r>
            <a:endParaRPr lang="en-US" altLang="zh-TW" sz="2000" b="1" dirty="0">
              <a:latin typeface="Calibri" pitchFamily="34" charset="0"/>
            </a:endParaRPr>
          </a:p>
          <a:p>
            <a:r>
              <a:rPr lang="en-US" altLang="zh-TW" sz="2000" b="1" dirty="0">
                <a:latin typeface="Calibri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itchFamily="34" charset="0"/>
              </a:rPr>
              <a:t>signal(</a:t>
            </a:r>
            <a:r>
              <a:rPr lang="en-US" altLang="zh-TW" sz="2000" b="1" dirty="0" err="1" smtClean="0">
                <a:latin typeface="Calibri" pitchFamily="34" charset="0"/>
              </a:rPr>
              <a:t>sem</a:t>
            </a:r>
            <a:r>
              <a:rPr lang="en-US" altLang="zh-TW" sz="2000" b="1" dirty="0" smtClean="0">
                <a:latin typeface="Calibri" pitchFamily="34" charset="0"/>
              </a:rPr>
              <a:t>);</a:t>
            </a: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45061" name="Text Box 8"/>
          <p:cNvSpPr txBox="1">
            <a:spLocks noChangeArrowheads="1"/>
          </p:cNvSpPr>
          <p:nvPr/>
        </p:nvSpPr>
        <p:spPr bwMode="auto">
          <a:xfrm>
            <a:off x="4727576" y="4437064"/>
            <a:ext cx="14702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itchFamily="34" charset="0"/>
              </a:rPr>
              <a:t>wait(</a:t>
            </a:r>
            <a:r>
              <a:rPr lang="en-US" altLang="zh-TW" sz="2000" b="1" dirty="0" err="1" smtClean="0">
                <a:latin typeface="Calibri" pitchFamily="34" charset="0"/>
              </a:rPr>
              <a:t>sem</a:t>
            </a:r>
            <a:r>
              <a:rPr lang="en-US" altLang="zh-TW" sz="2000" b="1" dirty="0" smtClean="0">
                <a:latin typeface="Calibri" pitchFamily="34" charset="0"/>
              </a:rPr>
              <a:t>);</a:t>
            </a:r>
            <a:endParaRPr lang="en-US" altLang="zh-TW" sz="2000" b="1" dirty="0">
              <a:latin typeface="Calibri" pitchFamily="34" charset="0"/>
            </a:endParaRPr>
          </a:p>
          <a:p>
            <a:r>
              <a:rPr lang="en-US" altLang="zh-TW" sz="2000" b="1" dirty="0">
                <a:latin typeface="Calibri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itchFamily="34" charset="0"/>
              </a:rPr>
              <a:t>signal(</a:t>
            </a:r>
            <a:r>
              <a:rPr lang="en-US" altLang="zh-TW" sz="2000" b="1" dirty="0" err="1" smtClean="0">
                <a:latin typeface="Calibri" pitchFamily="34" charset="0"/>
              </a:rPr>
              <a:t>sem</a:t>
            </a:r>
            <a:r>
              <a:rPr lang="en-US" altLang="zh-TW" sz="2000" b="1" dirty="0" smtClean="0">
                <a:latin typeface="Calibri" pitchFamily="34" charset="0"/>
              </a:rPr>
              <a:t>);</a:t>
            </a: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45062" name="Text Box 9"/>
          <p:cNvSpPr txBox="1">
            <a:spLocks noChangeArrowheads="1"/>
          </p:cNvSpPr>
          <p:nvPr/>
        </p:nvSpPr>
        <p:spPr bwMode="auto">
          <a:xfrm>
            <a:off x="7535864" y="4438651"/>
            <a:ext cx="14702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Calibri" pitchFamily="34" charset="0"/>
              </a:rPr>
              <a:t>wait(</a:t>
            </a:r>
            <a:r>
              <a:rPr lang="en-US" altLang="zh-TW" sz="2000" b="1" dirty="0" err="1" smtClean="0">
                <a:latin typeface="Calibri" pitchFamily="34" charset="0"/>
              </a:rPr>
              <a:t>sem</a:t>
            </a:r>
            <a:r>
              <a:rPr lang="en-US" altLang="zh-TW" sz="2000" b="1" dirty="0" smtClean="0">
                <a:latin typeface="Calibri" pitchFamily="34" charset="0"/>
              </a:rPr>
              <a:t>);</a:t>
            </a:r>
            <a:endParaRPr lang="en-US" altLang="zh-TW" sz="2000" b="1" dirty="0">
              <a:latin typeface="Calibri" pitchFamily="34" charset="0"/>
            </a:endParaRPr>
          </a:p>
          <a:p>
            <a:r>
              <a:rPr lang="en-US" altLang="zh-TW" sz="2000" b="1" dirty="0">
                <a:latin typeface="Calibri" pitchFamily="34" charset="0"/>
              </a:rPr>
              <a:t>// CS</a:t>
            </a:r>
          </a:p>
          <a:p>
            <a:r>
              <a:rPr lang="en-US" altLang="zh-TW" sz="2000" b="1" dirty="0" smtClean="0">
                <a:latin typeface="Calibri" pitchFamily="34" charset="0"/>
              </a:rPr>
              <a:t>signal(</a:t>
            </a:r>
            <a:r>
              <a:rPr lang="en-US" altLang="zh-TW" sz="2000" b="1" dirty="0" err="1" smtClean="0">
                <a:latin typeface="Calibri" pitchFamily="34" charset="0"/>
              </a:rPr>
              <a:t>sem</a:t>
            </a:r>
            <a:r>
              <a:rPr lang="en-US" altLang="zh-TW" sz="2000" b="1" dirty="0" smtClean="0">
                <a:latin typeface="Calibri" pitchFamily="34" charset="0"/>
              </a:rPr>
              <a:t>);</a:t>
            </a: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45063" name="Rectangle 10"/>
          <p:cNvSpPr>
            <a:spLocks noChangeArrowheads="1"/>
          </p:cNvSpPr>
          <p:nvPr/>
        </p:nvSpPr>
        <p:spPr bwMode="auto">
          <a:xfrm>
            <a:off x="1919288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4" name="Rectangle 11"/>
          <p:cNvSpPr>
            <a:spLocks noChangeArrowheads="1"/>
          </p:cNvSpPr>
          <p:nvPr/>
        </p:nvSpPr>
        <p:spPr bwMode="auto">
          <a:xfrm>
            <a:off x="4727575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5" name="Rectangle 12"/>
          <p:cNvSpPr>
            <a:spLocks noChangeArrowheads="1"/>
          </p:cNvSpPr>
          <p:nvPr/>
        </p:nvSpPr>
        <p:spPr bwMode="auto">
          <a:xfrm>
            <a:off x="7535863" y="4292601"/>
            <a:ext cx="2305050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5066" name="Text Box 13"/>
          <p:cNvSpPr txBox="1">
            <a:spLocks noChangeArrowheads="1"/>
          </p:cNvSpPr>
          <p:nvPr/>
        </p:nvSpPr>
        <p:spPr bwMode="auto">
          <a:xfrm>
            <a:off x="2424113" y="3860801"/>
            <a:ext cx="1130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A</a:t>
            </a:r>
          </a:p>
        </p:txBody>
      </p:sp>
      <p:sp>
        <p:nvSpPr>
          <p:cNvPr id="45067" name="Text Box 14"/>
          <p:cNvSpPr txBox="1">
            <a:spLocks noChangeArrowheads="1"/>
          </p:cNvSpPr>
          <p:nvPr/>
        </p:nvSpPr>
        <p:spPr bwMode="auto">
          <a:xfrm>
            <a:off x="5375275" y="3860801"/>
            <a:ext cx="111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B</a:t>
            </a:r>
          </a:p>
        </p:txBody>
      </p:sp>
      <p:sp>
        <p:nvSpPr>
          <p:cNvPr id="45068" name="Text Box 15"/>
          <p:cNvSpPr txBox="1">
            <a:spLocks noChangeArrowheads="1"/>
          </p:cNvSpPr>
          <p:nvPr/>
        </p:nvSpPr>
        <p:spPr bwMode="auto">
          <a:xfrm>
            <a:off x="8040688" y="3860800"/>
            <a:ext cx="10795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C</a:t>
            </a:r>
          </a:p>
        </p:txBody>
      </p:sp>
      <p:sp>
        <p:nvSpPr>
          <p:cNvPr id="602128" name="Text Box 16"/>
          <p:cNvSpPr txBox="1">
            <a:spLocks noChangeArrowheads="1"/>
          </p:cNvSpPr>
          <p:nvPr/>
        </p:nvSpPr>
        <p:spPr bwMode="auto">
          <a:xfrm>
            <a:off x="2207568" y="1628800"/>
            <a:ext cx="11996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err="1">
                <a:latin typeface="Calibri" panose="020F0502020204030204" pitchFamily="34" charset="0"/>
              </a:rPr>
              <a:t>S.value</a:t>
            </a:r>
            <a:r>
              <a:rPr lang="en-US" altLang="zh-TW" sz="2000" b="1" dirty="0">
                <a:latin typeface="Calibri" pitchFamily="34" charset="0"/>
              </a:rPr>
              <a:t>: 1</a:t>
            </a:r>
          </a:p>
        </p:txBody>
      </p:sp>
      <p:sp>
        <p:nvSpPr>
          <p:cNvPr id="602129" name="Rectangle 17"/>
          <p:cNvSpPr>
            <a:spLocks noChangeArrowheads="1"/>
          </p:cNvSpPr>
          <p:nvPr/>
        </p:nvSpPr>
        <p:spPr bwMode="auto">
          <a:xfrm>
            <a:off x="1992313" y="4437063"/>
            <a:ext cx="1871662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0" name="Rectangle 18"/>
          <p:cNvSpPr>
            <a:spLocks noChangeArrowheads="1"/>
          </p:cNvSpPr>
          <p:nvPr/>
        </p:nvSpPr>
        <p:spPr bwMode="auto">
          <a:xfrm>
            <a:off x="3134148" y="1691284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02132" name="Rectangle 20"/>
          <p:cNvSpPr>
            <a:spLocks noChangeArrowheads="1"/>
          </p:cNvSpPr>
          <p:nvPr/>
        </p:nvSpPr>
        <p:spPr bwMode="auto">
          <a:xfrm>
            <a:off x="1992313" y="4797426"/>
            <a:ext cx="1871662" cy="360363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3" name="AutoShape 21"/>
          <p:cNvSpPr>
            <a:spLocks noChangeArrowheads="1"/>
          </p:cNvSpPr>
          <p:nvPr/>
        </p:nvSpPr>
        <p:spPr bwMode="auto">
          <a:xfrm>
            <a:off x="3935414" y="3644901"/>
            <a:ext cx="1214437" cy="733425"/>
          </a:xfrm>
          <a:prstGeom prst="curvedDown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4" name="Rectangle 22"/>
          <p:cNvSpPr>
            <a:spLocks noChangeArrowheads="1"/>
          </p:cNvSpPr>
          <p:nvPr/>
        </p:nvSpPr>
        <p:spPr bwMode="auto">
          <a:xfrm>
            <a:off x="4800601" y="4437063"/>
            <a:ext cx="1871663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6" name="Text Box 24"/>
          <p:cNvSpPr txBox="1">
            <a:spLocks noChangeArrowheads="1"/>
          </p:cNvSpPr>
          <p:nvPr/>
        </p:nvSpPr>
        <p:spPr bwMode="auto">
          <a:xfrm>
            <a:off x="5735639" y="4149725"/>
            <a:ext cx="20842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 (waiting)</a:t>
            </a:r>
          </a:p>
        </p:txBody>
      </p:sp>
      <p:sp>
        <p:nvSpPr>
          <p:cNvPr id="602137" name="AutoShape 25"/>
          <p:cNvSpPr>
            <a:spLocks noChangeArrowheads="1"/>
          </p:cNvSpPr>
          <p:nvPr/>
        </p:nvSpPr>
        <p:spPr bwMode="auto">
          <a:xfrm flipV="1">
            <a:off x="6816725" y="5516564"/>
            <a:ext cx="1214438" cy="720725"/>
          </a:xfrm>
          <a:prstGeom prst="curvedDownArrow">
            <a:avLst>
              <a:gd name="adj1" fmla="val 33700"/>
              <a:gd name="adj2" fmla="val 6740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8" name="Rectangle 26"/>
          <p:cNvSpPr>
            <a:spLocks noChangeArrowheads="1"/>
          </p:cNvSpPr>
          <p:nvPr/>
        </p:nvSpPr>
        <p:spPr bwMode="auto">
          <a:xfrm>
            <a:off x="7608888" y="4437063"/>
            <a:ext cx="1871662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39" name="Text Box 27"/>
          <p:cNvSpPr txBox="1">
            <a:spLocks noChangeArrowheads="1"/>
          </p:cNvSpPr>
          <p:nvPr/>
        </p:nvSpPr>
        <p:spPr bwMode="auto">
          <a:xfrm>
            <a:off x="8543926" y="4149725"/>
            <a:ext cx="20842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 (waiting)</a:t>
            </a:r>
          </a:p>
        </p:txBody>
      </p:sp>
      <p:sp>
        <p:nvSpPr>
          <p:cNvPr id="602140" name="AutoShape 28"/>
          <p:cNvSpPr>
            <a:spLocks noChangeArrowheads="1"/>
          </p:cNvSpPr>
          <p:nvPr/>
        </p:nvSpPr>
        <p:spPr bwMode="auto">
          <a:xfrm flipH="1">
            <a:off x="2711450" y="5734051"/>
            <a:ext cx="6337300" cy="733425"/>
          </a:xfrm>
          <a:prstGeom prst="curvedUpArrow">
            <a:avLst>
              <a:gd name="adj1" fmla="val 172814"/>
              <a:gd name="adj2" fmla="val 34562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41" name="Rectangle 29"/>
          <p:cNvSpPr>
            <a:spLocks noChangeArrowheads="1"/>
          </p:cNvSpPr>
          <p:nvPr/>
        </p:nvSpPr>
        <p:spPr bwMode="auto">
          <a:xfrm>
            <a:off x="1992313" y="5084763"/>
            <a:ext cx="1943100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2143" name="Rectangle 31"/>
          <p:cNvSpPr>
            <a:spLocks noChangeArrowheads="1"/>
          </p:cNvSpPr>
          <p:nvPr/>
        </p:nvSpPr>
        <p:spPr bwMode="auto">
          <a:xfrm>
            <a:off x="4800601" y="4724400"/>
            <a:ext cx="1871663" cy="4333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4127706" y="1340769"/>
            <a:ext cx="3840502" cy="165433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TW" sz="20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>
              <a:defRPr/>
            </a:pPr>
            <a:r>
              <a:rPr lang="en-US" altLang="zh-TW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wait (S) </a:t>
            </a:r>
            <a:r>
              <a:rPr lang="en-US" altLang="zh-TW" sz="2000" b="1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en-US" altLang="zh-TW" sz="2000" b="1" i="1" dirty="0">
                <a:latin typeface="Calibri" pitchFamily="34" charset="0"/>
              </a:rPr>
              <a:t>   </a:t>
            </a:r>
            <a:r>
              <a:rPr lang="en-US" altLang="zh-TW" sz="2000" b="1" i="1" dirty="0" err="1">
                <a:latin typeface="Calibri" pitchFamily="34" charset="0"/>
              </a:rPr>
              <a:t>S.Value</a:t>
            </a:r>
            <a:r>
              <a:rPr lang="en-US" altLang="zh-TW" sz="2000" b="1" i="1" dirty="0">
                <a:latin typeface="Calibri" pitchFamily="34" charset="0"/>
              </a:rPr>
              <a:t>--;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if (</a:t>
            </a:r>
            <a:r>
              <a:rPr lang="en-US" altLang="zh-TW" sz="2000" b="1" i="1" dirty="0" err="1">
                <a:latin typeface="Calibri" pitchFamily="34" charset="0"/>
              </a:rPr>
              <a:t>S.Value</a:t>
            </a:r>
            <a:r>
              <a:rPr lang="en-US" altLang="zh-TW" sz="2000" b="1" i="1" dirty="0">
                <a:latin typeface="Calibri" pitchFamily="34" charset="0"/>
              </a:rPr>
              <a:t> &lt; 0 </a:t>
            </a: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)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   Add process to S.L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}</a:t>
            </a:r>
          </a:p>
          <a:p>
            <a:pPr>
              <a:defRPr/>
            </a:pP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4223793" y="1340769"/>
            <a:ext cx="4140437" cy="165433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TW" sz="20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pitchFamily="34" charset="0"/>
            </a:endParaRPr>
          </a:p>
          <a:p>
            <a:pPr>
              <a:defRPr/>
            </a:pPr>
            <a:r>
              <a:rPr lang="en-US" altLang="zh-TW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singal</a:t>
            </a:r>
            <a:r>
              <a:rPr lang="en-US" altLang="zh-TW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 (S) </a:t>
            </a:r>
            <a:r>
              <a:rPr lang="en-US" altLang="zh-TW" sz="2000" b="1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en-US" altLang="zh-TW" sz="2000" b="1" i="1" dirty="0">
                <a:latin typeface="Calibri" pitchFamily="34" charset="0"/>
              </a:rPr>
              <a:t>   </a:t>
            </a:r>
            <a:r>
              <a:rPr lang="en-US" altLang="zh-TW" sz="2000" b="1" i="1" dirty="0" err="1">
                <a:latin typeface="Calibri" pitchFamily="34" charset="0"/>
              </a:rPr>
              <a:t>S.Value</a:t>
            </a:r>
            <a:r>
              <a:rPr lang="en-US" altLang="zh-TW" sz="2000" b="1" i="1" dirty="0">
                <a:latin typeface="Calibri" pitchFamily="34" charset="0"/>
              </a:rPr>
              <a:t>++;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if (</a:t>
            </a:r>
            <a:r>
              <a:rPr lang="en-US" altLang="zh-TW" sz="2000" b="1" i="1" dirty="0" err="1">
                <a:latin typeface="Calibri" pitchFamily="34" charset="0"/>
              </a:rPr>
              <a:t>S.Value</a:t>
            </a:r>
            <a:r>
              <a:rPr lang="en-US" altLang="zh-TW" sz="2000" b="1" i="1" dirty="0">
                <a:latin typeface="Calibri" pitchFamily="34" charset="0"/>
              </a:rPr>
              <a:t> &lt;= 0</a:t>
            </a: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)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  Wake process from S.L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}</a:t>
            </a:r>
          </a:p>
          <a:p>
            <a:pPr>
              <a:defRPr/>
            </a:pP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2207568" y="2060848"/>
            <a:ext cx="5549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S.L:</a:t>
            </a:r>
          </a:p>
        </p:txBody>
      </p:sp>
      <p:sp>
        <p:nvSpPr>
          <p:cNvPr id="32" name="圓角矩形 31"/>
          <p:cNvSpPr/>
          <p:nvPr/>
        </p:nvSpPr>
        <p:spPr>
          <a:xfrm>
            <a:off x="2711624" y="2070373"/>
            <a:ext cx="36004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itchFamily="34" charset="0"/>
              </a:rPr>
              <a:t>B</a:t>
            </a:r>
            <a:endParaRPr lang="zh-TW" altLang="en-US" sz="24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3143672" y="2060848"/>
            <a:ext cx="36004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itchFamily="34" charset="0"/>
              </a:rPr>
              <a:t>C</a:t>
            </a:r>
            <a:endParaRPr lang="zh-TW" altLang="en-US" sz="24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4" name="Rectangle 18"/>
          <p:cNvSpPr>
            <a:spLocks noChangeArrowheads="1"/>
          </p:cNvSpPr>
          <p:nvPr/>
        </p:nvSpPr>
        <p:spPr bwMode="auto">
          <a:xfrm>
            <a:off x="3143673" y="1701504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-1</a:t>
            </a:r>
          </a:p>
        </p:txBody>
      </p: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3143673" y="1700809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-2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381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0" fill="hold"/>
                                        <p:tgtEl>
                                          <p:spTgt spid="602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" dur="500"/>
                                        <p:tgtEl>
                                          <p:spTgt spid="602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602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602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0" dur="500"/>
                                        <p:tgtEl>
                                          <p:spTgt spid="602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4" dur="500"/>
                                        <p:tgtEl>
                                          <p:spTgt spid="60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" presetClass="emph" presetSubtype="0" accel="50000" decel="5000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4" dur="500"/>
                                        <p:tgtEl>
                                          <p:spTgt spid="60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0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4" dur="500"/>
                                        <p:tgtEl>
                                          <p:spTgt spid="60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0" dur="500"/>
                                        <p:tgtEl>
                                          <p:spTgt spid="60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74" dur="500"/>
                                        <p:tgtEl>
                                          <p:spTgt spid="602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60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28" grpId="0"/>
      <p:bldP spid="602129" grpId="0" animBg="1"/>
      <p:bldP spid="602129" grpId="1" animBg="1"/>
      <p:bldP spid="602130" grpId="0" animBg="1"/>
      <p:bldP spid="602130" grpId="1" animBg="1"/>
      <p:bldP spid="602132" grpId="0" animBg="1"/>
      <p:bldP spid="602132" grpId="1" animBg="1"/>
      <p:bldP spid="602133" grpId="0" animBg="1"/>
      <p:bldP spid="602133" grpId="1" animBg="1"/>
      <p:bldP spid="602133" grpId="2" animBg="1"/>
      <p:bldP spid="602133" grpId="3" animBg="1"/>
      <p:bldP spid="602134" grpId="0" animBg="1"/>
      <p:bldP spid="602134" grpId="1" animBg="1"/>
      <p:bldP spid="602136" grpId="0"/>
      <p:bldP spid="602136" grpId="1"/>
      <p:bldP spid="602137" grpId="0" animBg="1"/>
      <p:bldP spid="602137" grpId="1" animBg="1"/>
      <p:bldP spid="602138" grpId="0" animBg="1"/>
      <p:bldP spid="602139" grpId="0"/>
      <p:bldP spid="602140" grpId="0" animBg="1"/>
      <p:bldP spid="602140" grpId="1" animBg="1"/>
      <p:bldP spid="602141" grpId="0" animBg="1"/>
      <p:bldP spid="602141" grpId="1" animBg="1"/>
      <p:bldP spid="602143" grpId="0" animBg="1"/>
      <p:bldP spid="29" grpId="0" animBg="1"/>
      <p:bldP spid="29" grpId="1" animBg="1"/>
      <p:bldP spid="30" grpId="0" animBg="1"/>
      <p:bldP spid="31" grpId="0"/>
      <p:bldP spid="32" grpId="0" animBg="1"/>
      <p:bldP spid="32" grpId="1" animBg="1"/>
      <p:bldP spid="32" grpId="2" animBg="1"/>
      <p:bldP spid="33" grpId="0" animBg="1"/>
      <p:bldP spid="34" grpId="0" animBg="1"/>
      <p:bldP spid="35" grpId="0" animBg="1"/>
      <p:bldP spid="35" grpId="1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使用</a:t>
            </a:r>
            <a:r>
              <a:rPr lang="en-US" altLang="zh-TW" dirty="0" smtClean="0"/>
              <a:t> semaphore </a:t>
            </a:r>
            <a:r>
              <a:rPr lang="zh-TW" altLang="en-US" dirty="0" smtClean="0"/>
              <a:t>也可以做到不同的事情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See the following slides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329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>
                <a:latin typeface="Calibri" panose="020F0502020204030204" pitchFamily="34" charset="0"/>
              </a:rPr>
              <a:t>Using Semaphores to Synchronize Processes</a:t>
            </a:r>
          </a:p>
        </p:txBody>
      </p:sp>
      <p:sp>
        <p:nvSpPr>
          <p:cNvPr id="4608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latin typeface="Calibri" panose="020F0502020204030204" pitchFamily="34" charset="0"/>
              </a:rPr>
              <a:t>Semaphore can also be used to solve synchronization problems.</a:t>
            </a:r>
          </a:p>
          <a:p>
            <a:pPr eaLnBrk="1" hangingPunct="1"/>
            <a:r>
              <a:rPr lang="en-US" altLang="zh-TW" sz="2800" dirty="0" smtClean="0"/>
              <a:t>Problem</a:t>
            </a:r>
            <a:r>
              <a:rPr lang="en-US" altLang="zh-TW" sz="2800" dirty="0" smtClean="0">
                <a:latin typeface="Calibri" panose="020F0502020204030204" pitchFamily="34" charset="0"/>
              </a:rPr>
              <a:t>:</a:t>
            </a:r>
            <a:endParaRPr lang="en-US" altLang="zh-TW" sz="2800" dirty="0">
              <a:latin typeface="Calibri" panose="020F0502020204030204" pitchFamily="34" charset="0"/>
            </a:endParaRPr>
          </a:p>
          <a:p>
            <a:pPr lvl="1" eaLnBrk="1" hangingPunct="1"/>
            <a:r>
              <a:rPr lang="en-US" altLang="zh-TW" sz="2400" dirty="0" smtClean="0">
                <a:latin typeface="Calibri" panose="020F0502020204030204" pitchFamily="34" charset="0"/>
              </a:rPr>
              <a:t>Two </a:t>
            </a:r>
            <a:r>
              <a:rPr lang="en-US" altLang="zh-TW" sz="2400" dirty="0">
                <a:latin typeface="Calibri" panose="020F0502020204030204" pitchFamily="34" charset="0"/>
              </a:rPr>
              <a:t>processes: </a:t>
            </a:r>
            <a:r>
              <a:rPr lang="en-US" altLang="zh-TW" sz="2400" i="1" dirty="0">
                <a:latin typeface="Calibri" panose="020F0502020204030204" pitchFamily="34" charset="0"/>
              </a:rPr>
              <a:t>P1</a:t>
            </a:r>
            <a:r>
              <a:rPr lang="en-US" altLang="zh-TW" sz="2400" dirty="0">
                <a:latin typeface="Calibri" panose="020F0502020204030204" pitchFamily="34" charset="0"/>
              </a:rPr>
              <a:t> and </a:t>
            </a:r>
            <a:r>
              <a:rPr lang="en-US" altLang="zh-TW" sz="2400" i="1" dirty="0">
                <a:latin typeface="Calibri" panose="020F0502020204030204" pitchFamily="34" charset="0"/>
              </a:rPr>
              <a:t>P2</a:t>
            </a:r>
          </a:p>
          <a:p>
            <a:pPr lvl="1" eaLnBrk="1" hangingPunct="1"/>
            <a:endParaRPr lang="en-US" altLang="zh-TW" sz="2400" dirty="0" smtClean="0">
              <a:latin typeface="Calibri" panose="020F0502020204030204" pitchFamily="34" charset="0"/>
            </a:endParaRPr>
          </a:p>
          <a:p>
            <a:pPr lvl="1" eaLnBrk="1" hangingPunct="1"/>
            <a:r>
              <a:rPr lang="en-US" altLang="zh-TW" sz="2400" dirty="0" smtClean="0">
                <a:latin typeface="Calibri" panose="020F0502020204030204" pitchFamily="34" charset="0"/>
              </a:rPr>
              <a:t>Statement </a:t>
            </a:r>
            <a:r>
              <a:rPr lang="en-US" altLang="zh-TW" sz="2400" i="1" dirty="0">
                <a:latin typeface="Calibri" panose="020F0502020204030204" pitchFamily="34" charset="0"/>
              </a:rPr>
              <a:t>S1</a:t>
            </a:r>
            <a:r>
              <a:rPr lang="en-US" altLang="zh-TW" sz="2400" dirty="0">
                <a:latin typeface="Calibri" panose="020F0502020204030204" pitchFamily="34" charset="0"/>
              </a:rPr>
              <a:t> in </a:t>
            </a:r>
            <a:r>
              <a:rPr lang="en-US" altLang="zh-TW" sz="2400" i="1" dirty="0">
                <a:latin typeface="Calibri" panose="020F0502020204030204" pitchFamily="34" charset="0"/>
              </a:rPr>
              <a:t>P1</a:t>
            </a:r>
            <a:r>
              <a:rPr lang="en-US" altLang="zh-TW" sz="2400" dirty="0">
                <a:latin typeface="Calibri" panose="020F0502020204030204" pitchFamily="34" charset="0"/>
              </a:rPr>
              <a:t> needs to be </a:t>
            </a:r>
            <a:r>
              <a:rPr lang="en-US" altLang="zh-TW" sz="2400" dirty="0" smtClean="0">
                <a:latin typeface="Calibri" panose="020F0502020204030204" pitchFamily="34" charset="0"/>
              </a:rPr>
              <a:t>performed </a:t>
            </a:r>
            <a:r>
              <a:rPr lang="en-US" altLang="zh-TW" sz="2400" dirty="0">
                <a:latin typeface="Calibri" panose="020F0502020204030204" pitchFamily="34" charset="0"/>
              </a:rPr>
              <a:t>before statement </a:t>
            </a:r>
            <a:r>
              <a:rPr lang="en-US" altLang="zh-TW" sz="2400" i="1" dirty="0">
                <a:latin typeface="Calibri" panose="020F0502020204030204" pitchFamily="34" charset="0"/>
              </a:rPr>
              <a:t>S2</a:t>
            </a:r>
            <a:r>
              <a:rPr lang="en-US" altLang="zh-TW" sz="2400" dirty="0">
                <a:latin typeface="Calibri" panose="020F0502020204030204" pitchFamily="34" charset="0"/>
              </a:rPr>
              <a:t> in </a:t>
            </a:r>
            <a:r>
              <a:rPr lang="en-US" altLang="zh-TW" sz="2400" dirty="0" smtClean="0">
                <a:latin typeface="Calibri" panose="020F0502020204030204" pitchFamily="34" charset="0"/>
              </a:rPr>
              <a:t>P2</a:t>
            </a:r>
            <a:endParaRPr lang="en-US" altLang="zh-TW" sz="2400" dirty="0">
              <a:latin typeface="Calibri" panose="020F050202020403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3647728" y="4365104"/>
            <a:ext cx="4680420" cy="1185119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altLang="zh-TW" sz="2400" dirty="0">
                <a:latin typeface="Calibri" panose="020F0502020204030204" pitchFamily="34" charset="0"/>
              </a:rPr>
              <a:t>P1: 	</a:t>
            </a:r>
            <a:r>
              <a:rPr lang="en-US" altLang="zh-TW" sz="2400" i="1" dirty="0">
                <a:solidFill>
                  <a:srgbClr val="0000FF"/>
                </a:solidFill>
                <a:latin typeface="Calibri" panose="020F0502020204030204" pitchFamily="34" charset="0"/>
              </a:rPr>
              <a:t>S1;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i="1" dirty="0">
                <a:solidFill>
                  <a:srgbClr val="0000FF"/>
                </a:solidFill>
                <a:latin typeface="Calibri" panose="020F0502020204030204" pitchFamily="34" charset="0"/>
              </a:rPr>
              <a:t>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altLang="zh-TW" sz="2400" dirty="0">
                <a:latin typeface="Calibri" panose="020F0502020204030204" pitchFamily="34" charset="0"/>
              </a:rPr>
              <a:t>P2</a:t>
            </a:r>
            <a:r>
              <a:rPr lang="en-US" altLang="zh-TW" sz="2400" dirty="0" smtClean="0">
                <a:latin typeface="Calibri" panose="020F0502020204030204" pitchFamily="34" charset="0"/>
              </a:rPr>
              <a:t>:   </a:t>
            </a:r>
            <a:r>
              <a:rPr lang="en-US" altLang="zh-TW" sz="2400" i="1" dirty="0" smtClean="0">
                <a:solidFill>
                  <a:srgbClr val="0000FF"/>
                </a:solidFill>
                <a:latin typeface="Calibri" panose="020F0502020204030204" pitchFamily="34" charset="0"/>
              </a:rPr>
              <a:t>S2;</a:t>
            </a:r>
            <a:endParaRPr lang="en-US" altLang="zh-TW" sz="2400" i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如何實現呢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67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>
                <a:latin typeface="Calibri" panose="020F0502020204030204" pitchFamily="34" charset="0"/>
              </a:rPr>
              <a:t>Using Semaphores to Synchronize Processes</a:t>
            </a:r>
          </a:p>
        </p:txBody>
      </p:sp>
      <p:sp>
        <p:nvSpPr>
          <p:cNvPr id="4608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 smtClean="0">
                <a:cs typeface="Calibri" panose="020F0502020204030204" pitchFamily="34" charset="0"/>
              </a:rPr>
              <a:t>使用</a:t>
            </a:r>
            <a:r>
              <a:rPr lang="en-US" altLang="zh-TW" dirty="0" smtClean="0">
                <a:cs typeface="Calibri" panose="020F0502020204030204" pitchFamily="34" charset="0"/>
              </a:rPr>
              <a:t>semaphore(</a:t>
            </a:r>
            <a:r>
              <a:rPr lang="zh-TW" altLang="en-US" dirty="0" smtClean="0">
                <a:cs typeface="Calibri" panose="020F0502020204030204" pitchFamily="34" charset="0"/>
              </a:rPr>
              <a:t>或是</a:t>
            </a:r>
            <a:r>
              <a:rPr lang="en-US" altLang="zh-TW" dirty="0" smtClean="0">
                <a:cs typeface="Calibri" panose="020F0502020204030204" pitchFamily="34" charset="0"/>
              </a:rPr>
              <a:t>mutex, spin lock)</a:t>
            </a:r>
          </a:p>
          <a:p>
            <a:pPr eaLnBrk="1" hangingPunct="1"/>
            <a:r>
              <a:rPr lang="zh-TW" altLang="en-US" dirty="0">
                <a:cs typeface="Calibri" panose="020F0502020204030204" pitchFamily="34" charset="0"/>
              </a:rPr>
              <a:t>假設</a:t>
            </a:r>
            <a:r>
              <a:rPr lang="zh-TW" altLang="en-US" dirty="0" smtClean="0">
                <a:cs typeface="Calibri" panose="020F0502020204030204" pitchFamily="34" charset="0"/>
              </a:rPr>
              <a:t>宣告</a:t>
            </a:r>
            <a:r>
              <a:rPr lang="en-US" altLang="zh-TW" dirty="0" smtClean="0">
                <a:cs typeface="Calibri" panose="020F0502020204030204" pitchFamily="34" charset="0"/>
              </a:rPr>
              <a:t>synch: a </a:t>
            </a:r>
            <a:r>
              <a:rPr lang="en-US" altLang="zh-TW" dirty="0">
                <a:cs typeface="Calibri" panose="020F0502020204030204" pitchFamily="34" charset="0"/>
              </a:rPr>
              <a:t>semaphore and initialize synch to</a:t>
            </a:r>
            <a:r>
              <a:rPr lang="en-US" altLang="zh-TW" b="1" dirty="0">
                <a:cs typeface="Calibri" panose="020F0502020204030204" pitchFamily="34" charset="0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cs typeface="Calibri" panose="020F0502020204030204" pitchFamily="34" charset="0"/>
              </a:rPr>
              <a:t>0</a:t>
            </a:r>
            <a:endParaRPr lang="en-US" altLang="zh-TW" dirty="0">
              <a:solidFill>
                <a:srgbClr val="FF3300"/>
              </a:solidFill>
              <a:cs typeface="Calibri" panose="020F0502020204030204" pitchFamily="34" charset="0"/>
            </a:endParaRPr>
          </a:p>
        </p:txBody>
      </p:sp>
      <p:sp>
        <p:nvSpPr>
          <p:cNvPr id="46084" name="Rectangle 7"/>
          <p:cNvSpPr>
            <a:spLocks noChangeArrowheads="1"/>
          </p:cNvSpPr>
          <p:nvPr/>
        </p:nvSpPr>
        <p:spPr bwMode="auto">
          <a:xfrm>
            <a:off x="4079876" y="3068960"/>
            <a:ext cx="3529013" cy="2481263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altLang="zh-TW" sz="2400">
                <a:latin typeface="Calibri" panose="020F0502020204030204" pitchFamily="34" charset="0"/>
              </a:rPr>
              <a:t>P1: 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>
                <a:latin typeface="Calibri" panose="020F0502020204030204" pitchFamily="34" charset="0"/>
              </a:rPr>
              <a:t>	</a:t>
            </a:r>
            <a:r>
              <a:rPr lang="en-US" altLang="zh-TW" sz="2400" i="1">
                <a:solidFill>
                  <a:srgbClr val="0000FF"/>
                </a:solidFill>
                <a:latin typeface="Calibri" panose="020F0502020204030204" pitchFamily="34" charset="0"/>
              </a:rPr>
              <a:t>S1;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i="1">
                <a:solidFill>
                  <a:srgbClr val="0000FF"/>
                </a:solidFill>
                <a:latin typeface="Calibri" panose="020F0502020204030204" pitchFamily="34" charset="0"/>
              </a:rPr>
              <a:t>	signal(synch);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altLang="zh-TW" sz="2400" i="1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altLang="zh-TW" sz="2400">
                <a:latin typeface="Calibri" panose="020F0502020204030204" pitchFamily="34" charset="0"/>
              </a:rPr>
              <a:t>P2: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>
                <a:latin typeface="Calibri" panose="020F0502020204030204" pitchFamily="34" charset="0"/>
              </a:rPr>
              <a:t>	</a:t>
            </a:r>
            <a:r>
              <a:rPr lang="en-US" altLang="zh-TW" sz="2400" i="1">
                <a:solidFill>
                  <a:srgbClr val="0000FF"/>
                </a:solidFill>
                <a:latin typeface="Calibri" panose="020F0502020204030204" pitchFamily="34" charset="0"/>
              </a:rPr>
              <a:t>wait(synch);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i="1">
                <a:solidFill>
                  <a:srgbClr val="0000FF"/>
                </a:solidFill>
                <a:latin typeface="Calibri" panose="020F0502020204030204" pitchFamily="34" charset="0"/>
              </a:rPr>
              <a:t>	S2;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108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Using Semaphores to Synchronize Processes</a:t>
            </a:r>
          </a:p>
        </p:txBody>
      </p:sp>
      <p:sp>
        <p:nvSpPr>
          <p:cNvPr id="47107" name="Rectangle 7"/>
          <p:cNvSpPr>
            <a:spLocks noChangeArrowheads="1"/>
          </p:cNvSpPr>
          <p:nvPr/>
        </p:nvSpPr>
        <p:spPr bwMode="auto">
          <a:xfrm>
            <a:off x="2711624" y="4437064"/>
            <a:ext cx="3024758" cy="11318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US" altLang="zh-TW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S1;</a:t>
            </a:r>
          </a:p>
          <a:p>
            <a:pPr lvl="1"/>
            <a:r>
              <a:rPr lang="en-US" altLang="zh-TW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signal(synch);</a:t>
            </a:r>
          </a:p>
        </p:txBody>
      </p:sp>
      <p:sp>
        <p:nvSpPr>
          <p:cNvPr id="47108" name="Rectangle 8"/>
          <p:cNvSpPr>
            <a:spLocks noChangeArrowheads="1"/>
          </p:cNvSpPr>
          <p:nvPr/>
        </p:nvSpPr>
        <p:spPr bwMode="auto">
          <a:xfrm>
            <a:off x="6240438" y="4437113"/>
            <a:ext cx="2808312" cy="11318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US" altLang="zh-TW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wait(synch);</a:t>
            </a:r>
          </a:p>
          <a:p>
            <a:pPr lvl="1"/>
            <a:r>
              <a:rPr lang="en-US" altLang="zh-TW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S2;</a:t>
            </a:r>
          </a:p>
        </p:txBody>
      </p:sp>
      <p:sp>
        <p:nvSpPr>
          <p:cNvPr id="47109" name="Text Box 9"/>
          <p:cNvSpPr txBox="1">
            <a:spLocks noChangeArrowheads="1"/>
          </p:cNvSpPr>
          <p:nvPr/>
        </p:nvSpPr>
        <p:spPr bwMode="auto">
          <a:xfrm>
            <a:off x="3360912" y="4005263"/>
            <a:ext cx="1079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1</a:t>
            </a:r>
          </a:p>
        </p:txBody>
      </p:sp>
      <p:sp>
        <p:nvSpPr>
          <p:cNvPr id="47110" name="Text Box 10"/>
          <p:cNvSpPr txBox="1">
            <a:spLocks noChangeArrowheads="1"/>
          </p:cNvSpPr>
          <p:nvPr/>
        </p:nvSpPr>
        <p:spPr bwMode="auto">
          <a:xfrm>
            <a:off x="6816899" y="4005263"/>
            <a:ext cx="1079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process 2</a:t>
            </a:r>
          </a:p>
        </p:txBody>
      </p:sp>
      <p:sp>
        <p:nvSpPr>
          <p:cNvPr id="604171" name="Rectangle 11"/>
          <p:cNvSpPr>
            <a:spLocks noChangeArrowheads="1"/>
          </p:cNvSpPr>
          <p:nvPr/>
        </p:nvSpPr>
        <p:spPr bwMode="auto">
          <a:xfrm>
            <a:off x="6744495" y="4653136"/>
            <a:ext cx="1871663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4174" name="Text Box 14"/>
          <p:cNvSpPr txBox="1">
            <a:spLocks noChangeArrowheads="1"/>
          </p:cNvSpPr>
          <p:nvPr/>
        </p:nvSpPr>
        <p:spPr bwMode="auto">
          <a:xfrm>
            <a:off x="8677450" y="4653137"/>
            <a:ext cx="10144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  <a:endParaRPr lang="en-US" altLang="zh-TW" sz="2000" b="1" dirty="0">
              <a:solidFill>
                <a:srgbClr val="FF3300"/>
              </a:solidFill>
              <a:latin typeface="Calibri" panose="020F0502020204030204" pitchFamily="34" charset="0"/>
            </a:endParaRPr>
          </a:p>
        </p:txBody>
      </p:sp>
      <p:sp>
        <p:nvSpPr>
          <p:cNvPr id="604175" name="AutoShape 15"/>
          <p:cNvSpPr>
            <a:spLocks noChangeArrowheads="1"/>
          </p:cNvSpPr>
          <p:nvPr/>
        </p:nvSpPr>
        <p:spPr bwMode="auto">
          <a:xfrm flipH="1" flipV="1">
            <a:off x="4440413" y="5589589"/>
            <a:ext cx="2232025" cy="720725"/>
          </a:xfrm>
          <a:prstGeom prst="curvedDownArrow">
            <a:avLst>
              <a:gd name="adj1" fmla="val 61938"/>
              <a:gd name="adj2" fmla="val 12387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04176" name="Rectangle 16"/>
          <p:cNvSpPr>
            <a:spLocks noChangeArrowheads="1"/>
          </p:cNvSpPr>
          <p:nvPr/>
        </p:nvSpPr>
        <p:spPr bwMode="auto">
          <a:xfrm>
            <a:off x="3216103" y="4653136"/>
            <a:ext cx="1871663" cy="360362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415738" y="1486629"/>
            <a:ext cx="3840502" cy="165433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TW" sz="20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>
              <a:defRPr/>
            </a:pPr>
            <a:r>
              <a:rPr lang="en-US" altLang="zh-TW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wait (S) </a:t>
            </a:r>
            <a:r>
              <a:rPr lang="en-US" altLang="zh-TW" sz="2000" b="1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en-US" altLang="zh-TW" sz="2000" b="1" i="1" dirty="0">
                <a:latin typeface="Calibri" pitchFamily="34" charset="0"/>
              </a:rPr>
              <a:t>   </a:t>
            </a:r>
            <a:r>
              <a:rPr lang="en-US" altLang="zh-TW" sz="2000" b="1" i="1" dirty="0" err="1">
                <a:latin typeface="Calibri" pitchFamily="34" charset="0"/>
              </a:rPr>
              <a:t>S.Value</a:t>
            </a:r>
            <a:r>
              <a:rPr lang="en-US" altLang="zh-TW" sz="2000" b="1" i="1" dirty="0">
                <a:latin typeface="Calibri" pitchFamily="34" charset="0"/>
              </a:rPr>
              <a:t>--;</a:t>
            </a:r>
            <a:endParaRPr lang="en-US" altLang="zh-TW" sz="2000" b="1" dirty="0">
              <a:latin typeface="Calibri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if (</a:t>
            </a:r>
            <a:r>
              <a:rPr lang="en-US" altLang="zh-TW" sz="2000" b="1" i="1" dirty="0" err="1">
                <a:latin typeface="Calibri" pitchFamily="34" charset="0"/>
              </a:rPr>
              <a:t>S.Value</a:t>
            </a:r>
            <a:r>
              <a:rPr lang="en-US" altLang="zh-TW" sz="2000" b="1" i="1" dirty="0">
                <a:latin typeface="Calibri" pitchFamily="34" charset="0"/>
              </a:rPr>
              <a:t> &lt; 0 </a:t>
            </a: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)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      Add process to S.L</a:t>
            </a:r>
          </a:p>
          <a:p>
            <a:pPr>
              <a:defRPr/>
            </a:pPr>
            <a:r>
              <a:rPr lang="en-US" altLang="zh-TW" sz="2000" b="1" dirty="0">
                <a:latin typeface="Calibri" pitchFamily="34" charset="0"/>
                <a:sym typeface="Symbol" pitchFamily="18" charset="2"/>
              </a:rPr>
              <a:t>}</a:t>
            </a:r>
          </a:p>
          <a:p>
            <a:pPr>
              <a:defRPr/>
            </a:pP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2207568" y="1628800"/>
            <a:ext cx="11996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 err="1">
                <a:latin typeface="Calibri" panose="020F0502020204030204" pitchFamily="34" charset="0"/>
              </a:rPr>
              <a:t>S.value</a:t>
            </a:r>
            <a:r>
              <a:rPr lang="en-US" altLang="zh-TW" sz="2000" b="1" dirty="0">
                <a:latin typeface="Calibri" pitchFamily="34" charset="0"/>
              </a:rPr>
              <a:t>: </a:t>
            </a:r>
            <a:r>
              <a:rPr lang="en-US" altLang="zh-TW" sz="2000" b="1" dirty="0" smtClean="0">
                <a:latin typeface="Calibri" pitchFamily="34" charset="0"/>
              </a:rPr>
              <a:t>0</a:t>
            </a:r>
            <a:endParaRPr lang="en-US" altLang="zh-TW" sz="2000" b="1" dirty="0">
              <a:latin typeface="Calibri" pitchFamily="34" charset="0"/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228672" y="2060848"/>
            <a:ext cx="5549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S.L:</a:t>
            </a:r>
          </a:p>
        </p:txBody>
      </p:sp>
      <p:sp>
        <p:nvSpPr>
          <p:cNvPr id="16" name="圓角矩形 15"/>
          <p:cNvSpPr/>
          <p:nvPr/>
        </p:nvSpPr>
        <p:spPr>
          <a:xfrm>
            <a:off x="2783632" y="2070373"/>
            <a:ext cx="36004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rgbClr val="FF0000"/>
                </a:solidFill>
                <a:latin typeface="Calibri" pitchFamily="34" charset="0"/>
              </a:rPr>
              <a:t>2</a:t>
            </a:r>
            <a:endParaRPr lang="zh-TW" altLang="en-US" sz="24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3071664" y="1701503"/>
            <a:ext cx="358775" cy="287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-1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604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71" grpId="0" animBg="1"/>
      <p:bldP spid="604174" grpId="0"/>
      <p:bldP spid="604175" grpId="0" animBg="1"/>
      <p:bldP spid="604175" grpId="1" animBg="1"/>
      <p:bldP spid="604176" grpId="0" animBg="1"/>
      <p:bldP spid="13" grpId="0" animBg="1"/>
      <p:bldP spid="13" grpId="1" animBg="1"/>
      <p:bldP spid="16" grpId="0" animBg="1"/>
      <p:bldP spid="17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</a:t>
            </a:r>
            <a:r>
              <a:rPr lang="en-US" altLang="zh-TW" dirty="0" smtClean="0"/>
              <a:t>Semaphore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48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Mutex </a:t>
            </a:r>
            <a:r>
              <a:rPr lang="en-US" altLang="zh-TW" sz="2800" dirty="0" smtClean="0"/>
              <a:t>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Spin Locks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0000"/>
                </a:solidFill>
              </a:rPr>
              <a:t>Language-Level Solution: Monitors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199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184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>
                <a:effectLst/>
              </a:rPr>
              <a:t>複習： </a:t>
            </a:r>
            <a:r>
              <a:rPr lang="en-US" altLang="zh-TW" dirty="0" smtClean="0"/>
              <a:t>Solutions to Race Conditions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/>
              <a:t>Software solutions</a:t>
            </a:r>
          </a:p>
          <a:p>
            <a:pPr lvl="1" eaLnBrk="1" hangingPunct="1"/>
            <a:r>
              <a:rPr lang="en-US" altLang="zh-TW" dirty="0" smtClean="0"/>
              <a:t>Peterson’s solutions</a:t>
            </a:r>
          </a:p>
          <a:p>
            <a:pPr eaLnBrk="1" hangingPunct="1"/>
            <a:r>
              <a:rPr lang="en-US" altLang="zh-TW" b="1" dirty="0" smtClean="0"/>
              <a:t>Hardware solutions</a:t>
            </a:r>
          </a:p>
          <a:p>
            <a:pPr lvl="1" eaLnBrk="1" hangingPunct="1"/>
            <a:r>
              <a:rPr lang="en-US" altLang="zh-TW" dirty="0" smtClean="0"/>
              <a:t>Rely on some special machine instructions</a:t>
            </a:r>
          </a:p>
          <a:p>
            <a:pPr eaLnBrk="1" hangingPunct="1"/>
            <a:r>
              <a:rPr lang="en-US" altLang="zh-TW" b="1" dirty="0" smtClean="0"/>
              <a:t>Operation System solutions</a:t>
            </a:r>
          </a:p>
          <a:p>
            <a:pPr lvl="1" eaLnBrk="1" hangingPunct="1"/>
            <a:r>
              <a:rPr lang="en-US" altLang="zh-TW" dirty="0" smtClean="0"/>
              <a:t>Provide some functions and data structures to the programmer</a:t>
            </a:r>
          </a:p>
          <a:p>
            <a:pPr lvl="1" eaLnBrk="1" hangingPunct="1"/>
            <a:r>
              <a:rPr lang="en-US" altLang="zh-TW" dirty="0" smtClean="0"/>
              <a:t>Built upon the hardware solutions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Language level solutions</a:t>
            </a:r>
          </a:p>
          <a:p>
            <a:pPr lvl="1" eaLnBrk="1" hangingPunct="1"/>
            <a:r>
              <a:rPr lang="en-US" altLang="zh-TW" dirty="0" smtClean="0">
                <a:solidFill>
                  <a:srgbClr val="FF0000"/>
                </a:solidFill>
              </a:rPr>
              <a:t>Built upon the OS solutions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897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Monitors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Monitor Usage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Implementing a Monitor Using Semaphore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Resuming Processes within a Monitor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851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Monitor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A </a:t>
            </a:r>
            <a:r>
              <a:rPr lang="en-US" altLang="zh-TW" b="1" dirty="0"/>
              <a:t>high-level</a:t>
            </a:r>
            <a:r>
              <a:rPr lang="en-US" altLang="zh-TW" dirty="0"/>
              <a:t> abstraction </a:t>
            </a:r>
            <a:r>
              <a:rPr lang="en-US" altLang="zh-TW" dirty="0" smtClean="0"/>
              <a:t>for </a:t>
            </a:r>
            <a:r>
              <a:rPr lang="en-US" altLang="zh-TW" dirty="0"/>
              <a:t>process synchronization</a:t>
            </a:r>
          </a:p>
          <a:p>
            <a:pPr eaLnBrk="1" hangingPunct="1"/>
            <a:r>
              <a:rPr lang="en-US" altLang="zh-TW" dirty="0"/>
              <a:t>Found in many </a:t>
            </a:r>
            <a:r>
              <a:rPr lang="en-US" altLang="zh-TW" dirty="0" smtClean="0"/>
              <a:t>programming </a:t>
            </a:r>
            <a:r>
              <a:rPr lang="en-US" altLang="zh-TW" dirty="0"/>
              <a:t>languages </a:t>
            </a:r>
          </a:p>
          <a:p>
            <a:pPr lvl="1" eaLnBrk="1" hangingPunct="1"/>
            <a:r>
              <a:rPr lang="en-US" altLang="zh-TW" dirty="0"/>
              <a:t>Concurrent Pascal, Modula-3, </a:t>
            </a:r>
            <a:r>
              <a:rPr lang="en-US" altLang="zh-TW" dirty="0" err="1"/>
              <a:t>uC</a:t>
            </a:r>
            <a:r>
              <a:rPr lang="en-US" altLang="zh-TW" dirty="0"/>
              <a:t>++, Java...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Monitor: encapsulate </a:t>
            </a:r>
            <a:r>
              <a:rPr lang="en-US" altLang="zh-TW" b="1" dirty="0">
                <a:solidFill>
                  <a:srgbClr val="FF3300"/>
                </a:solidFill>
              </a:rPr>
              <a:t>private</a:t>
            </a:r>
            <a:r>
              <a:rPr lang="en-US" altLang="zh-TW" dirty="0"/>
              <a:t> </a:t>
            </a:r>
            <a:r>
              <a:rPr lang="en-US" altLang="zh-TW" b="1" dirty="0"/>
              <a:t>data</a:t>
            </a:r>
            <a:r>
              <a:rPr lang="en-US" altLang="zh-TW" dirty="0"/>
              <a:t> with </a:t>
            </a:r>
            <a:r>
              <a:rPr lang="en-US" altLang="zh-TW" b="1" dirty="0">
                <a:solidFill>
                  <a:srgbClr val="FF3300"/>
                </a:solidFill>
              </a:rPr>
              <a:t>public</a:t>
            </a:r>
            <a:r>
              <a:rPr lang="en-US" altLang="zh-TW" dirty="0"/>
              <a:t> </a:t>
            </a:r>
            <a:r>
              <a:rPr lang="en-US" altLang="zh-TW" b="1" dirty="0"/>
              <a:t>method</a:t>
            </a:r>
            <a:endParaRPr lang="en-US" altLang="zh-TW" dirty="0"/>
          </a:p>
          <a:p>
            <a:pPr lvl="1" eaLnBrk="1" hangingPunct="1"/>
            <a:r>
              <a:rPr lang="en-US" altLang="zh-TW" dirty="0"/>
              <a:t>Variables can be accessed by only the </a:t>
            </a:r>
            <a:r>
              <a:rPr lang="en-US" altLang="zh-TW" b="1" dirty="0"/>
              <a:t>local procedures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Only one</a:t>
            </a:r>
            <a:r>
              <a:rPr lang="en-US" altLang="zh-TW" dirty="0"/>
              <a:t> process may be </a:t>
            </a:r>
            <a:r>
              <a:rPr lang="en-US" altLang="zh-TW" b="1" dirty="0">
                <a:solidFill>
                  <a:srgbClr val="FF3300"/>
                </a:solidFill>
              </a:rPr>
              <a:t>active</a:t>
            </a:r>
            <a:r>
              <a:rPr lang="en-US" altLang="zh-TW" dirty="0"/>
              <a:t> within the monitor at a time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Monitor Structure</a:t>
            </a:r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650" y="1268760"/>
            <a:ext cx="7488238" cy="497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Schematic View of a Monitor</a:t>
            </a:r>
          </a:p>
        </p:txBody>
      </p: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3" cstate="print"/>
          <a:srcRect l="10979" t="533" r="11377" b="533"/>
          <a:stretch>
            <a:fillRect/>
          </a:stretch>
        </p:blipFill>
        <p:spPr bwMode="auto">
          <a:xfrm>
            <a:off x="3143250" y="1196752"/>
            <a:ext cx="5905500" cy="48244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6"/>
          <p:cNvSpPr txBox="1">
            <a:spLocks noChangeArrowheads="1"/>
          </p:cNvSpPr>
          <p:nvPr/>
        </p:nvSpPr>
        <p:spPr bwMode="auto">
          <a:xfrm>
            <a:off x="2711625" y="1447950"/>
            <a:ext cx="1235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process A</a:t>
            </a:r>
          </a:p>
        </p:txBody>
      </p:sp>
      <p:sp>
        <p:nvSpPr>
          <p:cNvPr id="77827" name="Text Box 15"/>
          <p:cNvSpPr txBox="1">
            <a:spLocks noChangeArrowheads="1"/>
          </p:cNvSpPr>
          <p:nvPr/>
        </p:nvSpPr>
        <p:spPr bwMode="auto">
          <a:xfrm>
            <a:off x="1991545" y="583854"/>
            <a:ext cx="32400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monitor entry queue</a:t>
            </a: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: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7828" name="Text Box 5"/>
          <p:cNvSpPr txBox="1">
            <a:spLocks noChangeArrowheads="1"/>
          </p:cNvSpPr>
          <p:nvPr/>
        </p:nvSpPr>
        <p:spPr bwMode="auto">
          <a:xfrm>
            <a:off x="5015210" y="2883708"/>
            <a:ext cx="252095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monitor  Demo{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</a:t>
            </a:r>
            <a:r>
              <a:rPr kumimoji="1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int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counter;     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counter =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void func1() {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     counter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++;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}</a:t>
            </a:r>
          </a:p>
          <a:p>
            <a:pPr lvl="0">
              <a:defRPr/>
            </a:pPr>
            <a:r>
              <a:rPr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void func2</a:t>
            </a:r>
            <a:r>
              <a:rPr lang="en-US" altLang="zh-TW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(){</a:t>
            </a:r>
            <a:endParaRPr lang="en-US" altLang="zh-TW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0">
              <a:defRPr/>
            </a:pPr>
            <a:r>
              <a:rPr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          </a:t>
            </a:r>
            <a:r>
              <a:rPr lang="en-US" altLang="zh-TW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counter--;</a:t>
            </a:r>
          </a:p>
          <a:p>
            <a:pPr lvl="0"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}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}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7829" name="Rectangle 7"/>
          <p:cNvSpPr>
            <a:spLocks noChangeArrowheads="1"/>
          </p:cNvSpPr>
          <p:nvPr/>
        </p:nvSpPr>
        <p:spPr bwMode="auto">
          <a:xfrm>
            <a:off x="5016797" y="2882032"/>
            <a:ext cx="2376488" cy="378732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12368" name="Rectangle 16"/>
          <p:cNvSpPr>
            <a:spLocks noChangeArrowheads="1"/>
          </p:cNvSpPr>
          <p:nvPr/>
        </p:nvSpPr>
        <p:spPr bwMode="auto">
          <a:xfrm>
            <a:off x="2279576" y="2132856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7831" name="Text Box 17"/>
          <p:cNvSpPr txBox="1">
            <a:spLocks noChangeArrowheads="1"/>
          </p:cNvSpPr>
          <p:nvPr/>
        </p:nvSpPr>
        <p:spPr bwMode="auto">
          <a:xfrm>
            <a:off x="5447929" y="1484785"/>
            <a:ext cx="12207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process B</a:t>
            </a:r>
          </a:p>
        </p:txBody>
      </p:sp>
      <p:sp>
        <p:nvSpPr>
          <p:cNvPr id="77832" name="Text Box 18"/>
          <p:cNvSpPr txBox="1">
            <a:spLocks noChangeArrowheads="1"/>
          </p:cNvSpPr>
          <p:nvPr/>
        </p:nvSpPr>
        <p:spPr bwMode="auto">
          <a:xfrm>
            <a:off x="8616950" y="1484784"/>
            <a:ext cx="11850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process C</a:t>
            </a:r>
          </a:p>
        </p:txBody>
      </p:sp>
      <p:sp>
        <p:nvSpPr>
          <p:cNvPr id="612380" name="AutoShape 28"/>
          <p:cNvSpPr>
            <a:spLocks noChangeArrowheads="1"/>
          </p:cNvSpPr>
          <p:nvPr/>
        </p:nvSpPr>
        <p:spPr bwMode="auto">
          <a:xfrm>
            <a:off x="4223793" y="1196752"/>
            <a:ext cx="1286421" cy="590426"/>
          </a:xfrm>
          <a:prstGeom prst="curvedDown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12382" name="Rectangle 30"/>
          <p:cNvSpPr>
            <a:spLocks noChangeArrowheads="1"/>
          </p:cNvSpPr>
          <p:nvPr/>
        </p:nvSpPr>
        <p:spPr bwMode="auto">
          <a:xfrm>
            <a:off x="4510906" y="583853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B</a:t>
            </a:r>
          </a:p>
        </p:txBody>
      </p:sp>
      <p:sp>
        <p:nvSpPr>
          <p:cNvPr id="612383" name="Text Box 31"/>
          <p:cNvSpPr txBox="1">
            <a:spLocks noChangeArrowheads="1"/>
          </p:cNvSpPr>
          <p:nvPr/>
        </p:nvSpPr>
        <p:spPr bwMode="auto">
          <a:xfrm>
            <a:off x="5303913" y="1231926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blocked</a:t>
            </a:r>
          </a:p>
        </p:txBody>
      </p:sp>
      <p:sp>
        <p:nvSpPr>
          <p:cNvPr id="612390" name="AutoShape 38"/>
          <p:cNvSpPr>
            <a:spLocks noChangeArrowheads="1"/>
          </p:cNvSpPr>
          <p:nvPr/>
        </p:nvSpPr>
        <p:spPr bwMode="auto">
          <a:xfrm>
            <a:off x="7032104" y="1268760"/>
            <a:ext cx="1872184" cy="504130"/>
          </a:xfrm>
          <a:prstGeom prst="curvedDownArrow">
            <a:avLst>
              <a:gd name="adj1" fmla="val 52705"/>
              <a:gd name="adj2" fmla="val 10541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12391" name="Rectangle 39"/>
          <p:cNvSpPr>
            <a:spLocks noChangeArrowheads="1"/>
          </p:cNvSpPr>
          <p:nvPr/>
        </p:nvSpPr>
        <p:spPr bwMode="auto">
          <a:xfrm>
            <a:off x="5087169" y="583853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</a:t>
            </a:r>
          </a:p>
        </p:txBody>
      </p:sp>
      <p:sp>
        <p:nvSpPr>
          <p:cNvPr id="612392" name="Text Box 40"/>
          <p:cNvSpPr txBox="1">
            <a:spLocks noChangeArrowheads="1"/>
          </p:cNvSpPr>
          <p:nvPr/>
        </p:nvSpPr>
        <p:spPr bwMode="auto">
          <a:xfrm>
            <a:off x="8544273" y="1196753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blocked</a:t>
            </a:r>
          </a:p>
        </p:txBody>
      </p:sp>
      <p:sp>
        <p:nvSpPr>
          <p:cNvPr id="612393" name="AutoShape 41"/>
          <p:cNvSpPr>
            <a:spLocks noChangeArrowheads="1"/>
          </p:cNvSpPr>
          <p:nvPr/>
        </p:nvSpPr>
        <p:spPr bwMode="auto">
          <a:xfrm flipH="1" flipV="1">
            <a:off x="3111028" y="2665809"/>
            <a:ext cx="5329238" cy="404813"/>
          </a:xfrm>
          <a:prstGeom prst="curvedDownArrow">
            <a:avLst>
              <a:gd name="adj1" fmla="val 263294"/>
              <a:gd name="adj2" fmla="val 52658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2135560" y="1844825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07568" y="1773561"/>
            <a:ext cx="1728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 = x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demo.func1()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y = y – 1;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5015880" y="1844825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8039992" y="1844825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087888" y="1792273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x1 = x1 - 1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demo.func2()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y1 = y1 + 1;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184232" y="1802001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x2 = x2 - 1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demo.func2()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y2 = y2 + 1;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2" name="Rectangle 42"/>
          <p:cNvSpPr>
            <a:spLocks noChangeArrowheads="1"/>
          </p:cNvSpPr>
          <p:nvPr/>
        </p:nvSpPr>
        <p:spPr bwMode="auto">
          <a:xfrm>
            <a:off x="5159896" y="2132856"/>
            <a:ext cx="1512168" cy="36004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8256240" y="2132856"/>
            <a:ext cx="1512168" cy="36004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4" name="Rectangle 16"/>
          <p:cNvSpPr>
            <a:spLocks noChangeArrowheads="1"/>
          </p:cNvSpPr>
          <p:nvPr/>
        </p:nvSpPr>
        <p:spPr bwMode="auto">
          <a:xfrm>
            <a:off x="5374605" y="4149080"/>
            <a:ext cx="1512168" cy="936104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8001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61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68" grpId="0" animBg="1"/>
      <p:bldP spid="612380" grpId="0" animBg="1"/>
      <p:bldP spid="612382" grpId="0" animBg="1"/>
      <p:bldP spid="612383" grpId="0"/>
      <p:bldP spid="612390" grpId="0" animBg="1"/>
      <p:bldP spid="612391" grpId="0" animBg="1"/>
      <p:bldP spid="612392" grpId="0"/>
      <p:bldP spid="612393" grpId="0" animBg="1"/>
      <p:bldP spid="32" grpId="0" animBg="1"/>
      <p:bldP spid="33" grpId="0" animBg="1"/>
      <p:bldP spid="34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Monitor (Cont.)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With monitors, programmers do not need to code the synchronization constraint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However</a:t>
            </a:r>
            <a:r>
              <a:rPr lang="en-US" altLang="zh-TW" dirty="0"/>
              <a:t>, previous monitor is </a:t>
            </a:r>
            <a:r>
              <a:rPr lang="en-US" altLang="zh-TW" dirty="0" smtClean="0"/>
              <a:t>function-limited</a:t>
            </a:r>
          </a:p>
          <a:p>
            <a:pPr lvl="1" eaLnBrk="1" hangingPunct="1"/>
            <a:r>
              <a:rPr lang="en-US" altLang="zh-TW" dirty="0" smtClean="0"/>
              <a:t>Why?</a:t>
            </a:r>
          </a:p>
          <a:p>
            <a:pPr lvl="1" eaLnBrk="1" hangingPunct="1"/>
            <a:r>
              <a:rPr lang="en-US" altLang="zh-TW" dirty="0" smtClean="0"/>
              <a:t>See the following slide</a:t>
            </a:r>
            <a:endParaRPr lang="en-US" altLang="zh-TW" dirty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 smtClean="0">
                <a:solidFill>
                  <a:schemeClr val="tx1"/>
                </a:solidFill>
              </a:rPr>
              <a:t>Q</a:t>
            </a:r>
            <a:r>
              <a:rPr lang="en-US" altLang="zh-TW" sz="4000" dirty="0">
                <a:solidFill>
                  <a:schemeClr val="tx1"/>
                </a:solidFill>
              </a:rPr>
              <a:t>: how to allow a process </a:t>
            </a:r>
            <a:r>
              <a:rPr lang="en-US" altLang="zh-TW" sz="4000" dirty="0">
                <a:solidFill>
                  <a:srgbClr val="FF0000"/>
                </a:solidFill>
              </a:rPr>
              <a:t>within a monitor </a:t>
            </a:r>
            <a:r>
              <a:rPr lang="en-US" altLang="zh-TW" sz="4000" dirty="0">
                <a:solidFill>
                  <a:schemeClr val="tx1"/>
                </a:solidFill>
              </a:rPr>
              <a:t>to be </a:t>
            </a:r>
            <a:r>
              <a:rPr lang="en-US" altLang="zh-TW" sz="4000" dirty="0">
                <a:solidFill>
                  <a:srgbClr val="FF0000"/>
                </a:solidFill>
              </a:rPr>
              <a:t>blocked</a:t>
            </a:r>
            <a:r>
              <a:rPr lang="en-US" altLang="zh-TW" sz="4000" dirty="0">
                <a:solidFill>
                  <a:schemeClr val="tx1"/>
                </a:solidFill>
              </a:rPr>
              <a:t> until some conditions are satisfied?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TW" sz="3000" dirty="0" smtClean="0"/>
          </a:p>
          <a:p>
            <a:pPr eaLnBrk="1" hangingPunct="1"/>
            <a:r>
              <a:rPr lang="en-US" altLang="zh-TW" sz="3000" dirty="0" smtClean="0"/>
              <a:t>Sol. </a:t>
            </a:r>
            <a:r>
              <a:rPr lang="en-US" altLang="zh-TW" sz="3000" b="1" dirty="0" smtClean="0">
                <a:solidFill>
                  <a:srgbClr val="FF3300"/>
                </a:solidFill>
              </a:rPr>
              <a:t>Condition Variable</a:t>
            </a:r>
          </a:p>
          <a:p>
            <a:pPr marL="457200" lvl="1" indent="0" algn="ctr" eaLnBrk="1" hangingPunct="1">
              <a:buNone/>
            </a:pPr>
            <a:r>
              <a:rPr lang="en-US" altLang="zh-TW" dirty="0" smtClean="0">
                <a:latin typeface="Calibri" panose="020F0502020204030204" pitchFamily="34" charset="0"/>
                <a:cs typeface="Calibri" panose="020F0502020204030204" pitchFamily="34" charset="0"/>
              </a:rPr>
              <a:t>To allow a process to wait </a:t>
            </a:r>
            <a:r>
              <a:rPr lang="en-US" altLang="zh-TW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en-US" altLang="zh-TW" dirty="0" smtClean="0">
                <a:latin typeface="Calibri" panose="020F0502020204030204" pitchFamily="34" charset="0"/>
                <a:cs typeface="Calibri" panose="020F0502020204030204" pitchFamily="34" charset="0"/>
              </a:rPr>
              <a:t> a monitor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356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Monitors with Condition Variables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100" b="1" dirty="0">
                <a:solidFill>
                  <a:srgbClr val="0000FF"/>
                </a:solidFill>
              </a:rPr>
              <a:t>condition x, y</a:t>
            </a:r>
          </a:p>
          <a:p>
            <a:pPr eaLnBrk="1" hangingPunct="1"/>
            <a:endParaRPr lang="en-US" altLang="zh-TW" sz="3100" dirty="0"/>
          </a:p>
          <a:p>
            <a:pPr eaLnBrk="1" hangingPunct="1"/>
            <a:r>
              <a:rPr lang="en-US" altLang="zh-TW" sz="3100" dirty="0"/>
              <a:t>Two operations on a condition variable </a:t>
            </a:r>
            <a:r>
              <a:rPr lang="en-US" altLang="zh-TW" sz="3000" b="1" i="1" dirty="0">
                <a:solidFill>
                  <a:srgbClr val="FF3300"/>
                </a:solidFill>
              </a:rPr>
              <a:t>x</a:t>
            </a:r>
            <a:endParaRPr lang="en-US" altLang="zh-TW" sz="3000" dirty="0"/>
          </a:p>
          <a:p>
            <a:pPr lvl="1" eaLnBrk="1" hangingPunct="1"/>
            <a:r>
              <a:rPr lang="en-US" altLang="zh-TW" sz="3000" b="1" dirty="0" err="1">
                <a:solidFill>
                  <a:srgbClr val="0000FF"/>
                </a:solidFill>
              </a:rPr>
              <a:t>x.wait</a:t>
            </a:r>
            <a:r>
              <a:rPr lang="en-US" altLang="zh-TW" sz="3000" b="1" dirty="0">
                <a:solidFill>
                  <a:srgbClr val="0000FF"/>
                </a:solidFill>
              </a:rPr>
              <a:t>()</a:t>
            </a:r>
          </a:p>
          <a:p>
            <a:pPr lvl="2" eaLnBrk="1" hangingPunct="1"/>
            <a:r>
              <a:rPr lang="en-US" altLang="zh-TW" sz="2500" dirty="0"/>
              <a:t>Process invoking this operation is suspended</a:t>
            </a:r>
          </a:p>
          <a:p>
            <a:pPr lvl="1" eaLnBrk="1" hangingPunct="1"/>
            <a:r>
              <a:rPr lang="en-US" altLang="zh-TW" sz="3000" b="1" dirty="0" err="1">
                <a:solidFill>
                  <a:srgbClr val="0000FF"/>
                </a:solidFill>
              </a:rPr>
              <a:t>x.signal</a:t>
            </a:r>
            <a:r>
              <a:rPr lang="en-US" altLang="zh-TW" sz="3000" b="1" dirty="0">
                <a:solidFill>
                  <a:srgbClr val="0000FF"/>
                </a:solidFill>
              </a:rPr>
              <a:t>()</a:t>
            </a:r>
            <a:r>
              <a:rPr lang="en-US" altLang="zh-TW" sz="3000" dirty="0"/>
              <a:t>	</a:t>
            </a:r>
            <a:endParaRPr lang="en-US" altLang="zh-TW" sz="3000" b="1" dirty="0"/>
          </a:p>
          <a:p>
            <a:pPr lvl="2" eaLnBrk="1" hangingPunct="1"/>
            <a:r>
              <a:rPr lang="en-US" altLang="zh-TW" sz="2500" dirty="0"/>
              <a:t>Resume one suspended process. </a:t>
            </a:r>
          </a:p>
          <a:p>
            <a:pPr lvl="2" eaLnBrk="1" hangingPunct="1"/>
            <a:r>
              <a:rPr lang="en-US" altLang="zh-TW" sz="2500" dirty="0"/>
              <a:t>If no process is suspended, the </a:t>
            </a:r>
            <a:r>
              <a:rPr lang="en-US" altLang="zh-TW" sz="2500" b="1" dirty="0">
                <a:solidFill>
                  <a:srgbClr val="FF3300"/>
                </a:solidFill>
              </a:rPr>
              <a:t>signal operation has no </a:t>
            </a:r>
            <a:r>
              <a:rPr lang="en-US" altLang="zh-TW" sz="2500" b="1">
                <a:solidFill>
                  <a:srgbClr val="FF3300"/>
                </a:solidFill>
              </a:rPr>
              <a:t>effect</a:t>
            </a:r>
            <a:r>
              <a:rPr lang="en-US" altLang="zh-TW" sz="2500" smtClean="0"/>
              <a:t>.</a:t>
            </a:r>
            <a:endParaRPr lang="en-US" altLang="zh-TW" sz="25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 Monitor with Condition Variables</a:t>
            </a:r>
          </a:p>
        </p:txBody>
      </p:sp>
      <p:sp>
        <p:nvSpPr>
          <p:cNvPr id="76804" name="Line 4"/>
          <p:cNvSpPr>
            <a:spLocks noChangeShapeType="1"/>
          </p:cNvSpPr>
          <p:nvPr/>
        </p:nvSpPr>
        <p:spPr bwMode="auto">
          <a:xfrm flipV="1">
            <a:off x="3216276" y="3429000"/>
            <a:ext cx="576263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 l="424" t="4802" r="1059" b="4802"/>
          <a:stretch>
            <a:fillRect/>
          </a:stretch>
        </p:blipFill>
        <p:spPr bwMode="auto">
          <a:xfrm>
            <a:off x="2711450" y="1484784"/>
            <a:ext cx="6985000" cy="44608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1256317" y="3429000"/>
            <a:ext cx="325550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2800" b="1" dirty="0" smtClean="0">
                <a:latin typeface="Calibri" pitchFamily="34" charset="0"/>
              </a:rPr>
              <a:t>Processes </a:t>
            </a:r>
            <a:r>
              <a:rPr lang="en-US" altLang="zh-TW" sz="2800" b="1" dirty="0">
                <a:latin typeface="Calibri" pitchFamily="34" charset="0"/>
              </a:rPr>
              <a:t>may be </a:t>
            </a:r>
          </a:p>
          <a:p>
            <a:pPr algn="ctr"/>
            <a:r>
              <a:rPr lang="en-US" altLang="zh-TW" sz="2800" b="1" dirty="0">
                <a:latin typeface="Calibri" pitchFamily="34" charset="0"/>
              </a:rPr>
              <a:t>blocked in a monitor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209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6"/>
          <p:cNvSpPr txBox="1">
            <a:spLocks noChangeArrowheads="1"/>
          </p:cNvSpPr>
          <p:nvPr/>
        </p:nvSpPr>
        <p:spPr bwMode="auto">
          <a:xfrm>
            <a:off x="2639617" y="1140174"/>
            <a:ext cx="1235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process A</a:t>
            </a:r>
          </a:p>
        </p:txBody>
      </p:sp>
      <p:sp>
        <p:nvSpPr>
          <p:cNvPr id="77827" name="Text Box 15"/>
          <p:cNvSpPr txBox="1">
            <a:spLocks noChangeArrowheads="1"/>
          </p:cNvSpPr>
          <p:nvPr/>
        </p:nvSpPr>
        <p:spPr bwMode="auto">
          <a:xfrm>
            <a:off x="1919537" y="276078"/>
            <a:ext cx="32400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</a:rPr>
              <a:t>monitor entry queue:</a:t>
            </a:r>
          </a:p>
          <a:p>
            <a:r>
              <a:rPr lang="en-US" altLang="zh-TW" sz="2000" b="1">
                <a:latin typeface="Calibri" panose="020F0502020204030204" pitchFamily="34" charset="0"/>
              </a:rPr>
              <a:t>x.queue:</a:t>
            </a:r>
          </a:p>
        </p:txBody>
      </p:sp>
      <p:sp>
        <p:nvSpPr>
          <p:cNvPr id="77828" name="Text Box 5"/>
          <p:cNvSpPr txBox="1">
            <a:spLocks noChangeArrowheads="1"/>
          </p:cNvSpPr>
          <p:nvPr/>
        </p:nvSpPr>
        <p:spPr bwMode="auto">
          <a:xfrm>
            <a:off x="4943872" y="2575932"/>
            <a:ext cx="252095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monitor  Demo{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</a:t>
            </a:r>
            <a:r>
              <a:rPr lang="en-US" altLang="zh-TW" sz="2000" dirty="0" err="1">
                <a:latin typeface="Calibri" panose="020F0502020204030204" pitchFamily="34" charset="0"/>
              </a:rPr>
              <a:t>int</a:t>
            </a:r>
            <a:r>
              <a:rPr lang="en-US" altLang="zh-TW" sz="2000" dirty="0">
                <a:latin typeface="Calibri" panose="020F0502020204030204" pitchFamily="34" charset="0"/>
              </a:rPr>
              <a:t>   a;    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condition x;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a = 0;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void func1() {    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if (</a:t>
            </a:r>
            <a:r>
              <a:rPr lang="en-US" altLang="zh-TW" sz="2000" dirty="0" err="1">
                <a:latin typeface="Calibri" panose="020F0502020204030204" pitchFamily="34" charset="0"/>
              </a:rPr>
              <a:t>this.a</a:t>
            </a:r>
            <a:r>
              <a:rPr lang="en-US" altLang="zh-TW" sz="2000" dirty="0">
                <a:latin typeface="Calibri" panose="020F0502020204030204" pitchFamily="34" charset="0"/>
              </a:rPr>
              <a:t> == 0)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      </a:t>
            </a:r>
            <a:r>
              <a:rPr lang="en-US" altLang="zh-TW" sz="2000" dirty="0" err="1">
                <a:latin typeface="Calibri" panose="020F0502020204030204" pitchFamily="34" charset="0"/>
              </a:rPr>
              <a:t>x.wait</a:t>
            </a:r>
            <a:r>
              <a:rPr lang="en-US" altLang="zh-TW" sz="2000" dirty="0">
                <a:latin typeface="Calibri" panose="020F0502020204030204" pitchFamily="34" charset="0"/>
              </a:rPr>
              <a:t>();         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a++;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}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void func2()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 </a:t>
            </a:r>
            <a:r>
              <a:rPr lang="en-US" altLang="zh-TW" sz="2000" dirty="0" err="1">
                <a:latin typeface="Calibri" panose="020F0502020204030204" pitchFamily="34" charset="0"/>
              </a:rPr>
              <a:t>x.signal</a:t>
            </a:r>
            <a:r>
              <a:rPr lang="en-US" altLang="zh-TW" sz="2000" dirty="0" smtClean="0">
                <a:latin typeface="Calibri" panose="020F0502020204030204" pitchFamily="34" charset="0"/>
              </a:rPr>
              <a:t>();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</a:t>
            </a:r>
            <a:r>
              <a:rPr lang="en-US" altLang="zh-TW" sz="2000" dirty="0" smtClean="0">
                <a:latin typeface="Calibri" panose="020F0502020204030204" pitchFamily="34" charset="0"/>
              </a:rPr>
              <a:t>        a = a + 1;</a:t>
            </a:r>
            <a:endParaRPr lang="en-US" altLang="zh-TW" sz="2000" dirty="0">
              <a:latin typeface="Calibri" panose="020F0502020204030204" pitchFamily="34" charset="0"/>
            </a:endParaRPr>
          </a:p>
          <a:p>
            <a:r>
              <a:rPr lang="en-US" altLang="zh-TW" sz="2000" dirty="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77829" name="Rectangle 7"/>
          <p:cNvSpPr>
            <a:spLocks noChangeArrowheads="1"/>
          </p:cNvSpPr>
          <p:nvPr/>
        </p:nvSpPr>
        <p:spPr bwMode="auto">
          <a:xfrm>
            <a:off x="4945459" y="2574256"/>
            <a:ext cx="2376488" cy="409510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68" name="Rectangle 16"/>
          <p:cNvSpPr>
            <a:spLocks noChangeArrowheads="1"/>
          </p:cNvSpPr>
          <p:nvPr/>
        </p:nvSpPr>
        <p:spPr bwMode="auto">
          <a:xfrm>
            <a:off x="2207568" y="1825080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7831" name="Text Box 17"/>
          <p:cNvSpPr txBox="1">
            <a:spLocks noChangeArrowheads="1"/>
          </p:cNvSpPr>
          <p:nvPr/>
        </p:nvSpPr>
        <p:spPr bwMode="auto">
          <a:xfrm>
            <a:off x="5375921" y="1177009"/>
            <a:ext cx="12207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process B</a:t>
            </a:r>
          </a:p>
        </p:txBody>
      </p:sp>
      <p:sp>
        <p:nvSpPr>
          <p:cNvPr id="77832" name="Text Box 18"/>
          <p:cNvSpPr txBox="1">
            <a:spLocks noChangeArrowheads="1"/>
          </p:cNvSpPr>
          <p:nvPr/>
        </p:nvSpPr>
        <p:spPr bwMode="auto">
          <a:xfrm>
            <a:off x="8544942" y="1177008"/>
            <a:ext cx="11850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process C</a:t>
            </a:r>
          </a:p>
        </p:txBody>
      </p:sp>
      <p:sp>
        <p:nvSpPr>
          <p:cNvPr id="612380" name="AutoShape 28"/>
          <p:cNvSpPr>
            <a:spLocks noChangeArrowheads="1"/>
          </p:cNvSpPr>
          <p:nvPr/>
        </p:nvSpPr>
        <p:spPr bwMode="auto">
          <a:xfrm>
            <a:off x="4151785" y="888976"/>
            <a:ext cx="1286421" cy="590426"/>
          </a:xfrm>
          <a:prstGeom prst="curvedDown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82" name="Rectangle 30"/>
          <p:cNvSpPr>
            <a:spLocks noChangeArrowheads="1"/>
          </p:cNvSpPr>
          <p:nvPr/>
        </p:nvSpPr>
        <p:spPr bwMode="auto">
          <a:xfrm>
            <a:off x="4438898" y="276077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612383" name="Text Box 31"/>
          <p:cNvSpPr txBox="1">
            <a:spLocks noChangeArrowheads="1"/>
          </p:cNvSpPr>
          <p:nvPr/>
        </p:nvSpPr>
        <p:spPr bwMode="auto">
          <a:xfrm>
            <a:off x="5231905" y="924150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612385" name="Rectangle 33"/>
          <p:cNvSpPr>
            <a:spLocks noChangeArrowheads="1"/>
          </p:cNvSpPr>
          <p:nvPr/>
        </p:nvSpPr>
        <p:spPr bwMode="auto">
          <a:xfrm>
            <a:off x="5589984" y="4128120"/>
            <a:ext cx="1512888" cy="6492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86" name="Text Box 34"/>
          <p:cNvSpPr txBox="1">
            <a:spLocks noChangeArrowheads="1"/>
          </p:cNvSpPr>
          <p:nvPr/>
        </p:nvSpPr>
        <p:spPr bwMode="auto">
          <a:xfrm>
            <a:off x="6744098" y="4596558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612387" name="Rectangle 35"/>
          <p:cNvSpPr>
            <a:spLocks noChangeArrowheads="1"/>
          </p:cNvSpPr>
          <p:nvPr/>
        </p:nvSpPr>
        <p:spPr bwMode="auto">
          <a:xfrm>
            <a:off x="2999036" y="636440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612390" name="AutoShape 38"/>
          <p:cNvSpPr>
            <a:spLocks noChangeArrowheads="1"/>
          </p:cNvSpPr>
          <p:nvPr/>
        </p:nvSpPr>
        <p:spPr bwMode="auto">
          <a:xfrm>
            <a:off x="6960096" y="960984"/>
            <a:ext cx="1872184" cy="504130"/>
          </a:xfrm>
          <a:prstGeom prst="curvedDownArrow">
            <a:avLst>
              <a:gd name="adj1" fmla="val 52705"/>
              <a:gd name="adj2" fmla="val 10541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91" name="Rectangle 39"/>
          <p:cNvSpPr>
            <a:spLocks noChangeArrowheads="1"/>
          </p:cNvSpPr>
          <p:nvPr/>
        </p:nvSpPr>
        <p:spPr bwMode="auto">
          <a:xfrm>
            <a:off x="5015161" y="276077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612392" name="Text Box 40"/>
          <p:cNvSpPr txBox="1">
            <a:spLocks noChangeArrowheads="1"/>
          </p:cNvSpPr>
          <p:nvPr/>
        </p:nvSpPr>
        <p:spPr bwMode="auto">
          <a:xfrm>
            <a:off x="8472265" y="888977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612393" name="AutoShape 41"/>
          <p:cNvSpPr>
            <a:spLocks noChangeArrowheads="1"/>
          </p:cNvSpPr>
          <p:nvPr/>
        </p:nvSpPr>
        <p:spPr bwMode="auto">
          <a:xfrm flipH="1" flipV="1">
            <a:off x="3214936" y="2320985"/>
            <a:ext cx="5329238" cy="404813"/>
          </a:xfrm>
          <a:prstGeom prst="curvedDownArrow">
            <a:avLst>
              <a:gd name="adj1" fmla="val 263294"/>
              <a:gd name="adj2" fmla="val 52658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94" name="Rectangle 42"/>
          <p:cNvSpPr>
            <a:spLocks noChangeArrowheads="1"/>
          </p:cNvSpPr>
          <p:nvPr/>
        </p:nvSpPr>
        <p:spPr bwMode="auto">
          <a:xfrm>
            <a:off x="5539914" y="5715402"/>
            <a:ext cx="1368425" cy="287337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2063552" y="1537049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135560" y="1465785"/>
            <a:ext cx="1728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x = x + 1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demo.func1()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y = y – 1;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5303267" y="3841304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4943872" y="1537049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7967984" y="1537049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015880" y="1484497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x1 = x1 - 1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demo.func2()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y1 = y1 + 1;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112224" y="1494225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x2 = x2 - 1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demo.func2()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y2 = y2 + 1;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32" name="Rectangle 42"/>
          <p:cNvSpPr>
            <a:spLocks noChangeArrowheads="1"/>
          </p:cNvSpPr>
          <p:nvPr/>
        </p:nvSpPr>
        <p:spPr bwMode="auto">
          <a:xfrm>
            <a:off x="5087888" y="1825080"/>
            <a:ext cx="1512168" cy="36004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8184232" y="1825080"/>
            <a:ext cx="1512168" cy="36004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210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61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5" dur="500"/>
                                        <p:tgtEl>
                                          <p:spTgt spid="61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1" dur="500"/>
                                        <p:tgtEl>
                                          <p:spTgt spid="61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68" grpId="0" animBg="1"/>
      <p:bldP spid="612380" grpId="0" animBg="1"/>
      <p:bldP spid="612380" grpId="1" animBg="1"/>
      <p:bldP spid="612382" grpId="0" animBg="1"/>
      <p:bldP spid="612382" grpId="1" animBg="1"/>
      <p:bldP spid="612383" grpId="0"/>
      <p:bldP spid="612383" grpId="1"/>
      <p:bldP spid="612385" grpId="0" animBg="1"/>
      <p:bldP spid="612386" grpId="0"/>
      <p:bldP spid="612386" grpId="1"/>
      <p:bldP spid="612387" grpId="0" animBg="1"/>
      <p:bldP spid="612387" grpId="1" animBg="1"/>
      <p:bldP spid="612390" grpId="0" animBg="1"/>
      <p:bldP spid="612391" grpId="0" animBg="1"/>
      <p:bldP spid="612392" grpId="0"/>
      <p:bldP spid="612393" grpId="0" animBg="1"/>
      <p:bldP spid="612394" grpId="0" animBg="1"/>
      <p:bldP spid="612394" grpId="1" animBg="1"/>
      <p:bldP spid="27" grpId="1" animBg="1"/>
      <p:bldP spid="27" grpId="2" animBg="1"/>
      <p:bldP spid="32" grpId="0" animBg="1"/>
      <p:bldP spid="32" grpId="1" animBg="1"/>
      <p:bldP spid="33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smtClean="0"/>
              <a:t>Q: </a:t>
            </a:r>
            <a:r>
              <a:rPr lang="en-US" altLang="zh-TW" sz="4000" dirty="0" smtClean="0"/>
              <a:t>When </a:t>
            </a:r>
            <a:r>
              <a:rPr lang="en-US" altLang="zh-TW" sz="4000" i="1" dirty="0"/>
              <a:t>B</a:t>
            </a:r>
            <a:r>
              <a:rPr lang="en-US" altLang="zh-TW" sz="4000" dirty="0"/>
              <a:t> executes </a:t>
            </a:r>
            <a:r>
              <a:rPr lang="en-US" altLang="zh-TW" sz="4000" i="1" dirty="0" err="1"/>
              <a:t>x.signal</a:t>
            </a:r>
            <a:r>
              <a:rPr lang="en-US" altLang="zh-TW" sz="4000" i="1" dirty="0"/>
              <a:t>() </a:t>
            </a:r>
            <a:r>
              <a:rPr lang="en-US" altLang="zh-TW" sz="4000" dirty="0"/>
              <a:t>that wakes up </a:t>
            </a:r>
            <a:r>
              <a:rPr lang="en-US" altLang="zh-TW" sz="4000" i="1" dirty="0"/>
              <a:t>A</a:t>
            </a:r>
            <a:br>
              <a:rPr lang="en-US" altLang="zh-TW" sz="4000" i="1" dirty="0"/>
            </a:br>
            <a:r>
              <a:rPr lang="en-US" altLang="zh-TW" sz="4000" dirty="0"/>
              <a:t>Now, both </a:t>
            </a:r>
            <a:r>
              <a:rPr lang="en-US" altLang="zh-TW" sz="4000" i="1" dirty="0"/>
              <a:t>B</a:t>
            </a:r>
            <a:r>
              <a:rPr lang="en-US" altLang="zh-TW" sz="4000" dirty="0"/>
              <a:t> and </a:t>
            </a:r>
            <a:r>
              <a:rPr lang="en-US" altLang="zh-TW" sz="4000" i="1" dirty="0"/>
              <a:t>A</a:t>
            </a:r>
            <a:r>
              <a:rPr lang="en-US" altLang="zh-TW" sz="4000" dirty="0"/>
              <a:t> are </a:t>
            </a:r>
            <a:r>
              <a:rPr lang="en-US" altLang="zh-TW" sz="4000" dirty="0" smtClean="0"/>
              <a:t>active </a:t>
            </a:r>
            <a:r>
              <a:rPr lang="en-US" altLang="zh-TW" sz="4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</a:t>
            </a:r>
            <a:r>
              <a:rPr lang="en-US" altLang="zh-TW" sz="4000" dirty="0" smtClean="0">
                <a:solidFill>
                  <a:srgbClr val="FF0000"/>
                </a:solidFill>
                <a:ea typeface="Arial Unicode MS" panose="020B0604020202020204" pitchFamily="34" charset="-120"/>
                <a:cs typeface="Calibri" panose="020F0502020204030204" pitchFamily="34" charset="0"/>
              </a:rPr>
              <a:t>X</a:t>
            </a:r>
            <a:endParaRPr lang="zh-TW" altLang="en-US" sz="4000" dirty="0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en-US" altLang="zh-TW" dirty="0" smtClean="0">
                <a:solidFill>
                  <a:srgbClr val="FF3300"/>
                </a:solidFill>
              </a:rPr>
              <a:t>one </a:t>
            </a:r>
            <a:r>
              <a:rPr lang="en-US" altLang="zh-TW" dirty="0">
                <a:solidFill>
                  <a:srgbClr val="FF3300"/>
                </a:solidFill>
              </a:rPr>
              <a:t>must wait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978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3600">
                <a:solidFill>
                  <a:schemeClr val="tx1"/>
                </a:solidFill>
              </a:rPr>
              <a:t>Monitors with Condition Variables (Cont.)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smtClean="0"/>
              <a:t>Solution: two </a:t>
            </a:r>
            <a:r>
              <a:rPr lang="en-US" altLang="zh-TW" dirty="0"/>
              <a:t>possibilities for the implementation:</a:t>
            </a:r>
          </a:p>
          <a:p>
            <a:pPr lvl="1" eaLnBrk="1" hangingPunct="1"/>
            <a:r>
              <a:rPr lang="en-US" altLang="zh-TW" sz="3200" b="1" dirty="0" smtClean="0">
                <a:solidFill>
                  <a:srgbClr val="FF3300"/>
                </a:solidFill>
              </a:rPr>
              <a:t>Signal and wait</a:t>
            </a:r>
            <a:r>
              <a:rPr lang="en-US" altLang="zh-TW" sz="3200" dirty="0" smtClean="0"/>
              <a:t>: </a:t>
            </a:r>
            <a:r>
              <a:rPr lang="en-US" altLang="zh-TW" sz="3200" i="1" dirty="0" smtClean="0"/>
              <a:t>B</a:t>
            </a:r>
            <a:r>
              <a:rPr lang="en-US" altLang="zh-TW" sz="3200" dirty="0" smtClean="0"/>
              <a:t> signals and waits</a:t>
            </a:r>
          </a:p>
          <a:p>
            <a:pPr lvl="2" eaLnBrk="1" hangingPunct="1"/>
            <a:r>
              <a:rPr lang="en-US" altLang="zh-TW" sz="2800" i="1" dirty="0" smtClean="0"/>
              <a:t>A</a:t>
            </a:r>
            <a:r>
              <a:rPr lang="en-US" altLang="zh-TW" sz="2800" dirty="0" smtClean="0"/>
              <a:t> is active in the monitor</a:t>
            </a:r>
          </a:p>
          <a:p>
            <a:pPr lvl="2" eaLnBrk="1" hangingPunct="1"/>
            <a:r>
              <a:rPr lang="en-US" altLang="zh-TW" sz="2800" i="1" dirty="0" smtClean="0"/>
              <a:t>B</a:t>
            </a:r>
            <a:r>
              <a:rPr lang="en-US" altLang="zh-TW" sz="2800" dirty="0" smtClean="0"/>
              <a:t> waits until </a:t>
            </a:r>
            <a:r>
              <a:rPr lang="en-US" altLang="zh-TW" sz="2800" i="1" dirty="0" smtClean="0"/>
              <a:t>A</a:t>
            </a:r>
            <a:r>
              <a:rPr lang="en-US" altLang="zh-TW" sz="2800" dirty="0" smtClean="0"/>
              <a:t> leaves the monitor</a:t>
            </a:r>
          </a:p>
          <a:p>
            <a:pPr lvl="1" eaLnBrk="1" hangingPunct="1"/>
            <a:endParaRPr lang="en-US" altLang="zh-TW" sz="3200" b="1" dirty="0" smtClean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3200" b="1" dirty="0" smtClean="0">
                <a:solidFill>
                  <a:srgbClr val="FF3300"/>
                </a:solidFill>
              </a:rPr>
              <a:t>Signal and continue</a:t>
            </a:r>
            <a:r>
              <a:rPr lang="en-US" altLang="zh-TW" sz="3200" dirty="0" smtClean="0"/>
              <a:t>: </a:t>
            </a:r>
            <a:r>
              <a:rPr lang="en-US" altLang="zh-TW" sz="3200" i="1" dirty="0" smtClean="0"/>
              <a:t>B</a:t>
            </a:r>
            <a:r>
              <a:rPr lang="en-US" altLang="zh-TW" sz="3200" dirty="0" smtClean="0"/>
              <a:t> signals and continues</a:t>
            </a:r>
          </a:p>
          <a:p>
            <a:pPr lvl="2" eaLnBrk="1" hangingPunct="1"/>
            <a:r>
              <a:rPr lang="en-US" altLang="zh-TW" sz="2800" i="1" dirty="0" smtClean="0"/>
              <a:t>B</a:t>
            </a:r>
            <a:r>
              <a:rPr lang="en-US" altLang="zh-TW" sz="2800" dirty="0" smtClean="0"/>
              <a:t> is still active in the monitor</a:t>
            </a:r>
          </a:p>
          <a:p>
            <a:pPr lvl="2" eaLnBrk="1" hangingPunct="1"/>
            <a:r>
              <a:rPr lang="en-US" altLang="zh-TW" sz="2800" i="1" dirty="0" smtClean="0"/>
              <a:t>A</a:t>
            </a:r>
            <a:r>
              <a:rPr lang="en-US" altLang="zh-TW" sz="2800" dirty="0" smtClean="0"/>
              <a:t> waits until </a:t>
            </a:r>
            <a:r>
              <a:rPr lang="en-US" altLang="zh-TW" sz="2800" i="1" dirty="0" smtClean="0"/>
              <a:t>B</a:t>
            </a:r>
            <a:r>
              <a:rPr lang="en-US" altLang="zh-TW" sz="2800" dirty="0" smtClean="0"/>
              <a:t> leaves the monitor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212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Monitors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Monitor Usage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3300"/>
                </a:solidFill>
              </a:rPr>
              <a:t>Implementing a Monitor Using </a:t>
            </a:r>
            <a:r>
              <a:rPr lang="en-US" altLang="zh-TW" sz="2400" b="1" dirty="0" smtClean="0">
                <a:solidFill>
                  <a:srgbClr val="FF3300"/>
                </a:solidFill>
              </a:rPr>
              <a:t>Semaphore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Resuming Processes within a Monitor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84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如何提供</a:t>
            </a:r>
            <a:r>
              <a:rPr lang="en-US" altLang="zh-TW" dirty="0" smtClean="0"/>
              <a:t>(support)Monitor?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利用</a:t>
            </a:r>
            <a:r>
              <a:rPr lang="en-US" altLang="zh-TW" dirty="0" smtClean="0"/>
              <a:t>OS</a:t>
            </a:r>
            <a:r>
              <a:rPr lang="zh-TW" altLang="en-US" dirty="0" smtClean="0"/>
              <a:t>提供的</a:t>
            </a:r>
            <a:r>
              <a:rPr lang="en-US" altLang="zh-TW" dirty="0" smtClean="0"/>
              <a:t>synchronization</a:t>
            </a:r>
            <a:r>
              <a:rPr lang="zh-TW" altLang="en-US" dirty="0" smtClean="0"/>
              <a:t>機制</a:t>
            </a:r>
            <a:r>
              <a:rPr lang="en-US" altLang="zh-TW" dirty="0" smtClean="0"/>
              <a:t>(mutex, spin lock, or semaphore)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009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</a:t>
            </a:r>
            <a:r>
              <a:rPr lang="zh-TW" altLang="en-US" sz="4000" dirty="0" smtClean="0"/>
              <a:t>觀察一下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有幾種情形程式會被</a:t>
            </a:r>
            <a:r>
              <a:rPr lang="en-US" altLang="zh-TW" sz="4000" dirty="0" smtClean="0"/>
              <a:t>blocked?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145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 dirty="0"/>
              <a:t>Implement a Monitor Using </a:t>
            </a:r>
            <a:r>
              <a:rPr lang="en-US" altLang="zh-TW" sz="4000" dirty="0">
                <a:solidFill>
                  <a:srgbClr val="FF0000"/>
                </a:solidFill>
              </a:rPr>
              <a:t>Semaphores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There are three cases to be blocked in a monitor</a:t>
            </a:r>
          </a:p>
          <a:p>
            <a:pPr lvl="1" eaLnBrk="1" hangingPunct="1"/>
            <a:r>
              <a:rPr lang="en-US" altLang="zh-TW" sz="2400" dirty="0"/>
              <a:t>Case 1: when entering a monitor</a:t>
            </a:r>
          </a:p>
          <a:p>
            <a:pPr lvl="2" eaLnBrk="1" hangingPunct="1"/>
            <a:r>
              <a:rPr lang="en-US" altLang="zh-TW" sz="2000" dirty="0"/>
              <a:t>If another process is currently executed in the monitor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Case 2: when calling </a:t>
            </a:r>
            <a:r>
              <a:rPr lang="en-US" altLang="zh-TW" sz="2400" b="1" dirty="0" err="1">
                <a:solidFill>
                  <a:srgbClr val="0000FF"/>
                </a:solidFill>
              </a:rPr>
              <a:t>x.wait</a:t>
            </a:r>
            <a:r>
              <a:rPr lang="en-US" altLang="zh-TW" sz="2400" b="1" dirty="0">
                <a:solidFill>
                  <a:srgbClr val="0000FF"/>
                </a:solidFill>
              </a:rPr>
              <a:t>()</a:t>
            </a:r>
            <a:r>
              <a:rPr lang="en-US" altLang="zh-TW" sz="2400" dirty="0">
                <a:solidFill>
                  <a:srgbClr val="0000FF"/>
                </a:solidFill>
              </a:rPr>
              <a:t>, </a:t>
            </a:r>
            <a:r>
              <a:rPr lang="en-US" altLang="zh-TW" sz="2400" dirty="0"/>
              <a:t>for each condition variable </a:t>
            </a:r>
            <a:r>
              <a:rPr lang="en-US" altLang="zh-TW" sz="2400" b="1" dirty="0"/>
              <a:t>x</a:t>
            </a:r>
          </a:p>
          <a:p>
            <a:pPr lvl="2" eaLnBrk="1" hangingPunct="1"/>
            <a:r>
              <a:rPr lang="en-US" altLang="zh-TW" sz="2000" dirty="0"/>
              <a:t>The calling process will be blocked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Case 3: When calling </a:t>
            </a:r>
            <a:r>
              <a:rPr lang="en-US" altLang="zh-TW" sz="2400" b="1" dirty="0" err="1">
                <a:solidFill>
                  <a:srgbClr val="0000FF"/>
                </a:solidFill>
              </a:rPr>
              <a:t>x.signal</a:t>
            </a:r>
            <a:r>
              <a:rPr lang="en-US" altLang="zh-TW" sz="2400" b="1" dirty="0">
                <a:solidFill>
                  <a:srgbClr val="0000FF"/>
                </a:solidFill>
              </a:rPr>
              <a:t>()</a:t>
            </a:r>
            <a:r>
              <a:rPr lang="en-US" altLang="zh-TW" sz="2400" dirty="0"/>
              <a:t>, for each condition variable </a:t>
            </a:r>
            <a:r>
              <a:rPr lang="en-US" altLang="zh-TW" sz="2400" b="1" dirty="0"/>
              <a:t>x</a:t>
            </a:r>
            <a:endParaRPr lang="en-US" altLang="zh-TW" sz="2400" dirty="0"/>
          </a:p>
          <a:p>
            <a:pPr lvl="2" eaLnBrk="1" hangingPunct="1"/>
            <a:r>
              <a:rPr lang="en-US" altLang="zh-TW" sz="2000" dirty="0"/>
              <a:t>Assume that </a:t>
            </a:r>
            <a:r>
              <a:rPr lang="en-US" altLang="zh-TW" sz="2000" b="1" dirty="0">
                <a:solidFill>
                  <a:srgbClr val="FF3300"/>
                </a:solidFill>
              </a:rPr>
              <a:t>signal and wait</a:t>
            </a:r>
          </a:p>
          <a:p>
            <a:pPr lvl="2" eaLnBrk="1" hangingPunct="1"/>
            <a:r>
              <a:rPr lang="en-US" altLang="zh-TW" sz="2000" dirty="0"/>
              <a:t>The calling process may wait until the resumed process to leave or wait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216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</a:t>
            </a:r>
            <a:r>
              <a:rPr lang="zh-TW" altLang="en-US" sz="4000" dirty="0" smtClean="0"/>
              <a:t>所以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我們需 要幾種</a:t>
            </a:r>
            <a:r>
              <a:rPr lang="en-US" altLang="zh-TW" sz="4000" dirty="0" smtClean="0"/>
              <a:t>semaphore</a:t>
            </a:r>
            <a:r>
              <a:rPr lang="zh-TW" altLang="en-US" sz="4000" dirty="0" smtClean="0"/>
              <a:t>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1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Implement a Monitor Using Semaphores (Cont.)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Thus, we need </a:t>
            </a:r>
            <a:r>
              <a:rPr lang="en-US" altLang="zh-TW" sz="2800" b="1" dirty="0"/>
              <a:t>three kinds </a:t>
            </a:r>
            <a:r>
              <a:rPr lang="en-US" altLang="zh-TW" sz="2800" dirty="0"/>
              <a:t>of semaphore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/>
              <a:t>case 1</a:t>
            </a:r>
            <a:r>
              <a:rPr lang="en-US" altLang="zh-TW" sz="2400" dirty="0"/>
              <a:t>: use a semaphore </a:t>
            </a:r>
            <a:r>
              <a:rPr lang="en-US" altLang="zh-TW" sz="2400" b="1" dirty="0"/>
              <a:t>mutex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init.</a:t>
            </a:r>
            <a:r>
              <a:rPr lang="en-US" altLang="zh-TW" sz="2400" dirty="0"/>
              <a:t> as </a:t>
            </a:r>
            <a:r>
              <a:rPr lang="en-US" altLang="zh-TW" sz="2400" b="1" dirty="0"/>
              <a:t>1</a:t>
            </a:r>
            <a:r>
              <a:rPr lang="en-US" altLang="zh-TW" sz="2400" dirty="0"/>
              <a:t>) for each monitor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wait(mutex) before entering the monitor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signal(mutex) after leaving the monitor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sz="2400" b="1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/>
              <a:t>case 2</a:t>
            </a:r>
            <a:r>
              <a:rPr lang="en-US" altLang="zh-TW" sz="2400" dirty="0"/>
              <a:t>: </a:t>
            </a:r>
            <a:r>
              <a:rPr lang="en-US" altLang="zh-TW" sz="2400" b="1" dirty="0"/>
              <a:t>each</a:t>
            </a:r>
            <a:r>
              <a:rPr lang="en-US" altLang="zh-TW" sz="2400" dirty="0"/>
              <a:t> condition variable, </a:t>
            </a:r>
            <a:r>
              <a:rPr lang="en-US" altLang="zh-TW" sz="2400" b="1" dirty="0">
                <a:solidFill>
                  <a:srgbClr val="FF0000"/>
                </a:solidFill>
              </a:rPr>
              <a:t>x</a:t>
            </a:r>
            <a:r>
              <a:rPr lang="en-US" altLang="zh-TW" sz="2400" dirty="0"/>
              <a:t>, is implemented by using</a:t>
            </a:r>
          </a:p>
          <a:p>
            <a:pPr lvl="2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zh-TW" sz="2000" b="1" dirty="0" err="1"/>
              <a:t>x_sem</a:t>
            </a:r>
            <a:r>
              <a:rPr lang="en-US" altLang="zh-TW" sz="2000" dirty="0"/>
              <a:t> (</a:t>
            </a:r>
            <a:r>
              <a:rPr lang="en-US" altLang="zh-TW" sz="2000" dirty="0" err="1"/>
              <a:t>init.</a:t>
            </a:r>
            <a:r>
              <a:rPr lang="en-US" altLang="zh-TW" sz="2000" dirty="0"/>
              <a:t> as </a:t>
            </a:r>
            <a:r>
              <a:rPr lang="en-US" altLang="zh-TW" sz="2000" b="1" dirty="0">
                <a:solidFill>
                  <a:srgbClr val="FF3300"/>
                </a:solidFill>
              </a:rPr>
              <a:t>0</a:t>
            </a:r>
            <a:r>
              <a:rPr lang="en-US" altLang="zh-TW" sz="2000" dirty="0"/>
              <a:t>): semaphore corresponds to x</a:t>
            </a:r>
          </a:p>
          <a:p>
            <a:pPr lvl="2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zh-TW" sz="2000" b="1" dirty="0" err="1"/>
              <a:t>int</a:t>
            </a:r>
            <a:r>
              <a:rPr lang="en-US" altLang="zh-TW" sz="2000" b="1" dirty="0"/>
              <a:t> </a:t>
            </a:r>
            <a:r>
              <a:rPr lang="en-US" altLang="zh-TW" sz="2000" b="1" dirty="0" err="1"/>
              <a:t>x_count</a:t>
            </a:r>
            <a:r>
              <a:rPr lang="en-US" altLang="zh-TW" sz="2000" b="1" dirty="0"/>
              <a:t>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init.</a:t>
            </a:r>
            <a:r>
              <a:rPr lang="en-US" altLang="zh-TW" sz="2000" dirty="0"/>
              <a:t> as </a:t>
            </a:r>
            <a:r>
              <a:rPr lang="en-US" altLang="zh-TW" sz="2000" b="1" dirty="0"/>
              <a:t>0</a:t>
            </a:r>
            <a:r>
              <a:rPr lang="en-US" altLang="zh-TW" sz="2000" dirty="0"/>
              <a:t>): number of processes waiting on </a:t>
            </a:r>
            <a:r>
              <a:rPr lang="en-US" altLang="zh-TW" sz="2000" b="1" dirty="0" err="1"/>
              <a:t>x_sem</a:t>
            </a:r>
            <a:endParaRPr lang="en-US" altLang="zh-TW" b="1" dirty="0" smtClean="0"/>
          </a:p>
          <a:p>
            <a:pPr lvl="1" eaLnBrk="1" hangingPunct="1">
              <a:lnSpc>
                <a:spcPct val="110000"/>
              </a:lnSpc>
            </a:pPr>
            <a:endParaRPr lang="en-US" altLang="zh-TW" sz="2400" b="1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/>
              <a:t>case 3</a:t>
            </a:r>
            <a:r>
              <a:rPr lang="en-US" altLang="zh-TW" sz="2400" dirty="0"/>
              <a:t>: assume</a:t>
            </a:r>
            <a:r>
              <a:rPr lang="en-US" altLang="zh-TW" sz="2400" b="1" dirty="0">
                <a:solidFill>
                  <a:srgbClr val="FF3300"/>
                </a:solidFill>
              </a:rPr>
              <a:t> signal and wait, </a:t>
            </a:r>
            <a:r>
              <a:rPr lang="en-US" altLang="zh-TW" sz="2400" dirty="0"/>
              <a:t>use another semaphore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b="1" dirty="0"/>
              <a:t>next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init.</a:t>
            </a:r>
            <a:r>
              <a:rPr lang="en-US" altLang="zh-TW" sz="2000" dirty="0"/>
              <a:t> as </a:t>
            </a:r>
            <a:r>
              <a:rPr lang="en-US" altLang="zh-TW" sz="2000" b="1" dirty="0">
                <a:solidFill>
                  <a:srgbClr val="FF3300"/>
                </a:solidFill>
              </a:rPr>
              <a:t>0</a:t>
            </a:r>
            <a:r>
              <a:rPr lang="en-US" altLang="zh-TW" sz="2000" dirty="0"/>
              <a:t>): used by a signaling process since it must wait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b="1" dirty="0" err="1"/>
              <a:t>int</a:t>
            </a:r>
            <a:r>
              <a:rPr lang="en-US" altLang="zh-TW" sz="2000" b="1" dirty="0"/>
              <a:t> </a:t>
            </a:r>
            <a:r>
              <a:rPr lang="en-US" altLang="zh-TW" sz="2000" b="1" dirty="0" err="1"/>
              <a:t>next_count</a:t>
            </a:r>
            <a:r>
              <a:rPr lang="en-US" altLang="zh-TW" sz="2000" b="1" dirty="0"/>
              <a:t>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init.</a:t>
            </a:r>
            <a:r>
              <a:rPr lang="en-US" altLang="zh-TW" sz="2000" dirty="0"/>
              <a:t> as 0): number of processes suspend on </a:t>
            </a:r>
            <a:r>
              <a:rPr lang="en-US" altLang="zh-TW" sz="2000" b="1" dirty="0"/>
              <a:t>next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218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誰來提供呢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compiler/library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28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程式怎麼寫呢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0895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25" name="Rectangle 13"/>
          <p:cNvSpPr>
            <a:spLocks noGrp="1" noChangeArrowheads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eaLnBrk="1" hangingPunct="1">
              <a:defRPr/>
            </a:pPr>
            <a:r>
              <a:rPr lang="en-US" altLang="zh-TW" sz="4000" dirty="0"/>
              <a:t>Implement a Monitor Using Semaphores (Cont.)</a:t>
            </a:r>
          </a:p>
        </p:txBody>
      </p:sp>
      <p:sp>
        <p:nvSpPr>
          <p:cNvPr id="89090" name="Rectangle 2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</a:pPr>
            <a:r>
              <a:rPr lang="en-US" altLang="zh-TW" sz="2800" dirty="0"/>
              <a:t>Each external (public) procedure </a:t>
            </a:r>
            <a:r>
              <a:rPr lang="en-US" altLang="zh-TW" sz="2800" b="1" i="1" dirty="0"/>
              <a:t>F</a:t>
            </a:r>
            <a:r>
              <a:rPr lang="en-US" altLang="zh-TW" sz="2800" dirty="0"/>
              <a:t> will be replaced by</a:t>
            </a:r>
          </a:p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</a:pPr>
            <a:endParaRPr lang="en-US" altLang="zh-TW" sz="2800" dirty="0"/>
          </a:p>
        </p:txBody>
      </p:sp>
      <p:sp>
        <p:nvSpPr>
          <p:cNvPr id="89095" name="Text Box 3"/>
          <p:cNvSpPr txBox="1">
            <a:spLocks noChangeArrowheads="1"/>
          </p:cNvSpPr>
          <p:nvPr/>
        </p:nvSpPr>
        <p:spPr bwMode="auto">
          <a:xfrm>
            <a:off x="4361657" y="3092450"/>
            <a:ext cx="3686968" cy="220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wait(</a:t>
            </a:r>
            <a:r>
              <a:rPr lang="en-US" altLang="zh-TW" sz="2000" b="1" dirty="0" err="1">
                <a:solidFill>
                  <a:srgbClr val="FF3300"/>
                </a:solidFill>
                <a:latin typeface="Calibri" panose="020F0502020204030204" pitchFamily="34" charset="0"/>
              </a:rPr>
              <a:t>mutex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     </a:t>
            </a:r>
            <a:r>
              <a:rPr lang="en-US" altLang="zh-TW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body of </a:t>
            </a:r>
            <a:r>
              <a:rPr lang="en-US" altLang="zh-TW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F</a:t>
            </a:r>
            <a:r>
              <a:rPr lang="en-US" altLang="zh-TW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if next-count&gt;0 	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     signal(next);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else 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     signal(</a:t>
            </a:r>
            <a:r>
              <a:rPr lang="en-US" altLang="zh-TW" sz="2000" b="1" dirty="0" err="1">
                <a:solidFill>
                  <a:srgbClr val="FF3300"/>
                </a:solidFill>
                <a:latin typeface="Calibri" panose="020F0502020204030204" pitchFamily="34" charset="0"/>
              </a:rPr>
              <a:t>mutex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);</a:t>
            </a:r>
          </a:p>
        </p:txBody>
      </p:sp>
      <p:sp>
        <p:nvSpPr>
          <p:cNvPr id="89096" name="Rectangle 4"/>
          <p:cNvSpPr>
            <a:spLocks noChangeArrowheads="1"/>
          </p:cNvSpPr>
          <p:nvPr/>
        </p:nvSpPr>
        <p:spPr bwMode="auto">
          <a:xfrm>
            <a:off x="4136232" y="2981762"/>
            <a:ext cx="3912393" cy="2463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9097" name="Text Box 5"/>
          <p:cNvSpPr txBox="1">
            <a:spLocks noChangeArrowheads="1"/>
          </p:cNvSpPr>
          <p:nvPr/>
        </p:nvSpPr>
        <p:spPr bwMode="auto">
          <a:xfrm>
            <a:off x="1778579" y="3724857"/>
            <a:ext cx="1172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body of </a:t>
            </a:r>
            <a:r>
              <a:rPr lang="en-US" altLang="zh-TW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F</a:t>
            </a:r>
            <a:endParaRPr lang="en-US" altLang="zh-TW" sz="20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89098" name="AutoShape 6"/>
          <p:cNvSpPr>
            <a:spLocks noChangeArrowheads="1"/>
          </p:cNvSpPr>
          <p:nvPr/>
        </p:nvSpPr>
        <p:spPr bwMode="auto">
          <a:xfrm>
            <a:off x="3046498" y="3808394"/>
            <a:ext cx="1008063" cy="200489"/>
          </a:xfrm>
          <a:prstGeom prst="rightArrow">
            <a:avLst>
              <a:gd name="adj1" fmla="val 50000"/>
              <a:gd name="adj2" fmla="val 165365"/>
            </a:avLst>
          </a:prstGeom>
          <a:solidFill>
            <a:srgbClr val="ECECE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9099" name="Text Box 7"/>
          <p:cNvSpPr txBox="1">
            <a:spLocks noChangeArrowheads="1"/>
          </p:cNvSpPr>
          <p:nvPr/>
        </p:nvSpPr>
        <p:spPr bwMode="auto">
          <a:xfrm>
            <a:off x="3016239" y="3469811"/>
            <a:ext cx="11211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compiler</a:t>
            </a:r>
          </a:p>
        </p:txBody>
      </p:sp>
      <p:sp>
        <p:nvSpPr>
          <p:cNvPr id="89100" name="Line 8"/>
          <p:cNvSpPr>
            <a:spLocks noChangeShapeType="1"/>
          </p:cNvSpPr>
          <p:nvPr/>
        </p:nvSpPr>
        <p:spPr bwMode="auto">
          <a:xfrm flipH="1">
            <a:off x="6228358" y="3057286"/>
            <a:ext cx="2243906" cy="1364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9101" name="Line 9"/>
          <p:cNvSpPr>
            <a:spLocks noChangeShapeType="1"/>
          </p:cNvSpPr>
          <p:nvPr/>
        </p:nvSpPr>
        <p:spPr bwMode="auto">
          <a:xfrm flipH="1">
            <a:off x="6479381" y="4724548"/>
            <a:ext cx="1650914" cy="4408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9102" name="Text Box 11"/>
          <p:cNvSpPr txBox="1">
            <a:spLocks noChangeArrowheads="1"/>
          </p:cNvSpPr>
          <p:nvPr/>
        </p:nvSpPr>
        <p:spPr bwMode="auto">
          <a:xfrm>
            <a:off x="8236744" y="2472186"/>
            <a:ext cx="2305050" cy="1046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55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wakeup a </a:t>
            </a:r>
          </a:p>
          <a:p>
            <a:pPr algn="ctr" eaLnBrk="0" hangingPunct="0">
              <a:lnSpc>
                <a:spcPct val="55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suspended process </a:t>
            </a:r>
          </a:p>
          <a:p>
            <a:pPr algn="ctr" eaLnBrk="0" hangingPunct="0">
              <a:lnSpc>
                <a:spcPct val="55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in the monitor</a:t>
            </a:r>
          </a:p>
          <a:p>
            <a:pPr algn="ctr" eaLnBrk="0" hangingPunct="0">
              <a:lnSpc>
                <a:spcPct val="55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(due to signaling)</a:t>
            </a:r>
          </a:p>
        </p:txBody>
      </p:sp>
      <p:sp>
        <p:nvSpPr>
          <p:cNvPr id="89103" name="Text Box 12"/>
          <p:cNvSpPr txBox="1">
            <a:spLocks noChangeArrowheads="1"/>
          </p:cNvSpPr>
          <p:nvPr/>
        </p:nvSpPr>
        <p:spPr bwMode="auto">
          <a:xfrm>
            <a:off x="8048625" y="4450054"/>
            <a:ext cx="2519363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6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allow other processes</a:t>
            </a:r>
          </a:p>
          <a:p>
            <a:pPr algn="ctr" eaLnBrk="0" hangingPunct="0">
              <a:lnSpc>
                <a:spcPct val="6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to 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enter the monitor</a:t>
            </a:r>
          </a:p>
        </p:txBody>
      </p:sp>
      <p:sp>
        <p:nvSpPr>
          <p:cNvPr id="2" name="矩形 1"/>
          <p:cNvSpPr/>
          <p:nvPr/>
        </p:nvSpPr>
        <p:spPr>
          <a:xfrm>
            <a:off x="1796965" y="3603785"/>
            <a:ext cx="1206500" cy="609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3600" dirty="0" err="1">
                <a:solidFill>
                  <a:schemeClr val="tx1"/>
                </a:solidFill>
              </a:rPr>
              <a:t>x.wait</a:t>
            </a:r>
            <a:r>
              <a:rPr lang="en-US" altLang="zh-TW" sz="3600" dirty="0">
                <a:solidFill>
                  <a:schemeClr val="tx1"/>
                </a:solidFill>
              </a:rPr>
              <a:t>() and </a:t>
            </a:r>
            <a:r>
              <a:rPr lang="en-US" altLang="zh-TW" sz="3600" dirty="0" err="1">
                <a:solidFill>
                  <a:schemeClr val="tx1"/>
                </a:solidFill>
              </a:rPr>
              <a:t>x.signal</a:t>
            </a:r>
            <a:r>
              <a:rPr lang="en-US" altLang="zh-TW" sz="3600" dirty="0">
                <a:solidFill>
                  <a:schemeClr val="tx1"/>
                </a:solidFill>
              </a:rPr>
              <a:t>() Invoke </a:t>
            </a:r>
            <a:r>
              <a:rPr lang="en-US" altLang="zh-TW" sz="3600" dirty="0">
                <a:solidFill>
                  <a:srgbClr val="FF0000"/>
                </a:solidFill>
              </a:rPr>
              <a:t>Library</a:t>
            </a:r>
            <a:r>
              <a:rPr lang="en-US" altLang="zh-TW" sz="2700" dirty="0">
                <a:solidFill>
                  <a:schemeClr val="tx1"/>
                </a:solidFill>
              </a:rPr>
              <a:t>------</a:t>
            </a:r>
            <a:r>
              <a:rPr lang="en-US" altLang="zh-TW" sz="2400" dirty="0" err="1">
                <a:solidFill>
                  <a:schemeClr val="tx1"/>
                </a:solidFill>
              </a:rPr>
              <a:t>x.wait</a:t>
            </a:r>
            <a:r>
              <a:rPr lang="en-US" altLang="zh-TW" sz="2400" dirty="0">
                <a:solidFill>
                  <a:schemeClr val="tx1"/>
                </a:solidFill>
              </a:rPr>
              <a:t>() and </a:t>
            </a:r>
            <a:r>
              <a:rPr lang="en-US" altLang="zh-TW" sz="2400" dirty="0" err="1">
                <a:solidFill>
                  <a:schemeClr val="tx1"/>
                </a:solidFill>
              </a:rPr>
              <a:t>x.signal</a:t>
            </a:r>
            <a:r>
              <a:rPr lang="en-US" altLang="zh-TW" sz="2400" dirty="0">
                <a:solidFill>
                  <a:schemeClr val="tx1"/>
                </a:solidFill>
              </a:rPr>
              <a:t>() are implemented in library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 err="1">
                <a:solidFill>
                  <a:srgbClr val="0000FF"/>
                </a:solidFill>
              </a:rPr>
              <a:t>x.wait</a:t>
            </a:r>
            <a:r>
              <a:rPr lang="en-US" altLang="zh-TW" sz="1800" b="1" dirty="0">
                <a:solidFill>
                  <a:srgbClr val="0000FF"/>
                </a:solidFill>
              </a:rPr>
              <a:t>()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dirty="0"/>
              <a:t>{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  x-count++;                       </a:t>
            </a:r>
            <a:r>
              <a:rPr lang="en-US" altLang="zh-TW" sz="1800" dirty="0">
                <a:solidFill>
                  <a:srgbClr val="0000FF"/>
                </a:solidFill>
              </a:rPr>
              <a:t>//</a:t>
            </a:r>
            <a:r>
              <a:rPr lang="en-US" altLang="zh-TW" sz="1800" b="1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a new process is to be blocked on x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  </a:t>
            </a:r>
            <a:r>
              <a:rPr lang="en-US" altLang="zh-TW" sz="1800" b="1" dirty="0">
                <a:solidFill>
                  <a:srgbClr val="FF0000"/>
                </a:solidFill>
              </a:rPr>
              <a:t>if (next-count &gt; 0)	</a:t>
            </a:r>
            <a:r>
              <a:rPr lang="en-US" altLang="zh-TW" sz="1800" dirty="0" smtClean="0">
                <a:solidFill>
                  <a:srgbClr val="0000FF"/>
                </a:solidFill>
              </a:rPr>
              <a:t>// </a:t>
            </a:r>
            <a:r>
              <a:rPr lang="en-US" altLang="zh-TW" sz="1800" dirty="0">
                <a:solidFill>
                  <a:srgbClr val="0000FF"/>
                </a:solidFill>
              </a:rPr>
              <a:t>wait up processes that are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FF0000"/>
                </a:solidFill>
              </a:rPr>
              <a:t>	               signal(next);	  </a:t>
            </a:r>
            <a:r>
              <a:rPr lang="en-US" altLang="zh-TW" sz="1800" b="1" dirty="0" smtClean="0">
                <a:solidFill>
                  <a:srgbClr val="FF0000"/>
                </a:solidFill>
              </a:rPr>
              <a:t>	</a:t>
            </a:r>
            <a:r>
              <a:rPr lang="en-US" altLang="zh-TW" sz="1800" dirty="0" smtClean="0">
                <a:solidFill>
                  <a:srgbClr val="0000FF"/>
                </a:solidFill>
              </a:rPr>
              <a:t>// </a:t>
            </a:r>
            <a:r>
              <a:rPr lang="en-US" altLang="zh-TW" sz="1800" b="1" dirty="0">
                <a:solidFill>
                  <a:srgbClr val="0000FF"/>
                </a:solidFill>
              </a:rPr>
              <a:t>suspended</a:t>
            </a:r>
            <a:r>
              <a:rPr lang="en-US" altLang="zh-TW" sz="1800" dirty="0">
                <a:solidFill>
                  <a:srgbClr val="0000FF"/>
                </a:solidFill>
              </a:rPr>
              <a:t> in monitor due to signaling operations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FF0000"/>
                </a:solidFill>
              </a:rPr>
              <a:t>	      else                                    </a:t>
            </a:r>
            <a:r>
              <a:rPr lang="en-US" altLang="zh-TW" sz="1800" dirty="0">
                <a:solidFill>
                  <a:srgbClr val="0000FF"/>
                </a:solidFill>
              </a:rPr>
              <a:t>//</a:t>
            </a:r>
            <a:r>
              <a:rPr lang="en-US" altLang="zh-TW" sz="1800" b="1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no process suspended within the monitor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FF0000"/>
                </a:solidFill>
              </a:rPr>
              <a:t>	               signal(mutex);        </a:t>
            </a:r>
            <a:r>
              <a:rPr lang="en-US" altLang="zh-TW" sz="1800" dirty="0">
                <a:solidFill>
                  <a:srgbClr val="0000FF"/>
                </a:solidFill>
              </a:rPr>
              <a:t>//</a:t>
            </a:r>
            <a:r>
              <a:rPr lang="en-US" altLang="zh-TW" sz="1800" b="1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allow other processes to enter the monitor</a:t>
            </a:r>
            <a:endParaRPr lang="en-US" altLang="zh-TW" sz="16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 wait(x-</a:t>
            </a:r>
            <a:r>
              <a:rPr lang="en-US" altLang="zh-TW" sz="1800" b="1" dirty="0" err="1">
                <a:solidFill>
                  <a:srgbClr val="0000FF"/>
                </a:solidFill>
              </a:rPr>
              <a:t>sem</a:t>
            </a:r>
            <a:r>
              <a:rPr lang="en-US" altLang="zh-TW" sz="1800" b="1" dirty="0">
                <a:solidFill>
                  <a:srgbClr val="0000FF"/>
                </a:solidFill>
              </a:rPr>
              <a:t>);	             </a:t>
            </a:r>
            <a:r>
              <a:rPr lang="en-US" altLang="zh-TW" sz="1800" b="1" dirty="0" smtClean="0">
                <a:solidFill>
                  <a:srgbClr val="0000FF"/>
                </a:solidFill>
              </a:rPr>
              <a:t>	</a:t>
            </a:r>
            <a:r>
              <a:rPr lang="en-US" altLang="zh-TW" sz="1800" dirty="0" smtClean="0">
                <a:solidFill>
                  <a:srgbClr val="0000FF"/>
                </a:solidFill>
              </a:rPr>
              <a:t>//</a:t>
            </a:r>
            <a:r>
              <a:rPr lang="en-US" altLang="zh-TW" sz="18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blocked itself on x</a:t>
            </a:r>
            <a:endParaRPr lang="en-US" altLang="zh-TW" sz="16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 x-count--;                         </a:t>
            </a:r>
            <a:r>
              <a:rPr lang="en-US" altLang="zh-TW" sz="1800" dirty="0">
                <a:solidFill>
                  <a:srgbClr val="0000FF"/>
                </a:solidFill>
              </a:rPr>
              <a:t>// wakeup by </a:t>
            </a:r>
            <a:r>
              <a:rPr lang="en-US" altLang="zh-TW" sz="1800" b="1" dirty="0">
                <a:solidFill>
                  <a:srgbClr val="0000FF"/>
                </a:solidFill>
              </a:rPr>
              <a:t>another</a:t>
            </a:r>
            <a:r>
              <a:rPr lang="en-US" altLang="zh-TW" sz="1800" dirty="0">
                <a:solidFill>
                  <a:srgbClr val="0000FF"/>
                </a:solidFill>
              </a:rPr>
              <a:t> process, x-count--;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endParaRPr lang="en-US" altLang="zh-TW" sz="18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 err="1">
                <a:solidFill>
                  <a:srgbClr val="0000FF"/>
                </a:solidFill>
              </a:rPr>
              <a:t>x.signal</a:t>
            </a:r>
            <a:r>
              <a:rPr lang="en-US" altLang="zh-TW" sz="1800" b="1" dirty="0">
                <a:solidFill>
                  <a:srgbClr val="0000FF"/>
                </a:solidFill>
              </a:rPr>
              <a:t>()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     if (x-count &gt; 0</a:t>
            </a:r>
            <a:r>
              <a:rPr lang="en-US" altLang="zh-TW" sz="1800" dirty="0">
                <a:solidFill>
                  <a:srgbClr val="0000FF"/>
                </a:solidFill>
              </a:rPr>
              <a:t>)             </a:t>
            </a:r>
            <a:r>
              <a:rPr lang="en-US" altLang="zh-TW" sz="1800" dirty="0" smtClean="0">
                <a:solidFill>
                  <a:srgbClr val="0000FF"/>
                </a:solidFill>
              </a:rPr>
              <a:t>  // </a:t>
            </a:r>
            <a:r>
              <a:rPr lang="en-US" altLang="zh-TW" sz="1800" dirty="0">
                <a:solidFill>
                  <a:srgbClr val="0000FF"/>
                </a:solidFill>
              </a:rPr>
              <a:t>there are processes blocked within the monitor, wake up one 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     {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next-count++;        </a:t>
            </a:r>
            <a:r>
              <a:rPr lang="en-US" altLang="zh-TW" sz="1800" dirty="0">
                <a:solidFill>
                  <a:srgbClr val="0000FF"/>
                </a:solidFill>
              </a:rPr>
              <a:t>//</a:t>
            </a:r>
            <a:r>
              <a:rPr lang="en-US" altLang="zh-TW" sz="1800" b="1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the signaling process is blocked in next, assume signal and wait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signal(x-</a:t>
            </a:r>
            <a:r>
              <a:rPr lang="en-US" altLang="zh-TW" sz="1800" b="1" dirty="0" err="1">
                <a:solidFill>
                  <a:srgbClr val="0000FF"/>
                </a:solidFill>
              </a:rPr>
              <a:t>sem</a:t>
            </a:r>
            <a:r>
              <a:rPr lang="en-US" altLang="zh-TW" sz="1800" b="1" dirty="0">
                <a:solidFill>
                  <a:srgbClr val="0000FF"/>
                </a:solidFill>
              </a:rPr>
              <a:t>);	  </a:t>
            </a:r>
            <a:r>
              <a:rPr lang="en-US" altLang="zh-TW" sz="1800" b="1" dirty="0" smtClean="0">
                <a:solidFill>
                  <a:srgbClr val="0000FF"/>
                </a:solidFill>
              </a:rPr>
              <a:t>	</a:t>
            </a:r>
            <a:r>
              <a:rPr lang="en-US" altLang="zh-TW" sz="1800" dirty="0" smtClean="0">
                <a:solidFill>
                  <a:srgbClr val="0000FF"/>
                </a:solidFill>
              </a:rPr>
              <a:t>// </a:t>
            </a:r>
            <a:r>
              <a:rPr lang="en-US" altLang="zh-TW" sz="1800" dirty="0">
                <a:solidFill>
                  <a:srgbClr val="0000FF"/>
                </a:solidFill>
              </a:rPr>
              <a:t>wait up processes blocked on x</a:t>
            </a:r>
            <a:r>
              <a:rPr lang="en-US" altLang="zh-TW" sz="1800" b="1" dirty="0">
                <a:solidFill>
                  <a:srgbClr val="0000FF"/>
                </a:solidFill>
              </a:rPr>
              <a:t>	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</a:t>
            </a:r>
            <a:r>
              <a:rPr lang="en-US" altLang="zh-TW" sz="1800" b="1" dirty="0">
                <a:solidFill>
                  <a:srgbClr val="FF3300"/>
                </a:solidFill>
              </a:rPr>
              <a:t>wait(next);             </a:t>
            </a:r>
            <a:r>
              <a:rPr lang="en-US" altLang="zh-TW" sz="1800" dirty="0">
                <a:solidFill>
                  <a:srgbClr val="FF3300"/>
                </a:solidFill>
              </a:rPr>
              <a:t>//</a:t>
            </a:r>
            <a:r>
              <a:rPr lang="en-US" altLang="zh-TW" sz="1800" b="1" dirty="0">
                <a:solidFill>
                  <a:srgbClr val="FF3300"/>
                </a:solidFill>
              </a:rPr>
              <a:t> the signaling process is blocked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     next-count--;         </a:t>
            </a:r>
            <a:r>
              <a:rPr lang="en-US" altLang="zh-TW" sz="1800" dirty="0">
                <a:solidFill>
                  <a:srgbClr val="0000FF"/>
                </a:solidFill>
              </a:rPr>
              <a:t>//</a:t>
            </a:r>
            <a:r>
              <a:rPr lang="en-US" altLang="zh-TW" sz="1800" b="1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wakeup by another process, next-count--;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	}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800" b="1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6"/>
          <p:cNvSpPr txBox="1">
            <a:spLocks noChangeArrowheads="1"/>
          </p:cNvSpPr>
          <p:nvPr/>
        </p:nvSpPr>
        <p:spPr bwMode="auto">
          <a:xfrm>
            <a:off x="1775521" y="1447950"/>
            <a:ext cx="1235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process A</a:t>
            </a:r>
          </a:p>
        </p:txBody>
      </p:sp>
      <p:sp>
        <p:nvSpPr>
          <p:cNvPr id="612368" name="Rectangle 16"/>
          <p:cNvSpPr>
            <a:spLocks noChangeArrowheads="1"/>
          </p:cNvSpPr>
          <p:nvPr/>
        </p:nvSpPr>
        <p:spPr bwMode="auto">
          <a:xfrm>
            <a:off x="1343472" y="2132856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1199456" y="1844825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271464" y="1773561"/>
            <a:ext cx="1728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 = x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demo.func1()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y = y – 1;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9" name="向右箭號 28"/>
          <p:cNvSpPr/>
          <p:nvPr/>
        </p:nvSpPr>
        <p:spPr>
          <a:xfrm>
            <a:off x="4007768" y="2070561"/>
            <a:ext cx="854806" cy="484632"/>
          </a:xfrm>
          <a:prstGeom prst="rightArrow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3764721" y="2526212"/>
            <a:ext cx="134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compiler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圓角矩形 37"/>
          <p:cNvSpPr/>
          <p:nvPr/>
        </p:nvSpPr>
        <p:spPr>
          <a:xfrm>
            <a:off x="5317632" y="1234034"/>
            <a:ext cx="4396695" cy="89882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……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x = x 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+ 1;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6785866" y="5486447"/>
            <a:ext cx="193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prstClr val="black"/>
                </a:solidFill>
                <a:latin typeface="Calibri" panose="020F0502020204030204"/>
              </a:rPr>
              <a:t>wait(), signal ()……</a:t>
            </a:r>
            <a:endParaRPr kumimoji="0" lang="zh-TW" altLang="en-US" sz="18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5307376" y="2221597"/>
            <a:ext cx="4406952" cy="235953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wait(mutex);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latin typeface="Calibri" panose="020F0502020204030204" pitchFamily="34" charset="0"/>
              </a:rPr>
              <a:t>     </a:t>
            </a:r>
            <a:r>
              <a:rPr lang="en-US" altLang="zh-TW" sz="1800" b="1" dirty="0" smtClean="0">
                <a:solidFill>
                  <a:srgbClr val="0000FF"/>
                </a:solidFill>
                <a:latin typeface="Calibri" panose="020F0502020204030204" pitchFamily="34" charset="0"/>
              </a:rPr>
              <a:t>demo.func1();  //like a critical section</a:t>
            </a:r>
            <a:endParaRPr lang="en-US" altLang="zh-TW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if next-count&gt;0 	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     signal(next);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else 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     signal(mutex);</a:t>
            </a:r>
          </a:p>
        </p:txBody>
      </p:sp>
      <p:sp>
        <p:nvSpPr>
          <p:cNvPr id="41" name="矩形 40"/>
          <p:cNvSpPr/>
          <p:nvPr/>
        </p:nvSpPr>
        <p:spPr>
          <a:xfrm>
            <a:off x="5233124" y="1124744"/>
            <a:ext cx="4607292" cy="417646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圓角矩形 41"/>
          <p:cNvSpPr/>
          <p:nvPr/>
        </p:nvSpPr>
        <p:spPr>
          <a:xfrm>
            <a:off x="5332729" y="4632148"/>
            <a:ext cx="4381598" cy="5925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y 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=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y - 1;</a:t>
            </a:r>
            <a:endParaRPr kumimoji="0" lang="en-US" altLang="zh-TW" sz="18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……</a:t>
            </a:r>
          </a:p>
        </p:txBody>
      </p:sp>
      <p:cxnSp>
        <p:nvCxnSpPr>
          <p:cNvPr id="43" name="直線接點 42"/>
          <p:cNvCxnSpPr/>
          <p:nvPr/>
        </p:nvCxnSpPr>
        <p:spPr>
          <a:xfrm>
            <a:off x="2570121" y="5473596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圓角矩形 44"/>
          <p:cNvSpPr/>
          <p:nvPr/>
        </p:nvSpPr>
        <p:spPr>
          <a:xfrm>
            <a:off x="5461650" y="5868836"/>
            <a:ext cx="2578567" cy="944540"/>
          </a:xfrm>
          <a:prstGeom prst="roundRect">
            <a:avLst/>
          </a:prstGeom>
          <a:solidFill>
            <a:srgbClr val="9FFD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OS</a:t>
            </a:r>
          </a:p>
        </p:txBody>
      </p:sp>
      <p:cxnSp>
        <p:nvCxnSpPr>
          <p:cNvPr id="46" name="直線接點 23"/>
          <p:cNvCxnSpPr/>
          <p:nvPr/>
        </p:nvCxnSpPr>
        <p:spPr>
          <a:xfrm flipV="1">
            <a:off x="6672064" y="5338787"/>
            <a:ext cx="83" cy="82651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>
            <a:normAutofit fontScale="90000"/>
          </a:bodyPr>
          <a:lstStyle/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</a:pPr>
            <a:r>
              <a:rPr lang="en-US" altLang="zh-TW" sz="3600" dirty="0" smtClean="0"/>
              <a:t>Example 1: Each </a:t>
            </a:r>
            <a:r>
              <a:rPr lang="en-US" altLang="zh-TW" sz="3600" dirty="0"/>
              <a:t>external (public) procedure </a:t>
            </a:r>
            <a:r>
              <a:rPr lang="en-US" altLang="zh-TW" sz="3600" i="1" dirty="0"/>
              <a:t>F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is replaced</a:t>
            </a:r>
            <a:endParaRPr lang="en-US" altLang="zh-TW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8289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61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68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6"/>
          <p:cNvSpPr txBox="1">
            <a:spLocks noChangeArrowheads="1"/>
          </p:cNvSpPr>
          <p:nvPr/>
        </p:nvSpPr>
        <p:spPr bwMode="auto">
          <a:xfrm>
            <a:off x="1775521" y="1447950"/>
            <a:ext cx="1235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process A</a:t>
            </a:r>
          </a:p>
        </p:txBody>
      </p:sp>
      <p:sp>
        <p:nvSpPr>
          <p:cNvPr id="612368" name="Rectangle 16"/>
          <p:cNvSpPr>
            <a:spLocks noChangeArrowheads="1"/>
          </p:cNvSpPr>
          <p:nvPr/>
        </p:nvSpPr>
        <p:spPr bwMode="auto">
          <a:xfrm>
            <a:off x="1343472" y="2132856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1199456" y="1844825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271464" y="1773561"/>
            <a:ext cx="1728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 = x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demo.func2()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y = y – 1;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9" name="向右箭號 28"/>
          <p:cNvSpPr/>
          <p:nvPr/>
        </p:nvSpPr>
        <p:spPr>
          <a:xfrm>
            <a:off x="4007768" y="2070561"/>
            <a:ext cx="854806" cy="484632"/>
          </a:xfrm>
          <a:prstGeom prst="rightArrow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3764721" y="2526212"/>
            <a:ext cx="134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compiler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圓角矩形 37"/>
          <p:cNvSpPr/>
          <p:nvPr/>
        </p:nvSpPr>
        <p:spPr>
          <a:xfrm>
            <a:off x="5317632" y="1234034"/>
            <a:ext cx="4396695" cy="89882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……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x = x 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+ 1;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6785866" y="5486447"/>
            <a:ext cx="193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prstClr val="black"/>
                </a:solidFill>
                <a:latin typeface="Calibri" panose="020F0502020204030204"/>
              </a:rPr>
              <a:t>wait(), signal ()……</a:t>
            </a:r>
            <a:endParaRPr kumimoji="0" lang="zh-TW" altLang="en-US" sz="18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5307376" y="2221597"/>
            <a:ext cx="4406952" cy="235953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wait(mutex);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latin typeface="Calibri" panose="020F0502020204030204" pitchFamily="34" charset="0"/>
              </a:rPr>
              <a:t>     </a:t>
            </a:r>
            <a:r>
              <a:rPr lang="en-US" altLang="zh-TW" sz="1800" b="1" dirty="0" smtClean="0">
                <a:solidFill>
                  <a:srgbClr val="0000FF"/>
                </a:solidFill>
                <a:latin typeface="Calibri" panose="020F0502020204030204" pitchFamily="34" charset="0"/>
              </a:rPr>
              <a:t>demo.func2();  //like a critical section</a:t>
            </a:r>
            <a:endParaRPr lang="en-US" altLang="zh-TW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if next-count&gt;0 	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     signal(next);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else 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     signal(mutex);</a:t>
            </a:r>
          </a:p>
        </p:txBody>
      </p:sp>
      <p:sp>
        <p:nvSpPr>
          <p:cNvPr id="41" name="矩形 40"/>
          <p:cNvSpPr/>
          <p:nvPr/>
        </p:nvSpPr>
        <p:spPr>
          <a:xfrm>
            <a:off x="5233124" y="1124744"/>
            <a:ext cx="4607292" cy="417646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圓角矩形 41"/>
          <p:cNvSpPr/>
          <p:nvPr/>
        </p:nvSpPr>
        <p:spPr>
          <a:xfrm>
            <a:off x="5332729" y="4632148"/>
            <a:ext cx="4381598" cy="5925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y 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=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y - 1;</a:t>
            </a:r>
            <a:endParaRPr kumimoji="0" lang="en-US" altLang="zh-TW" sz="18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……</a:t>
            </a:r>
          </a:p>
        </p:txBody>
      </p:sp>
      <p:cxnSp>
        <p:nvCxnSpPr>
          <p:cNvPr id="43" name="直線接點 42"/>
          <p:cNvCxnSpPr/>
          <p:nvPr/>
        </p:nvCxnSpPr>
        <p:spPr>
          <a:xfrm>
            <a:off x="2570121" y="5473596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圓角矩形 44"/>
          <p:cNvSpPr/>
          <p:nvPr/>
        </p:nvSpPr>
        <p:spPr>
          <a:xfrm>
            <a:off x="5461650" y="5868836"/>
            <a:ext cx="2578567" cy="944540"/>
          </a:xfrm>
          <a:prstGeom prst="roundRect">
            <a:avLst/>
          </a:prstGeom>
          <a:solidFill>
            <a:srgbClr val="9FFD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OS</a:t>
            </a:r>
          </a:p>
        </p:txBody>
      </p:sp>
      <p:cxnSp>
        <p:nvCxnSpPr>
          <p:cNvPr id="46" name="直線接點 23"/>
          <p:cNvCxnSpPr/>
          <p:nvPr/>
        </p:nvCxnSpPr>
        <p:spPr>
          <a:xfrm flipV="1">
            <a:off x="6672064" y="5338787"/>
            <a:ext cx="83" cy="82651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>
            <a:normAutofit fontScale="90000"/>
          </a:bodyPr>
          <a:lstStyle/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</a:pPr>
            <a:r>
              <a:rPr lang="en-US" altLang="zh-TW" sz="3600" dirty="0"/>
              <a:t>Example 2: Each external (public) procedure </a:t>
            </a:r>
            <a:r>
              <a:rPr lang="en-US" altLang="zh-TW" sz="3600" i="1" dirty="0"/>
              <a:t>F</a:t>
            </a:r>
            <a:r>
              <a:rPr lang="en-US" altLang="zh-TW" sz="3600" dirty="0"/>
              <a:t> is replaced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61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61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68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</a:pPr>
            <a:r>
              <a:rPr lang="en-US" altLang="zh-TW" sz="3600" dirty="0" smtClean="0"/>
              <a:t>Example 3: </a:t>
            </a:r>
            <a:r>
              <a:rPr lang="en-US" altLang="zh-TW" sz="3600" dirty="0" err="1">
                <a:solidFill>
                  <a:schemeClr val="tx1"/>
                </a:solidFill>
              </a:rPr>
              <a:t>x.wait</a:t>
            </a:r>
            <a:r>
              <a:rPr lang="en-US" altLang="zh-TW" sz="3600" dirty="0">
                <a:solidFill>
                  <a:schemeClr val="tx1"/>
                </a:solidFill>
              </a:rPr>
              <a:t>() and </a:t>
            </a:r>
            <a:r>
              <a:rPr lang="en-US" altLang="zh-TW" sz="3600" dirty="0" err="1">
                <a:solidFill>
                  <a:schemeClr val="tx1"/>
                </a:solidFill>
              </a:rPr>
              <a:t>x.signal</a:t>
            </a:r>
            <a:r>
              <a:rPr lang="en-US" altLang="zh-TW" sz="3600" dirty="0">
                <a:solidFill>
                  <a:schemeClr val="tx1"/>
                </a:solidFill>
              </a:rPr>
              <a:t>() Invoke </a:t>
            </a:r>
            <a:r>
              <a:rPr lang="en-US" altLang="zh-TW" sz="3600" dirty="0">
                <a:solidFill>
                  <a:srgbClr val="FF0000"/>
                </a:solidFill>
              </a:rPr>
              <a:t>Library</a:t>
            </a:r>
            <a:endParaRPr lang="en-US" altLang="zh-TW" sz="3600" dirty="0"/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343472" y="1875595"/>
            <a:ext cx="252095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monitor  Demo{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</a:t>
            </a:r>
            <a:r>
              <a:rPr kumimoji="1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int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a;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condition x;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a =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void func1() {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    if (</a:t>
            </a:r>
            <a:r>
              <a:rPr kumimoji="1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this.a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== 0)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          </a:t>
            </a:r>
            <a:r>
              <a:rPr kumimoji="1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x.wait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();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    a++;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void func2()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         </a:t>
            </a:r>
            <a:r>
              <a:rPr kumimoji="1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x.signal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345059" y="1873919"/>
            <a:ext cx="2376488" cy="378732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Rectangle 42"/>
          <p:cNvSpPr>
            <a:spLocks noChangeArrowheads="1"/>
          </p:cNvSpPr>
          <p:nvPr/>
        </p:nvSpPr>
        <p:spPr bwMode="auto">
          <a:xfrm>
            <a:off x="1939515" y="5015065"/>
            <a:ext cx="1132150" cy="286143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2207568" y="3789734"/>
            <a:ext cx="1008112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5879976" y="1341462"/>
            <a:ext cx="3888432" cy="4896544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err="1">
                <a:solidFill>
                  <a:srgbClr val="0000FF"/>
                </a:solidFill>
              </a:rPr>
              <a:t>x.wait</a:t>
            </a:r>
            <a:r>
              <a:rPr lang="en-US" altLang="zh-TW" sz="1600" b="1" dirty="0">
                <a:solidFill>
                  <a:srgbClr val="0000FF"/>
                </a:solidFill>
              </a:rPr>
              <a:t>()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dirty="0" smtClean="0"/>
              <a:t>{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0000FF"/>
                </a:solidFill>
              </a:rPr>
              <a:t>   x-count</a:t>
            </a:r>
            <a:r>
              <a:rPr lang="en-US" altLang="zh-TW" sz="1600" b="1" dirty="0">
                <a:solidFill>
                  <a:srgbClr val="0000FF"/>
                </a:solidFill>
              </a:rPr>
              <a:t>++; 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                     </a:t>
            </a:r>
            <a:endParaRPr lang="en-US" altLang="zh-TW" sz="1600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0000FF"/>
                </a:solidFill>
              </a:rPr>
              <a:t>   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if (next-count &gt; 0)	</a:t>
            </a:r>
            <a:endParaRPr lang="en-US" altLang="zh-TW" sz="1600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FF0000"/>
                </a:solidFill>
              </a:rPr>
              <a:t>          </a:t>
            </a:r>
            <a:r>
              <a:rPr lang="en-US" altLang="zh-TW" sz="1600" b="1" dirty="0">
                <a:solidFill>
                  <a:srgbClr val="FF0000"/>
                </a:solidFill>
              </a:rPr>
              <a:t>signal(next);	  	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FF0000"/>
                </a:solidFill>
              </a:rPr>
              <a:t>   else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FF0000"/>
                </a:solidFill>
              </a:rPr>
              <a:t>          </a:t>
            </a:r>
            <a:r>
              <a:rPr lang="en-US" altLang="zh-TW" sz="1600" b="1" dirty="0">
                <a:solidFill>
                  <a:srgbClr val="FF0000"/>
                </a:solidFill>
              </a:rPr>
              <a:t>signal(mutex);        </a:t>
            </a:r>
            <a:endParaRPr lang="en-US" altLang="zh-TW" sz="14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0000FF"/>
                </a:solidFill>
              </a:rPr>
              <a:t>    </a:t>
            </a:r>
            <a:r>
              <a:rPr lang="en-US" altLang="zh-TW" sz="1600" b="1" dirty="0">
                <a:solidFill>
                  <a:srgbClr val="0000FF"/>
                </a:solidFill>
              </a:rPr>
              <a:t>wait(x-</a:t>
            </a:r>
            <a:r>
              <a:rPr lang="en-US" altLang="zh-TW" sz="1600" b="1" dirty="0" err="1">
                <a:solidFill>
                  <a:srgbClr val="0000FF"/>
                </a:solidFill>
              </a:rPr>
              <a:t>sem</a:t>
            </a:r>
            <a:r>
              <a:rPr lang="en-US" altLang="zh-TW" sz="1600" b="1" dirty="0">
                <a:solidFill>
                  <a:srgbClr val="0000FF"/>
                </a:solidFill>
              </a:rPr>
              <a:t>);	             	</a:t>
            </a:r>
            <a:endParaRPr lang="en-US" altLang="zh-TW" sz="14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0000FF"/>
                </a:solidFill>
              </a:rPr>
              <a:t>    </a:t>
            </a:r>
            <a:r>
              <a:rPr lang="en-US" altLang="zh-TW" sz="1600" b="1" dirty="0">
                <a:solidFill>
                  <a:srgbClr val="0000FF"/>
                </a:solidFill>
              </a:rPr>
              <a:t>x-count--;                         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smtClean="0">
                <a:solidFill>
                  <a:srgbClr val="0000FF"/>
                </a:solidFill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endParaRPr lang="en-US" altLang="zh-TW" sz="16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 err="1">
                <a:solidFill>
                  <a:srgbClr val="0000FF"/>
                </a:solidFill>
              </a:rPr>
              <a:t>x.signal</a:t>
            </a:r>
            <a:r>
              <a:rPr lang="en-US" altLang="zh-TW" sz="1600" b="1" dirty="0">
                <a:solidFill>
                  <a:srgbClr val="0000FF"/>
                </a:solidFill>
              </a:rPr>
              <a:t>()</a:t>
            </a: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>
                <a:solidFill>
                  <a:srgbClr val="0000FF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>
                <a:solidFill>
                  <a:srgbClr val="0000FF"/>
                </a:solidFill>
              </a:rPr>
              <a:t>     if (x-count &gt; 0</a:t>
            </a:r>
            <a:r>
              <a:rPr lang="en-US" altLang="zh-TW" sz="1600" dirty="0" smtClean="0">
                <a:solidFill>
                  <a:srgbClr val="0000FF"/>
                </a:solidFill>
              </a:rPr>
              <a:t>)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>
                <a:solidFill>
                  <a:srgbClr val="0000FF"/>
                </a:solidFill>
              </a:rPr>
              <a:t>     {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zh-TW" altLang="en-US" sz="1600" b="1" dirty="0" smtClean="0">
                <a:solidFill>
                  <a:srgbClr val="0000FF"/>
                </a:solidFill>
              </a:rPr>
              <a:t>   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     </a:t>
            </a:r>
            <a:r>
              <a:rPr lang="en-US" altLang="zh-TW" sz="1600" b="1" dirty="0">
                <a:solidFill>
                  <a:srgbClr val="0000FF"/>
                </a:solidFill>
              </a:rPr>
              <a:t>next-count++;        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zh-TW" altLang="en-US" sz="1600" b="1" dirty="0" smtClean="0">
                <a:solidFill>
                  <a:srgbClr val="0000FF"/>
                </a:solidFill>
              </a:rPr>
              <a:t>   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     </a:t>
            </a:r>
            <a:r>
              <a:rPr lang="en-US" altLang="zh-TW" sz="1600" b="1" dirty="0">
                <a:solidFill>
                  <a:srgbClr val="0000FF"/>
                </a:solidFill>
              </a:rPr>
              <a:t>signal(x-</a:t>
            </a:r>
            <a:r>
              <a:rPr lang="en-US" altLang="zh-TW" sz="1600" b="1" dirty="0" err="1">
                <a:solidFill>
                  <a:srgbClr val="0000FF"/>
                </a:solidFill>
              </a:rPr>
              <a:t>sem</a:t>
            </a:r>
            <a:r>
              <a:rPr lang="en-US" altLang="zh-TW" sz="1600" b="1" dirty="0">
                <a:solidFill>
                  <a:srgbClr val="0000FF"/>
                </a:solidFill>
              </a:rPr>
              <a:t>);	  	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	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zh-TW" altLang="en-US" sz="1600" b="1" dirty="0" smtClean="0">
                <a:solidFill>
                  <a:srgbClr val="0000FF"/>
                </a:solidFill>
              </a:rPr>
              <a:t>   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     </a:t>
            </a:r>
            <a:r>
              <a:rPr lang="en-US" altLang="zh-TW" sz="1600" b="1" dirty="0" smtClean="0">
                <a:solidFill>
                  <a:srgbClr val="FF3300"/>
                </a:solidFill>
              </a:rPr>
              <a:t>wait(next);             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zh-TW" altLang="en-US" sz="1600" b="1" dirty="0" smtClean="0">
                <a:solidFill>
                  <a:srgbClr val="0000FF"/>
                </a:solidFill>
              </a:rPr>
              <a:t>   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     </a:t>
            </a:r>
            <a:r>
              <a:rPr lang="en-US" altLang="zh-TW" sz="1600" b="1" dirty="0">
                <a:solidFill>
                  <a:srgbClr val="0000FF"/>
                </a:solidFill>
              </a:rPr>
              <a:t>next-count--;         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  <a:tabLst>
                <a:tab pos="1833563" algn="l"/>
                <a:tab pos="2222500" algn="l"/>
              </a:tabLst>
            </a:pPr>
            <a:r>
              <a:rPr lang="zh-TW" altLang="en-US" sz="1600" b="1" dirty="0" smtClean="0">
                <a:solidFill>
                  <a:srgbClr val="0000FF"/>
                </a:solidFill>
              </a:rPr>
              <a:t>     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}</a:t>
            </a:r>
            <a:endParaRPr lang="en-US" altLang="zh-TW" sz="16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r>
              <a:rPr lang="en-US" altLang="zh-TW" sz="1600" b="1" dirty="0">
                <a:solidFill>
                  <a:srgbClr val="0000FF"/>
                </a:solidFill>
              </a:rPr>
              <a:t>}</a:t>
            </a:r>
            <a:endParaRPr lang="en-US" altLang="zh-TW" sz="16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"/>
              </a:spcBef>
              <a:buNone/>
              <a:tabLst>
                <a:tab pos="1833563" algn="l"/>
                <a:tab pos="2222500" algn="l"/>
              </a:tabLst>
            </a:pP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8544272" y="1341462"/>
            <a:ext cx="12241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library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6843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Text Box 26"/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914400" y="2357607"/>
            <a:ext cx="10363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3200" b="1" dirty="0" smtClean="0">
                <a:latin typeface="Calibri" panose="020F0502020204030204" pitchFamily="34" charset="0"/>
              </a:rPr>
              <a:t>在下面的例子中，試試看自行追蹤下列</a:t>
            </a:r>
            <a:r>
              <a:rPr lang="zh-TW" altLang="en-US" sz="3200" b="1" dirty="0">
                <a:latin typeface="Calibri" panose="020F0502020204030204" pitchFamily="34" charset="0"/>
              </a:rPr>
              <a:t>變數的值</a:t>
            </a:r>
          </a:p>
          <a:p>
            <a:pPr algn="ctr"/>
            <a:r>
              <a:rPr lang="en-US" altLang="zh-TW" sz="2800" b="1" dirty="0" err="1">
                <a:latin typeface="Calibri" panose="020F0502020204030204" pitchFamily="34" charset="0"/>
              </a:rPr>
              <a:t>mutex</a:t>
            </a:r>
            <a:r>
              <a:rPr lang="en-US" altLang="zh-TW" sz="2800" b="1" dirty="0">
                <a:latin typeface="Calibri" panose="020F0502020204030204" pitchFamily="34" charset="0"/>
              </a:rPr>
              <a:t> = 1  , next = 0,  </a:t>
            </a:r>
            <a:r>
              <a:rPr lang="en-US" altLang="zh-TW" sz="2800" b="1" dirty="0" err="1">
                <a:latin typeface="Calibri" panose="020F0502020204030204" pitchFamily="34" charset="0"/>
              </a:rPr>
              <a:t>next_count</a:t>
            </a:r>
            <a:r>
              <a:rPr lang="en-US" altLang="zh-TW" sz="2800" b="1" dirty="0">
                <a:latin typeface="Calibri" panose="020F0502020204030204" pitchFamily="34" charset="0"/>
              </a:rPr>
              <a:t> = 0, </a:t>
            </a:r>
            <a:r>
              <a:rPr lang="en-US" altLang="zh-TW" sz="2800" b="1" dirty="0" err="1">
                <a:latin typeface="Calibri" panose="020F0502020204030204" pitchFamily="34" charset="0"/>
              </a:rPr>
              <a:t>x_sem</a:t>
            </a:r>
            <a:r>
              <a:rPr lang="en-US" altLang="zh-TW" sz="2800" b="1" dirty="0">
                <a:latin typeface="Calibri" panose="020F0502020204030204" pitchFamily="34" charset="0"/>
              </a:rPr>
              <a:t> = 0, </a:t>
            </a:r>
            <a:r>
              <a:rPr lang="en-US" altLang="zh-TW" sz="2800" b="1" dirty="0" err="1">
                <a:latin typeface="Calibri" panose="020F0502020204030204" pitchFamily="34" charset="0"/>
              </a:rPr>
              <a:t>x_count</a:t>
            </a:r>
            <a:r>
              <a:rPr lang="en-US" altLang="zh-TW" sz="2800" b="1" dirty="0">
                <a:latin typeface="Calibri" panose="020F0502020204030204" pitchFamily="34" charset="0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92927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6"/>
          <p:cNvSpPr txBox="1">
            <a:spLocks noChangeArrowheads="1"/>
          </p:cNvSpPr>
          <p:nvPr/>
        </p:nvSpPr>
        <p:spPr bwMode="auto">
          <a:xfrm>
            <a:off x="2711625" y="1591966"/>
            <a:ext cx="1235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process A</a:t>
            </a:r>
          </a:p>
        </p:txBody>
      </p:sp>
      <p:sp>
        <p:nvSpPr>
          <p:cNvPr id="77827" name="Text Box 15"/>
          <p:cNvSpPr txBox="1">
            <a:spLocks noChangeArrowheads="1"/>
          </p:cNvSpPr>
          <p:nvPr/>
        </p:nvSpPr>
        <p:spPr bwMode="auto">
          <a:xfrm>
            <a:off x="1991545" y="727870"/>
            <a:ext cx="32400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</a:rPr>
              <a:t>monitor entry queue:</a:t>
            </a:r>
          </a:p>
          <a:p>
            <a:r>
              <a:rPr lang="en-US" altLang="zh-TW" sz="2000" b="1">
                <a:latin typeface="Calibri" panose="020F0502020204030204" pitchFamily="34" charset="0"/>
              </a:rPr>
              <a:t>x.queue:</a:t>
            </a:r>
          </a:p>
        </p:txBody>
      </p:sp>
      <p:sp>
        <p:nvSpPr>
          <p:cNvPr id="77828" name="Text Box 5"/>
          <p:cNvSpPr txBox="1">
            <a:spLocks noChangeArrowheads="1"/>
          </p:cNvSpPr>
          <p:nvPr/>
        </p:nvSpPr>
        <p:spPr bwMode="auto">
          <a:xfrm>
            <a:off x="4993679" y="3027725"/>
            <a:ext cx="252095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monitor  Demo{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</a:t>
            </a:r>
            <a:r>
              <a:rPr lang="en-US" altLang="zh-TW" sz="2000" dirty="0" err="1">
                <a:latin typeface="Calibri" panose="020F0502020204030204" pitchFamily="34" charset="0"/>
              </a:rPr>
              <a:t>int</a:t>
            </a:r>
            <a:r>
              <a:rPr lang="en-US" altLang="zh-TW" sz="2000" dirty="0">
                <a:latin typeface="Calibri" panose="020F0502020204030204" pitchFamily="34" charset="0"/>
              </a:rPr>
              <a:t>   a;    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condition x;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a = 0;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void func1() {    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if (</a:t>
            </a:r>
            <a:r>
              <a:rPr lang="en-US" altLang="zh-TW" sz="2000" dirty="0" err="1">
                <a:latin typeface="Calibri" panose="020F0502020204030204" pitchFamily="34" charset="0"/>
              </a:rPr>
              <a:t>this.a</a:t>
            </a:r>
            <a:r>
              <a:rPr lang="en-US" altLang="zh-TW" sz="2000" dirty="0">
                <a:latin typeface="Calibri" panose="020F0502020204030204" pitchFamily="34" charset="0"/>
              </a:rPr>
              <a:t> == 0)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      </a:t>
            </a:r>
            <a:r>
              <a:rPr lang="en-US" altLang="zh-TW" sz="2000" dirty="0" err="1">
                <a:latin typeface="Calibri" panose="020F0502020204030204" pitchFamily="34" charset="0"/>
              </a:rPr>
              <a:t>x.wait</a:t>
            </a:r>
            <a:r>
              <a:rPr lang="en-US" altLang="zh-TW" sz="2000" dirty="0">
                <a:latin typeface="Calibri" panose="020F0502020204030204" pitchFamily="34" charset="0"/>
              </a:rPr>
              <a:t>();         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}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void func2()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     </a:t>
            </a:r>
            <a:r>
              <a:rPr lang="en-US" altLang="zh-TW" sz="2000" dirty="0" err="1">
                <a:latin typeface="Calibri" panose="020F0502020204030204" pitchFamily="34" charset="0"/>
              </a:rPr>
              <a:t>x.signal</a:t>
            </a:r>
            <a:r>
              <a:rPr lang="en-US" altLang="zh-TW" sz="2000" dirty="0" smtClean="0">
                <a:latin typeface="Calibri" panose="020F0502020204030204" pitchFamily="34" charset="0"/>
              </a:rPr>
              <a:t>();</a:t>
            </a:r>
          </a:p>
          <a:p>
            <a:r>
              <a:rPr lang="en-US" altLang="zh-TW" sz="2000" dirty="0" smtClean="0">
                <a:latin typeface="Calibri" panose="020F0502020204030204" pitchFamily="34" charset="0"/>
              </a:rPr>
              <a:t>         a = a + 1;</a:t>
            </a:r>
            <a:endParaRPr lang="en-US" altLang="zh-TW" sz="2000" dirty="0">
              <a:latin typeface="Calibri" panose="020F0502020204030204" pitchFamily="34" charset="0"/>
            </a:endParaRPr>
          </a:p>
          <a:p>
            <a:r>
              <a:rPr lang="en-US" altLang="zh-TW" sz="2000" dirty="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77829" name="Rectangle 7"/>
          <p:cNvSpPr>
            <a:spLocks noChangeArrowheads="1"/>
          </p:cNvSpPr>
          <p:nvPr/>
        </p:nvSpPr>
        <p:spPr bwMode="auto">
          <a:xfrm>
            <a:off x="4995266" y="3084416"/>
            <a:ext cx="2376488" cy="36569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68" name="Rectangle 16"/>
          <p:cNvSpPr>
            <a:spLocks noChangeArrowheads="1"/>
          </p:cNvSpPr>
          <p:nvPr/>
        </p:nvSpPr>
        <p:spPr bwMode="auto">
          <a:xfrm>
            <a:off x="2303632" y="2300450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7831" name="Text Box 17"/>
          <p:cNvSpPr txBox="1">
            <a:spLocks noChangeArrowheads="1"/>
          </p:cNvSpPr>
          <p:nvPr/>
        </p:nvSpPr>
        <p:spPr bwMode="auto">
          <a:xfrm>
            <a:off x="5447929" y="1628801"/>
            <a:ext cx="12207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process B</a:t>
            </a:r>
          </a:p>
        </p:txBody>
      </p:sp>
      <p:sp>
        <p:nvSpPr>
          <p:cNvPr id="77832" name="Text Box 18"/>
          <p:cNvSpPr txBox="1">
            <a:spLocks noChangeArrowheads="1"/>
          </p:cNvSpPr>
          <p:nvPr/>
        </p:nvSpPr>
        <p:spPr bwMode="auto">
          <a:xfrm>
            <a:off x="8616950" y="1628800"/>
            <a:ext cx="11850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process C</a:t>
            </a:r>
          </a:p>
        </p:txBody>
      </p:sp>
      <p:sp>
        <p:nvSpPr>
          <p:cNvPr id="612380" name="AutoShape 28"/>
          <p:cNvSpPr>
            <a:spLocks noChangeArrowheads="1"/>
          </p:cNvSpPr>
          <p:nvPr/>
        </p:nvSpPr>
        <p:spPr bwMode="auto">
          <a:xfrm>
            <a:off x="4223793" y="1340768"/>
            <a:ext cx="1286421" cy="590426"/>
          </a:xfrm>
          <a:prstGeom prst="curvedDown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82" name="Rectangle 30"/>
          <p:cNvSpPr>
            <a:spLocks noChangeArrowheads="1"/>
          </p:cNvSpPr>
          <p:nvPr/>
        </p:nvSpPr>
        <p:spPr bwMode="auto">
          <a:xfrm>
            <a:off x="4510906" y="727869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612383" name="Text Box 31"/>
          <p:cNvSpPr txBox="1">
            <a:spLocks noChangeArrowheads="1"/>
          </p:cNvSpPr>
          <p:nvPr/>
        </p:nvSpPr>
        <p:spPr bwMode="auto">
          <a:xfrm>
            <a:off x="5303913" y="1375942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612385" name="Rectangle 33"/>
          <p:cNvSpPr>
            <a:spLocks noChangeArrowheads="1"/>
          </p:cNvSpPr>
          <p:nvPr/>
        </p:nvSpPr>
        <p:spPr bwMode="auto">
          <a:xfrm>
            <a:off x="5639791" y="4579912"/>
            <a:ext cx="1512888" cy="6492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86" name="Text Box 34"/>
          <p:cNvSpPr txBox="1">
            <a:spLocks noChangeArrowheads="1"/>
          </p:cNvSpPr>
          <p:nvPr/>
        </p:nvSpPr>
        <p:spPr bwMode="auto">
          <a:xfrm>
            <a:off x="6793905" y="5048350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612387" name="Rectangle 35"/>
          <p:cNvSpPr>
            <a:spLocks noChangeArrowheads="1"/>
          </p:cNvSpPr>
          <p:nvPr/>
        </p:nvSpPr>
        <p:spPr bwMode="auto">
          <a:xfrm>
            <a:off x="3071044" y="1088232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612390" name="AutoShape 38"/>
          <p:cNvSpPr>
            <a:spLocks noChangeArrowheads="1"/>
          </p:cNvSpPr>
          <p:nvPr/>
        </p:nvSpPr>
        <p:spPr bwMode="auto">
          <a:xfrm>
            <a:off x="7032104" y="1412776"/>
            <a:ext cx="1872184" cy="504130"/>
          </a:xfrm>
          <a:prstGeom prst="curvedDownArrow">
            <a:avLst>
              <a:gd name="adj1" fmla="val 52705"/>
              <a:gd name="adj2" fmla="val 10541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91" name="Rectangle 39"/>
          <p:cNvSpPr>
            <a:spLocks noChangeArrowheads="1"/>
          </p:cNvSpPr>
          <p:nvPr/>
        </p:nvSpPr>
        <p:spPr bwMode="auto">
          <a:xfrm>
            <a:off x="5087169" y="727869"/>
            <a:ext cx="431800" cy="431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612392" name="Text Box 40"/>
          <p:cNvSpPr txBox="1">
            <a:spLocks noChangeArrowheads="1"/>
          </p:cNvSpPr>
          <p:nvPr/>
        </p:nvSpPr>
        <p:spPr bwMode="auto">
          <a:xfrm>
            <a:off x="8544273" y="1340769"/>
            <a:ext cx="103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612393" name="AutoShape 41"/>
          <p:cNvSpPr>
            <a:spLocks noChangeArrowheads="1"/>
          </p:cNvSpPr>
          <p:nvPr/>
        </p:nvSpPr>
        <p:spPr bwMode="auto">
          <a:xfrm flipH="1" flipV="1">
            <a:off x="3215680" y="2708920"/>
            <a:ext cx="5329238" cy="404813"/>
          </a:xfrm>
          <a:prstGeom prst="curvedDownArrow">
            <a:avLst>
              <a:gd name="adj1" fmla="val 263294"/>
              <a:gd name="adj2" fmla="val 52658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12394" name="Rectangle 42"/>
          <p:cNvSpPr>
            <a:spLocks noChangeArrowheads="1"/>
          </p:cNvSpPr>
          <p:nvPr/>
        </p:nvSpPr>
        <p:spPr bwMode="auto">
          <a:xfrm>
            <a:off x="5612448" y="5845293"/>
            <a:ext cx="1540231" cy="248003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2135560" y="1988841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79241" y="1946017"/>
            <a:ext cx="1728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x = x + 1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demo.func1()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y = y – 1;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5353074" y="4293096"/>
            <a:ext cx="1512168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5015880" y="1988841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8039992" y="1988841"/>
            <a:ext cx="2376488" cy="9361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087888" y="1936289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x1 = x1 - 1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demo.func2()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y1 = y1 + 1;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184232" y="1946017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x2 = x2 - 1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demo.func2()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y2 = y2 + 1;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32" name="Rectangle 42"/>
          <p:cNvSpPr>
            <a:spLocks noChangeArrowheads="1"/>
          </p:cNvSpPr>
          <p:nvPr/>
        </p:nvSpPr>
        <p:spPr bwMode="auto">
          <a:xfrm>
            <a:off x="5159896" y="2276872"/>
            <a:ext cx="1512168" cy="36004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8256240" y="2276872"/>
            <a:ext cx="1512168" cy="36004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5" name="Text Box 26"/>
          <p:cNvSpPr txBox="1">
            <a:spLocks noChangeArrowheads="1"/>
          </p:cNvSpPr>
          <p:nvPr/>
        </p:nvSpPr>
        <p:spPr bwMode="auto">
          <a:xfrm>
            <a:off x="2641104" y="-27384"/>
            <a:ext cx="71993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2000" b="1" dirty="0" smtClean="0">
                <a:latin typeface="Calibri" panose="020F0502020204030204" pitchFamily="34" charset="0"/>
                <a:ea typeface="標楷體" pitchFamily="65" charset="-120"/>
              </a:rPr>
              <a:t>追蹤下列</a:t>
            </a:r>
            <a:r>
              <a:rPr lang="zh-TW" altLang="en-US" sz="2000" b="1" dirty="0">
                <a:latin typeface="Calibri" panose="020F0502020204030204" pitchFamily="34" charset="0"/>
                <a:ea typeface="標楷體" pitchFamily="65" charset="-120"/>
              </a:rPr>
              <a:t>變數的值</a:t>
            </a:r>
          </a:p>
          <a:p>
            <a:pPr algn="ctr"/>
            <a:r>
              <a:rPr lang="en-US" altLang="zh-TW" sz="2000" b="1" dirty="0" err="1">
                <a:latin typeface="Calibri" panose="020F0502020204030204" pitchFamily="34" charset="0"/>
              </a:rPr>
              <a:t>mutex</a:t>
            </a:r>
            <a:r>
              <a:rPr lang="en-US" altLang="zh-TW" sz="2000" b="1" dirty="0">
                <a:latin typeface="Calibri" panose="020F0502020204030204" pitchFamily="34" charset="0"/>
              </a:rPr>
              <a:t> = 1  , next = 0,  </a:t>
            </a:r>
            <a:r>
              <a:rPr lang="en-US" altLang="zh-TW" sz="2000" b="1" dirty="0" err="1">
                <a:latin typeface="Calibri" panose="020F0502020204030204" pitchFamily="34" charset="0"/>
              </a:rPr>
              <a:t>next_count</a:t>
            </a:r>
            <a:r>
              <a:rPr lang="en-US" altLang="zh-TW" sz="2000" b="1" dirty="0">
                <a:latin typeface="Calibri" panose="020F0502020204030204" pitchFamily="34" charset="0"/>
              </a:rPr>
              <a:t> = 0, </a:t>
            </a:r>
            <a:r>
              <a:rPr lang="en-US" altLang="zh-TW" sz="2000" b="1" dirty="0" err="1">
                <a:latin typeface="Calibri" panose="020F0502020204030204" pitchFamily="34" charset="0"/>
              </a:rPr>
              <a:t>x_sem</a:t>
            </a:r>
            <a:r>
              <a:rPr lang="en-US" altLang="zh-TW" sz="2000" b="1" dirty="0">
                <a:latin typeface="Calibri" panose="020F0502020204030204" pitchFamily="34" charset="0"/>
              </a:rPr>
              <a:t> = 0, </a:t>
            </a:r>
            <a:r>
              <a:rPr lang="en-US" altLang="zh-TW" sz="2000" b="1" dirty="0" err="1">
                <a:latin typeface="Calibri" panose="020F0502020204030204" pitchFamily="34" charset="0"/>
              </a:rPr>
              <a:t>x_count</a:t>
            </a:r>
            <a:r>
              <a:rPr lang="en-US" altLang="zh-TW" sz="2000" b="1" dirty="0">
                <a:latin typeface="Calibri" panose="020F0502020204030204" pitchFamily="34" charset="0"/>
              </a:rPr>
              <a:t> = 0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61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5" dur="500"/>
                                        <p:tgtEl>
                                          <p:spTgt spid="61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1" dur="500"/>
                                        <p:tgtEl>
                                          <p:spTgt spid="61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68" grpId="0" animBg="1"/>
      <p:bldP spid="612380" grpId="0" animBg="1"/>
      <p:bldP spid="612380" grpId="1" animBg="1"/>
      <p:bldP spid="612382" grpId="0" animBg="1"/>
      <p:bldP spid="612382" grpId="1" animBg="1"/>
      <p:bldP spid="612383" grpId="0"/>
      <p:bldP spid="612383" grpId="1"/>
      <p:bldP spid="612385" grpId="0" animBg="1"/>
      <p:bldP spid="612386" grpId="0"/>
      <p:bldP spid="612386" grpId="1"/>
      <p:bldP spid="612387" grpId="0" animBg="1"/>
      <p:bldP spid="612387" grpId="1" animBg="1"/>
      <p:bldP spid="612390" grpId="0" animBg="1"/>
      <p:bldP spid="612391" grpId="0" animBg="1"/>
      <p:bldP spid="612392" grpId="0"/>
      <p:bldP spid="612393" grpId="0" animBg="1"/>
      <p:bldP spid="612394" grpId="0" animBg="1"/>
      <p:bldP spid="612394" grpId="1" animBg="1"/>
      <p:bldP spid="27" grpId="0" animBg="1"/>
      <p:bldP spid="27" grpId="1" animBg="1"/>
      <p:bldP spid="32" grpId="0" animBg="1"/>
      <p:bldP spid="32" grpId="1" animBg="1"/>
      <p:bldP spid="33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Monitors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Monitor Usage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Implementing a Monitor Using Semaphore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3300"/>
                </a:solidFill>
              </a:rPr>
              <a:t>Resuming Processes within a Monitor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660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3600">
                <a:solidFill>
                  <a:schemeClr val="tx1"/>
                </a:solidFill>
              </a:rPr>
              <a:t>Resuming Processes Within a Monitor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TW" sz="2800" dirty="0"/>
              <a:t>If several processes are suspended on </a:t>
            </a:r>
            <a:r>
              <a:rPr lang="en-US" altLang="zh-TW" sz="2800" dirty="0">
                <a:solidFill>
                  <a:srgbClr val="0000FF"/>
                </a:solidFill>
              </a:rPr>
              <a:t>condition </a:t>
            </a:r>
            <a:r>
              <a:rPr lang="en-US" altLang="zh-TW" sz="2800" b="1" i="1" dirty="0">
                <a:solidFill>
                  <a:srgbClr val="0000FF"/>
                </a:solidFill>
              </a:rPr>
              <a:t>x</a:t>
            </a:r>
          </a:p>
          <a:p>
            <a:pPr lvl="1" eaLnBrk="1" hangingPunct="1"/>
            <a:r>
              <a:rPr lang="en-US" altLang="zh-TW" sz="2400" b="1" dirty="0" err="1"/>
              <a:t>x.signal</a:t>
            </a:r>
            <a:r>
              <a:rPr lang="en-US" altLang="zh-TW" sz="2400" b="1" dirty="0"/>
              <a:t>()</a:t>
            </a:r>
            <a:r>
              <a:rPr lang="en-US" altLang="zh-TW" sz="2400" dirty="0"/>
              <a:t> should resume which process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 smtClean="0"/>
              <a:t>Policies:</a:t>
            </a:r>
            <a:endParaRPr lang="en-US" altLang="zh-TW" sz="2800" dirty="0"/>
          </a:p>
          <a:p>
            <a:pPr lvl="1" eaLnBrk="1" hangingPunct="1"/>
            <a:r>
              <a:rPr lang="en-US" altLang="zh-TW" sz="2400" dirty="0"/>
              <a:t>FCFS</a:t>
            </a:r>
          </a:p>
          <a:p>
            <a:pPr lvl="1" eaLnBrk="1" hangingPunct="1"/>
            <a:endParaRPr lang="en-US" altLang="zh-TW" sz="2400" dirty="0" smtClean="0"/>
          </a:p>
          <a:p>
            <a:pPr lvl="1" eaLnBrk="1" hangingPunct="1"/>
            <a:r>
              <a:rPr lang="en-US" altLang="zh-TW" sz="2400" dirty="0" smtClean="0"/>
              <a:t>Priority</a:t>
            </a:r>
            <a:endParaRPr lang="en-US" altLang="zh-TW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424" t="4802" r="1059" b="4802"/>
          <a:stretch>
            <a:fillRect/>
          </a:stretch>
        </p:blipFill>
        <p:spPr bwMode="auto">
          <a:xfrm>
            <a:off x="3935760" y="2708921"/>
            <a:ext cx="7848872" cy="376854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229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smtClean="0"/>
              <a:t>Java Monitor</a:t>
            </a:r>
            <a:r>
              <a:rPr lang="zh-TW" altLang="en-US" smtClean="0"/>
              <a:t>的</a:t>
            </a:r>
            <a:r>
              <a:rPr lang="zh-TW" altLang="en-US" dirty="0" smtClean="0"/>
              <a:t>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62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0000"/>
                </a:solidFill>
              </a:rPr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Lock-free programming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587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Liveness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Liveness</a:t>
            </a:r>
            <a:r>
              <a:rPr lang="en-US" altLang="zh-TW" dirty="0" smtClean="0"/>
              <a:t>: 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system must satisfy to ensure </a:t>
            </a:r>
            <a:r>
              <a:rPr lang="en-US" altLang="zh-TW" b="1" dirty="0">
                <a:solidFill>
                  <a:srgbClr val="FF0000"/>
                </a:solidFill>
              </a:rPr>
              <a:t>processes make progress.</a:t>
            </a:r>
          </a:p>
          <a:p>
            <a:endParaRPr lang="en-US" altLang="zh-TW" b="1" dirty="0" smtClean="0"/>
          </a:p>
          <a:p>
            <a:r>
              <a:rPr lang="en-US" altLang="zh-TW" b="1" dirty="0" smtClean="0"/>
              <a:t>Liveness failure (</a:t>
            </a:r>
            <a:r>
              <a:rPr lang="en-US" altLang="zh-TW" dirty="0" smtClean="0"/>
              <a:t>or</a:t>
            </a:r>
            <a:r>
              <a:rPr lang="en-US" altLang="zh-TW" b="1" dirty="0" smtClean="0"/>
              <a:t> liveness hazards </a:t>
            </a:r>
            <a:r>
              <a:rPr lang="en-US" altLang="zh-TW" dirty="0" smtClean="0"/>
              <a:t>(</a:t>
            </a:r>
            <a:r>
              <a:rPr lang="zh-TW" altLang="en-US" dirty="0" smtClean="0"/>
              <a:t>危險</a:t>
            </a:r>
            <a:r>
              <a:rPr lang="en-US" altLang="zh-TW" dirty="0" smtClean="0"/>
              <a:t>)</a:t>
            </a:r>
            <a:r>
              <a:rPr lang="en-US" altLang="zh-TW" b="1" dirty="0" smtClean="0"/>
              <a:t>)</a:t>
            </a:r>
            <a:r>
              <a:rPr lang="en-US" altLang="zh-TW" dirty="0" smtClean="0"/>
              <a:t>: </a:t>
            </a:r>
          </a:p>
          <a:p>
            <a:pPr lvl="1"/>
            <a:r>
              <a:rPr lang="en-US" altLang="zh-TW" dirty="0" smtClean="0"/>
              <a:t>Fail to satisfy the liveness property</a:t>
            </a:r>
          </a:p>
          <a:p>
            <a:pPr lvl="1"/>
            <a:r>
              <a:rPr lang="en-US" altLang="zh-TW" dirty="0" smtClean="0"/>
              <a:t>Example</a:t>
            </a:r>
          </a:p>
          <a:p>
            <a:pPr lvl="2"/>
            <a:r>
              <a:rPr lang="en-US" altLang="zh-TW" dirty="0" smtClean="0"/>
              <a:t>Indefinite </a:t>
            </a:r>
            <a:r>
              <a:rPr lang="en-US" altLang="zh-TW" dirty="0"/>
              <a:t>waiting </a:t>
            </a:r>
            <a:r>
              <a:rPr lang="en-US" altLang="zh-TW" dirty="0" smtClean="0"/>
              <a:t>(e.g., starvation)</a:t>
            </a:r>
          </a:p>
          <a:p>
            <a:pPr lvl="2"/>
            <a:r>
              <a:rPr lang="en-US" altLang="zh-TW" dirty="0" smtClean="0"/>
              <a:t>Deadlock</a:t>
            </a:r>
          </a:p>
          <a:p>
            <a:pPr lvl="2"/>
            <a:r>
              <a:rPr lang="en-US" altLang="zh-TW" dirty="0" smtClean="0"/>
              <a:t>Priority Inversion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756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Deadlock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b="1" dirty="0">
                <a:solidFill>
                  <a:srgbClr val="FF3300"/>
                </a:solidFill>
              </a:rPr>
              <a:t>Deadlock</a:t>
            </a:r>
            <a:r>
              <a:rPr lang="en-US" altLang="zh-TW" sz="2400" dirty="0">
                <a:solidFill>
                  <a:schemeClr val="tx2"/>
                </a:solidFill>
              </a:rPr>
              <a:t> </a:t>
            </a:r>
            <a:r>
              <a:rPr lang="en-US" altLang="zh-TW" sz="2400" dirty="0">
                <a:latin typeface="Helvetica" pitchFamily="34" charset="0"/>
              </a:rPr>
              <a:t>–</a:t>
            </a:r>
            <a:r>
              <a:rPr lang="en-US" altLang="zh-TW" sz="2400" dirty="0"/>
              <a:t> two or more processes are waiting indefinitely for an event that can be caused by only one of the waiting processes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/>
              <a:t>Example: Let </a:t>
            </a:r>
            <a:r>
              <a:rPr lang="en-US" altLang="zh-TW" sz="2000" b="1" i="1" dirty="0">
                <a:solidFill>
                  <a:srgbClr val="0000FF"/>
                </a:solidFill>
              </a:rPr>
              <a:t>S</a:t>
            </a:r>
            <a:r>
              <a:rPr lang="en-US" altLang="zh-TW" sz="2400" b="1" i="1" dirty="0"/>
              <a:t> </a:t>
            </a:r>
            <a:r>
              <a:rPr lang="en-US" altLang="zh-TW" sz="2400" dirty="0"/>
              <a:t>and </a:t>
            </a:r>
            <a:r>
              <a:rPr lang="en-US" altLang="zh-TW" sz="2000" b="1" i="1" dirty="0">
                <a:solidFill>
                  <a:srgbClr val="0000FF"/>
                </a:solidFill>
              </a:rPr>
              <a:t>Q</a:t>
            </a:r>
            <a:r>
              <a:rPr lang="en-US" altLang="zh-TW" sz="2400" dirty="0"/>
              <a:t> be two semaphores initialized to 1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400" i="1" dirty="0"/>
              <a:t>		          </a:t>
            </a:r>
            <a:r>
              <a:rPr lang="en-US" altLang="zh-TW" sz="2400" i="1" dirty="0" smtClean="0"/>
              <a:t>			</a:t>
            </a:r>
            <a:r>
              <a:rPr lang="en-US" altLang="zh-TW" sz="2400" b="1" i="1" dirty="0" smtClean="0">
                <a:solidFill>
                  <a:srgbClr val="0000FF"/>
                </a:solidFill>
              </a:rPr>
              <a:t>P</a:t>
            </a:r>
            <a:r>
              <a:rPr lang="en-US" altLang="zh-TW" sz="2400" b="1" baseline="-25000" dirty="0" smtClean="0">
                <a:solidFill>
                  <a:srgbClr val="0000FF"/>
                </a:solidFill>
              </a:rPr>
              <a:t>0</a:t>
            </a:r>
            <a:r>
              <a:rPr lang="en-US" altLang="zh-TW" sz="2400" dirty="0">
                <a:solidFill>
                  <a:srgbClr val="0000FF"/>
                </a:solidFill>
              </a:rPr>
              <a:t>	</a:t>
            </a:r>
            <a:r>
              <a:rPr lang="en-US" altLang="zh-TW" sz="2400" dirty="0" smtClean="0">
                <a:solidFill>
                  <a:srgbClr val="0000FF"/>
                </a:solidFill>
              </a:rPr>
              <a:t>   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              </a:t>
            </a:r>
            <a:r>
              <a:rPr lang="en-US" altLang="zh-TW" sz="2400" b="1" i="1" dirty="0" smtClean="0">
                <a:solidFill>
                  <a:srgbClr val="0000FF"/>
                </a:solidFill>
              </a:rPr>
              <a:t>P</a:t>
            </a:r>
            <a:r>
              <a:rPr lang="en-US" altLang="zh-TW" sz="2400" b="1" baseline="-25000" dirty="0" smtClean="0">
                <a:solidFill>
                  <a:srgbClr val="0000FF"/>
                </a:solidFill>
              </a:rPr>
              <a:t>1</a:t>
            </a:r>
            <a:endParaRPr lang="en-US" altLang="zh-TW" sz="2400" b="1" baseline="-25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400" dirty="0">
                <a:solidFill>
                  <a:srgbClr val="0000FF"/>
                </a:solidFill>
              </a:rPr>
              <a:t>		       </a:t>
            </a:r>
            <a:r>
              <a:rPr lang="en-US" altLang="zh-TW" sz="2400" dirty="0" smtClean="0">
                <a:solidFill>
                  <a:srgbClr val="0000FF"/>
                </a:solidFill>
              </a:rPr>
              <a:t>		         </a:t>
            </a:r>
            <a:r>
              <a:rPr lang="en-US" altLang="zh-TW" sz="2000" b="1" dirty="0" smtClean="0"/>
              <a:t>wait </a:t>
            </a:r>
            <a:r>
              <a:rPr lang="en-US" altLang="zh-TW" sz="2000" b="1" dirty="0"/>
              <a:t>(S); 	      </a:t>
            </a:r>
            <a:r>
              <a:rPr lang="en-US" altLang="zh-TW" sz="2000" b="1" dirty="0" smtClean="0"/>
              <a:t> </a:t>
            </a:r>
            <a:r>
              <a:rPr lang="en-US" altLang="zh-TW" sz="2000" b="1" dirty="0"/>
              <a:t>	wait (Q);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</a:t>
            </a:r>
            <a:r>
              <a:rPr lang="en-US" altLang="zh-TW" sz="2000" b="1" dirty="0" smtClean="0"/>
              <a:t>		           wait </a:t>
            </a:r>
            <a:r>
              <a:rPr lang="en-US" altLang="zh-TW" sz="2000" b="1" dirty="0"/>
              <a:t>(Q); 	      </a:t>
            </a:r>
            <a:r>
              <a:rPr lang="en-US" altLang="zh-TW" sz="2000" b="1" dirty="0" smtClean="0"/>
              <a:t>  </a:t>
            </a:r>
            <a:r>
              <a:rPr lang="en-US" altLang="zh-TW" sz="2000" b="1" dirty="0"/>
              <a:t>	wait (S);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  </a:t>
            </a:r>
            <a:r>
              <a:rPr lang="en-US" altLang="zh-TW" sz="2000" b="1" dirty="0" smtClean="0"/>
              <a:t>		                </a:t>
            </a:r>
            <a:r>
              <a:rPr lang="en-US" altLang="zh-TW" sz="2000" b="1" dirty="0"/>
              <a:t>. 	</a:t>
            </a:r>
            <a:r>
              <a:rPr lang="en-US" altLang="zh-TW" sz="2000" b="1" dirty="0" smtClean="0"/>
              <a:t>                      </a:t>
            </a:r>
            <a:r>
              <a:rPr lang="en-US" altLang="zh-TW" sz="2000" b="1" dirty="0"/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    </a:t>
            </a:r>
            <a:r>
              <a:rPr lang="en-US" altLang="zh-TW" sz="2000" b="1" dirty="0" smtClean="0"/>
              <a:t>		                </a:t>
            </a:r>
            <a:r>
              <a:rPr lang="en-US" altLang="zh-TW" sz="2000" b="1" dirty="0"/>
              <a:t>. 	</a:t>
            </a:r>
            <a:r>
              <a:rPr lang="en-US" altLang="zh-TW" sz="2000" b="1" dirty="0" smtClean="0"/>
              <a:t>                      </a:t>
            </a:r>
            <a:r>
              <a:rPr lang="en-US" altLang="zh-TW" sz="2000" b="1" dirty="0"/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</a:t>
            </a:r>
            <a:r>
              <a:rPr lang="en-US" altLang="zh-TW" sz="2000" b="1" dirty="0" smtClean="0"/>
              <a:t>		          signal </a:t>
            </a:r>
            <a:r>
              <a:rPr lang="en-US" altLang="zh-TW" sz="2000" b="1" dirty="0"/>
              <a:t>(S); 	</a:t>
            </a:r>
            <a:r>
              <a:rPr lang="en-US" altLang="zh-TW" sz="2000" b="1" dirty="0" smtClean="0"/>
              <a:t>               </a:t>
            </a:r>
            <a:r>
              <a:rPr lang="en-US" altLang="zh-TW" sz="2000" b="1" dirty="0"/>
              <a:t>	signal (Q);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 smtClean="0"/>
              <a:t>    </a:t>
            </a:r>
            <a:r>
              <a:rPr lang="en-US" altLang="zh-TW" sz="2000" b="1" dirty="0"/>
              <a:t>		       </a:t>
            </a:r>
            <a:r>
              <a:rPr lang="en-US" altLang="zh-TW" sz="2000" b="1" dirty="0" smtClean="0"/>
              <a:t>		          </a:t>
            </a:r>
            <a:r>
              <a:rPr lang="en-US" altLang="zh-TW" sz="2000" b="1" dirty="0"/>
              <a:t>signal (Q); 	</a:t>
            </a:r>
            <a:r>
              <a:rPr lang="en-US" altLang="zh-TW" sz="2000" b="1" dirty="0" smtClean="0"/>
              <a:t>                signal </a:t>
            </a:r>
            <a:r>
              <a:rPr lang="en-US" altLang="zh-TW" sz="2000" b="1" dirty="0"/>
              <a:t>(S);</a:t>
            </a:r>
          </a:p>
          <a:p>
            <a:pPr>
              <a:lnSpc>
                <a:spcPct val="110000"/>
              </a:lnSpc>
              <a:spcBef>
                <a:spcPts val="2400"/>
              </a:spcBef>
              <a:tabLst>
                <a:tab pos="1882775" algn="ctr"/>
                <a:tab pos="4568825" algn="ctr"/>
              </a:tabLst>
            </a:pPr>
            <a:r>
              <a:rPr lang="en-US" altLang="en-US" sz="2400" dirty="0" smtClean="0">
                <a:sym typeface="MT Extra" panose="05050102010205020202" pitchFamily="18" charset="2"/>
              </a:rPr>
              <a:t>Now, </a:t>
            </a:r>
            <a:r>
              <a:rPr lang="en-US" altLang="en-US" sz="2400" i="1" dirty="0">
                <a:solidFill>
                  <a:srgbClr val="000000"/>
                </a:solidFill>
              </a:rPr>
              <a:t>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0 </a:t>
            </a:r>
            <a:r>
              <a:rPr lang="en-US" altLang="en-US" sz="2400" dirty="0">
                <a:sym typeface="MT Extra" panose="05050102010205020202" pitchFamily="18" charset="2"/>
              </a:rPr>
              <a:t>and </a:t>
            </a:r>
            <a:r>
              <a:rPr lang="en-US" altLang="en-US" sz="2400" i="1" dirty="0">
                <a:solidFill>
                  <a:srgbClr val="000000"/>
                </a:solidFill>
              </a:rPr>
              <a:t>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ym typeface="MT Extra" panose="05050102010205020202" pitchFamily="18" charset="2"/>
              </a:rPr>
              <a:t>are </a:t>
            </a:r>
            <a:r>
              <a:rPr lang="en-US" altLang="en-US" sz="2400" b="1" dirty="0">
                <a:sym typeface="MT Extra" panose="05050102010205020202" pitchFamily="18" charset="2"/>
              </a:rPr>
              <a:t>deadlocked</a:t>
            </a:r>
            <a:r>
              <a:rPr lang="en-US" altLang="en-US" sz="2400" dirty="0">
                <a:sym typeface="MT Extra" panose="05050102010205020202" pitchFamily="18" charset="2"/>
              </a:rPr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altLang="zh-TW" sz="2000" b="1" dirty="0"/>
          </a:p>
        </p:txBody>
      </p:sp>
      <p:sp>
        <p:nvSpPr>
          <p:cNvPr id="2" name="圓角矩形 1"/>
          <p:cNvSpPr/>
          <p:nvPr/>
        </p:nvSpPr>
        <p:spPr>
          <a:xfrm>
            <a:off x="3719736" y="3140968"/>
            <a:ext cx="3960440" cy="230425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297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Priority Inversion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1464" y="1196976"/>
            <a:ext cx="936104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3647728" y="3861048"/>
            <a:ext cx="360040" cy="2880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474795" y="3860916"/>
            <a:ext cx="360040" cy="2880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248128" y="3861048"/>
            <a:ext cx="360040" cy="2880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199384" y="3860916"/>
            <a:ext cx="448343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8447821" y="3825082"/>
            <a:ext cx="1392595" cy="323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697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Your solution?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20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Solution: Priority Inheritance Protocol (PIP)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9416" y="1484784"/>
            <a:ext cx="10153127" cy="467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90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0000"/>
                </a:solidFill>
              </a:rPr>
              <a:t>Lock-Free</a:t>
            </a:r>
            <a:r>
              <a:rPr lang="en-US" altLang="zh-TW" sz="2800" dirty="0" smtClean="0"/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Programming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559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Lock-Free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Previously, we use </a:t>
            </a:r>
            <a:r>
              <a:rPr lang="en-US" altLang="zh-TW" b="1" dirty="0" smtClean="0"/>
              <a:t>compare-and-swap</a:t>
            </a:r>
            <a:r>
              <a:rPr lang="en-US" altLang="zh-TW" dirty="0" smtClean="0"/>
              <a:t> or </a:t>
            </a:r>
            <a:r>
              <a:rPr lang="en-US" altLang="zh-TW" b="1" dirty="0" smtClean="0"/>
              <a:t>test-and-set</a:t>
            </a:r>
            <a:r>
              <a:rPr lang="en-US" altLang="zh-TW" dirty="0" smtClean="0"/>
              <a:t> to implement lock-based (mutex, semaphore..) synchronization tools</a:t>
            </a:r>
          </a:p>
          <a:p>
            <a:pPr>
              <a:lnSpc>
                <a:spcPct val="110000"/>
              </a:lnSpc>
            </a:pPr>
            <a:r>
              <a:rPr lang="en-US" altLang="zh-TW" dirty="0" smtClean="0"/>
              <a:t>Recently, a focus on using </a:t>
            </a:r>
            <a:r>
              <a:rPr lang="en-US" altLang="zh-TW" b="1" dirty="0" smtClean="0"/>
              <a:t>CAS(compare-and-swap) </a:t>
            </a:r>
            <a:r>
              <a:rPr lang="en-US" altLang="zh-TW" dirty="0" smtClean="0"/>
              <a:t>to construct </a:t>
            </a:r>
            <a:r>
              <a:rPr lang="en-US" altLang="zh-TW" b="1" dirty="0" smtClean="0">
                <a:solidFill>
                  <a:srgbClr val="FF0000"/>
                </a:solidFill>
              </a:rPr>
              <a:t>lock-free </a:t>
            </a:r>
            <a:r>
              <a:rPr lang="en-US" altLang="zh-TW" b="1" dirty="0">
                <a:solidFill>
                  <a:srgbClr val="FF0000"/>
                </a:solidFill>
              </a:rPr>
              <a:t>programming </a:t>
            </a:r>
          </a:p>
          <a:p>
            <a:pPr>
              <a:lnSpc>
                <a:spcPct val="110000"/>
              </a:lnSpc>
            </a:pPr>
            <a:r>
              <a:rPr lang="en-US" altLang="zh-TW" dirty="0" smtClean="0"/>
              <a:t>Comparisons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Lock-based scheme: an </a:t>
            </a:r>
            <a:r>
              <a:rPr lang="en-US" altLang="zh-TW" b="1" dirty="0" smtClean="0"/>
              <a:t>pessimistic</a:t>
            </a:r>
            <a:r>
              <a:rPr lang="en-US" altLang="zh-TW" dirty="0" smtClean="0"/>
              <a:t> scheme</a:t>
            </a:r>
          </a:p>
          <a:p>
            <a:pPr lvl="2">
              <a:lnSpc>
                <a:spcPct val="110000"/>
              </a:lnSpc>
            </a:pPr>
            <a:r>
              <a:rPr lang="zh-TW" altLang="en-US" dirty="0" smtClean="0"/>
              <a:t>先取得</a:t>
            </a:r>
            <a:r>
              <a:rPr lang="en-US" altLang="zh-TW" dirty="0" smtClean="0"/>
              <a:t>Lock</a:t>
            </a:r>
            <a:r>
              <a:rPr lang="zh-TW" altLang="en-US" dirty="0" smtClean="0"/>
              <a:t>，不管會不會發生</a:t>
            </a:r>
            <a:r>
              <a:rPr lang="en-US" altLang="zh-TW" dirty="0" smtClean="0"/>
              <a:t>race condition</a:t>
            </a:r>
          </a:p>
          <a:p>
            <a:pPr lvl="1">
              <a:lnSpc>
                <a:spcPct val="11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lock-free programming</a:t>
            </a:r>
            <a:r>
              <a:rPr lang="en-US" altLang="zh-TW" dirty="0" smtClean="0">
                <a:solidFill>
                  <a:srgbClr val="FF0000"/>
                </a:solidFill>
              </a:rPr>
              <a:t>:</a:t>
            </a:r>
            <a:r>
              <a:rPr lang="en-US" altLang="zh-TW" dirty="0" smtClean="0"/>
              <a:t> an </a:t>
            </a:r>
            <a:r>
              <a:rPr lang="en-US" altLang="zh-TW" b="1" dirty="0" smtClean="0"/>
              <a:t>optimistic</a:t>
            </a:r>
            <a:r>
              <a:rPr lang="en-US" altLang="zh-TW" dirty="0" smtClean="0"/>
              <a:t> scheme</a:t>
            </a:r>
          </a:p>
          <a:p>
            <a:pPr lvl="2">
              <a:lnSpc>
                <a:spcPct val="110000"/>
              </a:lnSpc>
            </a:pPr>
            <a:r>
              <a:rPr lang="zh-TW" altLang="en-US" dirty="0" smtClean="0"/>
              <a:t>先執行，如果之後有問題</a:t>
            </a:r>
            <a:r>
              <a:rPr lang="en-US" altLang="zh-TW" dirty="0" smtClean="0"/>
              <a:t>(</a:t>
            </a:r>
            <a:r>
              <a:rPr lang="zh-TW" altLang="en-US" dirty="0" smtClean="0"/>
              <a:t>發生</a:t>
            </a:r>
            <a:r>
              <a:rPr lang="en-US" altLang="zh-TW" dirty="0" smtClean="0"/>
              <a:t>conflict)</a:t>
            </a:r>
            <a:r>
              <a:rPr lang="zh-TW" altLang="en-US" dirty="0" smtClean="0"/>
              <a:t>，則重新嘗試！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940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Using </a:t>
            </a:r>
            <a:r>
              <a:rPr lang="en-US" altLang="zh-TW" dirty="0" err="1" smtClean="0"/>
              <a:t>compare_and_swap</a:t>
            </a:r>
            <a:r>
              <a:rPr lang="en-US" altLang="zh-TW" dirty="0" smtClean="0"/>
              <a:t> to Implement increment()</a:t>
            </a:r>
            <a:endParaRPr lang="zh-TW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775520" y="2132856"/>
            <a:ext cx="936104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void increment(</a:t>
            </a:r>
            <a:r>
              <a:rPr kumimoji="1" lang="en-US" altLang="zh-TW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atomic_int</a:t>
            </a: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*v)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{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</a:t>
            </a:r>
            <a:r>
              <a:rPr kumimoji="1" lang="en-US" altLang="zh-TW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int</a:t>
            </a: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temp;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/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do {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	temp = *v;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}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while (temp != (</a:t>
            </a:r>
            <a:r>
              <a:rPr kumimoji="1" lang="en-US" altLang="zh-TW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compare_and_swap</a:t>
            </a: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(v,temp,temp+1));</a:t>
            </a:r>
            <a:b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</a:br>
            <a:r>
              <a:rPr kumimoji="1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} </a:t>
            </a:r>
            <a:endParaRPr kumimoji="1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711624" y="5455096"/>
            <a:ext cx="6348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Implementation of increment() operation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5006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複習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r>
              <a:rPr lang="en-US" altLang="zh-TW" dirty="0" smtClean="0"/>
              <a:t>  </a:t>
            </a:r>
            <a:r>
              <a:rPr lang="en-US" altLang="zh-TW" dirty="0" smtClean="0"/>
              <a:t>Instruction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Definition. </a:t>
            </a:r>
          </a:p>
          <a:p>
            <a:pPr eaLnBrk="1" hangingPunct="1">
              <a:buFontTx/>
              <a:buNone/>
            </a:pPr>
            <a:r>
              <a:rPr lang="en-US" altLang="zh-TW" dirty="0" smtClean="0"/>
              <a:t>		</a:t>
            </a:r>
            <a:r>
              <a:rPr lang="en-US" altLang="zh-TW" sz="2000" b="1" dirty="0" err="1" smtClean="0">
                <a:solidFill>
                  <a:srgbClr val="0000FF"/>
                </a:solidFill>
              </a:rPr>
              <a:t>int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2000" b="1" dirty="0" err="1">
                <a:solidFill>
                  <a:srgbClr val="0000FF"/>
                </a:solidFill>
              </a:rPr>
              <a:t>compare_and_swap</a:t>
            </a:r>
            <a:r>
              <a:rPr lang="en-US" altLang="zh-TW" sz="2000" b="1" dirty="0">
                <a:solidFill>
                  <a:srgbClr val="0000FF"/>
                </a:solidFill>
              </a:rPr>
              <a:t>(</a:t>
            </a:r>
            <a:r>
              <a:rPr lang="en-US" altLang="zh-TW" sz="2000" b="1" dirty="0" err="1">
                <a:solidFill>
                  <a:srgbClr val="0000FF"/>
                </a:solidFill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</a:rPr>
              <a:t> *value, </a:t>
            </a:r>
            <a:r>
              <a:rPr lang="en-US" altLang="zh-TW" sz="2000" b="1" dirty="0" err="1">
                <a:solidFill>
                  <a:srgbClr val="0000FF"/>
                </a:solidFill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</a:rPr>
              <a:t> expected, </a:t>
            </a:r>
            <a:r>
              <a:rPr lang="en-US" altLang="zh-TW" sz="2000" b="1" dirty="0" err="1">
                <a:solidFill>
                  <a:srgbClr val="0000FF"/>
                </a:solidFill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</a:rPr>
              <a:t> </a:t>
            </a:r>
            <a:r>
              <a:rPr lang="en-US" altLang="zh-TW" sz="2000" b="1" dirty="0" err="1">
                <a:solidFill>
                  <a:srgbClr val="0000FF"/>
                </a:solidFill>
              </a:rPr>
              <a:t>new_value</a:t>
            </a:r>
            <a:r>
              <a:rPr lang="en-US" altLang="zh-TW" sz="2000" b="1" dirty="0">
                <a:solidFill>
                  <a:srgbClr val="0000FF"/>
                </a:solidFill>
              </a:rPr>
              <a:t>)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TW" sz="2000" b="1" dirty="0">
                <a:solidFill>
                  <a:srgbClr val="0000FF"/>
                </a:solidFill>
              </a:rPr>
              <a:t>	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	{</a:t>
            </a:r>
            <a:endParaRPr lang="en-US" altLang="zh-TW" sz="2000" b="1" dirty="0">
              <a:solidFill>
                <a:srgbClr val="0000FF"/>
              </a:solidFill>
            </a:endParaRP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</a:rPr>
              <a:t>		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	</a:t>
            </a:r>
            <a:r>
              <a:rPr lang="en-US" altLang="zh-TW" sz="2000" b="1" dirty="0" err="1" smtClean="0">
                <a:solidFill>
                  <a:srgbClr val="0000FF"/>
                </a:solidFill>
                <a:cs typeface="Courier New" pitchFamily="49" charset="0"/>
              </a:rPr>
              <a:t>int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temp = *value; </a:t>
            </a: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   		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	if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(*value == expected) </a:t>
            </a: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		    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		 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*value = </a:t>
            </a:r>
            <a:r>
              <a:rPr lang="en-US" altLang="zh-TW" sz="2000" b="1" dirty="0" err="1">
                <a:solidFill>
                  <a:srgbClr val="0000FF"/>
                </a:solidFill>
                <a:cs typeface="Courier New" pitchFamily="49" charset="0"/>
              </a:rPr>
              <a:t>new_value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; </a:t>
            </a:r>
          </a:p>
          <a:p>
            <a:pPr>
              <a:buNone/>
              <a:tabLst>
                <a:tab pos="1060450" algn="l"/>
                <a:tab pos="1462088" algn="l"/>
                <a:tab pos="1798638" algn="l"/>
              </a:tabLst>
            </a:pP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		</a:t>
            </a:r>
            <a:r>
              <a:rPr lang="en-US" altLang="zh-TW" sz="2000" b="1" dirty="0" smtClean="0">
                <a:solidFill>
                  <a:srgbClr val="0000FF"/>
                </a:solidFill>
                <a:cs typeface="Courier New" pitchFamily="49" charset="0"/>
              </a:rPr>
              <a:t>	return </a:t>
            </a:r>
            <a:r>
              <a:rPr lang="en-US" altLang="zh-TW" sz="2000" b="1" dirty="0">
                <a:solidFill>
                  <a:srgbClr val="0000FF"/>
                </a:solidFill>
                <a:cs typeface="Courier New" pitchFamily="49" charset="0"/>
              </a:rPr>
              <a:t>temp; </a:t>
            </a:r>
          </a:p>
          <a:p>
            <a:pPr eaLnBrk="1" hangingPunct="1">
              <a:buFontTx/>
              <a:buNone/>
            </a:pPr>
            <a:r>
              <a:rPr lang="en-US" altLang="zh-TW" sz="2000" b="1" dirty="0">
                <a:solidFill>
                  <a:srgbClr val="0000FF"/>
                </a:solidFill>
              </a:rPr>
              <a:t>	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	}</a:t>
            </a:r>
            <a:endParaRPr lang="en-US" altLang="zh-TW" sz="2000" b="1" dirty="0">
              <a:solidFill>
                <a:srgbClr val="0000FF"/>
              </a:solidFill>
            </a:endParaRPr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 flipH="1">
            <a:off x="1229072" y="3861049"/>
            <a:ext cx="360040" cy="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1229073" y="3861048"/>
            <a:ext cx="0" cy="124152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>
            <a:off x="1232338" y="5102521"/>
            <a:ext cx="3959994" cy="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5343872" y="4904084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Done by a single instruction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407368" y="5797032"/>
            <a:ext cx="11370891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If the </a:t>
            </a:r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“value” </a:t>
            </a:r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matches “expected”, write “</a:t>
            </a:r>
            <a:r>
              <a:rPr lang="en-US" altLang="zh-TW" sz="2400" dirty="0" err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new_value</a:t>
            </a:r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” into </a:t>
            </a:r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value! Finally, return value</a:t>
            </a:r>
            <a:endParaRPr lang="en-US" altLang="zh-TW" sz="2400" b="1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824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/>
          </p:nvPr>
        </p:nvGraphicFramePr>
        <p:xfrm>
          <a:off x="479376" y="836712"/>
          <a:ext cx="10972800" cy="5730240"/>
        </p:xfrm>
        <a:graphic>
          <a:graphicData uri="http://schemas.openxmlformats.org/drawingml/2006/table">
            <a:tbl>
              <a:tblPr/>
              <a:tblGrid>
                <a:gridCol w="582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 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 2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*v (=counter) = 5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*v (=counter) = 5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5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compare_and_swap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(v, temp, temp+1);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// *v (=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counter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) = temp+1 = 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6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; return 5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compare_and_swap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(v(=6), temp(=5), temp+1);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// *v != temp, v = 6, return 6;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temp != 6; while()</a:t>
                      </a:r>
                      <a:r>
                        <a:rPr kumimoji="1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Courier New" pitchFamily="49" charset="0"/>
                        </a:rPr>
                        <a:t>成立 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(busy waiting)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*v (=counter) = 6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temp = 5; return </a:t>
                      </a:r>
                      <a:r>
                        <a:rPr kumimoji="1" lang="zh-TW" alt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也是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5, while ()</a:t>
                      </a:r>
                      <a:r>
                        <a:rPr kumimoji="1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不成立</a:t>
                      </a: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9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increment() </a:t>
                      </a:r>
                      <a:r>
                        <a:rPr kumimoji="1" lang="zh-TW" altLang="en-US" sz="18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完成</a:t>
                      </a:r>
                      <a:endParaRPr kumimoji="1" lang="en-US" altLang="zh-TW" sz="1800" b="1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Continue to the following instruction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compare_and_swap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(v, temp, temp+1);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// *v (=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counter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) = temp+1=</a:t>
                      </a:r>
                      <a:r>
                        <a:rPr kumimoji="1" lang="en-US" altLang="zh-TW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7</a:t>
                      </a: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, return 6;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temp == 6; 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while ()</a:t>
                      </a:r>
                      <a:r>
                        <a:rPr kumimoji="1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不成立</a:t>
                      </a:r>
                      <a:endParaRPr kumimoji="1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increment() </a:t>
                      </a:r>
                      <a:r>
                        <a:rPr kumimoji="1" lang="zh-TW" altLang="en-US" sz="18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itchFamily="18" charset="0"/>
                        </a:rPr>
                        <a:t>完成</a:t>
                      </a:r>
                      <a:endParaRPr kumimoji="1" lang="en-US" altLang="zh-TW" sz="18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itchFamily="18" charset="-120"/>
                          <a:cs typeface="Courier New" pitchFamily="49" charset="0"/>
                        </a:rPr>
                        <a:t>Continue to the following instruction</a:t>
                      </a: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109728" marR="109728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51384" y="-99392"/>
            <a:ext cx="10972800" cy="93610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800">
                <a:effectLst/>
              </a:rPr>
              <a:t>Example</a:t>
            </a:r>
            <a:r>
              <a:rPr lang="en-US" altLang="zh-TW" sz="2800" smtClean="0">
                <a:effectLst/>
              </a:rPr>
              <a:t>: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1800" dirty="0" smtClean="0">
                <a:cs typeface="Calibri" pitchFamily="34" charset="0"/>
              </a:rPr>
              <a:t>*</a:t>
            </a:r>
            <a:r>
              <a:rPr lang="en-US" altLang="zh-TW" sz="1800" i="1" dirty="0">
                <a:cs typeface="Calibri" pitchFamily="34" charset="0"/>
              </a:rPr>
              <a:t>counter</a:t>
            </a:r>
            <a:r>
              <a:rPr lang="en-US" altLang="zh-TW" sz="1800" dirty="0">
                <a:cs typeface="Calibri" pitchFamily="34" charset="0"/>
              </a:rPr>
              <a:t> = 5, c</a:t>
            </a:r>
            <a:r>
              <a:rPr lang="en-US" altLang="zh-TW" sz="1800" dirty="0"/>
              <a:t>alling increment(), the result is 7 </a:t>
            </a:r>
            <a:r>
              <a:rPr lang="en-US" altLang="zh-TW" sz="1800" dirty="0" smtClean="0">
                <a:effectLst/>
              </a:rPr>
              <a:t> </a:t>
            </a:r>
            <a:endParaRPr lang="en-US" altLang="zh-TW" sz="1800" dirty="0">
              <a:effectLst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80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Critical-Section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Peterson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Hardware Support for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err="1"/>
              <a:t>Mutex</a:t>
            </a:r>
            <a:r>
              <a:rPr lang="en-US" altLang="zh-TW" sz="2800" dirty="0"/>
              <a:t> 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Semaphores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Monitors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Lock-free programming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Evaluation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317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那要使用</a:t>
            </a:r>
            <a:r>
              <a:rPr lang="en-US" altLang="zh-TW" dirty="0" smtClean="0"/>
              <a:t>lock-based scheme</a:t>
            </a:r>
            <a:r>
              <a:rPr lang="zh-TW" altLang="en-US" dirty="0" smtClean="0"/>
              <a:t>或是</a:t>
            </a:r>
            <a:r>
              <a:rPr lang="en-US" altLang="zh-TW" dirty="0" smtClean="0"/>
              <a:t>lock-free programming?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537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Evaluation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TW" sz="3600" dirty="0" smtClean="0"/>
              <a:t>Thus, depend on contention loads</a:t>
            </a:r>
          </a:p>
          <a:p>
            <a:pPr lvl="1">
              <a:spcBef>
                <a:spcPts val="600"/>
              </a:spcBef>
            </a:pPr>
            <a:r>
              <a:rPr lang="en-US" altLang="zh-TW" sz="3200" b="1" dirty="0" smtClean="0"/>
              <a:t>Uncontended</a:t>
            </a:r>
            <a:r>
              <a:rPr lang="en-US" altLang="zh-TW" sz="3200" dirty="0" smtClean="0"/>
              <a:t>: lock-free programming is better</a:t>
            </a:r>
          </a:p>
          <a:p>
            <a:pPr lvl="1">
              <a:spcBef>
                <a:spcPts val="600"/>
              </a:spcBef>
            </a:pPr>
            <a:r>
              <a:rPr lang="en-US" altLang="zh-TW" sz="3200" b="1" dirty="0" smtClean="0"/>
              <a:t>Moderate contention</a:t>
            </a:r>
            <a:r>
              <a:rPr lang="en-US" altLang="zh-TW" sz="3200" dirty="0" smtClean="0"/>
              <a:t>: </a:t>
            </a:r>
            <a:r>
              <a:rPr lang="en-US" altLang="zh-TW" sz="3200" dirty="0"/>
              <a:t>lock-free programming is </a:t>
            </a:r>
            <a:r>
              <a:rPr lang="en-US" altLang="zh-TW" sz="3200" dirty="0" smtClean="0"/>
              <a:t>better</a:t>
            </a:r>
          </a:p>
          <a:p>
            <a:pPr lvl="2">
              <a:spcBef>
                <a:spcPts val="600"/>
              </a:spcBef>
            </a:pPr>
            <a:r>
              <a:rPr lang="en-US" altLang="zh-TW" sz="2800" dirty="0" smtClean="0"/>
              <a:t>Using synchronization scheme to acquire a contended lock result in a more time-consuming </a:t>
            </a:r>
            <a:r>
              <a:rPr lang="en-US" altLang="zh-TW" sz="2800" dirty="0"/>
              <a:t>code path</a:t>
            </a:r>
          </a:p>
          <a:p>
            <a:pPr lvl="2">
              <a:spcBef>
                <a:spcPts val="600"/>
              </a:spcBef>
            </a:pPr>
            <a:r>
              <a:rPr lang="en-US" altLang="zh-TW" sz="2800" dirty="0" smtClean="0"/>
              <a:t>Suspend a thread, place it on a wait queue, and context switch to another thread</a:t>
            </a:r>
          </a:p>
          <a:p>
            <a:pPr lvl="1">
              <a:spcBef>
                <a:spcPts val="600"/>
              </a:spcBef>
            </a:pPr>
            <a:r>
              <a:rPr lang="en-US" altLang="zh-TW" sz="3200" b="1" dirty="0" smtClean="0"/>
              <a:t>High contention</a:t>
            </a:r>
            <a:r>
              <a:rPr lang="en-US" altLang="zh-TW" sz="3200" dirty="0" smtClean="0"/>
              <a:t>: traditional synchronization methods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49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此外</a:t>
            </a:r>
            <a:r>
              <a:rPr lang="en-US" altLang="zh-TW" dirty="0" smtClean="0"/>
              <a:t>, </a:t>
            </a:r>
            <a:r>
              <a:rPr lang="zh-TW" altLang="en-US" dirty="0" smtClean="0"/>
              <a:t>介紹了這麼多</a:t>
            </a:r>
            <a:r>
              <a:rPr lang="en-US" altLang="zh-TW" dirty="0" smtClean="0"/>
              <a:t>synchronization</a:t>
            </a:r>
            <a:r>
              <a:rPr lang="zh-TW" altLang="en-US" dirty="0" smtClean="0"/>
              <a:t>的方法</a:t>
            </a:r>
            <a:r>
              <a:rPr lang="en-US" altLang="zh-TW" dirty="0" smtClean="0"/>
              <a:t>, </a:t>
            </a:r>
            <a:r>
              <a:rPr lang="zh-TW" altLang="en-US" dirty="0" smtClean="0"/>
              <a:t>那我們要使用哪一種方法呢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444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Evaluation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If using synchronization scheme, when to use </a:t>
            </a:r>
            <a:r>
              <a:rPr lang="en-US" altLang="zh-TW" b="1" dirty="0" smtClean="0">
                <a:solidFill>
                  <a:srgbClr val="FF0000"/>
                </a:solidFill>
              </a:rPr>
              <a:t>which</a:t>
            </a:r>
            <a:r>
              <a:rPr lang="en-US" altLang="zh-TW" dirty="0"/>
              <a:t> </a:t>
            </a:r>
            <a:r>
              <a:rPr lang="en-US" altLang="zh-TW" dirty="0" smtClean="0"/>
              <a:t>synchronization tool?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Atomic variables </a:t>
            </a:r>
            <a:r>
              <a:rPr lang="en-US" altLang="zh-TW" dirty="0" smtClean="0"/>
              <a:t>are much </a:t>
            </a:r>
            <a:r>
              <a:rPr lang="en-US" altLang="zh-TW" b="1" dirty="0" smtClean="0">
                <a:solidFill>
                  <a:srgbClr val="FF0000"/>
                </a:solidFill>
              </a:rPr>
              <a:t>lighter </a:t>
            </a:r>
            <a:r>
              <a:rPr lang="en-US" altLang="zh-TW" dirty="0" smtClean="0"/>
              <a:t>than mutex or semaphores for single updates to shared simple variables, e.g., integers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Spinlock</a:t>
            </a:r>
            <a:r>
              <a:rPr lang="en-US" altLang="zh-TW" dirty="0" smtClean="0"/>
              <a:t> are used on MP if CS is short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Mutex locks </a:t>
            </a:r>
            <a:r>
              <a:rPr lang="en-US" altLang="zh-TW" dirty="0" smtClean="0"/>
              <a:t>are simpler and less overhead than (binary) semaphores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Counter </a:t>
            </a:r>
            <a:r>
              <a:rPr lang="en-US" altLang="zh-TW" b="1" dirty="0"/>
              <a:t>semaphore </a:t>
            </a:r>
            <a:r>
              <a:rPr lang="en-US" altLang="zh-TW" dirty="0"/>
              <a:t>is </a:t>
            </a:r>
            <a:r>
              <a:rPr lang="en-US" altLang="zh-TW" smtClean="0"/>
              <a:t>used if </a:t>
            </a:r>
            <a:r>
              <a:rPr lang="en-US" altLang="zh-TW" dirty="0" smtClean="0"/>
              <a:t>controlling access to </a:t>
            </a:r>
            <a:r>
              <a:rPr lang="en-US" altLang="zh-TW" b="1" dirty="0" smtClean="0">
                <a:solidFill>
                  <a:srgbClr val="FF0000"/>
                </a:solidFill>
              </a:rPr>
              <a:t>a number of </a:t>
            </a:r>
            <a:r>
              <a:rPr lang="en-US" altLang="zh-TW" dirty="0" smtClean="0"/>
              <a:t>resources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Read-writer locks </a:t>
            </a:r>
            <a:r>
              <a:rPr lang="en-US" altLang="zh-TW" dirty="0" smtClean="0"/>
              <a:t>are preferred over a mutex lock since it allows a higher degree of concurrency </a:t>
            </a:r>
            <a:r>
              <a:rPr lang="en-US" altLang="zh-TW" sz="2300" dirty="0"/>
              <a:t>(introduced in Chapter 7)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Monitor and condition variables </a:t>
            </a:r>
            <a:r>
              <a:rPr lang="en-US" altLang="zh-TW" dirty="0" smtClean="0"/>
              <a:t>may have significant overhead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8332E-BC01-4448-8CFF-D9751CFACD80}" type="slidenum">
              <a:rPr lang="en-US" altLang="zh-TW" smtClean="0"/>
              <a:pPr>
                <a:defRPr/>
              </a:pPr>
              <a:t>246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509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20887</TotalTime>
  <Words>8589</Words>
  <Application>Microsoft Office PowerPoint</Application>
  <PresentationFormat>寬螢幕</PresentationFormat>
  <Paragraphs>2170</Paragraphs>
  <Slides>246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246</vt:i4>
      </vt:variant>
    </vt:vector>
  </HeadingPairs>
  <TitlesOfParts>
    <vt:vector size="267" baseType="lpstr">
      <vt:lpstr>Aptos</vt:lpstr>
      <vt:lpstr>Aptos Display</vt:lpstr>
      <vt:lpstr>Arial Unicode MS</vt:lpstr>
      <vt:lpstr>Monotype Sorts</vt:lpstr>
      <vt:lpstr>MS PGothic</vt:lpstr>
      <vt:lpstr>微軟正黑體</vt:lpstr>
      <vt:lpstr>新細明體</vt:lpstr>
      <vt:lpstr>標楷體</vt:lpstr>
      <vt:lpstr>Agency FB</vt:lpstr>
      <vt:lpstr>Arial</vt:lpstr>
      <vt:lpstr>Calibri</vt:lpstr>
      <vt:lpstr>Courier New</vt:lpstr>
      <vt:lpstr>Helvetica</vt:lpstr>
      <vt:lpstr>MT Extra</vt:lpstr>
      <vt:lpstr>Symbol</vt:lpstr>
      <vt:lpstr>Times New Roman</vt:lpstr>
      <vt:lpstr>Trebuchet MS</vt:lpstr>
      <vt:lpstr>Wingdings</vt:lpstr>
      <vt:lpstr>osnetppt</vt:lpstr>
      <vt:lpstr>Office 佈景主題</vt:lpstr>
      <vt:lpstr>1_Office 佈景主題</vt:lpstr>
      <vt:lpstr>Chapter 6   Process Synchronization</vt:lpstr>
      <vt:lpstr>Outline</vt:lpstr>
      <vt:lpstr>Background</vt:lpstr>
      <vt:lpstr>資料結構</vt:lpstr>
      <vt:lpstr>程式碼: Producer Process/Thread</vt:lpstr>
      <vt:lpstr>程式碼: Consumer Process/Thread</vt:lpstr>
      <vt:lpstr>然而, 上述的程式有Bug!</vt:lpstr>
      <vt:lpstr>Background</vt:lpstr>
      <vt:lpstr>可能的執行結果(Cont.)</vt:lpstr>
      <vt:lpstr>你看的出來問題在哪裡嗎?</vt:lpstr>
      <vt:lpstr>結論: Concurrent access to shared data may result in data inconsistency</vt:lpstr>
      <vt:lpstr>注意: 不是每一次執行都會出錯</vt:lpstr>
      <vt:lpstr>可能的執行結果(Cont.)</vt:lpstr>
      <vt:lpstr>Race Condition</vt:lpstr>
      <vt:lpstr>複習: 第三章 IPC</vt:lpstr>
      <vt:lpstr>複習: Shared Memory</vt:lpstr>
      <vt:lpstr>複習: 在第四章, 我們提到threads共享data section有時候會出問題</vt:lpstr>
      <vt:lpstr>複習: 第四章提到Nonpreemptive v.s Preemptive</vt:lpstr>
      <vt:lpstr>複習: 第四章提到Approaches to Multiple-Processor Scheduling (Cont.)</vt:lpstr>
      <vt:lpstr>Organizations of Ready Queue in SMP</vt:lpstr>
      <vt:lpstr>Q: 怎麼辦呢?</vt:lpstr>
      <vt:lpstr>Q: 怎麼辦呢?</vt:lpstr>
      <vt:lpstr>Outline</vt:lpstr>
      <vt:lpstr>Critical Section</vt:lpstr>
      <vt:lpstr>Critical Section Example</vt:lpstr>
      <vt:lpstr>Q: 如何實現上述的目標?</vt:lpstr>
      <vt:lpstr>Q: 改在哪裡呢?</vt:lpstr>
      <vt:lpstr>The Critical Section Problem (Cont.)</vt:lpstr>
      <vt:lpstr>General Structure of a Typical Process</vt:lpstr>
      <vt:lpstr>問題：如何撰寫這兩段程式碼？</vt:lpstr>
      <vt:lpstr>Solution to Critical-Section Problem</vt:lpstr>
      <vt:lpstr>PowerPoint 簡報</vt:lpstr>
      <vt:lpstr>Q: 那到底Entry Section和Exit Section的程式碼要如何寫呢?</vt:lpstr>
      <vt:lpstr>Solutions to Race Conditions</vt:lpstr>
      <vt:lpstr>Outline</vt:lpstr>
      <vt:lpstr>Peterson’s Solution</vt:lpstr>
      <vt:lpstr>Peterson’s Solution</vt:lpstr>
      <vt:lpstr>Peterson’s Algorithm Global View</vt:lpstr>
      <vt:lpstr>讓我們看一個例子</vt:lpstr>
      <vt:lpstr>PowerPoint 簡報</vt:lpstr>
      <vt:lpstr>Q1: In P0(P1), why set turn to 1 (0)? </vt:lpstr>
      <vt:lpstr>PowerPoint 簡報</vt:lpstr>
      <vt:lpstr>Q: 你看的出來上述程式錯在哪裡嗎?</vt:lpstr>
      <vt:lpstr>再看另外一個執行順序</vt:lpstr>
      <vt:lpstr>PowerPoint 簡報</vt:lpstr>
      <vt:lpstr>Q: 你看的出來上述程式錯在哪裡嗎?</vt:lpstr>
      <vt:lpstr>注意: 不是每一次執行都會出錯 (違反Bounded Waiting或是Mutual Exclusion)</vt:lpstr>
      <vt:lpstr>Q2: Is it possible to change the first two statements?</vt:lpstr>
      <vt:lpstr>PowerPoint 簡報</vt:lpstr>
      <vt:lpstr>你看的出來上述程式錯在哪裡嗎?</vt:lpstr>
      <vt:lpstr>注意: 不是每一次執行都會出錯 (違反Mutual Exclusion)</vt:lpstr>
      <vt:lpstr>Q3: 你看得出來flag[]和turn本身可能也有問題嗎?</vt:lpstr>
      <vt:lpstr>Peterson 演算法的假設</vt:lpstr>
      <vt:lpstr>Not Guaranteed to Work on Modern Computer Architecture</vt:lpstr>
      <vt:lpstr>Not Guaranteed to Work on Modern Computer Architecture</vt:lpstr>
      <vt:lpstr>Not Guaranteed to Work on Modern Computer Architecture</vt:lpstr>
      <vt:lpstr>Peterson’s Solution in Current Computer Architecture</vt:lpstr>
      <vt:lpstr>Not Guaranteed to Work on Modern Computer Architecture</vt:lpstr>
      <vt:lpstr>Not Guaranteed to Work on Modern Computer Architecture</vt:lpstr>
      <vt:lpstr>PowerPoint 簡報</vt:lpstr>
      <vt:lpstr>結論: Drawbacks of Software Solutions</vt:lpstr>
      <vt:lpstr>所以, 我們需要新的方法! Q:誰來提供呢?</vt:lpstr>
      <vt:lpstr>Outline</vt:lpstr>
      <vt:lpstr>複習： Solutions to Race Conditions</vt:lpstr>
      <vt:lpstr>Hardware Support for Synchronization</vt:lpstr>
      <vt:lpstr>Outline</vt:lpstr>
      <vt:lpstr>Memory Barriers (Cont.)</vt:lpstr>
      <vt:lpstr>Example of Memory Barriers</vt:lpstr>
      <vt:lpstr>Memory Barriers (Cont.)</vt:lpstr>
      <vt:lpstr>Memory Barriers (Cont.)</vt:lpstr>
      <vt:lpstr>複習： Peterson’s Solution in Current Computer Architecture</vt:lpstr>
      <vt:lpstr>如何使用memory barrier來解決上述問題呢?</vt:lpstr>
      <vt:lpstr>Using Memory Barriers for Peterson’s Solution</vt:lpstr>
      <vt:lpstr>Memory Barriers (Cont.)</vt:lpstr>
      <vt:lpstr>複習: Not Guaranteed to Work on Modern Computer Architecture</vt:lpstr>
      <vt:lpstr>PowerPoint 簡報</vt:lpstr>
      <vt:lpstr>如何使用memory barrier來解決上述問題呢?</vt:lpstr>
      <vt:lpstr>Using Memory Barriers for Peterson’s Solution</vt:lpstr>
      <vt:lpstr>Peterson’s Algorithm Global View</vt:lpstr>
      <vt:lpstr>Memory Barriers</vt:lpstr>
      <vt:lpstr>Outline</vt:lpstr>
      <vt:lpstr>How to Provide Synchronization Tools by Hardware Instruction?</vt:lpstr>
      <vt:lpstr>基本想法</vt:lpstr>
      <vt:lpstr>然而, 上述的程式有問題~</vt:lpstr>
      <vt:lpstr>General Idea (Cont.)</vt:lpstr>
      <vt:lpstr>Why?</vt:lpstr>
      <vt:lpstr>Why Cannot Access Lock by Yourself ? Case 1</vt:lpstr>
      <vt:lpstr>Case 1 (Cont.)</vt:lpstr>
      <vt:lpstr>PowerPoint 簡報</vt:lpstr>
      <vt:lpstr>Why?</vt:lpstr>
      <vt:lpstr>Why Cannot Access Lock by Yourself ? Case 2</vt:lpstr>
      <vt:lpstr>PowerPoint 簡報</vt:lpstr>
      <vt:lpstr>結論</vt:lpstr>
      <vt:lpstr>Q: 怎麼辦呢?</vt:lpstr>
      <vt:lpstr>General Idea (Cont.)</vt:lpstr>
      <vt:lpstr>Atomic Instructions</vt:lpstr>
      <vt:lpstr>第一個instruction是test_and_set</vt:lpstr>
      <vt:lpstr>test_and_set Instruction</vt:lpstr>
      <vt:lpstr>Q: 如何使用test_and_set來解決race condition?</vt:lpstr>
      <vt:lpstr>Mutual-Exclusion using test_and_set</vt:lpstr>
      <vt:lpstr>PowerPoint 簡報</vt:lpstr>
      <vt:lpstr>可以解決之前的問題嗎?</vt:lpstr>
      <vt:lpstr>複習: Case 1</vt:lpstr>
      <vt:lpstr>PowerPoint 簡報</vt:lpstr>
      <vt:lpstr>如前述, test_and_set會確保cache內容的一至性</vt:lpstr>
      <vt:lpstr>複習: Case 2</vt:lpstr>
      <vt:lpstr>複習: Case 2</vt:lpstr>
      <vt:lpstr>如前述, If two atomic instructions are executed simultaneously (each on a different core)  They will be executed sequentially in some arbitrary order</vt:lpstr>
      <vt:lpstr>複習: Case 2</vt:lpstr>
      <vt:lpstr>所以, 真的可以解決前述的問題!</vt:lpstr>
      <vt:lpstr>第二個instruction是compare_and_swap</vt:lpstr>
      <vt:lpstr>compare_and_swap  Instruction</vt:lpstr>
      <vt:lpstr>Q: 如何使用compare_and_swap來解決race condition?</vt:lpstr>
      <vt:lpstr>Mutual-Exclusion using compare_and_swap</vt:lpstr>
      <vt:lpstr>PowerPoint 簡報</vt:lpstr>
      <vt:lpstr>不過, 上述使用test_and_set和compare_and_swap的程式都還有bug~</vt:lpstr>
      <vt:lpstr>Bounded-Waiting with test_and_set()</vt:lpstr>
      <vt:lpstr>PowerPoint 簡報</vt:lpstr>
      <vt:lpstr>Q: 怎麼辦呢?</vt:lpstr>
      <vt:lpstr>Bounded-Waiting with test_and_set()</vt:lpstr>
      <vt:lpstr>PowerPoint 簡報</vt:lpstr>
      <vt:lpstr>你看的出來前面的程式在做什麼嗎?</vt:lpstr>
      <vt:lpstr>Bounded-Waiting with test_and_set()</vt:lpstr>
      <vt:lpstr>PowerPoint 簡報</vt:lpstr>
      <vt:lpstr>However, Using test-and-set and compare-and-swap is still difficult for programmers!</vt:lpstr>
      <vt:lpstr>Outline</vt:lpstr>
      <vt:lpstr>Atomic Variables</vt:lpstr>
      <vt:lpstr>Atomic Variables (Cont.)</vt:lpstr>
      <vt:lpstr>Example: Intel Lock Prefix</vt:lpstr>
      <vt:lpstr>Q: 可是我們目前都使用高階語言寫程式, 怎麼辦呢?</vt:lpstr>
      <vt:lpstr>Atomic Variables (Cont.)</vt:lpstr>
      <vt:lpstr>Using compare_and_swap to Implement atomic variable</vt:lpstr>
      <vt:lpstr>Example: without Atomic Variables (Skip!) </vt:lpstr>
      <vt:lpstr>Example: with Atomic Variables (Skip!) *counter = 5, calling increment(), the result is 7  </vt:lpstr>
      <vt:lpstr>作業系統實驗會有一個Atomic Variable的實驗</vt:lpstr>
      <vt:lpstr>Q: 所有的問題都解決了嗎?</vt:lpstr>
      <vt:lpstr>Atomic Variables (Cont.)</vt:lpstr>
      <vt:lpstr>Outline</vt:lpstr>
      <vt:lpstr>複習： Solutions to Race Conditions</vt:lpstr>
      <vt:lpstr>Problems in Previous Approaches</vt:lpstr>
      <vt:lpstr>複習：基本想法</vt:lpstr>
      <vt:lpstr>複習： General Idea (Cont.)</vt:lpstr>
      <vt:lpstr>前面我們看過如何使用Hardware來保護Lock, 但是太複雜了</vt:lpstr>
      <vt:lpstr>Q: OS如何幫助我們呢?</vt:lpstr>
      <vt:lpstr>Q:結論,怎麼做呢?</vt:lpstr>
      <vt:lpstr>Mutex Locks</vt:lpstr>
      <vt:lpstr>Q: 那acquire()和release()做什麼呢?</vt:lpstr>
      <vt:lpstr>Mutex Locks</vt:lpstr>
      <vt:lpstr>General Idea: Using Mutex Lock</vt:lpstr>
      <vt:lpstr>Race Condition Problem Solved by mutex</vt:lpstr>
      <vt:lpstr>PowerPoint 簡報</vt:lpstr>
      <vt:lpstr>Mutual-Exclusion Implementation with mutex</vt:lpstr>
      <vt:lpstr>Q: 我們可以宣告一個mutex lock, 然後自己存取他嗎? 例如: mutex++; mutex--?</vt:lpstr>
      <vt:lpstr>Q: since mutex is a shared variable, acquire() and release() must be atomically.  那OS如何確保acquire()和release()是atomic system calls?</vt:lpstr>
      <vt:lpstr>簡化版的acquire (Skip!)</vt:lpstr>
      <vt:lpstr>簡化版的release (Skip!)</vt:lpstr>
      <vt:lpstr>Q: 然而, 前述的mutex定義有一個問題, 什麼問題呢?</vt:lpstr>
      <vt:lpstr>Q: 那怎麼辦呢?</vt:lpstr>
      <vt:lpstr>Mutex Implementation</vt:lpstr>
      <vt:lpstr>複習：Various Wait Queues</vt:lpstr>
      <vt:lpstr>New Mutex Locks</vt:lpstr>
      <vt:lpstr>New Mutex Locks</vt:lpstr>
      <vt:lpstr>Mutual-Exclusion Implementation with the New Mutex</vt:lpstr>
      <vt:lpstr>作業系統實驗會有一個Mutex Lock的實驗</vt:lpstr>
      <vt:lpstr>Outline</vt:lpstr>
      <vt:lpstr>前面提到初版的mutex有busy waiting的問題(如下圖)!</vt:lpstr>
      <vt:lpstr>複習: Busy Waiting版本的Mutex Locks</vt:lpstr>
      <vt:lpstr>Example</vt:lpstr>
      <vt:lpstr>所以, 我們定義一個新的synchronization機制: Spin Lock</vt:lpstr>
      <vt:lpstr>Spin Locks</vt:lpstr>
      <vt:lpstr>Q: 那到底何時適合使用Spin Lock呢?</vt:lpstr>
      <vt:lpstr>Spin Locks</vt:lpstr>
      <vt:lpstr>Q1: 為什麼只適用於MP電腦?</vt:lpstr>
      <vt:lpstr>In Single Processor</vt:lpstr>
      <vt:lpstr>Q2: 為什麼只適用於Critical Section短的情形?</vt:lpstr>
      <vt:lpstr>In MP Processor</vt:lpstr>
      <vt:lpstr>In MP Processor</vt:lpstr>
      <vt:lpstr>再看一個例子</vt:lpstr>
      <vt:lpstr>Spinlock Is Only Useful in Short CS and in MP Systems</vt:lpstr>
      <vt:lpstr>作業系統實驗會有一個Spin Lock的實驗</vt:lpstr>
      <vt:lpstr>Outline</vt:lpstr>
      <vt:lpstr>Q: 假設我們有三台印表機, 所以我們希望最多可以同時有三個processes存取印表機</vt:lpstr>
      <vt:lpstr>Outline</vt:lpstr>
      <vt:lpstr>Semaphore</vt:lpstr>
      <vt:lpstr>Semaphore</vt:lpstr>
      <vt:lpstr>OS 必須確保 no two processes can execute wait() and signal() on the same semaphore at the same time </vt:lpstr>
      <vt:lpstr>Semaphore Types</vt:lpstr>
      <vt:lpstr>Outline</vt:lpstr>
      <vt:lpstr>使用semaphore 同樣可以實現mutual exclusion</vt:lpstr>
      <vt:lpstr>Mutual-Exclusion with Binary Semaphores</vt:lpstr>
      <vt:lpstr>General Idea: Mutual-Exclusion with Binary Semaphores</vt:lpstr>
      <vt:lpstr>Mutual-Exclusion with Binary Semaphores</vt:lpstr>
      <vt:lpstr>使用 semaphore 也可以做到不同的事情</vt:lpstr>
      <vt:lpstr>Using Semaphores to Synchronize Processes</vt:lpstr>
      <vt:lpstr>Q: 如何實現呢?</vt:lpstr>
      <vt:lpstr>Using Semaphores to Synchronize Processes</vt:lpstr>
      <vt:lpstr>Using Semaphores to Synchronize Processes</vt:lpstr>
      <vt:lpstr>作業系統實驗會有一Semaphore的實驗</vt:lpstr>
      <vt:lpstr>Outline</vt:lpstr>
      <vt:lpstr>複習： Solutions to Race Conditions</vt:lpstr>
      <vt:lpstr>Outline</vt:lpstr>
      <vt:lpstr>Monitor</vt:lpstr>
      <vt:lpstr>Monitor Structure</vt:lpstr>
      <vt:lpstr>Schematic View of a Monitor</vt:lpstr>
      <vt:lpstr>PowerPoint 簡報</vt:lpstr>
      <vt:lpstr>Monitor (Cont.)</vt:lpstr>
      <vt:lpstr>Q: how to allow a process within a monitor to be blocked until some conditions are satisfied?</vt:lpstr>
      <vt:lpstr>Monitors with Condition Variables</vt:lpstr>
      <vt:lpstr> Monitor with Condition Variables</vt:lpstr>
      <vt:lpstr>PowerPoint 簡報</vt:lpstr>
      <vt:lpstr>Q: When B executes x.signal() that wakes up A Now, both B and A are active ⇨ X</vt:lpstr>
      <vt:lpstr>Monitors with Condition Variables (Cont.)</vt:lpstr>
      <vt:lpstr>Outline</vt:lpstr>
      <vt:lpstr>Q: 如何提供(support)Monitor?</vt:lpstr>
      <vt:lpstr>Q: 觀察一下, 有幾種情形程式會被blocked?</vt:lpstr>
      <vt:lpstr>Implement a Monitor Using Semaphores</vt:lpstr>
      <vt:lpstr>Q: 所以, 我們需 要幾種semaphore呢?</vt:lpstr>
      <vt:lpstr>Implement a Monitor Using Semaphores (Cont.)</vt:lpstr>
      <vt:lpstr>Q: 誰來提供呢?</vt:lpstr>
      <vt:lpstr>Q: 程式怎麼寫呢?</vt:lpstr>
      <vt:lpstr>Implement a Monitor Using Semaphores (Cont.)</vt:lpstr>
      <vt:lpstr>x.wait() and x.signal() Invoke Library------x.wait() and x.signal() are implemented in library</vt:lpstr>
      <vt:lpstr>Example 1: Each external (public) procedure F is replaced</vt:lpstr>
      <vt:lpstr>Example 2: Each external (public) procedure F is replaced</vt:lpstr>
      <vt:lpstr>Example 3: x.wait() and x.signal() Invoke Library</vt:lpstr>
      <vt:lpstr>在下面的例子中，試試看自行追蹤下列變數的值 mutex = 1  , next = 0,  next_count = 0, x_sem = 0, x_count = 0</vt:lpstr>
      <vt:lpstr>PowerPoint 簡報</vt:lpstr>
      <vt:lpstr>Outline</vt:lpstr>
      <vt:lpstr>Resuming Processes Within a Monitor</vt:lpstr>
      <vt:lpstr>作業系統實驗會有一個Java Monitor的實驗</vt:lpstr>
      <vt:lpstr>Outline</vt:lpstr>
      <vt:lpstr>Liveness</vt:lpstr>
      <vt:lpstr>Deadlock</vt:lpstr>
      <vt:lpstr>Priority Inversion</vt:lpstr>
      <vt:lpstr>Q: Your solution?</vt:lpstr>
      <vt:lpstr>Solution: Priority Inheritance Protocol (PIP)</vt:lpstr>
      <vt:lpstr>Outline</vt:lpstr>
      <vt:lpstr>Lock-Free Programming</vt:lpstr>
      <vt:lpstr>Using compare_and_swap to Implement increment()</vt:lpstr>
      <vt:lpstr>複習:compare_and_swap  Instruction</vt:lpstr>
      <vt:lpstr>Example: *counter = 5, calling increment(), the result is 7  </vt:lpstr>
      <vt:lpstr>Outline</vt:lpstr>
      <vt:lpstr>Q: 那要使用lock-based scheme或是lock-free programming?</vt:lpstr>
      <vt:lpstr>Evaluation</vt:lpstr>
      <vt:lpstr>Q: 此外, 介紹了這麼多synchronization的方法, 那我們要使用哪一種方法呢?</vt:lpstr>
      <vt:lpstr>Evaluation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3704</cp:revision>
  <dcterms:created xsi:type="dcterms:W3CDTF">2007-09-05T09:28:55Z</dcterms:created>
  <dcterms:modified xsi:type="dcterms:W3CDTF">2025-11-14T05:18:58Z</dcterms:modified>
</cp:coreProperties>
</file>