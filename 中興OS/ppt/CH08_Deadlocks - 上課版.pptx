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79" r:id="rId2"/>
  </p:sldMasterIdLst>
  <p:notesMasterIdLst>
    <p:notesMasterId r:id="rId74"/>
  </p:notesMasterIdLst>
  <p:sldIdLst>
    <p:sldId id="280" r:id="rId3"/>
    <p:sldId id="281" r:id="rId4"/>
    <p:sldId id="327" r:id="rId5"/>
    <p:sldId id="326" r:id="rId6"/>
    <p:sldId id="378" r:id="rId7"/>
    <p:sldId id="379" r:id="rId8"/>
    <p:sldId id="407" r:id="rId9"/>
    <p:sldId id="381" r:id="rId10"/>
    <p:sldId id="382" r:id="rId11"/>
    <p:sldId id="371" r:id="rId12"/>
    <p:sldId id="328" r:id="rId13"/>
    <p:sldId id="329" r:id="rId14"/>
    <p:sldId id="372" r:id="rId15"/>
    <p:sldId id="331" r:id="rId16"/>
    <p:sldId id="332" r:id="rId17"/>
    <p:sldId id="333" r:id="rId18"/>
    <p:sldId id="373" r:id="rId19"/>
    <p:sldId id="408" r:id="rId20"/>
    <p:sldId id="334" r:id="rId21"/>
    <p:sldId id="374" r:id="rId22"/>
    <p:sldId id="335" r:id="rId23"/>
    <p:sldId id="336" r:id="rId24"/>
    <p:sldId id="337" r:id="rId25"/>
    <p:sldId id="338" r:id="rId26"/>
    <p:sldId id="386" r:id="rId27"/>
    <p:sldId id="387" r:id="rId28"/>
    <p:sldId id="388" r:id="rId29"/>
    <p:sldId id="375" r:id="rId30"/>
    <p:sldId id="339" r:id="rId31"/>
    <p:sldId id="389" r:id="rId32"/>
    <p:sldId id="340" r:id="rId33"/>
    <p:sldId id="343" r:id="rId34"/>
    <p:sldId id="342" r:id="rId35"/>
    <p:sldId id="344" r:id="rId36"/>
    <p:sldId id="349" r:id="rId37"/>
    <p:sldId id="390" r:id="rId38"/>
    <p:sldId id="345" r:id="rId39"/>
    <p:sldId id="402" r:id="rId40"/>
    <p:sldId id="403" r:id="rId41"/>
    <p:sldId id="404" r:id="rId42"/>
    <p:sldId id="391" r:id="rId43"/>
    <p:sldId id="350" r:id="rId44"/>
    <p:sldId id="352" r:id="rId45"/>
    <p:sldId id="353" r:id="rId46"/>
    <p:sldId id="354" r:id="rId47"/>
    <p:sldId id="355" r:id="rId48"/>
    <p:sldId id="356" r:id="rId49"/>
    <p:sldId id="357" r:id="rId50"/>
    <p:sldId id="401" r:id="rId51"/>
    <p:sldId id="358" r:id="rId52"/>
    <p:sldId id="376" r:id="rId53"/>
    <p:sldId id="312" r:id="rId54"/>
    <p:sldId id="392" r:id="rId55"/>
    <p:sldId id="359" r:id="rId56"/>
    <p:sldId id="360" r:id="rId57"/>
    <p:sldId id="393" r:id="rId58"/>
    <p:sldId id="361" r:id="rId59"/>
    <p:sldId id="362" r:id="rId60"/>
    <p:sldId id="363" r:id="rId61"/>
    <p:sldId id="364" r:id="rId62"/>
    <p:sldId id="399" r:id="rId63"/>
    <p:sldId id="400" r:id="rId64"/>
    <p:sldId id="398" r:id="rId65"/>
    <p:sldId id="394" r:id="rId66"/>
    <p:sldId id="395" r:id="rId67"/>
    <p:sldId id="377" r:id="rId68"/>
    <p:sldId id="370" r:id="rId69"/>
    <p:sldId id="367" r:id="rId70"/>
    <p:sldId id="368" r:id="rId71"/>
    <p:sldId id="405" r:id="rId72"/>
    <p:sldId id="406" r:id="rId73"/>
  </p:sldIdLst>
  <p:sldSz cx="12192000" cy="6858000"/>
  <p:notesSz cx="6645275" cy="97758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3600" b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3600" b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3600" b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3600" b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3600" b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3600" b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3600" b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3600" b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3600" b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33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356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3963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5088" y="733425"/>
            <a:ext cx="6515100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11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5163" y="4643438"/>
            <a:ext cx="5314950" cy="4398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5288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11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3963" y="9285288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fld id="{4DE95018-BDF4-4B41-B261-6F936B57770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737516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5100" cy="366553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E95018-BDF4-4B41-B261-6F936B57770E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5265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EADD3-A827-4168-BD3B-34B7FEDA56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0B5C1-2F4B-4463-9E6F-A32A1856DBA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90EFA-D8A2-48CF-B572-A5413376CA7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6BAE4-6215-4BDF-9C34-CF32219725B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A8E7A2-F2C5-4368-AF0E-1D1ED56F8F8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7181D0-26EF-4A17-B2F2-5BBCC242405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B855A-6F88-42A3-A8A0-5C8DED874E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E7B5E-649A-45F9-9F96-B6F50D1F54E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860955-68D1-43F0-B408-3F9B95398F7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115889"/>
            <a:ext cx="2745317" cy="601027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15889"/>
            <a:ext cx="8039100" cy="601027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E3914-D34B-499E-86B1-E74C6DAB503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1" y="115889"/>
            <a:ext cx="10987617" cy="60102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AEF863-97BF-4C11-9754-4BD0C02ED3F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Slide_iconblue_pc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24634" y="6010275"/>
            <a:ext cx="1348317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2663333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68332E-BC01-4448-8CFF-D9751CFACD8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18481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A14477-DA9E-4870-BC56-0B13F1877D3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3156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F8A350-744B-49DF-B28E-7549FE7B0351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7365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70BBE9-14F4-495D-A35C-6E2A18F094F1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156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21F6B2-21FE-4301-92EC-4E744D63E105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76766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04B064-C74B-42FA-86F4-1FAA1C9E777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85912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E5BB6D-4B8F-4480-8C03-916AD761FC84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81910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66411F-0E6B-46A7-B6C8-FFFEDD49D6EB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9934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D9D127-2E37-46B1-B3F2-6448B64FFB6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3205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115889"/>
            <a:ext cx="2745317" cy="601027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15889"/>
            <a:ext cx="8039100" cy="601027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6A7B10-8818-449E-B827-E1B57F6D44B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61337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09C6BA-2156-453B-83C6-37E2004EA58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54408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標題，文字及美工圖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美工圖案版面配置區 3"/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DC9406-70A7-40B1-B969-BB3EF1835D1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2967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BDE9D4-AF82-415F-B680-2811F45E4A7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25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11588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baseline="0" smtClean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baseline="0" smtClean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8BACDAA3-DD8F-4651-B057-64E5A5CCA2F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11588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E44CE7-679C-49BB-85DA-7B576899980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525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Chapter 8:  Deadlocks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System Model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in Multithreaded Applications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Characterization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Methods for Handling Deadlocks</a:t>
            </a:r>
          </a:p>
          <a:p>
            <a:pPr eaLnBrk="1" hangingPunct="1"/>
            <a:r>
              <a:rPr lang="en-US" altLang="zh-TW" dirty="0" smtClean="0"/>
              <a:t>Deadlock Prevention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Avoidance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Detection 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Recovery from Deadlock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System Model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Resource types </a:t>
            </a:r>
            <a:r>
              <a:rPr lang="en-US" altLang="zh-TW" i="1" dirty="0" smtClean="0"/>
              <a:t>R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R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. . ., </a:t>
            </a:r>
            <a:r>
              <a:rPr lang="en-US" altLang="zh-TW" i="1" dirty="0" smtClean="0"/>
              <a:t>R</a:t>
            </a:r>
            <a:r>
              <a:rPr lang="en-US" altLang="zh-TW" baseline="-25000" dirty="0" smtClean="0"/>
              <a:t>m</a:t>
            </a:r>
          </a:p>
          <a:p>
            <a:pPr lvl="1" eaLnBrk="1" hangingPunct="1"/>
            <a:r>
              <a:rPr lang="en-US" altLang="zh-TW" dirty="0" smtClean="0"/>
              <a:t>CPU cycles, memory space, I/O devices, mutex, semaphore, …</a:t>
            </a:r>
          </a:p>
          <a:p>
            <a:pPr eaLnBrk="1" hangingPunct="1"/>
            <a:r>
              <a:rPr lang="en-US" altLang="zh-TW" dirty="0" smtClean="0"/>
              <a:t>Each resource type </a:t>
            </a:r>
            <a:r>
              <a:rPr lang="en-US" altLang="zh-TW" i="1" dirty="0" err="1" smtClean="0"/>
              <a:t>R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 has </a:t>
            </a:r>
            <a:r>
              <a:rPr lang="en-US" altLang="zh-TW" i="1" dirty="0" smtClean="0"/>
              <a:t>W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3300"/>
                </a:solidFill>
              </a:rPr>
              <a:t>instances</a:t>
            </a:r>
            <a:r>
              <a:rPr lang="en-US" altLang="zh-TW" dirty="0" smtClean="0"/>
              <a:t>.</a:t>
            </a:r>
          </a:p>
          <a:p>
            <a:pPr eaLnBrk="1" hangingPunct="1"/>
            <a:r>
              <a:rPr lang="en-US" altLang="zh-TW" dirty="0" smtClean="0"/>
              <a:t>Each thread utilizes a resource as follows:</a:t>
            </a:r>
          </a:p>
          <a:p>
            <a:pPr lvl="1" eaLnBrk="1" hangingPunct="1"/>
            <a:r>
              <a:rPr lang="en-US" altLang="zh-TW" dirty="0" smtClean="0"/>
              <a:t>1. </a:t>
            </a:r>
            <a:r>
              <a:rPr lang="en-US" altLang="zh-TW" b="1" dirty="0" smtClean="0"/>
              <a:t>Request: </a:t>
            </a:r>
            <a:r>
              <a:rPr lang="en-US" altLang="zh-TW" dirty="0" smtClean="0"/>
              <a:t>request the resource</a:t>
            </a:r>
          </a:p>
          <a:p>
            <a:pPr lvl="1" eaLnBrk="1" hangingPunct="1"/>
            <a:r>
              <a:rPr lang="en-US" altLang="zh-TW" dirty="0" smtClean="0"/>
              <a:t>2. </a:t>
            </a:r>
            <a:r>
              <a:rPr lang="en-US" altLang="zh-TW" b="1" dirty="0" smtClean="0"/>
              <a:t>Use:</a:t>
            </a:r>
            <a:r>
              <a:rPr lang="en-US" altLang="zh-TW" dirty="0" smtClean="0"/>
              <a:t> use the resource</a:t>
            </a:r>
          </a:p>
          <a:p>
            <a:pPr lvl="1" eaLnBrk="1" hangingPunct="1"/>
            <a:r>
              <a:rPr lang="en-US" altLang="zh-TW" dirty="0" smtClean="0"/>
              <a:t>3. </a:t>
            </a:r>
            <a:r>
              <a:rPr lang="en-US" altLang="zh-TW" b="1" dirty="0" smtClean="0"/>
              <a:t>Release:</a:t>
            </a:r>
            <a:r>
              <a:rPr lang="en-US" altLang="zh-TW" dirty="0" smtClean="0"/>
              <a:t> release the resource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b="42796"/>
          <a:stretch>
            <a:fillRect/>
          </a:stretch>
        </p:blipFill>
        <p:spPr bwMode="auto">
          <a:xfrm>
            <a:off x="2063750" y="1127126"/>
            <a:ext cx="7920682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4597401" y="914400"/>
            <a:ext cx="4562475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TW" sz="1600" b="0">
                <a:latin typeface="Tahoma" pitchFamily="34" charset="0"/>
              </a:rPr>
              <a:t>A                               B                               C</a:t>
            </a:r>
          </a:p>
        </p:txBody>
      </p:sp>
      <p:sp>
        <p:nvSpPr>
          <p:cNvPr id="501764" name="Rectangle 4"/>
          <p:cNvSpPr>
            <a:spLocks noChangeArrowheads="1"/>
          </p:cNvSpPr>
          <p:nvPr/>
        </p:nvSpPr>
        <p:spPr bwMode="auto">
          <a:xfrm>
            <a:off x="2552701" y="357189"/>
            <a:ext cx="7173913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US" altLang="zh-TW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The Deadlock Problem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9077326" y="6583364"/>
            <a:ext cx="15906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/>
              <a:t>From other authors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SzPct val="85000"/>
            </a:pPr>
            <a:r>
              <a:rPr lang="en-US" altLang="zh-TW" dirty="0" smtClean="0"/>
              <a:t>System Model</a:t>
            </a:r>
          </a:p>
          <a:p>
            <a:pPr eaLnBrk="1" hangingPunct="1">
              <a:buSzPct val="85000"/>
            </a:pPr>
            <a:r>
              <a:rPr lang="en-US" altLang="zh-TW" b="1" dirty="0" smtClean="0">
                <a:solidFill>
                  <a:srgbClr val="FF0000"/>
                </a:solidFill>
              </a:rPr>
              <a:t>Deadlock in Multithreaded Applications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Characterization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Methods for Handling Deadlocks</a:t>
            </a:r>
          </a:p>
          <a:p>
            <a:pPr eaLnBrk="1" hangingPunct="1"/>
            <a:r>
              <a:rPr lang="en-US" altLang="zh-TW" dirty="0" smtClean="0"/>
              <a:t>Deadlock Prevention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Avoidance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Detection 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Recovery from Deadlock </a:t>
            </a:r>
          </a:p>
        </p:txBody>
      </p:sp>
    </p:spTree>
    <p:extLst>
      <p:ext uri="{BB962C8B-B14F-4D97-AF65-F5344CB8AC3E}">
        <p14:creationId xmlns:p14="http://schemas.microsoft.com/office/powerpoint/2010/main" val="275817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Deadlock in Multithreaded </a:t>
            </a:r>
            <a:r>
              <a:rPr lang="en-US" altLang="zh-TW" dirty="0" smtClean="0"/>
              <a:t>Applications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Example: two </a:t>
            </a:r>
            <a:r>
              <a:rPr lang="en-US" altLang="zh-TW" dirty="0"/>
              <a:t>mutex locks are created </a:t>
            </a:r>
            <a:r>
              <a:rPr lang="en-US" altLang="zh-TW" dirty="0" smtClean="0"/>
              <a:t>and </a:t>
            </a:r>
            <a:r>
              <a:rPr lang="en-US" altLang="zh-TW" dirty="0"/>
              <a:t>initialized:</a:t>
            </a:r>
          </a:p>
          <a:p>
            <a:endParaRPr lang="zh-TW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692" y="3212976"/>
            <a:ext cx="5544616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834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Deadlock </a:t>
            </a:r>
            <a:r>
              <a:rPr lang="en-US" altLang="zh-TW" dirty="0"/>
              <a:t>Example: Two Threads Acquire Two Mutex in Opposite Order</a:t>
            </a:r>
            <a:endParaRPr lang="en-US" altLang="zh-TW" dirty="0" smtClean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400" dirty="0" smtClean="0"/>
              <a:t>Example</a:t>
            </a:r>
            <a:r>
              <a:rPr lang="en-US" altLang="zh-TW" sz="2400" dirty="0"/>
              <a:t>: Let </a:t>
            </a:r>
            <a:r>
              <a:rPr lang="en-US" altLang="zh-TW" sz="2000" b="1" i="1" dirty="0">
                <a:solidFill>
                  <a:srgbClr val="0000FF"/>
                </a:solidFill>
              </a:rPr>
              <a:t>S</a:t>
            </a:r>
            <a:r>
              <a:rPr lang="en-US" altLang="zh-TW" sz="2400" b="1" i="1" dirty="0"/>
              <a:t> </a:t>
            </a:r>
            <a:r>
              <a:rPr lang="en-US" altLang="zh-TW" sz="2400" dirty="0"/>
              <a:t>and </a:t>
            </a:r>
            <a:r>
              <a:rPr lang="en-US" altLang="zh-TW" sz="2000" b="1" i="1" dirty="0">
                <a:solidFill>
                  <a:srgbClr val="0000FF"/>
                </a:solidFill>
              </a:rPr>
              <a:t>Q</a:t>
            </a:r>
            <a:r>
              <a:rPr lang="en-US" altLang="zh-TW" sz="2400" dirty="0"/>
              <a:t> be two semaphores initialized to 1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TW" sz="2400" i="1" dirty="0"/>
              <a:t>		          </a:t>
            </a:r>
            <a:r>
              <a:rPr lang="en-US" altLang="zh-TW" sz="2400" i="1" dirty="0" smtClean="0"/>
              <a:t>		</a:t>
            </a:r>
            <a:r>
              <a:rPr lang="en-US" altLang="zh-TW" sz="2400" i="1" dirty="0" smtClean="0"/>
              <a:t>    </a:t>
            </a:r>
            <a:r>
              <a:rPr lang="en-US" altLang="zh-TW" sz="2400" dirty="0" smtClean="0"/>
              <a:t>  </a:t>
            </a:r>
            <a:r>
              <a:rPr lang="en-US" altLang="zh-TW" sz="2400" b="1" dirty="0" smtClean="0">
                <a:solidFill>
                  <a:srgbClr val="0000FF"/>
                </a:solidFill>
              </a:rPr>
              <a:t>thread one</a:t>
            </a:r>
            <a:r>
              <a:rPr lang="en-US" altLang="zh-TW" sz="2400" dirty="0">
                <a:solidFill>
                  <a:srgbClr val="0000FF"/>
                </a:solidFill>
              </a:rPr>
              <a:t>	</a:t>
            </a:r>
            <a:r>
              <a:rPr lang="en-US" altLang="zh-TW" sz="2400" b="1" dirty="0" smtClean="0">
                <a:solidFill>
                  <a:srgbClr val="0000FF"/>
                </a:solidFill>
              </a:rPr>
              <a:t>            thread two</a:t>
            </a:r>
            <a:endParaRPr lang="en-US" altLang="zh-TW" sz="2400" b="1" baseline="-25000" dirty="0">
              <a:solidFill>
                <a:srgbClr val="0000FF"/>
              </a:solidFill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TW" sz="2400" dirty="0">
                <a:solidFill>
                  <a:srgbClr val="0000FF"/>
                </a:solidFill>
              </a:rPr>
              <a:t>		       </a:t>
            </a:r>
            <a:r>
              <a:rPr lang="en-US" altLang="zh-TW" sz="2400" dirty="0" smtClean="0">
                <a:solidFill>
                  <a:srgbClr val="0000FF"/>
                </a:solidFill>
              </a:rPr>
              <a:t>		         </a:t>
            </a:r>
            <a:r>
              <a:rPr lang="en-US" altLang="zh-TW" sz="2000" b="1" dirty="0" smtClean="0"/>
              <a:t>wait </a:t>
            </a:r>
            <a:r>
              <a:rPr lang="en-US" altLang="zh-TW" sz="2000" b="1" dirty="0"/>
              <a:t>(S); 	      </a:t>
            </a:r>
            <a:r>
              <a:rPr lang="en-US" altLang="zh-TW" sz="2000" b="1" dirty="0" smtClean="0"/>
              <a:t> </a:t>
            </a:r>
            <a:r>
              <a:rPr lang="en-US" altLang="zh-TW" sz="2000" b="1" dirty="0"/>
              <a:t>	wait (Q);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TW" sz="2000" b="1" dirty="0"/>
              <a:t>		      </a:t>
            </a:r>
            <a:r>
              <a:rPr lang="en-US" altLang="zh-TW" sz="2000" b="1" dirty="0" smtClean="0"/>
              <a:t>		           wait </a:t>
            </a:r>
            <a:r>
              <a:rPr lang="en-US" altLang="zh-TW" sz="2000" b="1" dirty="0"/>
              <a:t>(Q); 	      </a:t>
            </a:r>
            <a:r>
              <a:rPr lang="en-US" altLang="zh-TW" sz="2000" b="1" dirty="0" smtClean="0"/>
              <a:t>  </a:t>
            </a:r>
            <a:r>
              <a:rPr lang="en-US" altLang="zh-TW" sz="2000" b="1" dirty="0"/>
              <a:t>	wait (S);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TW" sz="2000" b="1" dirty="0"/>
              <a:t>		        </a:t>
            </a:r>
            <a:r>
              <a:rPr lang="en-US" altLang="zh-TW" sz="2000" b="1" dirty="0" smtClean="0"/>
              <a:t>		                </a:t>
            </a:r>
            <a:r>
              <a:rPr lang="en-US" altLang="zh-TW" sz="2000" b="1" dirty="0"/>
              <a:t>. 	</a:t>
            </a:r>
            <a:r>
              <a:rPr lang="en-US" altLang="zh-TW" sz="2000" b="1" dirty="0" smtClean="0"/>
              <a:t>                      </a:t>
            </a:r>
            <a:r>
              <a:rPr lang="en-US" altLang="zh-TW" sz="2000" b="1" dirty="0"/>
              <a:t>.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TW" sz="2000" b="1" dirty="0"/>
              <a:t>		          </a:t>
            </a:r>
            <a:r>
              <a:rPr lang="en-US" altLang="zh-TW" sz="2000" b="1" dirty="0" smtClean="0"/>
              <a:t>		                </a:t>
            </a:r>
            <a:r>
              <a:rPr lang="en-US" altLang="zh-TW" sz="2000" b="1" dirty="0"/>
              <a:t>. 	</a:t>
            </a:r>
            <a:r>
              <a:rPr lang="en-US" altLang="zh-TW" sz="2000" b="1" dirty="0" smtClean="0"/>
              <a:t>                      </a:t>
            </a:r>
            <a:r>
              <a:rPr lang="en-US" altLang="zh-TW" sz="2000" b="1" dirty="0"/>
              <a:t>.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TW" sz="2000" b="1" dirty="0"/>
              <a:t>		      </a:t>
            </a:r>
            <a:r>
              <a:rPr lang="en-US" altLang="zh-TW" sz="2000" b="1" dirty="0" smtClean="0"/>
              <a:t>		          signal </a:t>
            </a:r>
            <a:r>
              <a:rPr lang="en-US" altLang="zh-TW" sz="2000" b="1" dirty="0"/>
              <a:t>(S); 	</a:t>
            </a:r>
            <a:r>
              <a:rPr lang="en-US" altLang="zh-TW" sz="2000" b="1" dirty="0" smtClean="0"/>
              <a:t>               </a:t>
            </a:r>
            <a:r>
              <a:rPr lang="en-US" altLang="zh-TW" sz="2000" b="1" dirty="0"/>
              <a:t>	signal (Q);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TW" sz="2000" b="1" dirty="0" smtClean="0"/>
              <a:t>    </a:t>
            </a:r>
            <a:r>
              <a:rPr lang="en-US" altLang="zh-TW" sz="2000" b="1" dirty="0"/>
              <a:t>		       </a:t>
            </a:r>
            <a:r>
              <a:rPr lang="en-US" altLang="zh-TW" sz="2000" b="1" dirty="0" smtClean="0"/>
              <a:t>		          </a:t>
            </a:r>
            <a:r>
              <a:rPr lang="en-US" altLang="zh-TW" sz="2000" b="1" dirty="0"/>
              <a:t>signal (Q); 	</a:t>
            </a:r>
            <a:r>
              <a:rPr lang="en-US" altLang="zh-TW" sz="2000" b="1" dirty="0" smtClean="0"/>
              <a:t>                signal </a:t>
            </a:r>
            <a:r>
              <a:rPr lang="en-US" altLang="zh-TW" sz="2000" b="1" dirty="0"/>
              <a:t>(S);</a:t>
            </a:r>
          </a:p>
          <a:p>
            <a:pPr>
              <a:lnSpc>
                <a:spcPct val="110000"/>
              </a:lnSpc>
              <a:spcBef>
                <a:spcPts val="2400"/>
              </a:spcBef>
              <a:tabLst>
                <a:tab pos="1882775" algn="ctr"/>
                <a:tab pos="4568825" algn="ctr"/>
              </a:tabLst>
            </a:pPr>
            <a:r>
              <a:rPr lang="en-US" altLang="en-US" sz="2400" dirty="0" smtClean="0">
                <a:sym typeface="MT Extra" panose="05050102010205020202" pitchFamily="18" charset="2"/>
              </a:rPr>
              <a:t>Now, </a:t>
            </a:r>
            <a:r>
              <a:rPr lang="en-US" altLang="en-US" sz="2400" i="1" dirty="0">
                <a:solidFill>
                  <a:srgbClr val="000000"/>
                </a:solidFill>
              </a:rPr>
              <a:t>P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0 </a:t>
            </a:r>
            <a:r>
              <a:rPr lang="en-US" altLang="en-US" sz="2400" dirty="0">
                <a:sym typeface="MT Extra" panose="05050102010205020202" pitchFamily="18" charset="2"/>
              </a:rPr>
              <a:t>and </a:t>
            </a:r>
            <a:r>
              <a:rPr lang="en-US" altLang="en-US" sz="2400" i="1" dirty="0">
                <a:solidFill>
                  <a:srgbClr val="000000"/>
                </a:solidFill>
              </a:rPr>
              <a:t>P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 </a:t>
            </a:r>
            <a:r>
              <a:rPr lang="en-US" altLang="en-US" sz="2400" dirty="0">
                <a:sym typeface="MT Extra" panose="05050102010205020202" pitchFamily="18" charset="2"/>
              </a:rPr>
              <a:t>are </a:t>
            </a:r>
            <a:r>
              <a:rPr lang="en-US" altLang="en-US" sz="2400" b="1" dirty="0">
                <a:sym typeface="MT Extra" panose="05050102010205020202" pitchFamily="18" charset="2"/>
              </a:rPr>
              <a:t>deadlocked</a:t>
            </a:r>
            <a:r>
              <a:rPr lang="en-US" altLang="en-US" sz="2400" dirty="0">
                <a:sym typeface="MT Extra" panose="05050102010205020202" pitchFamily="18" charset="2"/>
              </a:rPr>
              <a:t>.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en-US" altLang="zh-TW" sz="2000" b="1" dirty="0"/>
          </a:p>
        </p:txBody>
      </p:sp>
      <p:sp>
        <p:nvSpPr>
          <p:cNvPr id="2" name="圓角矩形 1"/>
          <p:cNvSpPr/>
          <p:nvPr/>
        </p:nvSpPr>
        <p:spPr>
          <a:xfrm>
            <a:off x="3719736" y="2564904"/>
            <a:ext cx="3960440" cy="2520280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68332E-BC01-4448-8CFF-D9751CFACD8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409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Deadlock Example: Two Threads Acquire Two Mutex in Opposite Order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Deadlock is possible </a:t>
            </a:r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2207568" y="2420888"/>
            <a:ext cx="7560840" cy="3398517"/>
            <a:chOff x="3143672" y="2924944"/>
            <a:chExt cx="5749925" cy="339851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3672" y="2924944"/>
              <a:ext cx="5749925" cy="3398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/>
            <p:cNvSpPr/>
            <p:nvPr/>
          </p:nvSpPr>
          <p:spPr bwMode="auto">
            <a:xfrm>
              <a:off x="4079776" y="3033528"/>
              <a:ext cx="1080120" cy="2880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bg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endParaRPr kumimoji="1" lang="zh-TW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7104112" y="2996952"/>
              <a:ext cx="1440160" cy="32460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bg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2000" dirty="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endParaRPr kumimoji="1" lang="zh-TW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040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Deadlock in Multithreaded Applications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Problem with handling deadlocks</a:t>
            </a:r>
          </a:p>
          <a:p>
            <a:pPr lvl="1"/>
            <a:r>
              <a:rPr lang="en-US" altLang="zh-TW" dirty="0" smtClean="0"/>
              <a:t>Difficult to identify since it only occurs under certain scheduling results</a:t>
            </a:r>
          </a:p>
        </p:txBody>
      </p:sp>
    </p:spTree>
    <p:extLst>
      <p:ext uri="{BB962C8B-B14F-4D97-AF65-F5344CB8AC3E}">
        <p14:creationId xmlns:p14="http://schemas.microsoft.com/office/powerpoint/2010/main" val="332847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SzPct val="85000"/>
            </a:pPr>
            <a:r>
              <a:rPr lang="en-US" altLang="zh-TW" dirty="0" smtClean="0"/>
              <a:t>System Model</a:t>
            </a:r>
          </a:p>
          <a:p>
            <a:pPr eaLnBrk="1" hangingPunct="1">
              <a:buSzPct val="85000"/>
            </a:pPr>
            <a:r>
              <a:rPr lang="en-US" altLang="zh-TW" dirty="0"/>
              <a:t>Deadlock in Multithreaded Applications</a:t>
            </a:r>
          </a:p>
          <a:p>
            <a:pPr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Deadlock Characterization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Methods for Handling Deadlocks</a:t>
            </a:r>
          </a:p>
          <a:p>
            <a:pPr eaLnBrk="1" hangingPunct="1"/>
            <a:r>
              <a:rPr lang="en-US" altLang="zh-TW" dirty="0" smtClean="0"/>
              <a:t>Deadlock Prevention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Avoidance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Detection 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Recovery from Deadlock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Deadlock Characterization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kumimoji="0" lang="en-US" altLang="zh-TW" sz="2400" dirty="0"/>
              <a:t>Deadlock can arise if four conditions hold </a:t>
            </a:r>
            <a:r>
              <a:rPr kumimoji="0" lang="en-US" altLang="zh-TW" sz="2400" b="1" dirty="0">
                <a:solidFill>
                  <a:srgbClr val="FF3300"/>
                </a:solidFill>
              </a:rPr>
              <a:t>simultaneously</a:t>
            </a:r>
            <a:r>
              <a:rPr kumimoji="0" lang="en-US" altLang="zh-TW" sz="24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b="1" dirty="0"/>
              <a:t>Mutual exclusion:</a:t>
            </a:r>
            <a:r>
              <a:rPr lang="en-US" altLang="zh-TW" sz="2400" dirty="0"/>
              <a:t>  only one thread at a time can use a resource.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b="1" dirty="0"/>
              <a:t>Hold and wait:</a:t>
            </a:r>
            <a:r>
              <a:rPr lang="en-US" altLang="zh-TW" sz="2400" dirty="0"/>
              <a:t>  a thread holding resources is waiting to acquire </a:t>
            </a:r>
            <a:r>
              <a:rPr lang="en-US" altLang="zh-TW" sz="2400" dirty="0" smtClean="0"/>
              <a:t>resources </a:t>
            </a:r>
            <a:r>
              <a:rPr lang="en-US" altLang="zh-TW" sz="2400" dirty="0"/>
              <a:t>held by other threads.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b="1" dirty="0"/>
              <a:t>No preemption:</a:t>
            </a:r>
            <a:r>
              <a:rPr lang="en-US" altLang="zh-TW" sz="2400" dirty="0"/>
              <a:t>  a resource can be released only </a:t>
            </a:r>
            <a:r>
              <a:rPr lang="en-US" altLang="zh-TW" sz="2400" dirty="0">
                <a:solidFill>
                  <a:srgbClr val="FF3300"/>
                </a:solidFill>
              </a:rPr>
              <a:t>voluntarily</a:t>
            </a:r>
            <a:r>
              <a:rPr lang="en-US" altLang="zh-TW" sz="24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b="1" dirty="0"/>
              <a:t>Circular wait:</a:t>
            </a:r>
            <a:r>
              <a:rPr lang="en-US" altLang="zh-TW" sz="2400" dirty="0"/>
              <a:t>  there exists a set {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0</a:t>
            </a:r>
            <a:r>
              <a:rPr lang="en-US" altLang="zh-TW" sz="2400" dirty="0"/>
              <a:t>,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, </a:t>
            </a:r>
            <a:r>
              <a:rPr lang="en-US" altLang="zh-TW" sz="2400" dirty="0">
                <a:latin typeface="Helvetica" pitchFamily="34" charset="0"/>
              </a:rPr>
              <a:t>…</a:t>
            </a:r>
            <a:r>
              <a:rPr lang="en-US" altLang="zh-TW" sz="2400" dirty="0"/>
              <a:t>, </a:t>
            </a:r>
            <a:r>
              <a:rPr lang="en-US" altLang="zh-TW" sz="2400" i="1" dirty="0" err="1"/>
              <a:t>P</a:t>
            </a:r>
            <a:r>
              <a:rPr lang="en-US" altLang="zh-TW" sz="2400" baseline="-25000" dirty="0" err="1"/>
              <a:t>n</a:t>
            </a:r>
            <a:r>
              <a:rPr lang="en-US" altLang="zh-TW" sz="2400" dirty="0"/>
              <a:t>} of waiting threads such that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i="1" dirty="0"/>
              <a:t>P</a:t>
            </a:r>
            <a:r>
              <a:rPr lang="en-US" altLang="zh-TW" sz="2000" baseline="-25000" dirty="0"/>
              <a:t>0 </a:t>
            </a:r>
            <a:r>
              <a:rPr lang="en-US" altLang="zh-TW" sz="2000" dirty="0"/>
              <a:t>is waiting for a resource that is held by </a:t>
            </a:r>
            <a:r>
              <a:rPr lang="en-US" altLang="zh-TW" sz="2000" i="1" dirty="0"/>
              <a:t>P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i="1" dirty="0"/>
              <a:t>P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 is waiting for a resource that is held by </a:t>
            </a:r>
            <a:r>
              <a:rPr lang="en-US" altLang="zh-TW" sz="2000" i="1" dirty="0"/>
              <a:t>P</a:t>
            </a:r>
            <a:r>
              <a:rPr lang="en-US" altLang="zh-TW" sz="2000" baseline="-25000" dirty="0"/>
              <a:t>2</a:t>
            </a:r>
            <a:r>
              <a:rPr lang="en-US" altLang="zh-TW" sz="2000" dirty="0"/>
              <a:t>, </a:t>
            </a:r>
            <a:r>
              <a:rPr lang="en-US" altLang="zh-TW" sz="2000" dirty="0">
                <a:latin typeface="Helvetica" pitchFamily="34" charset="0"/>
              </a:rPr>
              <a:t>…</a:t>
            </a:r>
            <a:r>
              <a:rPr lang="en-US" altLang="zh-TW" sz="2000" dirty="0"/>
              <a:t>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i="1" dirty="0" err="1"/>
              <a:t>P</a:t>
            </a:r>
            <a:r>
              <a:rPr lang="en-US" altLang="zh-TW" sz="2000" i="1" baseline="-25000" dirty="0" err="1"/>
              <a:t>n</a:t>
            </a:r>
            <a:r>
              <a:rPr lang="en-US" altLang="zh-TW" sz="2000" baseline="-25000" dirty="0">
                <a:latin typeface="Helvetica" pitchFamily="34" charset="0"/>
              </a:rPr>
              <a:t>–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 is waiting for a resource that is held by </a:t>
            </a:r>
            <a:r>
              <a:rPr lang="en-US" altLang="zh-TW" sz="2000" i="1" dirty="0" err="1"/>
              <a:t>P</a:t>
            </a:r>
            <a:r>
              <a:rPr lang="en-US" altLang="zh-TW" sz="2000" baseline="-25000" dirty="0" err="1"/>
              <a:t>n</a:t>
            </a:r>
            <a:r>
              <a:rPr lang="en-US" altLang="zh-TW" sz="2000" dirty="0"/>
              <a:t>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And </a:t>
            </a:r>
            <a:r>
              <a:rPr lang="en-US" altLang="zh-TW" sz="2000" i="1" dirty="0" err="1"/>
              <a:t>P</a:t>
            </a:r>
            <a:r>
              <a:rPr lang="en-US" altLang="zh-TW" sz="2000" baseline="-25000" dirty="0" err="1"/>
              <a:t>n</a:t>
            </a:r>
            <a:r>
              <a:rPr lang="en-US" altLang="zh-TW" sz="2000" dirty="0"/>
              <a:t> is waiting for a resource that is held by </a:t>
            </a:r>
            <a:r>
              <a:rPr lang="en-US" altLang="zh-TW" sz="2000" i="1" dirty="0"/>
              <a:t>P</a:t>
            </a:r>
            <a:r>
              <a:rPr lang="en-US" altLang="zh-TW" sz="2000" baseline="-25000" dirty="0"/>
              <a:t>0</a:t>
            </a:r>
            <a:r>
              <a:rPr lang="en-US" altLang="zh-TW" sz="2000" dirty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i="1" dirty="0"/>
              <a:t>P</a:t>
            </a:r>
            <a:r>
              <a:rPr lang="en-US" altLang="zh-TW" sz="2000" baseline="-25000" dirty="0"/>
              <a:t>0</a:t>
            </a:r>
            <a:r>
              <a:rPr lang="en-US" altLang="zh-TW" sz="2000" dirty="0">
                <a:sym typeface="Symbol" pitchFamily="18" charset="2"/>
              </a:rPr>
              <a:t></a:t>
            </a:r>
            <a:r>
              <a:rPr lang="en-US" altLang="zh-TW" sz="2000" i="1" dirty="0"/>
              <a:t>P</a:t>
            </a:r>
            <a:r>
              <a:rPr lang="en-US" altLang="zh-TW" sz="2000" baseline="-25000" dirty="0"/>
              <a:t>1</a:t>
            </a:r>
            <a:r>
              <a:rPr lang="en-US" altLang="zh-TW" sz="2000" dirty="0">
                <a:sym typeface="Symbol" pitchFamily="18" charset="2"/>
              </a:rPr>
              <a:t></a:t>
            </a:r>
            <a:r>
              <a:rPr lang="en-US" altLang="zh-TW" sz="2000" i="1" dirty="0"/>
              <a:t>P</a:t>
            </a:r>
            <a:r>
              <a:rPr lang="en-US" altLang="zh-TW" sz="2000" baseline="-25000" dirty="0"/>
              <a:t>2</a:t>
            </a:r>
            <a:r>
              <a:rPr lang="en-US" altLang="zh-TW" sz="2000" dirty="0">
                <a:sym typeface="Symbol" pitchFamily="18" charset="2"/>
              </a:rPr>
              <a:t>...</a:t>
            </a:r>
            <a:r>
              <a:rPr lang="en-US" altLang="zh-TW" sz="2000" i="1" dirty="0"/>
              <a:t>P</a:t>
            </a:r>
            <a:r>
              <a:rPr lang="en-US" altLang="zh-TW" sz="2000" i="1" baseline="-25000" dirty="0"/>
              <a:t>n</a:t>
            </a:r>
            <a:r>
              <a:rPr lang="en-US" altLang="zh-TW" sz="2000" dirty="0">
                <a:sym typeface="Symbol" pitchFamily="18" charset="2"/>
              </a:rPr>
              <a:t></a:t>
            </a:r>
            <a:r>
              <a:rPr lang="en-US" altLang="zh-TW" sz="2000" i="1" dirty="0"/>
              <a:t>P</a:t>
            </a:r>
            <a:r>
              <a:rPr lang="en-US" altLang="zh-TW" sz="2000" baseline="-25000" dirty="0"/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Resource-Allocation Graph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0" lang="en-US" altLang="zh-TW" dirty="0" smtClean="0"/>
              <a:t>A set of vertices </a:t>
            </a:r>
            <a:r>
              <a:rPr kumimoji="0" lang="en-US" altLang="zh-TW" i="1" dirty="0" smtClean="0"/>
              <a:t>V</a:t>
            </a:r>
            <a:r>
              <a:rPr kumimoji="0" lang="en-US" altLang="zh-TW" dirty="0" smtClean="0"/>
              <a:t> and a set of edges </a:t>
            </a:r>
            <a:r>
              <a:rPr kumimoji="0" lang="en-US" altLang="zh-TW" i="1" dirty="0" smtClean="0"/>
              <a:t>E</a:t>
            </a:r>
            <a:r>
              <a:rPr kumimoji="0" lang="en-US" altLang="zh-TW" dirty="0" smtClean="0"/>
              <a:t>.</a:t>
            </a:r>
          </a:p>
          <a:p>
            <a:pPr eaLnBrk="1" hangingPunct="1"/>
            <a:r>
              <a:rPr lang="en-US" altLang="zh-TW" dirty="0" smtClean="0"/>
              <a:t>V is partitioned into two types:</a:t>
            </a:r>
          </a:p>
          <a:p>
            <a:pPr lvl="2" eaLnBrk="1" hangingPunct="1"/>
            <a:r>
              <a:rPr lang="en-US" altLang="zh-TW" b="1" i="1" dirty="0" smtClean="0"/>
              <a:t>P</a:t>
            </a:r>
            <a:r>
              <a:rPr lang="en-US" altLang="zh-TW" dirty="0" smtClean="0"/>
              <a:t> = {</a:t>
            </a:r>
            <a:r>
              <a:rPr lang="en-US" altLang="zh-TW" i="1" dirty="0" smtClean="0"/>
              <a:t>P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P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</a:t>
            </a:r>
            <a:r>
              <a:rPr lang="en-US" altLang="zh-TW" dirty="0" smtClean="0">
                <a:latin typeface="Helvetica" pitchFamily="34" charset="0"/>
              </a:rPr>
              <a:t>…</a:t>
            </a:r>
            <a:r>
              <a:rPr lang="en-US" altLang="zh-TW" dirty="0" smtClean="0"/>
              <a:t>, </a:t>
            </a:r>
            <a:r>
              <a:rPr lang="en-US" altLang="zh-TW" i="1" dirty="0" err="1" smtClean="0"/>
              <a:t>P</a:t>
            </a:r>
            <a:r>
              <a:rPr lang="en-US" altLang="zh-TW" i="1" baseline="-25000" dirty="0" err="1" smtClean="0"/>
              <a:t>n</a:t>
            </a:r>
            <a:r>
              <a:rPr lang="en-US" altLang="zh-TW" dirty="0" smtClean="0"/>
              <a:t>}, consisting of all the </a:t>
            </a:r>
            <a:r>
              <a:rPr lang="en-US" altLang="zh-TW" dirty="0" smtClean="0">
                <a:solidFill>
                  <a:srgbClr val="FF3300"/>
                </a:solidFill>
              </a:rPr>
              <a:t>threads</a:t>
            </a:r>
            <a:r>
              <a:rPr lang="en-US" altLang="zh-TW" dirty="0" smtClean="0"/>
              <a:t>.</a:t>
            </a:r>
          </a:p>
          <a:p>
            <a:pPr lvl="2" eaLnBrk="1" hangingPunct="1"/>
            <a:r>
              <a:rPr lang="en-US" altLang="zh-TW" b="1" i="1" dirty="0" smtClean="0"/>
              <a:t>R</a:t>
            </a:r>
            <a:r>
              <a:rPr lang="en-US" altLang="zh-TW" dirty="0" smtClean="0"/>
              <a:t> = {</a:t>
            </a:r>
            <a:r>
              <a:rPr lang="en-US" altLang="zh-TW" i="1" dirty="0" smtClean="0"/>
              <a:t>R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R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</a:t>
            </a:r>
            <a:r>
              <a:rPr lang="en-US" altLang="zh-TW" dirty="0" smtClean="0">
                <a:latin typeface="Helvetica" pitchFamily="34" charset="0"/>
              </a:rPr>
              <a:t>…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R</a:t>
            </a:r>
            <a:r>
              <a:rPr lang="en-US" altLang="zh-TW" i="1" baseline="-25000" dirty="0" smtClean="0"/>
              <a:t>m</a:t>
            </a:r>
            <a:r>
              <a:rPr lang="en-US" altLang="zh-TW" dirty="0" smtClean="0"/>
              <a:t>}, consisting of all </a:t>
            </a:r>
            <a:r>
              <a:rPr lang="en-US" altLang="zh-TW" dirty="0" smtClean="0">
                <a:solidFill>
                  <a:srgbClr val="FF3300"/>
                </a:solidFill>
              </a:rPr>
              <a:t>resource types</a:t>
            </a:r>
            <a:r>
              <a:rPr lang="en-US" altLang="zh-TW" dirty="0" smtClean="0"/>
              <a:t>.</a:t>
            </a:r>
          </a:p>
          <a:p>
            <a:pPr eaLnBrk="1" hangingPunct="1"/>
            <a:endParaRPr lang="en-US" altLang="zh-TW" b="1" dirty="0" smtClean="0"/>
          </a:p>
          <a:p>
            <a:pPr eaLnBrk="1" hangingPunct="1"/>
            <a:r>
              <a:rPr lang="en-US" altLang="zh-TW" dirty="0" smtClean="0"/>
              <a:t>E has two types</a:t>
            </a:r>
          </a:p>
          <a:p>
            <a:pPr lvl="1" eaLnBrk="1" hangingPunct="1"/>
            <a:r>
              <a:rPr lang="en-US" altLang="zh-TW" b="1" dirty="0" smtClean="0"/>
              <a:t>Request edge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Helvetica" pitchFamily="34" charset="0"/>
              </a:rPr>
              <a:t>–</a:t>
            </a:r>
            <a:r>
              <a:rPr lang="en-US" altLang="zh-TW" dirty="0" smtClean="0"/>
              <a:t> directed edge </a:t>
            </a:r>
            <a:r>
              <a:rPr lang="en-US" altLang="zh-TW" i="1" dirty="0" smtClean="0"/>
              <a:t>P</a:t>
            </a:r>
            <a:r>
              <a:rPr lang="en-US" altLang="zh-TW" baseline="-25000" dirty="0" smtClean="0"/>
              <a:t>1 </a:t>
            </a:r>
            <a:r>
              <a:rPr lang="en-US" altLang="zh-TW" dirty="0" smtClean="0">
                <a:sym typeface="Symbol" pitchFamily="18" charset="2"/>
              </a:rPr>
              <a:t> </a:t>
            </a:r>
            <a:r>
              <a:rPr lang="en-US" altLang="zh-TW" i="1" dirty="0" err="1" smtClean="0">
                <a:sym typeface="Symbol" pitchFamily="18" charset="2"/>
              </a:rPr>
              <a:t>R</a:t>
            </a:r>
            <a:r>
              <a:rPr lang="en-US" altLang="zh-TW" i="1" baseline="-25000" dirty="0" err="1" smtClean="0">
                <a:sym typeface="Symbol" pitchFamily="18" charset="2"/>
              </a:rPr>
              <a:t>j</a:t>
            </a:r>
            <a:endParaRPr lang="en-US" altLang="zh-TW" i="1" dirty="0" smtClean="0">
              <a:sym typeface="Symbol" pitchFamily="18" charset="2"/>
            </a:endParaRPr>
          </a:p>
          <a:p>
            <a:pPr lvl="1" eaLnBrk="1" hangingPunct="1"/>
            <a:r>
              <a:rPr lang="en-US" altLang="zh-TW" b="1" dirty="0" smtClean="0">
                <a:sym typeface="Symbol" pitchFamily="18" charset="2"/>
              </a:rPr>
              <a:t>Assignment edge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dirty="0" smtClean="0">
                <a:latin typeface="Helvetica" pitchFamily="34" charset="0"/>
              </a:rPr>
              <a:t>–</a:t>
            </a:r>
            <a:r>
              <a:rPr lang="en-US" altLang="zh-TW" dirty="0" smtClean="0"/>
              <a:t> directed edge </a:t>
            </a:r>
            <a:r>
              <a:rPr lang="en-US" altLang="zh-TW" i="1" dirty="0" err="1" smtClean="0"/>
              <a:t>R</a:t>
            </a:r>
            <a:r>
              <a:rPr lang="en-US" altLang="zh-TW" i="1" baseline="-25000" dirty="0" err="1" smtClean="0"/>
              <a:t>j</a:t>
            </a:r>
            <a:r>
              <a:rPr lang="en-US" altLang="zh-TW" i="1" dirty="0" smtClean="0"/>
              <a:t> </a:t>
            </a:r>
            <a:r>
              <a:rPr lang="en-US" altLang="zh-TW" dirty="0" smtClean="0">
                <a:sym typeface="Symbol" pitchFamily="18" charset="2"/>
              </a:rPr>
              <a:t> </a:t>
            </a:r>
            <a:r>
              <a:rPr lang="en-US" altLang="zh-TW" i="1" dirty="0" smtClean="0">
                <a:sym typeface="Symbol" pitchFamily="18" charset="2"/>
              </a:rPr>
              <a:t>P</a:t>
            </a:r>
            <a:r>
              <a:rPr lang="en-US" altLang="zh-TW" i="1" baseline="-25000" dirty="0" smtClean="0">
                <a:sym typeface="Symbol" pitchFamily="18" charset="2"/>
              </a:rPr>
              <a:t>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631951" y="447675"/>
            <a:ext cx="8856663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4000"/>
              <a:t>Example of a Resource Allocation Graph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2495601" y="1700809"/>
            <a:ext cx="6264473" cy="4081463"/>
            <a:chOff x="539552" y="1724025"/>
            <a:chExt cx="6264472" cy="4081463"/>
          </a:xfrm>
        </p:grpSpPr>
        <p:pic>
          <p:nvPicPr>
            <p:cNvPr id="11267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l="25287" t="926" r="25287" b="1532"/>
            <a:stretch>
              <a:fillRect/>
            </a:stretch>
          </p:blipFill>
          <p:spPr bwMode="auto">
            <a:xfrm>
              <a:off x="1979613" y="1724025"/>
              <a:ext cx="4824411" cy="4081463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</p:spPr>
        </p:pic>
        <p:sp>
          <p:nvSpPr>
            <p:cNvPr id="11268" name="Text Box 4"/>
            <p:cNvSpPr txBox="1">
              <a:spLocks noChangeArrowheads="1"/>
            </p:cNvSpPr>
            <p:nvPr/>
          </p:nvSpPr>
          <p:spPr bwMode="auto">
            <a:xfrm>
              <a:off x="1115616" y="2455863"/>
              <a:ext cx="19446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2400" b="0" dirty="0">
                  <a:latin typeface="Calibri" panose="020F0502020204030204" pitchFamily="34" charset="0"/>
                </a:rPr>
                <a:t>request edge</a:t>
              </a:r>
            </a:p>
          </p:txBody>
        </p:sp>
        <p:sp>
          <p:nvSpPr>
            <p:cNvPr id="11269" name="Text Box 5"/>
            <p:cNvSpPr txBox="1">
              <a:spLocks noChangeArrowheads="1"/>
            </p:cNvSpPr>
            <p:nvPr/>
          </p:nvSpPr>
          <p:spPr bwMode="auto">
            <a:xfrm>
              <a:off x="539552" y="3761682"/>
              <a:ext cx="2692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2400" b="0" dirty="0">
                  <a:latin typeface="Calibri" panose="020F0502020204030204" pitchFamily="34" charset="0"/>
                </a:rPr>
                <a:t>assignment edge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200"/>
              <a:t>Resource Allocation Graph With A Deadlock</a:t>
            </a:r>
          </a:p>
        </p:txBody>
      </p:sp>
      <p:pic>
        <p:nvPicPr>
          <p:cNvPr id="12291" name="Picture 4"/>
          <p:cNvPicPr>
            <a:picLocks noChangeAspect="1" noChangeArrowheads="1"/>
          </p:cNvPicPr>
          <p:nvPr/>
        </p:nvPicPr>
        <p:blipFill>
          <a:blip r:embed="rId2" cstate="print"/>
          <a:srcRect l="25067" t="934" r="25284" b="1547"/>
          <a:stretch>
            <a:fillRect/>
          </a:stretch>
        </p:blipFill>
        <p:spPr bwMode="auto">
          <a:xfrm>
            <a:off x="3719513" y="1484313"/>
            <a:ext cx="4464050" cy="417671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3863653" y="5734050"/>
            <a:ext cx="4392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400" dirty="0">
                <a:latin typeface="Calibri" panose="020F0502020204030204" pitchFamily="34" charset="0"/>
              </a:rPr>
              <a:t>(P1, P2, P3) is in deadlock state</a:t>
            </a:r>
          </a:p>
        </p:txBody>
      </p:sp>
      <p:sp>
        <p:nvSpPr>
          <p:cNvPr id="12293" name="Text Box 8"/>
          <p:cNvSpPr txBox="1">
            <a:spLocks noChangeArrowheads="1"/>
          </p:cNvSpPr>
          <p:nvPr/>
        </p:nvSpPr>
        <p:spPr bwMode="auto">
          <a:xfrm>
            <a:off x="7104063" y="2276476"/>
            <a:ext cx="3384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800" b="0" dirty="0">
                <a:latin typeface="Calibri" panose="020F0502020204030204" pitchFamily="34" charset="0"/>
              </a:rPr>
              <a:t>P1-&gt;R1-&gt;P2-&gt;R3-&gt;P3-&gt;R2-&gt;P1</a:t>
            </a:r>
          </a:p>
        </p:txBody>
      </p:sp>
      <p:sp>
        <p:nvSpPr>
          <p:cNvPr id="12294" name="Text Box 9"/>
          <p:cNvSpPr txBox="1">
            <a:spLocks noChangeArrowheads="1"/>
          </p:cNvSpPr>
          <p:nvPr/>
        </p:nvSpPr>
        <p:spPr bwMode="auto">
          <a:xfrm>
            <a:off x="5591175" y="3429001"/>
            <a:ext cx="23764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800" b="0" dirty="0">
                <a:latin typeface="Calibri" panose="020F0502020204030204" pitchFamily="34" charset="0"/>
              </a:rPr>
              <a:t>P2-&gt;R3-&gt;P3-&gt;R2-&gt;P2</a:t>
            </a:r>
          </a:p>
        </p:txBody>
      </p:sp>
      <p:sp>
        <p:nvSpPr>
          <p:cNvPr id="12295" name="Rectangle 11"/>
          <p:cNvSpPr>
            <a:spLocks noChangeArrowheads="1"/>
          </p:cNvSpPr>
          <p:nvPr/>
        </p:nvSpPr>
        <p:spPr bwMode="auto">
          <a:xfrm>
            <a:off x="8472489" y="1774825"/>
            <a:ext cx="1495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Calibri" panose="020F0502020204030204" pitchFamily="34" charset="0"/>
              </a:rPr>
              <a:t>two cycles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>
                <a:solidFill>
                  <a:schemeClr val="tx1"/>
                </a:solidFill>
              </a:rPr>
              <a:t>Resource Allocation Graph With A Cycle </a:t>
            </a:r>
            <a:r>
              <a:rPr lang="en-US" altLang="zh-TW" sz="3600">
                <a:solidFill>
                  <a:srgbClr val="FF3300"/>
                </a:solidFill>
              </a:rPr>
              <a:t>But No Deadlock</a:t>
            </a:r>
          </a:p>
        </p:txBody>
      </p:sp>
      <p:pic>
        <p:nvPicPr>
          <p:cNvPr id="13315" name="Picture 4"/>
          <p:cNvPicPr>
            <a:picLocks noChangeAspect="1" noChangeArrowheads="1"/>
          </p:cNvPicPr>
          <p:nvPr/>
        </p:nvPicPr>
        <p:blipFill>
          <a:blip r:embed="rId2" cstate="print"/>
          <a:srcRect l="20947" t="906" r="21393" b="906"/>
          <a:stretch>
            <a:fillRect/>
          </a:stretch>
        </p:blipFill>
        <p:spPr bwMode="auto">
          <a:xfrm>
            <a:off x="3071814" y="1628776"/>
            <a:ext cx="6048375" cy="43211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13316" name="Freeform 5"/>
          <p:cNvSpPr>
            <a:spLocks/>
          </p:cNvSpPr>
          <p:nvPr/>
        </p:nvSpPr>
        <p:spPr bwMode="auto">
          <a:xfrm>
            <a:off x="5159376" y="3284539"/>
            <a:ext cx="1452563" cy="1125537"/>
          </a:xfrm>
          <a:custGeom>
            <a:avLst/>
            <a:gdLst>
              <a:gd name="T0" fmla="*/ 0 w 504"/>
              <a:gd name="T1" fmla="*/ 84 h 486"/>
              <a:gd name="T2" fmla="*/ 72 w 504"/>
              <a:gd name="T3" fmla="*/ 24 h 486"/>
              <a:gd name="T4" fmla="*/ 168 w 504"/>
              <a:gd name="T5" fmla="*/ 0 h 486"/>
              <a:gd name="T6" fmla="*/ 336 w 504"/>
              <a:gd name="T7" fmla="*/ 24 h 486"/>
              <a:gd name="T8" fmla="*/ 408 w 504"/>
              <a:gd name="T9" fmla="*/ 60 h 486"/>
              <a:gd name="T10" fmla="*/ 432 w 504"/>
              <a:gd name="T11" fmla="*/ 96 h 486"/>
              <a:gd name="T12" fmla="*/ 468 w 504"/>
              <a:gd name="T13" fmla="*/ 120 h 486"/>
              <a:gd name="T14" fmla="*/ 480 w 504"/>
              <a:gd name="T15" fmla="*/ 168 h 486"/>
              <a:gd name="T16" fmla="*/ 504 w 504"/>
              <a:gd name="T17" fmla="*/ 240 h 486"/>
              <a:gd name="T18" fmla="*/ 468 w 504"/>
              <a:gd name="T19" fmla="*/ 360 h 486"/>
              <a:gd name="T20" fmla="*/ 432 w 504"/>
              <a:gd name="T21" fmla="*/ 396 h 486"/>
              <a:gd name="T22" fmla="*/ 264 w 504"/>
              <a:gd name="T23" fmla="*/ 480 h 486"/>
              <a:gd name="T24" fmla="*/ 120 w 504"/>
              <a:gd name="T25" fmla="*/ 456 h 486"/>
              <a:gd name="T26" fmla="*/ 60 w 504"/>
              <a:gd name="T27" fmla="*/ 384 h 486"/>
              <a:gd name="T28" fmla="*/ 36 w 504"/>
              <a:gd name="T29" fmla="*/ 252 h 48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04"/>
              <a:gd name="T46" fmla="*/ 0 h 486"/>
              <a:gd name="T47" fmla="*/ 504 w 504"/>
              <a:gd name="T48" fmla="*/ 486 h 48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04" h="486">
                <a:moveTo>
                  <a:pt x="0" y="84"/>
                </a:moveTo>
                <a:cubicBezTo>
                  <a:pt x="26" y="67"/>
                  <a:pt x="46" y="41"/>
                  <a:pt x="72" y="24"/>
                </a:cubicBezTo>
                <a:cubicBezTo>
                  <a:pt x="88" y="13"/>
                  <a:pt x="159" y="2"/>
                  <a:pt x="168" y="0"/>
                </a:cubicBezTo>
                <a:cubicBezTo>
                  <a:pt x="189" y="2"/>
                  <a:pt x="296" y="7"/>
                  <a:pt x="336" y="24"/>
                </a:cubicBezTo>
                <a:cubicBezTo>
                  <a:pt x="499" y="94"/>
                  <a:pt x="256" y="9"/>
                  <a:pt x="408" y="60"/>
                </a:cubicBezTo>
                <a:cubicBezTo>
                  <a:pt x="416" y="72"/>
                  <a:pt x="422" y="86"/>
                  <a:pt x="432" y="96"/>
                </a:cubicBezTo>
                <a:cubicBezTo>
                  <a:pt x="442" y="106"/>
                  <a:pt x="460" y="108"/>
                  <a:pt x="468" y="120"/>
                </a:cubicBezTo>
                <a:cubicBezTo>
                  <a:pt x="477" y="134"/>
                  <a:pt x="475" y="152"/>
                  <a:pt x="480" y="168"/>
                </a:cubicBezTo>
                <a:cubicBezTo>
                  <a:pt x="487" y="192"/>
                  <a:pt x="504" y="240"/>
                  <a:pt x="504" y="240"/>
                </a:cubicBezTo>
                <a:cubicBezTo>
                  <a:pt x="492" y="276"/>
                  <a:pt x="489" y="328"/>
                  <a:pt x="468" y="360"/>
                </a:cubicBezTo>
                <a:cubicBezTo>
                  <a:pt x="459" y="374"/>
                  <a:pt x="443" y="383"/>
                  <a:pt x="432" y="396"/>
                </a:cubicBezTo>
                <a:cubicBezTo>
                  <a:pt x="369" y="471"/>
                  <a:pt x="364" y="463"/>
                  <a:pt x="264" y="480"/>
                </a:cubicBezTo>
                <a:cubicBezTo>
                  <a:pt x="216" y="475"/>
                  <a:pt x="158" y="486"/>
                  <a:pt x="120" y="456"/>
                </a:cubicBezTo>
                <a:cubicBezTo>
                  <a:pt x="96" y="436"/>
                  <a:pt x="82" y="406"/>
                  <a:pt x="60" y="384"/>
                </a:cubicBezTo>
                <a:cubicBezTo>
                  <a:pt x="30" y="293"/>
                  <a:pt x="36" y="337"/>
                  <a:pt x="36" y="252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2711624" y="6058227"/>
            <a:ext cx="69525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0" dirty="0">
                <a:latin typeface="Calibri" panose="020F0502020204030204" pitchFamily="34" charset="0"/>
              </a:rPr>
              <a:t>If P4 release R2, then R2 can be assigned to P3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Basic Facts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zh-TW" sz="2400" dirty="0">
                <a:solidFill>
                  <a:srgbClr val="FF0000"/>
                </a:solidFill>
              </a:rPr>
              <a:t>If graph contains no cycles </a:t>
            </a:r>
            <a:r>
              <a:rPr lang="en-US" altLang="zh-TW" sz="2400" dirty="0">
                <a:solidFill>
                  <a:srgbClr val="FF0000"/>
                </a:solidFill>
                <a:sym typeface="Symbol" pitchFamily="18" charset="2"/>
              </a:rPr>
              <a:t> no deadlock.</a:t>
            </a:r>
          </a:p>
          <a:p>
            <a:pPr eaLnBrk="1" hangingPunct="1">
              <a:spcBef>
                <a:spcPct val="10000"/>
              </a:spcBef>
            </a:pPr>
            <a:endParaRPr lang="en-US" altLang="zh-TW" sz="2400" dirty="0" smtClean="0">
              <a:solidFill>
                <a:srgbClr val="FF0000"/>
              </a:solidFill>
              <a:sym typeface="Symbol" pitchFamily="18" charset="2"/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 smtClean="0">
                <a:solidFill>
                  <a:srgbClr val="FF0000"/>
                </a:solidFill>
                <a:sym typeface="Symbol" pitchFamily="18" charset="2"/>
              </a:rPr>
              <a:t>If </a:t>
            </a:r>
            <a:r>
              <a:rPr lang="en-US" altLang="zh-TW" sz="2400" dirty="0">
                <a:solidFill>
                  <a:srgbClr val="FF0000"/>
                </a:solidFill>
                <a:sym typeface="Symbol" pitchFamily="18" charset="2"/>
              </a:rPr>
              <a:t>graph contains a cycle 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>
                <a:solidFill>
                  <a:srgbClr val="FF0000"/>
                </a:solidFill>
                <a:sym typeface="Symbol" pitchFamily="18" charset="2"/>
              </a:rPr>
              <a:t>If only one instance per resource type, then deadlock.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>
                <a:solidFill>
                  <a:srgbClr val="FF0000"/>
                </a:solidFill>
                <a:sym typeface="Symbol" pitchFamily="18" charset="2"/>
              </a:rPr>
              <a:t>If several instances per resource type, possibility of deadlock.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 eaLnBrk="1" hangingPunct="1">
              <a:spcBef>
                <a:spcPct val="10000"/>
              </a:spcBef>
            </a:pPr>
            <a:endParaRPr lang="en-US" altLang="zh-TW" sz="2400" dirty="0" smtClean="0"/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 smtClean="0"/>
              <a:t>In </a:t>
            </a:r>
            <a:r>
              <a:rPr lang="en-US" altLang="zh-TW" sz="2400" dirty="0"/>
              <a:t>general, </a:t>
            </a:r>
            <a:r>
              <a:rPr lang="en-US" altLang="zh-TW" sz="2400" dirty="0">
                <a:sym typeface="Symbol" pitchFamily="18" charset="2"/>
              </a:rPr>
              <a:t>deadlock </a:t>
            </a:r>
            <a:r>
              <a:rPr lang="en-US" altLang="zh-TW" sz="2400" dirty="0"/>
              <a:t> cycle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en-US" altLang="zh-TW" sz="2400" dirty="0"/>
              <a:t>		            cycle </a:t>
            </a:r>
            <a:r>
              <a:rPr lang="en-US" altLang="zh-TW" sz="2400" dirty="0">
                <a:sym typeface="Symbol" pitchFamily="18" charset="2"/>
              </a:rPr>
              <a:t></a:t>
            </a:r>
            <a:r>
              <a:rPr lang="en-US" altLang="zh-TW" sz="2400" dirty="0"/>
              <a:t> may deadlock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en-US" altLang="zh-TW" sz="2400" dirty="0"/>
              <a:t>		            no cycle </a:t>
            </a:r>
            <a:r>
              <a:rPr lang="en-US" altLang="zh-TW" sz="2400" dirty="0">
                <a:sym typeface="Symbol" pitchFamily="18" charset="2"/>
              </a:rPr>
              <a:t> no deadlock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en-US" altLang="zh-TW" sz="2400" dirty="0">
                <a:sym typeface="Symbol" pitchFamily="18" charset="2"/>
              </a:rPr>
              <a:t>		            no deadlock  may have cycle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SzPct val="85000"/>
            </a:pPr>
            <a:r>
              <a:rPr lang="en-US" altLang="zh-TW" dirty="0" smtClean="0"/>
              <a:t>System Model</a:t>
            </a:r>
          </a:p>
          <a:p>
            <a:pPr eaLnBrk="1" hangingPunct="1">
              <a:buSzPct val="85000"/>
            </a:pPr>
            <a:r>
              <a:rPr lang="en-US" altLang="zh-TW" dirty="0"/>
              <a:t>Deadlock in Multithreaded Applications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Characterization</a:t>
            </a:r>
          </a:p>
          <a:p>
            <a:pPr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Methods for Handling Deadlocks</a:t>
            </a:r>
          </a:p>
          <a:p>
            <a:pPr eaLnBrk="1" hangingPunct="1"/>
            <a:r>
              <a:rPr lang="en-US" altLang="zh-TW" dirty="0" smtClean="0"/>
              <a:t>Deadlock Prevention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Avoidance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Detection 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Recovery from Deadlock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如何處理</a:t>
            </a:r>
            <a:r>
              <a:rPr lang="en-US" altLang="zh-TW" dirty="0" smtClean="0"/>
              <a:t>deadlock?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如何處理感冒</a:t>
            </a:r>
            <a:r>
              <a:rPr lang="en-US" altLang="zh-TW" dirty="0" smtClean="0"/>
              <a:t>?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4541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Methods for Handling Deadlocks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Method 1: ensure that the system will </a:t>
            </a:r>
            <a:r>
              <a:rPr lang="en-US" altLang="zh-TW" sz="2400" b="1" dirty="0">
                <a:solidFill>
                  <a:srgbClr val="FF0066"/>
                </a:solidFill>
              </a:rPr>
              <a:t>never</a:t>
            </a:r>
            <a:r>
              <a:rPr lang="en-US" altLang="zh-TW" sz="2400" dirty="0"/>
              <a:t> enter a deadlock state.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 smtClean="0">
                <a:solidFill>
                  <a:srgbClr val="990000"/>
                </a:solidFill>
              </a:rPr>
              <a:t>Deadlock prevention </a:t>
            </a:r>
            <a:r>
              <a:rPr lang="en-US" altLang="zh-TW" sz="2400" b="1" dirty="0" smtClean="0"/>
              <a:t>(</a:t>
            </a:r>
            <a:r>
              <a:rPr lang="zh-TW" altLang="en-US" sz="2400" b="1" dirty="0" smtClean="0"/>
              <a:t>預防</a:t>
            </a:r>
            <a:r>
              <a:rPr lang="en-US" altLang="zh-TW" sz="2400" b="1" dirty="0" smtClean="0"/>
              <a:t>;</a:t>
            </a:r>
            <a:r>
              <a:rPr lang="zh-TW" altLang="en-US" sz="2400" b="1" dirty="0" smtClean="0"/>
              <a:t>阻止</a:t>
            </a:r>
            <a:r>
              <a:rPr lang="en-US" altLang="zh-TW" sz="2400" b="1" dirty="0" smtClean="0"/>
              <a:t>(</a:t>
            </a:r>
            <a:r>
              <a:rPr lang="zh-TW" altLang="en-US" sz="2400" b="1" dirty="0" smtClean="0"/>
              <a:t>某人去做某事</a:t>
            </a:r>
            <a:r>
              <a:rPr lang="en-US" altLang="zh-TW" sz="2400" b="1" dirty="0" smtClean="0"/>
              <a:t>)) </a:t>
            </a:r>
            <a:endParaRPr lang="en-US" altLang="zh-TW" sz="2400" b="1" dirty="0" smtClean="0">
              <a:solidFill>
                <a:srgbClr val="99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 smtClean="0">
                <a:solidFill>
                  <a:srgbClr val="990000"/>
                </a:solidFill>
              </a:rPr>
              <a:t>Deadlock avoidance</a:t>
            </a:r>
            <a:r>
              <a:rPr lang="en-US" altLang="zh-TW" sz="2400" b="1" dirty="0" smtClean="0"/>
              <a:t> (</a:t>
            </a:r>
            <a:r>
              <a:rPr lang="zh-TW" altLang="en-US" sz="2400" b="1" dirty="0" smtClean="0"/>
              <a:t>避免</a:t>
            </a:r>
            <a:r>
              <a:rPr lang="en-US" altLang="zh-TW" sz="2400" b="1" dirty="0" smtClean="0"/>
              <a:t>(</a:t>
            </a:r>
            <a:r>
              <a:rPr lang="zh-TW" altLang="en-US" sz="2400" b="1" dirty="0" smtClean="0"/>
              <a:t>去做某事</a:t>
            </a:r>
            <a:r>
              <a:rPr lang="en-US" altLang="zh-TW" sz="2400" b="1" dirty="0" smtClean="0"/>
              <a:t>))</a:t>
            </a:r>
            <a:endParaRPr lang="en-US" altLang="zh-TW" sz="2400" dirty="0" smtClean="0"/>
          </a:p>
          <a:p>
            <a:pPr lvl="2" eaLnBrk="1" hangingPunct="1">
              <a:lnSpc>
                <a:spcPct val="90000"/>
              </a:lnSpc>
            </a:pPr>
            <a:r>
              <a:rPr lang="en-US" altLang="zh-TW" sz="1600" dirty="0" smtClean="0"/>
              <a:t>https://tw.voicetube.com/videos/71662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/>
              <a:t>Method </a:t>
            </a:r>
            <a:r>
              <a:rPr lang="en-US" altLang="zh-TW" sz="2400" dirty="0"/>
              <a:t>2: allow system to enter a deadlock state and then recover.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990000"/>
                </a:solidFill>
              </a:rPr>
              <a:t>Deadlock detection and deadlock recovery</a:t>
            </a:r>
            <a:endParaRPr lang="en-US" altLang="zh-TW" sz="2000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zh-TW" sz="20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Method 3: ignore the problem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Since deadlock occurs infrequently, say once per month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Used by most </a:t>
            </a:r>
            <a:r>
              <a:rPr lang="en-US" altLang="zh-TW" sz="2000" dirty="0" smtClean="0"/>
              <a:t>OS, </a:t>
            </a:r>
            <a:r>
              <a:rPr lang="en-US" altLang="zh-TW" sz="2000" dirty="0"/>
              <a:t>including UNIX, Linux, </a:t>
            </a:r>
            <a:r>
              <a:rPr lang="en-US" altLang="zh-TW" sz="2000" dirty="0" smtClean="0"/>
              <a:t>Windows.</a:t>
            </a:r>
            <a:endParaRPr lang="en-US" altLang="zh-TW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SzPct val="85000"/>
            </a:pPr>
            <a:r>
              <a:rPr lang="en-US" altLang="zh-TW" dirty="0" smtClean="0"/>
              <a:t>System Model</a:t>
            </a:r>
          </a:p>
          <a:p>
            <a:pPr eaLnBrk="1" hangingPunct="1">
              <a:buSzPct val="85000"/>
            </a:pPr>
            <a:r>
              <a:rPr lang="en-US" altLang="zh-TW" dirty="0"/>
              <a:t>Deadlock in Multithreaded Applications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Characterization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Methods for Handling Deadlocks</a:t>
            </a:r>
          </a:p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Deadlock Prevention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Avoidance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Detection 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Recovery from Deadlock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Deadlock Prevention</a:t>
            </a:r>
          </a:p>
        </p:txBody>
      </p:sp>
      <p:sp>
        <p:nvSpPr>
          <p:cNvPr id="513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TW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Deadlock prevention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TW" i="1" dirty="0" smtClean="0">
                <a:solidFill>
                  <a:srgbClr val="FF3300"/>
                </a:solidFill>
              </a:rPr>
              <a:t>Ensuring that at least one of the four conditions cannot hold</a:t>
            </a:r>
            <a:r>
              <a:rPr lang="en-US" altLang="zh-TW" dirty="0" smtClean="0"/>
              <a:t>.</a:t>
            </a:r>
          </a:p>
          <a:p>
            <a:pPr eaLnBrk="1" hangingPunct="1">
              <a:lnSpc>
                <a:spcPct val="110000"/>
              </a:lnSpc>
              <a:defRPr/>
            </a:pPr>
            <a:endParaRPr lang="en-US" altLang="zh-TW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TW" dirty="0" smtClean="0"/>
              <a:t>Mutual Exclusion –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TW" dirty="0" smtClean="0"/>
              <a:t>Some resources are </a:t>
            </a:r>
            <a:r>
              <a:rPr lang="en-US" altLang="zh-TW" b="1" dirty="0" err="1" smtClean="0"/>
              <a:t>nonsharable</a:t>
            </a:r>
            <a:r>
              <a:rPr lang="en-US" altLang="zh-TW" dirty="0" smtClean="0"/>
              <a:t>, e.g., printers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Deadlock Prevention (Cont.)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b="1" dirty="0"/>
              <a:t>Hold and Wait</a:t>
            </a:r>
            <a:r>
              <a:rPr lang="en-US" altLang="zh-TW" sz="2800" dirty="0"/>
              <a:t> </a:t>
            </a:r>
            <a:r>
              <a:rPr lang="en-US" altLang="zh-TW" sz="2800" dirty="0">
                <a:latin typeface="Helvetica" pitchFamily="34" charset="0"/>
              </a:rPr>
              <a:t>–</a:t>
            </a:r>
            <a:r>
              <a:rPr lang="en-US" altLang="zh-TW" sz="2800" dirty="0"/>
              <a:t>whenever a thread requests a resource, it </a:t>
            </a:r>
            <a:r>
              <a:rPr lang="en-US" altLang="zh-TW" sz="2800" dirty="0">
                <a:solidFill>
                  <a:srgbClr val="FF3300"/>
                </a:solidFill>
              </a:rPr>
              <a:t>does not</a:t>
            </a:r>
            <a:r>
              <a:rPr lang="en-US" altLang="zh-TW" sz="2800" dirty="0"/>
              <a:t> hold any other resources.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b="1" dirty="0"/>
              <a:t>Method 1 (Hold and no wait)</a:t>
            </a:r>
            <a:r>
              <a:rPr lang="en-US" altLang="zh-TW" sz="2400" dirty="0"/>
              <a:t>: each thread request and be allocated </a:t>
            </a:r>
            <a:r>
              <a:rPr lang="en-US" altLang="zh-TW" sz="2400" b="1" dirty="0">
                <a:solidFill>
                  <a:srgbClr val="FF3300"/>
                </a:solidFill>
              </a:rPr>
              <a:t>all</a:t>
            </a:r>
            <a:r>
              <a:rPr lang="en-US" altLang="zh-TW" sz="2400" dirty="0"/>
              <a:t> its resources before execution </a:t>
            </a:r>
          </a:p>
          <a:p>
            <a:pPr lvl="1" eaLnBrk="1" hangingPunct="1">
              <a:lnSpc>
                <a:spcPct val="110000"/>
              </a:lnSpc>
            </a:pPr>
            <a:endParaRPr lang="en-US" altLang="zh-TW" sz="2400" b="1" dirty="0" smtClean="0"/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b="1" dirty="0" smtClean="0"/>
              <a:t>Method </a:t>
            </a:r>
            <a:r>
              <a:rPr lang="en-US" altLang="zh-TW" sz="2400" b="1" dirty="0"/>
              <a:t>2 (Wait and no hold)</a:t>
            </a:r>
            <a:r>
              <a:rPr lang="en-US" altLang="zh-TW" sz="2400" dirty="0"/>
              <a:t>: A thread can request resources only when the thread has </a:t>
            </a:r>
            <a:r>
              <a:rPr lang="en-US" altLang="zh-TW" sz="2400" b="1" dirty="0">
                <a:solidFill>
                  <a:srgbClr val="FF3300"/>
                </a:solidFill>
              </a:rPr>
              <a:t>none</a:t>
            </a:r>
            <a:r>
              <a:rPr lang="en-US" altLang="zh-TW" sz="2400" dirty="0" smtClean="0"/>
              <a:t>.</a:t>
            </a:r>
            <a:endParaRPr lang="en-US" altLang="zh-TW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Deadlock Prevention (Cont.)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b="1" dirty="0"/>
              <a:t>No Preemption</a:t>
            </a:r>
            <a:r>
              <a:rPr lang="en-US" altLang="zh-TW" sz="2800" dirty="0"/>
              <a:t> </a:t>
            </a:r>
            <a:r>
              <a:rPr lang="en-US" altLang="zh-TW" sz="2800" dirty="0">
                <a:latin typeface="Helvetica" pitchFamily="34" charset="0"/>
              </a:rPr>
              <a:t>–</a:t>
            </a:r>
            <a:r>
              <a:rPr lang="en-US" altLang="zh-TW" sz="2800" dirty="0"/>
              <a:t> 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zh-TW" sz="2400" dirty="0" smtClean="0"/>
              <a:t>Only apply to resources </a:t>
            </a:r>
            <a:r>
              <a:rPr lang="en-US" altLang="zh-TW" sz="2400" dirty="0" smtClean="0">
                <a:solidFill>
                  <a:srgbClr val="FF3300"/>
                </a:solidFill>
              </a:rPr>
              <a:t>whose state can be easily saved and restored</a:t>
            </a:r>
            <a:r>
              <a:rPr lang="en-US" altLang="zh-TW" sz="2400" dirty="0" smtClean="0"/>
              <a:t> (such as CPU, registers, memory)</a:t>
            </a:r>
          </a:p>
          <a:p>
            <a:pPr lvl="1" eaLnBrk="1" hangingPunct="1">
              <a:spcBef>
                <a:spcPts val="1200"/>
              </a:spcBef>
            </a:pPr>
            <a:endParaRPr lang="en-US" altLang="zh-TW" sz="2400" dirty="0" smtClean="0"/>
          </a:p>
          <a:p>
            <a:pPr lvl="1" eaLnBrk="1" hangingPunct="1">
              <a:spcBef>
                <a:spcPts val="1200"/>
              </a:spcBef>
            </a:pPr>
            <a:r>
              <a:rPr lang="en-US" altLang="zh-TW" sz="2400" dirty="0" smtClean="0"/>
              <a:t>Cannot </a:t>
            </a:r>
            <a:r>
              <a:rPr lang="en-US" altLang="zh-TW" sz="2400" dirty="0"/>
              <a:t>applied to resources such as </a:t>
            </a:r>
            <a:r>
              <a:rPr lang="en-US" altLang="zh-TW" sz="2400" b="1" dirty="0"/>
              <a:t>mutex </a:t>
            </a:r>
            <a:r>
              <a:rPr lang="en-US" altLang="zh-TW" sz="2400" dirty="0"/>
              <a:t>and </a:t>
            </a:r>
            <a:r>
              <a:rPr lang="en-US" altLang="zh-TW" sz="2400" b="1" dirty="0" smtClean="0"/>
              <a:t>semaphores</a:t>
            </a:r>
            <a:endParaRPr lang="en-US" altLang="zh-TW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Deadlock Prevention (Cont.)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sz="3000" b="1" dirty="0"/>
              <a:t>Circular Wait</a:t>
            </a:r>
            <a:r>
              <a:rPr lang="en-US" altLang="zh-TW" sz="3000" dirty="0"/>
              <a:t> </a:t>
            </a:r>
            <a:r>
              <a:rPr lang="en-US" altLang="zh-TW" sz="3000" dirty="0">
                <a:latin typeface="Helvetica" pitchFamily="34" charset="0"/>
              </a:rPr>
              <a:t>–</a:t>
            </a:r>
            <a:r>
              <a:rPr lang="en-US" altLang="zh-TW" sz="3000" dirty="0"/>
              <a:t> </a:t>
            </a:r>
          </a:p>
          <a:p>
            <a:pPr lvl="1" eaLnBrk="1" hangingPunct="1"/>
            <a:r>
              <a:rPr lang="en-US" altLang="zh-TW" sz="2600" dirty="0"/>
              <a:t>Impose a </a:t>
            </a:r>
            <a:r>
              <a:rPr lang="en-US" altLang="zh-TW" sz="2600" dirty="0">
                <a:solidFill>
                  <a:srgbClr val="3333FF"/>
                </a:solidFill>
              </a:rPr>
              <a:t>total ordering</a:t>
            </a:r>
            <a:r>
              <a:rPr lang="en-US" altLang="zh-TW" sz="2600" dirty="0"/>
              <a:t> of all resource types </a:t>
            </a:r>
          </a:p>
          <a:p>
            <a:pPr lvl="2" eaLnBrk="1" hangingPunct="1"/>
            <a:r>
              <a:rPr lang="en-US" altLang="zh-TW" dirty="0" smtClean="0"/>
              <a:t>Example: </a:t>
            </a:r>
            <a:r>
              <a:rPr lang="en-US" altLang="zh-TW" i="1" dirty="0" smtClean="0"/>
              <a:t>F(</a:t>
            </a:r>
            <a:r>
              <a:rPr lang="en-US" altLang="zh-TW" i="1" dirty="0" err="1" smtClean="0"/>
              <a:t>first_mutex</a:t>
            </a:r>
            <a:r>
              <a:rPr lang="en-US" altLang="zh-TW" i="1" dirty="0" smtClean="0"/>
              <a:t>)</a:t>
            </a:r>
            <a:r>
              <a:rPr lang="en-US" altLang="zh-TW" dirty="0" smtClean="0"/>
              <a:t> = 1, </a:t>
            </a:r>
            <a:r>
              <a:rPr lang="en-US" altLang="zh-TW" i="1" dirty="0" smtClean="0"/>
              <a:t>F(</a:t>
            </a:r>
            <a:r>
              <a:rPr lang="en-US" altLang="zh-TW" i="1" dirty="0" err="1" smtClean="0"/>
              <a:t>second_mutex</a:t>
            </a:r>
            <a:r>
              <a:rPr lang="en-US" altLang="zh-TW" i="1" dirty="0" smtClean="0"/>
              <a:t>)</a:t>
            </a:r>
            <a:r>
              <a:rPr lang="en-US" altLang="zh-TW" dirty="0" smtClean="0"/>
              <a:t> = 2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zh-TW" sz="2600" b="1" dirty="0"/>
              <a:t>Method 1</a:t>
            </a:r>
            <a:r>
              <a:rPr lang="en-US" altLang="zh-TW" sz="2600" dirty="0"/>
              <a:t>: Each thread requests resources in an </a:t>
            </a:r>
            <a:r>
              <a:rPr lang="en-US" altLang="zh-TW" sz="2600" dirty="0">
                <a:solidFill>
                  <a:srgbClr val="3333FF"/>
                </a:solidFill>
              </a:rPr>
              <a:t>increasing order of enumeration</a:t>
            </a:r>
            <a:r>
              <a:rPr lang="en-US" altLang="zh-TW" sz="2600" dirty="0"/>
              <a:t>.</a:t>
            </a:r>
          </a:p>
          <a:p>
            <a:pPr lvl="2" eaLnBrk="1" hangingPunct="1"/>
            <a:r>
              <a:rPr lang="en-US" altLang="zh-TW" dirty="0" smtClean="0">
                <a:solidFill>
                  <a:srgbClr val="FF3300"/>
                </a:solidFill>
              </a:rPr>
              <a:t>Accept,</a:t>
            </a:r>
            <a:r>
              <a:rPr lang="en-US" altLang="zh-TW" dirty="0" smtClean="0"/>
              <a:t> If </a:t>
            </a:r>
            <a:r>
              <a:rPr lang="en-US" altLang="zh-TW" i="1" dirty="0" err="1"/>
              <a:t>first_mutex</a:t>
            </a:r>
            <a:r>
              <a:rPr lang="en-US" altLang="zh-TW" dirty="0" smtClean="0">
                <a:sym typeface="Wingdings" pitchFamily="2" charset="2"/>
              </a:rPr>
              <a:t> </a:t>
            </a:r>
            <a:r>
              <a:rPr lang="en-US" altLang="zh-TW" i="1" dirty="0" err="1" smtClean="0"/>
              <a:t>second_mutex</a:t>
            </a:r>
            <a:endParaRPr lang="en-US" altLang="zh-TW" dirty="0" smtClean="0">
              <a:sym typeface="Wingdings" pitchFamily="2" charset="2"/>
            </a:endParaRPr>
          </a:p>
          <a:p>
            <a:pPr lvl="2" eaLnBrk="1" hangingPunct="1"/>
            <a:r>
              <a:rPr lang="en-US" altLang="zh-TW" dirty="0" smtClean="0">
                <a:solidFill>
                  <a:srgbClr val="FF3300"/>
                </a:solidFill>
              </a:rPr>
              <a:t>Reject,  </a:t>
            </a:r>
            <a:r>
              <a:rPr lang="en-US" altLang="zh-TW" dirty="0" smtClean="0"/>
              <a:t>If </a:t>
            </a:r>
            <a:r>
              <a:rPr lang="en-US" altLang="zh-TW" i="1" dirty="0" err="1"/>
              <a:t>second_mutex</a:t>
            </a:r>
            <a:r>
              <a:rPr lang="en-US" altLang="zh-TW" dirty="0" smtClean="0">
                <a:sym typeface="Wingdings" pitchFamily="2" charset="2"/>
              </a:rPr>
              <a:t> </a:t>
            </a:r>
            <a:r>
              <a:rPr lang="en-US" altLang="zh-TW" i="1" dirty="0" err="1" smtClean="0"/>
              <a:t>first_mutex</a:t>
            </a:r>
            <a:endParaRPr lang="en-US" altLang="zh-TW" dirty="0" smtClean="0">
              <a:sym typeface="Wingdings" pitchFamily="2" charset="2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TW" sz="2600" b="1" dirty="0"/>
              <a:t>Method 2</a:t>
            </a:r>
            <a:r>
              <a:rPr lang="en-US" altLang="zh-TW" sz="2600" dirty="0"/>
              <a:t>: Whenever a thread requests resource </a:t>
            </a:r>
            <a:r>
              <a:rPr lang="en-US" altLang="zh-TW" sz="2600" i="1" dirty="0" err="1" smtClean="0"/>
              <a:t>Rj</a:t>
            </a:r>
            <a:r>
              <a:rPr lang="en-US" altLang="zh-TW" sz="2600" i="1" dirty="0" smtClean="0"/>
              <a:t> (SKIP!)</a:t>
            </a:r>
            <a:endParaRPr lang="en-US" altLang="zh-TW" sz="2600" i="1" dirty="0"/>
          </a:p>
          <a:p>
            <a:pPr lvl="2" eaLnBrk="1" hangingPunct="1"/>
            <a:r>
              <a:rPr lang="en-US" altLang="zh-TW" dirty="0" smtClean="0"/>
              <a:t>It has released any resources </a:t>
            </a:r>
            <a:r>
              <a:rPr lang="en-US" altLang="zh-TW" i="1" dirty="0" err="1" smtClean="0"/>
              <a:t>Ri</a:t>
            </a:r>
            <a:r>
              <a:rPr lang="en-US" altLang="zh-TW" dirty="0" smtClean="0"/>
              <a:t> such that </a:t>
            </a:r>
            <a:r>
              <a:rPr lang="en-US" altLang="zh-TW" b="1" i="1" dirty="0" smtClean="0">
                <a:solidFill>
                  <a:srgbClr val="FF3300"/>
                </a:solidFill>
              </a:rPr>
              <a:t>F(</a:t>
            </a:r>
            <a:r>
              <a:rPr lang="en-US" altLang="zh-TW" b="1" i="1" dirty="0" err="1" smtClean="0">
                <a:solidFill>
                  <a:srgbClr val="FF3300"/>
                </a:solidFill>
              </a:rPr>
              <a:t>Ri</a:t>
            </a:r>
            <a:r>
              <a:rPr lang="en-US" altLang="zh-TW" b="1" i="1" dirty="0" smtClean="0">
                <a:solidFill>
                  <a:srgbClr val="FF3300"/>
                </a:solidFill>
              </a:rPr>
              <a:t>) &gt; F(</a:t>
            </a:r>
            <a:r>
              <a:rPr lang="en-US" altLang="zh-TW" b="1" i="1" dirty="0" err="1" smtClean="0">
                <a:solidFill>
                  <a:srgbClr val="FF3300"/>
                </a:solidFill>
              </a:rPr>
              <a:t>Rj</a:t>
            </a:r>
            <a:r>
              <a:rPr lang="en-US" altLang="zh-TW" b="1" i="1" dirty="0" smtClean="0">
                <a:solidFill>
                  <a:srgbClr val="FF3300"/>
                </a:solidFill>
              </a:rPr>
              <a:t>)</a:t>
            </a:r>
          </a:p>
          <a:p>
            <a:pPr lvl="2" eaLnBrk="1" hangingPunct="1"/>
            <a:r>
              <a:rPr lang="en-US" altLang="zh-TW" dirty="0" smtClean="0"/>
              <a:t>Ex: if a process holds resources 1, 4, 5 and </a:t>
            </a:r>
            <a:r>
              <a:rPr lang="en-US" altLang="zh-TW" smtClean="0"/>
              <a:t>requests 3</a:t>
            </a:r>
            <a:r>
              <a:rPr lang="en-US" altLang="zh-TW" smtClean="0">
                <a:sym typeface="Wingdings" pitchFamily="2" charset="2"/>
              </a:rPr>
              <a:t> </a:t>
            </a:r>
            <a:r>
              <a:rPr lang="en-US" altLang="zh-TW" dirty="0" smtClean="0">
                <a:sym typeface="Wingdings" pitchFamily="2" charset="2"/>
              </a:rPr>
              <a:t>release 4 and 5 first</a:t>
            </a: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Deadlock Prevention (Cont</a:t>
            </a:r>
            <a:r>
              <a:rPr lang="en-US" altLang="zh-TW" sz="4000" dirty="0" smtClean="0"/>
              <a:t>.) (Skip!)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TW" b="1" dirty="0"/>
              <a:t>Circular Wait</a:t>
            </a:r>
            <a:r>
              <a:rPr lang="en-US" altLang="zh-TW" dirty="0"/>
              <a:t> </a:t>
            </a:r>
            <a:r>
              <a:rPr lang="en-US" altLang="zh-TW" dirty="0">
                <a:latin typeface="Helvetica" pitchFamily="34" charset="0"/>
              </a:rPr>
              <a:t>–</a:t>
            </a:r>
            <a:r>
              <a:rPr lang="en-US" altLang="zh-TW" dirty="0"/>
              <a:t> </a:t>
            </a:r>
            <a:endParaRPr lang="en-US" altLang="zh-TW" b="1" dirty="0"/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But, imposing an ordering does </a:t>
            </a:r>
            <a:r>
              <a:rPr lang="en-US" altLang="zh-TW" b="1" dirty="0" smtClean="0"/>
              <a:t>not</a:t>
            </a:r>
            <a:r>
              <a:rPr lang="en-US" altLang="zh-TW" dirty="0" smtClean="0"/>
              <a:t> guarantee deadlock prevention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Example: </a:t>
            </a:r>
            <a:r>
              <a:rPr lang="en-US" altLang="zh-TW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transaction()</a:t>
            </a:r>
            <a:r>
              <a:rPr lang="en-US" altLang="zh-TW" dirty="0" smtClean="0"/>
              <a:t>is a function that transfers funds between two accounts </a:t>
            </a:r>
            <a:r>
              <a:rPr lang="en-US" altLang="zh-TW" sz="1900" dirty="0"/>
              <a:t>(see the </a:t>
            </a:r>
            <a:r>
              <a:rPr lang="en-US" altLang="zh-TW" sz="1900" dirty="0" smtClean="0"/>
              <a:t>following </a:t>
            </a:r>
            <a:r>
              <a:rPr lang="en-US" altLang="zh-TW" sz="1900" dirty="0"/>
              <a:t>slides)</a:t>
            </a:r>
            <a:endParaRPr lang="en-US" altLang="zh-TW" dirty="0" smtClean="0"/>
          </a:p>
          <a:p>
            <a:pPr lvl="2">
              <a:lnSpc>
                <a:spcPct val="110000"/>
              </a:lnSpc>
            </a:pPr>
            <a:r>
              <a:rPr lang="en-US" altLang="zh-TW" dirty="0"/>
              <a:t>Deadlock is possible if two threads simultaneously invoke </a:t>
            </a:r>
            <a:r>
              <a:rPr lang="en-US" altLang="zh-TW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transaction</a:t>
            </a:r>
            <a:r>
              <a:rPr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TW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TW" dirty="0" smtClean="0"/>
              <a:t>, giving two opposite </a:t>
            </a:r>
            <a:r>
              <a:rPr lang="en-US" altLang="zh-TW" dirty="0"/>
              <a:t>accounts. </a:t>
            </a:r>
            <a:endParaRPr lang="en-US" altLang="zh-TW" dirty="0" smtClean="0"/>
          </a:p>
          <a:p>
            <a:pPr lvl="2">
              <a:lnSpc>
                <a:spcPct val="110000"/>
              </a:lnSpc>
            </a:pPr>
            <a:r>
              <a:rPr lang="en-US" altLang="zh-TW" dirty="0" smtClean="0"/>
              <a:t>Thread 1: 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en-US" altLang="zh-TW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19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transaction(account1,account2,25.0</a:t>
            </a:r>
            <a:r>
              <a:rPr lang="en-US" altLang="zh-TW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>
              <a:lnSpc>
                <a:spcPct val="110000"/>
              </a:lnSpc>
            </a:pPr>
            <a:r>
              <a:rPr lang="en-US" altLang="zh-TW" dirty="0" smtClean="0"/>
              <a:t>Thread 2</a:t>
            </a:r>
            <a:r>
              <a:rPr lang="en-US" altLang="zh-TW" dirty="0"/>
              <a:t> :</a:t>
            </a:r>
            <a:endParaRPr lang="en-US" altLang="zh-TW" dirty="0" smtClean="0"/>
          </a:p>
          <a:p>
            <a:pPr marL="914400" lvl="2" indent="0">
              <a:lnSpc>
                <a:spcPct val="110000"/>
              </a:lnSpc>
              <a:buNone/>
            </a:pPr>
            <a:r>
              <a:rPr lang="en-US" altLang="zh-TW" dirty="0" smtClean="0">
                <a:cs typeface="Courier New" panose="02070309020205020404" pitchFamily="49" charset="0"/>
              </a:rPr>
              <a:t>    </a:t>
            </a:r>
            <a:r>
              <a:rPr lang="en-US" altLang="zh-TW" sz="19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transaction(account2,account1,50.0</a:t>
            </a:r>
            <a:r>
              <a:rPr lang="en-US" altLang="zh-TW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zh-TW" altLang="en-US" sz="19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38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Deadlock Example with Lock Ordering (Skip!)</a:t>
            </a:r>
            <a:endParaRPr lang="zh-TW" altLang="en-US" sz="40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1" y="1484784"/>
            <a:ext cx="7776865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0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1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3722873"/>
              </p:ext>
            </p:extLst>
          </p:nvPr>
        </p:nvGraphicFramePr>
        <p:xfrm>
          <a:off x="1631504" y="692696"/>
          <a:ext cx="8784976" cy="5916267"/>
        </p:xfrm>
        <a:graphic>
          <a:graphicData uri="http://schemas.openxmlformats.org/drawingml/2006/table">
            <a:tbl>
              <a:tblPr/>
              <a:tblGrid>
                <a:gridCol w="446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4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Thread 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Times New Roman" pitchFamily="18" charset="0"/>
                        </a:rPr>
                        <a:t>Thread 2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Lock1=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get_lock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(account1)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Times New Roman" pitchFamily="18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Lock2=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get_lock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(account2)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acquire(Lock1);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//lock account1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Lock1=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get_lock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(account2)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Lock2=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get_lock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(account1)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acquire(Lock1);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//lock account2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acquire(Lock2);  //blocked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//fail to lock account2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acquire(Lock2);  //blocked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Courier New" pitchFamily="49" charset="0"/>
                        </a:rPr>
                        <a:t>//fail to lock account1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34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新細明體" pitchFamily="18" charset="-120"/>
                          <a:cs typeface="Times New Roman" pitchFamily="18" charset="0"/>
                        </a:rPr>
                        <a:t>deadlock</a:t>
                      </a:r>
                      <a:endParaRPr kumimoji="1" lang="zh-TW" altLang="zh-TW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992313" y="115888"/>
            <a:ext cx="8229600" cy="432792"/>
          </a:xfrm>
        </p:spPr>
        <p:txBody>
          <a:bodyPr/>
          <a:lstStyle/>
          <a:p>
            <a:r>
              <a:rPr lang="en-US" altLang="zh-TW" sz="2800" dirty="0"/>
              <a:t>Deadlock Example with Lock Ordering (Skip!)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1301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SzPct val="85000"/>
            </a:pPr>
            <a:r>
              <a:rPr lang="en-US" altLang="zh-TW" dirty="0" smtClean="0"/>
              <a:t>System Model</a:t>
            </a:r>
          </a:p>
          <a:p>
            <a:pPr eaLnBrk="1" hangingPunct="1">
              <a:buSzPct val="85000"/>
            </a:pPr>
            <a:r>
              <a:rPr lang="en-US" altLang="zh-TW" dirty="0"/>
              <a:t>Deadlock in Multithreaded Applications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Characterization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Methods for Handling Deadlocks</a:t>
            </a:r>
          </a:p>
          <a:p>
            <a:pPr eaLnBrk="1" hangingPunct="1"/>
            <a:r>
              <a:rPr lang="en-US" altLang="zh-TW" dirty="0" smtClean="0"/>
              <a:t>Deadlock Prevention</a:t>
            </a:r>
          </a:p>
          <a:p>
            <a:pPr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Deadlock Avoidance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Detection 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Recovery from Deadlock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Deadlock Avoidance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kumimoji="0" lang="en-US" altLang="zh-TW" dirty="0" smtClean="0"/>
              <a:t>Check if the admission of a request may lead to a deadlock (specifically, a </a:t>
            </a:r>
            <a:r>
              <a:rPr kumimoji="0" lang="en-US" altLang="zh-TW" b="1" dirty="0" smtClean="0"/>
              <a:t>circular-wait</a:t>
            </a:r>
            <a:r>
              <a:rPr kumimoji="0" lang="en-US" altLang="zh-TW" dirty="0" smtClean="0"/>
              <a:t> condition)</a:t>
            </a:r>
          </a:p>
          <a:p>
            <a:pPr lvl="1" eaLnBrk="1" hangingPunct="1">
              <a:lnSpc>
                <a:spcPct val="120000"/>
              </a:lnSpc>
            </a:pPr>
            <a:r>
              <a:rPr kumimoji="0" lang="en-US" altLang="zh-TW" dirty="0" smtClean="0"/>
              <a:t>Yes =&gt; do not admit the request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TW" b="1" dirty="0" smtClean="0"/>
              <a:t>Requires</a:t>
            </a:r>
            <a:r>
              <a:rPr kumimoji="0" lang="en-US" altLang="zh-TW" dirty="0" smtClean="0"/>
              <a:t> the system has some </a:t>
            </a:r>
            <a:r>
              <a:rPr kumimoji="0" lang="en-US" altLang="zh-TW" b="1" i="1" dirty="0">
                <a:solidFill>
                  <a:srgbClr val="FF3300"/>
                </a:solidFill>
              </a:rPr>
              <a:t>additional</a:t>
            </a:r>
            <a:r>
              <a:rPr kumimoji="0" lang="en-US" altLang="zh-TW" dirty="0" smtClean="0"/>
              <a:t> </a:t>
            </a:r>
            <a:r>
              <a:rPr kumimoji="0" lang="en-US" altLang="zh-TW" b="1" i="1" dirty="0" smtClean="0">
                <a:solidFill>
                  <a:srgbClr val="FF3300"/>
                </a:solidFill>
              </a:rPr>
              <a:t>a priori</a:t>
            </a:r>
            <a:r>
              <a:rPr kumimoji="0" lang="en-US" altLang="zh-TW" i="1" dirty="0" smtClean="0"/>
              <a:t> </a:t>
            </a:r>
            <a:r>
              <a:rPr kumimoji="0" lang="en-US" altLang="zh-TW" dirty="0" smtClean="0"/>
              <a:t>information.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E</a:t>
            </a:r>
            <a:r>
              <a:rPr lang="en-US" altLang="zh-TW" dirty="0" smtClean="0"/>
              <a:t>ach thread must </a:t>
            </a:r>
            <a:r>
              <a:rPr lang="en-US" altLang="zh-TW" b="1" dirty="0" smtClean="0"/>
              <a:t>declare the </a:t>
            </a:r>
            <a:r>
              <a:rPr lang="en-US" altLang="zh-TW" b="1" dirty="0" smtClean="0">
                <a:solidFill>
                  <a:srgbClr val="3333FF"/>
                </a:solidFill>
              </a:rPr>
              <a:t>maximum number of resources of each type that it may need</a:t>
            </a:r>
            <a:endParaRPr lang="en-US" altLang="zh-TW" sz="2400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FF3300"/>
                </a:solidFill>
              </a:rPr>
              <a:t>deadlock-avoidance</a:t>
            </a:r>
            <a:r>
              <a:rPr lang="en-US" altLang="zh-TW" dirty="0" smtClean="0"/>
              <a:t> algorithm </a:t>
            </a:r>
            <a:r>
              <a:rPr lang="en-US" altLang="zh-TW" b="1" dirty="0" smtClean="0"/>
              <a:t>dynamically</a:t>
            </a:r>
            <a:r>
              <a:rPr lang="en-US" altLang="zh-TW" dirty="0" smtClean="0"/>
              <a:t> examines the </a:t>
            </a:r>
            <a:r>
              <a:rPr lang="en-US" altLang="zh-TW" b="1" dirty="0" smtClean="0">
                <a:solidFill>
                  <a:srgbClr val="3333FF"/>
                </a:solidFill>
              </a:rPr>
              <a:t>resource-allocation state</a:t>
            </a:r>
            <a:r>
              <a:rPr lang="en-US" altLang="zh-TW" dirty="0" smtClean="0"/>
              <a:t>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 smtClean="0"/>
              <a:t>Ensure that there can never be a </a:t>
            </a:r>
            <a:r>
              <a:rPr lang="en-US" altLang="zh-TW" b="1" dirty="0" smtClean="0"/>
              <a:t>circular-wait condition</a:t>
            </a:r>
            <a:r>
              <a:rPr lang="en-US" altLang="zh-TW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buSzPct val="85000"/>
            </a:pPr>
            <a:r>
              <a:rPr lang="en-US" altLang="zh-TW" dirty="0" smtClean="0"/>
              <a:t>System Model</a:t>
            </a:r>
          </a:p>
          <a:p>
            <a:pPr eaLnBrk="1" hangingPunct="1">
              <a:buSzPct val="85000"/>
            </a:pPr>
            <a:r>
              <a:rPr lang="en-US" altLang="zh-TW" dirty="0"/>
              <a:t>Deadlock in Multithreaded Applications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Characterization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Methods for Handling Deadlocks</a:t>
            </a:r>
          </a:p>
          <a:p>
            <a:pPr eaLnBrk="1" hangingPunct="1"/>
            <a:r>
              <a:rPr lang="en-US" altLang="zh-TW" dirty="0" smtClean="0"/>
              <a:t>Deadlock Prevention</a:t>
            </a:r>
          </a:p>
          <a:p>
            <a:pPr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Deadlock Avoidance</a:t>
            </a:r>
          </a:p>
          <a:p>
            <a:pPr lvl="1"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Safe State</a:t>
            </a:r>
          </a:p>
          <a:p>
            <a:pPr lvl="1" eaLnBrk="1" hangingPunct="1">
              <a:buSzPct val="85000"/>
            </a:pPr>
            <a:r>
              <a:rPr lang="en-US" altLang="zh-TW" dirty="0" smtClean="0"/>
              <a:t>Resource-Allocation-Graph Algorithm</a:t>
            </a:r>
          </a:p>
          <a:p>
            <a:pPr lvl="1" eaLnBrk="1" hangingPunct="1">
              <a:buSzPct val="85000"/>
            </a:pPr>
            <a:r>
              <a:rPr lang="en-US" altLang="zh-TW" dirty="0" smtClean="0"/>
              <a:t>Banker’s Algorithm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Detection 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Recovery from Deadlock </a:t>
            </a:r>
          </a:p>
        </p:txBody>
      </p:sp>
    </p:spTree>
    <p:extLst>
      <p:ext uri="{BB962C8B-B14F-4D97-AF65-F5344CB8AC3E}">
        <p14:creationId xmlns:p14="http://schemas.microsoft.com/office/powerpoint/2010/main" val="266583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Safe State</a:t>
            </a:r>
          </a:p>
        </p:txBody>
      </p:sp>
      <p:sp>
        <p:nvSpPr>
          <p:cNvPr id="518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altLang="zh-TW" sz="2800" dirty="0"/>
              <a:t>System is in </a:t>
            </a:r>
            <a:r>
              <a:rPr lang="en-US" altLang="zh-TW" sz="2800" b="1" dirty="0">
                <a:solidFill>
                  <a:srgbClr val="FF3300"/>
                </a:solidFill>
              </a:rPr>
              <a:t>safe</a:t>
            </a:r>
            <a:r>
              <a:rPr lang="en-US" altLang="zh-TW" sz="2800" dirty="0"/>
              <a:t> state if there exists </a:t>
            </a:r>
            <a:r>
              <a:rPr lang="en-US" altLang="zh-TW" sz="2800" b="1" dirty="0">
                <a:solidFill>
                  <a:srgbClr val="3333FF"/>
                </a:solidFill>
              </a:rPr>
              <a:t>a safe execution sequence of all threads</a:t>
            </a:r>
          </a:p>
          <a:p>
            <a:pPr eaLnBrk="1" hangingPunct="1">
              <a:defRPr/>
            </a:pPr>
            <a:endParaRPr lang="en-US" altLang="zh-TW" sz="2800" dirty="0"/>
          </a:p>
          <a:p>
            <a:pPr eaLnBrk="1" hangingPunct="1">
              <a:defRPr/>
            </a:pPr>
            <a:r>
              <a:rPr lang="en-US" altLang="zh-TW" sz="2800" dirty="0"/>
              <a:t>Definition: system is in </a:t>
            </a:r>
            <a:r>
              <a:rPr lang="en-US" altLang="zh-TW" sz="2800" b="1" dirty="0">
                <a:solidFill>
                  <a:srgbClr val="FF3300"/>
                </a:solidFill>
              </a:rPr>
              <a:t>safe state</a:t>
            </a:r>
            <a:r>
              <a:rPr lang="en-US" altLang="zh-TW" sz="2800" dirty="0"/>
              <a:t> (</a:t>
            </a:r>
            <a:r>
              <a:rPr lang="zh-TW" altLang="en-US" sz="2800" dirty="0"/>
              <a:t>直接看例子）</a:t>
            </a:r>
          </a:p>
          <a:p>
            <a:pPr lvl="1" eaLnBrk="1" hangingPunct="1">
              <a:defRPr/>
            </a:pPr>
            <a:r>
              <a:rPr lang="en-US" altLang="zh-TW" dirty="0" smtClean="0"/>
              <a:t>Formally, there is a </a:t>
            </a:r>
            <a:r>
              <a:rPr lang="en-US" altLang="zh-TW" i="1" dirty="0" smtClean="0"/>
              <a:t>safe sequence</a:t>
            </a:r>
            <a:r>
              <a:rPr lang="en-US" altLang="zh-TW" i="1" dirty="0" smtClean="0">
                <a:solidFill>
                  <a:srgbClr val="FFCC00"/>
                </a:solidFill>
              </a:rPr>
              <a:t> </a:t>
            </a:r>
            <a:r>
              <a:rPr lang="en-US" altLang="zh-TW" i="1" dirty="0" smtClean="0"/>
              <a:t>&lt;P</a:t>
            </a:r>
            <a:r>
              <a:rPr lang="en-US" altLang="zh-TW" i="1" baseline="-25000" dirty="0" smtClean="0"/>
              <a:t>1</a:t>
            </a:r>
            <a:r>
              <a:rPr lang="en-US" altLang="zh-TW" i="1" dirty="0" smtClean="0"/>
              <a:t>,P</a:t>
            </a:r>
            <a:r>
              <a:rPr lang="en-US" altLang="zh-TW" i="1" baseline="-25000" dirty="0" smtClean="0"/>
              <a:t>2</a:t>
            </a:r>
            <a:r>
              <a:rPr lang="en-US" altLang="zh-TW" i="1" dirty="0" smtClean="0"/>
              <a:t>,...,</a:t>
            </a:r>
            <a:r>
              <a:rPr lang="en-US" altLang="zh-TW" i="1" dirty="0" err="1" smtClean="0"/>
              <a:t>P</a:t>
            </a:r>
            <a:r>
              <a:rPr lang="en-US" altLang="zh-TW" i="1" baseline="-25000" dirty="0" err="1" smtClean="0"/>
              <a:t>n</a:t>
            </a:r>
            <a:r>
              <a:rPr lang="en-US" altLang="zh-TW" dirty="0" smtClean="0"/>
              <a:t>&gt; such that for all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=1,2,...,</a:t>
            </a:r>
            <a:r>
              <a:rPr lang="en-US" altLang="zh-TW" i="1" dirty="0" smtClean="0"/>
              <a:t>n,</a:t>
            </a:r>
          </a:p>
          <a:p>
            <a:pPr lvl="2" eaLnBrk="1" hangingPunct="1">
              <a:buFontTx/>
              <a:buNone/>
              <a:defRPr/>
            </a:pPr>
            <a:r>
              <a:rPr lang="en-US" altLang="zh-TW" b="1" dirty="0" smtClean="0">
                <a:solidFill>
                  <a:srgbClr val="990000"/>
                </a:solidFill>
              </a:rPr>
              <a:t>   Available+</a:t>
            </a:r>
            <a:r>
              <a:rPr lang="en-US" altLang="zh-TW" b="1" dirty="0" smtClean="0">
                <a:solidFill>
                  <a:srgbClr val="990000"/>
                </a:solidFill>
                <a:sym typeface="Symbol" pitchFamily="18" charset="2"/>
              </a:rPr>
              <a:t></a:t>
            </a:r>
            <a:r>
              <a:rPr lang="en-US" altLang="zh-TW" b="1" baseline="-25000" dirty="0" smtClean="0">
                <a:solidFill>
                  <a:srgbClr val="990000"/>
                </a:solidFill>
                <a:sym typeface="Symbol" pitchFamily="18" charset="2"/>
              </a:rPr>
              <a:t>1ki</a:t>
            </a:r>
            <a:r>
              <a:rPr lang="en-US" altLang="zh-TW" b="1" dirty="0" smtClean="0">
                <a:solidFill>
                  <a:srgbClr val="990000"/>
                </a:solidFill>
                <a:sym typeface="Symbol" pitchFamily="18" charset="2"/>
              </a:rPr>
              <a:t>(</a:t>
            </a:r>
            <a:r>
              <a:rPr lang="en-US" altLang="zh-TW" b="1" dirty="0" err="1" smtClean="0">
                <a:solidFill>
                  <a:srgbClr val="990000"/>
                </a:solidFill>
                <a:sym typeface="Symbol" pitchFamily="18" charset="2"/>
              </a:rPr>
              <a:t>Allocated</a:t>
            </a:r>
            <a:r>
              <a:rPr lang="en-US" altLang="zh-TW" b="1" baseline="-25000" dirty="0" err="1" smtClean="0">
                <a:solidFill>
                  <a:srgbClr val="990000"/>
                </a:solidFill>
                <a:sym typeface="Symbol" pitchFamily="18" charset="2"/>
              </a:rPr>
              <a:t>k</a:t>
            </a:r>
            <a:r>
              <a:rPr lang="en-US" altLang="zh-TW" b="1" dirty="0" smtClean="0">
                <a:solidFill>
                  <a:srgbClr val="990000"/>
                </a:solidFill>
                <a:sym typeface="Symbol" pitchFamily="18" charset="2"/>
              </a:rPr>
              <a:t>)</a:t>
            </a:r>
            <a:r>
              <a:rPr lang="en-US" altLang="zh-TW" b="1" dirty="0" err="1" smtClean="0">
                <a:solidFill>
                  <a:srgbClr val="990000"/>
                </a:solidFill>
                <a:sym typeface="Symbol" pitchFamily="18" charset="2"/>
              </a:rPr>
              <a:t>MaxNeed</a:t>
            </a:r>
            <a:r>
              <a:rPr lang="en-US" altLang="zh-TW" b="1" baseline="-25000" dirty="0" err="1" smtClean="0">
                <a:solidFill>
                  <a:srgbClr val="990000"/>
                </a:solidFill>
                <a:sym typeface="Symbol" pitchFamily="18" charset="2"/>
              </a:rPr>
              <a:t>i</a:t>
            </a:r>
            <a:endParaRPr lang="en-US" altLang="zh-TW" b="1" baseline="-25000" dirty="0" smtClean="0">
              <a:solidFill>
                <a:srgbClr val="990000"/>
              </a:solidFill>
              <a:sym typeface="Symbol" pitchFamily="18" charset="2"/>
            </a:endParaRPr>
          </a:p>
          <a:p>
            <a:pPr eaLnBrk="1" hangingPunct="1">
              <a:defRPr/>
            </a:pPr>
            <a:endParaRPr lang="en-US" altLang="zh-TW" sz="2800" b="1" dirty="0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en-US" altLang="zh-TW" sz="28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Unsafe State</a:t>
            </a:r>
          </a:p>
          <a:p>
            <a:pPr lvl="1" eaLnBrk="1" hangingPunct="1">
              <a:defRPr/>
            </a:pPr>
            <a:r>
              <a:rPr lang="en-US" altLang="zh-TW" sz="2400" dirty="0"/>
              <a:t>No safe sequence exists</a:t>
            </a:r>
          </a:p>
          <a:p>
            <a:pPr lvl="1" eaLnBrk="1" hangingPunct="1">
              <a:defRPr/>
            </a:pPr>
            <a:r>
              <a:rPr lang="en-US" altLang="zh-TW" sz="2400" b="1" dirty="0">
                <a:solidFill>
                  <a:srgbClr val="FF3300"/>
                </a:solidFill>
              </a:rPr>
              <a:t>May</a:t>
            </a:r>
            <a:r>
              <a:rPr lang="en-US" altLang="zh-TW" sz="2400" dirty="0"/>
              <a:t> lead to a deadlock (not must)</a:t>
            </a:r>
            <a:endParaRPr lang="en-US" altLang="zh-TW" b="1" baseline="-25000" dirty="0" smtClean="0">
              <a:solidFill>
                <a:srgbClr val="990000"/>
              </a:solidFill>
              <a:sym typeface="Symbol" pitchFamily="18" charset="2"/>
            </a:endParaRP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9077326" y="6583364"/>
            <a:ext cx="15906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/>
              <a:t>From other authors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Safe, Unsafe , Deadlock State</a:t>
            </a:r>
          </a:p>
        </p:txBody>
      </p:sp>
      <p:pic>
        <p:nvPicPr>
          <p:cNvPr id="26627" name="Picture 5"/>
          <p:cNvPicPr>
            <a:picLocks noChangeAspect="1" noChangeArrowheads="1"/>
          </p:cNvPicPr>
          <p:nvPr/>
        </p:nvPicPr>
        <p:blipFill>
          <a:blip r:embed="rId2" cstate="print"/>
          <a:srcRect l="13437" t="1572" r="13683" b="2194"/>
          <a:stretch>
            <a:fillRect/>
          </a:stretch>
        </p:blipFill>
        <p:spPr bwMode="auto">
          <a:xfrm>
            <a:off x="2927350" y="1341439"/>
            <a:ext cx="6408738" cy="49672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Basic Facts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If a system is in safe state </a:t>
            </a:r>
            <a:r>
              <a:rPr lang="en-US" altLang="zh-TW" smtClean="0">
                <a:sym typeface="Symbol" pitchFamily="18" charset="2"/>
              </a:rPr>
              <a:t> no deadlocks.</a:t>
            </a:r>
            <a:br>
              <a:rPr lang="en-US" altLang="zh-TW" smtClean="0">
                <a:sym typeface="Symbol" pitchFamily="18" charset="2"/>
              </a:rPr>
            </a:br>
            <a:endParaRPr lang="en-US" altLang="zh-TW" smtClean="0">
              <a:sym typeface="Symbol" pitchFamily="18" charset="2"/>
            </a:endParaRPr>
          </a:p>
          <a:p>
            <a:pPr eaLnBrk="1" hangingPunct="1"/>
            <a:r>
              <a:rPr lang="en-US" altLang="zh-TW" smtClean="0">
                <a:sym typeface="Symbol" pitchFamily="18" charset="2"/>
              </a:rPr>
              <a:t>If a system is in unsafe state  </a:t>
            </a:r>
            <a:r>
              <a:rPr lang="en-US" altLang="zh-TW" b="1" smtClean="0">
                <a:solidFill>
                  <a:srgbClr val="FF3300"/>
                </a:solidFill>
                <a:sym typeface="Symbol" pitchFamily="18" charset="2"/>
              </a:rPr>
              <a:t>possibility</a:t>
            </a:r>
            <a:r>
              <a:rPr lang="en-US" altLang="zh-TW" smtClean="0">
                <a:sym typeface="Symbol" pitchFamily="18" charset="2"/>
              </a:rPr>
              <a:t> of deadlock.</a:t>
            </a:r>
            <a:br>
              <a:rPr lang="en-US" altLang="zh-TW" smtClean="0">
                <a:sym typeface="Symbol" pitchFamily="18" charset="2"/>
              </a:rPr>
            </a:br>
            <a:endParaRPr lang="en-US" altLang="zh-TW" smtClean="0">
              <a:sym typeface="Symbol" pitchFamily="18" charset="2"/>
            </a:endParaRPr>
          </a:p>
          <a:p>
            <a:pPr eaLnBrk="1" hangingPunct="1"/>
            <a:r>
              <a:rPr lang="en-US" altLang="zh-TW" smtClean="0">
                <a:sym typeface="Symbol" pitchFamily="18" charset="2"/>
              </a:rPr>
              <a:t>Deadlock Avoidance  ensure that a system will never enter an unsafe state. </a:t>
            </a:r>
          </a:p>
          <a:p>
            <a:pPr eaLnBrk="1" hangingPunct="1"/>
            <a:endParaRPr lang="en-US" altLang="zh-TW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Example</a:t>
            </a:r>
          </a:p>
        </p:txBody>
      </p:sp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1992313" y="1125538"/>
            <a:ext cx="8431212" cy="308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2">
              <a:spcBef>
                <a:spcPct val="50000"/>
              </a:spcBef>
            </a:pPr>
            <a:r>
              <a:rPr lang="en-US" altLang="zh-TW" sz="2800" dirty="0">
                <a:latin typeface="Calibri" panose="020F0502020204030204" pitchFamily="34" charset="0"/>
              </a:rPr>
              <a:t>		12 tape drivers in total</a:t>
            </a:r>
          </a:p>
          <a:p>
            <a:pPr lvl="2">
              <a:spcBef>
                <a:spcPct val="50000"/>
              </a:spcBef>
            </a:pPr>
            <a:r>
              <a:rPr lang="en-US" altLang="zh-TW" sz="2800" dirty="0">
                <a:latin typeface="Calibri" panose="020F0502020204030204" pitchFamily="34" charset="0"/>
              </a:rPr>
              <a:t>	</a:t>
            </a:r>
            <a:r>
              <a:rPr lang="en-US" altLang="zh-TW" sz="2800" u="sng" dirty="0">
                <a:solidFill>
                  <a:srgbClr val="FF0000"/>
                </a:solidFill>
                <a:latin typeface="Calibri" panose="020F0502020204030204" pitchFamily="34" charset="0"/>
              </a:rPr>
              <a:t>maximum needs</a:t>
            </a:r>
            <a:r>
              <a:rPr lang="en-US" altLang="zh-TW" sz="2800" dirty="0">
                <a:latin typeface="Calibri" panose="020F0502020204030204" pitchFamily="34" charset="0"/>
              </a:rPr>
              <a:t>	</a:t>
            </a:r>
            <a:r>
              <a:rPr lang="en-US" altLang="zh-TW" sz="2800" u="sng" dirty="0">
                <a:latin typeface="Calibri" panose="020F0502020204030204" pitchFamily="34" charset="0"/>
              </a:rPr>
              <a:t>holds</a:t>
            </a:r>
            <a:r>
              <a:rPr lang="en-US" altLang="zh-TW" sz="2800" dirty="0">
                <a:latin typeface="Calibri" panose="020F0502020204030204" pitchFamily="34" charset="0"/>
              </a:rPr>
              <a:t>  </a:t>
            </a:r>
            <a:r>
              <a:rPr lang="en-US" altLang="zh-TW" sz="2800" u="sng" dirty="0">
                <a:latin typeface="Calibri" panose="020F0502020204030204" pitchFamily="34" charset="0"/>
              </a:rPr>
              <a:t>Available</a:t>
            </a:r>
            <a:endParaRPr lang="en-US" altLang="zh-TW" sz="2800" dirty="0">
              <a:latin typeface="Calibri" panose="020F0502020204030204" pitchFamily="34" charset="0"/>
            </a:endParaRPr>
          </a:p>
          <a:p>
            <a:pPr lvl="2">
              <a:spcBef>
                <a:spcPct val="50000"/>
              </a:spcBef>
            </a:pPr>
            <a:r>
              <a:rPr lang="en-US" altLang="zh-TW" sz="2800" i="1" dirty="0">
                <a:latin typeface="Calibri" panose="020F0502020204030204" pitchFamily="34" charset="0"/>
              </a:rPr>
              <a:t>    P</a:t>
            </a:r>
            <a:r>
              <a:rPr lang="en-US" altLang="zh-TW" sz="2800" baseline="-25000" dirty="0">
                <a:latin typeface="Calibri" panose="020F0502020204030204" pitchFamily="34" charset="0"/>
              </a:rPr>
              <a:t>0</a:t>
            </a:r>
            <a:r>
              <a:rPr lang="en-US" altLang="zh-TW" sz="2800" dirty="0">
                <a:latin typeface="Calibri" panose="020F0502020204030204" pitchFamily="34" charset="0"/>
              </a:rPr>
              <a:t>		10	  	   5             3</a:t>
            </a:r>
          </a:p>
          <a:p>
            <a:pPr lvl="2">
              <a:spcBef>
                <a:spcPct val="50000"/>
              </a:spcBef>
            </a:pPr>
            <a:r>
              <a:rPr lang="en-US" altLang="zh-TW" sz="2800" i="1" dirty="0">
                <a:latin typeface="Calibri" panose="020F0502020204030204" pitchFamily="34" charset="0"/>
              </a:rPr>
              <a:t>    P</a:t>
            </a:r>
            <a:r>
              <a:rPr lang="en-US" altLang="zh-TW" sz="2800" baseline="-25000" dirty="0">
                <a:latin typeface="Calibri" panose="020F0502020204030204" pitchFamily="34" charset="0"/>
              </a:rPr>
              <a:t>1</a:t>
            </a:r>
            <a:r>
              <a:rPr lang="en-US" altLang="zh-TW" sz="2800" dirty="0">
                <a:latin typeface="Calibri" panose="020F0502020204030204" pitchFamily="34" charset="0"/>
              </a:rPr>
              <a:t>		 4	  	   2</a:t>
            </a:r>
          </a:p>
          <a:p>
            <a:pPr lvl="2">
              <a:spcBef>
                <a:spcPct val="50000"/>
              </a:spcBef>
            </a:pPr>
            <a:r>
              <a:rPr lang="en-US" altLang="zh-TW" sz="2800" i="1" dirty="0">
                <a:latin typeface="Calibri" panose="020F0502020204030204" pitchFamily="34" charset="0"/>
              </a:rPr>
              <a:t>    P</a:t>
            </a:r>
            <a:r>
              <a:rPr lang="en-US" altLang="zh-TW" sz="2800" baseline="-25000" dirty="0">
                <a:latin typeface="Calibri" panose="020F0502020204030204" pitchFamily="34" charset="0"/>
              </a:rPr>
              <a:t>2</a:t>
            </a:r>
            <a:r>
              <a:rPr lang="en-US" altLang="zh-TW" sz="2800" dirty="0">
                <a:latin typeface="Calibri" panose="020F0502020204030204" pitchFamily="34" charset="0"/>
              </a:rPr>
              <a:t>		 9	  	   2</a:t>
            </a:r>
            <a:endParaRPr lang="en-US" altLang="zh-TW" sz="2800" i="1" dirty="0">
              <a:latin typeface="Calibri" panose="020F0502020204030204" pitchFamily="34" charset="0"/>
            </a:endParaRPr>
          </a:p>
        </p:txBody>
      </p:sp>
      <p:sp>
        <p:nvSpPr>
          <p:cNvPr id="27652" name="Text Box 5"/>
          <p:cNvSpPr txBox="1">
            <a:spLocks noChangeArrowheads="1"/>
          </p:cNvSpPr>
          <p:nvPr/>
        </p:nvSpPr>
        <p:spPr bwMode="auto">
          <a:xfrm>
            <a:off x="2855913" y="4365626"/>
            <a:ext cx="7632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TW" sz="2800">
                <a:latin typeface="Calibri" panose="020F0502020204030204" pitchFamily="34" charset="0"/>
              </a:rPr>
              <a:t>Above state is safe: a safe sequence: (</a:t>
            </a:r>
            <a:r>
              <a:rPr lang="en-US" altLang="zh-TW" sz="2800" i="1">
                <a:latin typeface="Calibri" panose="020F0502020204030204" pitchFamily="34" charset="0"/>
              </a:rPr>
              <a:t>P</a:t>
            </a:r>
            <a:r>
              <a:rPr lang="en-US" altLang="zh-TW" sz="2800" baseline="-25000">
                <a:latin typeface="Calibri" panose="020F0502020204030204" pitchFamily="34" charset="0"/>
              </a:rPr>
              <a:t>1</a:t>
            </a:r>
            <a:r>
              <a:rPr lang="en-US" altLang="zh-TW" sz="2800">
                <a:latin typeface="Calibri" panose="020F0502020204030204" pitchFamily="34" charset="0"/>
              </a:rPr>
              <a:t>, </a:t>
            </a:r>
            <a:r>
              <a:rPr lang="en-US" altLang="zh-TW" sz="2800" i="1">
                <a:latin typeface="Calibri" panose="020F0502020204030204" pitchFamily="34" charset="0"/>
              </a:rPr>
              <a:t>P</a:t>
            </a:r>
            <a:r>
              <a:rPr lang="en-US" altLang="zh-TW" sz="2800" baseline="-25000">
                <a:latin typeface="Calibri" panose="020F0502020204030204" pitchFamily="34" charset="0"/>
              </a:rPr>
              <a:t>0</a:t>
            </a:r>
            <a:r>
              <a:rPr lang="en-US" altLang="zh-TW" sz="2800">
                <a:latin typeface="Calibri" panose="020F0502020204030204" pitchFamily="34" charset="0"/>
              </a:rPr>
              <a:t>, </a:t>
            </a:r>
            <a:r>
              <a:rPr lang="en-US" altLang="zh-TW" sz="2800" i="1">
                <a:latin typeface="Calibri" panose="020F0502020204030204" pitchFamily="34" charset="0"/>
              </a:rPr>
              <a:t>P</a:t>
            </a:r>
            <a:r>
              <a:rPr lang="en-US" altLang="zh-TW" sz="2800" baseline="-25000">
                <a:latin typeface="Calibri" panose="020F0502020204030204" pitchFamily="34" charset="0"/>
              </a:rPr>
              <a:t>2</a:t>
            </a:r>
            <a:r>
              <a:rPr lang="en-US" altLang="zh-TW" sz="280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7653" name="Text Box 6"/>
          <p:cNvSpPr txBox="1">
            <a:spLocks noChangeArrowheads="1"/>
          </p:cNvSpPr>
          <p:nvPr/>
        </p:nvSpPr>
        <p:spPr bwMode="auto">
          <a:xfrm>
            <a:off x="2208213" y="5300663"/>
            <a:ext cx="8107362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zh-TW" sz="2800" b="0" dirty="0">
                <a:latin typeface="Calibri" panose="020F0502020204030204" pitchFamily="34" charset="0"/>
              </a:rPr>
              <a:t>However, if one more is allocated to </a:t>
            </a:r>
            <a:r>
              <a:rPr lang="en-US" altLang="zh-TW" sz="2800" b="0" i="1" dirty="0">
                <a:latin typeface="Calibri" panose="020F0502020204030204" pitchFamily="34" charset="0"/>
              </a:rPr>
              <a:t>P</a:t>
            </a:r>
            <a:r>
              <a:rPr lang="en-US" altLang="zh-TW" sz="2800" b="0" baseline="-25000" dirty="0">
                <a:latin typeface="Calibri" panose="020F0502020204030204" pitchFamily="34" charset="0"/>
              </a:rPr>
              <a:t>2 </a:t>
            </a:r>
            <a:r>
              <a:rPr lang="en-US" altLang="zh-TW" sz="2800" b="0" dirty="0">
                <a:latin typeface="Calibri" panose="020F0502020204030204" pitchFamily="34" charset="0"/>
                <a:sym typeface="Symbol" pitchFamily="18" charset="2"/>
              </a:rPr>
              <a:t></a:t>
            </a:r>
            <a:r>
              <a:rPr lang="en-US" altLang="zh-TW" sz="2800" b="0" dirty="0">
                <a:latin typeface="Calibri" panose="020F0502020204030204" pitchFamily="34" charset="0"/>
              </a:rPr>
              <a:t> unsafe </a:t>
            </a:r>
            <a:r>
              <a:rPr lang="en-US" altLang="zh-TW" sz="2800" b="0" dirty="0">
                <a:latin typeface="Calibri" panose="020F0502020204030204" pitchFamily="34" charset="0"/>
                <a:sym typeface="Symbol" pitchFamily="18" charset="2"/>
              </a:rPr>
              <a:t> may (not must) deadlock</a:t>
            </a:r>
            <a:endParaRPr lang="en-US" altLang="zh-TW" sz="2800" b="0" dirty="0">
              <a:latin typeface="Calibri" panose="020F0502020204030204" pitchFamily="34" charset="0"/>
            </a:endParaRPr>
          </a:p>
        </p:txBody>
      </p:sp>
      <p:sp>
        <p:nvSpPr>
          <p:cNvPr id="27654" name="Text Box 7"/>
          <p:cNvSpPr txBox="1">
            <a:spLocks noChangeArrowheads="1"/>
          </p:cNvSpPr>
          <p:nvPr/>
        </p:nvSpPr>
        <p:spPr bwMode="auto">
          <a:xfrm>
            <a:off x="9077326" y="6583364"/>
            <a:ext cx="142968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>
                <a:latin typeface="Calibri" panose="020F0502020204030204" pitchFamily="34" charset="0"/>
              </a:rPr>
              <a:t>From other authors</a:t>
            </a:r>
          </a:p>
        </p:txBody>
      </p:sp>
      <p:sp>
        <p:nvSpPr>
          <p:cNvPr id="2" name="圓角矩形圖說文字 1"/>
          <p:cNvSpPr/>
          <p:nvPr/>
        </p:nvSpPr>
        <p:spPr bwMode="auto">
          <a:xfrm>
            <a:off x="119336" y="341778"/>
            <a:ext cx="4608512" cy="956798"/>
          </a:xfrm>
          <a:prstGeom prst="wedgeRoundRectCallout">
            <a:avLst>
              <a:gd name="adj1" fmla="val 35406"/>
              <a:gd name="adj2" fmla="val 105414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</a:rPr>
              <a:t>Each thread must claim </a:t>
            </a:r>
            <a:r>
              <a:rPr lang="en-US" altLang="zh-TW" sz="2400" dirty="0">
                <a:solidFill>
                  <a:srgbClr val="FF0000"/>
                </a:solidFill>
                <a:latin typeface="Calibri" panose="020F0502020204030204" pitchFamily="34" charset="0"/>
              </a:rPr>
              <a:t>maximum</a:t>
            </a:r>
            <a:r>
              <a:rPr lang="en-US" altLang="zh-TW" sz="2400" dirty="0">
                <a:latin typeface="Calibri" panose="020F0502020204030204" pitchFamily="34" charset="0"/>
              </a:rPr>
              <a:t> </a:t>
            </a:r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</a:rPr>
              <a:t>use of resources </a:t>
            </a:r>
            <a:r>
              <a:rPr lang="en-US" altLang="zh-TW" sz="2400" dirty="0">
                <a:solidFill>
                  <a:srgbClr val="FF0000"/>
                </a:solidFill>
                <a:latin typeface="Calibri" panose="020F0502020204030204" pitchFamily="34" charset="0"/>
              </a:rPr>
              <a:t>a priori</a:t>
            </a:r>
            <a:endParaRPr lang="zh-TW" altLang="en-US" sz="24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Deadlock Avoidance Algorithms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Single instance of a resource type.  </a:t>
            </a:r>
          </a:p>
          <a:p>
            <a:pPr lvl="1" eaLnBrk="1" hangingPunct="1"/>
            <a:r>
              <a:rPr lang="en-US" altLang="zh-TW" smtClean="0"/>
              <a:t>Use a </a:t>
            </a:r>
            <a:r>
              <a:rPr lang="en-US" altLang="zh-TW" b="1" smtClean="0"/>
              <a:t>resource-allocation graph</a:t>
            </a:r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Multiple instances of a resource type.  </a:t>
            </a:r>
          </a:p>
          <a:p>
            <a:pPr lvl="1" eaLnBrk="1" hangingPunct="1"/>
            <a:r>
              <a:rPr lang="en-US" altLang="zh-TW" smtClean="0"/>
              <a:t>Use the </a:t>
            </a:r>
            <a:r>
              <a:rPr lang="en-US" altLang="zh-TW" b="1" smtClean="0"/>
              <a:t>banker</a:t>
            </a:r>
            <a:r>
              <a:rPr lang="en-US" altLang="zh-TW" b="1" smtClean="0">
                <a:latin typeface="Helvetica" pitchFamily="34" charset="0"/>
              </a:rPr>
              <a:t>’</a:t>
            </a:r>
            <a:r>
              <a:rPr lang="en-US" altLang="zh-TW" b="1" smtClean="0"/>
              <a:t>s algorithm</a:t>
            </a:r>
          </a:p>
          <a:p>
            <a:pPr eaLnBrk="1" hangingPunct="1"/>
            <a:endParaRPr lang="en-US" altLang="zh-TW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buSzPct val="85000"/>
            </a:pPr>
            <a:r>
              <a:rPr lang="en-US" altLang="zh-TW" dirty="0" smtClean="0"/>
              <a:t>System Model</a:t>
            </a:r>
          </a:p>
          <a:p>
            <a:pPr eaLnBrk="1" hangingPunct="1">
              <a:buSzPct val="85000"/>
            </a:pPr>
            <a:r>
              <a:rPr lang="en-US" altLang="zh-TW" dirty="0"/>
              <a:t>Deadlock in Multithreaded Applications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Characterization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Methods for Handling Deadlocks</a:t>
            </a:r>
          </a:p>
          <a:p>
            <a:pPr eaLnBrk="1" hangingPunct="1"/>
            <a:r>
              <a:rPr lang="en-US" altLang="zh-TW" dirty="0" smtClean="0"/>
              <a:t>Deadlock Prevention</a:t>
            </a:r>
          </a:p>
          <a:p>
            <a:pPr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Deadlock Avoidance</a:t>
            </a:r>
          </a:p>
          <a:p>
            <a:pPr lvl="1" eaLnBrk="1" hangingPunct="1">
              <a:buSzPct val="85000"/>
            </a:pPr>
            <a:r>
              <a:rPr lang="en-US" altLang="zh-TW" dirty="0" smtClean="0"/>
              <a:t>Safe State</a:t>
            </a:r>
          </a:p>
          <a:p>
            <a:pPr lvl="1"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Resource-Allocation-Graph Algorithm</a:t>
            </a:r>
          </a:p>
          <a:p>
            <a:pPr lvl="1" eaLnBrk="1" hangingPunct="1">
              <a:buSzPct val="85000"/>
            </a:pPr>
            <a:r>
              <a:rPr lang="en-US" altLang="zh-TW" dirty="0" smtClean="0"/>
              <a:t>Banker’s Algorithm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Detection 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Recovery from Deadlock </a:t>
            </a:r>
          </a:p>
        </p:txBody>
      </p:sp>
    </p:spTree>
    <p:extLst>
      <p:ext uri="{BB962C8B-B14F-4D97-AF65-F5344CB8AC3E}">
        <p14:creationId xmlns:p14="http://schemas.microsoft.com/office/powerpoint/2010/main" val="36040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Resource-Allocation Graph Scheme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A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variant of resource-allocation graph</a:t>
            </a:r>
            <a:endParaRPr lang="en-US" altLang="zh-TW" i="1" dirty="0" smtClean="0"/>
          </a:p>
          <a:p>
            <a:pPr lvl="1" eaLnBrk="1" hangingPunct="1"/>
            <a:r>
              <a:rPr lang="en-US" altLang="zh-TW" b="1" i="1" dirty="0" smtClean="0"/>
              <a:t>Introduce a new edge: </a:t>
            </a:r>
            <a:r>
              <a:rPr lang="en-US" altLang="zh-TW" b="1" i="1" dirty="0" smtClean="0">
                <a:solidFill>
                  <a:srgbClr val="FF3300"/>
                </a:solidFill>
              </a:rPr>
              <a:t>claim edge</a:t>
            </a:r>
            <a:r>
              <a:rPr lang="en-US" altLang="zh-TW" dirty="0" smtClean="0">
                <a:solidFill>
                  <a:srgbClr val="FF3300"/>
                </a:solidFill>
              </a:rPr>
              <a:t> </a:t>
            </a:r>
            <a:r>
              <a:rPr lang="en-US" altLang="zh-TW" i="1" dirty="0" smtClean="0">
                <a:solidFill>
                  <a:srgbClr val="FF3300"/>
                </a:solidFill>
              </a:rPr>
              <a:t>P</a:t>
            </a:r>
            <a:r>
              <a:rPr lang="en-US" altLang="zh-TW" i="1" baseline="-25000" dirty="0" smtClean="0">
                <a:solidFill>
                  <a:srgbClr val="FF3300"/>
                </a:solidFill>
              </a:rPr>
              <a:t>i</a:t>
            </a:r>
            <a:r>
              <a:rPr lang="en-US" altLang="zh-TW" dirty="0" smtClean="0">
                <a:solidFill>
                  <a:srgbClr val="FF3300"/>
                </a:solidFill>
              </a:rPr>
              <a:t> </a:t>
            </a:r>
            <a:r>
              <a:rPr lang="en-US" altLang="zh-TW" dirty="0" smtClean="0">
                <a:solidFill>
                  <a:srgbClr val="FF3300"/>
                </a:solidFill>
                <a:sym typeface="Symbol" pitchFamily="18" charset="2"/>
              </a:rPr>
              <a:t> </a:t>
            </a:r>
            <a:r>
              <a:rPr lang="en-US" altLang="zh-TW" i="1" dirty="0" err="1" smtClean="0">
                <a:solidFill>
                  <a:srgbClr val="FF3300"/>
                </a:solidFill>
                <a:sym typeface="Symbol" pitchFamily="18" charset="2"/>
              </a:rPr>
              <a:t>R</a:t>
            </a:r>
            <a:r>
              <a:rPr lang="en-US" altLang="zh-TW" i="1" baseline="-25000" dirty="0" err="1" smtClean="0">
                <a:solidFill>
                  <a:srgbClr val="FF3300"/>
                </a:solidFill>
                <a:sym typeface="Symbol" pitchFamily="18" charset="2"/>
              </a:rPr>
              <a:t>j</a:t>
            </a:r>
            <a:r>
              <a:rPr lang="en-US" altLang="zh-TW" dirty="0" smtClean="0">
                <a:solidFill>
                  <a:srgbClr val="FF3300"/>
                </a:solidFill>
                <a:sym typeface="Symbol" pitchFamily="18" charset="2"/>
              </a:rPr>
              <a:t> </a:t>
            </a:r>
          </a:p>
          <a:p>
            <a:pPr lvl="2" eaLnBrk="1" hangingPunct="1"/>
            <a:r>
              <a:rPr lang="en-US" altLang="zh-TW" dirty="0" smtClean="0">
                <a:sym typeface="Symbol" pitchFamily="18" charset="2"/>
              </a:rPr>
              <a:t>Indicated that thread </a:t>
            </a:r>
            <a:r>
              <a:rPr lang="en-US" altLang="zh-TW" i="1" dirty="0" smtClean="0">
                <a:sym typeface="Symbol" pitchFamily="18" charset="2"/>
              </a:rPr>
              <a:t>P</a:t>
            </a:r>
            <a:r>
              <a:rPr lang="en-US" altLang="zh-TW" i="1" baseline="-25000" dirty="0" smtClean="0">
                <a:sym typeface="Symbol" pitchFamily="18" charset="2"/>
              </a:rPr>
              <a:t>i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b="1" dirty="0" smtClean="0">
                <a:solidFill>
                  <a:srgbClr val="3333FF"/>
                </a:solidFill>
                <a:sym typeface="Symbol" pitchFamily="18" charset="2"/>
              </a:rPr>
              <a:t>may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b="1" dirty="0" smtClean="0">
                <a:solidFill>
                  <a:srgbClr val="3333FF"/>
                </a:solidFill>
                <a:sym typeface="Symbol" pitchFamily="18" charset="2"/>
              </a:rPr>
              <a:t>request</a:t>
            </a:r>
            <a:r>
              <a:rPr lang="en-US" altLang="zh-TW" dirty="0" smtClean="0">
                <a:sym typeface="Symbol" pitchFamily="18" charset="2"/>
              </a:rPr>
              <a:t> resource </a:t>
            </a:r>
            <a:r>
              <a:rPr lang="en-US" altLang="zh-TW" i="1" dirty="0" err="1" smtClean="0">
                <a:sym typeface="Symbol" pitchFamily="18" charset="2"/>
              </a:rPr>
              <a:t>R</a:t>
            </a:r>
            <a:r>
              <a:rPr lang="en-US" altLang="zh-TW" i="1" baseline="-25000" dirty="0" err="1" smtClean="0">
                <a:sym typeface="Symbol" pitchFamily="18" charset="2"/>
              </a:rPr>
              <a:t>j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sym typeface="Symbol" pitchFamily="18" charset="2"/>
              </a:rPr>
              <a:t>at some </a:t>
            </a:r>
            <a:r>
              <a:rPr lang="en-US" altLang="zh-TW" b="1" dirty="0" smtClean="0">
                <a:solidFill>
                  <a:srgbClr val="FF0000"/>
                </a:solidFill>
                <a:sym typeface="Symbol" pitchFamily="18" charset="2"/>
              </a:rPr>
              <a:t>time </a:t>
            </a:r>
            <a:r>
              <a:rPr lang="en-US" altLang="zh-TW" b="1" dirty="0">
                <a:solidFill>
                  <a:srgbClr val="FF0000"/>
                </a:solidFill>
                <a:sym typeface="Symbol" pitchFamily="18" charset="2"/>
              </a:rPr>
              <a:t>in the future</a:t>
            </a:r>
            <a:r>
              <a:rPr lang="en-US" altLang="zh-TW" b="1" dirty="0" smtClean="0">
                <a:solidFill>
                  <a:srgbClr val="FF0000"/>
                </a:solidFill>
                <a:sym typeface="Symbol" pitchFamily="18" charset="2"/>
              </a:rPr>
              <a:t>.</a:t>
            </a:r>
            <a:endParaRPr lang="en-US" altLang="zh-TW" b="1" dirty="0">
              <a:solidFill>
                <a:srgbClr val="FF0000"/>
              </a:solidFill>
              <a:sym typeface="Symbol" pitchFamily="18" charset="2"/>
            </a:endParaRPr>
          </a:p>
          <a:p>
            <a:pPr lvl="2" eaLnBrk="1" hangingPunct="1"/>
            <a:r>
              <a:rPr lang="en-US" altLang="zh-TW" dirty="0" smtClean="0">
                <a:sym typeface="Symbol" pitchFamily="18" charset="2"/>
              </a:rPr>
              <a:t>Represented by a dashed line.</a:t>
            </a:r>
          </a:p>
          <a:p>
            <a:pPr lvl="1" eaLnBrk="1" hangingPunct="1"/>
            <a:r>
              <a:rPr lang="en-US" altLang="zh-TW" i="1" dirty="0" smtClean="0">
                <a:solidFill>
                  <a:srgbClr val="3333FF"/>
                </a:solidFill>
                <a:sym typeface="Symbol" pitchFamily="18" charset="2"/>
              </a:rPr>
              <a:t>i.e., resources must be claimed </a:t>
            </a:r>
            <a:r>
              <a:rPr lang="en-US" altLang="zh-TW" b="1" i="1" dirty="0" smtClean="0">
                <a:solidFill>
                  <a:srgbClr val="3333FF"/>
                </a:solidFill>
                <a:sym typeface="Symbol" pitchFamily="18" charset="2"/>
              </a:rPr>
              <a:t>a priori</a:t>
            </a:r>
            <a:r>
              <a:rPr lang="en-US" altLang="zh-TW" dirty="0" smtClean="0">
                <a:solidFill>
                  <a:srgbClr val="3333FF"/>
                </a:solidFill>
                <a:sym typeface="Symbol" pitchFamily="18" charset="2"/>
              </a:rPr>
              <a:t>.</a:t>
            </a:r>
          </a:p>
          <a:p>
            <a:pPr lvl="1" eaLnBrk="1" hangingPunct="1">
              <a:buFontTx/>
              <a:buNone/>
            </a:pPr>
            <a:endParaRPr lang="en-US" altLang="zh-TW" dirty="0" smtClean="0">
              <a:sym typeface="Symbol" pitchFamily="18" charset="2"/>
            </a:endParaRPr>
          </a:p>
          <a:p>
            <a:pPr eaLnBrk="1" hangingPunct="1"/>
            <a:r>
              <a:rPr lang="en-US" altLang="zh-TW" dirty="0" smtClean="0">
                <a:sym typeface="Symbol" pitchFamily="18" charset="2"/>
              </a:rPr>
              <a:t>G</a:t>
            </a:r>
            <a:r>
              <a:rPr lang="en-US" altLang="zh-TW" dirty="0" smtClean="0"/>
              <a:t>rant a request only if </a:t>
            </a:r>
            <a:r>
              <a:rPr lang="en-US" altLang="zh-TW" b="1" dirty="0" smtClean="0">
                <a:solidFill>
                  <a:srgbClr val="FF3300"/>
                </a:solidFill>
              </a:rPr>
              <a:t>no </a:t>
            </a:r>
            <a:r>
              <a:rPr lang="en-US" altLang="zh-TW" dirty="0" smtClean="0"/>
              <a:t>cycle created.</a:t>
            </a:r>
            <a:endParaRPr lang="en-US" altLang="zh-TW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Example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Before executing, </a:t>
            </a:r>
          </a:p>
          <a:p>
            <a:pPr lvl="1"/>
            <a:r>
              <a:rPr lang="en-US" altLang="zh-TW" dirty="0" smtClean="0"/>
              <a:t>P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claims</a:t>
            </a:r>
            <a:r>
              <a:rPr lang="en-US" altLang="zh-TW" dirty="0" smtClean="0"/>
              <a:t> that it will use R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and R</a:t>
            </a:r>
            <a:r>
              <a:rPr lang="en-US" altLang="zh-TW" baseline="-25000" dirty="0" smtClean="0"/>
              <a:t>2 </a:t>
            </a:r>
            <a:r>
              <a:rPr lang="en-US" altLang="zh-TW" b="1" dirty="0">
                <a:solidFill>
                  <a:srgbClr val="FF0000"/>
                </a:solidFill>
                <a:sym typeface="Symbol" pitchFamily="18" charset="2"/>
              </a:rPr>
              <a:t>at some time in the future.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smtClean="0"/>
              <a:t>P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also </a:t>
            </a:r>
            <a:r>
              <a:rPr lang="en-US" altLang="zh-TW" b="1" dirty="0" smtClean="0">
                <a:solidFill>
                  <a:srgbClr val="FF0000"/>
                </a:solidFill>
              </a:rPr>
              <a:t>claims</a:t>
            </a:r>
            <a:r>
              <a:rPr lang="en-US" altLang="zh-TW" dirty="0" smtClean="0"/>
              <a:t> </a:t>
            </a:r>
            <a:r>
              <a:rPr lang="en-US" altLang="zh-TW" dirty="0"/>
              <a:t>that it will use R</a:t>
            </a:r>
            <a:r>
              <a:rPr lang="en-US" altLang="zh-TW" baseline="-25000" dirty="0"/>
              <a:t>1</a:t>
            </a:r>
            <a:r>
              <a:rPr lang="en-US" altLang="zh-TW" dirty="0"/>
              <a:t> and R</a:t>
            </a:r>
            <a:r>
              <a:rPr lang="en-US" altLang="zh-TW" baseline="-25000" dirty="0"/>
              <a:t>2 </a:t>
            </a:r>
            <a:r>
              <a:rPr lang="en-US" altLang="zh-TW" b="1" dirty="0">
                <a:solidFill>
                  <a:srgbClr val="FF0000"/>
                </a:solidFill>
                <a:sym typeface="Symbol" pitchFamily="18" charset="2"/>
              </a:rPr>
              <a:t>at some time in the future.</a:t>
            </a:r>
            <a:r>
              <a:rPr lang="en-US" altLang="zh-TW" dirty="0"/>
              <a:t> </a:t>
            </a:r>
            <a:endParaRPr lang="zh-TW" altLang="en-US" dirty="0"/>
          </a:p>
          <a:p>
            <a:pPr lvl="1"/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36" y="3501008"/>
            <a:ext cx="4286250" cy="3181350"/>
          </a:xfrm>
          <a:prstGeom prst="rect">
            <a:avLst/>
          </a:prstGeom>
        </p:spPr>
      </p:pic>
      <p:cxnSp>
        <p:nvCxnSpPr>
          <p:cNvPr id="9" name="直線單箭頭接點 8"/>
          <p:cNvCxnSpPr/>
          <p:nvPr/>
        </p:nvCxnSpPr>
        <p:spPr bwMode="auto">
          <a:xfrm flipV="1">
            <a:off x="4367808" y="4149080"/>
            <a:ext cx="1008112" cy="72008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0" name="直線單箭頭接點 9"/>
          <p:cNvCxnSpPr/>
          <p:nvPr/>
        </p:nvCxnSpPr>
        <p:spPr bwMode="auto">
          <a:xfrm flipH="1" flipV="1">
            <a:off x="6384032" y="4149081"/>
            <a:ext cx="1080120" cy="72007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55189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(Cont.)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Then, </a:t>
            </a:r>
          </a:p>
          <a:p>
            <a:pPr lvl="1"/>
            <a:r>
              <a:rPr lang="en-US" altLang="zh-TW" dirty="0" smtClean="0"/>
              <a:t>P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</a:t>
            </a:r>
            <a:r>
              <a:rPr lang="en-US" altLang="zh-TW" b="1" dirty="0" smtClean="0">
                <a:solidFill>
                  <a:srgbClr val="FF0000"/>
                </a:solidFill>
              </a:rPr>
              <a:t>request </a:t>
            </a:r>
            <a:r>
              <a:rPr lang="en-US" altLang="zh-TW" dirty="0" smtClean="0"/>
              <a:t>R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and is granted</a:t>
            </a:r>
          </a:p>
          <a:p>
            <a:pPr lvl="1"/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36" y="2996952"/>
            <a:ext cx="4286250" cy="3181350"/>
          </a:xfrm>
          <a:prstGeom prst="rect">
            <a:avLst/>
          </a:prstGeom>
        </p:spPr>
      </p:pic>
      <p:cxnSp>
        <p:nvCxnSpPr>
          <p:cNvPr id="9" name="直線單箭頭接點 8"/>
          <p:cNvCxnSpPr/>
          <p:nvPr/>
        </p:nvCxnSpPr>
        <p:spPr bwMode="auto">
          <a:xfrm flipV="1">
            <a:off x="4367808" y="3645024"/>
            <a:ext cx="1008112" cy="72008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0" name="直線單箭頭接點 9"/>
          <p:cNvCxnSpPr/>
          <p:nvPr/>
        </p:nvCxnSpPr>
        <p:spPr bwMode="auto">
          <a:xfrm flipH="1" flipV="1">
            <a:off x="6384032" y="3645025"/>
            <a:ext cx="1080120" cy="72007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8866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465" y="3425527"/>
            <a:ext cx="4295775" cy="317182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 smtClean="0"/>
              <a:t>Example: </a:t>
            </a:r>
            <a:r>
              <a:rPr lang="en-US" altLang="zh-TW" sz="3600" dirty="0">
                <a:solidFill>
                  <a:srgbClr val="FF0000"/>
                </a:solidFill>
              </a:rPr>
              <a:t>Unsafe State </a:t>
            </a:r>
            <a:r>
              <a:rPr lang="en-US" altLang="zh-TW" sz="3600" dirty="0"/>
              <a:t>In Resource-Allocation </a:t>
            </a:r>
            <a:r>
              <a:rPr lang="en-US" altLang="zh-TW" sz="3600" dirty="0" smtClean="0"/>
              <a:t>Graph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And then</a:t>
            </a:r>
            <a:r>
              <a:rPr lang="en-US" altLang="zh-TW" dirty="0"/>
              <a:t>, </a:t>
            </a:r>
          </a:p>
          <a:p>
            <a:pPr lvl="1"/>
            <a:r>
              <a:rPr lang="en-US" altLang="zh-TW" dirty="0" smtClean="0"/>
              <a:t>P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request </a:t>
            </a:r>
            <a:r>
              <a:rPr lang="en-US" altLang="zh-TW" dirty="0" smtClean="0"/>
              <a:t>R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dirty="0" smtClean="0"/>
              <a:t>cannot be granted</a:t>
            </a:r>
          </a:p>
          <a:p>
            <a:pPr lvl="1"/>
            <a:r>
              <a:rPr lang="en-US" altLang="zh-TW" dirty="0"/>
              <a:t>Otherwise, </a:t>
            </a:r>
            <a:r>
              <a:rPr lang="en-US" altLang="zh-TW" dirty="0" smtClean="0"/>
              <a:t>a </a:t>
            </a:r>
            <a:r>
              <a:rPr lang="en-US" altLang="zh-TW" dirty="0"/>
              <a:t>cycle occurs</a:t>
            </a:r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  <p:cxnSp>
        <p:nvCxnSpPr>
          <p:cNvPr id="6" name="直線單箭頭接點 5"/>
          <p:cNvCxnSpPr/>
          <p:nvPr/>
        </p:nvCxnSpPr>
        <p:spPr bwMode="auto">
          <a:xfrm flipV="1">
            <a:off x="4583832" y="4073599"/>
            <a:ext cx="1008112" cy="72008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直線單箭頭接點 6"/>
          <p:cNvCxnSpPr/>
          <p:nvPr/>
        </p:nvCxnSpPr>
        <p:spPr bwMode="auto">
          <a:xfrm flipH="1" flipV="1">
            <a:off x="6600056" y="4073600"/>
            <a:ext cx="1080120" cy="72007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9" name="直線單箭頭接點 8"/>
          <p:cNvCxnSpPr/>
          <p:nvPr/>
        </p:nvCxnSpPr>
        <p:spPr bwMode="auto">
          <a:xfrm flipH="1">
            <a:off x="6600056" y="5127692"/>
            <a:ext cx="1008112" cy="74829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50189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buSzPct val="85000"/>
            </a:pPr>
            <a:r>
              <a:rPr lang="en-US" altLang="zh-TW" dirty="0" smtClean="0"/>
              <a:t>System Model</a:t>
            </a:r>
          </a:p>
          <a:p>
            <a:pPr eaLnBrk="1" hangingPunct="1">
              <a:buSzPct val="85000"/>
            </a:pPr>
            <a:r>
              <a:rPr lang="en-US" altLang="zh-TW" dirty="0"/>
              <a:t>Deadlock in Multithreaded Applications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Characterization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Methods for Handling Deadlocks</a:t>
            </a:r>
          </a:p>
          <a:p>
            <a:pPr eaLnBrk="1" hangingPunct="1"/>
            <a:r>
              <a:rPr lang="en-US" altLang="zh-TW" dirty="0" smtClean="0"/>
              <a:t>Deadlock Prevention</a:t>
            </a:r>
          </a:p>
          <a:p>
            <a:pPr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Deadlock Avoidance</a:t>
            </a:r>
          </a:p>
          <a:p>
            <a:pPr lvl="1" eaLnBrk="1" hangingPunct="1">
              <a:buSzPct val="85000"/>
            </a:pPr>
            <a:r>
              <a:rPr lang="en-US" altLang="zh-TW" dirty="0" smtClean="0"/>
              <a:t>Safe State</a:t>
            </a:r>
          </a:p>
          <a:p>
            <a:pPr lvl="1" eaLnBrk="1" hangingPunct="1">
              <a:buSzPct val="85000"/>
            </a:pPr>
            <a:r>
              <a:rPr lang="en-US" altLang="zh-TW" dirty="0" smtClean="0"/>
              <a:t>Resource-Allocation-Graph Algorithm</a:t>
            </a:r>
          </a:p>
          <a:p>
            <a:pPr lvl="1"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Banker’s Algorithm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Detection 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Recovery from Deadlock </a:t>
            </a:r>
          </a:p>
        </p:txBody>
      </p:sp>
    </p:spTree>
    <p:extLst>
      <p:ext uri="{BB962C8B-B14F-4D97-AF65-F5344CB8AC3E}">
        <p14:creationId xmlns:p14="http://schemas.microsoft.com/office/powerpoint/2010/main" val="396900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Banker</a:t>
            </a:r>
            <a:r>
              <a:rPr lang="en-US" altLang="zh-TW" smtClean="0">
                <a:latin typeface="Helvetica"/>
              </a:rPr>
              <a:t>’</a:t>
            </a:r>
            <a:r>
              <a:rPr lang="en-US" altLang="zh-TW" smtClean="0"/>
              <a:t>s Algorithm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dirty="0" smtClean="0"/>
              <a:t>Multiple instances.</a:t>
            </a:r>
            <a:br>
              <a:rPr lang="en-US" altLang="zh-TW" dirty="0" smtClean="0"/>
            </a:br>
            <a:endParaRPr lang="en-US" altLang="zh-TW" dirty="0" smtClean="0"/>
          </a:p>
          <a:p>
            <a:pPr eaLnBrk="1" hangingPunct="1">
              <a:lnSpc>
                <a:spcPct val="110000"/>
              </a:lnSpc>
            </a:pPr>
            <a:r>
              <a:rPr lang="en-US" altLang="zh-TW" dirty="0" smtClean="0"/>
              <a:t>Each thread must </a:t>
            </a:r>
            <a:r>
              <a:rPr lang="en-US" altLang="zh-TW" b="1" dirty="0" smtClean="0">
                <a:solidFill>
                  <a:srgbClr val="FF3300"/>
                </a:solidFill>
              </a:rPr>
              <a:t>a priori</a:t>
            </a:r>
            <a:r>
              <a:rPr lang="en-US" altLang="zh-TW" dirty="0" smtClean="0"/>
              <a:t> claim </a:t>
            </a:r>
            <a:r>
              <a:rPr lang="en-US" altLang="zh-TW" b="1" dirty="0" smtClean="0">
                <a:solidFill>
                  <a:srgbClr val="FF3300"/>
                </a:solidFill>
              </a:rPr>
              <a:t>maximum</a:t>
            </a:r>
            <a:r>
              <a:rPr lang="en-US" altLang="zh-TW" dirty="0" smtClean="0"/>
              <a:t> use.</a:t>
            </a:r>
            <a:endParaRPr lang="en-US" altLang="zh-TW" dirty="0"/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 smtClean="0"/>
              <a:t>Declare </a:t>
            </a:r>
            <a:r>
              <a:rPr lang="en-US" altLang="zh-TW" dirty="0"/>
              <a:t>the </a:t>
            </a:r>
            <a:r>
              <a:rPr lang="en-US" altLang="zh-TW" b="1" dirty="0"/>
              <a:t>maximum number </a:t>
            </a:r>
            <a:r>
              <a:rPr lang="en-US" altLang="zh-TW" dirty="0"/>
              <a:t>of instances of each resource type that it may need</a:t>
            </a:r>
            <a:endParaRPr lang="en-US" altLang="zh-TW" dirty="0" smtClean="0"/>
          </a:p>
          <a:p>
            <a:pPr eaLnBrk="1" hangingPunct="1">
              <a:lnSpc>
                <a:spcPct val="110000"/>
              </a:lnSpc>
            </a:pPr>
            <a:endParaRPr lang="en-US" altLang="zh-TW" dirty="0" smtClean="0"/>
          </a:p>
          <a:p>
            <a:pPr eaLnBrk="1" hangingPunct="1">
              <a:lnSpc>
                <a:spcPct val="110000"/>
              </a:lnSpc>
            </a:pPr>
            <a:r>
              <a:rPr lang="en-US" altLang="zh-TW" dirty="0" smtClean="0"/>
              <a:t>When a thread requests a resource, it </a:t>
            </a:r>
            <a:r>
              <a:rPr lang="en-US" altLang="zh-TW" b="1" dirty="0" smtClean="0">
                <a:solidFill>
                  <a:srgbClr val="FF3300"/>
                </a:solidFill>
              </a:rPr>
              <a:t>may</a:t>
            </a:r>
            <a:r>
              <a:rPr lang="en-US" altLang="zh-TW" dirty="0" smtClean="0"/>
              <a:t> have to wait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 smtClean="0"/>
              <a:t>Even if the requested resources are </a:t>
            </a:r>
            <a:r>
              <a:rPr lang="en-US" altLang="zh-TW" b="1" dirty="0" smtClean="0"/>
              <a:t>available</a:t>
            </a:r>
            <a:r>
              <a:rPr lang="en-US" altLang="zh-TW" dirty="0" smtClean="0"/>
              <a:t> </a:t>
            </a:r>
            <a:br>
              <a:rPr lang="en-US" altLang="zh-TW" dirty="0" smtClean="0"/>
            </a:b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/>
              <a:t>Data Structures for the Banker</a:t>
            </a:r>
            <a:r>
              <a:rPr lang="en-US" altLang="zh-TW" sz="3600">
                <a:latin typeface="Helvetica"/>
              </a:rPr>
              <a:t>’</a:t>
            </a:r>
            <a:r>
              <a:rPr lang="en-US" altLang="zh-TW" sz="3600"/>
              <a:t>s Algorithm (Skip!)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zh-TW" sz="2400" b="1" i="1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 b="1" i="1" dirty="0" smtClean="0">
                <a:solidFill>
                  <a:srgbClr val="FF0000"/>
                </a:solidFill>
              </a:rPr>
              <a:t>Available</a:t>
            </a:r>
            <a:r>
              <a:rPr lang="en-US" altLang="zh-TW" sz="2400" i="1" dirty="0"/>
              <a:t>:</a:t>
            </a:r>
            <a:r>
              <a:rPr lang="en-US" altLang="zh-TW" sz="2400" dirty="0"/>
              <a:t>  vector of length </a:t>
            </a:r>
            <a:r>
              <a:rPr lang="en-US" altLang="zh-TW" sz="2400" i="1" dirty="0"/>
              <a:t>m</a:t>
            </a:r>
            <a:r>
              <a:rPr lang="en-US" altLang="zh-TW" sz="2400" dirty="0"/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If available [</a:t>
            </a:r>
            <a:r>
              <a:rPr lang="en-US" altLang="zh-TW" sz="2000" i="1" dirty="0"/>
              <a:t>j</a:t>
            </a:r>
            <a:r>
              <a:rPr lang="en-US" altLang="zh-TW" sz="2000" dirty="0"/>
              <a:t>] = </a:t>
            </a:r>
            <a:r>
              <a:rPr lang="en-US" altLang="zh-TW" sz="2000" i="1" dirty="0"/>
              <a:t>k</a:t>
            </a:r>
            <a:r>
              <a:rPr lang="en-US" altLang="zh-TW" sz="2000" dirty="0"/>
              <a:t>, there are</a:t>
            </a:r>
            <a:r>
              <a:rPr lang="en-US" altLang="zh-TW" sz="2000" i="1" dirty="0"/>
              <a:t> k</a:t>
            </a:r>
            <a:r>
              <a:rPr lang="en-US" altLang="zh-TW" sz="2000" dirty="0"/>
              <a:t> instances of resource type </a:t>
            </a:r>
            <a:r>
              <a:rPr lang="en-US" altLang="zh-TW" sz="2000" i="1" dirty="0" err="1"/>
              <a:t>R</a:t>
            </a:r>
            <a:r>
              <a:rPr lang="en-US" altLang="zh-TW" sz="2000" i="1" baseline="-25000" dirty="0" err="1"/>
              <a:t>j</a:t>
            </a:r>
            <a:r>
              <a:rPr lang="en-US" altLang="zh-TW" sz="2000" baseline="-25000" dirty="0"/>
              <a:t>  </a:t>
            </a:r>
            <a:r>
              <a:rPr lang="en-US" altLang="zh-TW" sz="2000" dirty="0"/>
              <a:t>available.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b="1" i="1" dirty="0">
                <a:solidFill>
                  <a:srgbClr val="FF0000"/>
                </a:solidFill>
              </a:rPr>
              <a:t>Max</a:t>
            </a:r>
            <a:r>
              <a:rPr lang="en-US" altLang="zh-TW" sz="2400" i="1" dirty="0"/>
              <a:t>: n x m</a:t>
            </a:r>
            <a:r>
              <a:rPr lang="en-US" altLang="zh-TW" sz="2400" dirty="0"/>
              <a:t> matrix.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If </a:t>
            </a:r>
            <a:r>
              <a:rPr lang="en-US" altLang="zh-TW" sz="2000" i="1" dirty="0"/>
              <a:t>Max </a:t>
            </a:r>
            <a:r>
              <a:rPr lang="en-US" altLang="zh-TW" sz="2000" dirty="0"/>
              <a:t>[</a:t>
            </a:r>
            <a:r>
              <a:rPr lang="en-US" altLang="zh-TW" sz="2000" i="1" dirty="0" err="1"/>
              <a:t>i,j</a:t>
            </a:r>
            <a:r>
              <a:rPr lang="en-US" altLang="zh-TW" sz="2000" dirty="0"/>
              <a:t>] = </a:t>
            </a:r>
            <a:r>
              <a:rPr lang="en-US" altLang="zh-TW" sz="2000" i="1" dirty="0"/>
              <a:t>k</a:t>
            </a:r>
            <a:r>
              <a:rPr lang="en-US" altLang="zh-TW" sz="2000" dirty="0"/>
              <a:t>, then thread </a:t>
            </a:r>
            <a:r>
              <a:rPr lang="en-US" altLang="zh-TW" sz="2000" i="1" dirty="0"/>
              <a:t>P</a:t>
            </a:r>
            <a:r>
              <a:rPr lang="en-US" altLang="zh-TW" sz="2000" i="1" baseline="-25000" dirty="0"/>
              <a:t>i</a:t>
            </a:r>
            <a:r>
              <a:rPr lang="en-US" altLang="zh-TW" sz="2000" i="1" dirty="0"/>
              <a:t> </a:t>
            </a:r>
            <a:r>
              <a:rPr lang="en-US" altLang="zh-TW" sz="2000" dirty="0"/>
              <a:t>may request at most</a:t>
            </a:r>
            <a:r>
              <a:rPr lang="en-US" altLang="zh-TW" sz="2000" i="1" dirty="0"/>
              <a:t> k </a:t>
            </a:r>
            <a:r>
              <a:rPr lang="en-US" altLang="zh-TW" sz="2000" dirty="0"/>
              <a:t>instances of resource type </a:t>
            </a:r>
            <a:r>
              <a:rPr lang="en-US" altLang="zh-TW" sz="2000" i="1" dirty="0" err="1"/>
              <a:t>R</a:t>
            </a:r>
            <a:r>
              <a:rPr lang="en-US" altLang="zh-TW" sz="2000" i="1" baseline="-25000" dirty="0" err="1"/>
              <a:t>j</a:t>
            </a:r>
            <a:r>
              <a:rPr lang="en-US" altLang="zh-TW" sz="20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b="1" i="1" dirty="0">
                <a:solidFill>
                  <a:srgbClr val="FF0000"/>
                </a:solidFill>
              </a:rPr>
              <a:t>Allocation</a:t>
            </a:r>
            <a:r>
              <a:rPr lang="en-US" altLang="zh-TW" sz="2400" i="1" dirty="0"/>
              <a:t>:  n </a:t>
            </a:r>
            <a:r>
              <a:rPr lang="en-US" altLang="zh-TW" sz="2400" dirty="0"/>
              <a:t>x</a:t>
            </a:r>
            <a:r>
              <a:rPr lang="en-US" altLang="zh-TW" sz="2400" i="1" dirty="0"/>
              <a:t> m</a:t>
            </a:r>
            <a:r>
              <a:rPr lang="en-US" altLang="zh-TW" sz="2400" dirty="0"/>
              <a:t> matrix.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If Allocation[</a:t>
            </a:r>
            <a:r>
              <a:rPr lang="en-US" altLang="zh-TW" sz="2000" i="1" dirty="0" err="1"/>
              <a:t>i,j</a:t>
            </a:r>
            <a:r>
              <a:rPr lang="en-US" altLang="zh-TW" sz="2000" dirty="0"/>
              <a:t>] = </a:t>
            </a:r>
            <a:r>
              <a:rPr lang="en-US" altLang="zh-TW" sz="2000" i="1" dirty="0"/>
              <a:t>k</a:t>
            </a:r>
            <a:r>
              <a:rPr lang="en-US" altLang="zh-TW" sz="2000" dirty="0"/>
              <a:t> then</a:t>
            </a:r>
            <a:r>
              <a:rPr lang="en-US" altLang="zh-TW" sz="2000" i="1" dirty="0"/>
              <a:t> P</a:t>
            </a:r>
            <a:r>
              <a:rPr lang="en-US" altLang="zh-TW" sz="2000" i="1" baseline="-25000" dirty="0"/>
              <a:t>i</a:t>
            </a:r>
            <a:r>
              <a:rPr lang="en-US" altLang="zh-TW" sz="2000" dirty="0"/>
              <a:t> is currently allocated </a:t>
            </a:r>
            <a:r>
              <a:rPr lang="en-US" altLang="zh-TW" sz="2000" i="1" dirty="0"/>
              <a:t>k</a:t>
            </a:r>
            <a:r>
              <a:rPr lang="en-US" altLang="zh-TW" sz="2000" dirty="0"/>
              <a:t> instances of </a:t>
            </a:r>
            <a:r>
              <a:rPr lang="en-US" altLang="zh-TW" sz="2000" i="1" dirty="0" err="1"/>
              <a:t>R</a:t>
            </a:r>
            <a:r>
              <a:rPr lang="en-US" altLang="zh-TW" sz="2000" i="1" baseline="-25000" dirty="0" err="1"/>
              <a:t>j</a:t>
            </a:r>
            <a:r>
              <a:rPr lang="en-US" altLang="zh-TW" sz="2000" i="1" baseline="-25000" dirty="0"/>
              <a:t>.</a:t>
            </a:r>
            <a:endParaRPr lang="en-US" altLang="zh-TW" sz="2000" baseline="-250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400" b="1" i="1" dirty="0">
                <a:solidFill>
                  <a:srgbClr val="FF0000"/>
                </a:solidFill>
              </a:rPr>
              <a:t>Need</a:t>
            </a:r>
            <a:r>
              <a:rPr lang="en-US" altLang="zh-TW" sz="2400" i="1" dirty="0"/>
              <a:t>:  n </a:t>
            </a:r>
            <a:r>
              <a:rPr lang="en-US" altLang="zh-TW" sz="2400" dirty="0"/>
              <a:t>x</a:t>
            </a:r>
            <a:r>
              <a:rPr lang="en-US" altLang="zh-TW" sz="2400" i="1" dirty="0"/>
              <a:t> m</a:t>
            </a:r>
            <a:r>
              <a:rPr lang="en-US" altLang="zh-TW" sz="2400" dirty="0"/>
              <a:t> matrix.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If </a:t>
            </a:r>
            <a:r>
              <a:rPr lang="en-US" altLang="zh-TW" sz="2000" i="1" dirty="0"/>
              <a:t>Need</a:t>
            </a:r>
            <a:r>
              <a:rPr lang="en-US" altLang="zh-TW" sz="2000" dirty="0"/>
              <a:t>[</a:t>
            </a:r>
            <a:r>
              <a:rPr lang="en-US" altLang="zh-TW" sz="2000" i="1" dirty="0" err="1"/>
              <a:t>i,j</a:t>
            </a:r>
            <a:r>
              <a:rPr lang="en-US" altLang="zh-TW" sz="2000" dirty="0"/>
              <a:t>] =</a:t>
            </a:r>
            <a:r>
              <a:rPr lang="en-US" altLang="zh-TW" sz="2000" i="1" dirty="0"/>
              <a:t> k</a:t>
            </a:r>
            <a:r>
              <a:rPr lang="en-US" altLang="zh-TW" sz="2000" dirty="0"/>
              <a:t>, then</a:t>
            </a:r>
            <a:r>
              <a:rPr lang="en-US" altLang="zh-TW" sz="2000" i="1" dirty="0"/>
              <a:t> P</a:t>
            </a:r>
            <a:r>
              <a:rPr lang="en-US" altLang="zh-TW" sz="2000" i="1" baseline="-25000" dirty="0"/>
              <a:t>i</a:t>
            </a:r>
            <a:r>
              <a:rPr lang="en-US" altLang="zh-TW" sz="2000" dirty="0"/>
              <a:t> may need </a:t>
            </a:r>
            <a:r>
              <a:rPr lang="en-US" altLang="zh-TW" sz="2000" i="1" dirty="0"/>
              <a:t>k</a:t>
            </a:r>
            <a:r>
              <a:rPr lang="en-US" altLang="zh-TW" sz="2000" dirty="0"/>
              <a:t> more instances of </a:t>
            </a:r>
            <a:r>
              <a:rPr lang="en-US" altLang="zh-TW" sz="2000" i="1" dirty="0" err="1"/>
              <a:t>R</a:t>
            </a:r>
            <a:r>
              <a:rPr lang="en-US" altLang="zh-TW" sz="2000" i="1" baseline="-25000" dirty="0" err="1"/>
              <a:t>j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to complete its task.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TW" sz="1800" i="1" dirty="0"/>
              <a:t>        </a:t>
            </a:r>
            <a:r>
              <a:rPr lang="en-US" altLang="zh-TW" b="1" i="1" dirty="0" smtClean="0"/>
              <a:t>Need</a:t>
            </a:r>
            <a:r>
              <a:rPr lang="en-US" altLang="zh-TW" b="1" dirty="0" smtClean="0"/>
              <a:t> [</a:t>
            </a:r>
            <a:r>
              <a:rPr lang="en-US" altLang="zh-TW" b="1" i="1" dirty="0" err="1" smtClean="0"/>
              <a:t>i,j</a:t>
            </a:r>
            <a:r>
              <a:rPr lang="en-US" altLang="zh-TW" b="1" i="1" dirty="0" smtClean="0"/>
              <a:t>]</a:t>
            </a:r>
            <a:r>
              <a:rPr lang="en-US" altLang="zh-TW" b="1" dirty="0" smtClean="0"/>
              <a:t> = </a:t>
            </a:r>
            <a:r>
              <a:rPr lang="en-US" altLang="zh-TW" b="1" i="1" dirty="0" smtClean="0"/>
              <a:t>Max</a:t>
            </a:r>
            <a:r>
              <a:rPr lang="en-US" altLang="zh-TW" b="1" dirty="0" smtClean="0"/>
              <a:t>[</a:t>
            </a:r>
            <a:r>
              <a:rPr lang="en-US" altLang="zh-TW" b="1" i="1" dirty="0" err="1" smtClean="0"/>
              <a:t>i,j</a:t>
            </a:r>
            <a:r>
              <a:rPr lang="en-US" altLang="zh-TW" b="1" dirty="0" smtClean="0"/>
              <a:t>] </a:t>
            </a:r>
            <a:r>
              <a:rPr lang="en-US" altLang="zh-TW" b="1" dirty="0" smtClean="0">
                <a:latin typeface="Helvetica" pitchFamily="34" charset="0"/>
              </a:rPr>
              <a:t>–</a:t>
            </a:r>
            <a:r>
              <a:rPr lang="en-US" altLang="zh-TW" b="1" dirty="0" smtClean="0"/>
              <a:t> </a:t>
            </a:r>
            <a:r>
              <a:rPr lang="en-US" altLang="zh-TW" b="1" i="1" dirty="0" smtClean="0"/>
              <a:t>Allocation</a:t>
            </a:r>
            <a:r>
              <a:rPr lang="en-US" altLang="zh-TW" b="1" dirty="0" smtClean="0"/>
              <a:t> [</a:t>
            </a:r>
            <a:r>
              <a:rPr lang="en-US" altLang="zh-TW" b="1" i="1" dirty="0" err="1" smtClean="0"/>
              <a:t>i,j</a:t>
            </a:r>
            <a:r>
              <a:rPr lang="en-US" altLang="zh-TW" b="1" dirty="0" smtClean="0"/>
              <a:t>].</a:t>
            </a:r>
            <a:endParaRPr kumimoji="0" lang="en-US" altLang="zh-TW" b="1" dirty="0" smtClean="0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2022667" y="1345779"/>
            <a:ext cx="8496300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zh-TW" sz="2200" b="0" dirty="0"/>
              <a:t>Let </a:t>
            </a:r>
            <a:r>
              <a:rPr kumimoji="0" lang="en-US" altLang="zh-TW" sz="2200" b="0" i="1" dirty="0"/>
              <a:t>n</a:t>
            </a:r>
            <a:r>
              <a:rPr kumimoji="0" lang="en-US" altLang="zh-TW" sz="2200" b="0" dirty="0"/>
              <a:t> = number of threads, and </a:t>
            </a:r>
            <a:r>
              <a:rPr kumimoji="0" lang="en-US" altLang="zh-TW" sz="2200" b="0" i="1" dirty="0"/>
              <a:t>m </a:t>
            </a:r>
            <a:r>
              <a:rPr kumimoji="0" lang="en-US" altLang="zh-TW" sz="2200" b="0" dirty="0"/>
              <a:t>= number of resources types.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Safety Algorithm </a:t>
            </a:r>
            <a:r>
              <a:rPr lang="en-US" altLang="zh-TW" sz="4000"/>
              <a:t>(Skip!)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400"/>
              <a:t>Let </a:t>
            </a:r>
            <a:r>
              <a:rPr lang="en-US" altLang="zh-TW" sz="2400" b="1" i="1">
                <a:solidFill>
                  <a:srgbClr val="FF0000"/>
                </a:solidFill>
              </a:rPr>
              <a:t>Work</a:t>
            </a:r>
            <a:r>
              <a:rPr lang="en-US" altLang="zh-TW" sz="2400" i="1"/>
              <a:t> </a:t>
            </a:r>
            <a:r>
              <a:rPr lang="en-US" altLang="zh-TW" sz="2400"/>
              <a:t>and </a:t>
            </a:r>
            <a:r>
              <a:rPr lang="en-US" altLang="zh-TW" sz="2400" b="1" i="1">
                <a:solidFill>
                  <a:srgbClr val="FF0000"/>
                </a:solidFill>
              </a:rPr>
              <a:t>Finish</a:t>
            </a:r>
            <a:r>
              <a:rPr lang="en-US" altLang="zh-TW" sz="2400"/>
              <a:t> be vectors of length</a:t>
            </a:r>
            <a:r>
              <a:rPr lang="en-US" altLang="zh-TW" sz="2400" i="1"/>
              <a:t> m</a:t>
            </a:r>
            <a:r>
              <a:rPr lang="en-US" altLang="zh-TW" sz="2400"/>
              <a:t> and</a:t>
            </a:r>
            <a:r>
              <a:rPr lang="en-US" altLang="zh-TW" sz="2400" i="1"/>
              <a:t> n</a:t>
            </a:r>
            <a:r>
              <a:rPr lang="en-US" altLang="zh-TW" sz="2400"/>
              <a:t>, respectively.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400"/>
              <a:t>Initialize:</a:t>
            </a:r>
          </a:p>
          <a:p>
            <a:pPr marL="1714500" lvl="3" indent="-342900" eaLnBrk="1" hangingPunct="1">
              <a:lnSpc>
                <a:spcPct val="90000"/>
              </a:lnSpc>
              <a:buNone/>
            </a:pPr>
            <a:r>
              <a:rPr lang="en-US" altLang="zh-TW" i="1" smtClean="0"/>
              <a:t>Work </a:t>
            </a:r>
            <a:r>
              <a:rPr lang="en-US" altLang="zh-TW" smtClean="0"/>
              <a:t>= </a:t>
            </a:r>
            <a:r>
              <a:rPr lang="en-US" altLang="zh-TW" i="1" smtClean="0"/>
              <a:t>Available</a:t>
            </a:r>
          </a:p>
          <a:p>
            <a:pPr marL="1714500" lvl="3" indent="-342900" eaLnBrk="1" hangingPunct="1">
              <a:lnSpc>
                <a:spcPct val="90000"/>
              </a:lnSpc>
              <a:buNone/>
            </a:pPr>
            <a:r>
              <a:rPr lang="en-US" altLang="zh-TW" i="1" smtClean="0"/>
              <a:t>Finish </a:t>
            </a:r>
            <a:r>
              <a:rPr lang="en-US" altLang="zh-TW" smtClean="0"/>
              <a:t>[</a:t>
            </a:r>
            <a:r>
              <a:rPr lang="en-US" altLang="zh-TW" i="1" smtClean="0"/>
              <a:t>i</a:t>
            </a:r>
            <a:r>
              <a:rPr lang="en-US" altLang="zh-TW" smtClean="0"/>
              <a:t>] =</a:t>
            </a:r>
            <a:r>
              <a:rPr lang="en-US" altLang="zh-TW" i="1" smtClean="0"/>
              <a:t> false </a:t>
            </a:r>
            <a:r>
              <a:rPr lang="en-US" altLang="zh-TW" smtClean="0"/>
              <a:t>for</a:t>
            </a:r>
            <a:r>
              <a:rPr lang="en-US" altLang="zh-TW" i="1" smtClean="0"/>
              <a:t> i</a:t>
            </a:r>
            <a:r>
              <a:rPr lang="en-US" altLang="zh-TW" smtClean="0"/>
              <a:t> = 0, 1, </a:t>
            </a:r>
            <a:r>
              <a:rPr lang="en-US" altLang="zh-TW" smtClean="0">
                <a:latin typeface="Helvetica" pitchFamily="34" charset="0"/>
              </a:rPr>
              <a:t>…</a:t>
            </a:r>
            <a:r>
              <a:rPr lang="en-US" altLang="zh-TW" smtClean="0"/>
              <a:t>, </a:t>
            </a:r>
            <a:r>
              <a:rPr lang="en-US" altLang="zh-TW" i="1" smtClean="0"/>
              <a:t>n- </a:t>
            </a:r>
            <a:r>
              <a:rPr lang="en-US" altLang="zh-TW" smtClean="0"/>
              <a:t>1</a:t>
            </a:r>
            <a:r>
              <a:rPr lang="en-US" altLang="zh-TW" i="1" smtClean="0"/>
              <a:t>.</a:t>
            </a:r>
            <a:endParaRPr lang="en-US" altLang="zh-TW" smtClean="0"/>
          </a:p>
          <a:p>
            <a:pPr marL="533400" indent="-533400" eaLnBrk="1" hangingPunct="1">
              <a:lnSpc>
                <a:spcPct val="90000"/>
              </a:lnSpc>
              <a:buFontTx/>
              <a:buAutoNum type="arabicPeriod" startAt="2"/>
            </a:pPr>
            <a:r>
              <a:rPr lang="en-US" altLang="zh-TW" sz="2400"/>
              <a:t>Find an </a:t>
            </a:r>
            <a:r>
              <a:rPr lang="en-US" altLang="zh-TW" sz="2400" i="1"/>
              <a:t>i </a:t>
            </a:r>
            <a:r>
              <a:rPr lang="en-US" altLang="zh-TW" sz="2400"/>
              <a:t>such that both: </a:t>
            </a:r>
          </a:p>
          <a:p>
            <a:pPr marL="914400" lvl="1" indent="-457200" eaLnBrk="1" hangingPunct="1">
              <a:lnSpc>
                <a:spcPct val="90000"/>
              </a:lnSpc>
              <a:buNone/>
            </a:pPr>
            <a:r>
              <a:rPr lang="en-US" altLang="zh-TW" sz="2000"/>
              <a:t>	(a) </a:t>
            </a:r>
            <a:r>
              <a:rPr lang="en-US" altLang="zh-TW" sz="2000" i="1"/>
              <a:t>Finish</a:t>
            </a:r>
            <a:r>
              <a:rPr lang="en-US" altLang="zh-TW" sz="2000"/>
              <a:t> [</a:t>
            </a:r>
            <a:r>
              <a:rPr lang="en-US" altLang="zh-TW" sz="2000" i="1"/>
              <a:t>i</a:t>
            </a:r>
            <a:r>
              <a:rPr lang="en-US" altLang="zh-TW" sz="2000"/>
              <a:t>] = </a:t>
            </a:r>
            <a:r>
              <a:rPr lang="en-US" altLang="zh-TW" sz="2000" i="1"/>
              <a:t>false</a:t>
            </a:r>
            <a:endParaRPr lang="en-US" altLang="zh-TW" sz="2000"/>
          </a:p>
          <a:p>
            <a:pPr marL="914400" lvl="1" indent="-457200" eaLnBrk="1" hangingPunct="1">
              <a:lnSpc>
                <a:spcPct val="90000"/>
              </a:lnSpc>
              <a:buNone/>
            </a:pPr>
            <a:r>
              <a:rPr lang="en-US" altLang="zh-TW" sz="2000"/>
              <a:t>	(b) </a:t>
            </a:r>
            <a:r>
              <a:rPr lang="en-US" altLang="zh-TW" sz="2000" i="1"/>
              <a:t>Need</a:t>
            </a:r>
            <a:r>
              <a:rPr lang="en-US" altLang="zh-TW" sz="2000" i="1" baseline="-25000"/>
              <a:t>i</a:t>
            </a:r>
            <a:r>
              <a:rPr lang="en-US" altLang="zh-TW" sz="2000"/>
              <a:t> </a:t>
            </a:r>
            <a:r>
              <a:rPr lang="en-US" altLang="zh-TW" sz="2000">
                <a:sym typeface="Symbol" pitchFamily="18" charset="2"/>
              </a:rPr>
              <a:t> </a:t>
            </a:r>
            <a:r>
              <a:rPr lang="en-US" altLang="zh-TW" sz="2000" i="1">
                <a:sym typeface="Symbol" pitchFamily="18" charset="2"/>
              </a:rPr>
              <a:t>Work</a:t>
            </a:r>
          </a:p>
          <a:p>
            <a:pPr marL="914400" lvl="1" indent="-457200" eaLnBrk="1" hangingPunct="1">
              <a:lnSpc>
                <a:spcPct val="90000"/>
              </a:lnSpc>
              <a:buNone/>
            </a:pPr>
            <a:r>
              <a:rPr lang="en-US" altLang="zh-TW" sz="2000">
                <a:sym typeface="Symbol" pitchFamily="18" charset="2"/>
              </a:rPr>
              <a:t>	If no such </a:t>
            </a:r>
            <a:r>
              <a:rPr lang="en-US" altLang="zh-TW" sz="2000" i="1">
                <a:sym typeface="Symbol" pitchFamily="18" charset="2"/>
              </a:rPr>
              <a:t>i </a:t>
            </a:r>
            <a:r>
              <a:rPr lang="en-US" altLang="zh-TW" sz="2000">
                <a:sym typeface="Symbol" pitchFamily="18" charset="2"/>
              </a:rPr>
              <a:t>exists, go to step 4.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TW" sz="2400"/>
              <a:t>3.	</a:t>
            </a:r>
            <a:r>
              <a:rPr lang="en-US" altLang="zh-TW" sz="2400" i="1"/>
              <a:t>Work</a:t>
            </a:r>
            <a:r>
              <a:rPr lang="en-US" altLang="zh-TW" sz="2400"/>
              <a:t> = </a:t>
            </a:r>
            <a:r>
              <a:rPr lang="en-US" altLang="zh-TW" sz="2400" i="1"/>
              <a:t>Work </a:t>
            </a:r>
            <a:r>
              <a:rPr lang="en-US" altLang="zh-TW" sz="2400"/>
              <a:t>+ </a:t>
            </a:r>
            <a:r>
              <a:rPr lang="en-US" altLang="zh-TW" sz="2400" i="1"/>
              <a:t>Allocation</a:t>
            </a:r>
            <a:r>
              <a:rPr lang="en-US" altLang="zh-TW" sz="2400" i="1" baseline="-25000"/>
              <a:t>i</a:t>
            </a:r>
            <a:r>
              <a:rPr lang="en-US" altLang="zh-TW" sz="2400"/>
              <a:t/>
            </a:r>
            <a:br>
              <a:rPr lang="en-US" altLang="zh-TW" sz="2400"/>
            </a:br>
            <a:r>
              <a:rPr lang="en-US" altLang="zh-TW" sz="2400" i="1"/>
              <a:t>Finish</a:t>
            </a:r>
            <a:r>
              <a:rPr lang="en-US" altLang="zh-TW" sz="2400"/>
              <a:t>[</a:t>
            </a:r>
            <a:r>
              <a:rPr lang="en-US" altLang="zh-TW" sz="2400" i="1"/>
              <a:t>i</a:t>
            </a:r>
            <a:r>
              <a:rPr lang="en-US" altLang="zh-TW" sz="2400"/>
              <a:t>] =</a:t>
            </a:r>
            <a:r>
              <a:rPr lang="en-US" altLang="zh-TW" sz="2400" i="1"/>
              <a:t> true</a:t>
            </a:r>
            <a:r>
              <a:rPr lang="en-US" altLang="zh-TW" sz="2400"/>
              <a:t/>
            </a:r>
            <a:br>
              <a:rPr lang="en-US" altLang="zh-TW" sz="2400"/>
            </a:br>
            <a:r>
              <a:rPr lang="en-US" altLang="zh-TW" sz="2400"/>
              <a:t>go to step 2.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TW" sz="2400"/>
              <a:t>4.	If </a:t>
            </a:r>
            <a:r>
              <a:rPr lang="en-US" altLang="zh-TW" sz="2400" i="1"/>
              <a:t>Finish</a:t>
            </a:r>
            <a:r>
              <a:rPr lang="en-US" altLang="zh-TW" sz="2400"/>
              <a:t> [</a:t>
            </a:r>
            <a:r>
              <a:rPr lang="en-US" altLang="zh-TW" sz="2400" i="1"/>
              <a:t>i</a:t>
            </a:r>
            <a:r>
              <a:rPr lang="en-US" altLang="zh-TW" sz="2400"/>
              <a:t>] == true for all </a:t>
            </a:r>
            <a:r>
              <a:rPr lang="en-US" altLang="zh-TW" sz="2400" i="1"/>
              <a:t>i</a:t>
            </a:r>
            <a:r>
              <a:rPr lang="en-US" altLang="zh-TW" sz="2400"/>
              <a:t>, then the system is in a safe state.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Resource-Request Algorithm for Thread </a:t>
            </a:r>
            <a:r>
              <a:rPr lang="en-US" altLang="zh-TW" sz="3600" i="1" dirty="0"/>
              <a:t>P</a:t>
            </a:r>
            <a:r>
              <a:rPr lang="en-US" altLang="zh-TW" sz="3600" i="1" baseline="-25000" dirty="0"/>
              <a:t>i</a:t>
            </a:r>
            <a:br>
              <a:rPr lang="en-US" altLang="zh-TW" sz="3600" i="1" baseline="-25000" dirty="0"/>
            </a:br>
            <a:r>
              <a:rPr lang="en-US" altLang="zh-TW" sz="3600" i="1" baseline="-25000" dirty="0"/>
              <a:t> </a:t>
            </a:r>
            <a:r>
              <a:rPr lang="en-US" altLang="zh-TW" sz="3600" dirty="0"/>
              <a:t>(Skip!)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TW" sz="2400" i="1" dirty="0"/>
              <a:t> </a:t>
            </a:r>
            <a:r>
              <a:rPr lang="en-US" altLang="zh-TW" sz="2300" i="1" dirty="0"/>
              <a:t>Request</a:t>
            </a:r>
            <a:r>
              <a:rPr lang="en-US" altLang="zh-TW" sz="2300" dirty="0"/>
              <a:t> = </a:t>
            </a:r>
            <a:r>
              <a:rPr lang="en-US" altLang="zh-TW" sz="2300" i="1" dirty="0"/>
              <a:t>request vector</a:t>
            </a:r>
            <a:r>
              <a:rPr lang="en-US" altLang="zh-TW" sz="2300" dirty="0"/>
              <a:t> for thread </a:t>
            </a:r>
            <a:r>
              <a:rPr lang="en-US" altLang="zh-TW" sz="2300" i="1" dirty="0"/>
              <a:t>P</a:t>
            </a:r>
            <a:r>
              <a:rPr lang="en-US" altLang="zh-TW" sz="2300" i="1" baseline="-25000" dirty="0"/>
              <a:t>i</a:t>
            </a:r>
            <a:r>
              <a:rPr lang="en-US" altLang="zh-TW" sz="2300" dirty="0"/>
              <a:t>.  </a:t>
            </a: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TW" sz="2300" dirty="0"/>
              <a:t> If </a:t>
            </a:r>
            <a:r>
              <a:rPr lang="en-US" altLang="zh-TW" sz="2300" i="1" dirty="0" err="1"/>
              <a:t>Request</a:t>
            </a:r>
            <a:r>
              <a:rPr lang="en-US" altLang="zh-TW" sz="2300" i="1" baseline="-25000" dirty="0" err="1"/>
              <a:t>i</a:t>
            </a:r>
            <a:r>
              <a:rPr lang="en-US" altLang="zh-TW" sz="2300" baseline="-25000" dirty="0"/>
              <a:t> </a:t>
            </a:r>
            <a:r>
              <a:rPr lang="en-US" altLang="zh-TW" sz="2300" dirty="0"/>
              <a:t>[</a:t>
            </a:r>
            <a:r>
              <a:rPr lang="en-US" altLang="zh-TW" sz="2300" i="1" dirty="0"/>
              <a:t>j</a:t>
            </a:r>
            <a:r>
              <a:rPr lang="en-US" altLang="zh-TW" sz="2300" dirty="0"/>
              <a:t>] = </a:t>
            </a:r>
            <a:r>
              <a:rPr lang="en-US" altLang="zh-TW" sz="2300" i="1" dirty="0"/>
              <a:t>k</a:t>
            </a:r>
            <a:r>
              <a:rPr lang="en-US" altLang="zh-TW" sz="2300" dirty="0"/>
              <a:t> then thread </a:t>
            </a:r>
            <a:r>
              <a:rPr lang="en-US" altLang="zh-TW" sz="2300" i="1" dirty="0"/>
              <a:t>P</a:t>
            </a:r>
            <a:r>
              <a:rPr lang="en-US" altLang="zh-TW" sz="2300" i="1" baseline="-25000" dirty="0"/>
              <a:t>i</a:t>
            </a:r>
            <a:r>
              <a:rPr lang="en-US" altLang="zh-TW" sz="2300" dirty="0"/>
              <a:t> wants </a:t>
            </a:r>
            <a:r>
              <a:rPr lang="en-US" altLang="zh-TW" sz="2300" i="1" dirty="0"/>
              <a:t>k</a:t>
            </a:r>
            <a:r>
              <a:rPr lang="en-US" altLang="zh-TW" sz="2300" dirty="0"/>
              <a:t> instances of resource type </a:t>
            </a:r>
            <a:r>
              <a:rPr lang="en-US" altLang="zh-TW" sz="2300" i="1" dirty="0" err="1"/>
              <a:t>R</a:t>
            </a:r>
            <a:r>
              <a:rPr lang="en-US" altLang="zh-TW" sz="2300" i="1" baseline="-25000" dirty="0" err="1"/>
              <a:t>j</a:t>
            </a:r>
            <a:r>
              <a:rPr lang="en-US" altLang="zh-TW" sz="2300" baseline="-25000" dirty="0"/>
              <a:t>.</a:t>
            </a: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400" dirty="0"/>
              <a:t>If </a:t>
            </a:r>
            <a:r>
              <a:rPr lang="en-US" altLang="zh-TW" sz="2400" i="1" dirty="0" err="1"/>
              <a:t>Request</a:t>
            </a:r>
            <a:r>
              <a:rPr lang="en-US" altLang="zh-TW" sz="2400" i="1" baseline="-25000" dirty="0" err="1"/>
              <a:t>i</a:t>
            </a:r>
            <a:r>
              <a:rPr lang="en-US" altLang="zh-TW" sz="2400" i="1" dirty="0"/>
              <a:t> </a:t>
            </a:r>
            <a:r>
              <a:rPr lang="en-US" altLang="zh-TW" sz="2400" dirty="0">
                <a:sym typeface="Symbol" pitchFamily="18" charset="2"/>
              </a:rPr>
              <a:t> </a:t>
            </a:r>
            <a:r>
              <a:rPr lang="en-US" altLang="zh-TW" sz="2400" i="1" dirty="0" err="1">
                <a:sym typeface="Symbol" pitchFamily="18" charset="2"/>
              </a:rPr>
              <a:t>Need</a:t>
            </a:r>
            <a:r>
              <a:rPr lang="en-US" altLang="zh-TW" sz="2400" i="1" baseline="-25000" dirty="0" err="1">
                <a:sym typeface="Symbol" pitchFamily="18" charset="2"/>
              </a:rPr>
              <a:t>i</a:t>
            </a:r>
            <a:r>
              <a:rPr lang="en-US" altLang="zh-TW" sz="2400" i="1" dirty="0">
                <a:sym typeface="Symbol" pitchFamily="18" charset="2"/>
              </a:rPr>
              <a:t> </a:t>
            </a:r>
            <a:r>
              <a:rPr lang="en-US" altLang="zh-TW" sz="2400" dirty="0">
                <a:sym typeface="Symbol" pitchFamily="18" charset="2"/>
              </a:rPr>
              <a:t>go to step 2. Otherwise, raise error condition, since thread has exceeded its maximum claim.</a:t>
            </a: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400" dirty="0">
                <a:sym typeface="Symbol" pitchFamily="18" charset="2"/>
              </a:rPr>
              <a:t>If </a:t>
            </a:r>
            <a:r>
              <a:rPr lang="en-US" altLang="zh-TW" sz="2400" i="1" dirty="0" err="1"/>
              <a:t>Request</a:t>
            </a:r>
            <a:r>
              <a:rPr lang="en-US" altLang="zh-TW" sz="2400" i="1" baseline="-25000" dirty="0" err="1"/>
              <a:t>i</a:t>
            </a:r>
            <a:r>
              <a:rPr lang="en-US" altLang="zh-TW" sz="2400" dirty="0"/>
              <a:t> </a:t>
            </a:r>
            <a:r>
              <a:rPr lang="en-US" altLang="zh-TW" sz="2400" dirty="0">
                <a:sym typeface="Symbol" pitchFamily="18" charset="2"/>
              </a:rPr>
              <a:t> </a:t>
            </a:r>
            <a:r>
              <a:rPr lang="en-US" altLang="zh-TW" sz="2400" i="1" dirty="0">
                <a:sym typeface="Symbol" pitchFamily="18" charset="2"/>
              </a:rPr>
              <a:t>Available</a:t>
            </a:r>
            <a:r>
              <a:rPr lang="en-US" altLang="zh-TW" sz="2400" dirty="0">
                <a:sym typeface="Symbol" pitchFamily="18" charset="2"/>
              </a:rPr>
              <a:t>, go to step 3.  Otherwise </a:t>
            </a:r>
            <a:r>
              <a:rPr lang="en-US" altLang="zh-TW" sz="2400" i="1" dirty="0">
                <a:sym typeface="Symbol" pitchFamily="18" charset="2"/>
              </a:rPr>
              <a:t>P</a:t>
            </a:r>
            <a:r>
              <a:rPr lang="en-US" altLang="zh-TW" sz="2400" i="1" baseline="-25000" dirty="0">
                <a:sym typeface="Symbol" pitchFamily="18" charset="2"/>
              </a:rPr>
              <a:t>i</a:t>
            </a:r>
            <a:r>
              <a:rPr lang="en-US" altLang="zh-TW" sz="2400" dirty="0">
                <a:sym typeface="Symbol" pitchFamily="18" charset="2"/>
              </a:rPr>
              <a:t>  must </a:t>
            </a:r>
            <a:r>
              <a:rPr lang="en-US" altLang="zh-TW" sz="2400" dirty="0">
                <a:solidFill>
                  <a:srgbClr val="FF3300"/>
                </a:solidFill>
                <a:sym typeface="Symbol" pitchFamily="18" charset="2"/>
              </a:rPr>
              <a:t>wait</a:t>
            </a:r>
            <a:r>
              <a:rPr lang="en-US" altLang="zh-TW" sz="2400" dirty="0">
                <a:sym typeface="Symbol" pitchFamily="18" charset="2"/>
              </a:rPr>
              <a:t>, since resources are not available.</a:t>
            </a: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400" b="1" dirty="0">
                <a:solidFill>
                  <a:srgbClr val="FF3300"/>
                </a:solidFill>
                <a:sym typeface="Symbol" pitchFamily="18" charset="2"/>
              </a:rPr>
              <a:t>Pretend</a:t>
            </a:r>
            <a:r>
              <a:rPr lang="en-US" altLang="zh-TW" sz="2400" dirty="0">
                <a:sym typeface="Symbol" pitchFamily="18" charset="2"/>
              </a:rPr>
              <a:t> to allocate requested resources to </a:t>
            </a:r>
            <a:r>
              <a:rPr lang="en-US" altLang="zh-TW" sz="2400" i="1" dirty="0">
                <a:sym typeface="Symbol" pitchFamily="18" charset="2"/>
              </a:rPr>
              <a:t>P</a:t>
            </a:r>
            <a:r>
              <a:rPr lang="en-US" altLang="zh-TW" sz="2400" i="1" baseline="-25000" dirty="0">
                <a:sym typeface="Symbol" pitchFamily="18" charset="2"/>
              </a:rPr>
              <a:t>i</a:t>
            </a:r>
            <a:r>
              <a:rPr lang="en-US" altLang="zh-TW" sz="2400" dirty="0">
                <a:sym typeface="Symbol" pitchFamily="18" charset="2"/>
              </a:rPr>
              <a:t> by modifying the state as follows:</a:t>
            </a:r>
          </a:p>
          <a:p>
            <a:pPr marL="1676400" lvl="3" indent="-304800" eaLnBrk="1" hangingPunct="1">
              <a:lnSpc>
                <a:spcPct val="90000"/>
              </a:lnSpc>
              <a:buNone/>
            </a:pPr>
            <a:r>
              <a:rPr lang="en-US" altLang="zh-TW" sz="1600" dirty="0">
                <a:sym typeface="Symbol" pitchFamily="18" charset="2"/>
              </a:rPr>
              <a:t>		</a:t>
            </a:r>
            <a:r>
              <a:rPr lang="en-US" altLang="zh-TW" sz="1600" i="1" dirty="0">
                <a:sym typeface="Symbol" pitchFamily="18" charset="2"/>
              </a:rPr>
              <a:t>Available</a:t>
            </a:r>
            <a:r>
              <a:rPr lang="en-US" altLang="zh-TW" sz="1600" dirty="0">
                <a:sym typeface="Symbol" pitchFamily="18" charset="2"/>
              </a:rPr>
              <a:t> = </a:t>
            </a:r>
            <a:r>
              <a:rPr lang="en-US" altLang="zh-TW" sz="1600" i="1" dirty="0">
                <a:sym typeface="Symbol" pitchFamily="18" charset="2"/>
              </a:rPr>
              <a:t>Available  </a:t>
            </a:r>
            <a:r>
              <a:rPr lang="en-US" altLang="zh-TW" sz="1600" dirty="0">
                <a:latin typeface="Helvetica" pitchFamily="34" charset="0"/>
                <a:sym typeface="Symbol" pitchFamily="18" charset="2"/>
              </a:rPr>
              <a:t>–</a:t>
            </a:r>
            <a:r>
              <a:rPr lang="en-US" altLang="zh-TW" sz="1600" i="1" dirty="0">
                <a:sym typeface="Symbol" pitchFamily="18" charset="2"/>
              </a:rPr>
              <a:t> Request;</a:t>
            </a:r>
          </a:p>
          <a:p>
            <a:pPr marL="1676400" lvl="3" indent="-304800" eaLnBrk="1" hangingPunct="1">
              <a:lnSpc>
                <a:spcPct val="90000"/>
              </a:lnSpc>
              <a:buNone/>
            </a:pPr>
            <a:r>
              <a:rPr lang="en-US" altLang="zh-TW" sz="1600" dirty="0">
                <a:sym typeface="Symbol" pitchFamily="18" charset="2"/>
              </a:rPr>
              <a:t>		</a:t>
            </a:r>
            <a:r>
              <a:rPr lang="en-US" altLang="zh-TW" sz="1600" i="1" dirty="0" err="1">
                <a:sym typeface="Symbol" pitchFamily="18" charset="2"/>
              </a:rPr>
              <a:t>Allocation</a:t>
            </a:r>
            <a:r>
              <a:rPr lang="en-US" altLang="zh-TW" sz="1600" i="1" baseline="-25000" dirty="0" err="1">
                <a:sym typeface="Symbol" pitchFamily="18" charset="2"/>
              </a:rPr>
              <a:t>i</a:t>
            </a:r>
            <a:r>
              <a:rPr lang="en-US" altLang="zh-TW" sz="1600" baseline="-25000" dirty="0">
                <a:sym typeface="Symbol" pitchFamily="18" charset="2"/>
              </a:rPr>
              <a:t> </a:t>
            </a:r>
            <a:r>
              <a:rPr lang="en-US" altLang="zh-TW" sz="1600" dirty="0">
                <a:sym typeface="Symbol" pitchFamily="18" charset="2"/>
              </a:rPr>
              <a:t>= </a:t>
            </a:r>
            <a:r>
              <a:rPr lang="en-US" altLang="zh-TW" sz="1600" i="1" dirty="0" err="1">
                <a:sym typeface="Symbol" pitchFamily="18" charset="2"/>
              </a:rPr>
              <a:t>Allocation</a:t>
            </a:r>
            <a:r>
              <a:rPr lang="en-US" altLang="zh-TW" sz="1600" i="1" baseline="-25000" dirty="0" err="1">
                <a:sym typeface="Symbol" pitchFamily="18" charset="2"/>
              </a:rPr>
              <a:t>i</a:t>
            </a:r>
            <a:r>
              <a:rPr lang="en-US" altLang="zh-TW" sz="1600" dirty="0">
                <a:sym typeface="Symbol" pitchFamily="18" charset="2"/>
              </a:rPr>
              <a:t> + </a:t>
            </a:r>
            <a:r>
              <a:rPr lang="en-US" altLang="zh-TW" sz="1600" i="1" dirty="0" err="1">
                <a:sym typeface="Symbol" pitchFamily="18" charset="2"/>
              </a:rPr>
              <a:t>Request</a:t>
            </a:r>
            <a:r>
              <a:rPr lang="en-US" altLang="zh-TW" sz="1600" i="1" baseline="-25000" dirty="0" err="1">
                <a:sym typeface="Symbol" pitchFamily="18" charset="2"/>
              </a:rPr>
              <a:t>i</a:t>
            </a:r>
            <a:r>
              <a:rPr lang="en-US" altLang="zh-TW" sz="1600" dirty="0">
                <a:sym typeface="Symbol" pitchFamily="18" charset="2"/>
              </a:rPr>
              <a:t>;</a:t>
            </a:r>
          </a:p>
          <a:p>
            <a:pPr marL="1676400" lvl="3" indent="-304800" eaLnBrk="1" hangingPunct="1">
              <a:lnSpc>
                <a:spcPct val="90000"/>
              </a:lnSpc>
              <a:buNone/>
            </a:pPr>
            <a:r>
              <a:rPr lang="en-US" altLang="zh-TW" sz="1600" dirty="0">
                <a:sym typeface="Symbol" pitchFamily="18" charset="2"/>
              </a:rPr>
              <a:t>		</a:t>
            </a:r>
            <a:r>
              <a:rPr lang="en-US" altLang="zh-TW" sz="1600" i="1" dirty="0" err="1">
                <a:sym typeface="Symbol" pitchFamily="18" charset="2"/>
              </a:rPr>
              <a:t>Need</a:t>
            </a:r>
            <a:r>
              <a:rPr lang="en-US" altLang="zh-TW" sz="1600" i="1" baseline="-25000" dirty="0" err="1">
                <a:sym typeface="Symbol" pitchFamily="18" charset="2"/>
              </a:rPr>
              <a:t>i</a:t>
            </a:r>
            <a:r>
              <a:rPr lang="en-US" altLang="zh-TW" sz="1600" i="1" dirty="0">
                <a:sym typeface="Symbol" pitchFamily="18" charset="2"/>
              </a:rPr>
              <a:t> </a:t>
            </a:r>
            <a:r>
              <a:rPr lang="en-US" altLang="zh-TW" sz="1600" dirty="0">
                <a:sym typeface="Symbol" pitchFamily="18" charset="2"/>
              </a:rPr>
              <a:t>=</a:t>
            </a:r>
            <a:r>
              <a:rPr lang="en-US" altLang="zh-TW" sz="1600" i="1" dirty="0">
                <a:sym typeface="Symbol" pitchFamily="18" charset="2"/>
              </a:rPr>
              <a:t> </a:t>
            </a:r>
            <a:r>
              <a:rPr lang="en-US" altLang="zh-TW" sz="1600" i="1" dirty="0" err="1">
                <a:sym typeface="Symbol" pitchFamily="18" charset="2"/>
              </a:rPr>
              <a:t>Need</a:t>
            </a:r>
            <a:r>
              <a:rPr lang="en-US" altLang="zh-TW" sz="1600" i="1" baseline="-25000" dirty="0" err="1">
                <a:sym typeface="Symbol" pitchFamily="18" charset="2"/>
              </a:rPr>
              <a:t>i</a:t>
            </a:r>
            <a:r>
              <a:rPr lang="en-US" altLang="zh-TW" sz="1600" dirty="0">
                <a:sym typeface="Symbol" pitchFamily="18" charset="2"/>
              </a:rPr>
              <a:t> </a:t>
            </a:r>
            <a:r>
              <a:rPr lang="en-US" altLang="zh-TW" sz="1600" dirty="0">
                <a:latin typeface="Helvetica" pitchFamily="34" charset="0"/>
                <a:sym typeface="Symbol" pitchFamily="18" charset="2"/>
              </a:rPr>
              <a:t>–</a:t>
            </a:r>
            <a:r>
              <a:rPr lang="en-US" altLang="zh-TW" sz="1600" dirty="0">
                <a:sym typeface="Symbol" pitchFamily="18" charset="2"/>
              </a:rPr>
              <a:t> </a:t>
            </a:r>
            <a:r>
              <a:rPr lang="en-US" altLang="zh-TW" sz="1600" i="1" dirty="0" err="1">
                <a:sym typeface="Symbol" pitchFamily="18" charset="2"/>
              </a:rPr>
              <a:t>Request</a:t>
            </a:r>
            <a:r>
              <a:rPr lang="en-US" altLang="zh-TW" sz="1600" i="1" baseline="-25000" dirty="0" err="1">
                <a:sym typeface="Symbol" pitchFamily="18" charset="2"/>
              </a:rPr>
              <a:t>i</a:t>
            </a:r>
            <a:r>
              <a:rPr lang="en-US" altLang="zh-TW" sz="1600" i="1" dirty="0">
                <a:sym typeface="Symbol" pitchFamily="18" charset="2"/>
              </a:rPr>
              <a:t>;</a:t>
            </a:r>
          </a:p>
          <a:p>
            <a:pPr marL="838200" lvl="1" indent="-381000" eaLnBrk="1" hangingPunct="1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lang="en-US" altLang="zh-TW" sz="2000" i="1" dirty="0">
                <a:sym typeface="Symbol" pitchFamily="18" charset="2"/>
              </a:rPr>
              <a:t>If safe  the resources are allocated to Pi. </a:t>
            </a:r>
          </a:p>
          <a:p>
            <a:pPr marL="838200" lvl="1" indent="-381000" eaLnBrk="1" hangingPunct="1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lang="en-US" altLang="zh-TW" sz="2000" i="1" dirty="0">
                <a:sym typeface="Symbol" pitchFamily="18" charset="2"/>
              </a:rPr>
              <a:t>If unsafe  Pi must wait, and the old resource-allocation state is restored</a:t>
            </a:r>
            <a:endParaRPr lang="en-US" altLang="zh-TW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Example of Banker</a:t>
            </a:r>
            <a:r>
              <a:rPr lang="en-US" altLang="zh-TW" smtClean="0">
                <a:latin typeface="Helvetica"/>
              </a:rPr>
              <a:t>’</a:t>
            </a:r>
            <a:r>
              <a:rPr lang="en-US" altLang="zh-TW" smtClean="0"/>
              <a:t>s Algorithm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5 threads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0  </a:t>
            </a:r>
            <a:r>
              <a:rPr lang="en-US" altLang="zh-TW" sz="2400" dirty="0"/>
              <a:t>through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4</a:t>
            </a:r>
            <a:r>
              <a:rPr lang="en-US" altLang="zh-TW" sz="2400" dirty="0"/>
              <a:t>;  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3 resource </a:t>
            </a:r>
            <a:r>
              <a:rPr lang="en-US" altLang="zh-TW" sz="2400" dirty="0" smtClean="0"/>
              <a:t>types: </a:t>
            </a:r>
            <a:r>
              <a:rPr lang="en-US" altLang="zh-TW" sz="2000" i="1" dirty="0" smtClean="0"/>
              <a:t>A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(10 instances),  </a:t>
            </a:r>
            <a:r>
              <a:rPr lang="en-US" altLang="zh-TW" sz="2000" i="1" dirty="0"/>
              <a:t>B</a:t>
            </a:r>
            <a:r>
              <a:rPr lang="en-US" altLang="zh-TW" sz="2000" dirty="0"/>
              <a:t> (5 instances), and </a:t>
            </a:r>
            <a:r>
              <a:rPr lang="en-US" altLang="zh-TW" sz="2000" i="1" dirty="0"/>
              <a:t>C</a:t>
            </a:r>
            <a:r>
              <a:rPr lang="en-US" altLang="zh-TW" sz="2000" dirty="0"/>
              <a:t> (7 instances).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Snapshot at time </a:t>
            </a:r>
            <a:r>
              <a:rPr lang="en-US" altLang="zh-TW" sz="2400" i="1" dirty="0"/>
              <a:t>T</a:t>
            </a:r>
            <a:r>
              <a:rPr lang="en-US" altLang="zh-TW" sz="2400" baseline="-25000" dirty="0"/>
              <a:t>0</a:t>
            </a:r>
            <a:r>
              <a:rPr lang="en-US" altLang="zh-TW" sz="2400" dirty="0" smtClean="0"/>
              <a:t>: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/>
              <a:t>			</a:t>
            </a:r>
            <a:r>
              <a:rPr lang="en-US" altLang="zh-TW" sz="2400" b="1" u="sng" dirty="0"/>
              <a:t>Allocation</a:t>
            </a:r>
            <a:r>
              <a:rPr lang="en-US" altLang="zh-TW" sz="2400" b="1" dirty="0"/>
              <a:t>	</a:t>
            </a:r>
            <a:r>
              <a:rPr lang="en-US" altLang="zh-TW" sz="2400" b="1" u="sng" dirty="0">
                <a:solidFill>
                  <a:srgbClr val="FF0000"/>
                </a:solidFill>
              </a:rPr>
              <a:t>Max</a:t>
            </a:r>
            <a:r>
              <a:rPr lang="en-US" altLang="zh-TW" sz="2400" b="1" dirty="0"/>
              <a:t>	   </a:t>
            </a:r>
            <a:r>
              <a:rPr lang="en-US" altLang="zh-TW" sz="2400" b="1" u="sng" dirty="0"/>
              <a:t>Available</a:t>
            </a:r>
            <a:endParaRPr lang="en-US" altLang="zh-TW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b="1" dirty="0"/>
              <a:t>			  A B C	             A B C          A B C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/>
              <a:t>		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0</a:t>
            </a:r>
            <a:r>
              <a:rPr lang="en-US" altLang="zh-TW" sz="2400" baseline="-25000" dirty="0"/>
              <a:t>	   </a:t>
            </a:r>
            <a:r>
              <a:rPr lang="en-US" altLang="zh-TW" sz="2400" dirty="0"/>
              <a:t>0 1 0	             7 5 3 	      3 3 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/>
              <a:t>		 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1</a:t>
            </a:r>
            <a:r>
              <a:rPr lang="en-US" altLang="zh-TW" sz="2400" baseline="-25000" dirty="0"/>
              <a:t>	   </a:t>
            </a:r>
            <a:r>
              <a:rPr lang="en-US" altLang="zh-TW" sz="2400" dirty="0"/>
              <a:t>2 0 0 	             3 2 2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/>
              <a:t>		 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2</a:t>
            </a:r>
            <a:r>
              <a:rPr lang="en-US" altLang="zh-TW" sz="2400" dirty="0"/>
              <a:t>	  3 0 2 	             9 0 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/>
              <a:t>		 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3</a:t>
            </a:r>
            <a:r>
              <a:rPr lang="en-US" altLang="zh-TW" sz="2400" dirty="0"/>
              <a:t>	  2 1 1 	             2 2 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/>
              <a:t>		 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4</a:t>
            </a:r>
            <a:r>
              <a:rPr lang="en-US" altLang="zh-TW" sz="2400" dirty="0"/>
              <a:t>	  0 0 2	             4 3 3  		</a:t>
            </a:r>
          </a:p>
        </p:txBody>
      </p:sp>
      <p:sp>
        <p:nvSpPr>
          <p:cNvPr id="4" name="圓角矩形圖說文字 3"/>
          <p:cNvSpPr/>
          <p:nvPr/>
        </p:nvSpPr>
        <p:spPr bwMode="auto">
          <a:xfrm>
            <a:off x="8932921" y="1988840"/>
            <a:ext cx="2664296" cy="1033676"/>
          </a:xfrm>
          <a:prstGeom prst="wedgeRoundRectCallout">
            <a:avLst>
              <a:gd name="adj1" fmla="val -202837"/>
              <a:gd name="adj2" fmla="val 75855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Each thread must claim </a:t>
            </a:r>
            <a:r>
              <a:rPr lang="en-US" altLang="zh-TW" sz="2000" dirty="0">
                <a:solidFill>
                  <a:srgbClr val="FF0000"/>
                </a:solidFill>
                <a:latin typeface="Calibri" panose="020F0502020204030204" pitchFamily="34" charset="0"/>
              </a:rPr>
              <a:t>maximum</a:t>
            </a:r>
            <a:r>
              <a:rPr lang="en-US" altLang="zh-TW" sz="2000" dirty="0">
                <a:latin typeface="Calibri" panose="020F0502020204030204" pitchFamily="34" charset="0"/>
              </a:rPr>
              <a:t> use of resources </a:t>
            </a:r>
            <a:r>
              <a:rPr lang="en-US" altLang="zh-TW" sz="2000" dirty="0">
                <a:solidFill>
                  <a:srgbClr val="FF0000"/>
                </a:solidFill>
                <a:latin typeface="Calibri" panose="020F0502020204030204" pitchFamily="34" charset="0"/>
              </a:rPr>
              <a:t>a priori</a:t>
            </a:r>
            <a:endParaRPr lang="zh-TW" altLang="en-US" sz="20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Example of Banker</a:t>
            </a:r>
            <a:r>
              <a:rPr lang="en-US" altLang="zh-TW" sz="4000" dirty="0">
                <a:latin typeface="Helvetica"/>
              </a:rPr>
              <a:t>’</a:t>
            </a:r>
            <a:r>
              <a:rPr lang="en-US" altLang="zh-TW" sz="4000" dirty="0"/>
              <a:t>s Algorithm (Cont.)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/>
              <a:t>The content of the matrix </a:t>
            </a:r>
            <a:r>
              <a:rPr lang="en-US" altLang="zh-TW" sz="2400" b="1" i="1"/>
              <a:t>Need</a:t>
            </a:r>
            <a:r>
              <a:rPr lang="en-US" altLang="zh-TW" sz="2400"/>
              <a:t> is defined to be </a:t>
            </a:r>
            <a:r>
              <a:rPr lang="en-US" altLang="zh-TW" sz="2400" b="1" i="1"/>
              <a:t>Max</a:t>
            </a:r>
            <a:r>
              <a:rPr lang="en-US" altLang="zh-TW" sz="2400" b="1"/>
              <a:t> </a:t>
            </a:r>
            <a:r>
              <a:rPr lang="en-US" altLang="zh-TW" sz="2400" b="1">
                <a:latin typeface="Helvetica" pitchFamily="34" charset="0"/>
              </a:rPr>
              <a:t>–</a:t>
            </a:r>
            <a:r>
              <a:rPr lang="en-US" altLang="zh-TW" sz="2400" b="1"/>
              <a:t> </a:t>
            </a:r>
            <a:r>
              <a:rPr lang="en-US" altLang="zh-TW" sz="2400" b="1" i="1"/>
              <a:t>Allocation</a:t>
            </a:r>
            <a:r>
              <a:rPr lang="en-US" altLang="zh-TW" sz="2400"/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/>
              <a:t>				</a:t>
            </a:r>
            <a:r>
              <a:rPr lang="en-US" altLang="zh-TW" sz="2400" b="1" u="sng"/>
              <a:t>Need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/>
              <a:t>				</a:t>
            </a:r>
            <a:r>
              <a:rPr lang="en-US" altLang="zh-TW" sz="2400" b="1" i="1"/>
              <a:t>A B C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/>
              <a:t>		 	</a:t>
            </a:r>
            <a:r>
              <a:rPr lang="en-US" altLang="zh-TW" sz="2400" b="1" i="1"/>
              <a:t>P</a:t>
            </a:r>
            <a:r>
              <a:rPr lang="en-US" altLang="zh-TW" sz="2400" b="1" baseline="-25000"/>
              <a:t>0</a:t>
            </a:r>
            <a:r>
              <a:rPr lang="en-US" altLang="zh-TW" sz="2400" baseline="-25000"/>
              <a:t>	</a:t>
            </a:r>
            <a:r>
              <a:rPr lang="en-US" altLang="zh-TW" sz="2400"/>
              <a:t>7 4 3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/>
              <a:t>		 	</a:t>
            </a:r>
            <a:r>
              <a:rPr lang="en-US" altLang="zh-TW" sz="2400" b="1" i="1"/>
              <a:t>P</a:t>
            </a:r>
            <a:r>
              <a:rPr lang="en-US" altLang="zh-TW" sz="2400" b="1" baseline="-25000"/>
              <a:t>1</a:t>
            </a:r>
            <a:r>
              <a:rPr lang="en-US" altLang="zh-TW" sz="2400" baseline="-25000"/>
              <a:t>	</a:t>
            </a:r>
            <a:r>
              <a:rPr lang="en-US" altLang="zh-TW" sz="2400"/>
              <a:t>1 2 2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/>
              <a:t>		 	</a:t>
            </a:r>
            <a:r>
              <a:rPr lang="en-US" altLang="zh-TW" sz="2400" b="1" i="1"/>
              <a:t>P</a:t>
            </a:r>
            <a:r>
              <a:rPr lang="en-US" altLang="zh-TW" sz="2400" b="1" baseline="-25000"/>
              <a:t>2</a:t>
            </a:r>
            <a:r>
              <a:rPr lang="en-US" altLang="zh-TW" sz="2400"/>
              <a:t>	6 0 0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/>
              <a:t>		 	</a:t>
            </a:r>
            <a:r>
              <a:rPr lang="en-US" altLang="zh-TW" sz="2400" b="1" i="1"/>
              <a:t>P</a:t>
            </a:r>
            <a:r>
              <a:rPr lang="en-US" altLang="zh-TW" sz="2400" b="1" baseline="-25000"/>
              <a:t>3</a:t>
            </a:r>
            <a:r>
              <a:rPr lang="en-US" altLang="zh-TW" sz="2400"/>
              <a:t>	0 1 1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/>
              <a:t>		 	</a:t>
            </a:r>
            <a:r>
              <a:rPr lang="en-US" altLang="zh-TW" sz="2400" b="1" i="1"/>
              <a:t>P</a:t>
            </a:r>
            <a:r>
              <a:rPr lang="en-US" altLang="zh-TW" sz="2400" b="1" baseline="-25000"/>
              <a:t>4</a:t>
            </a:r>
            <a:r>
              <a:rPr lang="en-US" altLang="zh-TW" sz="2400"/>
              <a:t>	4 3 1 </a:t>
            </a:r>
            <a:br>
              <a:rPr lang="en-US" altLang="zh-TW" sz="2400"/>
            </a:br>
            <a:endParaRPr lang="en-US" altLang="zh-TW" sz="2400"/>
          </a:p>
          <a:p>
            <a:pPr eaLnBrk="1" hangingPunct="1">
              <a:lnSpc>
                <a:spcPct val="80000"/>
              </a:lnSpc>
            </a:pPr>
            <a:r>
              <a:rPr lang="en-US" altLang="zh-TW" sz="2400"/>
              <a:t>The system is in a safe state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/>
              <a:t>The sequence </a:t>
            </a:r>
            <a:r>
              <a:rPr lang="en-US" altLang="zh-TW" sz="2000" b="1"/>
              <a:t>&lt; </a:t>
            </a:r>
            <a:r>
              <a:rPr lang="en-US" altLang="zh-TW" sz="2000" b="1" i="1"/>
              <a:t>P</a:t>
            </a:r>
            <a:r>
              <a:rPr lang="en-US" altLang="zh-TW" sz="2000" b="1" baseline="-25000"/>
              <a:t>1</a:t>
            </a:r>
            <a:r>
              <a:rPr lang="en-US" altLang="zh-TW" sz="2000" b="1"/>
              <a:t>, </a:t>
            </a:r>
            <a:r>
              <a:rPr lang="en-US" altLang="zh-TW" sz="2000" b="1" i="1"/>
              <a:t>P</a:t>
            </a:r>
            <a:r>
              <a:rPr lang="en-US" altLang="zh-TW" sz="2000" b="1" baseline="-25000"/>
              <a:t>3</a:t>
            </a:r>
            <a:r>
              <a:rPr lang="en-US" altLang="zh-TW" sz="2000" b="1"/>
              <a:t>, </a:t>
            </a:r>
            <a:r>
              <a:rPr lang="en-US" altLang="zh-TW" sz="2000" b="1" i="1"/>
              <a:t>P</a:t>
            </a:r>
            <a:r>
              <a:rPr lang="en-US" altLang="zh-TW" sz="2000" b="1" baseline="-25000"/>
              <a:t>4</a:t>
            </a:r>
            <a:r>
              <a:rPr lang="en-US" altLang="zh-TW" sz="2000" b="1"/>
              <a:t>, </a:t>
            </a:r>
            <a:r>
              <a:rPr lang="en-US" altLang="zh-TW" sz="2000" b="1" i="1"/>
              <a:t>P</a:t>
            </a:r>
            <a:r>
              <a:rPr lang="en-US" altLang="zh-TW" sz="2000" b="1" baseline="-25000"/>
              <a:t>2</a:t>
            </a:r>
            <a:r>
              <a:rPr lang="en-US" altLang="zh-TW" sz="2000" b="1"/>
              <a:t>, </a:t>
            </a:r>
            <a:r>
              <a:rPr lang="en-US" altLang="zh-TW" sz="2000" b="1" i="1"/>
              <a:t>P</a:t>
            </a:r>
            <a:r>
              <a:rPr lang="en-US" altLang="zh-TW" sz="2000" b="1" baseline="-25000"/>
              <a:t>0</a:t>
            </a:r>
            <a:r>
              <a:rPr lang="en-US" altLang="zh-TW" sz="2000" b="1"/>
              <a:t>&gt;</a:t>
            </a:r>
            <a:r>
              <a:rPr lang="en-US" altLang="zh-TW" sz="2000"/>
              <a:t> satisfies safety criteria. </a:t>
            </a:r>
            <a:endParaRPr lang="en-US" altLang="zh-TW" sz="2000" baseline="-25000"/>
          </a:p>
          <a:p>
            <a:pPr eaLnBrk="1" hangingPunct="1">
              <a:lnSpc>
                <a:spcPct val="80000"/>
              </a:lnSpc>
            </a:pPr>
            <a:endParaRPr lang="en-US" altLang="zh-TW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Example:  </a:t>
            </a:r>
            <a:r>
              <a:rPr lang="en-US" altLang="zh-TW" i="1" smtClean="0"/>
              <a:t>P</a:t>
            </a:r>
            <a:r>
              <a:rPr lang="en-US" altLang="zh-TW" baseline="-25000" smtClean="0"/>
              <a:t>1</a:t>
            </a:r>
            <a:r>
              <a:rPr lang="en-US" altLang="zh-TW" smtClean="0"/>
              <a:t> Request (1,0,2)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 smtClean="0"/>
              <a:t>1</a:t>
            </a:r>
            <a:r>
              <a:rPr lang="en-US" altLang="zh-TW" sz="2400" baseline="30000" dirty="0" smtClean="0"/>
              <a:t>st</a:t>
            </a:r>
            <a:r>
              <a:rPr lang="en-US" altLang="zh-TW" sz="2400" dirty="0" smtClean="0"/>
              <a:t> : Check </a:t>
            </a:r>
            <a:r>
              <a:rPr lang="en-US" altLang="zh-TW" sz="2400" dirty="0"/>
              <a:t>if </a:t>
            </a:r>
            <a:r>
              <a:rPr lang="en-US" altLang="zh-TW" sz="2400" i="1" dirty="0"/>
              <a:t>Request </a:t>
            </a:r>
            <a:r>
              <a:rPr lang="en-US" altLang="zh-TW" sz="2400" i="1" dirty="0">
                <a:sym typeface="Symbol" pitchFamily="18" charset="2"/>
              </a:rPr>
              <a:t> Available</a:t>
            </a:r>
            <a:r>
              <a:rPr lang="en-US" altLang="zh-TW" sz="2400" dirty="0">
                <a:sym typeface="Symbol" pitchFamily="18" charset="2"/>
              </a:rPr>
              <a:t> (that is, (1,0,2)  (3,3,2)) true</a:t>
            </a:r>
            <a:r>
              <a:rPr lang="en-US" altLang="zh-TW" sz="2400" i="1" dirty="0"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i="1" dirty="0"/>
              <a:t>			</a:t>
            </a:r>
            <a:r>
              <a:rPr lang="en-US" altLang="zh-TW" sz="2200" b="1" u="sng" dirty="0"/>
              <a:t>Allocation</a:t>
            </a:r>
            <a:r>
              <a:rPr lang="en-US" altLang="zh-TW" sz="2200" b="1" dirty="0"/>
              <a:t>	</a:t>
            </a:r>
            <a:r>
              <a:rPr lang="en-US" altLang="zh-TW" sz="2200" b="1" u="sng" dirty="0"/>
              <a:t>Need</a:t>
            </a:r>
            <a:r>
              <a:rPr lang="en-US" altLang="zh-TW" sz="2200" b="1" dirty="0"/>
              <a:t>	    </a:t>
            </a:r>
            <a:r>
              <a:rPr lang="en-US" altLang="zh-TW" sz="2200" b="1" u="sng" dirty="0"/>
              <a:t>Available</a:t>
            </a:r>
            <a:endParaRPr lang="en-US" altLang="zh-TW" sz="22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200" b="1" dirty="0"/>
              <a:t>			  A B C		A B C	      A B C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200" dirty="0"/>
              <a:t>		</a:t>
            </a:r>
            <a:r>
              <a:rPr lang="en-US" altLang="zh-TW" sz="2200" b="1" i="1" dirty="0"/>
              <a:t>P</a:t>
            </a:r>
            <a:r>
              <a:rPr lang="en-US" altLang="zh-TW" sz="2200" b="1" baseline="-25000" dirty="0"/>
              <a:t>0</a:t>
            </a:r>
            <a:r>
              <a:rPr lang="en-US" altLang="zh-TW" sz="2200" dirty="0"/>
              <a:t>	  0 1 0 		7 4 3 	       2 3 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200" dirty="0"/>
              <a:t>		</a:t>
            </a:r>
            <a:r>
              <a:rPr lang="en-US" altLang="zh-TW" sz="2200" b="1" i="1" dirty="0"/>
              <a:t>P</a:t>
            </a:r>
            <a:r>
              <a:rPr lang="en-US" altLang="zh-TW" sz="2200" b="1" baseline="-25000" dirty="0"/>
              <a:t>1</a:t>
            </a:r>
            <a:r>
              <a:rPr lang="en-US" altLang="zh-TW" sz="2200" dirty="0"/>
              <a:t>	  3 0 2		0 2 0 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200" dirty="0"/>
              <a:t>		</a:t>
            </a:r>
            <a:r>
              <a:rPr lang="en-US" altLang="zh-TW" sz="2200" b="1" i="1" dirty="0"/>
              <a:t>P</a:t>
            </a:r>
            <a:r>
              <a:rPr lang="en-US" altLang="zh-TW" sz="2200" b="1" baseline="-25000" dirty="0"/>
              <a:t>2</a:t>
            </a:r>
            <a:r>
              <a:rPr lang="en-US" altLang="zh-TW" sz="2200" dirty="0"/>
              <a:t>	  3 0 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2</a:t>
            </a:r>
            <a:r>
              <a:rPr lang="en-US" altLang="zh-TW" sz="2200" dirty="0" smtClean="0"/>
              <a:t> </a:t>
            </a:r>
            <a:r>
              <a:rPr lang="en-US" altLang="zh-TW" sz="2200" dirty="0"/>
              <a:t>		6 0 0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200" dirty="0"/>
              <a:t>		</a:t>
            </a:r>
            <a:r>
              <a:rPr lang="en-US" altLang="zh-TW" sz="2200" b="1" i="1" dirty="0"/>
              <a:t>P</a:t>
            </a:r>
            <a:r>
              <a:rPr lang="en-US" altLang="zh-TW" sz="2200" b="1" baseline="-25000" dirty="0"/>
              <a:t>3</a:t>
            </a:r>
            <a:r>
              <a:rPr lang="en-US" altLang="zh-TW" sz="2200" dirty="0"/>
              <a:t>	  2 1 1 		0 1 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200" dirty="0"/>
              <a:t>		</a:t>
            </a:r>
            <a:r>
              <a:rPr lang="en-US" altLang="zh-TW" sz="2200" b="1" i="1" dirty="0"/>
              <a:t>P</a:t>
            </a:r>
            <a:r>
              <a:rPr lang="en-US" altLang="zh-TW" sz="2200" b="1" baseline="-25000" dirty="0"/>
              <a:t>4</a:t>
            </a:r>
            <a:r>
              <a:rPr lang="en-US" altLang="zh-TW" sz="2200" dirty="0"/>
              <a:t>	  0 0 2 		4 3 1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b="1" dirty="0" smtClean="0"/>
              <a:t>2</a:t>
            </a:r>
            <a:r>
              <a:rPr lang="en-US" altLang="zh-TW" sz="2400" b="1" baseline="30000" dirty="0" smtClean="0"/>
              <a:t>nd</a:t>
            </a:r>
            <a:r>
              <a:rPr lang="en-US" altLang="zh-TW" sz="2400" b="1" dirty="0" smtClean="0"/>
              <a:t> : Pretend </a:t>
            </a:r>
            <a:r>
              <a:rPr lang="en-US" altLang="zh-TW" sz="2400" dirty="0"/>
              <a:t>the request is fulfilled.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Executing safety algorithm shows that sequence </a:t>
            </a:r>
            <a:r>
              <a:rPr lang="en-US" altLang="zh-TW" sz="2400" b="1" dirty="0"/>
              <a:t>&lt; 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1</a:t>
            </a:r>
            <a:r>
              <a:rPr lang="en-US" altLang="zh-TW" sz="2400" b="1" dirty="0"/>
              <a:t>, 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3</a:t>
            </a:r>
            <a:r>
              <a:rPr lang="en-US" altLang="zh-TW" sz="2400" b="1" dirty="0"/>
              <a:t>, 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4</a:t>
            </a:r>
            <a:r>
              <a:rPr lang="en-US" altLang="zh-TW" sz="2400" b="1" dirty="0"/>
              <a:t>, 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0</a:t>
            </a:r>
            <a:r>
              <a:rPr lang="en-US" altLang="zh-TW" sz="2400" b="1" dirty="0"/>
              <a:t>, 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2</a:t>
            </a:r>
            <a:r>
              <a:rPr lang="en-US" altLang="zh-TW" sz="2400" b="1" dirty="0"/>
              <a:t>&gt;</a:t>
            </a:r>
            <a:r>
              <a:rPr lang="en-US" altLang="zh-TW" sz="2400" dirty="0"/>
              <a:t> satisfies safety requirement.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Banker</a:t>
            </a:r>
            <a:r>
              <a:rPr lang="en-US" altLang="zh-TW" dirty="0">
                <a:latin typeface="Helvetica"/>
              </a:rPr>
              <a:t>’</a:t>
            </a:r>
            <a:r>
              <a:rPr lang="en-US" altLang="zh-TW" dirty="0"/>
              <a:t>s Algorithm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After previous </a:t>
            </a:r>
            <a:r>
              <a:rPr lang="en-US" altLang="zh-TW" dirty="0" smtClean="0"/>
              <a:t>successful allocation </a:t>
            </a:r>
            <a:endParaRPr lang="en-US" altLang="zh-TW" dirty="0"/>
          </a:p>
          <a:p>
            <a:pPr lvl="1"/>
            <a:r>
              <a:rPr lang="en-US" altLang="zh-TW" dirty="0"/>
              <a:t>Can request for (3,3,0) by P4 be granted? No, &gt; available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Can </a:t>
            </a:r>
            <a:r>
              <a:rPr lang="en-US" altLang="zh-TW" dirty="0"/>
              <a:t>request for (0,2,0) by P0 be granted? No, unsafe (see the next slide)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388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Example: </a:t>
            </a:r>
            <a:r>
              <a:rPr lang="en-US" altLang="zh-TW" sz="4000" i="1">
                <a:solidFill>
                  <a:schemeClr val="tx1"/>
                </a:solidFill>
              </a:rPr>
              <a:t>P</a:t>
            </a:r>
            <a:r>
              <a:rPr lang="en-US" altLang="zh-TW" sz="4000" baseline="-25000">
                <a:solidFill>
                  <a:schemeClr val="tx1"/>
                </a:solidFill>
              </a:rPr>
              <a:t>0</a:t>
            </a:r>
            <a:r>
              <a:rPr lang="en-US" altLang="zh-TW" sz="4000">
                <a:solidFill>
                  <a:schemeClr val="tx1"/>
                </a:solidFill>
              </a:rPr>
              <a:t> Request (0,2,0)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After previous allocation, if </a:t>
            </a:r>
            <a:r>
              <a:rPr lang="en-US" altLang="zh-TW" sz="2800" i="1" dirty="0"/>
              <a:t>P</a:t>
            </a:r>
            <a:r>
              <a:rPr lang="en-US" altLang="zh-TW" sz="2800" i="1" baseline="-25000" dirty="0"/>
              <a:t>0</a:t>
            </a:r>
            <a:r>
              <a:rPr lang="en-US" altLang="zh-TW" sz="2800" dirty="0"/>
              <a:t> request (0, 2, 0) </a:t>
            </a:r>
          </a:p>
          <a:p>
            <a:pPr eaLnBrk="1" hangingPunct="1">
              <a:lnSpc>
                <a:spcPct val="80000"/>
              </a:lnSpc>
            </a:pPr>
            <a:endParaRPr lang="en-US" altLang="zh-TW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800" dirty="0"/>
              <a:t>	     </a:t>
            </a:r>
            <a:r>
              <a:rPr lang="en-US" altLang="zh-TW" sz="2800" u="sng" dirty="0"/>
              <a:t>Allocation</a:t>
            </a:r>
            <a:r>
              <a:rPr lang="en-US" altLang="zh-TW" sz="2800" dirty="0"/>
              <a:t>     </a:t>
            </a:r>
            <a:r>
              <a:rPr lang="en-US" altLang="zh-TW" sz="2800" b="1" u="sng" dirty="0">
                <a:solidFill>
                  <a:srgbClr val="FF0000"/>
                </a:solidFill>
              </a:rPr>
              <a:t>Max</a:t>
            </a:r>
            <a:r>
              <a:rPr lang="en-US" altLang="zh-TW" sz="2800" dirty="0"/>
              <a:t>       </a:t>
            </a:r>
            <a:r>
              <a:rPr lang="en-US" altLang="zh-TW" sz="2800" u="sng" dirty="0"/>
              <a:t>Available</a:t>
            </a:r>
            <a:r>
              <a:rPr lang="en-US" altLang="zh-TW" sz="2800" dirty="0"/>
              <a:t>	        </a:t>
            </a:r>
            <a:r>
              <a:rPr lang="en-US" altLang="zh-TW" sz="2800" u="sng" dirty="0"/>
              <a:t>Need</a:t>
            </a:r>
            <a:endParaRPr lang="en-US" altLang="zh-TW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800" dirty="0"/>
              <a:t>	          ABC           </a:t>
            </a:r>
            <a:r>
              <a:rPr lang="en-US" altLang="zh-TW" sz="2800" dirty="0" err="1"/>
              <a:t>ABC</a:t>
            </a:r>
            <a:r>
              <a:rPr lang="en-US" altLang="zh-TW" sz="2800" dirty="0"/>
              <a:t>         </a:t>
            </a:r>
            <a:r>
              <a:rPr lang="en-US" altLang="zh-TW" sz="2800" dirty="0" err="1"/>
              <a:t>ABC</a:t>
            </a:r>
            <a:r>
              <a:rPr lang="en-US" altLang="zh-TW" sz="2800" dirty="0"/>
              <a:t>	                     ABC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800" dirty="0"/>
              <a:t>	P</a:t>
            </a:r>
            <a:r>
              <a:rPr lang="en-US" altLang="zh-TW" sz="1800" dirty="0"/>
              <a:t>0</a:t>
            </a:r>
            <a:r>
              <a:rPr lang="en-US" altLang="zh-TW" sz="2800" dirty="0"/>
              <a:t>       0 3 0         7 5 3       2 1 0	</a:t>
            </a:r>
            <a:r>
              <a:rPr lang="en-US" altLang="zh-TW" sz="2800"/>
              <a:t>         </a:t>
            </a:r>
            <a:r>
              <a:rPr lang="en-US" altLang="zh-TW" sz="2800" smtClean="0"/>
              <a:t>	        7 </a:t>
            </a:r>
            <a:r>
              <a:rPr lang="en-US" altLang="zh-TW" sz="2800" dirty="0"/>
              <a:t>2 3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800" dirty="0"/>
              <a:t>	P</a:t>
            </a:r>
            <a:r>
              <a:rPr lang="en-US" altLang="zh-TW" sz="1800" dirty="0"/>
              <a:t>1</a:t>
            </a:r>
            <a:r>
              <a:rPr lang="en-US" altLang="zh-TW" sz="2800" dirty="0"/>
              <a:t>       3 0 2         3 2 2		                    0 2 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800" dirty="0"/>
              <a:t>	P</a:t>
            </a:r>
            <a:r>
              <a:rPr lang="en-US" altLang="zh-TW" sz="1800" dirty="0"/>
              <a:t>2</a:t>
            </a:r>
            <a:r>
              <a:rPr lang="en-US" altLang="zh-TW" sz="2800" dirty="0"/>
              <a:t>       3 0 2         9 0 2		                    6 0 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800" dirty="0"/>
              <a:t>	P</a:t>
            </a:r>
            <a:r>
              <a:rPr lang="en-US" altLang="zh-TW" sz="1800" dirty="0"/>
              <a:t>3 </a:t>
            </a:r>
            <a:r>
              <a:rPr lang="en-US" altLang="zh-TW" sz="2800" dirty="0"/>
              <a:t>      2 1 1         2 2 2		                    0 1 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800" dirty="0"/>
              <a:t>	P</a:t>
            </a:r>
            <a:r>
              <a:rPr lang="en-US" altLang="zh-TW" sz="1800" dirty="0"/>
              <a:t>4</a:t>
            </a:r>
            <a:r>
              <a:rPr lang="en-US" altLang="zh-TW" sz="2800" dirty="0"/>
              <a:t>       0 0 2         4 3 3		                    4 3 1</a:t>
            </a:r>
          </a:p>
          <a:p>
            <a:pPr eaLnBrk="1" hangingPunct="1">
              <a:lnSpc>
                <a:spcPct val="80000"/>
              </a:lnSpc>
            </a:pPr>
            <a:endParaRPr lang="en-US" altLang="zh-TW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No safe sequence </a:t>
            </a:r>
            <a:r>
              <a:rPr lang="en-US" altLang="zh-TW" sz="2800" dirty="0">
                <a:sym typeface="Symbol" pitchFamily="18" charset="2"/>
              </a:rPr>
              <a:t></a:t>
            </a:r>
            <a:r>
              <a:rPr lang="en-US" altLang="zh-TW" sz="2800" dirty="0"/>
              <a:t> unsafe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800" dirty="0">
                <a:sym typeface="Symbol" pitchFamily="18" charset="2"/>
              </a:rPr>
              <a:t>	</a:t>
            </a:r>
            <a:r>
              <a:rPr lang="en-US" altLang="zh-TW" sz="2800" dirty="0"/>
              <a:t> </a:t>
            </a:r>
            <a:r>
              <a:rPr lang="en-US" altLang="zh-TW" sz="2800" i="1" dirty="0"/>
              <a:t>P</a:t>
            </a:r>
            <a:r>
              <a:rPr lang="en-US" altLang="zh-TW" sz="2800" i="1" baseline="-25000" dirty="0"/>
              <a:t>0</a:t>
            </a:r>
            <a:r>
              <a:rPr lang="en-US" altLang="zh-TW" sz="2800" dirty="0"/>
              <a:t> must </a:t>
            </a:r>
            <a:r>
              <a:rPr lang="en-US" altLang="zh-TW" sz="2800" b="1" dirty="0">
                <a:solidFill>
                  <a:srgbClr val="FF3300"/>
                </a:solidFill>
              </a:rPr>
              <a:t>wait even resources are available</a:t>
            </a:r>
            <a:r>
              <a:rPr lang="en-US" altLang="zh-TW" sz="28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SzPct val="85000"/>
            </a:pPr>
            <a:r>
              <a:rPr lang="en-US" altLang="zh-TW" dirty="0" smtClean="0"/>
              <a:t>System Model</a:t>
            </a:r>
          </a:p>
          <a:p>
            <a:pPr eaLnBrk="1" hangingPunct="1">
              <a:buSzPct val="85000"/>
            </a:pPr>
            <a:r>
              <a:rPr lang="en-US" altLang="zh-TW" dirty="0"/>
              <a:t>Deadlock in Multithreaded Applications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Characterization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Methods for Handling Deadlocks</a:t>
            </a:r>
          </a:p>
          <a:p>
            <a:pPr eaLnBrk="1" hangingPunct="1"/>
            <a:r>
              <a:rPr lang="en-US" altLang="zh-TW" dirty="0" smtClean="0"/>
              <a:t>Deadlock Prevention</a:t>
            </a:r>
          </a:p>
          <a:p>
            <a:pPr eaLnBrk="1" hangingPunct="1">
              <a:buSzPct val="85000"/>
            </a:pPr>
            <a:r>
              <a:rPr lang="en-US" altLang="zh-TW" dirty="0" smtClean="0">
                <a:solidFill>
                  <a:srgbClr val="000000"/>
                </a:solidFill>
              </a:rPr>
              <a:t>Deadlock Avoidance</a:t>
            </a:r>
          </a:p>
          <a:p>
            <a:pPr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Deadlock Detection</a:t>
            </a:r>
            <a:r>
              <a:rPr lang="en-US" altLang="zh-TW" dirty="0" smtClean="0"/>
              <a:t> 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Recovery from Deadlock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Deadlock Detection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Allow </a:t>
            </a:r>
            <a:r>
              <a:rPr lang="en-US" altLang="zh-TW" sz="2800" dirty="0"/>
              <a:t>system to enter deadlock </a:t>
            </a:r>
            <a:r>
              <a:rPr lang="en-US" altLang="zh-TW" sz="2800" dirty="0" smtClean="0"/>
              <a:t>state </a:t>
            </a:r>
            <a:endParaRPr lang="en-US" altLang="zh-TW" sz="2800" dirty="0"/>
          </a:p>
          <a:p>
            <a:pPr eaLnBrk="1" hangingPunct="1"/>
            <a:endParaRPr lang="en-US" altLang="zh-TW" sz="2800" dirty="0" smtClean="0"/>
          </a:p>
          <a:p>
            <a:pPr eaLnBrk="1" hangingPunct="1"/>
            <a:r>
              <a:rPr lang="en-US" altLang="zh-TW" sz="2800" dirty="0" smtClean="0"/>
              <a:t>Detect </a:t>
            </a:r>
            <a:r>
              <a:rPr lang="en-US" altLang="zh-TW" sz="2800" dirty="0"/>
              <a:t>whether deadlocks occur</a:t>
            </a:r>
          </a:p>
          <a:p>
            <a:pPr lvl="1" eaLnBrk="1" hangingPunct="1"/>
            <a:r>
              <a:rPr lang="en-US" altLang="zh-TW" sz="2400" dirty="0"/>
              <a:t>If so, recover from the deadlock </a:t>
            </a:r>
          </a:p>
          <a:p>
            <a:pPr eaLnBrk="1" hangingPunct="1"/>
            <a:endParaRPr lang="en-US" altLang="zh-TW" sz="2800" b="1" dirty="0" smtClean="0">
              <a:solidFill>
                <a:srgbClr val="FF3300"/>
              </a:solidFill>
            </a:endParaRPr>
          </a:p>
          <a:p>
            <a:pPr eaLnBrk="1" hangingPunct="1"/>
            <a:r>
              <a:rPr lang="en-US" altLang="zh-TW" sz="2800" b="1" dirty="0" smtClean="0">
                <a:solidFill>
                  <a:srgbClr val="FF3300"/>
                </a:solidFill>
              </a:rPr>
              <a:t>Detection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algorithm</a:t>
            </a:r>
          </a:p>
          <a:p>
            <a:pPr eaLnBrk="1" hangingPunct="1"/>
            <a:endParaRPr lang="en-US" altLang="zh-TW" sz="2800" b="1" dirty="0" smtClean="0">
              <a:solidFill>
                <a:srgbClr val="FF3300"/>
              </a:solidFill>
            </a:endParaRPr>
          </a:p>
          <a:p>
            <a:pPr eaLnBrk="1" hangingPunct="1"/>
            <a:r>
              <a:rPr lang="en-US" altLang="zh-TW" sz="2800" b="1" dirty="0" smtClean="0">
                <a:solidFill>
                  <a:srgbClr val="FF3300"/>
                </a:solidFill>
              </a:rPr>
              <a:t>Recovery</a:t>
            </a:r>
            <a:r>
              <a:rPr lang="en-US" altLang="zh-TW" sz="2800" dirty="0" smtClean="0"/>
              <a:t> scheme</a:t>
            </a:r>
            <a:endParaRPr lang="en-US" altLang="zh-TW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buSzPct val="85000"/>
            </a:pPr>
            <a:r>
              <a:rPr lang="en-US" altLang="zh-TW" dirty="0" smtClean="0"/>
              <a:t>System Model</a:t>
            </a:r>
          </a:p>
          <a:p>
            <a:pPr eaLnBrk="1" hangingPunct="1">
              <a:buSzPct val="85000"/>
            </a:pPr>
            <a:r>
              <a:rPr lang="en-US" altLang="zh-TW" dirty="0"/>
              <a:t>Deadlock in Multithreaded Applications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Characterization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Methods for Handling Deadlocks</a:t>
            </a:r>
          </a:p>
          <a:p>
            <a:pPr eaLnBrk="1" hangingPunct="1"/>
            <a:r>
              <a:rPr lang="en-US" altLang="zh-TW" dirty="0" smtClean="0"/>
              <a:t>Deadlock Prevention</a:t>
            </a:r>
          </a:p>
          <a:p>
            <a:pPr eaLnBrk="1" hangingPunct="1">
              <a:buSzPct val="85000"/>
            </a:pPr>
            <a:r>
              <a:rPr lang="en-US" altLang="zh-TW" dirty="0" smtClean="0">
                <a:solidFill>
                  <a:srgbClr val="000000"/>
                </a:solidFill>
              </a:rPr>
              <a:t>Deadlock Avoidance</a:t>
            </a:r>
          </a:p>
          <a:p>
            <a:pPr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Deadlock Detection</a:t>
            </a:r>
          </a:p>
          <a:p>
            <a:pPr lvl="1" eaLnBrk="1" hangingPunct="1">
              <a:buSzPct val="85000"/>
            </a:pPr>
            <a:r>
              <a:rPr lang="en-US" altLang="zh-TW" b="1" dirty="0" smtClean="0">
                <a:solidFill>
                  <a:srgbClr val="FF0000"/>
                </a:solidFill>
              </a:rPr>
              <a:t>Single Instance of Each Resource Type </a:t>
            </a:r>
          </a:p>
          <a:p>
            <a:pPr lvl="1" eaLnBrk="1" hangingPunct="1">
              <a:buSzPct val="85000"/>
            </a:pPr>
            <a:r>
              <a:rPr lang="en-US" altLang="zh-TW" dirty="0" smtClean="0"/>
              <a:t>Several Instance of a Resource Type</a:t>
            </a:r>
          </a:p>
          <a:p>
            <a:pPr lvl="1" eaLnBrk="1" hangingPunct="1">
              <a:buSzPct val="85000"/>
            </a:pPr>
            <a:r>
              <a:rPr lang="en-US" altLang="zh-TW" dirty="0" smtClean="0"/>
              <a:t>Detection-Algorithm Usage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Recovery from Deadlock </a:t>
            </a:r>
          </a:p>
        </p:txBody>
      </p:sp>
    </p:spTree>
    <p:extLst>
      <p:ext uri="{BB962C8B-B14F-4D97-AF65-F5344CB8AC3E}">
        <p14:creationId xmlns:p14="http://schemas.microsoft.com/office/powerpoint/2010/main" val="373782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rgbClr val="FF3300"/>
                </a:solidFill>
              </a:rPr>
              <a:t>Single Instance</a:t>
            </a:r>
            <a:r>
              <a:rPr lang="en-US" altLang="zh-TW" sz="4000"/>
              <a:t> of Each Resource Type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System must maintain a </a:t>
            </a:r>
            <a:r>
              <a:rPr lang="en-US" altLang="zh-TW" b="1" i="1" dirty="0" smtClean="0">
                <a:solidFill>
                  <a:srgbClr val="FF3300"/>
                </a:solidFill>
              </a:rPr>
              <a:t>wait-for</a:t>
            </a:r>
            <a:r>
              <a:rPr lang="en-US" altLang="zh-TW" dirty="0" smtClean="0"/>
              <a:t> graph</a:t>
            </a:r>
          </a:p>
          <a:p>
            <a:pPr lvl="1" eaLnBrk="1" hangingPunct="1"/>
            <a:r>
              <a:rPr lang="en-US" altLang="zh-TW" dirty="0" smtClean="0"/>
              <a:t>A variant of resource-allocation graph by removing resource nodes</a:t>
            </a:r>
          </a:p>
          <a:p>
            <a:pPr lvl="1" eaLnBrk="1" hangingPunct="1"/>
            <a:r>
              <a:rPr lang="en-US" altLang="zh-TW" dirty="0" smtClean="0"/>
              <a:t>Nodes are threads.</a:t>
            </a:r>
          </a:p>
          <a:p>
            <a:pPr lvl="1" eaLnBrk="1" hangingPunct="1"/>
            <a:r>
              <a:rPr lang="en-US" altLang="zh-TW" i="1" dirty="0" smtClean="0"/>
              <a:t>P</a:t>
            </a:r>
            <a:r>
              <a:rPr lang="en-US" altLang="zh-TW" i="1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 pitchFamily="18" charset="2"/>
              </a:rPr>
              <a:t> </a:t>
            </a:r>
            <a:r>
              <a:rPr lang="en-US" altLang="zh-TW" i="1" dirty="0" err="1" smtClean="0">
                <a:sym typeface="Symbol" pitchFamily="18" charset="2"/>
              </a:rPr>
              <a:t>P</a:t>
            </a:r>
            <a:r>
              <a:rPr lang="en-US" altLang="zh-TW" i="1" baseline="-25000" dirty="0" err="1" smtClean="0">
                <a:sym typeface="Symbol" pitchFamily="18" charset="2"/>
              </a:rPr>
              <a:t>j</a:t>
            </a:r>
            <a:r>
              <a:rPr lang="en-US" altLang="zh-TW" i="1" baseline="-25000" dirty="0" smtClean="0">
                <a:sym typeface="Symbol" pitchFamily="18" charset="2"/>
              </a:rPr>
              <a:t>   </a:t>
            </a:r>
            <a:r>
              <a:rPr lang="en-US" altLang="zh-TW" dirty="0" smtClean="0">
                <a:sym typeface="Symbol" pitchFamily="18" charset="2"/>
              </a:rPr>
              <a:t>if </a:t>
            </a:r>
            <a:r>
              <a:rPr lang="en-US" altLang="zh-TW" i="1" dirty="0" smtClean="0">
                <a:sym typeface="Symbol" pitchFamily="18" charset="2"/>
              </a:rPr>
              <a:t>P</a:t>
            </a:r>
            <a:r>
              <a:rPr lang="en-US" altLang="zh-TW" i="1" baseline="-25000" dirty="0" smtClean="0">
                <a:sym typeface="Symbol" pitchFamily="18" charset="2"/>
              </a:rPr>
              <a:t>i</a:t>
            </a:r>
            <a:r>
              <a:rPr lang="en-US" altLang="zh-TW" i="1" dirty="0" smtClean="0">
                <a:sym typeface="Symbol" pitchFamily="18" charset="2"/>
              </a:rPr>
              <a:t> </a:t>
            </a:r>
            <a:r>
              <a:rPr lang="en-US" altLang="zh-TW" dirty="0" smtClean="0">
                <a:sym typeface="Symbol" pitchFamily="18" charset="2"/>
              </a:rPr>
              <a:t>is waiting for</a:t>
            </a:r>
            <a:r>
              <a:rPr lang="en-US" altLang="zh-TW" i="1" dirty="0" smtClean="0">
                <a:sym typeface="Symbol" pitchFamily="18" charset="2"/>
              </a:rPr>
              <a:t> </a:t>
            </a:r>
            <a:r>
              <a:rPr lang="en-US" altLang="zh-TW" i="1" dirty="0" err="1" smtClean="0">
                <a:sym typeface="Symbol" pitchFamily="18" charset="2"/>
              </a:rPr>
              <a:t>P</a:t>
            </a:r>
            <a:r>
              <a:rPr lang="en-US" altLang="zh-TW" i="1" baseline="-25000" dirty="0" err="1" smtClean="0">
                <a:sym typeface="Symbol" pitchFamily="18" charset="2"/>
              </a:rPr>
              <a:t>j</a:t>
            </a:r>
            <a:r>
              <a:rPr lang="en-US" altLang="zh-TW" i="1" dirty="0" smtClean="0">
                <a:sym typeface="Symbol" pitchFamily="18" charset="2"/>
              </a:rPr>
              <a:t>.</a:t>
            </a:r>
          </a:p>
          <a:p>
            <a:pPr lvl="1" eaLnBrk="1" hangingPunct="1"/>
            <a:endParaRPr lang="en-US" altLang="zh-TW" i="1" dirty="0" smtClean="0">
              <a:sym typeface="Symbol" pitchFamily="18" charset="2"/>
            </a:endParaRPr>
          </a:p>
          <a:p>
            <a:pPr eaLnBrk="1" hangingPunct="1"/>
            <a:r>
              <a:rPr lang="en-US" altLang="zh-TW" dirty="0"/>
              <a:t>Then, </a:t>
            </a:r>
            <a:r>
              <a:rPr lang="en-US" altLang="zh-TW" dirty="0" smtClean="0"/>
              <a:t>system must </a:t>
            </a:r>
            <a:r>
              <a:rPr lang="en-US" altLang="zh-TW" b="1" dirty="0" smtClean="0"/>
              <a:t>periodically</a:t>
            </a:r>
            <a:r>
              <a:rPr lang="en-US" altLang="zh-TW" dirty="0" smtClean="0"/>
              <a:t> </a:t>
            </a:r>
            <a:r>
              <a:rPr lang="en-US" altLang="zh-TW" b="1" dirty="0" smtClean="0"/>
              <a:t>invoke</a:t>
            </a:r>
            <a:r>
              <a:rPr lang="en-US" altLang="zh-TW" dirty="0" smtClean="0"/>
              <a:t> an algorithm that searches for a cycle in the graph.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/>
              <a:t>Resource-Allocation Graph and Wait-for Graph</a:t>
            </a:r>
          </a:p>
        </p:txBody>
      </p:sp>
      <p:pic>
        <p:nvPicPr>
          <p:cNvPr id="44035" name="Picture 5"/>
          <p:cNvPicPr>
            <a:picLocks noChangeAspect="1" noChangeArrowheads="1"/>
          </p:cNvPicPr>
          <p:nvPr/>
        </p:nvPicPr>
        <p:blipFill>
          <a:blip r:embed="rId2" cstate="print"/>
          <a:srcRect l="758" t="7358" r="523" b="7356"/>
          <a:stretch>
            <a:fillRect/>
          </a:stretch>
        </p:blipFill>
        <p:spPr bwMode="auto">
          <a:xfrm>
            <a:off x="2279651" y="1562100"/>
            <a:ext cx="7777163" cy="41719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44036" name="Text Box 6"/>
          <p:cNvSpPr txBox="1">
            <a:spLocks noChangeArrowheads="1"/>
          </p:cNvSpPr>
          <p:nvPr/>
        </p:nvSpPr>
        <p:spPr bwMode="auto">
          <a:xfrm>
            <a:off x="2711450" y="5805488"/>
            <a:ext cx="2927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800" b="0">
                <a:latin typeface="Helvetica" pitchFamily="34" charset="0"/>
              </a:rPr>
              <a:t>Resource-Allocation Graph</a:t>
            </a:r>
          </a:p>
        </p:txBody>
      </p:sp>
      <p:sp>
        <p:nvSpPr>
          <p:cNvPr id="44037" name="Text Box 7"/>
          <p:cNvSpPr txBox="1">
            <a:spLocks noChangeArrowheads="1"/>
          </p:cNvSpPr>
          <p:nvPr/>
        </p:nvSpPr>
        <p:spPr bwMode="auto">
          <a:xfrm>
            <a:off x="6888163" y="5734051"/>
            <a:ext cx="3143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800" b="0">
                <a:latin typeface="Helvetica" pitchFamily="34" charset="0"/>
              </a:rPr>
              <a:t>Corresponding wait-for 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buSzPct val="85000"/>
            </a:pPr>
            <a:r>
              <a:rPr lang="en-US" altLang="zh-TW" dirty="0" smtClean="0"/>
              <a:t>System Model</a:t>
            </a:r>
          </a:p>
          <a:p>
            <a:pPr eaLnBrk="1" hangingPunct="1">
              <a:buSzPct val="85000"/>
            </a:pPr>
            <a:r>
              <a:rPr lang="en-US" altLang="zh-TW" dirty="0"/>
              <a:t>Deadlock in Multithreaded Applications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Characterization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Methods for Handling Deadlocks</a:t>
            </a:r>
          </a:p>
          <a:p>
            <a:pPr eaLnBrk="1" hangingPunct="1"/>
            <a:r>
              <a:rPr lang="en-US" altLang="zh-TW" dirty="0" smtClean="0"/>
              <a:t>Deadlock Prevention</a:t>
            </a:r>
          </a:p>
          <a:p>
            <a:pPr eaLnBrk="1" hangingPunct="1">
              <a:buSzPct val="85000"/>
            </a:pPr>
            <a:r>
              <a:rPr lang="en-US" altLang="zh-TW" dirty="0" smtClean="0">
                <a:solidFill>
                  <a:srgbClr val="000000"/>
                </a:solidFill>
              </a:rPr>
              <a:t>Deadlock Avoidance</a:t>
            </a:r>
          </a:p>
          <a:p>
            <a:pPr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Deadlock Detection</a:t>
            </a:r>
          </a:p>
          <a:p>
            <a:pPr lvl="1" eaLnBrk="1" hangingPunct="1">
              <a:buSzPct val="85000"/>
            </a:pPr>
            <a:r>
              <a:rPr lang="en-US" altLang="zh-TW" dirty="0" smtClean="0"/>
              <a:t>Single Instance of Each Resource Type </a:t>
            </a:r>
          </a:p>
          <a:p>
            <a:pPr lvl="1" eaLnBrk="1" hangingPunct="1">
              <a:buSzPct val="85000"/>
            </a:pPr>
            <a:r>
              <a:rPr lang="en-US" altLang="zh-TW" b="1" dirty="0" smtClean="0">
                <a:solidFill>
                  <a:srgbClr val="FF0000"/>
                </a:solidFill>
              </a:rPr>
              <a:t>Several Instance of a Resource Type</a:t>
            </a:r>
          </a:p>
          <a:p>
            <a:pPr lvl="1" eaLnBrk="1" hangingPunct="1">
              <a:buSzPct val="85000"/>
            </a:pPr>
            <a:r>
              <a:rPr lang="en-US" altLang="zh-TW" dirty="0" smtClean="0"/>
              <a:t>Detection-Algorithm Usage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Recovery from Deadlock </a:t>
            </a:r>
          </a:p>
        </p:txBody>
      </p:sp>
    </p:spTree>
    <p:extLst>
      <p:ext uri="{BB962C8B-B14F-4D97-AF65-F5344CB8AC3E}">
        <p14:creationId xmlns:p14="http://schemas.microsoft.com/office/powerpoint/2010/main" val="163475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rgbClr val="FF3300"/>
                </a:solidFill>
              </a:rPr>
              <a:t>Several Instances</a:t>
            </a:r>
            <a:r>
              <a:rPr lang="en-US" altLang="zh-TW" sz="4000"/>
              <a:t> of a Resource Type (Skip!)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Available</a:t>
            </a:r>
            <a:r>
              <a:rPr lang="en-US" altLang="zh-TW" sz="2800" i="1" dirty="0"/>
              <a:t>:</a:t>
            </a:r>
            <a:r>
              <a:rPr lang="en-US" altLang="zh-TW" sz="2800" dirty="0"/>
              <a:t>  A vector of length </a:t>
            </a:r>
            <a:r>
              <a:rPr lang="en-US" altLang="zh-TW" sz="2800" i="1" dirty="0"/>
              <a:t>m</a:t>
            </a:r>
            <a:r>
              <a:rPr lang="en-US" altLang="zh-TW" sz="2800" dirty="0"/>
              <a:t> indicates the number of available resources of each type.</a:t>
            </a:r>
            <a:br>
              <a:rPr lang="en-US" altLang="zh-TW" sz="2800" dirty="0"/>
            </a:b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Allocation</a:t>
            </a:r>
            <a:r>
              <a:rPr lang="en-US" altLang="zh-TW" sz="2800" i="1" dirty="0"/>
              <a:t>:</a:t>
            </a:r>
            <a:r>
              <a:rPr lang="en-US" altLang="zh-TW" sz="2800" dirty="0"/>
              <a:t>  An </a:t>
            </a:r>
            <a:r>
              <a:rPr lang="en-US" altLang="zh-TW" sz="2800" i="1" dirty="0"/>
              <a:t>n </a:t>
            </a:r>
            <a:r>
              <a:rPr lang="en-US" altLang="zh-TW" sz="2800" dirty="0"/>
              <a:t>x</a:t>
            </a:r>
            <a:r>
              <a:rPr lang="en-US" altLang="zh-TW" sz="2800" i="1" dirty="0"/>
              <a:t> m</a:t>
            </a:r>
            <a:r>
              <a:rPr lang="en-US" altLang="zh-TW" sz="2800" dirty="0"/>
              <a:t> matrix defines the number of resources of each type currently allocated to each thread.</a:t>
            </a:r>
            <a:br>
              <a:rPr lang="en-US" altLang="zh-TW" sz="2800" dirty="0"/>
            </a:b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Request</a:t>
            </a:r>
            <a:r>
              <a:rPr lang="en-US" altLang="zh-TW" sz="2800" i="1" dirty="0"/>
              <a:t>:</a:t>
            </a:r>
            <a:r>
              <a:rPr lang="en-US" altLang="zh-TW" sz="2800" dirty="0"/>
              <a:t>  An </a:t>
            </a:r>
            <a:r>
              <a:rPr lang="en-US" altLang="zh-TW" sz="2800" i="1" dirty="0"/>
              <a:t>n </a:t>
            </a:r>
            <a:r>
              <a:rPr lang="en-US" altLang="zh-TW" sz="2800" dirty="0"/>
              <a:t>x</a:t>
            </a:r>
            <a:r>
              <a:rPr lang="en-US" altLang="zh-TW" sz="2800" i="1" dirty="0"/>
              <a:t> m</a:t>
            </a:r>
            <a:r>
              <a:rPr lang="en-US" altLang="zh-TW" sz="2800" dirty="0"/>
              <a:t> matrix indicates the </a:t>
            </a:r>
            <a:r>
              <a:rPr lang="en-US" altLang="zh-TW" sz="2800" i="1" dirty="0">
                <a:solidFill>
                  <a:srgbClr val="3333FF"/>
                </a:solidFill>
              </a:rPr>
              <a:t>current request</a:t>
            </a:r>
            <a:r>
              <a:rPr lang="en-US" altLang="zh-TW" sz="2800" dirty="0"/>
              <a:t> of each thread.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If </a:t>
            </a:r>
            <a:r>
              <a:rPr lang="en-US" altLang="zh-TW" sz="2400" i="1" dirty="0"/>
              <a:t>Request </a:t>
            </a:r>
            <a:r>
              <a:rPr lang="en-US" altLang="zh-TW" sz="2400" dirty="0"/>
              <a:t>[</a:t>
            </a:r>
            <a:r>
              <a:rPr lang="en-US" altLang="zh-TW" sz="2400" i="1" dirty="0" err="1"/>
              <a:t>i</a:t>
            </a:r>
            <a:r>
              <a:rPr lang="en-US" altLang="zh-TW" sz="2400" dirty="0"/>
              <a:t>][j] = </a:t>
            </a:r>
            <a:r>
              <a:rPr lang="en-US" altLang="zh-TW" sz="2400" i="1" dirty="0"/>
              <a:t>k</a:t>
            </a:r>
            <a:r>
              <a:rPr lang="en-US" altLang="zh-TW" sz="2400" dirty="0"/>
              <a:t>, then thread</a:t>
            </a:r>
            <a:r>
              <a:rPr lang="en-US" altLang="zh-TW" sz="2400" i="1" dirty="0"/>
              <a:t> P</a:t>
            </a:r>
            <a:r>
              <a:rPr lang="en-US" altLang="zh-TW" sz="2400" i="1" baseline="-25000" dirty="0"/>
              <a:t>i</a:t>
            </a:r>
            <a:r>
              <a:rPr lang="en-US" altLang="zh-TW" sz="2400" dirty="0"/>
              <a:t> is requesting</a:t>
            </a:r>
            <a:r>
              <a:rPr lang="en-US" altLang="zh-TW" sz="2400" i="1" dirty="0"/>
              <a:t> k</a:t>
            </a:r>
            <a:r>
              <a:rPr lang="en-US" altLang="zh-TW" sz="2400" dirty="0"/>
              <a:t> more instances of resource type </a:t>
            </a:r>
            <a:r>
              <a:rPr lang="en-US" altLang="zh-TW" sz="2400" i="1" dirty="0" err="1"/>
              <a:t>R</a:t>
            </a:r>
            <a:r>
              <a:rPr lang="en-US" altLang="zh-TW" sz="2400" i="1" baseline="-25000" dirty="0" err="1"/>
              <a:t>j</a:t>
            </a:r>
            <a:r>
              <a:rPr lang="en-US" altLang="zh-TW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Detection Algorithm (Skip!)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zh-TW" sz="2800"/>
              <a:t>1.	Let </a:t>
            </a:r>
            <a:r>
              <a:rPr lang="en-US" altLang="zh-TW" sz="2800" b="1" i="1">
                <a:solidFill>
                  <a:srgbClr val="FF3300"/>
                </a:solidFill>
              </a:rPr>
              <a:t>Work</a:t>
            </a:r>
            <a:r>
              <a:rPr lang="en-US" altLang="zh-TW" sz="2800"/>
              <a:t> and </a:t>
            </a:r>
            <a:r>
              <a:rPr lang="en-US" altLang="zh-TW" sz="2800" b="1" i="1">
                <a:solidFill>
                  <a:srgbClr val="FF3300"/>
                </a:solidFill>
              </a:rPr>
              <a:t>Finish</a:t>
            </a:r>
            <a:r>
              <a:rPr lang="en-US" altLang="zh-TW" sz="2800"/>
              <a:t> be vectors of length </a:t>
            </a:r>
            <a:r>
              <a:rPr lang="en-US" altLang="zh-TW" sz="2800" i="1"/>
              <a:t>m</a:t>
            </a:r>
            <a:r>
              <a:rPr lang="en-US" altLang="zh-TW" sz="2800"/>
              <a:t> and </a:t>
            </a:r>
            <a:r>
              <a:rPr lang="en-US" altLang="zh-TW" sz="2800" i="1"/>
              <a:t>n</a:t>
            </a:r>
            <a:r>
              <a:rPr lang="en-US" altLang="zh-TW" sz="2800"/>
              <a:t>, respectively Initialize:</a:t>
            </a:r>
          </a:p>
          <a:p>
            <a:pPr lvl="1" eaLnBrk="1" hangingPunct="1">
              <a:buFontTx/>
              <a:buNone/>
            </a:pPr>
            <a:r>
              <a:rPr lang="en-US" altLang="zh-TW" sz="2400"/>
              <a:t>	(a) </a:t>
            </a:r>
            <a:r>
              <a:rPr lang="en-US" altLang="zh-TW" sz="2400" i="1"/>
              <a:t>Work</a:t>
            </a:r>
            <a:r>
              <a:rPr lang="en-US" altLang="zh-TW" sz="2400"/>
              <a:t> = </a:t>
            </a:r>
            <a:r>
              <a:rPr lang="en-US" altLang="zh-TW" sz="2400" i="1"/>
              <a:t>Available</a:t>
            </a:r>
            <a:endParaRPr lang="en-US" altLang="zh-TW" sz="2400"/>
          </a:p>
          <a:p>
            <a:pPr lvl="1" eaLnBrk="1" hangingPunct="1">
              <a:buFontTx/>
              <a:buNone/>
            </a:pPr>
            <a:r>
              <a:rPr lang="en-US" altLang="zh-TW" sz="2400"/>
              <a:t>	(b) For </a:t>
            </a:r>
            <a:r>
              <a:rPr lang="en-US" altLang="zh-TW" sz="2400" i="1"/>
              <a:t>i</a:t>
            </a:r>
            <a:r>
              <a:rPr lang="en-US" altLang="zh-TW" sz="2400"/>
              <a:t> = 1,2, </a:t>
            </a:r>
            <a:r>
              <a:rPr lang="en-US" altLang="zh-TW" sz="2400">
                <a:latin typeface="Helvetica" pitchFamily="34" charset="0"/>
              </a:rPr>
              <a:t>…</a:t>
            </a:r>
            <a:r>
              <a:rPr lang="en-US" altLang="zh-TW" sz="2400"/>
              <a:t>,</a:t>
            </a:r>
            <a:r>
              <a:rPr lang="en-US" altLang="zh-TW" sz="2400" i="1"/>
              <a:t> n</a:t>
            </a:r>
            <a:r>
              <a:rPr lang="en-US" altLang="zh-TW" sz="2400"/>
              <a:t>, </a:t>
            </a:r>
          </a:p>
          <a:p>
            <a:pPr lvl="1" eaLnBrk="1" hangingPunct="1">
              <a:buFontTx/>
              <a:buNone/>
            </a:pPr>
            <a:r>
              <a:rPr lang="en-US" altLang="zh-TW" sz="2400"/>
              <a:t>		      If </a:t>
            </a:r>
            <a:r>
              <a:rPr lang="en-US" altLang="zh-TW" sz="2400" i="1"/>
              <a:t>Allocation</a:t>
            </a:r>
            <a:r>
              <a:rPr lang="en-US" altLang="zh-TW" sz="2400" i="1" baseline="-25000"/>
              <a:t>i</a:t>
            </a:r>
            <a:r>
              <a:rPr lang="en-US" altLang="zh-TW" sz="2400"/>
              <a:t> </a:t>
            </a:r>
            <a:r>
              <a:rPr lang="en-US" altLang="zh-TW" sz="2400">
                <a:sym typeface="Symbol" pitchFamily="18" charset="2"/>
              </a:rPr>
              <a:t> 0, then  </a:t>
            </a:r>
            <a:r>
              <a:rPr lang="en-US" altLang="zh-TW" sz="2400" i="1">
                <a:sym typeface="Symbol" pitchFamily="18" charset="2"/>
              </a:rPr>
              <a:t>Finish</a:t>
            </a:r>
            <a:r>
              <a:rPr lang="en-US" altLang="zh-TW" sz="2400">
                <a:sym typeface="Symbol" pitchFamily="18" charset="2"/>
              </a:rPr>
              <a:t>[i] = false;   </a:t>
            </a:r>
          </a:p>
          <a:p>
            <a:pPr lvl="1" eaLnBrk="1" hangingPunct="1">
              <a:buFontTx/>
              <a:buNone/>
            </a:pPr>
            <a:r>
              <a:rPr lang="en-US" altLang="zh-TW" sz="2400">
                <a:sym typeface="Symbol" pitchFamily="18" charset="2"/>
              </a:rPr>
              <a:t>            Otherwise,  </a:t>
            </a:r>
            <a:r>
              <a:rPr lang="en-US" altLang="zh-TW" sz="2400" i="1">
                <a:sym typeface="Symbol" pitchFamily="18" charset="2"/>
              </a:rPr>
              <a:t>Finish</a:t>
            </a:r>
            <a:r>
              <a:rPr lang="en-US" altLang="zh-TW" sz="2400">
                <a:sym typeface="Symbol" pitchFamily="18" charset="2"/>
              </a:rPr>
              <a:t>[i] = </a:t>
            </a:r>
            <a:r>
              <a:rPr lang="en-US" altLang="zh-TW" sz="2400" i="1">
                <a:sym typeface="Symbol" pitchFamily="18" charset="2"/>
              </a:rPr>
              <a:t>true</a:t>
            </a:r>
            <a:r>
              <a:rPr lang="en-US" altLang="zh-TW" sz="2400">
                <a:sym typeface="Symbol" pitchFamily="18" charset="2"/>
              </a:rPr>
              <a:t>.</a:t>
            </a:r>
          </a:p>
          <a:p>
            <a:pPr eaLnBrk="1" hangingPunct="1">
              <a:buFontTx/>
              <a:buNone/>
            </a:pPr>
            <a:r>
              <a:rPr lang="en-US" altLang="zh-TW" sz="2800"/>
              <a:t>2.	Find an index </a:t>
            </a:r>
            <a:r>
              <a:rPr lang="en-US" altLang="zh-TW" sz="2800" i="1"/>
              <a:t>i </a:t>
            </a:r>
            <a:r>
              <a:rPr lang="en-US" altLang="zh-TW" sz="2800"/>
              <a:t>such that both:</a:t>
            </a:r>
          </a:p>
          <a:p>
            <a:pPr lvl="1" eaLnBrk="1" hangingPunct="1">
              <a:buFontTx/>
              <a:buNone/>
            </a:pPr>
            <a:r>
              <a:rPr lang="en-US" altLang="zh-TW" sz="2400"/>
              <a:t>(a)	</a:t>
            </a:r>
            <a:r>
              <a:rPr lang="en-US" altLang="zh-TW" sz="2400" i="1"/>
              <a:t>Finish</a:t>
            </a:r>
            <a:r>
              <a:rPr lang="en-US" altLang="zh-TW" sz="2400"/>
              <a:t>[</a:t>
            </a:r>
            <a:r>
              <a:rPr lang="en-US" altLang="zh-TW" sz="2400" i="1"/>
              <a:t>i</a:t>
            </a:r>
            <a:r>
              <a:rPr lang="en-US" altLang="zh-TW" sz="2400"/>
              <a:t>] == </a:t>
            </a:r>
            <a:r>
              <a:rPr lang="en-US" altLang="zh-TW" sz="2400" i="1"/>
              <a:t>false</a:t>
            </a:r>
            <a:endParaRPr lang="en-US" altLang="zh-TW" sz="2400"/>
          </a:p>
          <a:p>
            <a:pPr lvl="1" eaLnBrk="1" hangingPunct="1">
              <a:buFontTx/>
              <a:buNone/>
            </a:pPr>
            <a:r>
              <a:rPr lang="en-US" altLang="zh-TW" sz="2400"/>
              <a:t>(b)	</a:t>
            </a:r>
            <a:r>
              <a:rPr lang="en-US" altLang="zh-TW" sz="2400" i="1"/>
              <a:t>Request</a:t>
            </a:r>
            <a:r>
              <a:rPr lang="en-US" altLang="zh-TW" sz="2400" i="1" baseline="-25000"/>
              <a:t>i</a:t>
            </a:r>
            <a:r>
              <a:rPr lang="en-US" altLang="zh-TW" sz="2400"/>
              <a:t> </a:t>
            </a:r>
            <a:r>
              <a:rPr lang="en-US" altLang="zh-TW" sz="2400">
                <a:sym typeface="Symbol" pitchFamily="18" charset="2"/>
              </a:rPr>
              <a:t> </a:t>
            </a:r>
            <a:r>
              <a:rPr lang="en-US" altLang="zh-TW" sz="2400" i="1">
                <a:sym typeface="Symbol" pitchFamily="18" charset="2"/>
              </a:rPr>
              <a:t>Work</a:t>
            </a:r>
            <a:endParaRPr lang="en-US" altLang="zh-TW" sz="2400">
              <a:sym typeface="Symbol" pitchFamily="18" charset="2"/>
            </a:endParaRPr>
          </a:p>
          <a:p>
            <a:pPr lvl="1" eaLnBrk="1" hangingPunct="1">
              <a:buFontTx/>
              <a:buNone/>
            </a:pPr>
            <a:r>
              <a:rPr lang="en-US" altLang="zh-TW" sz="2400">
                <a:sym typeface="Symbol" pitchFamily="18" charset="2"/>
              </a:rPr>
              <a:t>If no such </a:t>
            </a:r>
            <a:r>
              <a:rPr lang="en-US" altLang="zh-TW" sz="2400" i="1">
                <a:sym typeface="Symbol" pitchFamily="18" charset="2"/>
              </a:rPr>
              <a:t>i</a:t>
            </a:r>
            <a:r>
              <a:rPr lang="en-US" altLang="zh-TW" sz="2400">
                <a:sym typeface="Symbol" pitchFamily="18" charset="2"/>
              </a:rPr>
              <a:t> exists, go to step 4. </a:t>
            </a:r>
            <a:endParaRPr lang="en-US" altLang="zh-TW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Detection Algorithm (Cont.) (Skip!)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zh-TW" smtClean="0"/>
              <a:t>3.	</a:t>
            </a:r>
            <a:r>
              <a:rPr lang="en-US" altLang="zh-TW" i="1" smtClean="0"/>
              <a:t>Work</a:t>
            </a:r>
            <a:r>
              <a:rPr lang="en-US" altLang="zh-TW" smtClean="0"/>
              <a:t> = </a:t>
            </a:r>
            <a:r>
              <a:rPr lang="en-US" altLang="zh-TW" i="1" smtClean="0"/>
              <a:t>Work</a:t>
            </a:r>
            <a:r>
              <a:rPr lang="en-US" altLang="zh-TW" smtClean="0"/>
              <a:t> + </a:t>
            </a:r>
            <a:r>
              <a:rPr lang="en-US" altLang="zh-TW" i="1" smtClean="0"/>
              <a:t>Allocation</a:t>
            </a:r>
            <a:r>
              <a:rPr lang="en-US" altLang="zh-TW" i="1" baseline="-25000" smtClean="0"/>
              <a:t>i</a:t>
            </a:r>
            <a:r>
              <a:rPr lang="en-US" altLang="zh-TW" smtClean="0"/>
              <a:t/>
            </a:r>
            <a:br>
              <a:rPr lang="en-US" altLang="zh-TW" smtClean="0"/>
            </a:br>
            <a:r>
              <a:rPr lang="en-US" altLang="zh-TW" i="1" smtClean="0"/>
              <a:t>Finish</a:t>
            </a:r>
            <a:r>
              <a:rPr lang="en-US" altLang="zh-TW" smtClean="0"/>
              <a:t>[</a:t>
            </a:r>
            <a:r>
              <a:rPr lang="en-US" altLang="zh-TW" i="1" smtClean="0"/>
              <a:t>i</a:t>
            </a:r>
            <a:r>
              <a:rPr lang="en-US" altLang="zh-TW" smtClean="0"/>
              <a:t>] = </a:t>
            </a:r>
            <a:r>
              <a:rPr lang="en-US" altLang="zh-TW" i="1" smtClean="0"/>
              <a:t>true</a:t>
            </a:r>
            <a:r>
              <a:rPr lang="en-US" altLang="zh-TW" smtClean="0"/>
              <a:t/>
            </a:r>
            <a:br>
              <a:rPr lang="en-US" altLang="zh-TW" smtClean="0"/>
            </a:br>
            <a:r>
              <a:rPr lang="en-US" altLang="zh-TW" smtClean="0"/>
              <a:t>go to step 2.</a:t>
            </a:r>
            <a:br>
              <a:rPr lang="en-US" altLang="zh-TW" smtClean="0"/>
            </a:br>
            <a:endParaRPr lang="en-US" altLang="zh-TW" smtClean="0"/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4"/>
            </a:pPr>
            <a:r>
              <a:rPr lang="en-US" altLang="zh-TW" smtClean="0"/>
              <a:t>If </a:t>
            </a:r>
            <a:r>
              <a:rPr lang="en-US" altLang="zh-TW" i="1" smtClean="0"/>
              <a:t>Finish</a:t>
            </a:r>
            <a:r>
              <a:rPr lang="en-US" altLang="zh-TW" smtClean="0"/>
              <a:t>[</a:t>
            </a:r>
            <a:r>
              <a:rPr lang="en-US" altLang="zh-TW" i="1" smtClean="0"/>
              <a:t>i</a:t>
            </a:r>
            <a:r>
              <a:rPr lang="en-US" altLang="zh-TW" smtClean="0"/>
              <a:t>] == false, for some </a:t>
            </a:r>
            <a:r>
              <a:rPr lang="en-US" altLang="zh-TW" i="1" smtClean="0"/>
              <a:t>i</a:t>
            </a:r>
            <a:r>
              <a:rPr lang="en-US" altLang="zh-TW" smtClean="0"/>
              <a:t>, 1 </a:t>
            </a:r>
            <a:r>
              <a:rPr lang="en-US" altLang="zh-TW" smtClean="0">
                <a:sym typeface="Symbol" pitchFamily="18" charset="2"/>
              </a:rPr>
              <a:t> </a:t>
            </a:r>
            <a:r>
              <a:rPr lang="en-US" altLang="zh-TW" i="1" smtClean="0">
                <a:sym typeface="Symbol" pitchFamily="18" charset="2"/>
              </a:rPr>
              <a:t>i</a:t>
            </a:r>
            <a:r>
              <a:rPr lang="en-US" altLang="zh-TW" smtClean="0">
                <a:sym typeface="Symbol" pitchFamily="18" charset="2"/>
              </a:rPr>
              <a:t>   </a:t>
            </a:r>
            <a:r>
              <a:rPr lang="en-US" altLang="zh-TW" i="1" smtClean="0">
                <a:sym typeface="Symbol" pitchFamily="18" charset="2"/>
              </a:rPr>
              <a:t>n</a:t>
            </a:r>
            <a:r>
              <a:rPr lang="en-US" altLang="zh-TW" smtClean="0">
                <a:sym typeface="Symbol" pitchFamily="18" charset="2"/>
              </a:rPr>
              <a:t>, then the system is in deadlock state. Moreover, if </a:t>
            </a:r>
            <a:r>
              <a:rPr lang="en-US" altLang="zh-TW" i="1" smtClean="0">
                <a:sym typeface="Symbol" pitchFamily="18" charset="2"/>
              </a:rPr>
              <a:t>Finish</a:t>
            </a:r>
            <a:r>
              <a:rPr lang="en-US" altLang="zh-TW" smtClean="0">
                <a:sym typeface="Symbol" pitchFamily="18" charset="2"/>
              </a:rPr>
              <a:t>[</a:t>
            </a:r>
            <a:r>
              <a:rPr lang="en-US" altLang="zh-TW" i="1" smtClean="0">
                <a:sym typeface="Symbol" pitchFamily="18" charset="2"/>
              </a:rPr>
              <a:t>i</a:t>
            </a:r>
            <a:r>
              <a:rPr lang="en-US" altLang="zh-TW" smtClean="0">
                <a:sym typeface="Symbol" pitchFamily="18" charset="2"/>
              </a:rPr>
              <a:t>] == </a:t>
            </a:r>
            <a:r>
              <a:rPr lang="en-US" altLang="zh-TW" i="1" smtClean="0">
                <a:sym typeface="Symbol" pitchFamily="18" charset="2"/>
              </a:rPr>
              <a:t>false</a:t>
            </a:r>
            <a:r>
              <a:rPr lang="en-US" altLang="zh-TW" smtClean="0">
                <a:sym typeface="Symbol" pitchFamily="18" charset="2"/>
              </a:rPr>
              <a:t>, then </a:t>
            </a:r>
            <a:r>
              <a:rPr lang="en-US" altLang="zh-TW" i="1" smtClean="0">
                <a:sym typeface="Symbol" pitchFamily="18" charset="2"/>
              </a:rPr>
              <a:t>P</a:t>
            </a:r>
            <a:r>
              <a:rPr lang="en-US" altLang="zh-TW" i="1" baseline="-25000" smtClean="0">
                <a:sym typeface="Symbol" pitchFamily="18" charset="2"/>
              </a:rPr>
              <a:t>i</a:t>
            </a:r>
            <a:r>
              <a:rPr lang="en-US" altLang="zh-TW" smtClean="0">
                <a:sym typeface="Symbol" pitchFamily="18" charset="2"/>
              </a:rPr>
              <a:t> is deadlocked.</a:t>
            </a:r>
            <a:endParaRPr lang="en-US" altLang="zh-TW" smtClean="0"/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2208213" y="5553075"/>
            <a:ext cx="76946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/>
            <a:r>
              <a:rPr kumimoji="0" lang="en-US" altLang="zh-TW" sz="1800">
                <a:solidFill>
                  <a:srgbClr val="FF0066"/>
                </a:solidFill>
                <a:latin typeface="Helvetica" pitchFamily="34" charset="0"/>
                <a:sym typeface="Symbol" pitchFamily="18" charset="2"/>
              </a:rPr>
              <a:t>Algorithm requires an order of O(</a:t>
            </a:r>
            <a:r>
              <a:rPr kumimoji="0" lang="en-US" altLang="zh-TW" sz="1800" i="1">
                <a:solidFill>
                  <a:srgbClr val="FF0066"/>
                </a:solidFill>
                <a:latin typeface="Helvetica" pitchFamily="34" charset="0"/>
                <a:sym typeface="Symbol" pitchFamily="18" charset="2"/>
              </a:rPr>
              <a:t>m </a:t>
            </a:r>
            <a:r>
              <a:rPr kumimoji="0" lang="en-US" altLang="zh-TW" sz="1800">
                <a:solidFill>
                  <a:srgbClr val="FF0066"/>
                </a:solidFill>
                <a:latin typeface="Helvetica" pitchFamily="34" charset="0"/>
                <a:sym typeface="Symbol" pitchFamily="18" charset="2"/>
              </a:rPr>
              <a:t>x</a:t>
            </a:r>
            <a:r>
              <a:rPr kumimoji="0" lang="en-US" altLang="zh-TW" sz="1800" i="1">
                <a:solidFill>
                  <a:srgbClr val="FF0066"/>
                </a:solidFill>
                <a:latin typeface="Helvetica" pitchFamily="34" charset="0"/>
                <a:sym typeface="Symbol" pitchFamily="18" charset="2"/>
              </a:rPr>
              <a:t> n</a:t>
            </a:r>
            <a:r>
              <a:rPr kumimoji="0" lang="en-US" altLang="zh-TW" sz="1800" baseline="30000">
                <a:solidFill>
                  <a:srgbClr val="FF0066"/>
                </a:solidFill>
                <a:latin typeface="Helvetica" pitchFamily="34" charset="0"/>
                <a:sym typeface="Symbol" pitchFamily="18" charset="2"/>
              </a:rPr>
              <a:t>2)</a:t>
            </a:r>
            <a:r>
              <a:rPr kumimoji="0" lang="en-US" altLang="zh-TW" sz="1800">
                <a:solidFill>
                  <a:srgbClr val="FF0066"/>
                </a:solidFill>
                <a:latin typeface="Helvetica" pitchFamily="34" charset="0"/>
                <a:sym typeface="Symbol" pitchFamily="18" charset="2"/>
              </a:rPr>
              <a:t> operations to detect whether the system is in deadlocked state</a:t>
            </a:r>
            <a:r>
              <a:rPr kumimoji="0" lang="en-US" altLang="zh-TW" sz="1800" b="0">
                <a:solidFill>
                  <a:srgbClr val="FF0066"/>
                </a:solidFill>
                <a:latin typeface="Helvetica" pitchFamily="34" charset="0"/>
                <a:sym typeface="Symbol" pitchFamily="18" charset="2"/>
              </a:rPr>
              <a:t>.</a:t>
            </a:r>
            <a:endParaRPr kumimoji="0" lang="en-US" altLang="zh-TW" sz="1800" b="0">
              <a:solidFill>
                <a:srgbClr val="FF0066"/>
              </a:solidFill>
              <a:latin typeface="Helvetic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Example of Detection Algorithm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Five threads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0</a:t>
            </a:r>
            <a:r>
              <a:rPr lang="en-US" altLang="zh-TW" sz="2400" dirty="0"/>
              <a:t> ~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4</a:t>
            </a:r>
            <a:r>
              <a:rPr lang="en-US" altLang="zh-TW" sz="2400" dirty="0"/>
              <a:t>;</a:t>
            </a:r>
            <a:r>
              <a:rPr lang="en-US" altLang="zh-TW" sz="2400" baseline="-25000" dirty="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Three resource types: A (7 instances), </a:t>
            </a:r>
            <a:r>
              <a:rPr lang="en-US" altLang="zh-TW" sz="2400" i="1" dirty="0"/>
              <a:t>B </a:t>
            </a:r>
            <a:r>
              <a:rPr lang="en-US" altLang="zh-TW" sz="2400" dirty="0"/>
              <a:t>(2 instances), and </a:t>
            </a:r>
            <a:r>
              <a:rPr lang="en-US" altLang="zh-TW" sz="2400" i="1" dirty="0"/>
              <a:t>C</a:t>
            </a:r>
            <a:r>
              <a:rPr lang="en-US" altLang="zh-TW" sz="2400" dirty="0"/>
              <a:t> (6 instances).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Snapshot at time </a:t>
            </a:r>
            <a:r>
              <a:rPr lang="en-US" altLang="zh-TW" sz="2400" i="1" dirty="0"/>
              <a:t>T</a:t>
            </a:r>
            <a:r>
              <a:rPr lang="en-US" altLang="zh-TW" sz="2400" baseline="-25000" dirty="0"/>
              <a:t>0</a:t>
            </a:r>
            <a:r>
              <a:rPr lang="en-US" altLang="zh-TW" sz="2400" dirty="0"/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/>
              <a:t>			 </a:t>
            </a:r>
            <a:r>
              <a:rPr lang="en-US" altLang="zh-TW" sz="2400" b="1" i="1" u="sng" dirty="0"/>
              <a:t>Allocation</a:t>
            </a:r>
            <a:r>
              <a:rPr lang="en-US" altLang="zh-TW" sz="2400" b="1" i="1" dirty="0"/>
              <a:t>	</a:t>
            </a:r>
            <a:r>
              <a:rPr lang="en-US" altLang="zh-TW" sz="2400" b="1" i="1" u="sng" dirty="0"/>
              <a:t>Request</a:t>
            </a:r>
            <a:r>
              <a:rPr lang="en-US" altLang="zh-TW" sz="2400" b="1" i="1" dirty="0"/>
              <a:t>	</a:t>
            </a:r>
            <a:r>
              <a:rPr lang="en-US" altLang="zh-TW" sz="2400" b="1" i="1" u="sng" dirty="0"/>
              <a:t>Available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b="1" dirty="0"/>
              <a:t>			   </a:t>
            </a:r>
            <a:r>
              <a:rPr lang="en-US" altLang="zh-TW" sz="2400" b="1" i="1" dirty="0"/>
              <a:t>A B C 	A B C 	  	A B C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/>
              <a:t>		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0</a:t>
            </a:r>
            <a:r>
              <a:rPr lang="en-US" altLang="zh-TW" sz="2400" dirty="0"/>
              <a:t>	   0 1 0 	              0 0 0 	 	0 0 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/>
              <a:t>		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1</a:t>
            </a:r>
            <a:r>
              <a:rPr lang="en-US" altLang="zh-TW" sz="2400" dirty="0"/>
              <a:t>	   2 0 0 	              2 0 2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/>
              <a:t>		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2</a:t>
            </a:r>
            <a:r>
              <a:rPr lang="en-US" altLang="zh-TW" sz="2400" dirty="0"/>
              <a:t>	   3 0 3		 0 0 0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/>
              <a:t>		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3</a:t>
            </a:r>
            <a:r>
              <a:rPr lang="en-US" altLang="zh-TW" sz="2400" dirty="0"/>
              <a:t>	   2 1 1 	              1 0 0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/>
              <a:t>		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4</a:t>
            </a:r>
            <a:r>
              <a:rPr lang="en-US" altLang="zh-TW" sz="2400" dirty="0"/>
              <a:t>	   0 0 2 	              0 0 2</a:t>
            </a:r>
          </a:p>
          <a:p>
            <a:pPr eaLnBrk="1" hangingPunct="1">
              <a:lnSpc>
                <a:spcPct val="80000"/>
              </a:lnSpc>
            </a:pPr>
            <a:endParaRPr lang="en-US" altLang="zh-TW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 smtClean="0"/>
              <a:t>Sequence </a:t>
            </a:r>
            <a:r>
              <a:rPr lang="en-US" altLang="zh-TW" sz="2400" dirty="0"/>
              <a:t>&lt;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0</a:t>
            </a:r>
            <a:r>
              <a:rPr lang="en-US" altLang="zh-TW" sz="2400" dirty="0"/>
              <a:t>,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,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3</a:t>
            </a:r>
            <a:r>
              <a:rPr lang="en-US" altLang="zh-TW" sz="2400" dirty="0"/>
              <a:t>,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,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4</a:t>
            </a:r>
            <a:r>
              <a:rPr lang="en-US" altLang="zh-TW" sz="2400" dirty="0"/>
              <a:t>&gt; will result in </a:t>
            </a:r>
            <a:r>
              <a:rPr lang="en-US" altLang="zh-TW" sz="2400" i="1" dirty="0"/>
              <a:t>Finish</a:t>
            </a:r>
            <a:r>
              <a:rPr lang="en-US" altLang="zh-TW" sz="2400" dirty="0"/>
              <a:t>[</a:t>
            </a:r>
            <a:r>
              <a:rPr lang="en-US" altLang="zh-TW" sz="2400" i="1" dirty="0" err="1"/>
              <a:t>i</a:t>
            </a:r>
            <a:r>
              <a:rPr lang="en-US" altLang="zh-TW" sz="2400" dirty="0"/>
              <a:t>] = </a:t>
            </a:r>
            <a:r>
              <a:rPr lang="en-US" altLang="zh-TW" sz="2400" i="1" dirty="0"/>
              <a:t>true</a:t>
            </a:r>
            <a:r>
              <a:rPr lang="en-US" altLang="zh-TW" sz="2400" dirty="0"/>
              <a:t> for all threads. </a:t>
            </a:r>
          </a:p>
        </p:txBody>
      </p:sp>
      <p:sp>
        <p:nvSpPr>
          <p:cNvPr id="2" name="圓角矩形圖說文字 1"/>
          <p:cNvSpPr/>
          <p:nvPr/>
        </p:nvSpPr>
        <p:spPr bwMode="auto">
          <a:xfrm>
            <a:off x="7032104" y="4509120"/>
            <a:ext cx="2808312" cy="828672"/>
          </a:xfrm>
          <a:prstGeom prst="wedgeRoundRectCallout">
            <a:avLst>
              <a:gd name="adj1" fmla="val -114913"/>
              <a:gd name="adj2" fmla="val -108653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2400" dirty="0">
                <a:latin typeface="Calibri" panose="020F0502020204030204" pitchFamily="34" charset="0"/>
              </a:rPr>
              <a:t>the </a:t>
            </a:r>
            <a:r>
              <a:rPr lang="en-US" altLang="zh-TW" sz="2400" i="1" dirty="0">
                <a:solidFill>
                  <a:srgbClr val="3333FF"/>
                </a:solidFill>
                <a:latin typeface="Calibri" panose="020F0502020204030204" pitchFamily="34" charset="0"/>
              </a:rPr>
              <a:t>current request</a:t>
            </a:r>
            <a:r>
              <a:rPr lang="en-US" altLang="zh-TW" sz="2400" dirty="0">
                <a:latin typeface="Calibri" panose="020F0502020204030204" pitchFamily="34" charset="0"/>
              </a:rPr>
              <a:t> of each thread</a:t>
            </a:r>
            <a:endParaRPr lang="zh-TW" altLang="en-US" sz="2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Detection Algorithm (Cont</a:t>
            </a:r>
            <a:r>
              <a:rPr lang="en-US" altLang="zh-TW" dirty="0" smtClean="0"/>
              <a:t>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Here, the algorithm takes an </a:t>
            </a:r>
            <a:r>
              <a:rPr lang="en-US" altLang="zh-TW" b="1" dirty="0">
                <a:solidFill>
                  <a:srgbClr val="FF0000"/>
                </a:solidFill>
              </a:rPr>
              <a:t>optimistic</a:t>
            </a:r>
            <a:r>
              <a:rPr lang="en-US" altLang="zh-TW" dirty="0"/>
              <a:t> </a:t>
            </a:r>
            <a:r>
              <a:rPr lang="en-US" altLang="zh-TW" dirty="0" smtClean="0"/>
              <a:t>attitude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Assume </a:t>
            </a:r>
            <a:r>
              <a:rPr lang="en-US" altLang="zh-TW" b="1" i="1" dirty="0" smtClean="0"/>
              <a:t>P</a:t>
            </a:r>
            <a:r>
              <a:rPr lang="en-US" altLang="zh-TW" b="1" i="1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will require no more </a:t>
            </a:r>
            <a:r>
              <a:rPr lang="en-US" altLang="zh-TW" dirty="0" smtClean="0"/>
              <a:t>resources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It </a:t>
            </a:r>
            <a:r>
              <a:rPr lang="en-US" altLang="zh-TW" dirty="0"/>
              <a:t>will thus soon </a:t>
            </a:r>
            <a:r>
              <a:rPr lang="en-US" altLang="zh-TW" b="1" dirty="0"/>
              <a:t>return all </a:t>
            </a:r>
            <a:r>
              <a:rPr lang="en-US" altLang="zh-TW" b="1" dirty="0" smtClean="0"/>
              <a:t>allocated resources</a:t>
            </a:r>
            <a:r>
              <a:rPr lang="en-US" altLang="zh-TW" dirty="0" smtClean="0"/>
              <a:t>.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r>
              <a:rPr lang="en-US" altLang="zh-TW" dirty="0" smtClean="0"/>
              <a:t>However, if the assumption may be wrong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A </a:t>
            </a:r>
            <a:r>
              <a:rPr lang="en-US" altLang="zh-TW" dirty="0"/>
              <a:t>deadlock may occur </a:t>
            </a:r>
            <a:r>
              <a:rPr lang="en-US" altLang="zh-TW" b="1" dirty="0" smtClean="0">
                <a:solidFill>
                  <a:srgbClr val="3333FF"/>
                </a:solidFill>
              </a:rPr>
              <a:t>later</a:t>
            </a:r>
          </a:p>
          <a:p>
            <a:pPr lvl="2">
              <a:lnSpc>
                <a:spcPct val="110000"/>
              </a:lnSpc>
            </a:pPr>
            <a:r>
              <a:rPr lang="en-US" altLang="zh-TW" dirty="0" smtClean="0"/>
              <a:t>It’s purpose is not to “avoid” deadlock</a:t>
            </a:r>
          </a:p>
          <a:p>
            <a:pPr lvl="2">
              <a:lnSpc>
                <a:spcPct val="110000"/>
              </a:lnSpc>
            </a:pPr>
            <a:r>
              <a:rPr lang="en-US" altLang="zh-TW" dirty="0" smtClean="0">
                <a:solidFill>
                  <a:srgbClr val="3333FF"/>
                </a:solidFill>
              </a:rPr>
              <a:t>Only detect deadlock at “current” time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Don’t worry </a:t>
            </a:r>
          </a:p>
          <a:p>
            <a:pPr lvl="2">
              <a:lnSpc>
                <a:spcPct val="110000"/>
              </a:lnSpc>
            </a:pPr>
            <a:r>
              <a:rPr lang="en-US" altLang="zh-TW" dirty="0" smtClean="0"/>
              <a:t>The deadlock </a:t>
            </a:r>
            <a:r>
              <a:rPr lang="en-US" altLang="zh-TW" dirty="0"/>
              <a:t>will be detected </a:t>
            </a:r>
            <a:r>
              <a:rPr lang="en-US" altLang="zh-TW" dirty="0" smtClean="0"/>
              <a:t>later when deadlock-detection </a:t>
            </a:r>
            <a:r>
              <a:rPr lang="en-US" altLang="zh-TW" dirty="0"/>
              <a:t>algorithm </a:t>
            </a:r>
            <a:r>
              <a:rPr lang="en-US" altLang="zh-TW" dirty="0" smtClean="0"/>
              <a:t>is invoked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227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Example (Cont.)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If</a:t>
            </a:r>
            <a:r>
              <a:rPr lang="en-US" altLang="zh-TW" sz="2800" i="1" dirty="0"/>
              <a:t> P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 requests an additional instance of type</a:t>
            </a:r>
            <a:r>
              <a:rPr lang="en-US" altLang="zh-TW" sz="2800" i="1" dirty="0"/>
              <a:t> C</a:t>
            </a:r>
            <a:r>
              <a:rPr lang="en-US" altLang="zh-TW" sz="2800" dirty="0"/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800" dirty="0"/>
              <a:t>				</a:t>
            </a:r>
            <a:r>
              <a:rPr lang="en-US" altLang="zh-TW" sz="2400" b="1" i="1" u="sng" dirty="0"/>
              <a:t>Request</a:t>
            </a:r>
            <a:endParaRPr lang="en-US" altLang="zh-TW" sz="2400" b="1" i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b="1" i="1" dirty="0"/>
              <a:t>				A B C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/>
              <a:t>		 	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0</a:t>
            </a:r>
            <a:r>
              <a:rPr lang="en-US" altLang="zh-TW" sz="2400" dirty="0"/>
              <a:t>	0 0 0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/>
              <a:t>			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1</a:t>
            </a:r>
            <a:r>
              <a:rPr lang="en-US" altLang="zh-TW" sz="2400" dirty="0"/>
              <a:t>	2 0 2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/>
              <a:t>			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2</a:t>
            </a:r>
            <a:r>
              <a:rPr lang="en-US" altLang="zh-TW" sz="2400" dirty="0"/>
              <a:t>	0 0 1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/>
              <a:t>			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3</a:t>
            </a:r>
            <a:r>
              <a:rPr lang="en-US" altLang="zh-TW" sz="2400" dirty="0"/>
              <a:t>	1 0 0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/>
              <a:t>			</a:t>
            </a:r>
            <a:r>
              <a:rPr lang="en-US" altLang="zh-TW" sz="2400" b="1" i="1" dirty="0"/>
              <a:t>P</a:t>
            </a:r>
            <a:r>
              <a:rPr lang="en-US" altLang="zh-TW" sz="2400" b="1" baseline="-25000" dirty="0"/>
              <a:t>4</a:t>
            </a:r>
            <a:r>
              <a:rPr lang="en-US" altLang="zh-TW" sz="2400" dirty="0"/>
              <a:t>	0 0 2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State of system?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Can reclaim resources held by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0</a:t>
            </a:r>
            <a:r>
              <a:rPr lang="en-US" altLang="zh-TW" sz="2400" dirty="0"/>
              <a:t>, but insufficient to fulfill other threads</a:t>
            </a:r>
            <a:r>
              <a:rPr lang="en-US" altLang="zh-TW" sz="2400" dirty="0">
                <a:latin typeface="Helvetica" pitchFamily="34" charset="0"/>
              </a:rPr>
              <a:t>’</a:t>
            </a:r>
            <a:r>
              <a:rPr lang="en-US" altLang="zh-TW" sz="2400" dirty="0"/>
              <a:t> requests.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Deadlock exists, consisting of threads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, </a:t>
            </a:r>
            <a:r>
              <a:rPr lang="en-US" altLang="zh-TW" sz="2400" baseline="-25000" dirty="0"/>
              <a:t>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,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3</a:t>
            </a:r>
            <a:r>
              <a:rPr lang="en-US" altLang="zh-TW" sz="2400" dirty="0"/>
              <a:t>, and </a:t>
            </a:r>
            <a:r>
              <a:rPr lang="en-US" altLang="zh-TW" sz="2400" i="1" dirty="0"/>
              <a:t>P</a:t>
            </a:r>
            <a:r>
              <a:rPr lang="en-US" altLang="zh-TW" sz="2400" baseline="-25000" dirty="0"/>
              <a:t>4</a:t>
            </a:r>
            <a:r>
              <a:rPr lang="en-US" altLang="zh-TW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7165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Deadlock Detection Algorithm </a:t>
            </a:r>
            <a:r>
              <a:rPr lang="en-US" altLang="zh-TW" dirty="0" err="1" smtClean="0"/>
              <a:t>v.s</a:t>
            </a:r>
            <a:r>
              <a:rPr lang="en-US" altLang="zh-TW" dirty="0" smtClean="0"/>
              <a:t>. Deadlock Avoidance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The </a:t>
            </a:r>
            <a:r>
              <a:rPr lang="en-US" altLang="zh-TW" dirty="0" smtClean="0"/>
              <a:t>deadlock-detection </a:t>
            </a:r>
            <a:r>
              <a:rPr lang="en-US" altLang="zh-TW" dirty="0"/>
              <a:t>algorithm is </a:t>
            </a:r>
            <a:r>
              <a:rPr lang="en-US" altLang="zh-TW" dirty="0" smtClean="0"/>
              <a:t>similar </a:t>
            </a:r>
            <a:r>
              <a:rPr lang="en-US" altLang="zh-TW" dirty="0"/>
              <a:t>to the </a:t>
            </a:r>
            <a:r>
              <a:rPr lang="en-US" altLang="zh-TW" dirty="0" smtClean="0"/>
              <a:t>deadlock-</a:t>
            </a:r>
            <a:r>
              <a:rPr lang="en-US" altLang="zh-TW" dirty="0"/>
              <a:t>avoidance</a:t>
            </a:r>
            <a:r>
              <a:rPr lang="en-US" altLang="zh-TW" dirty="0" smtClean="0"/>
              <a:t> algorithm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But </a:t>
            </a:r>
            <a:r>
              <a:rPr lang="en-US" altLang="zh-TW" dirty="0"/>
              <a:t>it uses the </a:t>
            </a:r>
            <a:r>
              <a:rPr lang="en-US" altLang="zh-TW" b="1" dirty="0" smtClean="0">
                <a:solidFill>
                  <a:srgbClr val="FF0000"/>
                </a:solidFill>
              </a:rPr>
              <a:t>current requests</a:t>
            </a:r>
            <a:r>
              <a:rPr lang="en-US" altLang="zh-TW" b="1" dirty="0"/>
              <a:t> </a:t>
            </a:r>
            <a:r>
              <a:rPr lang="en-US" altLang="zh-TW" dirty="0"/>
              <a:t>rather than </a:t>
            </a:r>
            <a:r>
              <a:rPr lang="en-US" altLang="zh-TW" b="1" i="1" dirty="0" smtClean="0"/>
              <a:t>maximum claim </a:t>
            </a:r>
            <a:endParaRPr lang="en-US" altLang="zh-TW" b="1" i="1" dirty="0" smtClean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TW" b="1" i="1" dirty="0" smtClean="0"/>
              <a:t>Since it does not avoid deadlock</a:t>
            </a:r>
            <a:endParaRPr lang="en-US" altLang="zh-TW" dirty="0" smtClean="0"/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dirty="0" smtClean="0"/>
          </a:p>
          <a:p>
            <a:pPr>
              <a:lnSpc>
                <a:spcPct val="120000"/>
              </a:lnSpc>
            </a:pPr>
            <a:r>
              <a:rPr lang="en-US" altLang="zh-TW" dirty="0"/>
              <a:t>In general, </a:t>
            </a:r>
            <a:r>
              <a:rPr lang="en-US" altLang="zh-TW" b="1" dirty="0"/>
              <a:t>deadlock avoidance </a:t>
            </a:r>
            <a:r>
              <a:rPr lang="en-US" altLang="zh-TW" dirty="0"/>
              <a:t>is more expensive than </a:t>
            </a:r>
            <a:r>
              <a:rPr lang="en-US" altLang="zh-TW" b="1" dirty="0"/>
              <a:t>deadlock detection</a:t>
            </a:r>
            <a:r>
              <a:rPr lang="en-US" altLang="zh-TW" dirty="0" smtClean="0"/>
              <a:t>: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It must </a:t>
            </a:r>
            <a:r>
              <a:rPr lang="en-US" altLang="zh-TW" b="1" dirty="0"/>
              <a:t>be executed for every </a:t>
            </a:r>
            <a:r>
              <a:rPr lang="en-US" altLang="zh-TW" b="1" dirty="0" smtClean="0"/>
              <a:t>request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 smtClean="0"/>
              <a:t>Restricts </a:t>
            </a:r>
            <a:r>
              <a:rPr lang="en-US" altLang="zh-TW" b="1" dirty="0"/>
              <a:t>resource </a:t>
            </a:r>
            <a:r>
              <a:rPr lang="en-US" altLang="zh-TW" b="1" dirty="0" smtClean="0"/>
              <a:t>utilization </a:t>
            </a:r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dirty="0" smtClean="0"/>
              <a:t> </a:t>
            </a:r>
            <a:r>
              <a:rPr lang="en-US" altLang="zh-TW" dirty="0"/>
              <a:t>degrade system performance. </a:t>
            </a:r>
            <a:endParaRPr lang="en-US" altLang="zh-TW" dirty="0" smtClean="0"/>
          </a:p>
          <a:p>
            <a:pPr lvl="2">
              <a:lnSpc>
                <a:spcPct val="120000"/>
              </a:lnSpc>
            </a:pPr>
            <a:r>
              <a:rPr lang="en-US" altLang="zh-TW" dirty="0" smtClean="0"/>
              <a:t>Assumes </a:t>
            </a:r>
            <a:r>
              <a:rPr lang="en-US" altLang="zh-TW" dirty="0"/>
              <a:t>that the "</a:t>
            </a:r>
            <a:r>
              <a:rPr lang="en-US" altLang="zh-TW" b="1" dirty="0">
                <a:solidFill>
                  <a:srgbClr val="FF3300"/>
                </a:solidFill>
              </a:rPr>
              <a:t>worst-case</a:t>
            </a:r>
            <a:r>
              <a:rPr lang="en-US" altLang="zh-TW" dirty="0"/>
              <a:t>" request </a:t>
            </a:r>
            <a:r>
              <a:rPr lang="en-US" altLang="zh-TW" dirty="0" smtClean="0"/>
              <a:t>sequence.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8286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buSzPct val="85000"/>
            </a:pPr>
            <a:r>
              <a:rPr lang="en-US" altLang="zh-TW" dirty="0" smtClean="0"/>
              <a:t>System Model</a:t>
            </a:r>
          </a:p>
          <a:p>
            <a:pPr eaLnBrk="1" hangingPunct="1">
              <a:buSzPct val="85000"/>
            </a:pPr>
            <a:r>
              <a:rPr lang="en-US" altLang="zh-TW" dirty="0"/>
              <a:t>Deadlock in Multithreaded Applications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Characterization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Methods for Handling Deadlocks</a:t>
            </a:r>
          </a:p>
          <a:p>
            <a:pPr eaLnBrk="1" hangingPunct="1"/>
            <a:r>
              <a:rPr lang="en-US" altLang="zh-TW" dirty="0" smtClean="0"/>
              <a:t>Deadlock Prevention</a:t>
            </a:r>
          </a:p>
          <a:p>
            <a:pPr eaLnBrk="1" hangingPunct="1">
              <a:buSzPct val="85000"/>
            </a:pPr>
            <a:r>
              <a:rPr lang="en-US" altLang="zh-TW" dirty="0" smtClean="0">
                <a:solidFill>
                  <a:srgbClr val="000000"/>
                </a:solidFill>
              </a:rPr>
              <a:t>Deadlock Avoidance</a:t>
            </a:r>
          </a:p>
          <a:p>
            <a:pPr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Deadlock Detection</a:t>
            </a:r>
          </a:p>
          <a:p>
            <a:pPr lvl="1" eaLnBrk="1" hangingPunct="1">
              <a:buSzPct val="85000"/>
            </a:pPr>
            <a:r>
              <a:rPr lang="en-US" altLang="zh-TW" dirty="0" smtClean="0"/>
              <a:t>Single Instance of Each Resource Type </a:t>
            </a:r>
          </a:p>
          <a:p>
            <a:pPr lvl="1" eaLnBrk="1" hangingPunct="1">
              <a:buSzPct val="85000"/>
            </a:pPr>
            <a:r>
              <a:rPr lang="en-US" altLang="zh-TW" dirty="0" smtClean="0"/>
              <a:t>Several Instance of a Resource Type</a:t>
            </a:r>
          </a:p>
          <a:p>
            <a:pPr lvl="1" eaLnBrk="1" hangingPunct="1">
              <a:buSzPct val="85000"/>
            </a:pPr>
            <a:r>
              <a:rPr lang="en-US" altLang="zh-TW" b="1" dirty="0" smtClean="0">
                <a:solidFill>
                  <a:srgbClr val="FF0000"/>
                </a:solidFill>
              </a:rPr>
              <a:t>Detection-Algorithm Usage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Recovery from Deadlock </a:t>
            </a:r>
          </a:p>
        </p:txBody>
      </p:sp>
    </p:spTree>
    <p:extLst>
      <p:ext uri="{BB962C8B-B14F-4D97-AF65-F5344CB8AC3E}">
        <p14:creationId xmlns:p14="http://schemas.microsoft.com/office/powerpoint/2010/main" val="146077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Detection-Algorithm Usage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When, and how often, to invoke detection </a:t>
            </a:r>
            <a:r>
              <a:rPr lang="en-US" altLang="zh-TW" dirty="0" smtClean="0"/>
              <a:t>algorithm?</a:t>
            </a:r>
            <a:endParaRPr lang="en-US" altLang="zh-TW" dirty="0"/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Example</a:t>
            </a:r>
            <a:endParaRPr lang="en-US" altLang="zh-TW" dirty="0"/>
          </a:p>
          <a:p>
            <a:pPr lvl="1"/>
            <a:r>
              <a:rPr lang="en-US" altLang="zh-TW" dirty="0" smtClean="0"/>
              <a:t>When </a:t>
            </a:r>
            <a:r>
              <a:rPr lang="en-US" altLang="zh-TW" dirty="0"/>
              <a:t>a resource request cannot be granted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Invoked </a:t>
            </a:r>
            <a:r>
              <a:rPr lang="en-US" altLang="zh-TW" dirty="0"/>
              <a:t>periodically </a:t>
            </a:r>
          </a:p>
          <a:p>
            <a:pPr lvl="2"/>
            <a:r>
              <a:rPr lang="en-US" altLang="zh-TW" dirty="0"/>
              <a:t>Once per hour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Invoked </a:t>
            </a:r>
            <a:r>
              <a:rPr lang="en-US" altLang="zh-TW" dirty="0"/>
              <a:t>at specific situations</a:t>
            </a:r>
          </a:p>
          <a:p>
            <a:pPr lvl="2"/>
            <a:r>
              <a:rPr lang="en-US" altLang="zh-TW" dirty="0"/>
              <a:t>When the CPU utilization drops below 40 percent</a:t>
            </a:r>
            <a:br>
              <a:rPr lang="en-US" altLang="zh-TW" dirty="0"/>
            </a:b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929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SzPct val="85000"/>
            </a:pPr>
            <a:r>
              <a:rPr lang="en-US" altLang="zh-TW" dirty="0" smtClean="0"/>
              <a:t>System Model</a:t>
            </a:r>
          </a:p>
          <a:p>
            <a:pPr eaLnBrk="1" hangingPunct="1">
              <a:buSzPct val="85000"/>
            </a:pPr>
            <a:r>
              <a:rPr lang="en-US" altLang="zh-TW" dirty="0"/>
              <a:t>Deadlock in Multithreaded Applications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Characterization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Methods for Handling Deadlocks</a:t>
            </a:r>
          </a:p>
          <a:p>
            <a:pPr eaLnBrk="1" hangingPunct="1"/>
            <a:r>
              <a:rPr lang="en-US" altLang="zh-TW" dirty="0" smtClean="0"/>
              <a:t>Deadlock Prevention</a:t>
            </a:r>
          </a:p>
          <a:p>
            <a:pPr eaLnBrk="1" hangingPunct="1">
              <a:buSzPct val="85000"/>
            </a:pPr>
            <a:r>
              <a:rPr lang="en-US" altLang="zh-TW" dirty="0" smtClean="0">
                <a:solidFill>
                  <a:srgbClr val="000000"/>
                </a:solidFill>
              </a:rPr>
              <a:t>Deadlock Avoidance</a:t>
            </a:r>
          </a:p>
          <a:p>
            <a:pPr eaLnBrk="1" hangingPunct="1">
              <a:buSzPct val="85000"/>
            </a:pPr>
            <a:r>
              <a:rPr lang="en-US" altLang="zh-TW" dirty="0" smtClean="0"/>
              <a:t>Deadlock Detection </a:t>
            </a:r>
          </a:p>
          <a:p>
            <a:pPr eaLnBrk="1" hangingPunct="1">
              <a:buSzPct val="85000"/>
            </a:pPr>
            <a:r>
              <a:rPr lang="en-US" altLang="zh-TW" b="1" dirty="0" smtClean="0">
                <a:solidFill>
                  <a:srgbClr val="FF3300"/>
                </a:solidFill>
              </a:rPr>
              <a:t>Recovery from Deadlock</a:t>
            </a:r>
            <a:r>
              <a:rPr lang="en-US" altLang="zh-TW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500"/>
              <a:t>Recovery from Deadlock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Recover from the deadlock</a:t>
            </a:r>
          </a:p>
          <a:p>
            <a:pPr lvl="1" eaLnBrk="1" hangingPunct="1"/>
            <a:r>
              <a:rPr lang="en-US" altLang="zh-TW" dirty="0" smtClean="0"/>
              <a:t>Method 1: </a:t>
            </a:r>
            <a:r>
              <a:rPr lang="en-US" altLang="zh-TW" b="1" dirty="0" smtClean="0"/>
              <a:t>thread termination</a:t>
            </a:r>
          </a:p>
          <a:p>
            <a:pPr lvl="1" eaLnBrk="1" hangingPunct="1">
              <a:buFontTx/>
              <a:buNone/>
            </a:pPr>
            <a:endParaRPr lang="en-US" altLang="zh-TW" dirty="0" smtClean="0"/>
          </a:p>
          <a:p>
            <a:pPr lvl="1" eaLnBrk="1" hangingPunct="1"/>
            <a:r>
              <a:rPr lang="en-US" altLang="zh-TW" dirty="0" smtClean="0"/>
              <a:t>Method 2: </a:t>
            </a:r>
            <a:r>
              <a:rPr lang="en-US" altLang="zh-TW" b="1" dirty="0" smtClean="0"/>
              <a:t>resource preemption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136" y="1988840"/>
            <a:ext cx="3848100" cy="3905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100" dirty="0"/>
              <a:t>Recovery from Deadlock:  </a:t>
            </a:r>
            <a:r>
              <a:rPr lang="en-US" altLang="zh-TW" sz="4100" dirty="0">
                <a:solidFill>
                  <a:srgbClr val="FF3300"/>
                </a:solidFill>
              </a:rPr>
              <a:t>Thread Termination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Two choices</a:t>
            </a:r>
          </a:p>
          <a:p>
            <a:pPr lvl="1" eaLnBrk="1" hangingPunct="1"/>
            <a:r>
              <a:rPr lang="en-US" altLang="zh-TW" dirty="0" smtClean="0"/>
              <a:t>Abort </a:t>
            </a:r>
            <a:r>
              <a:rPr lang="en-US" altLang="zh-TW" b="1" dirty="0" smtClean="0">
                <a:solidFill>
                  <a:srgbClr val="FF3300"/>
                </a:solidFill>
              </a:rPr>
              <a:t>all</a:t>
            </a:r>
            <a:r>
              <a:rPr lang="en-US" altLang="zh-TW" dirty="0" smtClean="0"/>
              <a:t> deadlocked processes/threads.</a:t>
            </a:r>
          </a:p>
          <a:p>
            <a:pPr lvl="2" eaLnBrk="1" hangingPunct="1"/>
            <a:r>
              <a:rPr lang="en-US" altLang="zh-TW" dirty="0" smtClean="0"/>
              <a:t>Great expense</a:t>
            </a:r>
            <a:br>
              <a:rPr lang="en-US" altLang="zh-TW" dirty="0" smtClean="0"/>
            </a:br>
            <a:endParaRPr lang="en-US" altLang="zh-TW" dirty="0" smtClean="0"/>
          </a:p>
          <a:p>
            <a:pPr lvl="1" eaLnBrk="1" hangingPunct="1"/>
            <a:r>
              <a:rPr lang="en-US" altLang="zh-TW" dirty="0" smtClean="0"/>
              <a:t>Abort </a:t>
            </a:r>
            <a:r>
              <a:rPr lang="en-US" altLang="zh-TW" b="1" dirty="0" smtClean="0">
                <a:solidFill>
                  <a:srgbClr val="FF3300"/>
                </a:solidFill>
              </a:rPr>
              <a:t>one</a:t>
            </a:r>
            <a:r>
              <a:rPr lang="en-US" altLang="zh-TW" dirty="0" smtClean="0"/>
              <a:t> process/thread at a time until the deadlock cycle is eliminated.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100" dirty="0"/>
              <a:t>Recovery from Deadlock: </a:t>
            </a:r>
            <a:r>
              <a:rPr lang="en-US" altLang="zh-TW" sz="4100" dirty="0">
                <a:solidFill>
                  <a:srgbClr val="FF3300"/>
                </a:solidFill>
              </a:rPr>
              <a:t>Resource Preemption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400" dirty="0"/>
              <a:t>Preempt some resources from some threads and give the resources to other threads</a:t>
            </a:r>
          </a:p>
          <a:p>
            <a:pPr eaLnBrk="1" hangingPunct="1"/>
            <a:r>
              <a:rPr lang="en-US" altLang="zh-TW" sz="2400" dirty="0"/>
              <a:t>Three issues (skip!)</a:t>
            </a:r>
          </a:p>
          <a:p>
            <a:pPr lvl="1" eaLnBrk="1" hangingPunct="1"/>
            <a:r>
              <a:rPr lang="en-US" altLang="zh-TW" sz="2000" b="1" dirty="0"/>
              <a:t>Selecting a victim</a:t>
            </a:r>
            <a:r>
              <a:rPr lang="en-US" altLang="zh-TW" sz="2000" dirty="0"/>
              <a:t> </a:t>
            </a:r>
            <a:r>
              <a:rPr lang="en-US" altLang="zh-TW" sz="2000" dirty="0">
                <a:latin typeface="Helvetica" pitchFamily="34" charset="0"/>
              </a:rPr>
              <a:t>–</a:t>
            </a:r>
            <a:r>
              <a:rPr lang="en-US" altLang="zh-TW" sz="2000" dirty="0"/>
              <a:t> minimize cost.</a:t>
            </a:r>
          </a:p>
          <a:p>
            <a:pPr lvl="2" eaLnBrk="1" hangingPunct="1"/>
            <a:r>
              <a:rPr lang="en-US" altLang="zh-TW" sz="1800" dirty="0"/>
              <a:t>Which resources are to be preempted</a:t>
            </a:r>
            <a:br>
              <a:rPr lang="en-US" altLang="zh-TW" sz="1800" dirty="0"/>
            </a:br>
            <a:endParaRPr lang="en-US" altLang="zh-TW" sz="1800" dirty="0"/>
          </a:p>
          <a:p>
            <a:pPr lvl="1" eaLnBrk="1" hangingPunct="1"/>
            <a:r>
              <a:rPr lang="en-US" altLang="zh-TW" sz="2000" b="1" dirty="0"/>
              <a:t>Rollback </a:t>
            </a:r>
            <a:r>
              <a:rPr lang="en-US" altLang="zh-TW" sz="2000" dirty="0">
                <a:latin typeface="Helvetica" pitchFamily="34" charset="0"/>
              </a:rPr>
              <a:t>–</a:t>
            </a:r>
            <a:r>
              <a:rPr lang="en-US" altLang="zh-TW" sz="2000" dirty="0"/>
              <a:t> since victim thread missing needed resource</a:t>
            </a:r>
          </a:p>
          <a:p>
            <a:pPr lvl="2" eaLnBrk="1" hangingPunct="1"/>
            <a:r>
              <a:rPr lang="en-US" altLang="zh-TW" sz="1800" dirty="0"/>
              <a:t>Must return to some </a:t>
            </a:r>
            <a:r>
              <a:rPr lang="en-US" altLang="zh-TW" sz="1800" dirty="0">
                <a:solidFill>
                  <a:srgbClr val="FF3300"/>
                </a:solidFill>
              </a:rPr>
              <a:t>safe state</a:t>
            </a:r>
            <a:r>
              <a:rPr lang="en-US" altLang="zh-TW" sz="1800" dirty="0"/>
              <a:t>, restart it from that state.</a:t>
            </a:r>
          </a:p>
          <a:p>
            <a:pPr lvl="2" eaLnBrk="1" hangingPunct="1"/>
            <a:r>
              <a:rPr lang="en-US" altLang="zh-TW" sz="1800" dirty="0"/>
              <a:t>However, not easy to determine a safe state</a:t>
            </a:r>
          </a:p>
          <a:p>
            <a:pPr lvl="3" eaLnBrk="1" hangingPunct="1"/>
            <a:r>
              <a:rPr lang="en-US" altLang="zh-TW" sz="1600" dirty="0"/>
              <a:t>Just abort the thread and restart it</a:t>
            </a:r>
            <a:br>
              <a:rPr lang="en-US" altLang="zh-TW" sz="1600" dirty="0"/>
            </a:br>
            <a:endParaRPr lang="en-US" altLang="zh-TW" sz="1600" dirty="0"/>
          </a:p>
          <a:p>
            <a:pPr lvl="1" eaLnBrk="1" hangingPunct="1"/>
            <a:r>
              <a:rPr lang="en-US" altLang="zh-TW" sz="2000" b="1" dirty="0"/>
              <a:t>Starvation</a:t>
            </a:r>
            <a:r>
              <a:rPr lang="en-US" altLang="zh-TW" sz="2000" dirty="0"/>
              <a:t> </a:t>
            </a:r>
            <a:r>
              <a:rPr lang="en-US" altLang="zh-TW" sz="2000" dirty="0">
                <a:latin typeface="Helvetica" pitchFamily="34" charset="0"/>
              </a:rPr>
              <a:t>–</a:t>
            </a:r>
            <a:r>
              <a:rPr lang="en-US" altLang="zh-TW" sz="2000" dirty="0"/>
              <a:t>  same thread may always be picked as victim,</a:t>
            </a:r>
          </a:p>
          <a:p>
            <a:pPr lvl="2" eaLnBrk="1" hangingPunct="1"/>
            <a:r>
              <a:rPr lang="en-US" altLang="zh-TW" sz="1800" dirty="0"/>
              <a:t>Solution: include the number of rollback in cost factor.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Detection-and-Recovery Scheme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Disadvantages of detection-and-recovery scheme</a:t>
            </a:r>
          </a:p>
          <a:p>
            <a:pPr lvl="1" eaLnBrk="1" hangingPunct="1"/>
            <a:endParaRPr lang="en-US" altLang="zh-TW" sz="3200" b="1" dirty="0" smtClean="0"/>
          </a:p>
          <a:p>
            <a:pPr lvl="1" eaLnBrk="1" hangingPunct="1"/>
            <a:r>
              <a:rPr lang="en-US" altLang="zh-TW" sz="3200" b="1" dirty="0" smtClean="0"/>
              <a:t>Run-time </a:t>
            </a:r>
            <a:r>
              <a:rPr lang="en-US" altLang="zh-TW" sz="3200" b="1" dirty="0"/>
              <a:t>costs</a:t>
            </a:r>
          </a:p>
          <a:p>
            <a:pPr lvl="2" eaLnBrk="1" hangingPunct="1"/>
            <a:r>
              <a:rPr lang="en-US" altLang="zh-TW" sz="2800" dirty="0"/>
              <a:t>Maintain information and execute the detection algorithm</a:t>
            </a:r>
          </a:p>
          <a:p>
            <a:pPr lvl="1" eaLnBrk="1" hangingPunct="1"/>
            <a:endParaRPr lang="en-US" altLang="zh-TW" sz="3200" dirty="0" smtClean="0"/>
          </a:p>
          <a:p>
            <a:pPr lvl="1" eaLnBrk="1" hangingPunct="1"/>
            <a:r>
              <a:rPr lang="en-US" altLang="zh-TW" sz="3200" b="1" dirty="0" smtClean="0"/>
              <a:t>Potential </a:t>
            </a:r>
            <a:r>
              <a:rPr lang="en-US" altLang="zh-TW" sz="3200" b="1" dirty="0"/>
              <a:t>losses </a:t>
            </a:r>
            <a:r>
              <a:rPr lang="en-US" altLang="zh-TW" sz="3200" dirty="0"/>
              <a:t>in recovering from a deadlock</a:t>
            </a:r>
          </a:p>
          <a:p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56467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mtClean="0"/>
              <a:t>複習：</a:t>
            </a:r>
            <a:r>
              <a:rPr lang="en-US" altLang="zh-TW" smtClean="0"/>
              <a:t>Methods for Handling Deadlocks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Method 1: ensure that the system will </a:t>
            </a:r>
            <a:r>
              <a:rPr lang="en-US" altLang="zh-TW" sz="2400" b="1" dirty="0">
                <a:solidFill>
                  <a:srgbClr val="FF0066"/>
                </a:solidFill>
              </a:rPr>
              <a:t>never</a:t>
            </a:r>
            <a:r>
              <a:rPr lang="en-US" altLang="zh-TW" sz="2400" dirty="0"/>
              <a:t> enter a deadlock state.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 smtClean="0">
                <a:solidFill>
                  <a:srgbClr val="990000"/>
                </a:solidFill>
              </a:rPr>
              <a:t>Deadlock prevention </a:t>
            </a:r>
            <a:r>
              <a:rPr lang="en-US" altLang="zh-TW" sz="2400" b="1" dirty="0" smtClean="0"/>
              <a:t>(</a:t>
            </a:r>
            <a:r>
              <a:rPr lang="zh-TW" altLang="en-US" sz="2400" b="1" dirty="0" smtClean="0"/>
              <a:t>預防</a:t>
            </a:r>
            <a:r>
              <a:rPr lang="en-US" altLang="zh-TW" sz="2400" b="1" dirty="0" smtClean="0"/>
              <a:t>;</a:t>
            </a:r>
            <a:r>
              <a:rPr lang="zh-TW" altLang="en-US" sz="2400" b="1" dirty="0" smtClean="0"/>
              <a:t>阻止</a:t>
            </a:r>
            <a:r>
              <a:rPr lang="en-US" altLang="zh-TW" sz="2400" b="1" dirty="0" smtClean="0"/>
              <a:t>(</a:t>
            </a:r>
            <a:r>
              <a:rPr lang="zh-TW" altLang="en-US" sz="2400" b="1" dirty="0" smtClean="0"/>
              <a:t>某人去做某事</a:t>
            </a:r>
            <a:r>
              <a:rPr lang="en-US" altLang="zh-TW" sz="2400" b="1" dirty="0" smtClean="0"/>
              <a:t>)) </a:t>
            </a:r>
            <a:endParaRPr lang="en-US" altLang="zh-TW" sz="2400" b="1" dirty="0" smtClean="0">
              <a:solidFill>
                <a:srgbClr val="99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 smtClean="0">
                <a:solidFill>
                  <a:srgbClr val="990000"/>
                </a:solidFill>
              </a:rPr>
              <a:t>Deadlock avoidance</a:t>
            </a:r>
            <a:r>
              <a:rPr lang="en-US" altLang="zh-TW" sz="2400" b="1" dirty="0" smtClean="0"/>
              <a:t> (</a:t>
            </a:r>
            <a:r>
              <a:rPr lang="zh-TW" altLang="en-US" sz="2400" b="1" dirty="0" smtClean="0"/>
              <a:t>避免</a:t>
            </a:r>
            <a:r>
              <a:rPr lang="en-US" altLang="zh-TW" sz="2400" b="1" dirty="0" smtClean="0"/>
              <a:t>(</a:t>
            </a:r>
            <a:r>
              <a:rPr lang="zh-TW" altLang="en-US" sz="2400" b="1" dirty="0" smtClean="0"/>
              <a:t>去做某事</a:t>
            </a:r>
            <a:r>
              <a:rPr lang="en-US" altLang="zh-TW" sz="2400" b="1" dirty="0" smtClean="0"/>
              <a:t>))</a:t>
            </a:r>
            <a:endParaRPr lang="en-US" altLang="zh-TW" sz="2400" dirty="0" smtClean="0"/>
          </a:p>
          <a:p>
            <a:pPr lvl="2" eaLnBrk="1" hangingPunct="1">
              <a:lnSpc>
                <a:spcPct val="90000"/>
              </a:lnSpc>
            </a:pPr>
            <a:r>
              <a:rPr lang="en-US" altLang="zh-TW" sz="1600" dirty="0" smtClean="0"/>
              <a:t>https://tw.voicetube.com/videos/71662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/>
              <a:t>Method </a:t>
            </a:r>
            <a:r>
              <a:rPr lang="en-US" altLang="zh-TW" sz="2400" dirty="0"/>
              <a:t>2: allow system to enter a deadlock state and then recover.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990000"/>
                </a:solidFill>
              </a:rPr>
              <a:t>Deadlock detection and deadlock recovery</a:t>
            </a:r>
            <a:endParaRPr lang="en-US" altLang="zh-TW" sz="2000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zh-TW" sz="20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Method 3: ignore the problem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Since deadlock occurs infrequently, say once per month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Used by most operating systems, including UNIX, Linux, </a:t>
            </a:r>
            <a:r>
              <a:rPr lang="en-US" altLang="zh-TW" sz="2000" dirty="0" smtClean="0"/>
              <a:t>Windows.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640272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5158</TotalTime>
  <Words>2638</Words>
  <Application>Microsoft Office PowerPoint</Application>
  <PresentationFormat>寬螢幕</PresentationFormat>
  <Paragraphs>575</Paragraphs>
  <Slides>71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71</vt:i4>
      </vt:variant>
    </vt:vector>
  </HeadingPairs>
  <TitlesOfParts>
    <vt:vector size="87" baseType="lpstr">
      <vt:lpstr>Arial Unicode MS</vt:lpstr>
      <vt:lpstr>Monotype Sorts</vt:lpstr>
      <vt:lpstr>新細明體</vt:lpstr>
      <vt:lpstr>標楷體</vt:lpstr>
      <vt:lpstr>Arial</vt:lpstr>
      <vt:lpstr>Calibri</vt:lpstr>
      <vt:lpstr>Century Gothic</vt:lpstr>
      <vt:lpstr>Courier New</vt:lpstr>
      <vt:lpstr>Helvetica</vt:lpstr>
      <vt:lpstr>MT Extra</vt:lpstr>
      <vt:lpstr>Symbol</vt:lpstr>
      <vt:lpstr>Tahoma</vt:lpstr>
      <vt:lpstr>Times New Roman</vt:lpstr>
      <vt:lpstr>Wingdings</vt:lpstr>
      <vt:lpstr>osnetppt</vt:lpstr>
      <vt:lpstr>1_osnetppt</vt:lpstr>
      <vt:lpstr>Chapter 8:  Deadlocks</vt:lpstr>
      <vt:lpstr>Outline</vt:lpstr>
      <vt:lpstr>System Model</vt:lpstr>
      <vt:lpstr>PowerPoint 簡報</vt:lpstr>
      <vt:lpstr>Outline</vt:lpstr>
      <vt:lpstr>Deadlock in Multithreaded Applications</vt:lpstr>
      <vt:lpstr>複習: Deadlock Example: Two Threads Acquire Two Mutex in Opposite Order</vt:lpstr>
      <vt:lpstr>Deadlock Example: Two Threads Acquire Two Mutex in Opposite Order</vt:lpstr>
      <vt:lpstr>Deadlock in Multithreaded Applications</vt:lpstr>
      <vt:lpstr>Outline</vt:lpstr>
      <vt:lpstr>Deadlock Characterization</vt:lpstr>
      <vt:lpstr>Resource-Allocation Graph</vt:lpstr>
      <vt:lpstr>Example of a Resource Allocation Graph</vt:lpstr>
      <vt:lpstr>Resource Allocation Graph With A Deadlock</vt:lpstr>
      <vt:lpstr>Resource Allocation Graph With A Cycle But No Deadlock</vt:lpstr>
      <vt:lpstr>Basic Facts</vt:lpstr>
      <vt:lpstr>Outline</vt:lpstr>
      <vt:lpstr>Q: 如何處理deadlock?</vt:lpstr>
      <vt:lpstr>Methods for Handling Deadlocks</vt:lpstr>
      <vt:lpstr>Outline</vt:lpstr>
      <vt:lpstr>Deadlock Prevention</vt:lpstr>
      <vt:lpstr>Deadlock Prevention (Cont.)</vt:lpstr>
      <vt:lpstr>Deadlock Prevention (Cont.)</vt:lpstr>
      <vt:lpstr>Deadlock Prevention (Cont.)</vt:lpstr>
      <vt:lpstr>Deadlock Prevention (Cont.) (Skip!)</vt:lpstr>
      <vt:lpstr>Deadlock Example with Lock Ordering (Skip!)</vt:lpstr>
      <vt:lpstr>Deadlock Example with Lock Ordering (Skip!)</vt:lpstr>
      <vt:lpstr>Outline</vt:lpstr>
      <vt:lpstr>Deadlock Avoidance</vt:lpstr>
      <vt:lpstr>Outline</vt:lpstr>
      <vt:lpstr>Safe State</vt:lpstr>
      <vt:lpstr>Safe, Unsafe , Deadlock State</vt:lpstr>
      <vt:lpstr>Basic Facts</vt:lpstr>
      <vt:lpstr>Example</vt:lpstr>
      <vt:lpstr>Deadlock Avoidance Algorithms</vt:lpstr>
      <vt:lpstr>Outline</vt:lpstr>
      <vt:lpstr>Resource-Allocation Graph Scheme</vt:lpstr>
      <vt:lpstr>Example </vt:lpstr>
      <vt:lpstr>Example (Cont.) </vt:lpstr>
      <vt:lpstr>Example: Unsafe State In Resource-Allocation Graph</vt:lpstr>
      <vt:lpstr>Outline</vt:lpstr>
      <vt:lpstr>Banker’s Algorithm</vt:lpstr>
      <vt:lpstr>Data Structures for the Banker’s Algorithm (Skip!)</vt:lpstr>
      <vt:lpstr>Safety Algorithm (Skip!)</vt:lpstr>
      <vt:lpstr>Resource-Request Algorithm for Thread Pi  (Skip!)</vt:lpstr>
      <vt:lpstr>Example of Banker’s Algorithm</vt:lpstr>
      <vt:lpstr>Example of Banker’s Algorithm (Cont.)</vt:lpstr>
      <vt:lpstr>Example:  P1 Request (1,0,2)</vt:lpstr>
      <vt:lpstr>Example of Banker’s Algorithm (Cont.)</vt:lpstr>
      <vt:lpstr>Example: P0 Request (0,2,0)</vt:lpstr>
      <vt:lpstr>Outline</vt:lpstr>
      <vt:lpstr>Deadlock Detection</vt:lpstr>
      <vt:lpstr>Outline</vt:lpstr>
      <vt:lpstr>Single Instance of Each Resource Type</vt:lpstr>
      <vt:lpstr>Resource-Allocation Graph and Wait-for Graph</vt:lpstr>
      <vt:lpstr>Outline</vt:lpstr>
      <vt:lpstr>Several Instances of a Resource Type (Skip!)</vt:lpstr>
      <vt:lpstr>Detection Algorithm (Skip!)</vt:lpstr>
      <vt:lpstr>Detection Algorithm (Cont.) (Skip!)</vt:lpstr>
      <vt:lpstr>Example of Detection Algorithm</vt:lpstr>
      <vt:lpstr>Detection Algorithm (Cont.)</vt:lpstr>
      <vt:lpstr>Example (Cont.)</vt:lpstr>
      <vt:lpstr>Deadlock Detection Algorithm v.s. Deadlock Avoidance Algorithm</vt:lpstr>
      <vt:lpstr>Outline</vt:lpstr>
      <vt:lpstr>Detection-Algorithm Usage</vt:lpstr>
      <vt:lpstr>Outline</vt:lpstr>
      <vt:lpstr>Recovery from Deadlock</vt:lpstr>
      <vt:lpstr>Recovery from Deadlock:  Thread Termination</vt:lpstr>
      <vt:lpstr>Recovery from Deadlock: Resource Preemption</vt:lpstr>
      <vt:lpstr>Detection-and-Recovery Scheme</vt:lpstr>
      <vt:lpstr>複習：Methods for Handling Deadlocks</vt:lpstr>
    </vt:vector>
  </TitlesOfParts>
  <Company>NCHU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CJSREX</dc:creator>
  <cp:lastModifiedBy>hpchang</cp:lastModifiedBy>
  <cp:revision>1006</cp:revision>
  <dcterms:created xsi:type="dcterms:W3CDTF">2007-09-05T09:28:55Z</dcterms:created>
  <dcterms:modified xsi:type="dcterms:W3CDTF">2025-11-24T01:47:12Z</dcterms:modified>
</cp:coreProperties>
</file>