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705" r:id="rId2"/>
  </p:sldMasterIdLst>
  <p:notesMasterIdLst>
    <p:notesMasterId r:id="rId151"/>
  </p:notesMasterIdLst>
  <p:handoutMasterIdLst>
    <p:handoutMasterId r:id="rId152"/>
  </p:handoutMasterIdLst>
  <p:sldIdLst>
    <p:sldId id="279" r:id="rId3"/>
    <p:sldId id="281" r:id="rId4"/>
    <p:sldId id="703" r:id="rId5"/>
    <p:sldId id="560" r:id="rId6"/>
    <p:sldId id="415" r:id="rId7"/>
    <p:sldId id="416" r:id="rId8"/>
    <p:sldId id="607" r:id="rId9"/>
    <p:sldId id="704" r:id="rId10"/>
    <p:sldId id="283" r:id="rId11"/>
    <p:sldId id="289" r:id="rId12"/>
    <p:sldId id="705" r:id="rId13"/>
    <p:sldId id="562" r:id="rId14"/>
    <p:sldId id="706" r:id="rId15"/>
    <p:sldId id="567" r:id="rId16"/>
    <p:sldId id="527" r:id="rId17"/>
    <p:sldId id="609" r:id="rId18"/>
    <p:sldId id="563" r:id="rId19"/>
    <p:sldId id="629" r:id="rId20"/>
    <p:sldId id="465" r:id="rId21"/>
    <p:sldId id="610" r:id="rId22"/>
    <p:sldId id="630" r:id="rId23"/>
    <p:sldId id="485" r:id="rId24"/>
    <p:sldId id="707" r:id="rId25"/>
    <p:sldId id="631" r:id="rId26"/>
    <p:sldId id="633" r:id="rId27"/>
    <p:sldId id="708" r:id="rId28"/>
    <p:sldId id="605" r:id="rId29"/>
    <p:sldId id="639" r:id="rId30"/>
    <p:sldId id="640" r:id="rId31"/>
    <p:sldId id="632" r:id="rId32"/>
    <p:sldId id="634" r:id="rId33"/>
    <p:sldId id="637" r:id="rId34"/>
    <p:sldId id="544" r:id="rId35"/>
    <p:sldId id="635" r:id="rId36"/>
    <p:sldId id="638" r:id="rId37"/>
    <p:sldId id="565" r:id="rId38"/>
    <p:sldId id="550" r:id="rId39"/>
    <p:sldId id="641" r:id="rId40"/>
    <p:sldId id="551" r:id="rId41"/>
    <p:sldId id="643" r:id="rId42"/>
    <p:sldId id="484" r:id="rId43"/>
    <p:sldId id="642" r:id="rId44"/>
    <p:sldId id="656" r:id="rId45"/>
    <p:sldId id="709" r:id="rId46"/>
    <p:sldId id="367" r:id="rId47"/>
    <p:sldId id="351" r:id="rId48"/>
    <p:sldId id="546" r:id="rId49"/>
    <p:sldId id="350" r:id="rId50"/>
    <p:sldId id="655" r:id="rId51"/>
    <p:sldId id="613" r:id="rId52"/>
    <p:sldId id="710" r:id="rId53"/>
    <p:sldId id="711" r:id="rId54"/>
    <p:sldId id="306" r:id="rId55"/>
    <p:sldId id="614" r:id="rId56"/>
    <p:sldId id="712" r:id="rId57"/>
    <p:sldId id="491" r:id="rId58"/>
    <p:sldId id="615" r:id="rId59"/>
    <p:sldId id="616" r:id="rId60"/>
    <p:sldId id="353" r:id="rId61"/>
    <p:sldId id="617" r:id="rId62"/>
    <p:sldId id="308" r:id="rId63"/>
    <p:sldId id="618" r:id="rId64"/>
    <p:sldId id="647" r:id="rId65"/>
    <p:sldId id="645" r:id="rId66"/>
    <p:sldId id="492" r:id="rId67"/>
    <p:sldId id="646" r:id="rId68"/>
    <p:sldId id="606" r:id="rId69"/>
    <p:sldId id="620" r:id="rId70"/>
    <p:sldId id="648" r:id="rId71"/>
    <p:sldId id="493" r:id="rId72"/>
    <p:sldId id="654" r:id="rId73"/>
    <p:sldId id="713" r:id="rId74"/>
    <p:sldId id="572" r:id="rId75"/>
    <p:sldId id="714" r:id="rId76"/>
    <p:sldId id="589" r:id="rId77"/>
    <p:sldId id="719" r:id="rId78"/>
    <p:sldId id="657" r:id="rId79"/>
    <p:sldId id="507" r:id="rId80"/>
    <p:sldId id="651" r:id="rId81"/>
    <p:sldId id="590" r:id="rId82"/>
    <p:sldId id="652" r:id="rId83"/>
    <p:sldId id="592" r:id="rId84"/>
    <p:sldId id="653" r:id="rId85"/>
    <p:sldId id="593" r:id="rId86"/>
    <p:sldId id="594" r:id="rId87"/>
    <p:sldId id="595" r:id="rId88"/>
    <p:sldId id="596" r:id="rId89"/>
    <p:sldId id="597" r:id="rId90"/>
    <p:sldId id="598" r:id="rId91"/>
    <p:sldId id="684" r:id="rId92"/>
    <p:sldId id="715" r:id="rId93"/>
    <p:sldId id="658" r:id="rId94"/>
    <p:sldId id="529" r:id="rId95"/>
    <p:sldId id="659" r:id="rId96"/>
    <p:sldId id="545" r:id="rId97"/>
    <p:sldId id="661" r:id="rId98"/>
    <p:sldId id="662" r:id="rId99"/>
    <p:sldId id="664" r:id="rId100"/>
    <p:sldId id="665" r:id="rId101"/>
    <p:sldId id="666" r:id="rId102"/>
    <p:sldId id="667" r:id="rId103"/>
    <p:sldId id="685" r:id="rId104"/>
    <p:sldId id="668" r:id="rId105"/>
    <p:sldId id="670" r:id="rId106"/>
    <p:sldId id="410" r:id="rId107"/>
    <p:sldId id="686" r:id="rId108"/>
    <p:sldId id="671" r:id="rId109"/>
    <p:sldId id="663" r:id="rId110"/>
    <p:sldId id="354" r:id="rId111"/>
    <p:sldId id="624" r:id="rId112"/>
    <p:sldId id="716" r:id="rId113"/>
    <p:sldId id="687" r:id="rId114"/>
    <p:sldId id="688" r:id="rId115"/>
    <p:sldId id="689" r:id="rId116"/>
    <p:sldId id="690" r:id="rId117"/>
    <p:sldId id="673" r:id="rId118"/>
    <p:sldId id="678" r:id="rId119"/>
    <p:sldId id="679" r:id="rId120"/>
    <p:sldId id="680" r:id="rId121"/>
    <p:sldId id="681" r:id="rId122"/>
    <p:sldId id="691" r:id="rId123"/>
    <p:sldId id="702" r:id="rId124"/>
    <p:sldId id="717" r:id="rId125"/>
    <p:sldId id="692" r:id="rId126"/>
    <p:sldId id="693" r:id="rId127"/>
    <p:sldId id="694" r:id="rId128"/>
    <p:sldId id="695" r:id="rId129"/>
    <p:sldId id="698" r:id="rId130"/>
    <p:sldId id="699" r:id="rId131"/>
    <p:sldId id="700" r:id="rId132"/>
    <p:sldId id="696" r:id="rId133"/>
    <p:sldId id="599" r:id="rId134"/>
    <p:sldId id="356" r:id="rId135"/>
    <p:sldId id="718" r:id="rId136"/>
    <p:sldId id="373" r:id="rId137"/>
    <p:sldId id="374" r:id="rId138"/>
    <p:sldId id="697" r:id="rId139"/>
    <p:sldId id="559" r:id="rId140"/>
    <p:sldId id="701" r:id="rId141"/>
    <p:sldId id="558" r:id="rId142"/>
    <p:sldId id="554" r:id="rId143"/>
    <p:sldId id="555" r:id="rId144"/>
    <p:sldId id="628" r:id="rId145"/>
    <p:sldId id="627" r:id="rId146"/>
    <p:sldId id="600" r:id="rId147"/>
    <p:sldId id="398" r:id="rId148"/>
    <p:sldId id="576" r:id="rId149"/>
    <p:sldId id="604" r:id="rId150"/>
  </p:sldIdLst>
  <p:sldSz cx="12192000" cy="6858000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33CC"/>
    <a:srgbClr val="BBE0E3"/>
    <a:srgbClr val="000000"/>
    <a:srgbClr val="00FFFF"/>
    <a:srgbClr val="33CC33"/>
    <a:srgbClr val="CCFF33"/>
    <a:srgbClr val="FF3300"/>
    <a:srgbClr val="CC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772" autoAdjust="0"/>
    <p:restoredTop sz="94660"/>
  </p:normalViewPr>
  <p:slideViewPr>
    <p:cSldViewPr>
      <p:cViewPr varScale="1">
        <p:scale>
          <a:sx n="69" d="100"/>
          <a:sy n="69" d="100"/>
        </p:scale>
        <p:origin x="228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8" d="100"/>
          <a:sy n="48" d="100"/>
        </p:scale>
        <p:origin x="2716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55" Type="http://schemas.openxmlformats.org/officeDocument/2006/relationships/theme" Target="theme/them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notesMaster" Target="notesMasters/notesMaster1.xml"/><Relationship Id="rId156" Type="http://schemas.openxmlformats.org/officeDocument/2006/relationships/tableStyles" Target="tableStyle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handoutMaster" Target="handoutMasters/handout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presProps" Target="pres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viewProps" Target="viewProps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 smtClean="0"/>
            </a:lvl1pPr>
          </a:lstStyle>
          <a:p>
            <a:pPr>
              <a:defRPr/>
            </a:pPr>
            <a:fld id="{3E63BB5E-1E71-409D-95FD-9F6EB679E3B2}" type="datetimeFigureOut">
              <a:rPr lang="zh-TW" altLang="en-US"/>
              <a:pPr>
                <a:defRPr/>
              </a:pPr>
              <a:t>2025/9/16</a:t>
            </a:fld>
            <a:endParaRPr lang="en-US" altLang="zh-TW"/>
          </a:p>
        </p:txBody>
      </p:sp>
      <p:sp>
        <p:nvSpPr>
          <p:cNvPr id="140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0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 smtClean="0"/>
            </a:lvl1pPr>
          </a:lstStyle>
          <a:p>
            <a:pPr>
              <a:defRPr/>
            </a:pPr>
            <a:fld id="{95DD7AF9-3850-4D27-87AD-05B29018E5F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287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5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2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860925"/>
            <a:ext cx="56769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92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2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EB72F911-A8DE-4651-A4C0-E2FBDD24CDD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70114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1488" cy="3838575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0749" y="4862141"/>
            <a:ext cx="5679440" cy="4605227"/>
          </a:xfrm>
          <a:noFill/>
          <a:ln/>
        </p:spPr>
        <p:txBody>
          <a:bodyPr wrap="square" lIns="99038" tIns="49519" rIns="99038" bIns="49519" anchor="t"/>
          <a:lstStyle/>
          <a:p>
            <a:endParaRPr lang="zh-TW" altLang="zh-TW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451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1488" cy="383857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0749" y="4862141"/>
            <a:ext cx="5679440" cy="4605227"/>
          </a:xfrm>
          <a:noFill/>
          <a:ln/>
        </p:spPr>
        <p:txBody>
          <a:bodyPr wrap="square" lIns="99038" tIns="49519" rIns="99038" bIns="49519" anchor="t"/>
          <a:lstStyle/>
          <a:p>
            <a:endParaRPr lang="zh-TW" altLang="zh-TW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283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9700" y="768350"/>
            <a:ext cx="6819900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備忘稿版面配置區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0484" name="投影片編號版面配置區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81169FFB-2DED-496D-9B76-B14BD7AF2B93}" type="slidenum">
              <a:rPr lang="zh-TW" altLang="en-US" smtClean="0"/>
              <a:pPr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00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6632"/>
            <a:ext cx="109728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06792-2767-43F4-A335-D8A37CCA385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90982-AB66-46A4-A1FF-EC3140B35B5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8B244-3745-40D0-BE05-59D46F502FA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9314AB-8309-4AD6-9FFB-F7146D0BE65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8E01AA-4B65-4798-BFD9-8B545C976B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01DFC-AF09-44D6-ABE0-8E54496024F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D644F4-34C4-4C48-9219-F64F8F4D0DB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E7853-2D7D-4C18-8FA5-DDE0E7A7B91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417F6-521E-48E2-ACCA-8C01A79B292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5DCB0-626D-4CFF-A48C-95AD28109B0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19CAA-295F-41C1-9BE8-5D25C285959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958435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DC0AF2-2E83-4A9B-A8E0-3922B0B5A33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137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C2BB99-3FC1-4E9F-95F2-02FE5DDE384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702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8C260D-697D-46EC-BF5F-14DA2097F2E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104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日期版面配置區 7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61983E-1AF5-4FB6-898E-0958774F8D0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914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001B0A-3B31-4AB9-8FB0-1DF161D6E6F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212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4E9D68-75BD-4F04-A1A3-99C2985198E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639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206B30-13F1-4917-8F8F-FD2819EAC01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6196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095463-4D9F-4F31-9567-AA497318059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374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1AC6D2-E30E-42E8-A9D9-B89B08FB1F7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2145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AC306-F1D0-498A-97E6-EF4D23536B6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0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EBCB6A0-5727-44B3-A5FA-EBD6BAD529E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3B6886-DD81-480A-9C3E-2A3C2726FE9E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063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9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0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emf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ctr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sz="5400"/>
              <a:t>Chapter 1:</a:t>
            </a:r>
            <a:br>
              <a:rPr lang="en-US" altLang="zh-TW" sz="5400"/>
            </a:br>
            <a:r>
              <a:rPr lang="en-US" altLang="zh-TW" sz="5400"/>
              <a:t> Introduction</a:t>
            </a:r>
            <a:endParaRPr lang="en-US" altLang="zh-TW" sz="5400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171" name="Rectangle 7"/>
          <p:cNvSpPr>
            <a:spLocks noChangeArrowheads="1"/>
          </p:cNvSpPr>
          <p:nvPr/>
        </p:nvSpPr>
        <p:spPr bwMode="auto">
          <a:xfrm>
            <a:off x="1775521" y="3933826"/>
            <a:ext cx="889248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zh-TW" sz="28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kumimoji="0" lang="en-US" altLang="zh-TW" sz="28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</a:br>
            <a:endParaRPr kumimoji="0" lang="en-US" altLang="zh-TW" sz="2800" b="1" dirty="0">
              <a:solidFill>
                <a:schemeClr val="hlink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Organization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Architecture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Operating-System Operations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Organization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Architecture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Operating-System Operations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49943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什麼是作業系統？</a:t>
            </a:r>
            <a:endParaRPr lang="zh-TW" altLang="en-US" dirty="0"/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060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Computer System Structure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Computer system can be divided into four components: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Hardware</a:t>
            </a:r>
            <a:endParaRPr lang="en-US" altLang="zh-TW" dirty="0"/>
          </a:p>
          <a:p>
            <a:pPr lvl="1"/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Operating system</a:t>
            </a:r>
          </a:p>
          <a:p>
            <a:pPr lvl="2"/>
            <a:endParaRPr lang="en-US" altLang="zh-TW" dirty="0"/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Application programs </a:t>
            </a:r>
            <a:r>
              <a:rPr lang="en-US" altLang="zh-TW" dirty="0"/>
              <a:t>– </a:t>
            </a:r>
          </a:p>
          <a:p>
            <a:pPr lvl="1"/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Users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dirty="0"/>
              <a:t>Four Components of a Computer System</a:t>
            </a:r>
          </a:p>
        </p:txBody>
      </p:sp>
      <p:pic>
        <p:nvPicPr>
          <p:cNvPr id="819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79576" y="1533526"/>
            <a:ext cx="7632848" cy="5063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74999"/>
            <a:ext cx="10363200" cy="1470025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Q: </a:t>
            </a:r>
            <a:r>
              <a:rPr lang="zh-TW" altLang="en-US" dirty="0">
                <a:solidFill>
                  <a:schemeClr val="tx1"/>
                </a:solidFill>
              </a:rPr>
              <a:t>作業系統有什麼功能</a:t>
            </a:r>
            <a:r>
              <a:rPr lang="en-US" altLang="zh-TW" dirty="0">
                <a:solidFill>
                  <a:schemeClr val="tx1"/>
                </a:solidFill>
              </a:rPr>
              <a:t>?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副標題 6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Hint: </a:t>
            </a:r>
            <a:r>
              <a:rPr lang="zh-TW" altLang="en-US" dirty="0">
                <a:solidFill>
                  <a:srgbClr val="FF0000"/>
                </a:solidFill>
              </a:rPr>
              <a:t>如果沒有作業系統會發生什麼事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  <a:endParaRPr lang="en-US" altLang="zh-TW" dirty="0"/>
          </a:p>
          <a:p>
            <a:r>
              <a:rPr lang="en-US" altLang="zh-TW" dirty="0"/>
              <a:t>For example: A Hello World Program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891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>
                <a:solidFill>
                  <a:srgbClr val="0000CC"/>
                </a:solidFill>
              </a:rPr>
              <a:t>注意</a:t>
            </a:r>
            <a:r>
              <a:rPr lang="en-US" altLang="zh-TW" sz="4000" dirty="0">
                <a:solidFill>
                  <a:srgbClr val="0000CC"/>
                </a:solidFill>
              </a:rPr>
              <a:t>:</a:t>
            </a:r>
            <a:r>
              <a:rPr lang="zh-TW" altLang="en-US" sz="4000" dirty="0">
                <a:solidFill>
                  <a:srgbClr val="0000CC"/>
                </a:solidFill>
              </a:rPr>
              <a:t> 使用者是和應用程式互動 </a:t>
            </a:r>
            <a:r>
              <a:rPr lang="en-US" altLang="zh-TW" sz="4000" dirty="0">
                <a:solidFill>
                  <a:srgbClr val="0000CC"/>
                </a:solidFill>
              </a:rPr>
              <a:t>(</a:t>
            </a:r>
            <a:r>
              <a:rPr lang="zh-TW" altLang="en-US" sz="4000" dirty="0">
                <a:solidFill>
                  <a:srgbClr val="0000CC"/>
                </a:solidFill>
              </a:rPr>
              <a:t>或是透過應用程式和</a:t>
            </a:r>
            <a:r>
              <a:rPr lang="en-US" altLang="zh-TW" sz="4000" dirty="0">
                <a:solidFill>
                  <a:srgbClr val="0000CC"/>
                </a:solidFill>
              </a:rPr>
              <a:t>OS</a:t>
            </a:r>
            <a:r>
              <a:rPr lang="zh-TW" altLang="en-US" sz="4000" dirty="0">
                <a:solidFill>
                  <a:srgbClr val="0000CC"/>
                </a:solidFill>
              </a:rPr>
              <a:t>互動</a:t>
            </a:r>
            <a:r>
              <a:rPr lang="en-US" altLang="zh-TW" sz="4000" dirty="0">
                <a:solidFill>
                  <a:srgbClr val="0000CC"/>
                </a:solidFill>
              </a:rPr>
              <a:t>, </a:t>
            </a:r>
            <a:r>
              <a:rPr lang="zh-TW" altLang="en-US" sz="4000" dirty="0">
                <a:solidFill>
                  <a:srgbClr val="0000CC"/>
                </a:solidFill>
              </a:rPr>
              <a:t>例如</a:t>
            </a:r>
            <a:r>
              <a:rPr lang="en-US" altLang="zh-TW" sz="4000" dirty="0">
                <a:solidFill>
                  <a:srgbClr val="0000CC"/>
                </a:solidFill>
              </a:rPr>
              <a:t>: </a:t>
            </a:r>
            <a:r>
              <a:rPr lang="zh-TW" altLang="en-US" sz="4000" dirty="0">
                <a:solidFill>
                  <a:srgbClr val="0000CC"/>
                </a:solidFill>
              </a:rPr>
              <a:t>存取硬碟上的檔案</a:t>
            </a:r>
            <a:r>
              <a:rPr lang="en-US" altLang="zh-TW" sz="4000" dirty="0">
                <a:solidFill>
                  <a:srgbClr val="0000CC"/>
                </a:solidFill>
              </a:rPr>
              <a:t>)</a:t>
            </a:r>
            <a:endParaRPr lang="zh-TW" altLang="en-US" sz="4000" dirty="0">
              <a:solidFill>
                <a:srgbClr val="0000CC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FF0000"/>
                </a:solidFill>
              </a:rPr>
              <a:t>因此</a:t>
            </a:r>
            <a:r>
              <a:rPr lang="en-US" altLang="zh-TW" b="1" dirty="0">
                <a:solidFill>
                  <a:srgbClr val="FF0000"/>
                </a:solidFill>
              </a:rPr>
              <a:t>, </a:t>
            </a:r>
            <a:r>
              <a:rPr lang="zh-TW" altLang="en-US" b="1" dirty="0">
                <a:solidFill>
                  <a:srgbClr val="FF0000"/>
                </a:solidFill>
              </a:rPr>
              <a:t>我們探討</a:t>
            </a:r>
            <a:r>
              <a:rPr lang="en-US" altLang="zh-TW" b="1" dirty="0">
                <a:solidFill>
                  <a:srgbClr val="FF0000"/>
                </a:solidFill>
              </a:rPr>
              <a:t>OS</a:t>
            </a:r>
            <a:r>
              <a:rPr lang="zh-TW" altLang="en-US" b="1" dirty="0">
                <a:solidFill>
                  <a:srgbClr val="FF0000"/>
                </a:solidFill>
              </a:rPr>
              <a:t>會關心應用程式如何和</a:t>
            </a:r>
            <a:r>
              <a:rPr lang="en-US" altLang="zh-TW" b="1" dirty="0">
                <a:solidFill>
                  <a:srgbClr val="FF0000"/>
                </a:solidFill>
              </a:rPr>
              <a:t>OS</a:t>
            </a:r>
            <a:r>
              <a:rPr lang="zh-TW" altLang="en-US" b="1" dirty="0">
                <a:solidFill>
                  <a:srgbClr val="FF0000"/>
                </a:solidFill>
              </a:rPr>
              <a:t>互動</a:t>
            </a:r>
            <a:r>
              <a:rPr lang="en-US" altLang="zh-TW" b="1" dirty="0">
                <a:solidFill>
                  <a:srgbClr val="FF0000"/>
                </a:solidFill>
              </a:rPr>
              <a:t>(</a:t>
            </a:r>
            <a:r>
              <a:rPr lang="zh-TW" altLang="en-US" b="1" dirty="0">
                <a:solidFill>
                  <a:srgbClr val="FF0000"/>
                </a:solidFill>
              </a:rPr>
              <a:t>不是使用者和</a:t>
            </a:r>
            <a:r>
              <a:rPr lang="en-US" altLang="zh-TW" b="1" dirty="0">
                <a:solidFill>
                  <a:srgbClr val="FF0000"/>
                </a:solidFill>
              </a:rPr>
              <a:t>OS</a:t>
            </a:r>
            <a:r>
              <a:rPr lang="zh-TW" altLang="en-US" b="1" dirty="0">
                <a:solidFill>
                  <a:srgbClr val="FF0000"/>
                </a:solidFill>
              </a:rPr>
              <a:t>的互動</a:t>
            </a:r>
            <a:r>
              <a:rPr lang="en-US" altLang="zh-TW" b="1" dirty="0">
                <a:solidFill>
                  <a:srgbClr val="FF0000"/>
                </a:solidFill>
              </a:rPr>
              <a:t>)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337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What Operating Systems Do?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dirty="0"/>
              <a:t>A </a:t>
            </a:r>
            <a:r>
              <a:rPr lang="en-US" altLang="zh-TW" b="1" dirty="0"/>
              <a:t>software</a:t>
            </a:r>
            <a:r>
              <a:rPr lang="en-US" altLang="zh-TW" dirty="0"/>
              <a:t> that acts between </a:t>
            </a:r>
            <a:r>
              <a:rPr lang="en-US" altLang="zh-TW" b="1" dirty="0">
                <a:solidFill>
                  <a:srgbClr val="FF3300"/>
                </a:solidFill>
              </a:rPr>
              <a:t>user applications</a:t>
            </a:r>
            <a:r>
              <a:rPr lang="en-US" altLang="zh-TW" dirty="0"/>
              <a:t> and the </a:t>
            </a:r>
            <a:r>
              <a:rPr lang="en-US" altLang="zh-TW" b="1" dirty="0">
                <a:solidFill>
                  <a:srgbClr val="FF3300"/>
                </a:solidFill>
              </a:rPr>
              <a:t>computer hardware</a:t>
            </a:r>
            <a:r>
              <a:rPr lang="en-US" altLang="zh-TW" dirty="0"/>
              <a:t>.</a:t>
            </a:r>
          </a:p>
          <a:p>
            <a:pPr eaLnBrk="1" hangingPunct="1"/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b="1" dirty="0"/>
              <a:t>Goal</a:t>
            </a:r>
          </a:p>
          <a:p>
            <a:pPr lvl="1" eaLnBrk="1" hangingPunct="1"/>
            <a:r>
              <a:rPr lang="en-US" altLang="zh-TW" dirty="0">
                <a:solidFill>
                  <a:srgbClr val="0000CC"/>
                </a:solidFill>
              </a:rPr>
              <a:t>Manages the computer hardware </a:t>
            </a:r>
            <a:r>
              <a:rPr lang="en-US" altLang="zh-TW" dirty="0"/>
              <a:t>and </a:t>
            </a:r>
            <a:r>
              <a:rPr lang="en-US" altLang="zh-TW" dirty="0">
                <a:solidFill>
                  <a:srgbClr val="0000CC"/>
                </a:solidFill>
              </a:rPr>
              <a:t>provides an environment for application programs to run</a:t>
            </a:r>
          </a:p>
          <a:p>
            <a:endParaRPr lang="en-US" altLang="zh-TW" dirty="0"/>
          </a:p>
        </p:txBody>
      </p:sp>
      <p:grpSp>
        <p:nvGrpSpPr>
          <p:cNvPr id="27" name="群組 26"/>
          <p:cNvGrpSpPr/>
          <p:nvPr/>
        </p:nvGrpSpPr>
        <p:grpSpPr>
          <a:xfrm>
            <a:off x="3503712" y="2708920"/>
            <a:ext cx="5653624" cy="1872208"/>
            <a:chOff x="3640506" y="1624266"/>
            <a:chExt cx="5653624" cy="2998534"/>
          </a:xfrm>
        </p:grpSpPr>
        <p:cxnSp>
          <p:nvCxnSpPr>
            <p:cNvPr id="28" name="直線接點 27"/>
            <p:cNvCxnSpPr/>
            <p:nvPr/>
          </p:nvCxnSpPr>
          <p:spPr>
            <a:xfrm>
              <a:off x="4042976" y="2357380"/>
              <a:ext cx="4197600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</p:cxnSp>
        <p:sp>
          <p:nvSpPr>
            <p:cNvPr id="29" name="圓角矩形 28"/>
            <p:cNvSpPr/>
            <p:nvPr/>
          </p:nvSpPr>
          <p:spPr>
            <a:xfrm>
              <a:off x="4367809" y="1633857"/>
              <a:ext cx="1463759" cy="422975"/>
            </a:xfrm>
            <a:prstGeom prst="roundRect">
              <a:avLst/>
            </a:prstGeom>
            <a:solidFill>
              <a:srgbClr val="5B9BD5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kern="0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Program 1</a:t>
              </a:r>
              <a:endParaRPr kumimoji="0" lang="zh-TW" altLang="en-US" sz="1600" b="1" kern="0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</p:txBody>
        </p:sp>
        <p:sp>
          <p:nvSpPr>
            <p:cNvPr id="30" name="圓角矩形 29"/>
            <p:cNvSpPr/>
            <p:nvPr/>
          </p:nvSpPr>
          <p:spPr>
            <a:xfrm>
              <a:off x="6168008" y="1624266"/>
              <a:ext cx="1371018" cy="422975"/>
            </a:xfrm>
            <a:prstGeom prst="roundRect">
              <a:avLst/>
            </a:prstGeom>
            <a:solidFill>
              <a:srgbClr val="5B9BD5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kern="0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Program</a:t>
              </a:r>
              <a:r>
                <a:rPr kumimoji="0" lang="zh-TW" altLang="en-US" sz="1600" b="1" kern="0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 </a:t>
              </a:r>
              <a:r>
                <a:rPr kumimoji="0" lang="en-US" altLang="zh-TW" sz="1600" b="1" kern="0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2</a:t>
              </a:r>
              <a:endParaRPr kumimoji="0" lang="zh-TW" altLang="en-US" sz="1600" b="1" kern="0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</p:txBody>
        </p:sp>
        <p:cxnSp>
          <p:nvCxnSpPr>
            <p:cNvPr id="31" name="直線接點 30"/>
            <p:cNvCxnSpPr/>
            <p:nvPr/>
          </p:nvCxnSpPr>
          <p:spPr>
            <a:xfrm>
              <a:off x="7866424" y="1851500"/>
              <a:ext cx="317809" cy="0"/>
            </a:xfrm>
            <a:prstGeom prst="line">
              <a:avLst/>
            </a:prstGeom>
            <a:noFill/>
            <a:ln w="38100" cap="rnd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</p:cxnSp>
        <p:cxnSp>
          <p:nvCxnSpPr>
            <p:cNvPr id="32" name="直線接點 31"/>
            <p:cNvCxnSpPr/>
            <p:nvPr/>
          </p:nvCxnSpPr>
          <p:spPr>
            <a:xfrm>
              <a:off x="4123103" y="3838028"/>
              <a:ext cx="4197600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</p:cxnSp>
        <p:sp>
          <p:nvSpPr>
            <p:cNvPr id="33" name="圓角矩形 32"/>
            <p:cNvSpPr/>
            <p:nvPr/>
          </p:nvSpPr>
          <p:spPr>
            <a:xfrm>
              <a:off x="4661531" y="2622376"/>
              <a:ext cx="2578567" cy="979928"/>
            </a:xfrm>
            <a:prstGeom prst="roundRect">
              <a:avLst/>
            </a:prstGeom>
            <a:solidFill>
              <a:srgbClr val="9FFDFF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2000" b="1" kern="0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OS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3640506" y="4174377"/>
              <a:ext cx="1512044" cy="448423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800" b="1" kern="0" dirty="0">
                  <a:solidFill>
                    <a:prstClr val="white"/>
                  </a:solidFill>
                  <a:latin typeface="Calibri" panose="020F0502020204030204"/>
                </a:rPr>
                <a:t>Device 1</a:t>
              </a:r>
              <a:endParaRPr kumimoji="0" lang="zh-TW" altLang="en-US" sz="1800" b="1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5411986" y="4168328"/>
              <a:ext cx="1512044" cy="454472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800" b="1" kern="0" dirty="0">
                  <a:solidFill>
                    <a:prstClr val="white"/>
                  </a:solidFill>
                  <a:latin typeface="Calibri" panose="020F0502020204030204"/>
                </a:rPr>
                <a:t>Device 2</a:t>
              </a:r>
              <a:endParaRPr kumimoji="0" lang="zh-TW" altLang="en-US" sz="1800" b="1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7240098" y="4168328"/>
              <a:ext cx="1512044" cy="454472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800" b="1" kern="0" dirty="0">
                  <a:solidFill>
                    <a:prstClr val="white"/>
                  </a:solidFill>
                  <a:latin typeface="Calibri" panose="020F0502020204030204"/>
                </a:rPr>
                <a:t>Device 3</a:t>
              </a:r>
              <a:endParaRPr kumimoji="0" lang="zh-TW" altLang="en-US" sz="1800" b="1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37" name="直線接點 36"/>
            <p:cNvCxnSpPr/>
            <p:nvPr/>
          </p:nvCxnSpPr>
          <p:spPr>
            <a:xfrm>
              <a:off x="8976321" y="4456360"/>
              <a:ext cx="317809" cy="0"/>
            </a:xfrm>
            <a:prstGeom prst="line">
              <a:avLst/>
            </a:prstGeom>
            <a:noFill/>
            <a:ln w="38100" cap="rnd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</p:cxn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Defining Operating System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3600" dirty="0"/>
              <a:t>A common definition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The OS is the one program </a:t>
            </a:r>
            <a:r>
              <a:rPr lang="en-US" altLang="zh-TW" sz="3200" b="1" dirty="0">
                <a:solidFill>
                  <a:srgbClr val="FF3300"/>
                </a:solidFill>
              </a:rPr>
              <a:t>running at all times</a:t>
            </a:r>
            <a:endParaRPr lang="en-US" altLang="zh-TW" sz="3200" dirty="0"/>
          </a:p>
          <a:p>
            <a:pPr marL="685800" lvl="1" eaLnBrk="1" hangingPunct="1">
              <a:lnSpc>
                <a:spcPct val="90000"/>
              </a:lnSpc>
            </a:pPr>
            <a:endParaRPr lang="en-US" altLang="zh-TW" sz="3200" dirty="0"/>
          </a:p>
          <a:p>
            <a:pPr marL="685800" lvl="1" eaLnBrk="1" hangingPunct="1">
              <a:lnSpc>
                <a:spcPct val="90000"/>
              </a:lnSpc>
            </a:pPr>
            <a:r>
              <a:rPr lang="en-US" altLang="zh-TW" sz="3200" dirty="0"/>
              <a:t>Usually called the </a:t>
            </a:r>
            <a:r>
              <a:rPr lang="en-US" altLang="zh-TW" sz="3200" b="1" dirty="0">
                <a:solidFill>
                  <a:srgbClr val="FF0000"/>
                </a:solidFill>
              </a:rPr>
              <a:t>kernel</a:t>
            </a:r>
            <a:endParaRPr lang="en-US" altLang="zh-TW" sz="3200" i="1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Computer-System Organization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Computer-System Architecture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Operating-System Operations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84150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學習作業系統為什麼要學習計算機組織與電腦架構？</a:t>
            </a:r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9879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Computer-System Organization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0000"/>
                </a:solidFill>
              </a:rPr>
              <a:t>Interrupts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Storage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Architecture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Operating-System Operations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40333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A Computer System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A computer system consists of </a:t>
            </a:r>
            <a:r>
              <a:rPr lang="en-US" altLang="zh-TW" sz="2800" b="1" dirty="0">
                <a:solidFill>
                  <a:srgbClr val="FF0000"/>
                </a:solidFill>
              </a:rPr>
              <a:t>CPU</a:t>
            </a:r>
            <a:r>
              <a:rPr lang="en-US" altLang="zh-TW" sz="2800" dirty="0"/>
              <a:t> and multiple </a:t>
            </a:r>
            <a:r>
              <a:rPr lang="en-US" altLang="zh-TW" sz="2800" b="1" dirty="0">
                <a:solidFill>
                  <a:srgbClr val="FF0000"/>
                </a:solidFill>
              </a:rPr>
              <a:t>device controllers </a:t>
            </a:r>
            <a:r>
              <a:rPr lang="en-US" altLang="zh-TW" sz="2000" dirty="0"/>
              <a:t>(see the following slide)</a:t>
            </a:r>
            <a:endParaRPr lang="en-US" altLang="zh-TW" sz="2800" dirty="0"/>
          </a:p>
          <a:p>
            <a:pPr eaLnBrk="1" hangingPunct="1">
              <a:lnSpc>
                <a:spcPct val="110000"/>
              </a:lnSpc>
            </a:pPr>
            <a:endParaRPr lang="en-US" altLang="zh-TW" sz="2800" b="1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800" b="1" dirty="0"/>
              <a:t>Device controller: hardware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Also called </a:t>
            </a:r>
            <a:r>
              <a:rPr lang="en-US" altLang="zh-TW" sz="2400" b="1" dirty="0">
                <a:solidFill>
                  <a:srgbClr val="0033CC"/>
                </a:solidFill>
              </a:rPr>
              <a:t>special-purpose processors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Contains </a:t>
            </a:r>
            <a:r>
              <a:rPr lang="en-US" altLang="zh-TW" sz="2400" b="1" dirty="0">
                <a:solidFill>
                  <a:srgbClr val="FF3300"/>
                </a:solidFill>
              </a:rPr>
              <a:t>local buffer</a:t>
            </a:r>
            <a:r>
              <a:rPr lang="en-US" altLang="zh-TW" sz="2400" dirty="0"/>
              <a:t> and </a:t>
            </a:r>
            <a:r>
              <a:rPr lang="en-US" altLang="zh-TW" sz="2400" b="1" dirty="0">
                <a:solidFill>
                  <a:srgbClr val="FF3300"/>
                </a:solidFill>
              </a:rPr>
              <a:t>special-purpose registers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b="1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800" b="1" dirty="0"/>
              <a:t>Device drivers: software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Part of an OS </a:t>
            </a:r>
            <a:r>
              <a:rPr lang="en-US" altLang="zh-TW" sz="1800" dirty="0"/>
              <a:t>(see the following slide)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A device driver for each device controller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9539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A Computer System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1517817" y="1700809"/>
            <a:ext cx="8607488" cy="4175745"/>
            <a:chOff x="162910" y="2852738"/>
            <a:chExt cx="7865078" cy="3671887"/>
          </a:xfrm>
        </p:grpSpPr>
        <p:pic>
          <p:nvPicPr>
            <p:cNvPr id="22532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 l="427" t="17949" r="427" b="17664"/>
            <a:stretch>
              <a:fillRect/>
            </a:stretch>
          </p:blipFill>
          <p:spPr bwMode="auto">
            <a:xfrm>
              <a:off x="755650" y="2852738"/>
              <a:ext cx="7272338" cy="3671887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22533" name="Rectangle 6"/>
            <p:cNvSpPr>
              <a:spLocks noChangeArrowheads="1"/>
            </p:cNvSpPr>
            <p:nvPr/>
          </p:nvSpPr>
          <p:spPr bwMode="auto">
            <a:xfrm>
              <a:off x="755649" y="4437064"/>
              <a:ext cx="207563" cy="50482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534" name="Rectangle 7"/>
            <p:cNvSpPr>
              <a:spLocks noChangeArrowheads="1"/>
            </p:cNvSpPr>
            <p:nvPr/>
          </p:nvSpPr>
          <p:spPr bwMode="auto">
            <a:xfrm>
              <a:off x="2339975" y="4421188"/>
              <a:ext cx="161050" cy="584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535" name="Rectangle 8"/>
            <p:cNvSpPr>
              <a:spLocks noChangeArrowheads="1"/>
            </p:cNvSpPr>
            <p:nvPr/>
          </p:nvSpPr>
          <p:spPr bwMode="auto">
            <a:xfrm>
              <a:off x="4249486" y="4429125"/>
              <a:ext cx="215900" cy="57626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536" name="Rectangle 9"/>
            <p:cNvSpPr>
              <a:spLocks noChangeArrowheads="1"/>
            </p:cNvSpPr>
            <p:nvPr/>
          </p:nvSpPr>
          <p:spPr bwMode="auto">
            <a:xfrm>
              <a:off x="6804025" y="4429125"/>
              <a:ext cx="215900" cy="57626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>
                <a:solidFill>
                  <a:srgbClr val="FF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2537" name="Text Box 10"/>
            <p:cNvSpPr txBox="1">
              <a:spLocks noChangeArrowheads="1"/>
            </p:cNvSpPr>
            <p:nvPr/>
          </p:nvSpPr>
          <p:spPr bwMode="auto">
            <a:xfrm>
              <a:off x="684213" y="3860800"/>
              <a:ext cx="1452555" cy="351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 dirty="0">
                  <a:latin typeface="Calibri" panose="020F0502020204030204" pitchFamily="34" charset="0"/>
                </a:rPr>
                <a:t>CPU registers</a:t>
              </a:r>
            </a:p>
          </p:txBody>
        </p:sp>
        <p:sp>
          <p:nvSpPr>
            <p:cNvPr id="22538" name="Line 11"/>
            <p:cNvSpPr>
              <a:spLocks noChangeShapeType="1"/>
            </p:cNvSpPr>
            <p:nvPr/>
          </p:nvSpPr>
          <p:spPr bwMode="auto">
            <a:xfrm flipH="1">
              <a:off x="900113" y="4149725"/>
              <a:ext cx="431800" cy="21590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539" name="Line 13"/>
            <p:cNvSpPr>
              <a:spLocks noChangeShapeType="1"/>
            </p:cNvSpPr>
            <p:nvPr/>
          </p:nvSpPr>
          <p:spPr bwMode="auto">
            <a:xfrm flipV="1">
              <a:off x="2771774" y="5046508"/>
              <a:ext cx="913600" cy="83041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540" name="Text Box 14"/>
            <p:cNvSpPr txBox="1">
              <a:spLocks noChangeArrowheads="1"/>
            </p:cNvSpPr>
            <p:nvPr/>
          </p:nvSpPr>
          <p:spPr bwMode="auto">
            <a:xfrm>
              <a:off x="162910" y="5713979"/>
              <a:ext cx="1520050" cy="324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 dirty="0">
                  <a:latin typeface="Calibri" panose="020F0502020204030204" pitchFamily="34" charset="0"/>
                </a:rPr>
                <a:t>device registers</a:t>
              </a:r>
            </a:p>
          </p:txBody>
        </p:sp>
        <p:sp>
          <p:nvSpPr>
            <p:cNvPr id="22543" name="Rectangle 18"/>
            <p:cNvSpPr>
              <a:spLocks noChangeArrowheads="1"/>
            </p:cNvSpPr>
            <p:nvPr/>
          </p:nvSpPr>
          <p:spPr bwMode="auto">
            <a:xfrm>
              <a:off x="3560602" y="4424319"/>
              <a:ext cx="215900" cy="576262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544" name="Rectangle 19"/>
            <p:cNvSpPr>
              <a:spLocks noChangeArrowheads="1"/>
            </p:cNvSpPr>
            <p:nvPr/>
          </p:nvSpPr>
          <p:spPr bwMode="auto">
            <a:xfrm>
              <a:off x="6373893" y="4421187"/>
              <a:ext cx="215900" cy="576262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545" name="Rectangle 20"/>
            <p:cNvSpPr>
              <a:spLocks noChangeArrowheads="1"/>
            </p:cNvSpPr>
            <p:nvPr/>
          </p:nvSpPr>
          <p:spPr bwMode="auto">
            <a:xfrm>
              <a:off x="7830596" y="4421187"/>
              <a:ext cx="196557" cy="555625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547" name="Line 22"/>
            <p:cNvSpPr>
              <a:spLocks noChangeShapeType="1"/>
            </p:cNvSpPr>
            <p:nvPr/>
          </p:nvSpPr>
          <p:spPr bwMode="auto">
            <a:xfrm flipV="1">
              <a:off x="1258888" y="5046508"/>
              <a:ext cx="1152525" cy="687541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548" name="Text Box 23"/>
            <p:cNvSpPr txBox="1">
              <a:spLocks noChangeArrowheads="1"/>
            </p:cNvSpPr>
            <p:nvPr/>
          </p:nvSpPr>
          <p:spPr bwMode="auto">
            <a:xfrm>
              <a:off x="2318724" y="5899589"/>
              <a:ext cx="1197924" cy="324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 dirty="0">
                  <a:latin typeface="Calibri" panose="020F0502020204030204" pitchFamily="34" charset="0"/>
                </a:rPr>
                <a:t>Local buffer</a:t>
              </a:r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7484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A Device Driver for Each Device Controller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259632"/>
            <a:ext cx="9793088" cy="5256584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7320136" y="6581001"/>
            <a:ext cx="4802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i="1" dirty="0">
                <a:latin typeface="Calibri" panose="020F0502020204030204" pitchFamily="34" charset="0"/>
              </a:rPr>
              <a:t>https://www.tutorialspoint.com/operating_system/os_io_software.htm</a:t>
            </a:r>
            <a:endParaRPr lang="zh-TW" altLang="en-US" sz="1200" b="1" i="1" dirty="0">
              <a:latin typeface="Calibri" panose="020F0502020204030204" pitchFamily="34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  <p:sp>
        <p:nvSpPr>
          <p:cNvPr id="6" name="圓角矩形 5"/>
          <p:cNvSpPr/>
          <p:nvPr/>
        </p:nvSpPr>
        <p:spPr>
          <a:xfrm>
            <a:off x="5663952" y="1700808"/>
            <a:ext cx="2952328" cy="36004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Agency FB" panose="020B0503020202020204" pitchFamily="34" charset="0"/>
              </a:rPr>
              <a:t>User Applications</a:t>
            </a:r>
            <a:endParaRPr lang="zh-TW" altLang="en-US" sz="2400" b="1" dirty="0">
              <a:solidFill>
                <a:schemeClr val="tx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632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600" dirty="0"/>
              <a:t>電腦內部有</a:t>
            </a:r>
            <a:r>
              <a:rPr lang="en-US" altLang="zh-TW" sz="3600" dirty="0"/>
              <a:t>CPU</a:t>
            </a:r>
            <a:r>
              <a:rPr lang="zh-TW" altLang="en-US" sz="3600" dirty="0"/>
              <a:t>和許多周邊控制器</a:t>
            </a:r>
            <a:r>
              <a:rPr lang="en-US" altLang="zh-TW" sz="3600" dirty="0"/>
              <a:t>(Device Controllers), </a:t>
            </a:r>
            <a:r>
              <a:rPr lang="zh-TW" altLang="en-US" sz="3600" dirty="0"/>
              <a:t>以讀取硬碟的資料為例子</a:t>
            </a:r>
            <a:r>
              <a:rPr lang="en-US" altLang="zh-TW" sz="3600" dirty="0"/>
              <a:t>!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775520" y="3886200"/>
            <a:ext cx="8731696" cy="1752600"/>
          </a:xfrm>
        </p:spPr>
        <p:txBody>
          <a:bodyPr>
            <a:normAutofit/>
          </a:bodyPr>
          <a:lstStyle/>
          <a:p>
            <a:r>
              <a:rPr lang="zh-TW" altLang="en-US" b="1" dirty="0"/>
              <a:t>問題</a:t>
            </a:r>
            <a:r>
              <a:rPr lang="en-US" altLang="zh-TW" b="1" dirty="0"/>
              <a:t> 1: CPU</a:t>
            </a:r>
            <a:r>
              <a:rPr lang="zh-TW" altLang="en-US" b="1" dirty="0"/>
              <a:t>如何通知硬碟控制器讀取硬碟資料？</a:t>
            </a:r>
            <a:r>
              <a:rPr lang="en-US" altLang="zh-TW" b="1" dirty="0"/>
              <a:t/>
            </a:r>
            <a:br>
              <a:rPr lang="en-US" altLang="zh-TW" b="1" dirty="0"/>
            </a:br>
            <a:endParaRPr lang="en-US" altLang="zh-TW" b="1" dirty="0"/>
          </a:p>
          <a:p>
            <a:r>
              <a:rPr lang="zh-TW" altLang="en-US" b="1" dirty="0"/>
              <a:t>問題 </a:t>
            </a:r>
            <a:r>
              <a:rPr lang="en-US" altLang="zh-TW" b="1" dirty="0"/>
              <a:t>2:</a:t>
            </a:r>
            <a:r>
              <a:rPr lang="zh-TW" altLang="en-US" b="1" dirty="0"/>
              <a:t>當讀取完畢</a:t>
            </a:r>
            <a:r>
              <a:rPr lang="en-US" altLang="zh-TW" b="1" dirty="0"/>
              <a:t>, </a:t>
            </a:r>
            <a:r>
              <a:rPr lang="zh-TW" altLang="en-US" b="1" dirty="0"/>
              <a:t>硬碟控制器如何通知</a:t>
            </a:r>
            <a:r>
              <a:rPr lang="en-US" altLang="zh-TW" b="1" dirty="0"/>
              <a:t>CPU</a:t>
            </a:r>
            <a:r>
              <a:rPr lang="zh-TW" altLang="en-US" b="1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05860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600" dirty="0"/>
              <a:t>問題</a:t>
            </a:r>
            <a:r>
              <a:rPr lang="en-US" altLang="zh-TW" sz="3600" dirty="0"/>
              <a:t> 1: CPU</a:t>
            </a:r>
            <a:r>
              <a:rPr lang="zh-TW" altLang="en-US" sz="3600" dirty="0"/>
              <a:t>如何通知周邊裝置？</a:t>
            </a:r>
            <a:r>
              <a:rPr lang="en-US" altLang="zh-TW" sz="3600" dirty="0"/>
              <a:t/>
            </a:r>
            <a:br>
              <a:rPr lang="en-US" altLang="zh-TW" sz="3600" dirty="0"/>
            </a:br>
            <a:r>
              <a:rPr lang="zh-TW" altLang="en-US" sz="3600" dirty="0"/>
              <a:t>問題 </a:t>
            </a:r>
            <a:r>
              <a:rPr lang="en-US" altLang="zh-TW" sz="3600" dirty="0"/>
              <a:t>2:</a:t>
            </a:r>
            <a:r>
              <a:rPr lang="zh-TW" altLang="en-US" sz="3600" dirty="0"/>
              <a:t>周邊裝置如何通知</a:t>
            </a:r>
            <a:r>
              <a:rPr lang="en-US" altLang="zh-TW" sz="3600" dirty="0"/>
              <a:t>CPU</a:t>
            </a:r>
            <a:r>
              <a:rPr lang="zh-TW" altLang="en-US" sz="3600" dirty="0"/>
              <a:t>？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b="1" dirty="0"/>
              <a:t>Answer 1: </a:t>
            </a:r>
            <a:r>
              <a:rPr lang="zh-TW" altLang="en-US" b="1" dirty="0"/>
              <a:t>藉由讀寫</a:t>
            </a:r>
            <a:r>
              <a:rPr lang="en-US" altLang="zh-TW" b="1" dirty="0"/>
              <a:t>Device Controller</a:t>
            </a:r>
            <a:r>
              <a:rPr lang="zh-TW" altLang="en-US" b="1" dirty="0"/>
              <a:t>的</a:t>
            </a:r>
            <a:r>
              <a:rPr lang="zh-TW" altLang="en-US" b="1" dirty="0">
                <a:solidFill>
                  <a:srgbClr val="0033CC"/>
                </a:solidFill>
              </a:rPr>
              <a:t>內部暫存器</a:t>
            </a:r>
            <a:endParaRPr lang="en-US" altLang="zh-TW" b="1" dirty="0">
              <a:solidFill>
                <a:srgbClr val="0033CC"/>
              </a:solidFill>
            </a:endParaRPr>
          </a:p>
          <a:p>
            <a:r>
              <a:rPr lang="en-US" altLang="zh-TW" b="1" dirty="0"/>
              <a:t>Answer 2: Device controller informs CPU by issuing </a:t>
            </a:r>
            <a:r>
              <a:rPr lang="en-US" altLang="zh-TW" b="1" dirty="0">
                <a:solidFill>
                  <a:srgbClr val="0000CC"/>
                </a:solidFill>
              </a:rPr>
              <a:t>interrupts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66626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/>
            <a:r>
              <a:rPr lang="en-US" altLang="zh-TW" dirty="0"/>
              <a:t>Starting an I/O operation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3000" dirty="0"/>
              <a:t>Starting an I/O operation (e.g., read data from disks)</a:t>
            </a:r>
          </a:p>
          <a:p>
            <a:pPr lvl="1" eaLnBrk="1" hangingPunct="1"/>
            <a:r>
              <a:rPr lang="en-US" altLang="zh-TW" dirty="0">
                <a:solidFill>
                  <a:srgbClr val="FF3300"/>
                </a:solidFill>
              </a:rPr>
              <a:t>Device driver</a:t>
            </a:r>
            <a:r>
              <a:rPr lang="en-US" altLang="zh-TW" dirty="0"/>
              <a:t> loads the appropriate </a:t>
            </a:r>
            <a:r>
              <a:rPr lang="en-US" altLang="zh-TW" b="1" dirty="0"/>
              <a:t>registers </a:t>
            </a:r>
            <a:r>
              <a:rPr lang="en-US" altLang="zh-TW" dirty="0"/>
              <a:t>within the device controller </a:t>
            </a:r>
            <a:r>
              <a:rPr lang="en-US" altLang="zh-TW" sz="2000" dirty="0"/>
              <a:t>(see the following slide)</a:t>
            </a:r>
            <a:endParaRPr lang="en-US" altLang="zh-TW" dirty="0"/>
          </a:p>
          <a:p>
            <a:pPr lvl="1" eaLnBrk="1" hangingPunct="1"/>
            <a:endParaRPr lang="en-US" altLang="zh-TW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dirty="0">
                <a:solidFill>
                  <a:srgbClr val="FF3300"/>
                </a:solidFill>
              </a:rPr>
              <a:t>Device controller</a:t>
            </a:r>
          </a:p>
          <a:p>
            <a:pPr marL="1085850" lvl="2" eaLnBrk="1" hangingPunct="1"/>
            <a:r>
              <a:rPr lang="en-US" altLang="zh-TW" dirty="0"/>
              <a:t>Examines the contents of these </a:t>
            </a:r>
            <a:r>
              <a:rPr lang="en-US" altLang="zh-TW" b="1" dirty="0"/>
              <a:t>registers</a:t>
            </a:r>
          </a:p>
          <a:p>
            <a:pPr marL="1428750" lvl="3" eaLnBrk="1" hangingPunct="1"/>
            <a:r>
              <a:rPr lang="en-US" altLang="zh-TW" dirty="0"/>
              <a:t>Determine what action to take</a:t>
            </a:r>
          </a:p>
          <a:p>
            <a:pPr marL="1085850" lvl="2" eaLnBrk="1" hangingPunct="1"/>
            <a:r>
              <a:rPr lang="en-US" altLang="zh-TW" dirty="0"/>
              <a:t>Start the actions</a:t>
            </a:r>
          </a:p>
          <a:p>
            <a:pPr marL="1428750" lvl="3" eaLnBrk="1" hangingPunct="1"/>
            <a:r>
              <a:rPr lang="en-US" altLang="zh-TW" dirty="0"/>
              <a:t>Transfer of data from the device to its </a:t>
            </a:r>
            <a:r>
              <a:rPr lang="en-US" altLang="zh-TW" b="1" dirty="0"/>
              <a:t>local buffer</a:t>
            </a:r>
          </a:p>
          <a:p>
            <a:pPr marL="1085850" lvl="2" eaLnBrk="1" hangingPunct="1"/>
            <a:r>
              <a:rPr lang="en-US" altLang="zh-TW" dirty="0"/>
              <a:t>Once completed</a:t>
            </a:r>
          </a:p>
          <a:p>
            <a:pPr marL="1428750" lvl="3" eaLnBrk="1" hangingPunct="1"/>
            <a:r>
              <a:rPr lang="en-US" altLang="zh-TW" dirty="0"/>
              <a:t>Device controller informs the CPU via an </a:t>
            </a:r>
            <a:r>
              <a:rPr lang="en-US" altLang="zh-TW" b="1" dirty="0">
                <a:solidFill>
                  <a:srgbClr val="FF3300"/>
                </a:solidFill>
              </a:rPr>
              <a:t>interrupt</a:t>
            </a:r>
          </a:p>
          <a:p>
            <a:pPr lvl="1" eaLnBrk="1" hangingPunct="1"/>
            <a:endParaRPr lang="en-US" altLang="zh-TW" dirty="0"/>
          </a:p>
          <a:p>
            <a:pPr eaLnBrk="1" hangingPunct="1"/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6906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/>
              <a:t>A Computer System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983432" y="1700808"/>
            <a:ext cx="9577064" cy="4679801"/>
            <a:chOff x="162910" y="2852738"/>
            <a:chExt cx="7865078" cy="3671887"/>
          </a:xfrm>
        </p:grpSpPr>
        <p:pic>
          <p:nvPicPr>
            <p:cNvPr id="22532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 l="427" t="17949" r="427" b="17664"/>
            <a:stretch>
              <a:fillRect/>
            </a:stretch>
          </p:blipFill>
          <p:spPr bwMode="auto">
            <a:xfrm>
              <a:off x="755650" y="2852738"/>
              <a:ext cx="7272338" cy="3671887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22533" name="Rectangle 6"/>
            <p:cNvSpPr>
              <a:spLocks noChangeArrowheads="1"/>
            </p:cNvSpPr>
            <p:nvPr/>
          </p:nvSpPr>
          <p:spPr bwMode="auto">
            <a:xfrm>
              <a:off x="755650" y="4421698"/>
              <a:ext cx="207562" cy="56832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34" name="Rectangle 7"/>
            <p:cNvSpPr>
              <a:spLocks noChangeArrowheads="1"/>
            </p:cNvSpPr>
            <p:nvPr/>
          </p:nvSpPr>
          <p:spPr bwMode="auto">
            <a:xfrm>
              <a:off x="2339975" y="4421188"/>
              <a:ext cx="161050" cy="584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35" name="Rectangle 8"/>
            <p:cNvSpPr>
              <a:spLocks noChangeArrowheads="1"/>
            </p:cNvSpPr>
            <p:nvPr/>
          </p:nvSpPr>
          <p:spPr bwMode="auto">
            <a:xfrm>
              <a:off x="4249486" y="4429125"/>
              <a:ext cx="215900" cy="57626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36" name="Rectangle 9"/>
            <p:cNvSpPr>
              <a:spLocks noChangeArrowheads="1"/>
            </p:cNvSpPr>
            <p:nvPr/>
          </p:nvSpPr>
          <p:spPr bwMode="auto">
            <a:xfrm>
              <a:off x="6804025" y="4429125"/>
              <a:ext cx="215900" cy="57626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37" name="Text Box 10"/>
            <p:cNvSpPr txBox="1">
              <a:spLocks noChangeArrowheads="1"/>
            </p:cNvSpPr>
            <p:nvPr/>
          </p:nvSpPr>
          <p:spPr bwMode="auto">
            <a:xfrm>
              <a:off x="684213" y="3860800"/>
              <a:ext cx="1305499" cy="3139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CPU registers</a:t>
              </a:r>
            </a:p>
          </p:txBody>
        </p:sp>
        <p:sp>
          <p:nvSpPr>
            <p:cNvPr id="22538" name="Line 11"/>
            <p:cNvSpPr>
              <a:spLocks noChangeShapeType="1"/>
            </p:cNvSpPr>
            <p:nvPr/>
          </p:nvSpPr>
          <p:spPr bwMode="auto">
            <a:xfrm flipH="1">
              <a:off x="900113" y="4149725"/>
              <a:ext cx="431800" cy="21590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39" name="Line 13"/>
            <p:cNvSpPr>
              <a:spLocks noChangeShapeType="1"/>
            </p:cNvSpPr>
            <p:nvPr/>
          </p:nvSpPr>
          <p:spPr bwMode="auto">
            <a:xfrm flipV="1">
              <a:off x="2771774" y="5046508"/>
              <a:ext cx="913600" cy="83041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40" name="Text Box 14"/>
            <p:cNvSpPr txBox="1">
              <a:spLocks noChangeArrowheads="1"/>
            </p:cNvSpPr>
            <p:nvPr/>
          </p:nvSpPr>
          <p:spPr bwMode="auto">
            <a:xfrm>
              <a:off x="162910" y="5713979"/>
              <a:ext cx="1366161" cy="289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device registers</a:t>
              </a:r>
            </a:p>
          </p:txBody>
        </p:sp>
        <p:sp>
          <p:nvSpPr>
            <p:cNvPr id="22543" name="Rectangle 18"/>
            <p:cNvSpPr>
              <a:spLocks noChangeArrowheads="1"/>
            </p:cNvSpPr>
            <p:nvPr/>
          </p:nvSpPr>
          <p:spPr bwMode="auto">
            <a:xfrm>
              <a:off x="3560602" y="4424319"/>
              <a:ext cx="215900" cy="576262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44" name="Rectangle 19"/>
            <p:cNvSpPr>
              <a:spLocks noChangeArrowheads="1"/>
            </p:cNvSpPr>
            <p:nvPr/>
          </p:nvSpPr>
          <p:spPr bwMode="auto">
            <a:xfrm>
              <a:off x="6373893" y="4421187"/>
              <a:ext cx="215900" cy="576262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45" name="Rectangle 20"/>
            <p:cNvSpPr>
              <a:spLocks noChangeArrowheads="1"/>
            </p:cNvSpPr>
            <p:nvPr/>
          </p:nvSpPr>
          <p:spPr bwMode="auto">
            <a:xfrm>
              <a:off x="7830596" y="4421187"/>
              <a:ext cx="196557" cy="555625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47" name="Line 22"/>
            <p:cNvSpPr>
              <a:spLocks noChangeShapeType="1"/>
            </p:cNvSpPr>
            <p:nvPr/>
          </p:nvSpPr>
          <p:spPr bwMode="auto">
            <a:xfrm flipV="1">
              <a:off x="1258888" y="5046508"/>
              <a:ext cx="1152525" cy="687541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48" name="Text Box 23"/>
            <p:cNvSpPr txBox="1">
              <a:spLocks noChangeArrowheads="1"/>
            </p:cNvSpPr>
            <p:nvPr/>
          </p:nvSpPr>
          <p:spPr bwMode="auto">
            <a:xfrm>
              <a:off x="2318724" y="5899589"/>
              <a:ext cx="1197924" cy="324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Local buffer</a:t>
              </a:r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75928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何謂中斷</a:t>
            </a:r>
            <a:r>
              <a:rPr lang="en-US" altLang="zh-TW" dirty="0"/>
              <a:t>?</a:t>
            </a:r>
            <a:r>
              <a:rPr lang="zh-TW" altLang="en-US" dirty="0"/>
              <a:t>中斷的用途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037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Interrupts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solidFill>
                  <a:srgbClr val="FF3300"/>
                </a:solidFill>
              </a:rPr>
              <a:t>Interrupt</a:t>
            </a:r>
            <a:r>
              <a:rPr lang="en-US" altLang="zh-TW" sz="3600" dirty="0"/>
              <a:t>: </a:t>
            </a:r>
          </a:p>
          <a:p>
            <a:pPr lvl="1"/>
            <a:r>
              <a:rPr lang="en-US" altLang="zh-TW" sz="3200" dirty="0"/>
              <a:t>Device controllers signal CPUs an occurrence of a </a:t>
            </a:r>
            <a:r>
              <a:rPr lang="en-US" altLang="zh-TW" sz="3200" b="1" dirty="0"/>
              <a:t>hardware event.</a:t>
            </a:r>
            <a:r>
              <a:rPr lang="en-US" altLang="zh-TW" sz="3200" dirty="0"/>
              <a:t> </a:t>
            </a:r>
          </a:p>
          <a:p>
            <a:pPr lvl="1"/>
            <a:endParaRPr lang="en-US" altLang="zh-TW" sz="3200" dirty="0"/>
          </a:p>
          <a:p>
            <a:pPr lvl="1"/>
            <a:r>
              <a:rPr lang="en-US" altLang="zh-TW" sz="3200" dirty="0"/>
              <a:t>E.g., the completion of an I/O, a keypress, 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83473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Question</a:t>
            </a:r>
            <a:r>
              <a:rPr lang="zh-TW" altLang="en-US" sz="4000" dirty="0"/>
              <a:t> </a:t>
            </a:r>
            <a:r>
              <a:rPr lang="en-US" altLang="zh-TW" sz="4000" dirty="0"/>
              <a:t>: </a:t>
            </a:r>
            <a:r>
              <a:rPr lang="zh-TW" altLang="en-US" sz="4000" dirty="0"/>
              <a:t>中斷處理的整個過程</a:t>
            </a:r>
            <a:r>
              <a:rPr lang="en-US" altLang="zh-TW" sz="4000" dirty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4626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Steps in Interrupts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 general</a:t>
            </a:r>
          </a:p>
          <a:p>
            <a:pPr lvl="1"/>
            <a:r>
              <a:rPr lang="en-US" altLang="zh-TW" dirty="0"/>
              <a:t>Device controller </a:t>
            </a:r>
            <a:r>
              <a:rPr lang="en-US" altLang="zh-TW" b="1" dirty="0">
                <a:solidFill>
                  <a:srgbClr val="FF3300"/>
                </a:solidFill>
              </a:rPr>
              <a:t>raises</a:t>
            </a:r>
            <a:r>
              <a:rPr lang="en-US" altLang="zh-TW" dirty="0"/>
              <a:t> an interrupt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CPU </a:t>
            </a:r>
            <a:r>
              <a:rPr lang="en-US" altLang="zh-TW" b="1" dirty="0">
                <a:solidFill>
                  <a:srgbClr val="FF3300"/>
                </a:solidFill>
              </a:rPr>
              <a:t>catches</a:t>
            </a:r>
            <a:r>
              <a:rPr lang="en-US" altLang="zh-TW" dirty="0"/>
              <a:t> the interrupt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CPU </a:t>
            </a:r>
            <a:r>
              <a:rPr lang="en-US" altLang="zh-TW" b="1" dirty="0">
                <a:solidFill>
                  <a:srgbClr val="FF3300"/>
                </a:solidFill>
              </a:rPr>
              <a:t>dispatches</a:t>
            </a:r>
            <a:r>
              <a:rPr lang="en-US" altLang="zh-TW" dirty="0"/>
              <a:t> it to the </a:t>
            </a:r>
            <a:r>
              <a:rPr lang="en-US" altLang="zh-TW" b="1" dirty="0"/>
              <a:t>interrupt handler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Interrupt handlers </a:t>
            </a:r>
            <a:r>
              <a:rPr lang="en-US" altLang="zh-TW" b="1" dirty="0">
                <a:solidFill>
                  <a:srgbClr val="FF3300"/>
                </a:solidFill>
              </a:rPr>
              <a:t>serve</a:t>
            </a:r>
            <a:r>
              <a:rPr lang="en-US" altLang="zh-TW" dirty="0"/>
              <a:t> the interrupt</a:t>
            </a: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3880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Steps in Interrupts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 general</a:t>
            </a:r>
          </a:p>
          <a:p>
            <a:pPr lvl="1"/>
            <a:r>
              <a:rPr lang="en-US" altLang="zh-TW" b="1" dirty="0">
                <a:solidFill>
                  <a:srgbClr val="0000CC"/>
                </a:solidFill>
              </a:rPr>
              <a:t>Device controller raises an interrupt</a:t>
            </a:r>
          </a:p>
          <a:p>
            <a:pPr lvl="1"/>
            <a:endParaRPr lang="en-US" altLang="zh-TW" dirty="0">
              <a:solidFill>
                <a:srgbClr val="0000CC"/>
              </a:solidFill>
            </a:endParaRPr>
          </a:p>
          <a:p>
            <a:pPr lvl="1"/>
            <a:r>
              <a:rPr lang="en-US" altLang="zh-TW" dirty="0"/>
              <a:t>CPU catches the interrupt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CPU dispatches it to the interrupt handler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Interrupt handlers serve the interrupt</a:t>
            </a: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6118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Question: Device Controller</a:t>
            </a:r>
            <a:r>
              <a:rPr lang="zh-TW" altLang="en-US" sz="4000" dirty="0"/>
              <a:t>如何觸發中斷</a:t>
            </a:r>
            <a:r>
              <a:rPr lang="en-US" altLang="zh-TW" sz="4000" dirty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914400" lvl="2" indent="0" algn="ctr">
              <a:buNone/>
            </a:pPr>
            <a:r>
              <a:rPr lang="en-US" altLang="zh-TW" sz="3600" b="1" dirty="0" err="1">
                <a:solidFill>
                  <a:srgbClr val="0000CC"/>
                </a:solidFill>
              </a:rPr>
              <a:t>Ans</a:t>
            </a:r>
            <a:r>
              <a:rPr lang="en-US" altLang="zh-TW" sz="3600" b="1" dirty="0">
                <a:solidFill>
                  <a:srgbClr val="0000CC"/>
                </a:solidFill>
              </a:rPr>
              <a:t>: By asserting a signal on the </a:t>
            </a:r>
            <a:r>
              <a:rPr lang="en-US" altLang="zh-TW" sz="3600" b="1" dirty="0">
                <a:solidFill>
                  <a:srgbClr val="FF0000"/>
                </a:solidFill>
              </a:rPr>
              <a:t>interrupt-request line</a:t>
            </a:r>
          </a:p>
        </p:txBody>
      </p:sp>
    </p:spTree>
    <p:extLst>
      <p:ext uri="{BB962C8B-B14F-4D97-AF65-F5344CB8AC3E}">
        <p14:creationId xmlns:p14="http://schemas.microsoft.com/office/powerpoint/2010/main" val="1999254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Interrupt Hardware Concepts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151784" y="6590130"/>
            <a:ext cx="667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i="1" dirty="0">
                <a:latin typeface="Calibri" panose="020F0502020204030204" pitchFamily="34" charset="0"/>
              </a:rPr>
              <a:t>https://www.renesas.com/eu/en/support/engineer-school/mcu-programming-peripherals-04-interrupts</a:t>
            </a:r>
            <a:endParaRPr lang="zh-TW" altLang="en-US" sz="1200" i="1" dirty="0">
              <a:latin typeface="Calibri" panose="020F0502020204030204" pitchFamily="34" charset="0"/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6110816" y="5242925"/>
            <a:ext cx="3081527" cy="426054"/>
          </a:xfrm>
          <a:prstGeom prst="wedgeRoundRectCallout">
            <a:avLst>
              <a:gd name="adj1" fmla="val -29971"/>
              <a:gd name="adj2" fmla="val -33597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Device raise an interrupt</a:t>
            </a:r>
            <a:endParaRPr lang="zh-TW" altLang="en-US" sz="1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1627611" y="1609752"/>
            <a:ext cx="6192688" cy="3019425"/>
            <a:chOff x="1553281" y="2001963"/>
            <a:chExt cx="3590269" cy="3019425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3281" y="2001963"/>
              <a:ext cx="2886075" cy="3019425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7275" y="4005064"/>
              <a:ext cx="676275" cy="466725"/>
            </a:xfrm>
            <a:prstGeom prst="rect">
              <a:avLst/>
            </a:prstGeom>
          </p:spPr>
        </p:pic>
      </p:grp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727848" y="4084470"/>
            <a:ext cx="1656184" cy="852109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754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Steps in Interrupts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 general</a:t>
            </a:r>
          </a:p>
          <a:p>
            <a:pPr lvl="1"/>
            <a:r>
              <a:rPr lang="en-US" altLang="zh-TW" dirty="0"/>
              <a:t>Device controller raises an interrupt</a:t>
            </a:r>
          </a:p>
          <a:p>
            <a:pPr lvl="1"/>
            <a:endParaRPr lang="en-US" altLang="zh-TW" dirty="0">
              <a:solidFill>
                <a:srgbClr val="0000CC"/>
              </a:solidFill>
            </a:endParaRPr>
          </a:p>
          <a:p>
            <a:pPr lvl="1"/>
            <a:r>
              <a:rPr lang="en-US" altLang="zh-TW" b="1" dirty="0">
                <a:solidFill>
                  <a:srgbClr val="0000CC"/>
                </a:solidFill>
              </a:rPr>
              <a:t>CPU catches the interrupt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CPU dispatches it to the interrupt handler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Interrupt handlers serve the interrupt</a:t>
            </a: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01404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Interrupt Hardware Concepts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151784" y="6590130"/>
            <a:ext cx="667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i="1" dirty="0">
                <a:latin typeface="Calibri" panose="020F0502020204030204" pitchFamily="34" charset="0"/>
              </a:rPr>
              <a:t>https://www.renesas.com/eu/en/support/engineer-school/mcu-programming-peripherals-04-interrupts</a:t>
            </a:r>
            <a:endParaRPr lang="zh-TW" altLang="en-US" sz="1200" i="1" dirty="0">
              <a:latin typeface="Calibri" panose="020F0502020204030204" pitchFamily="34" charset="0"/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6110816" y="5242925"/>
            <a:ext cx="3081527" cy="426054"/>
          </a:xfrm>
          <a:prstGeom prst="wedgeRoundRectCallout">
            <a:avLst>
              <a:gd name="adj1" fmla="val -29971"/>
              <a:gd name="adj2" fmla="val -33597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Device raise an interrupt</a:t>
            </a:r>
            <a:endParaRPr lang="zh-TW" altLang="en-US" sz="1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圓角矩形圖說文字 12"/>
          <p:cNvSpPr/>
          <p:nvPr/>
        </p:nvSpPr>
        <p:spPr>
          <a:xfrm>
            <a:off x="2855640" y="5586420"/>
            <a:ext cx="2376264" cy="426054"/>
          </a:xfrm>
          <a:prstGeom prst="wedgeRoundRectCallout">
            <a:avLst>
              <a:gd name="adj1" fmla="val 17259"/>
              <a:gd name="adj2" fmla="val -268769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CPU catch an interrupt</a:t>
            </a:r>
            <a:endParaRPr lang="zh-TW" altLang="en-US" sz="1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1627611" y="1609752"/>
            <a:ext cx="6192688" cy="3019425"/>
            <a:chOff x="1553281" y="2001963"/>
            <a:chExt cx="3590269" cy="3019425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3281" y="2001963"/>
              <a:ext cx="2886075" cy="3019425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7275" y="4005064"/>
              <a:ext cx="676275" cy="466725"/>
            </a:xfrm>
            <a:prstGeom prst="rect">
              <a:avLst/>
            </a:prstGeom>
          </p:spPr>
        </p:pic>
      </p:grp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727848" y="4084470"/>
            <a:ext cx="1656184" cy="852109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3556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Question</a:t>
            </a:r>
            <a:r>
              <a:rPr lang="zh-TW" altLang="en-US" sz="4000" dirty="0"/>
              <a:t> </a:t>
            </a:r>
            <a:r>
              <a:rPr lang="en-US" altLang="zh-TW" sz="4000" dirty="0"/>
              <a:t>: CPU</a:t>
            </a:r>
            <a:r>
              <a:rPr lang="zh-TW" altLang="en-US" sz="4000" dirty="0"/>
              <a:t>接收到中斷後怎麼辦呢</a:t>
            </a:r>
            <a:r>
              <a:rPr lang="en-US" altLang="zh-TW" sz="4000" dirty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3882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Steps in Interrupts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 general</a:t>
            </a:r>
          </a:p>
          <a:p>
            <a:pPr lvl="1"/>
            <a:r>
              <a:rPr lang="en-US" altLang="zh-TW" dirty="0"/>
              <a:t>Device controller raises an interrupt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CPU catches the interrupt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b="1" dirty="0">
                <a:solidFill>
                  <a:srgbClr val="0000CC"/>
                </a:solidFill>
              </a:rPr>
              <a:t>CPU dispatches it to the interrupt handler</a:t>
            </a:r>
          </a:p>
          <a:p>
            <a:pPr lvl="1"/>
            <a:endParaRPr lang="en-US" altLang="zh-TW" b="1" dirty="0">
              <a:solidFill>
                <a:srgbClr val="0000CC"/>
              </a:solidFill>
            </a:endParaRPr>
          </a:p>
          <a:p>
            <a:pPr lvl="1"/>
            <a:r>
              <a:rPr lang="en-US" altLang="zh-TW" dirty="0"/>
              <a:t>Interrupt handlers serve the interrupt</a:t>
            </a: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3728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Interrupts Dispatches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sz="3600" dirty="0"/>
              <a:t>Upon CPU</a:t>
            </a:r>
            <a:r>
              <a:rPr lang="zh-TW" altLang="en-US" sz="3600" dirty="0"/>
              <a:t> </a:t>
            </a:r>
            <a:r>
              <a:rPr lang="en-US" altLang="zh-TW" sz="3600" dirty="0"/>
              <a:t>catches an interrupt occurs, </a:t>
            </a:r>
            <a:r>
              <a:rPr lang="en-US" altLang="zh-TW" sz="3600" b="1" dirty="0">
                <a:solidFill>
                  <a:srgbClr val="FF0000"/>
                </a:solidFill>
              </a:rPr>
              <a:t>CPU is</a:t>
            </a:r>
            <a:r>
              <a:rPr lang="zh-TW" altLang="en-US" sz="3600" b="1" dirty="0">
                <a:solidFill>
                  <a:srgbClr val="FF0000"/>
                </a:solidFill>
              </a:rPr>
              <a:t> </a:t>
            </a:r>
            <a:r>
              <a:rPr lang="en-US" altLang="zh-TW" sz="3600" b="1" dirty="0">
                <a:solidFill>
                  <a:srgbClr val="FF0000"/>
                </a:solidFill>
              </a:rPr>
              <a:t>interrupted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600"/>
              </a:spcBef>
            </a:pPr>
            <a:endParaRPr lang="en-US" altLang="zh-TW" sz="3200" dirty="0"/>
          </a:p>
          <a:p>
            <a:pPr lvl="1" eaLnBrk="1" hangingPunct="1">
              <a:spcBef>
                <a:spcPts val="600"/>
              </a:spcBef>
            </a:pPr>
            <a:r>
              <a:rPr lang="en-US" altLang="zh-TW" sz="3200" dirty="0"/>
              <a:t>CPU stops what it is doing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sz="3200" dirty="0"/>
          </a:p>
          <a:p>
            <a:pPr lvl="1" eaLnBrk="1" hangingPunct="1">
              <a:spcBef>
                <a:spcPts val="600"/>
              </a:spcBef>
            </a:pPr>
            <a:r>
              <a:rPr lang="en-US" altLang="zh-TW" sz="3200" dirty="0"/>
              <a:t>CPU transfers execution to a </a:t>
            </a:r>
            <a:r>
              <a:rPr lang="en-US" altLang="zh-TW" sz="3200" b="1" dirty="0">
                <a:solidFill>
                  <a:srgbClr val="FF3300"/>
                </a:solidFill>
              </a:rPr>
              <a:t>fixed address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sz="2800" dirty="0"/>
              <a:t>Executes the </a:t>
            </a:r>
            <a:r>
              <a:rPr lang="en-US" altLang="zh-TW" sz="2800" b="1" dirty="0">
                <a:solidFill>
                  <a:srgbClr val="FF3300"/>
                </a:solidFill>
              </a:rPr>
              <a:t>interrupt service routine (ISR)</a:t>
            </a:r>
            <a:r>
              <a:rPr lang="en-US" altLang="zh-TW" sz="2800" dirty="0"/>
              <a:t> for the interrupt</a:t>
            </a:r>
          </a:p>
          <a:p>
            <a:pPr eaLnBrk="1" hangingPunct="1">
              <a:spcBef>
                <a:spcPts val="600"/>
              </a:spcBef>
            </a:pPr>
            <a:endParaRPr lang="en-US" altLang="zh-TW" sz="4000" b="1" dirty="0"/>
          </a:p>
          <a:p>
            <a:pPr>
              <a:spcBef>
                <a:spcPts val="600"/>
              </a:spcBef>
            </a:pPr>
            <a:endParaRPr lang="zh-TW" altLang="en-US" sz="40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85413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CPU Dispatch an Interrupt to ISR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11900" y="1484314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mov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0x60;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</p:txBody>
      </p:sp>
      <p:cxnSp>
        <p:nvCxnSpPr>
          <p:cNvPr id="9" name="直線單箭頭接點 8"/>
          <p:cNvCxnSpPr>
            <a:stCxn id="282627" idx="1"/>
            <a:endCxn id="282630" idx="3"/>
          </p:cNvCxnSpPr>
          <p:nvPr/>
        </p:nvCxnSpPr>
        <p:spPr>
          <a:xfrm flipH="1">
            <a:off x="4437064" y="2101850"/>
            <a:ext cx="1874837" cy="7239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11" idx="1"/>
          </p:cNvCxnSpPr>
          <p:nvPr/>
        </p:nvCxnSpPr>
        <p:spPr>
          <a:xfrm>
            <a:off x="4437062" y="2825751"/>
            <a:ext cx="1874838" cy="326199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311900" y="5735002"/>
            <a:ext cx="2260600" cy="705486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Interrupt Service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Routine (ISR)</a:t>
            </a: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3359697" y="3463927"/>
            <a:ext cx="1" cy="68659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3392611" y="3687247"/>
            <a:ext cx="104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interrupt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6" name="圓角矩形圖說文字 15"/>
          <p:cNvSpPr/>
          <p:nvPr/>
        </p:nvSpPr>
        <p:spPr>
          <a:xfrm>
            <a:off x="2423592" y="5229201"/>
            <a:ext cx="3193822" cy="1081867"/>
          </a:xfrm>
          <a:prstGeom prst="wedgeRoundRectCallout">
            <a:avLst>
              <a:gd name="adj1" fmla="val 34707"/>
              <a:gd name="adj2" fmla="val -146778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CPU dispatch an interrupt to ISR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572500" y="1933209"/>
            <a:ext cx="105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b="1" dirty="0"/>
              <a:t>0x1000</a:t>
            </a:r>
            <a:endParaRPr lang="zh-TW" altLang="en-US" sz="1800" b="1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488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Steps in Interrupts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 general</a:t>
            </a:r>
          </a:p>
          <a:p>
            <a:pPr lvl="1"/>
            <a:r>
              <a:rPr lang="en-US" altLang="zh-TW" dirty="0"/>
              <a:t>Device controller raises an interrupt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CPU catches the interrupt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CPU dispatches it to the interrupt handler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b="1" dirty="0">
                <a:solidFill>
                  <a:srgbClr val="0000CC"/>
                </a:solidFill>
              </a:rPr>
              <a:t>Interrupt handlers serve the interrupts</a:t>
            </a: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77199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Interrupt Handler (Interrupt</a:t>
            </a:r>
            <a:r>
              <a:rPr lang="zh-TW" altLang="en-US" dirty="0"/>
              <a:t> </a:t>
            </a:r>
            <a:r>
              <a:rPr lang="en-US" altLang="zh-TW" dirty="0"/>
              <a:t>Service Routine)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/>
              <a:t>Interrupt handler (Interrupt service routine)</a:t>
            </a:r>
          </a:p>
          <a:p>
            <a:pPr lvl="1" eaLnBrk="1" hangingPunct="1"/>
            <a:r>
              <a:rPr lang="en-US" altLang="zh-TW" sz="3200" dirty="0">
                <a:solidFill>
                  <a:srgbClr val="FF0000"/>
                </a:solidFill>
              </a:rPr>
              <a:t>Perform a </a:t>
            </a:r>
            <a:r>
              <a:rPr lang="en-US" altLang="zh-TW" sz="3200" b="1" dirty="0">
                <a:solidFill>
                  <a:srgbClr val="0000CC"/>
                </a:solidFill>
              </a:rPr>
              <a:t>state save</a:t>
            </a:r>
            <a:endParaRPr lang="en-US" altLang="zh-TW" sz="3200" dirty="0">
              <a:solidFill>
                <a:srgbClr val="0000CC"/>
              </a:solidFill>
            </a:endParaRPr>
          </a:p>
          <a:p>
            <a:pPr lvl="1" eaLnBrk="1" hangingPunct="1"/>
            <a:endParaRPr lang="en-US" altLang="zh-TW" sz="3200" dirty="0"/>
          </a:p>
          <a:p>
            <a:pPr lvl="1" eaLnBrk="1" hangingPunct="1"/>
            <a:r>
              <a:rPr lang="en-US" altLang="zh-TW" sz="3200" dirty="0"/>
              <a:t>Service the interrupt</a:t>
            </a:r>
          </a:p>
          <a:p>
            <a:pPr lvl="1" eaLnBrk="1" hangingPunct="1"/>
            <a:endParaRPr lang="en-US" altLang="zh-TW" sz="32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TW" sz="3200" dirty="0">
                <a:solidFill>
                  <a:srgbClr val="FF0000"/>
                </a:solidFill>
              </a:rPr>
              <a:t>Perform a </a:t>
            </a:r>
            <a:r>
              <a:rPr lang="en-US" altLang="zh-TW" sz="3200" b="1" dirty="0">
                <a:solidFill>
                  <a:srgbClr val="0000CC"/>
                </a:solidFill>
              </a:rPr>
              <a:t>state restore</a:t>
            </a:r>
          </a:p>
          <a:p>
            <a:pPr lvl="1" eaLnBrk="1" hangingPunct="1"/>
            <a:endParaRPr lang="en-US" altLang="zh-TW" sz="3200" dirty="0"/>
          </a:p>
          <a:p>
            <a:pPr lvl="1" eaLnBrk="1" hangingPunct="1"/>
            <a:r>
              <a:rPr lang="en-US" altLang="zh-TW" sz="3200" dirty="0"/>
              <a:t>Executes a </a:t>
            </a:r>
            <a:r>
              <a:rPr lang="en-US" altLang="zh-TW" sz="3200" i="1" dirty="0" err="1">
                <a:solidFill>
                  <a:srgbClr val="FF0000"/>
                </a:solidFill>
              </a:rPr>
              <a:t>retrun_from_interrupt</a:t>
            </a:r>
            <a:r>
              <a:rPr lang="en-US" altLang="zh-TW" sz="3200" dirty="0">
                <a:solidFill>
                  <a:srgbClr val="FF0000"/>
                </a:solidFill>
              </a:rPr>
              <a:t> </a:t>
            </a:r>
            <a:r>
              <a:rPr lang="en-US" altLang="zh-TW" sz="3200" dirty="0"/>
              <a:t>instruction</a:t>
            </a:r>
          </a:p>
          <a:p>
            <a:pPr eaLnBrk="1" hangingPunct="1"/>
            <a:endParaRPr lang="en-US" altLang="zh-TW" sz="4000" b="1" dirty="0"/>
          </a:p>
          <a:p>
            <a:endParaRPr lang="zh-TW" altLang="en-US" sz="40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9125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/>
                </a:solidFill>
              </a:rPr>
              <a:t>問題</a:t>
            </a:r>
            <a:r>
              <a:rPr lang="en-US" altLang="zh-TW">
                <a:solidFill>
                  <a:schemeClr val="tx1"/>
                </a:solidFill>
              </a:rPr>
              <a:t>: </a:t>
            </a:r>
            <a:r>
              <a:rPr lang="zh-TW" altLang="en-US">
                <a:solidFill>
                  <a:schemeClr val="tx1"/>
                </a:solidFill>
              </a:rPr>
              <a:t>為什麼要儲存</a:t>
            </a:r>
            <a:r>
              <a:rPr lang="en-US" altLang="zh-TW">
                <a:solidFill>
                  <a:schemeClr val="tx1"/>
                </a:solidFill>
              </a:rPr>
              <a:t>state?</a:t>
            </a:r>
            <a:r>
              <a:rPr lang="zh-TW" altLang="en-US">
                <a:solidFill>
                  <a:schemeClr val="tx1"/>
                </a:solidFill>
              </a:rPr>
              <a:t>然後復原</a:t>
            </a:r>
            <a:r>
              <a:rPr lang="en-US" altLang="zh-TW">
                <a:solidFill>
                  <a:schemeClr val="tx1"/>
                </a:solidFill>
              </a:rPr>
              <a:t>state?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819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ffectLst/>
              </a:rPr>
              <a:t>Without State Save and Restore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mov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0x60;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9" name="直線單箭頭接點 8"/>
          <p:cNvCxnSpPr>
            <a:endCxn id="282630" idx="3"/>
          </p:cNvCxnSpPr>
          <p:nvPr/>
        </p:nvCxnSpPr>
        <p:spPr>
          <a:xfrm flipH="1">
            <a:off x="4437064" y="1988840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11" idx="1"/>
          </p:cNvCxnSpPr>
          <p:nvPr/>
        </p:nvCxnSpPr>
        <p:spPr>
          <a:xfrm>
            <a:off x="4437062" y="2825751"/>
            <a:ext cx="1874838" cy="326199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311900" y="5735002"/>
            <a:ext cx="2260600" cy="705486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Interrupt Service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Routine (ISR)</a:t>
            </a: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3359697" y="3463927"/>
            <a:ext cx="1" cy="68659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3392611" y="3687247"/>
            <a:ext cx="104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interrupt</a:t>
            </a:r>
            <a:endParaRPr lang="zh-TW" altLang="en-US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609275"/>
              </p:ext>
            </p:extLst>
          </p:nvPr>
        </p:nvGraphicFramePr>
        <p:xfrm>
          <a:off x="2807494" y="262074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81590"/>
              </p:ext>
            </p:extLst>
          </p:nvPr>
        </p:nvGraphicFramePr>
        <p:xfrm>
          <a:off x="2812007" y="2620744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59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25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H="1">
            <a:off x="4475712" y="2336205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箭號 (左彎) 7"/>
          <p:cNvSpPr/>
          <p:nvPr/>
        </p:nvSpPr>
        <p:spPr>
          <a:xfrm flipV="1">
            <a:off x="8673479" y="2188568"/>
            <a:ext cx="731520" cy="389917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" name="乘號 2"/>
          <p:cNvSpPr/>
          <p:nvPr/>
        </p:nvSpPr>
        <p:spPr>
          <a:xfrm>
            <a:off x="3474635" y="2549525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831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/>
      <p:bldP spid="8" grpId="0" animBg="1"/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怎麼辦呢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88362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ffectLst/>
              </a:rPr>
              <a:t>With State Save and Restore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mov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0x60;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9" name="直線單箭頭接點 8"/>
          <p:cNvCxnSpPr>
            <a:endCxn id="282630" idx="3"/>
          </p:cNvCxnSpPr>
          <p:nvPr/>
        </p:nvCxnSpPr>
        <p:spPr>
          <a:xfrm flipH="1">
            <a:off x="4437064" y="1988840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11" idx="1"/>
          </p:cNvCxnSpPr>
          <p:nvPr/>
        </p:nvCxnSpPr>
        <p:spPr>
          <a:xfrm>
            <a:off x="4437062" y="2825751"/>
            <a:ext cx="1874838" cy="326199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311900" y="5735002"/>
            <a:ext cx="2260600" cy="705486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Interrupt Service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Routine (ISR)</a:t>
            </a: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3359697" y="3463927"/>
            <a:ext cx="1" cy="68659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3392611" y="3687247"/>
            <a:ext cx="104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interrupt</a:t>
            </a:r>
            <a:endParaRPr lang="zh-TW" altLang="en-US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07494" y="262074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111904"/>
              </p:ext>
            </p:extLst>
          </p:nvPr>
        </p:nvGraphicFramePr>
        <p:xfrm>
          <a:off x="2816274" y="262074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59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25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H="1">
            <a:off x="4475712" y="2336205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箭號 (左彎) 7"/>
          <p:cNvSpPr/>
          <p:nvPr/>
        </p:nvSpPr>
        <p:spPr>
          <a:xfrm flipV="1">
            <a:off x="8673479" y="2188568"/>
            <a:ext cx="731520" cy="389917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316661" y="4501445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=10;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=5;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……</a:t>
            </a: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4208080" y="3022324"/>
            <a:ext cx="2099059" cy="1774829"/>
          </a:xfrm>
          <a:prstGeom prst="straightConnector1">
            <a:avLst/>
          </a:prstGeom>
          <a:ln w="76200">
            <a:solidFill>
              <a:srgbClr val="0033C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 flipV="1">
            <a:off x="4207717" y="3280272"/>
            <a:ext cx="2099422" cy="1754745"/>
          </a:xfrm>
          <a:prstGeom prst="straightConnector1">
            <a:avLst/>
          </a:prstGeom>
          <a:ln w="76200">
            <a:solidFill>
              <a:srgbClr val="0033C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8007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/>
      <p:bldP spid="8" grpId="0" animBg="1"/>
      <p:bldP spid="16" grpId="0" animBg="1"/>
      <p:bldP spid="16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所以</a:t>
            </a:r>
            <a:r>
              <a:rPr lang="en-US" altLang="zh-TW" dirty="0"/>
              <a:t>, </a:t>
            </a:r>
            <a:r>
              <a:rPr lang="zh-TW" altLang="en-US" dirty="0"/>
              <a:t>完整</a:t>
            </a:r>
            <a:r>
              <a:rPr lang="en-US" altLang="zh-TW" dirty="0"/>
              <a:t>Interrupt</a:t>
            </a:r>
            <a:r>
              <a:rPr lang="zh-TW" altLang="en-US" dirty="0"/>
              <a:t> </a:t>
            </a:r>
            <a:r>
              <a:rPr lang="en-US" altLang="zh-TW" dirty="0"/>
              <a:t>Handler</a:t>
            </a:r>
            <a:r>
              <a:rPr lang="zh-TW" altLang="en-US" dirty="0"/>
              <a:t>的處理過程是如何呢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2548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dirty="0">
                <a:effectLst/>
              </a:rPr>
              <a:t>State Save and Restore</a:t>
            </a:r>
            <a:endParaRPr lang="zh-TW" altLang="en-US" dirty="0">
              <a:effectLst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900833" y="5213915"/>
            <a:ext cx="2303462" cy="1511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CPU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=10, </a:t>
            </a:r>
            <a:r>
              <a:rPr lang="en-US" altLang="zh-TW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ebx</a:t>
            </a:r>
            <a:r>
              <a:rPr lang="en-US" altLang="zh-TW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=5,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altLang="zh-TW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=9, </a:t>
            </a:r>
            <a:r>
              <a:rPr lang="en-US" altLang="zh-TW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altLang="zh-TW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=11</a:t>
            </a:r>
          </a:p>
          <a:p>
            <a:pPr algn="ctr"/>
            <a:r>
              <a:rPr lang="en-US" altLang="zh-TW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pc= 0x1000</a:t>
            </a:r>
            <a:r>
              <a:rPr lang="en-US" altLang="zh-TW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altLang="zh-TW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" name="群組 47"/>
          <p:cNvGrpSpPr>
            <a:grpSpLocks/>
          </p:cNvGrpSpPr>
          <p:nvPr/>
        </p:nvGrpSpPr>
        <p:grpSpPr bwMode="auto">
          <a:xfrm>
            <a:off x="5087938" y="1341438"/>
            <a:ext cx="1655762" cy="1727200"/>
            <a:chOff x="1547664" y="1340768"/>
            <a:chExt cx="1656184" cy="1728192"/>
          </a:xfrm>
        </p:grpSpPr>
        <p:sp>
          <p:nvSpPr>
            <p:cNvPr id="19" name="矩形 18"/>
            <p:cNvSpPr/>
            <p:nvPr/>
          </p:nvSpPr>
          <p:spPr>
            <a:xfrm>
              <a:off x="1547664" y="1340768"/>
              <a:ext cx="165618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PC=0x1000</a:t>
              </a:r>
              <a:endParaRPr lang="zh-TW" altLang="en-US" sz="16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547664" y="1772816"/>
              <a:ext cx="165618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600" b="1" dirty="0" err="1">
                  <a:solidFill>
                    <a:srgbClr val="FF0000"/>
                  </a:solidFill>
                  <a:latin typeface="Calibri" panose="020F0502020204030204" pitchFamily="34" charset="0"/>
                </a:rPr>
                <a:t>eax</a:t>
              </a: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=10, </a:t>
              </a:r>
              <a:r>
                <a:rPr lang="en-US" altLang="zh-TW" sz="1600" b="1" dirty="0" err="1">
                  <a:solidFill>
                    <a:srgbClr val="FF0000"/>
                  </a:solidFill>
                  <a:latin typeface="Calibri" panose="020F0502020204030204" pitchFamily="34" charset="0"/>
                </a:rPr>
                <a:t>ebx</a:t>
              </a: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=5</a:t>
              </a:r>
              <a:endParaRPr lang="zh-TW" altLang="en-US" sz="16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547664" y="2204864"/>
              <a:ext cx="165618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600" b="1" dirty="0" err="1">
                  <a:solidFill>
                    <a:srgbClr val="FF0000"/>
                  </a:solidFill>
                  <a:latin typeface="Calibri" panose="020F0502020204030204" pitchFamily="34" charset="0"/>
                </a:rPr>
                <a:t>ecx</a:t>
              </a: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 =9, </a:t>
              </a:r>
              <a:r>
                <a:rPr lang="en-US" altLang="zh-TW" sz="1600" b="1" dirty="0" err="1">
                  <a:solidFill>
                    <a:srgbClr val="FF0000"/>
                  </a:solidFill>
                  <a:latin typeface="Calibri" panose="020F0502020204030204" pitchFamily="34" charset="0"/>
                </a:rPr>
                <a:t>edx</a:t>
              </a: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 = 11</a:t>
              </a:r>
              <a:endParaRPr lang="zh-TW" altLang="en-US" sz="16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547664" y="2636912"/>
              <a:ext cx="165618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etc.</a:t>
              </a:r>
              <a:endParaRPr lang="zh-TW" altLang="en-US" sz="16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</p:grpSp>
      <p:cxnSp>
        <p:nvCxnSpPr>
          <p:cNvPr id="27" name="直線單箭頭接點 26"/>
          <p:cNvCxnSpPr/>
          <p:nvPr/>
        </p:nvCxnSpPr>
        <p:spPr>
          <a:xfrm rot="5400000" flipH="1" flipV="1">
            <a:off x="4619626" y="4113214"/>
            <a:ext cx="2087563" cy="1587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395" name="Rectangle 19"/>
          <p:cNvSpPr>
            <a:spLocks noChangeArrowheads="1"/>
          </p:cNvSpPr>
          <p:nvPr/>
        </p:nvSpPr>
        <p:spPr bwMode="auto">
          <a:xfrm>
            <a:off x="4295776" y="3860801"/>
            <a:ext cx="1223963" cy="72072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000" b="1" dirty="0">
                <a:latin typeface="Calibri" panose="020F0502020204030204" pitchFamily="34" charset="0"/>
              </a:rPr>
              <a:t>Interrupt </a:t>
            </a:r>
          </a:p>
          <a:p>
            <a:pPr algn="ctr">
              <a:defRPr/>
            </a:pPr>
            <a:r>
              <a:rPr lang="en-US" altLang="zh-TW" sz="2000" b="1" dirty="0">
                <a:latin typeface="Calibri" panose="020F0502020204030204" pitchFamily="34" charset="0"/>
              </a:rPr>
              <a:t>Start</a:t>
            </a:r>
            <a:endParaRPr lang="zh-TW" altLang="en-US" sz="2000" b="1" dirty="0">
              <a:latin typeface="Calibri" panose="020F0502020204030204" pitchFamily="34" charset="0"/>
            </a:endParaRPr>
          </a:p>
        </p:txBody>
      </p:sp>
      <p:grpSp>
        <p:nvGrpSpPr>
          <p:cNvPr id="3" name="群組 68"/>
          <p:cNvGrpSpPr>
            <a:grpSpLocks/>
          </p:cNvGrpSpPr>
          <p:nvPr/>
        </p:nvGrpSpPr>
        <p:grpSpPr bwMode="auto">
          <a:xfrm>
            <a:off x="2424113" y="4221163"/>
            <a:ext cx="1871662" cy="512762"/>
            <a:chOff x="899592" y="4221088"/>
            <a:chExt cx="1872208" cy="513348"/>
          </a:xfrm>
        </p:grpSpPr>
        <p:sp>
          <p:nvSpPr>
            <p:cNvPr id="11282" name="Text Box 4"/>
            <p:cNvSpPr txBox="1">
              <a:spLocks noChangeArrowheads="1"/>
            </p:cNvSpPr>
            <p:nvPr/>
          </p:nvSpPr>
          <p:spPr bwMode="auto">
            <a:xfrm>
              <a:off x="1115616" y="4365104"/>
              <a:ext cx="122565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latin typeface="Calibri" panose="020F0502020204030204" pitchFamily="34" charset="0"/>
                </a:rPr>
                <a:t>process P1</a:t>
              </a:r>
            </a:p>
          </p:txBody>
        </p:sp>
        <p:cxnSp>
          <p:nvCxnSpPr>
            <p:cNvPr id="34" name="直線單箭頭接點 33"/>
            <p:cNvCxnSpPr/>
            <p:nvPr/>
          </p:nvCxnSpPr>
          <p:spPr>
            <a:xfrm flipV="1">
              <a:off x="899592" y="4221088"/>
              <a:ext cx="187220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群組 67"/>
          <p:cNvGrpSpPr>
            <a:grpSpLocks/>
          </p:cNvGrpSpPr>
          <p:nvPr/>
        </p:nvGrpSpPr>
        <p:grpSpPr bwMode="auto">
          <a:xfrm>
            <a:off x="8183563" y="4221163"/>
            <a:ext cx="1801812" cy="512762"/>
            <a:chOff x="6660232" y="4221088"/>
            <a:chExt cx="1800895" cy="513348"/>
          </a:xfrm>
        </p:grpSpPr>
        <p:sp>
          <p:nvSpPr>
            <p:cNvPr id="11280" name="Text Box 4"/>
            <p:cNvSpPr txBox="1">
              <a:spLocks noChangeArrowheads="1"/>
            </p:cNvSpPr>
            <p:nvPr/>
          </p:nvSpPr>
          <p:spPr bwMode="auto">
            <a:xfrm>
              <a:off x="6660232" y="4365104"/>
              <a:ext cx="122565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latin typeface="Calibri" panose="020F0502020204030204" pitchFamily="34" charset="0"/>
                </a:rPr>
                <a:t>process P1</a:t>
              </a:r>
            </a:p>
          </p:txBody>
        </p:sp>
        <p:cxnSp>
          <p:nvCxnSpPr>
            <p:cNvPr id="38" name="直線單箭頭接點 37"/>
            <p:cNvCxnSpPr/>
            <p:nvPr/>
          </p:nvCxnSpPr>
          <p:spPr>
            <a:xfrm>
              <a:off x="6660232" y="4221088"/>
              <a:ext cx="1800895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字方塊 42"/>
          <p:cNvSpPr txBox="1">
            <a:spLocks noChangeArrowheads="1"/>
          </p:cNvSpPr>
          <p:nvPr/>
        </p:nvSpPr>
        <p:spPr bwMode="auto">
          <a:xfrm>
            <a:off x="5591176" y="3789364"/>
            <a:ext cx="84189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alibri" panose="020F0502020204030204" pitchFamily="34" charset="0"/>
              </a:rPr>
              <a:t>……</a:t>
            </a:r>
            <a:endParaRPr lang="zh-TW" altLang="en-US" b="1">
              <a:latin typeface="Calibri" panose="020F0502020204030204" pitchFamily="34" charset="0"/>
            </a:endParaRPr>
          </a:p>
        </p:txBody>
      </p:sp>
      <p:sp>
        <p:nvSpPr>
          <p:cNvPr id="46" name="Rectangle 19"/>
          <p:cNvSpPr>
            <a:spLocks noChangeArrowheads="1"/>
          </p:cNvSpPr>
          <p:nvPr/>
        </p:nvSpPr>
        <p:spPr bwMode="auto">
          <a:xfrm>
            <a:off x="6959601" y="3860801"/>
            <a:ext cx="1223963" cy="72072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000" b="1" dirty="0">
                <a:latin typeface="Calibri" panose="020F0502020204030204" pitchFamily="34" charset="0"/>
              </a:rPr>
              <a:t>Interrupt </a:t>
            </a:r>
          </a:p>
          <a:p>
            <a:pPr algn="ctr">
              <a:defRPr/>
            </a:pPr>
            <a:r>
              <a:rPr lang="en-US" altLang="zh-TW" sz="2000" b="1" dirty="0">
                <a:latin typeface="Calibri" panose="020F0502020204030204" pitchFamily="34" charset="0"/>
              </a:rPr>
              <a:t>End</a:t>
            </a:r>
            <a:endParaRPr lang="zh-TW" altLang="en-US" sz="2000" b="1" dirty="0">
              <a:latin typeface="Calibri" panose="020F0502020204030204" pitchFamily="34" charset="0"/>
            </a:endParaRPr>
          </a:p>
        </p:txBody>
      </p:sp>
      <p:cxnSp>
        <p:nvCxnSpPr>
          <p:cNvPr id="54" name="直線單箭頭接點 53"/>
          <p:cNvCxnSpPr/>
          <p:nvPr/>
        </p:nvCxnSpPr>
        <p:spPr>
          <a:xfrm rot="5400000" flipH="1" flipV="1">
            <a:off x="5303839" y="4148139"/>
            <a:ext cx="2160587" cy="1587"/>
          </a:xfrm>
          <a:prstGeom prst="straightConnector1">
            <a:avLst/>
          </a:prstGeom>
          <a:ln w="508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>
            <a:spLocks noChangeArrowheads="1"/>
          </p:cNvSpPr>
          <p:nvPr/>
        </p:nvSpPr>
        <p:spPr bwMode="auto">
          <a:xfrm>
            <a:off x="4872038" y="3213100"/>
            <a:ext cx="65954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>
                <a:latin typeface="Calibri" panose="020F0502020204030204" pitchFamily="34" charset="0"/>
                <a:cs typeface="Arial" charset="0"/>
              </a:rPr>
              <a:t>save</a:t>
            </a:r>
            <a:endParaRPr lang="zh-TW" altLang="en-US" sz="2000" b="1">
              <a:latin typeface="Calibri" panose="020F0502020204030204" pitchFamily="34" charset="0"/>
              <a:cs typeface="Arial" charset="0"/>
            </a:endParaRPr>
          </a:p>
        </p:txBody>
      </p:sp>
      <p:sp>
        <p:nvSpPr>
          <p:cNvPr id="58" name="文字方塊 57"/>
          <p:cNvSpPr txBox="1">
            <a:spLocks noChangeArrowheads="1"/>
          </p:cNvSpPr>
          <p:nvPr/>
        </p:nvSpPr>
        <p:spPr bwMode="auto">
          <a:xfrm>
            <a:off x="6456363" y="4652963"/>
            <a:ext cx="94455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  <a:cs typeface="Arial" charset="0"/>
              </a:rPr>
              <a:t>restore</a:t>
            </a:r>
            <a:endParaRPr lang="zh-TW" altLang="en-US" sz="2000" b="1" dirty="0">
              <a:latin typeface="Calibri" panose="020F0502020204030204" pitchFamily="34" charset="0"/>
              <a:cs typeface="Arial" charset="0"/>
            </a:endParaRPr>
          </a:p>
        </p:txBody>
      </p:sp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4907756" y="5209431"/>
            <a:ext cx="2303462" cy="15128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400" b="1" dirty="0">
                <a:latin typeface="Calibri" panose="020F0502020204030204" pitchFamily="34" charset="0"/>
              </a:rPr>
              <a:t>CPU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=6, </a:t>
            </a:r>
            <a:r>
              <a:rPr lang="en-US" altLang="zh-TW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ebx</a:t>
            </a:r>
            <a:r>
              <a:rPr lang="en-US" altLang="zh-TW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=9,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altLang="zh-TW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=3, </a:t>
            </a:r>
            <a:r>
              <a:rPr lang="en-US" altLang="zh-TW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altLang="zh-TW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=32</a:t>
            </a:r>
          </a:p>
          <a:p>
            <a:pPr algn="ctr"/>
            <a:r>
              <a:rPr lang="en-US" altLang="zh-TW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pc= 0x58000…</a:t>
            </a:r>
            <a:endParaRPr lang="en-US" altLang="zh-TW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7" name="Rectangle 4"/>
          <p:cNvSpPr>
            <a:spLocks noChangeArrowheads="1"/>
          </p:cNvSpPr>
          <p:nvPr/>
        </p:nvSpPr>
        <p:spPr bwMode="auto">
          <a:xfrm>
            <a:off x="4907756" y="5202414"/>
            <a:ext cx="2303462" cy="1512888"/>
          </a:xfrm>
          <a:prstGeom prst="rect">
            <a:avLst/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b="1" kern="0" dirty="0">
                <a:solidFill>
                  <a:sysClr val="windowText" lastClr="000000"/>
                </a:solidFill>
                <a:latin typeface="Calibri" panose="020F0502020204030204" pitchFamily="34" charset="0"/>
              </a:rPr>
              <a:t>CPU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kumimoji="0" lang="en-US" altLang="zh-TW" sz="18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=10, </a:t>
            </a:r>
            <a:r>
              <a:rPr kumimoji="0" lang="en-US" altLang="zh-TW" sz="18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ebx</a:t>
            </a:r>
            <a:r>
              <a:rPr kumimoji="0" lang="en-US" altLang="zh-TW" sz="18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=5,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kumimoji="0" lang="en-US" altLang="zh-TW" sz="18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=9, </a:t>
            </a:r>
            <a:r>
              <a:rPr kumimoji="0" lang="en-US" altLang="zh-TW" sz="18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kumimoji="0" lang="en-US" altLang="zh-TW" sz="18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=11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pc= 0x1000…</a:t>
            </a:r>
            <a:endParaRPr kumimoji="0" lang="en-US" altLang="zh-TW" sz="1800" b="1" kern="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826312" y="1722661"/>
            <a:ext cx="1261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memory</a:t>
            </a:r>
            <a:endParaRPr lang="zh-TW" altLang="en-US" sz="2400" b="1" dirty="0">
              <a:latin typeface="Calibri" panose="020F0502020204030204" pitchFamily="34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639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1395" grpId="0" animBg="1"/>
      <p:bldP spid="43" grpId="0"/>
      <p:bldP spid="46" grpId="0" animBg="1"/>
      <p:bldP spid="57" grpId="0"/>
      <p:bldP spid="58" grpId="0"/>
      <p:bldP spid="60" grpId="0" animBg="1"/>
      <p:bldP spid="67" grpId="0" animBg="1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 Interrupt Processing Flow</a:t>
            </a:r>
            <a:endParaRPr lang="zh-TW" altLang="en-US" dirty="0"/>
          </a:p>
        </p:txBody>
      </p:sp>
      <p:pic>
        <p:nvPicPr>
          <p:cNvPr id="6146" name="Picture 2" descr="Interrupts bas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5" y="1268761"/>
            <a:ext cx="7191375" cy="503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7104112" y="6567001"/>
            <a:ext cx="3649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https://www.hackster.io/rafitc/interrupts-basics-f475d5</a:t>
            </a:r>
            <a:endParaRPr kumimoji="1" lang="zh-TW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00" y="2564904"/>
            <a:ext cx="1381125" cy="5334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343" y="4098677"/>
            <a:ext cx="1390650" cy="533400"/>
          </a:xfrm>
          <a:prstGeom prst="rect">
            <a:avLst/>
          </a:prstGeom>
        </p:spPr>
      </p:pic>
      <p:sp>
        <p:nvSpPr>
          <p:cNvPr id="8" name="圓角矩形 7"/>
          <p:cNvSpPr/>
          <p:nvPr/>
        </p:nvSpPr>
        <p:spPr>
          <a:xfrm>
            <a:off x="9623580" y="2492896"/>
            <a:ext cx="1584176" cy="698748"/>
          </a:xfrm>
          <a:prstGeom prst="roundRect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9594874" y="4026396"/>
            <a:ext cx="1584176" cy="698748"/>
          </a:xfrm>
          <a:prstGeom prst="roundRect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8593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學習作業系統為什麼要知道</a:t>
            </a:r>
            <a:r>
              <a:rPr lang="en-US" altLang="zh-TW" dirty="0"/>
              <a:t>Interrupt</a:t>
            </a:r>
            <a:r>
              <a:rPr lang="zh-TW" altLang="en-US" dirty="0"/>
              <a:t>的機制與處理方式呢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42820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Computer-System Organization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Interrupts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0000"/>
                </a:solidFill>
              </a:rPr>
              <a:t>Storage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Architecture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Operating-System Operations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44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8718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Storage Structure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dirty="0"/>
              <a:t>There are many different storage media</a:t>
            </a:r>
          </a:p>
          <a:p>
            <a:pPr lvl="1" eaLnBrk="1" hangingPunct="1"/>
            <a:r>
              <a:rPr lang="en-US" altLang="zh-TW" sz="3200" dirty="0"/>
              <a:t>Differ in </a:t>
            </a:r>
            <a:r>
              <a:rPr lang="en-US" altLang="zh-TW" sz="3200" i="1" dirty="0">
                <a:solidFill>
                  <a:srgbClr val="FF3300"/>
                </a:solidFill>
              </a:rPr>
              <a:t>sizes</a:t>
            </a:r>
            <a:r>
              <a:rPr lang="en-US" altLang="zh-TW" sz="3200" dirty="0"/>
              <a:t>, </a:t>
            </a:r>
            <a:r>
              <a:rPr lang="en-US" altLang="zh-TW" sz="3200" i="1" dirty="0">
                <a:solidFill>
                  <a:srgbClr val="FF3300"/>
                </a:solidFill>
              </a:rPr>
              <a:t>speed</a:t>
            </a:r>
            <a:r>
              <a:rPr lang="en-US" altLang="zh-TW" sz="3200" dirty="0"/>
              <a:t>, </a:t>
            </a:r>
            <a:r>
              <a:rPr lang="en-US" altLang="zh-TW" sz="3200" i="1" dirty="0">
                <a:solidFill>
                  <a:srgbClr val="FF3300"/>
                </a:solidFill>
              </a:rPr>
              <a:t>cost</a:t>
            </a:r>
            <a:r>
              <a:rPr lang="en-US" altLang="zh-TW" sz="3200" dirty="0"/>
              <a:t>, </a:t>
            </a:r>
            <a:r>
              <a:rPr lang="en-US" altLang="zh-TW" sz="3200" i="1" dirty="0">
                <a:solidFill>
                  <a:srgbClr val="FF3300"/>
                </a:solidFill>
              </a:rPr>
              <a:t>volatility </a:t>
            </a:r>
            <a:r>
              <a:rPr lang="en-US" altLang="zh-TW" sz="3200" dirty="0"/>
              <a:t>(</a:t>
            </a:r>
            <a:r>
              <a:rPr lang="zh-TW" altLang="en-US" sz="3200" dirty="0"/>
              <a:t>揮發性</a:t>
            </a:r>
            <a:r>
              <a:rPr lang="en-US" altLang="zh-TW" sz="3200" dirty="0"/>
              <a:t>)…</a:t>
            </a:r>
          </a:p>
          <a:p>
            <a:pPr eaLnBrk="1" hangingPunct="1">
              <a:lnSpc>
                <a:spcPct val="80000"/>
              </a:lnSpc>
            </a:pPr>
            <a:endParaRPr lang="en-US" altLang="zh-TW" sz="3600" dirty="0"/>
          </a:p>
          <a:p>
            <a:pPr eaLnBrk="1" hangingPunct="1"/>
            <a:r>
              <a:rPr lang="en-US" altLang="zh-TW" sz="3600" dirty="0"/>
              <a:t>So, current storage systems are organized in </a:t>
            </a:r>
            <a:r>
              <a:rPr lang="en-US" altLang="zh-TW" sz="3600" b="1" i="1" dirty="0">
                <a:solidFill>
                  <a:srgbClr val="FF3300"/>
                </a:solidFill>
              </a:rPr>
              <a:t>hierarchy</a:t>
            </a:r>
            <a:r>
              <a:rPr lang="en-US" altLang="zh-TW" sz="3600" dirty="0"/>
              <a:t>.</a:t>
            </a:r>
          </a:p>
          <a:p>
            <a:pPr lvl="1" eaLnBrk="1" hangingPunct="1"/>
            <a:r>
              <a:rPr lang="en-US" altLang="zh-TW" sz="3200" dirty="0"/>
              <a:t>The top four levels are constructed using</a:t>
            </a:r>
            <a:r>
              <a:rPr lang="en-US" altLang="zh-TW" sz="3200" i="1" dirty="0">
                <a:solidFill>
                  <a:srgbClr val="FF3300"/>
                </a:solidFill>
              </a:rPr>
              <a:t> semi-conductor memory</a:t>
            </a:r>
            <a:endParaRPr lang="en-US" altLang="zh-TW" sz="3200" dirty="0"/>
          </a:p>
          <a:p>
            <a:pPr lvl="3" eaLnBrk="1" hangingPunct="1">
              <a:lnSpc>
                <a:spcPct val="80000"/>
              </a:lnSpc>
            </a:pPr>
            <a:endParaRPr lang="en-US" altLang="zh-TW" sz="2400" i="1" dirty="0">
              <a:solidFill>
                <a:srgbClr val="FF3300"/>
              </a:solidFill>
            </a:endParaRPr>
          </a:p>
          <a:p>
            <a:pPr lvl="2" eaLnBrk="1" hangingPunct="1">
              <a:lnSpc>
                <a:spcPct val="80000"/>
              </a:lnSpc>
            </a:pPr>
            <a:endParaRPr lang="en-US" altLang="zh-TW" sz="2800" dirty="0"/>
          </a:p>
          <a:p>
            <a:pPr eaLnBrk="1" hangingPunct="1"/>
            <a:endParaRPr lang="en-US" altLang="zh-TW" sz="36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45</a:t>
            </a:fld>
            <a:endParaRPr lang="en-US" altLang="zh-TW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Storage-Device Hierarchy</a:t>
            </a:r>
          </a:p>
        </p:txBody>
      </p:sp>
      <p:sp>
        <p:nvSpPr>
          <p:cNvPr id="19460" name="Text Box 6"/>
          <p:cNvSpPr txBox="1">
            <a:spLocks noChangeArrowheads="1"/>
          </p:cNvSpPr>
          <p:nvPr/>
        </p:nvSpPr>
        <p:spPr bwMode="auto">
          <a:xfrm>
            <a:off x="3482975" y="1069975"/>
            <a:ext cx="184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TW" altLang="zh-TW"/>
          </a:p>
        </p:txBody>
      </p:sp>
      <p:sp>
        <p:nvSpPr>
          <p:cNvPr id="19461" name="Rectangle 7"/>
          <p:cNvSpPr>
            <a:spLocks noChangeArrowheads="1"/>
          </p:cNvSpPr>
          <p:nvPr/>
        </p:nvSpPr>
        <p:spPr bwMode="auto">
          <a:xfrm>
            <a:off x="1919288" y="1125539"/>
            <a:ext cx="8229600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TW" altLang="zh-TW" sz="3200" i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9462" name="Rectangle 9"/>
          <p:cNvSpPr>
            <a:spLocks noChangeArrowheads="1"/>
          </p:cNvSpPr>
          <p:nvPr/>
        </p:nvSpPr>
        <p:spPr bwMode="auto">
          <a:xfrm>
            <a:off x="1919288" y="981076"/>
            <a:ext cx="8229600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zh-TW" altLang="zh-TW" sz="2400">
              <a:latin typeface="Times New Roman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1231900"/>
            <a:ext cx="9649071" cy="504056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46</a:t>
            </a:fld>
            <a:endParaRPr lang="en-US" altLang="zh-TW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sz="4000" dirty="0"/>
              <a:t>Performance of Various Levels of Storage</a:t>
            </a:r>
          </a:p>
        </p:txBody>
      </p:sp>
      <p:pic>
        <p:nvPicPr>
          <p:cNvPr id="4" name="Picture 1" descr="1_11.pd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8369" y="1628800"/>
            <a:ext cx="8064896" cy="4496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圓角矩形 2"/>
          <p:cNvSpPr/>
          <p:nvPr/>
        </p:nvSpPr>
        <p:spPr>
          <a:xfrm>
            <a:off x="1991544" y="5085184"/>
            <a:ext cx="8136904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47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105643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Storage Structure (Cont.)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b="1" dirty="0"/>
              <a:t>Primary storage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/>
              <a:t>Main memory:</a:t>
            </a:r>
            <a:r>
              <a:rPr lang="en-US" altLang="zh-TW" dirty="0">
                <a:solidFill>
                  <a:srgbClr val="FF3300"/>
                </a:solidFill>
              </a:rPr>
              <a:t> </a:t>
            </a:r>
            <a:r>
              <a:rPr lang="en-US" altLang="zh-TW" dirty="0"/>
              <a:t>RAM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/>
              <a:t>The only large storage media that the CPU can access </a:t>
            </a:r>
            <a:r>
              <a:rPr lang="en-US" altLang="zh-TW" b="1" i="1" dirty="0">
                <a:solidFill>
                  <a:srgbClr val="FF3300"/>
                </a:solidFill>
              </a:rPr>
              <a:t>directly</a:t>
            </a:r>
            <a:r>
              <a:rPr lang="en-US" altLang="zh-TW" dirty="0"/>
              <a:t>.</a:t>
            </a:r>
          </a:p>
          <a:p>
            <a:pPr eaLnBrk="1" hangingPunct="1">
              <a:lnSpc>
                <a:spcPct val="110000"/>
              </a:lnSpc>
            </a:pPr>
            <a:endParaRPr lang="en-US" altLang="zh-TW" b="1" dirty="0"/>
          </a:p>
          <a:p>
            <a:pPr eaLnBrk="1" hangingPunct="1">
              <a:lnSpc>
                <a:spcPct val="110000"/>
              </a:lnSpc>
            </a:pPr>
            <a:r>
              <a:rPr lang="en-US" altLang="zh-TW" b="1" dirty="0"/>
              <a:t>Secondary storage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b="1" dirty="0"/>
              <a:t>Mechanical-based</a:t>
            </a:r>
            <a:r>
              <a:rPr lang="en-US" altLang="zh-TW" dirty="0"/>
              <a:t>: </a:t>
            </a:r>
            <a:r>
              <a:rPr lang="en-US" altLang="zh-TW" b="1" dirty="0"/>
              <a:t>hard-disk drives </a:t>
            </a:r>
            <a:r>
              <a:rPr lang="en-US" altLang="zh-TW" dirty="0"/>
              <a:t>(</a:t>
            </a:r>
            <a:r>
              <a:rPr lang="en-US" altLang="zh-TW" b="1" dirty="0"/>
              <a:t>HDD</a:t>
            </a:r>
            <a:r>
              <a:rPr lang="en-US" altLang="zh-TW" dirty="0"/>
              <a:t>) (or called </a:t>
            </a:r>
            <a:r>
              <a:rPr lang="en-US" altLang="zh-TW" b="1" dirty="0"/>
              <a:t>magnetic disks</a:t>
            </a:r>
            <a:r>
              <a:rPr lang="en-US" altLang="zh-TW" dirty="0"/>
              <a:t>)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b="1" dirty="0"/>
          </a:p>
          <a:p>
            <a:pPr lvl="1" eaLnBrk="1" hangingPunct="1">
              <a:lnSpc>
                <a:spcPct val="110000"/>
              </a:lnSpc>
            </a:pPr>
            <a:r>
              <a:rPr lang="en-US" altLang="zh-TW" b="1" dirty="0"/>
              <a:t>Electrical-based</a:t>
            </a:r>
            <a:r>
              <a:rPr lang="en-US" altLang="zh-TW" dirty="0"/>
              <a:t>: </a:t>
            </a:r>
            <a:r>
              <a:rPr lang="en-US" altLang="zh-TW" sz="2400" b="1" dirty="0">
                <a:solidFill>
                  <a:srgbClr val="FF3300"/>
                </a:solidFill>
              </a:rPr>
              <a:t>Flash memory (SSD)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b="1" dirty="0"/>
          </a:p>
          <a:p>
            <a:pPr lvl="2" eaLnBrk="1" hangingPunct="1">
              <a:lnSpc>
                <a:spcPct val="110000"/>
              </a:lnSpc>
            </a:pPr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48</a:t>
            </a:fld>
            <a:endParaRPr lang="en-US" altLang="zh-TW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學習作業系統為什麼要知道</a:t>
            </a:r>
            <a:r>
              <a:rPr lang="en-US" altLang="zh-TW" dirty="0"/>
              <a:t>Storage Structures</a:t>
            </a:r>
            <a:r>
              <a:rPr lang="zh-TW" altLang="en-US" dirty="0"/>
              <a:t>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4928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接下來介紹計算機架構</a:t>
            </a:r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3248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Organization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b="1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Computer-System Architecture</a:t>
            </a:r>
          </a:p>
          <a:p>
            <a:pPr lvl="1" eaLnBrk="1" hangingPunct="1"/>
            <a:r>
              <a:rPr lang="en-US" altLang="zh-TW" dirty="0"/>
              <a:t>Single-Processor Systems</a:t>
            </a:r>
          </a:p>
          <a:p>
            <a:pPr lvl="1" eaLnBrk="1" hangingPunct="1"/>
            <a:r>
              <a:rPr lang="en-US" altLang="zh-TW" dirty="0" smtClean="0"/>
              <a:t>Multi-Processor </a:t>
            </a:r>
            <a:r>
              <a:rPr lang="en-US" altLang="zh-TW" dirty="0"/>
              <a:t>Systems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Operating-System Operations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51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346000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Organization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b="1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Computer-System Architecture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Single-Processor Systems</a:t>
            </a:r>
          </a:p>
          <a:p>
            <a:pPr lvl="1" eaLnBrk="1" hangingPunct="1"/>
            <a:r>
              <a:rPr lang="en-US" altLang="zh-TW" dirty="0" smtClean="0"/>
              <a:t>Multi-Processor </a:t>
            </a:r>
            <a:r>
              <a:rPr lang="en-US" altLang="zh-TW" dirty="0"/>
              <a:t>Systems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Operating-System Operations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52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383099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/>
              <a:t>Single-Processor Systems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Only one </a:t>
            </a:r>
            <a:r>
              <a:rPr lang="en-US" altLang="zh-TW" b="1" dirty="0"/>
              <a:t>general-purpose</a:t>
            </a:r>
            <a:r>
              <a:rPr lang="en-US" altLang="zh-TW" dirty="0"/>
              <a:t> processor</a:t>
            </a:r>
          </a:p>
          <a:p>
            <a:pPr eaLnBrk="1" hangingPunct="1"/>
            <a:endParaRPr lang="en-US" altLang="zh-TW" dirty="0"/>
          </a:p>
          <a:p>
            <a:pPr marL="1085850" lvl="2" eaLnBrk="1" hangingPunct="1"/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53</a:t>
            </a:fld>
            <a:endParaRPr lang="en-US" altLang="zh-TW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/>
              <a:t>A Computer System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1517817" y="1700809"/>
            <a:ext cx="8607488" cy="4175745"/>
            <a:chOff x="162910" y="2852738"/>
            <a:chExt cx="7865078" cy="3671887"/>
          </a:xfrm>
        </p:grpSpPr>
        <p:pic>
          <p:nvPicPr>
            <p:cNvPr id="22532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 l="427" t="17949" r="427" b="17664"/>
            <a:stretch>
              <a:fillRect/>
            </a:stretch>
          </p:blipFill>
          <p:spPr bwMode="auto">
            <a:xfrm>
              <a:off x="755650" y="2852738"/>
              <a:ext cx="7272338" cy="3671887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22533" name="Rectangle 6"/>
            <p:cNvSpPr>
              <a:spLocks noChangeArrowheads="1"/>
            </p:cNvSpPr>
            <p:nvPr/>
          </p:nvSpPr>
          <p:spPr bwMode="auto">
            <a:xfrm>
              <a:off x="755649" y="4437064"/>
              <a:ext cx="207563" cy="50482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34" name="Rectangle 7"/>
            <p:cNvSpPr>
              <a:spLocks noChangeArrowheads="1"/>
            </p:cNvSpPr>
            <p:nvPr/>
          </p:nvSpPr>
          <p:spPr bwMode="auto">
            <a:xfrm>
              <a:off x="2339975" y="4421188"/>
              <a:ext cx="161050" cy="584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35" name="Rectangle 8"/>
            <p:cNvSpPr>
              <a:spLocks noChangeArrowheads="1"/>
            </p:cNvSpPr>
            <p:nvPr/>
          </p:nvSpPr>
          <p:spPr bwMode="auto">
            <a:xfrm>
              <a:off x="4249486" y="4429125"/>
              <a:ext cx="215900" cy="57626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36" name="Rectangle 9"/>
            <p:cNvSpPr>
              <a:spLocks noChangeArrowheads="1"/>
            </p:cNvSpPr>
            <p:nvPr/>
          </p:nvSpPr>
          <p:spPr bwMode="auto">
            <a:xfrm>
              <a:off x="6804025" y="4429125"/>
              <a:ext cx="215900" cy="57626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37" name="Text Box 10"/>
            <p:cNvSpPr txBox="1">
              <a:spLocks noChangeArrowheads="1"/>
            </p:cNvSpPr>
            <p:nvPr/>
          </p:nvSpPr>
          <p:spPr bwMode="auto">
            <a:xfrm>
              <a:off x="684213" y="3860800"/>
              <a:ext cx="1452555" cy="351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CPU registers</a:t>
              </a:r>
            </a:p>
          </p:txBody>
        </p:sp>
        <p:sp>
          <p:nvSpPr>
            <p:cNvPr id="22538" name="Line 11"/>
            <p:cNvSpPr>
              <a:spLocks noChangeShapeType="1"/>
            </p:cNvSpPr>
            <p:nvPr/>
          </p:nvSpPr>
          <p:spPr bwMode="auto">
            <a:xfrm flipH="1">
              <a:off x="900113" y="4149725"/>
              <a:ext cx="431800" cy="21590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39" name="Line 13"/>
            <p:cNvSpPr>
              <a:spLocks noChangeShapeType="1"/>
            </p:cNvSpPr>
            <p:nvPr/>
          </p:nvSpPr>
          <p:spPr bwMode="auto">
            <a:xfrm flipV="1">
              <a:off x="2771774" y="5046508"/>
              <a:ext cx="913600" cy="83041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40" name="Text Box 14"/>
            <p:cNvSpPr txBox="1">
              <a:spLocks noChangeArrowheads="1"/>
            </p:cNvSpPr>
            <p:nvPr/>
          </p:nvSpPr>
          <p:spPr bwMode="auto">
            <a:xfrm>
              <a:off x="162910" y="5713979"/>
              <a:ext cx="1520050" cy="324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device registers</a:t>
              </a:r>
            </a:p>
          </p:txBody>
        </p:sp>
        <p:sp>
          <p:nvSpPr>
            <p:cNvPr id="22543" name="Rectangle 18"/>
            <p:cNvSpPr>
              <a:spLocks noChangeArrowheads="1"/>
            </p:cNvSpPr>
            <p:nvPr/>
          </p:nvSpPr>
          <p:spPr bwMode="auto">
            <a:xfrm>
              <a:off x="3560602" y="4424319"/>
              <a:ext cx="215900" cy="576262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44" name="Rectangle 19"/>
            <p:cNvSpPr>
              <a:spLocks noChangeArrowheads="1"/>
            </p:cNvSpPr>
            <p:nvPr/>
          </p:nvSpPr>
          <p:spPr bwMode="auto">
            <a:xfrm>
              <a:off x="6373893" y="4421187"/>
              <a:ext cx="215900" cy="576262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45" name="Rectangle 20"/>
            <p:cNvSpPr>
              <a:spLocks noChangeArrowheads="1"/>
            </p:cNvSpPr>
            <p:nvPr/>
          </p:nvSpPr>
          <p:spPr bwMode="auto">
            <a:xfrm>
              <a:off x="7830596" y="4421187"/>
              <a:ext cx="196557" cy="555625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47" name="Line 22"/>
            <p:cNvSpPr>
              <a:spLocks noChangeShapeType="1"/>
            </p:cNvSpPr>
            <p:nvPr/>
          </p:nvSpPr>
          <p:spPr bwMode="auto">
            <a:xfrm flipV="1">
              <a:off x="1258888" y="5046508"/>
              <a:ext cx="1152525" cy="687541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22548" name="Text Box 23"/>
            <p:cNvSpPr txBox="1">
              <a:spLocks noChangeArrowheads="1"/>
            </p:cNvSpPr>
            <p:nvPr/>
          </p:nvSpPr>
          <p:spPr bwMode="auto">
            <a:xfrm>
              <a:off x="2318724" y="5899589"/>
              <a:ext cx="1197924" cy="324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Local buffer</a:t>
              </a:r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54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77262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Organization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b="1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Computer-System Architecture</a:t>
            </a:r>
          </a:p>
          <a:p>
            <a:pPr lvl="1" eaLnBrk="1" hangingPunct="1"/>
            <a:r>
              <a:rPr lang="en-US" altLang="zh-TW" dirty="0"/>
              <a:t>Single-Processor Systems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Multi-Processor </a:t>
            </a:r>
            <a:r>
              <a:rPr lang="en-US" altLang="zh-TW" b="1" dirty="0">
                <a:solidFill>
                  <a:srgbClr val="FF0000"/>
                </a:solidFill>
              </a:rPr>
              <a:t>Systems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Operating-System Operations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55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217533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Multi-processor </a:t>
            </a:r>
            <a:r>
              <a:rPr lang="en-US" altLang="zh-TW" dirty="0"/>
              <a:t>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Advantages: </a:t>
            </a:r>
            <a:r>
              <a:rPr lang="en-US" altLang="zh-TW" b="1" dirty="0">
                <a:solidFill>
                  <a:srgbClr val="FF3300"/>
                </a:solidFill>
              </a:rPr>
              <a:t>increased throughput</a:t>
            </a:r>
            <a:endParaRPr lang="en-US" altLang="zh-TW" dirty="0"/>
          </a:p>
          <a:p>
            <a:endParaRPr lang="en-US" altLang="zh-TW" b="1" dirty="0"/>
          </a:p>
          <a:p>
            <a:r>
              <a:rPr lang="en-US" altLang="zh-TW" b="1" dirty="0"/>
              <a:t>Question: </a:t>
            </a:r>
            <a:r>
              <a:rPr lang="en-US" altLang="zh-TW" b="1" dirty="0">
                <a:solidFill>
                  <a:srgbClr val="0033CC"/>
                </a:solidFill>
              </a:rPr>
              <a:t>what is throughput?</a:t>
            </a:r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56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58482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Multiprocessor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Approaches</a:t>
            </a:r>
          </a:p>
          <a:p>
            <a:pPr lvl="1"/>
            <a:r>
              <a:rPr lang="en-US" altLang="zh-TW" dirty="0"/>
              <a:t>Multi-processors: each processor with a single-core CPU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Multi-core systems: multiple cores on a single chip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Non-uniform memory access (NUMA)</a:t>
            </a:r>
          </a:p>
          <a:p>
            <a:pPr marL="457200" lvl="1" indent="0">
              <a:buNone/>
            </a:pP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57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09222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Multiprocessor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Approaches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Multi-processors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en-US" altLang="zh-TW" dirty="0"/>
              <a:t> </a:t>
            </a:r>
            <a:r>
              <a:rPr lang="en-US" altLang="zh-TW" b="1" dirty="0"/>
              <a:t>each processor with a single-core CPU</a:t>
            </a:r>
          </a:p>
          <a:p>
            <a:pPr lvl="1"/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Multi-core systems: multiple cores on a single chip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Non-uniform memory access (NUMA)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58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456532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Multiprocessors Systems</a:t>
            </a:r>
          </a:p>
        </p:txBody>
      </p:sp>
      <p:grpSp>
        <p:nvGrpSpPr>
          <p:cNvPr id="5" name="群組 4"/>
          <p:cNvGrpSpPr/>
          <p:nvPr/>
        </p:nvGrpSpPr>
        <p:grpSpPr>
          <a:xfrm>
            <a:off x="1127448" y="1916832"/>
            <a:ext cx="9940648" cy="3168352"/>
            <a:chOff x="1127448" y="2564904"/>
            <a:chExt cx="9940648" cy="2466404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448" y="2564904"/>
              <a:ext cx="6408712" cy="2457456"/>
            </a:xfrm>
            <a:prstGeom prst="rect">
              <a:avLst/>
            </a:prstGeom>
          </p:spPr>
        </p:pic>
        <p:grpSp>
          <p:nvGrpSpPr>
            <p:cNvPr id="4" name="群組 3"/>
            <p:cNvGrpSpPr/>
            <p:nvPr/>
          </p:nvGrpSpPr>
          <p:grpSpPr>
            <a:xfrm>
              <a:off x="8112224" y="2573852"/>
              <a:ext cx="2955872" cy="2457456"/>
              <a:chOff x="6020448" y="1453809"/>
              <a:chExt cx="2955872" cy="2457456"/>
            </a:xfrm>
          </p:grpSpPr>
          <p:pic>
            <p:nvPicPr>
              <p:cNvPr id="10" name="圖片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20448" y="1453809"/>
                <a:ext cx="2955872" cy="2457456"/>
              </a:xfrm>
              <a:prstGeom prst="rect">
                <a:avLst/>
              </a:prstGeom>
            </p:spPr>
          </p:pic>
          <p:pic>
            <p:nvPicPr>
              <p:cNvPr id="7" name="Picture 7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104098" y="1580753"/>
                <a:ext cx="1360054" cy="15160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9" name="Picture 7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7578676" y="1514203"/>
                <a:ext cx="1325635" cy="15826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矩形 2"/>
              <p:cNvSpPr/>
              <p:nvPr/>
            </p:nvSpPr>
            <p:spPr>
              <a:xfrm>
                <a:off x="6183450" y="3433336"/>
                <a:ext cx="2576845" cy="355704"/>
              </a:xfrm>
              <a:prstGeom prst="rect">
                <a:avLst/>
              </a:prstGeom>
              <a:solidFill>
                <a:srgbClr val="CCF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main memory</a:t>
                </a:r>
                <a:endParaRPr lang="zh-TW" altLang="en-US" sz="16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59</a:t>
            </a:fld>
            <a:endParaRPr lang="en-US" altLang="zh-TW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Multiprocessor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Approaches</a:t>
            </a:r>
          </a:p>
          <a:p>
            <a:pPr lvl="1"/>
            <a:r>
              <a:rPr lang="en-US" altLang="zh-TW" dirty="0"/>
              <a:t>Multi-processors: each processor with a single-core CPU</a:t>
            </a:r>
          </a:p>
          <a:p>
            <a:pPr lvl="1"/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Multi-core systems</a:t>
            </a:r>
            <a:r>
              <a:rPr lang="en-US" altLang="zh-TW" dirty="0"/>
              <a:t>: </a:t>
            </a:r>
            <a:r>
              <a:rPr lang="en-US" altLang="zh-TW" b="1" dirty="0"/>
              <a:t>multiple cores on a single chip</a:t>
            </a:r>
          </a:p>
          <a:p>
            <a:pPr lvl="1"/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Non-uniform memory access (NUMA)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60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23569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527051" y="1412875"/>
            <a:ext cx="10972800" cy="791989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3600" b="1" dirty="0">
                <a:solidFill>
                  <a:srgbClr val="FF3300"/>
                </a:solidFill>
              </a:rPr>
              <a:t>Multi-Core</a:t>
            </a:r>
            <a:r>
              <a:rPr lang="en-US" altLang="zh-TW" sz="3600" dirty="0"/>
              <a:t>: multiple </a:t>
            </a:r>
            <a:r>
              <a:rPr lang="en-US" altLang="zh-TW" sz="3600" b="1" dirty="0">
                <a:solidFill>
                  <a:srgbClr val="FF3300"/>
                </a:solidFill>
              </a:rPr>
              <a:t>compute</a:t>
            </a:r>
            <a:r>
              <a:rPr lang="en-US" altLang="zh-TW" sz="3600" dirty="0"/>
              <a:t> </a:t>
            </a:r>
            <a:r>
              <a:rPr lang="en-US" altLang="zh-TW" sz="3600" b="1" dirty="0">
                <a:solidFill>
                  <a:srgbClr val="FF3300"/>
                </a:solidFill>
              </a:rPr>
              <a:t>cores</a:t>
            </a:r>
            <a:r>
              <a:rPr lang="en-US" altLang="zh-TW" sz="3600" dirty="0"/>
              <a:t> on a single chip</a:t>
            </a:r>
          </a:p>
          <a:p>
            <a:pPr eaLnBrk="1" hangingPunct="1">
              <a:lnSpc>
                <a:spcPct val="80000"/>
              </a:lnSpc>
            </a:pPr>
            <a:endParaRPr lang="en-US" altLang="zh-TW" b="1" dirty="0">
              <a:solidFill>
                <a:srgbClr val="FF3300"/>
              </a:solidFill>
            </a:endParaRPr>
          </a:p>
        </p:txBody>
      </p:sp>
      <p:sp>
        <p:nvSpPr>
          <p:cNvPr id="293894" name="Rectangle 6"/>
          <p:cNvSpPr>
            <a:spLocks noChangeArrowheads="1"/>
          </p:cNvSpPr>
          <p:nvPr/>
        </p:nvSpPr>
        <p:spPr bwMode="auto">
          <a:xfrm>
            <a:off x="1991544" y="181591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Multi-Core Systems</a:t>
            </a:r>
          </a:p>
        </p:txBody>
      </p:sp>
      <p:sp>
        <p:nvSpPr>
          <p:cNvPr id="31752" name="Text Box 15"/>
          <p:cNvSpPr txBox="1">
            <a:spLocks noChangeArrowheads="1"/>
          </p:cNvSpPr>
          <p:nvPr/>
        </p:nvSpPr>
        <p:spPr bwMode="auto">
          <a:xfrm>
            <a:off x="2639616" y="5949280"/>
            <a:ext cx="72025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>
                <a:latin typeface="Calibri" panose="020F0502020204030204" pitchFamily="34" charset="0"/>
              </a:rPr>
              <a:t>A dual-core design: two cores on the same chip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1055440" y="2132857"/>
            <a:ext cx="9721080" cy="3816424"/>
            <a:chOff x="2135560" y="3501008"/>
            <a:chExt cx="8020172" cy="2591817"/>
          </a:xfrm>
        </p:grpSpPr>
        <p:pic>
          <p:nvPicPr>
            <p:cNvPr id="31748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631732" y="4087019"/>
              <a:ext cx="1524000" cy="151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50" name="Line 12"/>
            <p:cNvSpPr>
              <a:spLocks noChangeShapeType="1"/>
            </p:cNvSpPr>
            <p:nvPr/>
          </p:nvSpPr>
          <p:spPr bwMode="auto">
            <a:xfrm flipH="1" flipV="1">
              <a:off x="7621857" y="3557857"/>
              <a:ext cx="978417" cy="6630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/>
            </a:p>
          </p:txBody>
        </p:sp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5560" y="3501008"/>
              <a:ext cx="5472608" cy="2591817"/>
            </a:xfrm>
            <a:prstGeom prst="rect">
              <a:avLst/>
            </a:prstGeom>
          </p:spPr>
        </p:pic>
        <p:sp>
          <p:nvSpPr>
            <p:cNvPr id="9" name="Line 12"/>
            <p:cNvSpPr>
              <a:spLocks noChangeShapeType="1"/>
            </p:cNvSpPr>
            <p:nvPr/>
          </p:nvSpPr>
          <p:spPr bwMode="auto">
            <a:xfrm flipH="1" flipV="1">
              <a:off x="7580702" y="5420244"/>
              <a:ext cx="1019571" cy="2410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61</a:t>
            </a:fld>
            <a:endParaRPr lang="en-US" altLang="zh-TW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Multiprocessor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Approaches</a:t>
            </a:r>
          </a:p>
          <a:p>
            <a:pPr lvl="1"/>
            <a:r>
              <a:rPr lang="en-US" altLang="zh-TW" dirty="0"/>
              <a:t>Multi-processors: each processor with a single-core CPU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Multi-core systems: multiple cores on a single chip</a:t>
            </a:r>
          </a:p>
          <a:p>
            <a:pPr lvl="1"/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Non-uniform memory access (NUMA)</a:t>
            </a:r>
          </a:p>
          <a:p>
            <a:pPr lvl="1"/>
            <a:endParaRPr lang="en-US" altLang="zh-TW" b="1" dirty="0">
              <a:solidFill>
                <a:srgbClr val="FF0000"/>
              </a:solidFill>
            </a:endParaRPr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62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43295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600" dirty="0"/>
              <a:t>理論上</a:t>
            </a:r>
            <a:r>
              <a:rPr lang="en-US" altLang="zh-TW" sz="3600" dirty="0"/>
              <a:t>, </a:t>
            </a:r>
            <a:r>
              <a:rPr lang="zh-TW" altLang="en-US" sz="3600" dirty="0"/>
              <a:t>我們可以透過增加</a:t>
            </a:r>
            <a:r>
              <a:rPr lang="en-US" altLang="zh-TW" sz="3600" dirty="0"/>
              <a:t>CPU</a:t>
            </a:r>
            <a:r>
              <a:rPr lang="zh-TW" altLang="en-US" sz="3600" dirty="0"/>
              <a:t>數量</a:t>
            </a:r>
            <a:r>
              <a:rPr lang="en-US" altLang="zh-TW" sz="3600" dirty="0"/>
              <a:t> (</a:t>
            </a:r>
            <a:r>
              <a:rPr lang="zh-TW" altLang="en-US" sz="3600" dirty="0"/>
              <a:t>不管</a:t>
            </a:r>
            <a:r>
              <a:rPr lang="en-US" altLang="zh-TW" sz="3600" dirty="0"/>
              <a:t>chip</a:t>
            </a:r>
            <a:r>
              <a:rPr lang="zh-TW" altLang="en-US" sz="3600" dirty="0"/>
              <a:t>是</a:t>
            </a:r>
            <a:r>
              <a:rPr lang="en-US" altLang="zh-TW" sz="3600" dirty="0"/>
              <a:t>single-core</a:t>
            </a:r>
            <a:r>
              <a:rPr lang="zh-TW" altLang="en-US" sz="3600" dirty="0"/>
              <a:t>或是</a:t>
            </a:r>
            <a:r>
              <a:rPr lang="en-US" altLang="zh-TW" sz="3600" dirty="0"/>
              <a:t>multi-cores)</a:t>
            </a:r>
            <a:r>
              <a:rPr lang="zh-TW" altLang="en-US" sz="3600" dirty="0"/>
              <a:t>的方式來提升效能</a:t>
            </a:r>
            <a:r>
              <a:rPr lang="en-US" altLang="zh-TW" sz="3600" dirty="0"/>
              <a:t>!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171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33CC"/>
                </a:solidFill>
              </a:rPr>
              <a:t>Question: </a:t>
            </a:r>
            <a:r>
              <a:rPr lang="zh-TW" altLang="en-US" dirty="0">
                <a:solidFill>
                  <a:srgbClr val="0033CC"/>
                </a:solidFill>
              </a:rPr>
              <a:t>但實際上</a:t>
            </a:r>
            <a:r>
              <a:rPr lang="en-US" altLang="zh-TW" dirty="0">
                <a:solidFill>
                  <a:srgbClr val="0033CC"/>
                </a:solidFill>
              </a:rPr>
              <a:t>, </a:t>
            </a:r>
            <a:r>
              <a:rPr lang="zh-TW" altLang="en-US" dirty="0">
                <a:solidFill>
                  <a:srgbClr val="0033CC"/>
                </a:solidFill>
              </a:rPr>
              <a:t>一直增加</a:t>
            </a:r>
            <a:r>
              <a:rPr lang="en-US" altLang="zh-TW" dirty="0">
                <a:solidFill>
                  <a:srgbClr val="0033CC"/>
                </a:solidFill>
              </a:rPr>
              <a:t>CPU</a:t>
            </a:r>
            <a:r>
              <a:rPr lang="zh-TW" altLang="en-US" dirty="0">
                <a:solidFill>
                  <a:srgbClr val="0033CC"/>
                </a:solidFill>
              </a:rPr>
              <a:t>數量卻可能沒有看到效能的提升</a:t>
            </a:r>
            <a:r>
              <a:rPr lang="en-US" altLang="zh-TW" dirty="0">
                <a:solidFill>
                  <a:srgbClr val="0033CC"/>
                </a:solidFill>
              </a:rPr>
              <a:t>! Why?</a:t>
            </a:r>
            <a:endParaRPr lang="zh-TW" altLang="en-US" dirty="0">
              <a:solidFill>
                <a:srgbClr val="0033CC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Ans</a:t>
            </a:r>
            <a:r>
              <a:rPr lang="en-US" altLang="zh-TW" dirty="0"/>
              <a:t>: </a:t>
            </a:r>
            <a:r>
              <a:rPr lang="zh-TW" altLang="en-US" dirty="0"/>
              <a:t>一個可能的原因是</a:t>
            </a:r>
            <a:r>
              <a:rPr lang="en-US" altLang="zh-TW" dirty="0"/>
              <a:t>system bus</a:t>
            </a:r>
            <a:r>
              <a:rPr lang="zh-TW" altLang="en-US" dirty="0"/>
              <a:t>成為效能瓶頸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9065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Problems of Adding Too Many CPUs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Problems of adding too many CPUs</a:t>
            </a:r>
          </a:p>
          <a:p>
            <a:pPr lvl="1"/>
            <a:r>
              <a:rPr lang="en-US" altLang="zh-TW" dirty="0"/>
              <a:t>Contention for </a:t>
            </a:r>
            <a:r>
              <a:rPr lang="en-US" altLang="zh-TW" b="1" dirty="0">
                <a:solidFill>
                  <a:srgbClr val="FF0000"/>
                </a:solidFill>
              </a:rPr>
              <a:t>system bus</a:t>
            </a:r>
            <a:r>
              <a:rPr lang="en-US" altLang="zh-TW" dirty="0"/>
              <a:t> becomes a bottleneck</a:t>
            </a:r>
          </a:p>
        </p:txBody>
      </p:sp>
      <p:pic>
        <p:nvPicPr>
          <p:cNvPr id="8" name="Picture 2" descr="https://upload.wikimedia.org/wikipedia/commons/thumb/f/f2/Shared_memory.svg/350px-Shared_memory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3068960"/>
            <a:ext cx="9289032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65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60835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怎麼辦呢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/>
              <a:t>Ans</a:t>
            </a:r>
            <a:r>
              <a:rPr lang="en-US" altLang="zh-TW" dirty="0"/>
              <a:t>: Non-Uniform Memory Access (NUMA)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500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Non-Uniform Memory Access (NUMA)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Alternative approach: </a:t>
            </a:r>
            <a:r>
              <a:rPr lang="en-US" altLang="zh-TW" b="1" dirty="0">
                <a:solidFill>
                  <a:srgbClr val="FF0000"/>
                </a:solidFill>
              </a:rPr>
              <a:t>NUMA</a:t>
            </a:r>
          </a:p>
          <a:p>
            <a:pPr lvl="1"/>
            <a:r>
              <a:rPr lang="en-US" altLang="zh-TW" dirty="0"/>
              <a:t>Provide each CPU with its local memory</a:t>
            </a:r>
          </a:p>
          <a:p>
            <a:pPr lvl="1"/>
            <a:r>
              <a:rPr lang="en-US" altLang="zh-TW" dirty="0"/>
              <a:t>Increasing popular on </a:t>
            </a:r>
            <a:r>
              <a:rPr lang="en-US" altLang="zh-TW" b="1" dirty="0"/>
              <a:t>servers</a:t>
            </a:r>
            <a:r>
              <a:rPr lang="en-US" altLang="zh-TW" dirty="0"/>
              <a:t> and </a:t>
            </a:r>
            <a:r>
              <a:rPr lang="en-US" altLang="zh-TW" b="1" dirty="0"/>
              <a:t>high-end computing systems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11" y="3429000"/>
            <a:ext cx="9721080" cy="3024336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67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580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Non-Uniform Memory Access (NUMA) (Cont.)</a:t>
            </a:r>
            <a:endParaRPr lang="zh-TW" altLang="en-US" dirty="0"/>
          </a:p>
        </p:txBody>
      </p:sp>
      <p:pic>
        <p:nvPicPr>
          <p:cNvPr id="4" name="Picture 2" descr="https://lh3.googleusercontent.com/0ImFR9-SQ74BH59Svjil2mQ8KAHkbuG27IUOAK0ldJziStYNtufxEwGbpYbYVXOH0qLn86MFIaGbPo9lDpCvZ2Oz71u4ZDD2tngoPuTe4V3FAExASNNAWU4BH8T6CM5FZPN347X2BZRpNtPXmFTRsXg5wQ_2CXM7kCJM9VBO5FlbXHghJnHsEUSi9NGz1pC0DiEVqATt2mzO-w_0ma0wrSy10UnjmYR7J5dRFqbQsR9_R0ik8Uu9MVn57L2wWiuZpoZgULSDbmQG3Cx6HWG6oupSR8-38Mak0Njux0wJQkEJPB5vMr8xn4VfZnzfepHu4pP0-v3POG-aKRAXHZt3XCCuSIxx-reZKrokOHcLdrLtzfSAciSRCgCvhvloMa5lf6GfjJ8ODNIzSkLvro8azDjIR3hmvby3NwnE93xSSoY8dp5wN7HZG1JOp-dCGDY46pdssCaU5zxT6HIldDnT59ZyHbPMNd_-9v0MfXjXpcRS3LikAi9C9LqjPXCmyc5bKj1NrV5ePe0nmdlZBFsQHam1lf-9n8GYmKG_2jgtrmOOQ3l4oA_cDVNG5pgXdwqqj0QWllI4QyKfRqtPzbaNfuzmFPXYv_ZSqrbrOrHkxkUyRvGqsANSKRXa6LL7l4IZJEmWdUuQ-ELwOxMkDqcQ2AOZ8EauVmMzush66ZTOZw=w500-h417-n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1556792"/>
            <a:ext cx="9001000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7968208" y="6550223"/>
            <a:ext cx="4112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https://blog.programster.org/kvm-numa-declaration</a:t>
            </a:r>
            <a:endParaRPr lang="zh-TW" altLang="en-US" sz="1400" b="1" i="1" dirty="0">
              <a:latin typeface="Calibri" panose="020F050202020403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68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2996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可是</a:t>
            </a:r>
            <a:r>
              <a:rPr lang="en-US" altLang="zh-TW" dirty="0"/>
              <a:t>NUMA</a:t>
            </a:r>
            <a:r>
              <a:rPr lang="zh-TW" altLang="en-US" dirty="0"/>
              <a:t>會帶來新的問題</a:t>
            </a:r>
            <a:r>
              <a:rPr lang="en-US" altLang="zh-TW" dirty="0"/>
              <a:t>!</a:t>
            </a:r>
            <a:br>
              <a:rPr lang="en-US" altLang="zh-TW" dirty="0"/>
            </a:br>
            <a:r>
              <a:rPr lang="zh-TW" altLang="en-US" dirty="0"/>
              <a:t>甚麼問題呢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376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Non-Uniform Memory Access (NUMA) (Cont.)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Problem: memory access time is not the same</a:t>
            </a:r>
          </a:p>
          <a:p>
            <a:pPr lvl="1"/>
            <a:r>
              <a:rPr lang="en-US" altLang="zh-TW" dirty="0"/>
              <a:t>Accessing local memory speed </a:t>
            </a:r>
            <a:r>
              <a:rPr lang="en-US" altLang="zh-TW" b="1" dirty="0"/>
              <a:t>&gt;&gt;</a:t>
            </a:r>
            <a:r>
              <a:rPr lang="en-US" altLang="zh-TW" dirty="0"/>
              <a:t> accessing remote memory speed </a:t>
            </a:r>
          </a:p>
          <a:p>
            <a:pPr lvl="1"/>
            <a:r>
              <a:rPr lang="en-US" altLang="zh-TW" dirty="0"/>
              <a:t>OS need to manage memory carefully. 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3212976"/>
            <a:ext cx="7560840" cy="3024336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70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15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學習作業系統為什麼要知道電腦是單核心</a:t>
            </a:r>
            <a:r>
              <a:rPr lang="en-US" altLang="zh-TW" dirty="0"/>
              <a:t>/</a:t>
            </a:r>
            <a:r>
              <a:rPr lang="zh-TW" altLang="en-US" dirty="0"/>
              <a:t>多核心或是</a:t>
            </a:r>
            <a:r>
              <a:rPr lang="en-US" altLang="zh-TW" dirty="0"/>
              <a:t>NUMA</a:t>
            </a:r>
            <a:r>
              <a:rPr lang="zh-TW" altLang="en-US" dirty="0"/>
              <a:t>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800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Organization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b="1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Architecture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Operating-System Operations</a:t>
            </a:r>
          </a:p>
          <a:p>
            <a:pPr eaLnBrk="1" hangingPunct="1">
              <a:lnSpc>
                <a:spcPct val="90000"/>
              </a:lnSpc>
            </a:pPr>
            <a:endParaRPr lang="en-US" altLang="zh-TW" b="1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72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0016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看過電腦組織與架構，接下來介紹作業系統的基本運作方法</a:t>
            </a:r>
            <a:endParaRPr lang="zh-TW" altLang="en-US" dirty="0"/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46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Organization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b="1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Architecture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Operating-System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OS Invocation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Multiprogramming and Multitasking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Timers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Dual-Mode and Multi-mode Operation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endParaRPr lang="en-US" altLang="zh-TW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TW" b="1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74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0318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332656"/>
            <a:ext cx="10363200" cy="1470025"/>
          </a:xfrm>
        </p:spPr>
        <p:txBody>
          <a:bodyPr/>
          <a:lstStyle/>
          <a:p>
            <a:r>
              <a:rPr lang="zh-TW" altLang="en-US" dirty="0">
                <a:solidFill>
                  <a:srgbClr val="FF0000"/>
                </a:solidFill>
              </a:rPr>
              <a:t>基本問題：作業系統何時被執行？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2063552" y="2420888"/>
            <a:ext cx="7920880" cy="3168352"/>
            <a:chOff x="3640506" y="1624266"/>
            <a:chExt cx="5653624" cy="2998534"/>
          </a:xfrm>
        </p:grpSpPr>
        <p:cxnSp>
          <p:nvCxnSpPr>
            <p:cNvPr id="5" name="直線接點 4"/>
            <p:cNvCxnSpPr/>
            <p:nvPr/>
          </p:nvCxnSpPr>
          <p:spPr>
            <a:xfrm>
              <a:off x="4042976" y="2357380"/>
              <a:ext cx="4197600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</p:cxnSp>
        <p:sp>
          <p:nvSpPr>
            <p:cNvPr id="6" name="圓角矩形 5"/>
            <p:cNvSpPr/>
            <p:nvPr/>
          </p:nvSpPr>
          <p:spPr>
            <a:xfrm>
              <a:off x="4367809" y="1633857"/>
              <a:ext cx="1463759" cy="422975"/>
            </a:xfrm>
            <a:prstGeom prst="roundRect">
              <a:avLst/>
            </a:prstGeom>
            <a:solidFill>
              <a:srgbClr val="5B9BD5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kern="0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Program 1</a:t>
              </a:r>
              <a:endParaRPr kumimoji="0" lang="zh-TW" altLang="en-US" sz="1600" b="1" kern="0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6168008" y="1624266"/>
              <a:ext cx="1371018" cy="422975"/>
            </a:xfrm>
            <a:prstGeom prst="roundRect">
              <a:avLst/>
            </a:prstGeom>
            <a:solidFill>
              <a:srgbClr val="5B9BD5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kern="0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Program</a:t>
              </a:r>
              <a:r>
                <a:rPr kumimoji="0" lang="zh-TW" altLang="en-US" sz="1600" b="1" kern="0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 </a:t>
              </a:r>
              <a:r>
                <a:rPr kumimoji="0" lang="en-US" altLang="zh-TW" sz="1600" b="1" kern="0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2</a:t>
              </a:r>
              <a:endParaRPr kumimoji="0" lang="zh-TW" altLang="en-US" sz="1600" b="1" kern="0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7866424" y="1851500"/>
              <a:ext cx="317809" cy="0"/>
            </a:xfrm>
            <a:prstGeom prst="line">
              <a:avLst/>
            </a:prstGeom>
            <a:noFill/>
            <a:ln w="38100" cap="rnd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</p:cxnSp>
        <p:cxnSp>
          <p:nvCxnSpPr>
            <p:cNvPr id="10" name="直線接點 9"/>
            <p:cNvCxnSpPr/>
            <p:nvPr/>
          </p:nvCxnSpPr>
          <p:spPr>
            <a:xfrm>
              <a:off x="4123103" y="3838028"/>
              <a:ext cx="4197600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</p:cxnSp>
        <p:sp>
          <p:nvSpPr>
            <p:cNvPr id="11" name="圓角矩形 10"/>
            <p:cNvSpPr/>
            <p:nvPr/>
          </p:nvSpPr>
          <p:spPr>
            <a:xfrm>
              <a:off x="4661531" y="2622376"/>
              <a:ext cx="2578567" cy="979928"/>
            </a:xfrm>
            <a:prstGeom prst="roundRect">
              <a:avLst/>
            </a:prstGeom>
            <a:solidFill>
              <a:srgbClr val="9FFDFF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2000" b="1" kern="0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OS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3640506" y="4174377"/>
              <a:ext cx="1512044" cy="448423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800" b="1" kern="0" dirty="0">
                  <a:solidFill>
                    <a:prstClr val="white"/>
                  </a:solidFill>
                  <a:latin typeface="Calibri" panose="020F0502020204030204"/>
                </a:rPr>
                <a:t>Device 1</a:t>
              </a:r>
              <a:endParaRPr kumimoji="0" lang="zh-TW" altLang="en-US" sz="1800" b="1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5411986" y="4168328"/>
              <a:ext cx="1512044" cy="454472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800" b="1" kern="0" dirty="0">
                  <a:solidFill>
                    <a:prstClr val="white"/>
                  </a:solidFill>
                  <a:latin typeface="Calibri" panose="020F0502020204030204"/>
                </a:rPr>
                <a:t>Device 2</a:t>
              </a:r>
              <a:endParaRPr kumimoji="0" lang="zh-TW" altLang="en-US" sz="1800" b="1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240098" y="4168328"/>
              <a:ext cx="1512044" cy="454472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800" b="1" kern="0" dirty="0">
                  <a:solidFill>
                    <a:prstClr val="white"/>
                  </a:solidFill>
                  <a:latin typeface="Calibri" panose="020F0502020204030204"/>
                </a:rPr>
                <a:t>Device 3</a:t>
              </a:r>
              <a:endParaRPr kumimoji="0" lang="zh-TW" altLang="en-US" sz="1800" b="1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15" name="直線接點 14"/>
            <p:cNvCxnSpPr/>
            <p:nvPr/>
          </p:nvCxnSpPr>
          <p:spPr>
            <a:xfrm>
              <a:off x="8976321" y="4456360"/>
              <a:ext cx="317809" cy="0"/>
            </a:xfrm>
            <a:prstGeom prst="line">
              <a:avLst/>
            </a:prstGeom>
            <a:noFill/>
            <a:ln w="38100" cap="rnd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9250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solidFill>
                  <a:srgbClr val="FF0000"/>
                </a:solidFill>
              </a:rPr>
              <a:t>基本問題：作業系統何時被執行？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>
            <a:endCxn id="282630" idx="3"/>
          </p:cNvCxnSpPr>
          <p:nvPr/>
        </p:nvCxnSpPr>
        <p:spPr>
          <a:xfrm flipH="1">
            <a:off x="4437064" y="1988840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07494" y="262074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95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00"/>
                </a:solidFill>
              </a:rPr>
              <a:t>基本問題：作業系統何時被執行？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當需要</a:t>
            </a:r>
            <a:r>
              <a:rPr lang="en-US" altLang="zh-TW" dirty="0"/>
              <a:t>OS</a:t>
            </a:r>
            <a:r>
              <a:rPr lang="zh-TW" altLang="en-US" dirty="0"/>
              <a:t>服務的時候</a:t>
            </a:r>
            <a:r>
              <a:rPr lang="en-US" altLang="zh-TW" dirty="0"/>
              <a:t>….</a:t>
            </a:r>
          </a:p>
          <a:p>
            <a:endParaRPr lang="en-US" altLang="zh-TW" dirty="0"/>
          </a:p>
          <a:p>
            <a:r>
              <a:rPr lang="zh-TW" altLang="en-US" dirty="0"/>
              <a:t>誰會需要</a:t>
            </a:r>
            <a:r>
              <a:rPr lang="en-US" altLang="zh-TW" dirty="0"/>
              <a:t>OS</a:t>
            </a:r>
            <a:r>
              <a:rPr lang="zh-TW" altLang="en-US" dirty="0"/>
              <a:t>的服務呢</a:t>
            </a:r>
            <a:r>
              <a:rPr lang="en-US" altLang="zh-TW" dirty="0"/>
              <a:t>?</a:t>
            </a:r>
            <a:r>
              <a:rPr lang="en-US" altLang="zh-TW" sz="2800" dirty="0"/>
              <a:t>(see the previous slide)</a:t>
            </a:r>
            <a:endParaRPr lang="en-US" altLang="zh-TW" dirty="0"/>
          </a:p>
          <a:p>
            <a:endParaRPr lang="en-US" altLang="zh-TW" dirty="0"/>
          </a:p>
          <a:p>
            <a:pPr lvl="1"/>
            <a:r>
              <a:rPr lang="zh-TW" altLang="en-US" dirty="0"/>
              <a:t>硬體會請求</a:t>
            </a:r>
            <a:r>
              <a:rPr lang="en-US" altLang="zh-TW" dirty="0"/>
              <a:t>OS</a:t>
            </a:r>
            <a:r>
              <a:rPr lang="zh-TW" altLang="en-US" dirty="0"/>
              <a:t>的服務</a:t>
            </a:r>
            <a:r>
              <a:rPr lang="en-US" altLang="zh-TW" dirty="0"/>
              <a:t>: Why and How?</a:t>
            </a:r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應用程式也會請求</a:t>
            </a:r>
            <a:r>
              <a:rPr lang="en-US" altLang="zh-TW" dirty="0"/>
              <a:t>OS</a:t>
            </a:r>
            <a:r>
              <a:rPr lang="zh-TW" altLang="en-US" dirty="0"/>
              <a:t>的服務</a:t>
            </a:r>
            <a:r>
              <a:rPr lang="en-US" altLang="zh-TW" dirty="0"/>
              <a:t>: Why and How?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77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5959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Event-Driven OS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zh-TW" altLang="en-US" b="1" dirty="0">
                <a:solidFill>
                  <a:srgbClr val="FF0000"/>
                </a:solidFill>
              </a:rPr>
              <a:t>作業系統何時被執行</a:t>
            </a:r>
            <a:r>
              <a:rPr lang="en-US" altLang="zh-TW" b="1" dirty="0">
                <a:solidFill>
                  <a:srgbClr val="FF0000"/>
                </a:solidFill>
              </a:rPr>
              <a:t>? </a:t>
            </a:r>
          </a:p>
          <a:p>
            <a:pPr lvl="1" eaLnBrk="1" hangingPunct="1"/>
            <a:r>
              <a:rPr lang="zh-TW" altLang="en-US" b="1" dirty="0"/>
              <a:t>當</a:t>
            </a:r>
            <a:r>
              <a:rPr lang="zh-TW" altLang="en-US" b="1" dirty="0">
                <a:solidFill>
                  <a:srgbClr val="FF0000"/>
                </a:solidFill>
              </a:rPr>
              <a:t>硬體</a:t>
            </a:r>
            <a:r>
              <a:rPr lang="zh-TW" altLang="en-US" b="1" dirty="0"/>
              <a:t>和</a:t>
            </a:r>
            <a:r>
              <a:rPr lang="zh-TW" altLang="en-US" b="1" dirty="0">
                <a:solidFill>
                  <a:srgbClr val="FF0000"/>
                </a:solidFill>
              </a:rPr>
              <a:t>應用程式觸</a:t>
            </a:r>
            <a:r>
              <a:rPr lang="zh-TW" altLang="en-US" b="1" dirty="0"/>
              <a:t>發事件請求</a:t>
            </a:r>
            <a:r>
              <a:rPr lang="en-US" altLang="zh-TW" b="1" dirty="0"/>
              <a:t>OS</a:t>
            </a:r>
            <a:r>
              <a:rPr lang="zh-TW" altLang="en-US" b="1" dirty="0"/>
              <a:t>服務的時候</a:t>
            </a:r>
            <a:endParaRPr lang="en-US" altLang="zh-TW" b="1" dirty="0"/>
          </a:p>
          <a:p>
            <a:pPr eaLnBrk="1" hangingPunct="1">
              <a:spcBef>
                <a:spcPts val="600"/>
              </a:spcBef>
            </a:pPr>
            <a:r>
              <a:rPr lang="zh-TW" altLang="en-US" b="1" dirty="0"/>
              <a:t>所以</a:t>
            </a:r>
            <a:r>
              <a:rPr lang="en-US" altLang="zh-TW" b="1" dirty="0"/>
              <a:t>, OS </a:t>
            </a:r>
            <a:r>
              <a:rPr lang="en-US" altLang="zh-TW" dirty="0"/>
              <a:t>is </a:t>
            </a:r>
            <a:r>
              <a:rPr lang="en-US" altLang="zh-TW" b="1" dirty="0">
                <a:solidFill>
                  <a:srgbClr val="FF0000"/>
                </a:solidFill>
              </a:rPr>
              <a:t>event-driven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b="1" dirty="0"/>
              <a:t>Events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Interrupt: driven by hardware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Trap (or exception): driven by software </a:t>
            </a:r>
          </a:p>
          <a:p>
            <a:pPr lvl="2" eaLnBrk="1" hangingPunct="1"/>
            <a:r>
              <a:rPr lang="en-US" altLang="zh-TW" dirty="0"/>
              <a:t>Also called </a:t>
            </a:r>
            <a:r>
              <a:rPr lang="en-US" altLang="zh-TW" b="1" dirty="0">
                <a:solidFill>
                  <a:srgbClr val="0000CC"/>
                </a:solidFill>
              </a:rPr>
              <a:t>software-generated interrupt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78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63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Event-Driven OS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TW" dirty="0"/>
              <a:t>OS is </a:t>
            </a:r>
            <a:r>
              <a:rPr lang="en-US" altLang="zh-TW" b="1" dirty="0">
                <a:solidFill>
                  <a:srgbClr val="FF0000"/>
                </a:solidFill>
              </a:rPr>
              <a:t>event-driven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b="1" dirty="0"/>
              <a:t>Events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b="1" dirty="0">
                <a:solidFill>
                  <a:srgbClr val="FF0000"/>
                </a:solidFill>
              </a:rPr>
              <a:t>Interrupt</a:t>
            </a:r>
            <a:r>
              <a:rPr lang="en-US" altLang="zh-TW" b="1" dirty="0"/>
              <a:t>: driven by hardware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Trap (or exception): a software-generated interrupt</a:t>
            </a:r>
          </a:p>
          <a:p>
            <a:pPr marL="1085850" lvl="2" eaLnBrk="1" hangingPunct="1">
              <a:spcBef>
                <a:spcPts val="600"/>
              </a:spcBef>
            </a:pPr>
            <a:r>
              <a:rPr lang="en-US" altLang="zh-TW" dirty="0"/>
              <a:t>Error:  Division by zero, illegal instructions </a:t>
            </a:r>
          </a:p>
          <a:p>
            <a:pPr marL="1085850" lvl="2" eaLnBrk="1" hangingPunct="1">
              <a:spcBef>
                <a:spcPts val="600"/>
              </a:spcBef>
            </a:pPr>
            <a:endParaRPr lang="en-US" altLang="zh-TW" dirty="0"/>
          </a:p>
          <a:p>
            <a:pPr marL="1085850" lvl="2" eaLnBrk="1" hangingPunct="1">
              <a:spcBef>
                <a:spcPts val="600"/>
              </a:spcBef>
            </a:pPr>
            <a:r>
              <a:rPr lang="en-US" altLang="zh-TW" dirty="0"/>
              <a:t>System calls: functions provided by OS to provide service to applications</a:t>
            </a:r>
          </a:p>
          <a:p>
            <a:pPr lvl="3" eaLnBrk="1" hangingPunct="1"/>
            <a:r>
              <a:rPr lang="en-US" altLang="zh-TW" dirty="0"/>
              <a:t>Ex: read(), write(), open()……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79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7053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Event-Driven OS: </a:t>
            </a:r>
            <a:r>
              <a:rPr lang="en-US" altLang="zh-TW">
                <a:solidFill>
                  <a:srgbClr val="0033CC"/>
                </a:solidFill>
              </a:rPr>
              <a:t>Interrupt</a:t>
            </a:r>
            <a:endParaRPr lang="en-US" altLang="zh-TW" dirty="0">
              <a:solidFill>
                <a:srgbClr val="0033CC"/>
              </a:solidFill>
            </a:endParaRP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11900" y="1484314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mov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0x60;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</p:txBody>
      </p:sp>
      <p:cxnSp>
        <p:nvCxnSpPr>
          <p:cNvPr id="9" name="直線單箭頭接點 8"/>
          <p:cNvCxnSpPr>
            <a:stCxn id="282627" idx="1"/>
            <a:endCxn id="282630" idx="3"/>
          </p:cNvCxnSpPr>
          <p:nvPr/>
        </p:nvCxnSpPr>
        <p:spPr>
          <a:xfrm flipH="1">
            <a:off x="4437064" y="2101850"/>
            <a:ext cx="1874837" cy="7239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11" idx="1"/>
          </p:cNvCxnSpPr>
          <p:nvPr/>
        </p:nvCxnSpPr>
        <p:spPr>
          <a:xfrm>
            <a:off x="4437062" y="2825751"/>
            <a:ext cx="1874838" cy="326199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311900" y="5735002"/>
            <a:ext cx="2260600" cy="705486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Interrupt Service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Routine (ISR)</a:t>
            </a: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3359697" y="3463927"/>
            <a:ext cx="1" cy="68659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3392611" y="3687247"/>
            <a:ext cx="104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interrupt</a:t>
            </a:r>
            <a:endParaRPr lang="zh-TW" altLang="en-US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80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255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Event-Driven OS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OS is </a:t>
            </a:r>
            <a:r>
              <a:rPr lang="en-US" altLang="zh-TW" b="1" dirty="0">
                <a:solidFill>
                  <a:srgbClr val="FF0000"/>
                </a:solidFill>
              </a:rPr>
              <a:t>event-driven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b="1" dirty="0"/>
              <a:t>Events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Interrupt: driven by hardware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/>
          </a:p>
          <a:p>
            <a:pPr lvl="1" eaLnBrk="1" hangingPunct="1">
              <a:spcBef>
                <a:spcPts val="600"/>
              </a:spcBef>
            </a:pPr>
            <a:r>
              <a:rPr lang="en-US" altLang="zh-TW" b="1" dirty="0">
                <a:solidFill>
                  <a:srgbClr val="FF0000"/>
                </a:solidFill>
              </a:rPr>
              <a:t>Trap (or exception)</a:t>
            </a:r>
            <a:r>
              <a:rPr lang="en-US" altLang="zh-TW" b="1" dirty="0"/>
              <a:t>: a software-generated interrupt, caused by </a:t>
            </a:r>
          </a:p>
          <a:p>
            <a:pPr marL="1085850" lvl="2" eaLnBrk="1" hangingPunct="1">
              <a:spcBef>
                <a:spcPts val="600"/>
              </a:spcBef>
            </a:pPr>
            <a:r>
              <a:rPr lang="en-US" altLang="zh-TW" b="1" dirty="0">
                <a:solidFill>
                  <a:srgbClr val="FF0000"/>
                </a:solidFill>
              </a:rPr>
              <a:t>Error</a:t>
            </a:r>
            <a:r>
              <a:rPr lang="en-US" altLang="zh-TW" b="1" dirty="0"/>
              <a:t>:  division by zero, illegal instructions </a:t>
            </a:r>
          </a:p>
          <a:p>
            <a:pPr marL="1085850" lvl="2" eaLnBrk="1" hangingPunct="1">
              <a:spcBef>
                <a:spcPts val="600"/>
              </a:spcBef>
            </a:pPr>
            <a:endParaRPr lang="en-US" altLang="zh-TW" dirty="0"/>
          </a:p>
          <a:p>
            <a:pPr marL="1085850" lvl="2" eaLnBrk="1" hangingPunct="1">
              <a:spcBef>
                <a:spcPts val="600"/>
              </a:spcBef>
            </a:pPr>
            <a:r>
              <a:rPr lang="en-US" altLang="zh-TW" dirty="0"/>
              <a:t>System calls: functions provided by OS to provide service to applications</a:t>
            </a:r>
          </a:p>
          <a:p>
            <a:pPr lvl="3" eaLnBrk="1" hangingPunct="1">
              <a:spcBef>
                <a:spcPts val="600"/>
              </a:spcBef>
            </a:pPr>
            <a:r>
              <a:rPr lang="en-US" altLang="zh-TW" dirty="0"/>
              <a:t>Ex: read(), write(), open()……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81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010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Event-Driven OS: </a:t>
            </a:r>
            <a:r>
              <a:rPr lang="en-US" altLang="zh-TW">
                <a:solidFill>
                  <a:srgbClr val="0033CC"/>
                </a:solidFill>
              </a:rPr>
              <a:t>Trap (Error)</a:t>
            </a:r>
            <a:endParaRPr lang="zh-TW" altLang="en-US" dirty="0">
              <a:solidFill>
                <a:srgbClr val="0033CC"/>
              </a:solidFill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312024" y="1484785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a = b/0; </a:t>
            </a:r>
          </a:p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12024" y="4509122"/>
            <a:ext cx="2260600" cy="1931595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OS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312024" y="2719859"/>
            <a:ext cx="2260600" cy="178926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…..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67609" y="2188803"/>
            <a:ext cx="1869455" cy="1274514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CPU</a:t>
            </a:r>
          </a:p>
        </p:txBody>
      </p:sp>
      <p:cxnSp>
        <p:nvCxnSpPr>
          <p:cNvPr id="9" name="直線單箭頭接點 8"/>
          <p:cNvCxnSpPr>
            <a:stCxn id="3" idx="1"/>
            <a:endCxn id="7" idx="3"/>
          </p:cNvCxnSpPr>
          <p:nvPr/>
        </p:nvCxnSpPr>
        <p:spPr>
          <a:xfrm flipH="1">
            <a:off x="4437064" y="2102322"/>
            <a:ext cx="1874961" cy="723738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7" idx="3"/>
            <a:endCxn id="5" idx="1"/>
          </p:cNvCxnSpPr>
          <p:nvPr/>
        </p:nvCxnSpPr>
        <p:spPr>
          <a:xfrm>
            <a:off x="4437064" y="2826061"/>
            <a:ext cx="1874961" cy="264885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488788" y="4005065"/>
            <a:ext cx="885756" cy="58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0" lang="en-US" altLang="zh-TW" sz="3200" b="1" dirty="0">
                <a:solidFill>
                  <a:srgbClr val="FF0000"/>
                </a:solidFill>
                <a:latin typeface="Calibri" panose="020F0502020204030204" pitchFamily="34" charset="0"/>
              </a:rPr>
              <a:t>trap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82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678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Event-Driven OS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OS is </a:t>
            </a:r>
            <a:r>
              <a:rPr lang="en-US" altLang="zh-TW" b="1" dirty="0">
                <a:solidFill>
                  <a:srgbClr val="FF0000"/>
                </a:solidFill>
              </a:rPr>
              <a:t>event-driven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b="1" dirty="0"/>
              <a:t>Events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Interrupt: driven by hardware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/>
          </a:p>
          <a:p>
            <a:pPr lvl="1" eaLnBrk="1" hangingPunct="1">
              <a:spcBef>
                <a:spcPts val="600"/>
              </a:spcBef>
            </a:pPr>
            <a:r>
              <a:rPr lang="en-US" altLang="zh-TW" b="1" dirty="0">
                <a:solidFill>
                  <a:srgbClr val="FF0000"/>
                </a:solidFill>
              </a:rPr>
              <a:t>Trap (or exception)</a:t>
            </a:r>
            <a:r>
              <a:rPr lang="en-US" altLang="zh-TW" b="1" dirty="0"/>
              <a:t>: a software-generated interrupt, caused by </a:t>
            </a:r>
          </a:p>
          <a:p>
            <a:pPr marL="1085850" lvl="2" eaLnBrk="1" hangingPunct="1">
              <a:spcBef>
                <a:spcPts val="600"/>
              </a:spcBef>
            </a:pPr>
            <a:r>
              <a:rPr lang="en-US" altLang="zh-TW" dirty="0"/>
              <a:t>Error:  Division by zero, illegal instructions </a:t>
            </a:r>
          </a:p>
          <a:p>
            <a:pPr marL="1085850" lvl="2" eaLnBrk="1" hangingPunct="1">
              <a:spcBef>
                <a:spcPts val="600"/>
              </a:spcBef>
            </a:pPr>
            <a:endParaRPr lang="en-US" altLang="zh-TW" dirty="0"/>
          </a:p>
          <a:p>
            <a:pPr marL="1085850" lvl="2" eaLnBrk="1" hangingPunct="1">
              <a:spcBef>
                <a:spcPts val="600"/>
              </a:spcBef>
            </a:pPr>
            <a:r>
              <a:rPr lang="en-US" altLang="zh-TW" b="1" dirty="0">
                <a:solidFill>
                  <a:srgbClr val="FF0000"/>
                </a:solidFill>
              </a:rPr>
              <a:t>System calls: </a:t>
            </a:r>
            <a:r>
              <a:rPr lang="en-US" altLang="zh-TW" dirty="0"/>
              <a:t>functions provided by OS to provide service to applications</a:t>
            </a:r>
          </a:p>
          <a:p>
            <a:pPr marL="1428750" lvl="3" eaLnBrk="1" hangingPunct="1">
              <a:spcBef>
                <a:spcPts val="600"/>
              </a:spcBef>
            </a:pPr>
            <a:r>
              <a:rPr lang="en-US" altLang="zh-TW" dirty="0"/>
              <a:t>Ex: read(), write(), open()……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83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5433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Event-Driven OS: </a:t>
            </a:r>
            <a:r>
              <a:rPr lang="en-US" altLang="zh-TW" sz="4000">
                <a:solidFill>
                  <a:srgbClr val="0033CC"/>
                </a:solidFill>
              </a:rPr>
              <a:t>Trap (System Call)</a:t>
            </a:r>
            <a:endParaRPr lang="zh-TW" altLang="en-US" sz="4000" dirty="0">
              <a:solidFill>
                <a:srgbClr val="0033CC"/>
              </a:solidFill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312024" y="1484785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latin typeface="Calibri" panose="020F0502020204030204" pitchFamily="34" charset="0"/>
              </a:rPr>
              <a:t>int</a:t>
            </a:r>
            <a:r>
              <a:rPr kumimoji="0" lang="en-US" altLang="zh-TW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 0x10;  // read()</a:t>
            </a:r>
            <a:r>
              <a:rPr kumimoji="0" lang="zh-TW" altLang="en-US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經過</a:t>
            </a:r>
            <a:r>
              <a:rPr kumimoji="0" lang="en-US" altLang="zh-TW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compiler</a:t>
            </a:r>
            <a:r>
              <a:rPr kumimoji="0" lang="zh-TW" altLang="en-US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處理</a:t>
            </a:r>
            <a:r>
              <a:rPr kumimoji="0" lang="en-US" altLang="zh-TW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; </a:t>
            </a:r>
          </a:p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12024" y="4509122"/>
            <a:ext cx="2260600" cy="1931595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OS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312024" y="2719859"/>
            <a:ext cx="2260600" cy="178926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…..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67609" y="2188803"/>
            <a:ext cx="1869455" cy="1274514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CPU</a:t>
            </a:r>
          </a:p>
        </p:txBody>
      </p:sp>
      <p:cxnSp>
        <p:nvCxnSpPr>
          <p:cNvPr id="9" name="直線單箭頭接點 8"/>
          <p:cNvCxnSpPr>
            <a:stCxn id="3" idx="1"/>
            <a:endCxn id="7" idx="3"/>
          </p:cNvCxnSpPr>
          <p:nvPr/>
        </p:nvCxnSpPr>
        <p:spPr>
          <a:xfrm flipH="1">
            <a:off x="4437064" y="2102322"/>
            <a:ext cx="1874961" cy="723738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7" idx="3"/>
            <a:endCxn id="5" idx="1"/>
          </p:cNvCxnSpPr>
          <p:nvPr/>
        </p:nvCxnSpPr>
        <p:spPr>
          <a:xfrm>
            <a:off x="4437064" y="2826061"/>
            <a:ext cx="1874961" cy="264885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488788" y="4005065"/>
            <a:ext cx="885756" cy="58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0" lang="en-US" altLang="zh-TW" sz="3200" b="1" dirty="0">
                <a:solidFill>
                  <a:srgbClr val="FF0000"/>
                </a:solidFill>
                <a:latin typeface="Calibri" panose="020F0502020204030204" pitchFamily="34" charset="0"/>
              </a:rPr>
              <a:t>trap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84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0767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</a:t>
            </a:r>
            <a:r>
              <a:rPr lang="zh-TW" altLang="en-US" dirty="0"/>
              <a:t>：何謂</a:t>
            </a:r>
            <a:r>
              <a:rPr lang="en-US" altLang="zh-TW" dirty="0"/>
              <a:t>System Calls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31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編號版面配置區 1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3D5FC1-28F5-4BBB-9883-76CB36CD41E3}" type="slidenum">
              <a:rPr kumimoji="0" lang="en-US" altLang="zh-TW" sz="1200">
                <a:latin typeface="Arial Black" panose="020B0A04020102020204" pitchFamily="34" charset="0"/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kumimoji="0" lang="en-US" altLang="zh-TW" sz="1200">
              <a:latin typeface="Arial Black" panose="020B0A040201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3600"/>
              <a:t>Example</a:t>
            </a:r>
          </a:p>
        </p:txBody>
      </p:sp>
      <p:sp>
        <p:nvSpPr>
          <p:cNvPr id="19460" name="內容版面配置區 2"/>
          <p:cNvSpPr>
            <a:spLocks noGrp="1"/>
          </p:cNvSpPr>
          <p:nvPr/>
        </p:nvSpPr>
        <p:spPr bwMode="auto">
          <a:xfrm>
            <a:off x="1981200" y="1094060"/>
            <a:ext cx="7570788" cy="557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#include&lt;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stdio.h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  #include&lt;sys/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types.h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  #include&lt;sys/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stat.h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#include&lt;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fcntl.h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   #include&lt;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unistd.h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   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#include&lt;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stdlib.h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	//for exit()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#include &lt;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string.h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	//for 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strlen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()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TW" sz="1800" dirty="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int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main(){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int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= open("myfile.txt", O_CREAT | O_WRONLY, 0600);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if (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&lt; 0){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printf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("Failed to open the 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fild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.\n");exit(1);	}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int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size;	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size = write(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, "e", 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strlen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("e") 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close(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);		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TW" sz="1800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printf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("length of write data=%d \n", 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strlen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("e"));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printf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("Number of bytes written on success=%d \n\n", size);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TW" sz="1800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exit(0);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}</a:t>
            </a:r>
            <a:endParaRPr lang="zh-TW" altLang="en-US" sz="1800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2927648" y="3068960"/>
            <a:ext cx="5785341" cy="3018187"/>
            <a:chOff x="2927648" y="3284984"/>
            <a:chExt cx="5785341" cy="3018187"/>
          </a:xfrm>
        </p:grpSpPr>
        <p:sp>
          <p:nvSpPr>
            <p:cNvPr id="2" name="圓角矩形 1"/>
            <p:cNvSpPr/>
            <p:nvPr/>
          </p:nvSpPr>
          <p:spPr>
            <a:xfrm>
              <a:off x="2927648" y="3284984"/>
              <a:ext cx="5688632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" name="圓角矩形 2"/>
            <p:cNvSpPr/>
            <p:nvPr/>
          </p:nvSpPr>
          <p:spPr>
            <a:xfrm>
              <a:off x="2927648" y="4365104"/>
              <a:ext cx="5760640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2952349" y="6015139"/>
              <a:ext cx="5760640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2927648" y="4663156"/>
              <a:ext cx="5760640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043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按照程式執行的規則，當呼叫</a:t>
            </a:r>
            <a:r>
              <a:rPr lang="en-US" altLang="zh-TW" dirty="0"/>
              <a:t>open()</a:t>
            </a:r>
            <a:r>
              <a:rPr lang="zh-TW" altLang="en-US" dirty="0"/>
              <a:t>時，程式應該會跳到對應的</a:t>
            </a:r>
            <a:r>
              <a:rPr lang="en-US" altLang="zh-TW" dirty="0"/>
              <a:t>open() function</a:t>
            </a:r>
            <a:r>
              <a:rPr lang="zh-TW" altLang="en-US" dirty="0"/>
              <a:t>。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這個例子：</a:t>
            </a:r>
            <a:r>
              <a:rPr lang="en-US" altLang="zh-TW" dirty="0"/>
              <a:t>open()</a:t>
            </a:r>
            <a:r>
              <a:rPr lang="zh-TW" altLang="en-US" dirty="0"/>
              <a:t>就是一個</a:t>
            </a:r>
            <a:r>
              <a:rPr lang="en-US" altLang="zh-TW" dirty="0"/>
              <a:t>system call</a:t>
            </a:r>
          </a:p>
          <a:p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問題：</a:t>
            </a:r>
            <a:r>
              <a:rPr lang="en-US" altLang="zh-TW" dirty="0">
                <a:solidFill>
                  <a:srgbClr val="FF0000"/>
                </a:solidFill>
              </a:rPr>
              <a:t>open() function</a:t>
            </a:r>
            <a:r>
              <a:rPr lang="zh-TW" altLang="en-US" dirty="0">
                <a:solidFill>
                  <a:srgbClr val="FF0000"/>
                </a:solidFill>
              </a:rPr>
              <a:t>在哪裡？</a:t>
            </a:r>
          </a:p>
        </p:txBody>
      </p:sp>
    </p:spTree>
    <p:extLst>
      <p:ext uri="{BB962C8B-B14F-4D97-AF65-F5344CB8AC3E}">
        <p14:creationId xmlns:p14="http://schemas.microsoft.com/office/powerpoint/2010/main" val="246170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2063552" y="1401345"/>
            <a:ext cx="779742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9146397" y="1124745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itchFamily="18" charset="-120"/>
                <a:cs typeface="+mn-cs"/>
              </a:rPr>
              <a:t>User Mode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9152860" y="1368491"/>
            <a:ext cx="1010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itchFamily="18" charset="-120"/>
                <a:cs typeface="+mn-cs"/>
              </a:rPr>
              <a:t>Kernel Mode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itchFamily="18" charset="-120"/>
              <a:cs typeface="+mn-cs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4762107" y="630279"/>
            <a:ext cx="1463759" cy="4229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Program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read()…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微軟正黑體" pitchFamily="34" charset="-120"/>
              <a:cs typeface="+mn-cs"/>
            </a:endParaRPr>
          </a:p>
        </p:txBody>
      </p:sp>
      <p:sp>
        <p:nvSpPr>
          <p:cNvPr id="16" name="圓角矩形 15"/>
          <p:cNvSpPr/>
          <p:nvPr/>
        </p:nvSpPr>
        <p:spPr>
          <a:xfrm>
            <a:off x="2946228" y="620688"/>
            <a:ext cx="1371018" cy="4229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Program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open()…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微軟正黑體" pitchFamily="34" charset="-120"/>
              <a:cs typeface="+mn-cs"/>
            </a:endParaRPr>
          </a:p>
        </p:txBody>
      </p:sp>
      <p:cxnSp>
        <p:nvCxnSpPr>
          <p:cNvPr id="18" name="直線接點 17"/>
          <p:cNvCxnSpPr/>
          <p:nvPr/>
        </p:nvCxnSpPr>
        <p:spPr>
          <a:xfrm>
            <a:off x="7146344" y="847922"/>
            <a:ext cx="317809" cy="0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AutoShape 284"/>
          <p:cNvSpPr>
            <a:spLocks noChangeArrowheads="1"/>
          </p:cNvSpPr>
          <p:nvPr/>
        </p:nvSpPr>
        <p:spPr bwMode="auto">
          <a:xfrm>
            <a:off x="3783762" y="5374221"/>
            <a:ext cx="4616494" cy="1059185"/>
          </a:xfrm>
          <a:prstGeom prst="flowChartMagneticDisk">
            <a:avLst/>
          </a:prstGeom>
          <a:solidFill>
            <a:srgbClr val="92D05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itchFamily="18" charset="-120"/>
                <a:cs typeface="Times New Roman" panose="02020603050405020304" pitchFamily="18" charset="0"/>
              </a:rPr>
              <a:t>Storage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itchFamily="18" charset="-120"/>
              <a:cs typeface="+mn-cs"/>
            </a:endParaRPr>
          </a:p>
        </p:txBody>
      </p:sp>
      <p:cxnSp>
        <p:nvCxnSpPr>
          <p:cNvPr id="171" name="直線接點 170"/>
          <p:cNvCxnSpPr/>
          <p:nvPr/>
        </p:nvCxnSpPr>
        <p:spPr>
          <a:xfrm>
            <a:off x="2413378" y="5013176"/>
            <a:ext cx="779742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/>
          <p:cNvSpPr txBox="1"/>
          <p:nvPr/>
        </p:nvSpPr>
        <p:spPr>
          <a:xfrm>
            <a:off x="6140564" y="1473289"/>
            <a:ext cx="1502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itchFamily="18" charset="-120"/>
                <a:cs typeface="+mn-cs"/>
              </a:rPr>
              <a:t>open(), read()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itchFamily="18" charset="-120"/>
              <a:cs typeface="+mn-cs"/>
            </a:endParaRPr>
          </a:p>
        </p:txBody>
      </p:sp>
      <p:sp>
        <p:nvSpPr>
          <p:cNvPr id="49" name="圓角矩形 48"/>
          <p:cNvSpPr/>
          <p:nvPr/>
        </p:nvSpPr>
        <p:spPr>
          <a:xfrm>
            <a:off x="2423592" y="1993582"/>
            <a:ext cx="7398372" cy="2775450"/>
          </a:xfrm>
          <a:prstGeom prst="roundRect">
            <a:avLst/>
          </a:prstGeom>
          <a:solidFill>
            <a:srgbClr val="9FFD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open()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{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	….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微軟正黑體" pitchFamily="34" charset="-120"/>
              <a:cs typeface="+mn-cs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}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read()                                               OS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{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	…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}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微軟正黑體" pitchFamily="34" charset="-120"/>
              <a:cs typeface="+mn-cs"/>
            </a:endParaRPr>
          </a:p>
        </p:txBody>
      </p:sp>
      <p:cxnSp>
        <p:nvCxnSpPr>
          <p:cNvPr id="65" name="直線接點 23"/>
          <p:cNvCxnSpPr/>
          <p:nvPr/>
        </p:nvCxnSpPr>
        <p:spPr>
          <a:xfrm flipV="1">
            <a:off x="6106244" y="1124744"/>
            <a:ext cx="83" cy="826517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23"/>
          <p:cNvCxnSpPr/>
          <p:nvPr/>
        </p:nvCxnSpPr>
        <p:spPr>
          <a:xfrm flipV="1">
            <a:off x="6106244" y="4631047"/>
            <a:ext cx="83" cy="742169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6901DFC-AF09-44D6-ABE0-8E54496024F7}" type="slidenum">
              <a:rPr lang="en-US" altLang="zh-TW" smtClean="0"/>
              <a:pPr>
                <a:defRPr/>
              </a:pPr>
              <a:t>88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2476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System Call</a:t>
            </a:r>
            <a:r>
              <a:rPr lang="zh-TW" altLang="en-US" dirty="0"/>
              <a:t>介紹結束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第二章會詳細介紹</a:t>
            </a:r>
          </a:p>
        </p:txBody>
      </p:sp>
    </p:spTree>
    <p:extLst>
      <p:ext uri="{BB962C8B-B14F-4D97-AF65-F5344CB8AC3E}">
        <p14:creationId xmlns:p14="http://schemas.microsoft.com/office/powerpoint/2010/main" val="178905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</a:rPr>
              <a:t>結論</a:t>
            </a:r>
            <a:r>
              <a:rPr lang="en-US" altLang="zh-TW" dirty="0">
                <a:solidFill>
                  <a:srgbClr val="000000"/>
                </a:solidFill>
              </a:rPr>
              <a:t>: OS is Event-Driven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90</a:t>
            </a:fld>
            <a:endParaRPr lang="en-US" altLang="zh-TW"/>
          </a:p>
        </p:txBody>
      </p:sp>
      <p:grpSp>
        <p:nvGrpSpPr>
          <p:cNvPr id="5" name="群組 4"/>
          <p:cNvGrpSpPr/>
          <p:nvPr/>
        </p:nvGrpSpPr>
        <p:grpSpPr>
          <a:xfrm>
            <a:off x="1127448" y="1628800"/>
            <a:ext cx="9361040" cy="4616424"/>
            <a:chOff x="1919536" y="1504198"/>
            <a:chExt cx="8147248" cy="4373074"/>
          </a:xfrm>
        </p:grpSpPr>
        <p:cxnSp>
          <p:nvCxnSpPr>
            <p:cNvPr id="6" name="直線接點 5"/>
            <p:cNvCxnSpPr/>
            <p:nvPr/>
          </p:nvCxnSpPr>
          <p:spPr>
            <a:xfrm>
              <a:off x="1919536" y="2357380"/>
              <a:ext cx="7797422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字方塊 6"/>
            <p:cNvSpPr txBox="1"/>
            <p:nvPr/>
          </p:nvSpPr>
          <p:spPr>
            <a:xfrm>
              <a:off x="9002381" y="2080780"/>
              <a:ext cx="891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200" b="1" dirty="0">
                  <a:solidFill>
                    <a:prstClr val="black"/>
                  </a:solidFill>
                  <a:latin typeface="Calibri" panose="020F0502020204030204" pitchFamily="34" charset="0"/>
                </a:rPr>
                <a:t>User Mode</a:t>
              </a:r>
              <a:endParaRPr kumimoji="0" lang="zh-TW" altLang="en-US" sz="1200" b="1" dirty="0">
                <a:solidFill>
                  <a:prstClr val="black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9008844" y="2324526"/>
              <a:ext cx="10106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200" b="1" dirty="0">
                  <a:solidFill>
                    <a:prstClr val="black"/>
                  </a:solidFill>
                  <a:latin typeface="Calibri" panose="020F0502020204030204" pitchFamily="34" charset="0"/>
                </a:rPr>
                <a:t>Kernel Mode</a:t>
              </a:r>
              <a:endParaRPr kumimoji="0" lang="zh-TW" altLang="en-US" sz="1200" b="1" dirty="0">
                <a:solidFill>
                  <a:prstClr val="black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4367809" y="1513789"/>
              <a:ext cx="1463759" cy="42297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Program 1</a:t>
              </a:r>
              <a:endParaRPr kumimoji="0" lang="zh-TW" altLang="en-US" sz="16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微軟正黑體" pitchFamily="34" charset="-120"/>
              </a:endParaRP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6168008" y="1504198"/>
              <a:ext cx="1371018" cy="42297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Program</a:t>
              </a:r>
              <a:r>
                <a:rPr kumimoji="0" lang="zh-TW" altLang="en-US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 </a:t>
              </a: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2</a:t>
              </a:r>
              <a:endParaRPr kumimoji="0" lang="zh-TW" altLang="en-US" sz="16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微軟正黑體" pitchFamily="34" charset="-120"/>
              </a:endParaRPr>
            </a:p>
          </p:txBody>
        </p:sp>
        <p:cxnSp>
          <p:nvCxnSpPr>
            <p:cNvPr id="11" name="直線接點 10"/>
            <p:cNvCxnSpPr/>
            <p:nvPr/>
          </p:nvCxnSpPr>
          <p:spPr>
            <a:xfrm>
              <a:off x="7866424" y="1731432"/>
              <a:ext cx="317809" cy="0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269362" y="4817083"/>
              <a:ext cx="7797422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3423643" y="2335972"/>
              <a:ext cx="1687798" cy="379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2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system call traps</a:t>
              </a:r>
              <a:endParaRPr kumimoji="0" lang="zh-TW" altLang="en-US" sz="20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4674280" y="2914004"/>
              <a:ext cx="2578567" cy="979928"/>
            </a:xfrm>
            <a:prstGeom prst="roundRect">
              <a:avLst/>
            </a:prstGeom>
            <a:solidFill>
              <a:srgbClr val="9FFDF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TW" sz="20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OS</a:t>
              </a:r>
            </a:p>
          </p:txBody>
        </p:sp>
        <p:cxnSp>
          <p:nvCxnSpPr>
            <p:cNvPr id="15" name="直線接點 23"/>
            <p:cNvCxnSpPr/>
            <p:nvPr/>
          </p:nvCxnSpPr>
          <p:spPr>
            <a:xfrm flipV="1">
              <a:off x="5152551" y="2046351"/>
              <a:ext cx="83" cy="826517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23"/>
            <p:cNvCxnSpPr/>
            <p:nvPr/>
          </p:nvCxnSpPr>
          <p:spPr>
            <a:xfrm flipV="1">
              <a:off x="5962228" y="4002907"/>
              <a:ext cx="83" cy="742169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字方塊 16"/>
            <p:cNvSpPr txBox="1"/>
            <p:nvPr/>
          </p:nvSpPr>
          <p:spPr>
            <a:xfrm>
              <a:off x="5968288" y="4231727"/>
              <a:ext cx="1084200" cy="379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2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interrupts</a:t>
              </a:r>
              <a:endParaRPr kumimoji="0" lang="zh-TW" altLang="en-US" sz="20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18" name="直線接點 23"/>
            <p:cNvCxnSpPr/>
            <p:nvPr/>
          </p:nvCxnSpPr>
          <p:spPr>
            <a:xfrm flipV="1">
              <a:off x="6672065" y="2046351"/>
              <a:ext cx="83" cy="826517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6736850" y="2324511"/>
              <a:ext cx="1145308" cy="379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2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Error traps</a:t>
              </a:r>
              <a:endParaRPr kumimoji="0" lang="zh-TW" altLang="en-US" sz="20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640506" y="5301208"/>
              <a:ext cx="1512044" cy="5760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latin typeface="Calibri" panose="020F0502020204030204" pitchFamily="34" charset="0"/>
                </a:rPr>
                <a:t>Device 1</a:t>
              </a:r>
              <a:endParaRPr lang="zh-TW" alt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411986" y="5295159"/>
              <a:ext cx="1512044" cy="5760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latin typeface="Calibri" panose="020F0502020204030204" pitchFamily="34" charset="0"/>
                </a:rPr>
                <a:t>Device 2</a:t>
              </a:r>
              <a:endParaRPr lang="zh-TW" alt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240098" y="5295159"/>
              <a:ext cx="1512044" cy="5760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latin typeface="Calibri" panose="020F0502020204030204" pitchFamily="34" charset="0"/>
                </a:rPr>
                <a:t>Device 3</a:t>
              </a:r>
              <a:endParaRPr lang="zh-TW" altLang="en-US" sz="2000" dirty="0">
                <a:latin typeface="Calibri" panose="020F0502020204030204" pitchFamily="34" charset="0"/>
              </a:endParaRPr>
            </a:p>
          </p:txBody>
        </p:sp>
        <p:cxnSp>
          <p:nvCxnSpPr>
            <p:cNvPr id="23" name="直線接點 22"/>
            <p:cNvCxnSpPr/>
            <p:nvPr/>
          </p:nvCxnSpPr>
          <p:spPr>
            <a:xfrm>
              <a:off x="8976321" y="5583191"/>
              <a:ext cx="317809" cy="0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871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Organization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b="1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Architecture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Operating-System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OS Invocation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Multiprogramming and Multitasking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Timers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Dual-Mode and Multi-mode Operation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endParaRPr lang="en-US" altLang="zh-TW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TW" b="1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91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4768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600" dirty="0"/>
              <a:t>作業系統提供應用程式執行的環境</a:t>
            </a:r>
            <a:r>
              <a:rPr lang="en-US" altLang="zh-TW" sz="3600" dirty="0"/>
              <a:t>!</a:t>
            </a:r>
            <a:br>
              <a:rPr lang="en-US" altLang="zh-TW" sz="3600" dirty="0"/>
            </a:br>
            <a:r>
              <a:rPr lang="en-US" altLang="zh-TW" sz="3600" dirty="0"/>
              <a:t/>
            </a:r>
            <a:br>
              <a:rPr lang="en-US" altLang="zh-TW" sz="3600" dirty="0"/>
            </a:br>
            <a:r>
              <a:rPr lang="zh-TW" altLang="en-US" sz="3600" dirty="0">
                <a:solidFill>
                  <a:srgbClr val="FF0000"/>
                </a:solidFill>
              </a:rPr>
              <a:t>第一件事</a:t>
            </a:r>
            <a:r>
              <a:rPr lang="en-US" altLang="zh-TW" sz="3600" dirty="0">
                <a:solidFill>
                  <a:srgbClr val="FF0000"/>
                </a:solidFill>
              </a:rPr>
              <a:t>: </a:t>
            </a:r>
            <a:r>
              <a:rPr lang="zh-TW" altLang="en-US" sz="3600" dirty="0">
                <a:solidFill>
                  <a:srgbClr val="FF0000"/>
                </a:solidFill>
              </a:rPr>
              <a:t>作業系統如何管理</a:t>
            </a:r>
            <a:r>
              <a:rPr lang="en-US" altLang="zh-TW" sz="3600" dirty="0">
                <a:solidFill>
                  <a:srgbClr val="FF0000"/>
                </a:solidFill>
              </a:rPr>
              <a:t>/</a:t>
            </a:r>
            <a:r>
              <a:rPr lang="zh-TW" altLang="en-US" sz="3600" dirty="0">
                <a:solidFill>
                  <a:srgbClr val="FF0000"/>
                </a:solidFill>
              </a:rPr>
              <a:t>執行應用程式呢</a:t>
            </a:r>
            <a:r>
              <a:rPr lang="en-US" altLang="zh-TW" sz="3600" dirty="0">
                <a:solidFill>
                  <a:srgbClr val="FF0000"/>
                </a:solidFill>
              </a:rPr>
              <a:t>?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405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Operating-System Structure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sz="3600" dirty="0"/>
              <a:t>Three different OS structures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dirty="0"/>
              <a:t>Single-programming systems</a:t>
            </a:r>
          </a:p>
          <a:p>
            <a:pPr eaLnBrk="1" hangingPunct="1">
              <a:lnSpc>
                <a:spcPct val="120000"/>
              </a:lnSpc>
            </a:pPr>
            <a:endParaRPr lang="en-US" altLang="zh-TW" sz="36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dirty="0"/>
              <a:t>Multi-programmed systems</a:t>
            </a:r>
          </a:p>
          <a:p>
            <a:pPr eaLnBrk="1" hangingPunct="1">
              <a:lnSpc>
                <a:spcPct val="120000"/>
              </a:lnSpc>
            </a:pPr>
            <a:endParaRPr lang="en-US" altLang="zh-TW" sz="36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dirty="0"/>
              <a:t>Time-sharing (or multitasking) systems</a:t>
            </a:r>
          </a:p>
          <a:p>
            <a:endParaRPr lang="zh-TW" altLang="en-US" sz="40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93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4546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Operating-System Structure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sz="3600" dirty="0"/>
              <a:t>Three different OS structures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b="1" dirty="0">
                <a:solidFill>
                  <a:srgbClr val="FF0000"/>
                </a:solidFill>
              </a:rPr>
              <a:t>Single-programming systems</a:t>
            </a:r>
          </a:p>
          <a:p>
            <a:pPr eaLnBrk="1" hangingPunct="1">
              <a:lnSpc>
                <a:spcPct val="120000"/>
              </a:lnSpc>
            </a:pPr>
            <a:endParaRPr lang="en-US" altLang="zh-TW" sz="36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dirty="0"/>
              <a:t>Multi-programmed systems</a:t>
            </a:r>
          </a:p>
          <a:p>
            <a:pPr eaLnBrk="1" hangingPunct="1">
              <a:lnSpc>
                <a:spcPct val="120000"/>
              </a:lnSpc>
            </a:pPr>
            <a:endParaRPr lang="en-US" altLang="zh-TW" sz="36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dirty="0"/>
              <a:t>Time-sharing (or multitasking) systems</a:t>
            </a:r>
          </a:p>
          <a:p>
            <a:endParaRPr lang="zh-TW" altLang="en-US" sz="40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94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1441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Single-Programming Systems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One application program at a time</a:t>
            </a:r>
          </a:p>
          <a:p>
            <a:pPr lvl="1"/>
            <a:r>
              <a:rPr lang="en-US" altLang="zh-TW" sz="3200" dirty="0"/>
              <a:t>After a program is finished, then the next program</a:t>
            </a:r>
          </a:p>
          <a:p>
            <a:endParaRPr lang="en-US" altLang="zh-TW" sz="3600" dirty="0"/>
          </a:p>
          <a:p>
            <a:r>
              <a:rPr lang="zh-TW" altLang="en-US" sz="3600" dirty="0"/>
              <a:t>一次執行一個應用程式</a:t>
            </a:r>
            <a:r>
              <a:rPr lang="en-US" altLang="zh-TW" sz="3600" dirty="0"/>
              <a:t>, </a:t>
            </a:r>
            <a:r>
              <a:rPr lang="zh-TW" altLang="en-US" sz="3600" dirty="0"/>
              <a:t>結束執行後才會執行下一個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en-US" altLang="zh-TW" sz="3600" b="1" dirty="0">
                <a:solidFill>
                  <a:srgbClr val="FF0000"/>
                </a:solidFill>
              </a:rPr>
              <a:t>Question: </a:t>
            </a:r>
            <a:r>
              <a:rPr lang="zh-TW" altLang="en-US" sz="3600" b="1" dirty="0">
                <a:solidFill>
                  <a:srgbClr val="FF0000"/>
                </a:solidFill>
              </a:rPr>
              <a:t>有什麼缺點呢</a:t>
            </a:r>
            <a:r>
              <a:rPr lang="en-US" altLang="zh-TW" sz="3600" b="1" dirty="0">
                <a:solidFill>
                  <a:srgbClr val="FF0000"/>
                </a:solidFill>
              </a:rPr>
              <a:t>?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95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104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Single-Programming Systems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3600" dirty="0"/>
              <a:t>缺點</a:t>
            </a:r>
            <a:r>
              <a:rPr lang="en-US" altLang="zh-TW" sz="3600" dirty="0"/>
              <a:t>:</a:t>
            </a:r>
            <a:r>
              <a:rPr lang="zh-TW" altLang="en-US" sz="3600" dirty="0"/>
              <a:t> </a:t>
            </a:r>
            <a:r>
              <a:rPr lang="en-US" altLang="zh-TW" sz="3600" dirty="0"/>
              <a:t>very </a:t>
            </a:r>
            <a:r>
              <a:rPr lang="en-US" altLang="zh-TW" sz="3600" b="1" i="1" dirty="0"/>
              <a:t>inefficient </a:t>
            </a:r>
          </a:p>
          <a:p>
            <a:pPr lvl="2"/>
            <a:endParaRPr lang="en-US" altLang="zh-TW" sz="2800" dirty="0"/>
          </a:p>
          <a:p>
            <a:pPr lvl="1"/>
            <a:r>
              <a:rPr lang="en-US" altLang="zh-TW" sz="3200" dirty="0"/>
              <a:t>CPU is idle when the running program is doing I/O</a:t>
            </a:r>
          </a:p>
          <a:p>
            <a:pPr lvl="1"/>
            <a:endParaRPr lang="en-US" altLang="zh-TW" sz="3200" dirty="0"/>
          </a:p>
          <a:p>
            <a:pPr marL="457200" lvl="1" indent="0">
              <a:buNone/>
            </a:pPr>
            <a:endParaRPr lang="en-US" altLang="zh-TW" sz="3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96</a:t>
            </a:fld>
            <a:endParaRPr lang="en-US" altLang="zh-TW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910039"/>
              </p:ext>
            </p:extLst>
          </p:nvPr>
        </p:nvGraphicFramePr>
        <p:xfrm>
          <a:off x="2351585" y="4403948"/>
          <a:ext cx="6768751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" name="Artwork" r:id="rId3" imgW="5038095" imgH="1257476" progId="">
                  <p:embed/>
                </p:oleObj>
              </mc:Choice>
              <mc:Fallback>
                <p:oleObj name="Artwork" r:id="rId3" imgW="5038095" imgH="1257476" progId="">
                  <p:embed/>
                  <p:pic>
                    <p:nvPicPr>
                      <p:cNvPr id="205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5" y="4403948"/>
                        <a:ext cx="6768751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058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Operating-System Structure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sz="3600" dirty="0"/>
              <a:t>Three different OS structures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dirty="0"/>
              <a:t>Single-programming systems</a:t>
            </a:r>
          </a:p>
          <a:p>
            <a:pPr eaLnBrk="1" hangingPunct="1">
              <a:lnSpc>
                <a:spcPct val="120000"/>
              </a:lnSpc>
            </a:pPr>
            <a:endParaRPr lang="en-US" altLang="zh-TW" sz="36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b="1" dirty="0">
                <a:solidFill>
                  <a:srgbClr val="FF0000"/>
                </a:solidFill>
              </a:rPr>
              <a:t>Multi-programmed systems</a:t>
            </a:r>
          </a:p>
          <a:p>
            <a:pPr eaLnBrk="1" hangingPunct="1">
              <a:lnSpc>
                <a:spcPct val="120000"/>
              </a:lnSpc>
            </a:pPr>
            <a:endParaRPr lang="en-US" altLang="zh-TW" sz="36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dirty="0"/>
              <a:t>Time-sharing (or multitasking) systems</a:t>
            </a:r>
          </a:p>
          <a:p>
            <a:endParaRPr lang="zh-TW" altLang="en-US" sz="40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97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1237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Multi-Programmed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For </a:t>
            </a:r>
            <a:r>
              <a:rPr lang="en-US" altLang="zh-TW" b="1" dirty="0">
                <a:solidFill>
                  <a:srgbClr val="FF3300"/>
                </a:solidFill>
              </a:rPr>
              <a:t>efficiency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Run multiple programs keep either the </a:t>
            </a:r>
            <a:r>
              <a:rPr lang="en-US" altLang="zh-TW" b="1" dirty="0"/>
              <a:t>CPU</a:t>
            </a:r>
            <a:r>
              <a:rPr lang="en-US" altLang="zh-TW" dirty="0"/>
              <a:t> busy at all times</a:t>
            </a:r>
          </a:p>
          <a:p>
            <a:pPr lvl="1"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Give an example in your usual life: </a:t>
            </a:r>
            <a:r>
              <a:rPr lang="zh-TW" altLang="en-US" dirty="0"/>
              <a:t>小朋友盪鞦韆</a:t>
            </a:r>
            <a:endParaRPr lang="en-US" altLang="zh-TW" dirty="0"/>
          </a:p>
          <a:p>
            <a:pPr lvl="1" eaLnBrk="1" hangingPunct="1"/>
            <a:endParaRPr lang="en-US" altLang="zh-TW" dirty="0"/>
          </a:p>
          <a:p>
            <a:pPr eaLnBrk="1" hangingPunct="1"/>
            <a:endParaRPr lang="en-US" altLang="zh-TW" b="1" i="1" dirty="0">
              <a:solidFill>
                <a:srgbClr val="FF3300"/>
              </a:solidFill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98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38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Multi-Programmed Systems (Cont.)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58E01AA-4B65-4798-BFD9-8B545C976B75}" type="slidenum">
              <a:rPr lang="en-US" altLang="zh-TW" smtClean="0"/>
              <a:pPr>
                <a:defRPr/>
              </a:pPr>
              <a:t>99</a:t>
            </a:fld>
            <a:endParaRPr lang="en-US" altLang="zh-TW"/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082062"/>
              </p:ext>
            </p:extLst>
          </p:nvPr>
        </p:nvGraphicFramePr>
        <p:xfrm>
          <a:off x="1271464" y="1556792"/>
          <a:ext cx="8712968" cy="4464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Artwork" r:id="rId3" imgW="6249272" imgH="3315163" progId="">
                  <p:embed/>
                </p:oleObj>
              </mc:Choice>
              <mc:Fallback>
                <p:oleObj name="Artwork" r:id="rId3" imgW="6249272" imgH="3315163" progId="">
                  <p:embed/>
                  <p:pic>
                    <p:nvPicPr>
                      <p:cNvPr id="2051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556792"/>
                        <a:ext cx="8712968" cy="4464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110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Question: </a:t>
            </a:r>
            <a:r>
              <a:rPr lang="zh-TW" altLang="en-US" sz="4000" dirty="0"/>
              <a:t>在</a:t>
            </a:r>
            <a:r>
              <a:rPr lang="en-US" altLang="zh-TW" sz="4000" dirty="0"/>
              <a:t>multi-programming system</a:t>
            </a:r>
            <a:r>
              <a:rPr lang="zh-TW" altLang="en-US" sz="4000" dirty="0"/>
              <a:t>中</a:t>
            </a:r>
            <a:r>
              <a:rPr lang="en-US" altLang="zh-TW" sz="4000" dirty="0"/>
              <a:t>,</a:t>
            </a:r>
            <a:r>
              <a:rPr lang="zh-TW" altLang="en-US" sz="4000" dirty="0"/>
              <a:t> </a:t>
            </a:r>
            <a:r>
              <a:rPr lang="en-US" altLang="zh-TW" sz="4000" dirty="0"/>
              <a:t>CPU</a:t>
            </a:r>
            <a:r>
              <a:rPr lang="zh-TW" altLang="en-US" sz="4000" dirty="0"/>
              <a:t>何時會從應用程式</a:t>
            </a:r>
            <a:r>
              <a:rPr lang="en-US" altLang="zh-TW" sz="4000" dirty="0"/>
              <a:t>A</a:t>
            </a:r>
            <a:r>
              <a:rPr lang="zh-TW" altLang="en-US" sz="4000" dirty="0"/>
              <a:t>切換到應用程式</a:t>
            </a:r>
            <a:r>
              <a:rPr lang="en-US" altLang="zh-TW" sz="4000" dirty="0"/>
              <a:t>B</a:t>
            </a:r>
            <a:r>
              <a:rPr lang="zh-TW" altLang="en-US" sz="4000" dirty="0"/>
              <a:t>執行</a:t>
            </a:r>
            <a:r>
              <a:rPr lang="en-US" altLang="zh-TW" sz="4000" dirty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Ans</a:t>
            </a:r>
            <a:r>
              <a:rPr lang="en-US" altLang="zh-TW" dirty="0"/>
              <a:t>: </a:t>
            </a:r>
            <a:r>
              <a:rPr lang="zh-TW" altLang="en-US" dirty="0"/>
              <a:t>程式結束或是作</a:t>
            </a:r>
            <a:r>
              <a:rPr lang="en-US" altLang="zh-TW" dirty="0"/>
              <a:t>I/O</a:t>
            </a:r>
            <a:r>
              <a:rPr lang="zh-TW" altLang="en-US" dirty="0"/>
              <a:t>的時候</a:t>
            </a:r>
          </a:p>
        </p:txBody>
      </p:sp>
    </p:spTree>
    <p:extLst>
      <p:ext uri="{BB962C8B-B14F-4D97-AF65-F5344CB8AC3E}">
        <p14:creationId xmlns:p14="http://schemas.microsoft.com/office/powerpoint/2010/main" val="93232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Question: </a:t>
            </a:r>
            <a:r>
              <a:rPr lang="zh-TW" altLang="en-US" sz="4000" dirty="0"/>
              <a:t>為什麼應用程式做</a:t>
            </a:r>
            <a:r>
              <a:rPr lang="en-US" altLang="zh-TW" sz="4000" dirty="0"/>
              <a:t>I/O</a:t>
            </a:r>
            <a:r>
              <a:rPr lang="zh-TW" altLang="en-US" sz="4000" dirty="0"/>
              <a:t>時</a:t>
            </a:r>
            <a:r>
              <a:rPr lang="en-US" altLang="zh-TW" sz="4000" dirty="0"/>
              <a:t>, </a:t>
            </a:r>
            <a:r>
              <a:rPr lang="zh-TW" altLang="en-US" sz="4000" dirty="0"/>
              <a:t>可以執行應用程式的切換呢</a:t>
            </a:r>
            <a:r>
              <a:rPr lang="en-US" altLang="zh-TW" sz="4000" dirty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</a:t>
            </a:r>
            <a:r>
              <a:rPr lang="en-US" altLang="zh-TW" dirty="0"/>
              <a:t>: </a:t>
            </a:r>
            <a:r>
              <a:rPr lang="zh-TW" altLang="en-US" dirty="0"/>
              <a:t>這個切換的動作是誰負責處理執行的</a:t>
            </a:r>
            <a:r>
              <a:rPr lang="en-US" altLang="zh-TW" dirty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217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</a:rPr>
              <a:t>複習</a:t>
            </a:r>
            <a:r>
              <a:rPr lang="en-US" altLang="zh-TW" dirty="0">
                <a:solidFill>
                  <a:srgbClr val="000000"/>
                </a:solidFill>
              </a:rPr>
              <a:t>: OS is Event-Driven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102</a:t>
            </a:fld>
            <a:endParaRPr lang="en-US" altLang="zh-TW"/>
          </a:p>
        </p:txBody>
      </p:sp>
      <p:grpSp>
        <p:nvGrpSpPr>
          <p:cNvPr id="5" name="群組 4"/>
          <p:cNvGrpSpPr/>
          <p:nvPr/>
        </p:nvGrpSpPr>
        <p:grpSpPr>
          <a:xfrm>
            <a:off x="1127448" y="1628800"/>
            <a:ext cx="9361040" cy="4616424"/>
            <a:chOff x="1919536" y="1504198"/>
            <a:chExt cx="8147248" cy="4373074"/>
          </a:xfrm>
        </p:grpSpPr>
        <p:cxnSp>
          <p:nvCxnSpPr>
            <p:cNvPr id="6" name="直線接點 5"/>
            <p:cNvCxnSpPr/>
            <p:nvPr/>
          </p:nvCxnSpPr>
          <p:spPr>
            <a:xfrm>
              <a:off x="1919536" y="2357380"/>
              <a:ext cx="7797422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字方塊 6"/>
            <p:cNvSpPr txBox="1"/>
            <p:nvPr/>
          </p:nvSpPr>
          <p:spPr>
            <a:xfrm>
              <a:off x="9002381" y="2080780"/>
              <a:ext cx="891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200" b="1" dirty="0">
                  <a:solidFill>
                    <a:prstClr val="black"/>
                  </a:solidFill>
                  <a:latin typeface="Calibri" panose="020F0502020204030204" pitchFamily="34" charset="0"/>
                </a:rPr>
                <a:t>User Mode</a:t>
              </a:r>
              <a:endParaRPr kumimoji="0" lang="zh-TW" altLang="en-US" sz="1200" b="1" dirty="0">
                <a:solidFill>
                  <a:prstClr val="black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9008844" y="2324526"/>
              <a:ext cx="10106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200" b="1" dirty="0">
                  <a:solidFill>
                    <a:prstClr val="black"/>
                  </a:solidFill>
                  <a:latin typeface="Calibri" panose="020F0502020204030204" pitchFamily="34" charset="0"/>
                </a:rPr>
                <a:t>Kernel Mode</a:t>
              </a:r>
              <a:endParaRPr kumimoji="0" lang="zh-TW" altLang="en-US" sz="1200" b="1" dirty="0">
                <a:solidFill>
                  <a:prstClr val="black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4367809" y="1513789"/>
              <a:ext cx="1463759" cy="42297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Program 1</a:t>
              </a:r>
              <a:endParaRPr kumimoji="0" lang="zh-TW" altLang="en-US" sz="16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微軟正黑體" pitchFamily="34" charset="-120"/>
              </a:endParaRP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6168008" y="1504198"/>
              <a:ext cx="1371018" cy="42297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Program</a:t>
              </a:r>
              <a:r>
                <a:rPr kumimoji="0" lang="zh-TW" altLang="en-US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 </a:t>
              </a: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2</a:t>
              </a:r>
              <a:endParaRPr kumimoji="0" lang="zh-TW" altLang="en-US" sz="16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微軟正黑體" pitchFamily="34" charset="-120"/>
              </a:endParaRPr>
            </a:p>
          </p:txBody>
        </p:sp>
        <p:cxnSp>
          <p:nvCxnSpPr>
            <p:cNvPr id="11" name="直線接點 10"/>
            <p:cNvCxnSpPr/>
            <p:nvPr/>
          </p:nvCxnSpPr>
          <p:spPr>
            <a:xfrm>
              <a:off x="7866424" y="1731432"/>
              <a:ext cx="317809" cy="0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269362" y="4817083"/>
              <a:ext cx="7797422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圓角矩形 13"/>
            <p:cNvSpPr/>
            <p:nvPr/>
          </p:nvSpPr>
          <p:spPr>
            <a:xfrm>
              <a:off x="4674280" y="3184545"/>
              <a:ext cx="2578567" cy="979928"/>
            </a:xfrm>
            <a:prstGeom prst="roundRect">
              <a:avLst/>
            </a:prstGeom>
            <a:solidFill>
              <a:srgbClr val="9FFDF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TW" sz="20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OS</a:t>
              </a:r>
            </a:p>
          </p:txBody>
        </p:sp>
        <p:cxnSp>
          <p:nvCxnSpPr>
            <p:cNvPr id="15" name="直線接點 23"/>
            <p:cNvCxnSpPr/>
            <p:nvPr/>
          </p:nvCxnSpPr>
          <p:spPr>
            <a:xfrm flipV="1">
              <a:off x="5241024" y="2110137"/>
              <a:ext cx="83" cy="826517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23"/>
            <p:cNvCxnSpPr/>
            <p:nvPr/>
          </p:nvCxnSpPr>
          <p:spPr>
            <a:xfrm flipV="1">
              <a:off x="5962228" y="4002907"/>
              <a:ext cx="83" cy="742169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字方塊 16"/>
            <p:cNvSpPr txBox="1"/>
            <p:nvPr/>
          </p:nvSpPr>
          <p:spPr>
            <a:xfrm>
              <a:off x="5968288" y="4231727"/>
              <a:ext cx="11358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800" b="1" dirty="0">
                  <a:solidFill>
                    <a:prstClr val="black"/>
                  </a:solidFill>
                  <a:latin typeface="Calibri" panose="020F0502020204030204" pitchFamily="34" charset="0"/>
                </a:rPr>
                <a:t>interrupts</a:t>
              </a:r>
              <a:endParaRPr kumimoji="0" lang="zh-TW" altLang="en-US" sz="1800" b="1" dirty="0">
                <a:solidFill>
                  <a:prstClr val="black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18" name="直線接點 23"/>
            <p:cNvCxnSpPr/>
            <p:nvPr/>
          </p:nvCxnSpPr>
          <p:spPr>
            <a:xfrm flipV="1">
              <a:off x="6745131" y="2110137"/>
              <a:ext cx="83" cy="826517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6736850" y="2324511"/>
              <a:ext cx="1044354" cy="3498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800" b="1" dirty="0">
                  <a:solidFill>
                    <a:prstClr val="black"/>
                  </a:solidFill>
                  <a:latin typeface="Calibri" panose="020F0502020204030204" pitchFamily="34" charset="0"/>
                </a:rPr>
                <a:t>Error traps</a:t>
              </a:r>
              <a:endParaRPr kumimoji="0" lang="zh-TW" altLang="en-US" sz="1800" b="1" dirty="0">
                <a:solidFill>
                  <a:prstClr val="black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640506" y="5301208"/>
              <a:ext cx="1512044" cy="5760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latin typeface="Calibri" panose="020F0502020204030204" pitchFamily="34" charset="0"/>
                </a:rPr>
                <a:t>Device 1</a:t>
              </a:r>
              <a:endParaRPr lang="zh-TW" alt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411986" y="5295159"/>
              <a:ext cx="1512044" cy="5760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latin typeface="Calibri" panose="020F0502020204030204" pitchFamily="34" charset="0"/>
                </a:rPr>
                <a:t>Device 2</a:t>
              </a:r>
              <a:endParaRPr lang="zh-TW" alt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240098" y="5295159"/>
              <a:ext cx="1512044" cy="5760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latin typeface="Calibri" panose="020F0502020204030204" pitchFamily="34" charset="0"/>
                </a:rPr>
                <a:t>Device 3</a:t>
              </a:r>
              <a:endParaRPr lang="zh-TW" altLang="en-US" sz="2000" dirty="0">
                <a:latin typeface="Calibri" panose="020F0502020204030204" pitchFamily="34" charset="0"/>
              </a:endParaRPr>
            </a:p>
          </p:txBody>
        </p:sp>
        <p:cxnSp>
          <p:nvCxnSpPr>
            <p:cNvPr id="23" name="直線接點 22"/>
            <p:cNvCxnSpPr/>
            <p:nvPr/>
          </p:nvCxnSpPr>
          <p:spPr>
            <a:xfrm>
              <a:off x="8976321" y="5583191"/>
              <a:ext cx="317809" cy="0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2232892" y="2335972"/>
              <a:ext cx="2953478" cy="9038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28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system call traps 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TW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alibri" panose="020F0502020204030204" pitchFamily="34" charset="0"/>
                  <a:ea typeface="標楷體" panose="03000509000000000000" pitchFamily="65" charset="-120"/>
                  <a:cs typeface="+mj-cs"/>
                </a:rPr>
                <a:t>例如</a:t>
              </a:r>
              <a:r>
                <a:rPr lang="en-US" altLang="zh-TW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alibri" panose="020F0502020204030204" pitchFamily="34" charset="0"/>
                  <a:ea typeface="標楷體" panose="03000509000000000000" pitchFamily="65" charset="-120"/>
                  <a:cs typeface="+mj-cs"/>
                </a:rPr>
                <a:t>:</a:t>
              </a:r>
              <a:r>
                <a:rPr lang="zh-TW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alibri" panose="020F0502020204030204" pitchFamily="34" charset="0"/>
                  <a:ea typeface="標楷體" panose="03000509000000000000" pitchFamily="65" charset="-120"/>
                  <a:cs typeface="+mj-cs"/>
                </a:rPr>
                <a:t> </a:t>
              </a:r>
              <a:r>
                <a:rPr kumimoji="0" lang="en-US" altLang="zh-TW" sz="28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read(), write())</a:t>
              </a:r>
              <a:endParaRPr kumimoji="0" lang="zh-TW" altLang="en-US" sz="28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610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Question: </a:t>
            </a:r>
            <a:r>
              <a:rPr lang="zh-TW" altLang="en-US" sz="4000" dirty="0"/>
              <a:t>當應用程式</a:t>
            </a:r>
            <a:r>
              <a:rPr lang="zh-TW" altLang="en-US" sz="4000" dirty="0">
                <a:solidFill>
                  <a:srgbClr val="FF0000"/>
                </a:solidFill>
              </a:rPr>
              <a:t>呼叫</a:t>
            </a:r>
            <a:r>
              <a:rPr lang="en-US" altLang="zh-TW" sz="4000" dirty="0">
                <a:solidFill>
                  <a:srgbClr val="FF0000"/>
                </a:solidFill>
              </a:rPr>
              <a:t>system call</a:t>
            </a:r>
            <a:r>
              <a:rPr lang="zh-TW" altLang="en-US" sz="4000" dirty="0">
                <a:solidFill>
                  <a:srgbClr val="FF0000"/>
                </a:solidFill>
              </a:rPr>
              <a:t>做</a:t>
            </a:r>
            <a:r>
              <a:rPr lang="en-US" altLang="zh-TW" sz="4000" dirty="0">
                <a:solidFill>
                  <a:srgbClr val="FF0000"/>
                </a:solidFill>
              </a:rPr>
              <a:t>I/O</a:t>
            </a:r>
            <a:r>
              <a:rPr lang="zh-TW" altLang="en-US" sz="4000" dirty="0"/>
              <a:t>時才切換應用程式會有甚麼問題呢</a:t>
            </a:r>
            <a:r>
              <a:rPr lang="en-US" altLang="zh-TW" sz="4000" dirty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Hint: </a:t>
            </a:r>
            <a:r>
              <a:rPr lang="zh-TW" altLang="en-US" b="1" dirty="0"/>
              <a:t>如果應用程式很久才做</a:t>
            </a:r>
            <a:r>
              <a:rPr lang="en-US" altLang="zh-TW" b="1" dirty="0"/>
              <a:t>I/O</a:t>
            </a:r>
            <a:r>
              <a:rPr lang="zh-TW" altLang="en-US" b="1" dirty="0"/>
              <a:t>或都不做</a:t>
            </a:r>
            <a:r>
              <a:rPr lang="en-US" altLang="zh-TW" b="1" dirty="0"/>
              <a:t>I/O,</a:t>
            </a:r>
            <a:r>
              <a:rPr lang="zh-TW" altLang="en-US" b="1" dirty="0"/>
              <a:t> 怎麼辦呢</a:t>
            </a:r>
            <a:r>
              <a:rPr lang="en-US" altLang="zh-TW" b="1" dirty="0"/>
              <a:t>?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58367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ffectLst/>
              </a:rPr>
              <a:t>Problems of Multiprogramming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b="1" dirty="0"/>
              <a:t>Problem</a:t>
            </a:r>
            <a:r>
              <a:rPr lang="en-US" altLang="zh-TW" dirty="0"/>
              <a:t> of multi-programming systems </a:t>
            </a:r>
            <a:r>
              <a:rPr lang="en-US" altLang="zh-TW" sz="2800" dirty="0"/>
              <a:t>(see the following slide)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lvl="1"/>
            <a:r>
              <a:rPr lang="zh-TW" altLang="en-US" dirty="0"/>
              <a:t>不公平的 </a:t>
            </a:r>
            <a:r>
              <a:rPr lang="en-US" altLang="zh-TW" dirty="0"/>
              <a:t>CPU </a:t>
            </a:r>
            <a:r>
              <a:rPr lang="zh-TW" altLang="en-US" dirty="0"/>
              <a:t>使用時間</a:t>
            </a:r>
            <a:endParaRPr lang="en-US" altLang="zh-TW" dirty="0"/>
          </a:p>
          <a:p>
            <a:endParaRPr lang="en-US" altLang="zh-TW" dirty="0"/>
          </a:p>
          <a:p>
            <a:pPr lvl="1"/>
            <a:r>
              <a:rPr lang="zh-TW" altLang="en-US" dirty="0"/>
              <a:t>使用者體驗不佳</a:t>
            </a:r>
            <a:r>
              <a:rPr lang="en-US" altLang="zh-TW" dirty="0"/>
              <a:t>: cannot provide </a:t>
            </a:r>
            <a:r>
              <a:rPr lang="en-US" altLang="zh-TW" b="1" dirty="0">
                <a:solidFill>
                  <a:srgbClr val="FF0000"/>
                </a:solidFill>
              </a:rPr>
              <a:t>user interaction</a:t>
            </a:r>
          </a:p>
          <a:p>
            <a:pPr lvl="1"/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104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209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sz="4000" dirty="0">
                <a:effectLst/>
              </a:rPr>
              <a:t>Problems of Multiprogramming Systems</a:t>
            </a:r>
          </a:p>
        </p:txBody>
      </p:sp>
      <p:sp>
        <p:nvSpPr>
          <p:cNvPr id="43011" name="Line 5"/>
          <p:cNvSpPr>
            <a:spLocks noChangeShapeType="1"/>
          </p:cNvSpPr>
          <p:nvPr/>
        </p:nvSpPr>
        <p:spPr bwMode="auto">
          <a:xfrm>
            <a:off x="2927351" y="2492375"/>
            <a:ext cx="7273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43012" name="Line 6"/>
          <p:cNvSpPr>
            <a:spLocks noChangeShapeType="1"/>
          </p:cNvSpPr>
          <p:nvPr/>
        </p:nvSpPr>
        <p:spPr bwMode="auto">
          <a:xfrm>
            <a:off x="2925764" y="3500438"/>
            <a:ext cx="7273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43013" name="Rectangle 9"/>
          <p:cNvSpPr>
            <a:spLocks noChangeArrowheads="1"/>
          </p:cNvSpPr>
          <p:nvPr/>
        </p:nvSpPr>
        <p:spPr bwMode="auto">
          <a:xfrm>
            <a:off x="2927350" y="2132856"/>
            <a:ext cx="6479802" cy="3951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Calibri" panose="020F0502020204030204" pitchFamily="34" charset="0"/>
              </a:rPr>
              <a:t>RUN</a:t>
            </a:r>
          </a:p>
        </p:txBody>
      </p:sp>
      <p:sp>
        <p:nvSpPr>
          <p:cNvPr id="43014" name="Text Box 10"/>
          <p:cNvSpPr txBox="1">
            <a:spLocks noChangeArrowheads="1"/>
          </p:cNvSpPr>
          <p:nvPr/>
        </p:nvSpPr>
        <p:spPr bwMode="auto">
          <a:xfrm>
            <a:off x="1631950" y="2133601"/>
            <a:ext cx="1181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800" dirty="0">
                <a:latin typeface="Calibri" panose="020F0502020204030204" pitchFamily="34" charset="0"/>
              </a:rPr>
              <a:t>program A</a:t>
            </a:r>
          </a:p>
        </p:txBody>
      </p:sp>
      <p:sp>
        <p:nvSpPr>
          <p:cNvPr id="43015" name="Text Box 11"/>
          <p:cNvSpPr txBox="1">
            <a:spLocks noChangeArrowheads="1"/>
          </p:cNvSpPr>
          <p:nvPr/>
        </p:nvSpPr>
        <p:spPr bwMode="auto">
          <a:xfrm>
            <a:off x="1631504" y="3147690"/>
            <a:ext cx="1168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800" dirty="0">
                <a:latin typeface="Calibri" panose="020F0502020204030204" pitchFamily="34" charset="0"/>
              </a:rPr>
              <a:t>program B</a:t>
            </a:r>
          </a:p>
          <a:p>
            <a:pPr algn="ctr"/>
            <a:r>
              <a:rPr lang="en-US" altLang="zh-TW" sz="1800" dirty="0">
                <a:latin typeface="Calibri" panose="020F0502020204030204" pitchFamily="34" charset="0"/>
              </a:rPr>
              <a:t>(word)</a:t>
            </a:r>
          </a:p>
        </p:txBody>
      </p:sp>
      <p:sp>
        <p:nvSpPr>
          <p:cNvPr id="43016" name="Rectangle 12"/>
          <p:cNvSpPr>
            <a:spLocks noChangeArrowheads="1"/>
          </p:cNvSpPr>
          <p:nvPr/>
        </p:nvSpPr>
        <p:spPr bwMode="auto">
          <a:xfrm>
            <a:off x="9408368" y="3141665"/>
            <a:ext cx="720080" cy="32384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latin typeface="Calibri" panose="020F0502020204030204" pitchFamily="34" charset="0"/>
              </a:rPr>
              <a:t>RUN</a:t>
            </a:r>
          </a:p>
        </p:txBody>
      </p:sp>
      <p:sp>
        <p:nvSpPr>
          <p:cNvPr id="43017" name="AutoShape 13"/>
          <p:cNvSpPr>
            <a:spLocks noChangeArrowheads="1"/>
          </p:cNvSpPr>
          <p:nvPr/>
        </p:nvSpPr>
        <p:spPr bwMode="auto">
          <a:xfrm>
            <a:off x="1992313" y="4508501"/>
            <a:ext cx="2374900" cy="504825"/>
          </a:xfrm>
          <a:prstGeom prst="wedgeRoundRectCallout">
            <a:avLst>
              <a:gd name="adj1" fmla="val -43986"/>
              <a:gd name="adj2" fmla="val -193713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TW" sz="2400" b="1">
                <a:latin typeface="Calibri" panose="020F0502020204030204" pitchFamily="34" charset="0"/>
              </a:rPr>
              <a:t>interactive task</a:t>
            </a:r>
          </a:p>
        </p:txBody>
      </p:sp>
      <p:sp>
        <p:nvSpPr>
          <p:cNvPr id="43018" name="Text Box 14"/>
          <p:cNvSpPr txBox="1">
            <a:spLocks noChangeArrowheads="1"/>
          </p:cNvSpPr>
          <p:nvPr/>
        </p:nvSpPr>
        <p:spPr bwMode="auto">
          <a:xfrm>
            <a:off x="5087939" y="3068639"/>
            <a:ext cx="649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>
                <a:latin typeface="Calibri" panose="020F0502020204030204" pitchFamily="34" charset="0"/>
              </a:rPr>
              <a:t>wait</a:t>
            </a:r>
          </a:p>
        </p:txBody>
      </p:sp>
      <p:sp>
        <p:nvSpPr>
          <p:cNvPr id="43019" name="Text Box 15"/>
          <p:cNvSpPr txBox="1">
            <a:spLocks noChangeArrowheads="1"/>
          </p:cNvSpPr>
          <p:nvPr/>
        </p:nvSpPr>
        <p:spPr bwMode="auto">
          <a:xfrm>
            <a:off x="9407152" y="2060576"/>
            <a:ext cx="649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wait</a:t>
            </a:r>
          </a:p>
        </p:txBody>
      </p:sp>
      <p:sp>
        <p:nvSpPr>
          <p:cNvPr id="43020" name="AutoShape 16"/>
          <p:cNvSpPr>
            <a:spLocks noChangeArrowheads="1"/>
          </p:cNvSpPr>
          <p:nvPr/>
        </p:nvSpPr>
        <p:spPr bwMode="auto">
          <a:xfrm>
            <a:off x="6168008" y="4364335"/>
            <a:ext cx="3673475" cy="504825"/>
          </a:xfrm>
          <a:prstGeom prst="wedgeRoundRectCallout">
            <a:avLst>
              <a:gd name="adj1" fmla="val 38442"/>
              <a:gd name="adj2" fmla="val -226646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TW" sz="2400" b="1">
                <a:latin typeface="Calibri" panose="020F0502020204030204" pitchFamily="34" charset="0"/>
              </a:rPr>
              <a:t>Bad: long response time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105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effectLst/>
              </a:rPr>
              <a:t>A Special Case: </a:t>
            </a:r>
            <a:r>
              <a:rPr kumimoji="0" lang="en-US" altLang="zh-TW" sz="3600" dirty="0"/>
              <a:t>Program A Executes an Infinite Loop</a:t>
            </a:r>
            <a:endParaRPr lang="en-US" altLang="zh-TW" sz="3600" dirty="0">
              <a:solidFill>
                <a:srgbClr val="0033CC"/>
              </a:solidFill>
            </a:endParaRP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5232399" y="1425154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for (;;)    a=a+1;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5232399" y="444934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5232399" y="266022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1487488" y="213000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</p:txBody>
      </p:sp>
      <p:cxnSp>
        <p:nvCxnSpPr>
          <p:cNvPr id="9" name="直線單箭頭接點 8"/>
          <p:cNvCxnSpPr>
            <a:stCxn id="282627" idx="1"/>
            <a:endCxn id="282630" idx="3"/>
          </p:cNvCxnSpPr>
          <p:nvPr/>
        </p:nvCxnSpPr>
        <p:spPr>
          <a:xfrm flipH="1">
            <a:off x="3357563" y="2042690"/>
            <a:ext cx="1874837" cy="7239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5232399" y="5675842"/>
            <a:ext cx="2260600" cy="705486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Interrupt Service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Routine (ISR)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5227637" y="2651656"/>
            <a:ext cx="2260600" cy="12350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106</a:t>
            </a:fld>
            <a:endParaRPr lang="en-US" altLang="zh-TW"/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7536160" y="1556792"/>
            <a:ext cx="3456384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zh-TW" sz="2400" b="1" i="1" dirty="0">
                <a:latin typeface="Calibri" panose="020F0502020204030204" pitchFamily="34" charset="0"/>
              </a:rPr>
              <a:t>Program A executes an</a:t>
            </a:r>
          </a:p>
          <a:p>
            <a:pPr eaLnBrk="0" hangingPunct="0"/>
            <a:r>
              <a:rPr kumimoji="0" lang="en-US" altLang="zh-TW" sz="2400" b="1" i="1" dirty="0">
                <a:latin typeface="Calibri" panose="020F0502020204030204" pitchFamily="34" charset="0"/>
              </a:rPr>
              <a:t>infinite loop</a:t>
            </a:r>
            <a:endParaRPr kumimoji="0" lang="en-US" altLang="zh-TW" sz="2400" i="1" dirty="0">
              <a:latin typeface="Calibri" panose="020F0502020204030204" pitchFamily="34" charset="0"/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7536160" y="2814027"/>
            <a:ext cx="3456384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zh-TW" sz="2400" b="1" i="1" dirty="0">
                <a:latin typeface="Calibri" panose="020F0502020204030204" pitchFamily="34" charset="0"/>
              </a:rPr>
              <a:t>Program B has no way for </a:t>
            </a:r>
            <a:r>
              <a:rPr kumimoji="0" lang="en-US" altLang="zh-TW" sz="2400" b="1" i="1" dirty="0" err="1">
                <a:latin typeface="Calibri" panose="020F0502020204030204" pitchFamily="34" charset="0"/>
              </a:rPr>
              <a:t>exeuction</a:t>
            </a:r>
            <a:endParaRPr kumimoji="0" lang="en-US" altLang="zh-TW" sz="2400" i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47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怎麼辦呢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/>
              <a:t>Ans</a:t>
            </a:r>
            <a:r>
              <a:rPr lang="en-US" altLang="zh-TW" dirty="0"/>
              <a:t>: </a:t>
            </a:r>
            <a:r>
              <a:rPr lang="zh-TW" altLang="en-US" dirty="0"/>
              <a:t>強迫切換應用程式的執行</a:t>
            </a:r>
          </a:p>
        </p:txBody>
      </p:sp>
    </p:spTree>
    <p:extLst>
      <p:ext uri="{BB962C8B-B14F-4D97-AF65-F5344CB8AC3E}">
        <p14:creationId xmlns:p14="http://schemas.microsoft.com/office/powerpoint/2010/main" val="231457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Operating-System Structure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sz="3600" dirty="0"/>
              <a:t>Three different OS structures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dirty="0"/>
              <a:t>Single-programming systems</a:t>
            </a:r>
          </a:p>
          <a:p>
            <a:pPr eaLnBrk="1" hangingPunct="1">
              <a:lnSpc>
                <a:spcPct val="120000"/>
              </a:lnSpc>
            </a:pPr>
            <a:endParaRPr lang="en-US" altLang="zh-TW" sz="36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dirty="0"/>
              <a:t>Multi-programmed systems</a:t>
            </a:r>
          </a:p>
          <a:p>
            <a:pPr eaLnBrk="1" hangingPunct="1">
              <a:lnSpc>
                <a:spcPct val="120000"/>
              </a:lnSpc>
            </a:pPr>
            <a:endParaRPr lang="en-US" altLang="zh-TW" sz="36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b="1" dirty="0">
                <a:solidFill>
                  <a:srgbClr val="FF0000"/>
                </a:solidFill>
              </a:rPr>
              <a:t>Time-sharing (or multitasking) systems</a:t>
            </a:r>
          </a:p>
          <a:p>
            <a:endParaRPr lang="zh-TW" altLang="en-US" sz="40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108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274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solidFill>
                  <a:schemeClr val="tx1"/>
                </a:solidFill>
              </a:rPr>
              <a:t>Timesharing (Multitasking)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/>
              <a:t>Solutions:</a:t>
            </a:r>
            <a:r>
              <a:rPr lang="en-US" altLang="zh-TW" dirty="0"/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Timesharing (Multitasking) systems</a:t>
            </a:r>
          </a:p>
          <a:p>
            <a:pPr lvl="1" eaLnBrk="1" hangingPunct="1"/>
            <a:r>
              <a:rPr lang="en-US" altLang="zh-TW" dirty="0"/>
              <a:t>Switching programs </a:t>
            </a:r>
            <a:r>
              <a:rPr lang="en-US" altLang="zh-TW" b="1" dirty="0">
                <a:solidFill>
                  <a:srgbClr val="FF0000"/>
                </a:solidFill>
              </a:rPr>
              <a:t>actively</a:t>
            </a:r>
            <a:endParaRPr lang="en-US" altLang="zh-TW" dirty="0"/>
          </a:p>
          <a:p>
            <a:pPr lvl="1" eaLnBrk="1" hangingPunct="1"/>
            <a:r>
              <a:rPr lang="en-US" altLang="zh-TW" dirty="0"/>
              <a:t>Not passively until programs doing I/O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Good</a:t>
            </a:r>
          </a:p>
          <a:p>
            <a:pPr lvl="1" eaLnBrk="1" hangingPunct="1"/>
            <a:r>
              <a:rPr lang="en-US" altLang="zh-TW" dirty="0"/>
              <a:t>Create an </a:t>
            </a:r>
            <a:r>
              <a:rPr lang="en-US" altLang="zh-TW" sz="3200" b="1" dirty="0">
                <a:solidFill>
                  <a:srgbClr val="3366FF"/>
                </a:solidFill>
              </a:rPr>
              <a:t>interactive</a:t>
            </a:r>
            <a:r>
              <a:rPr lang="en-US" altLang="zh-TW" dirty="0"/>
              <a:t> computing environment</a:t>
            </a:r>
          </a:p>
          <a:p>
            <a:pPr lvl="2" eaLnBrk="1" hangingPunct="1"/>
            <a:r>
              <a:rPr lang="en-US" altLang="zh-TW" b="1" dirty="0">
                <a:solidFill>
                  <a:srgbClr val="FF3300"/>
                </a:solidFill>
              </a:rPr>
              <a:t>Response time</a:t>
            </a:r>
            <a:r>
              <a:rPr lang="en-US" altLang="zh-TW" dirty="0"/>
              <a:t> is short</a:t>
            </a:r>
          </a:p>
          <a:p>
            <a:pPr lvl="1" eaLnBrk="1" hangingPunct="1"/>
            <a:r>
              <a:rPr lang="en-US" altLang="zh-TW" dirty="0"/>
              <a:t>CPU</a:t>
            </a:r>
            <a:r>
              <a:rPr lang="zh-TW" altLang="en-US" dirty="0"/>
              <a:t> </a:t>
            </a:r>
            <a:r>
              <a:rPr lang="en-US" altLang="zh-TW" dirty="0"/>
              <a:t>usage is fair</a:t>
            </a:r>
          </a:p>
          <a:p>
            <a:pPr lvl="1" eaLnBrk="1" hangingPunct="1"/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109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dirty="0">
                <a:effectLst/>
              </a:rPr>
              <a:t>Timesharing (Multitasking)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928686" y="1988840"/>
            <a:ext cx="10495906" cy="2990453"/>
            <a:chOff x="928686" y="2382763"/>
            <a:chExt cx="9775826" cy="2990453"/>
          </a:xfrm>
        </p:grpSpPr>
        <p:sp>
          <p:nvSpPr>
            <p:cNvPr id="43011" name="Line 5"/>
            <p:cNvSpPr>
              <a:spLocks noChangeShapeType="1"/>
            </p:cNvSpPr>
            <p:nvPr/>
          </p:nvSpPr>
          <p:spPr bwMode="auto">
            <a:xfrm>
              <a:off x="3430587" y="2779638"/>
              <a:ext cx="72739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43012" name="Line 6"/>
            <p:cNvSpPr>
              <a:spLocks noChangeShapeType="1"/>
            </p:cNvSpPr>
            <p:nvPr/>
          </p:nvSpPr>
          <p:spPr bwMode="auto">
            <a:xfrm>
              <a:off x="3429000" y="3787701"/>
              <a:ext cx="72739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43013" name="Rectangle 9"/>
            <p:cNvSpPr>
              <a:spLocks noChangeArrowheads="1"/>
            </p:cNvSpPr>
            <p:nvPr/>
          </p:nvSpPr>
          <p:spPr bwMode="auto">
            <a:xfrm>
              <a:off x="3430586" y="2420865"/>
              <a:ext cx="1656482" cy="35877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>
                  <a:latin typeface="Calibri" panose="020F0502020204030204" pitchFamily="34" charset="0"/>
                </a:rPr>
                <a:t>RUN</a:t>
              </a:r>
            </a:p>
          </p:txBody>
        </p:sp>
        <p:sp>
          <p:nvSpPr>
            <p:cNvPr id="43014" name="Text Box 10"/>
            <p:cNvSpPr txBox="1">
              <a:spLocks noChangeArrowheads="1"/>
            </p:cNvSpPr>
            <p:nvPr/>
          </p:nvSpPr>
          <p:spPr bwMode="auto">
            <a:xfrm>
              <a:off x="2135186" y="2420864"/>
              <a:ext cx="11811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1800">
                  <a:latin typeface="Calibri" panose="020F0502020204030204" pitchFamily="34" charset="0"/>
                </a:rPr>
                <a:t>program A</a:t>
              </a:r>
            </a:p>
          </p:txBody>
        </p:sp>
        <p:sp>
          <p:nvSpPr>
            <p:cNvPr id="43015" name="Text Box 11"/>
            <p:cNvSpPr txBox="1">
              <a:spLocks noChangeArrowheads="1"/>
            </p:cNvSpPr>
            <p:nvPr/>
          </p:nvSpPr>
          <p:spPr bwMode="auto">
            <a:xfrm>
              <a:off x="2135186" y="3428926"/>
              <a:ext cx="1168400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1800">
                  <a:latin typeface="Calibri" panose="020F0502020204030204" pitchFamily="34" charset="0"/>
                </a:rPr>
                <a:t>program B</a:t>
              </a:r>
            </a:p>
            <a:p>
              <a:pPr algn="ctr"/>
              <a:r>
                <a:rPr lang="en-US" altLang="zh-TW" sz="1800">
                  <a:latin typeface="Calibri" panose="020F0502020204030204" pitchFamily="34" charset="0"/>
                </a:rPr>
                <a:t>(word)</a:t>
              </a:r>
            </a:p>
          </p:txBody>
        </p:sp>
        <p:sp>
          <p:nvSpPr>
            <p:cNvPr id="43016" name="Rectangle 12"/>
            <p:cNvSpPr>
              <a:spLocks noChangeArrowheads="1"/>
            </p:cNvSpPr>
            <p:nvPr/>
          </p:nvSpPr>
          <p:spPr bwMode="auto">
            <a:xfrm>
              <a:off x="5089129" y="3428926"/>
              <a:ext cx="1295400" cy="3587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RUN</a:t>
              </a:r>
            </a:p>
          </p:txBody>
        </p:sp>
        <p:sp>
          <p:nvSpPr>
            <p:cNvPr id="43017" name="AutoShape 13"/>
            <p:cNvSpPr>
              <a:spLocks noChangeArrowheads="1"/>
            </p:cNvSpPr>
            <p:nvPr/>
          </p:nvSpPr>
          <p:spPr bwMode="auto">
            <a:xfrm>
              <a:off x="928686" y="4868391"/>
              <a:ext cx="2374900" cy="504825"/>
            </a:xfrm>
            <a:prstGeom prst="wedgeRoundRectCallout">
              <a:avLst>
                <a:gd name="adj1" fmla="val 31464"/>
                <a:gd name="adj2" fmla="val -210179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TW" sz="2400" b="1">
                  <a:latin typeface="Calibri" panose="020F0502020204030204" pitchFamily="34" charset="0"/>
                </a:rPr>
                <a:t>interactive task</a:t>
              </a:r>
            </a:p>
          </p:txBody>
        </p:sp>
        <p:sp>
          <p:nvSpPr>
            <p:cNvPr id="43018" name="Text Box 14"/>
            <p:cNvSpPr txBox="1">
              <a:spLocks noChangeArrowheads="1"/>
            </p:cNvSpPr>
            <p:nvPr/>
          </p:nvSpPr>
          <p:spPr bwMode="auto">
            <a:xfrm>
              <a:off x="4078956" y="3306689"/>
              <a:ext cx="64928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Calibri" panose="020F0502020204030204" pitchFamily="34" charset="0"/>
                </a:rPr>
                <a:t>wait</a:t>
              </a:r>
            </a:p>
          </p:txBody>
        </p:sp>
        <p:sp>
          <p:nvSpPr>
            <p:cNvPr id="43019" name="Text Box 15"/>
            <p:cNvSpPr txBox="1">
              <a:spLocks noChangeArrowheads="1"/>
            </p:cNvSpPr>
            <p:nvPr/>
          </p:nvSpPr>
          <p:spPr bwMode="auto">
            <a:xfrm>
              <a:off x="5412185" y="2382763"/>
              <a:ext cx="64928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Calibri" panose="020F0502020204030204" pitchFamily="34" charset="0"/>
                </a:rPr>
                <a:t>wait</a:t>
              </a:r>
            </a:p>
          </p:txBody>
        </p:sp>
        <p:sp>
          <p:nvSpPr>
            <p:cNvPr id="43020" name="AutoShape 16"/>
            <p:cNvSpPr>
              <a:spLocks noChangeArrowheads="1"/>
            </p:cNvSpPr>
            <p:nvPr/>
          </p:nvSpPr>
          <p:spPr bwMode="auto">
            <a:xfrm>
              <a:off x="4655020" y="4486779"/>
              <a:ext cx="3673475" cy="504825"/>
            </a:xfrm>
            <a:prstGeom prst="wedgeRoundRectCallout">
              <a:avLst>
                <a:gd name="adj1" fmla="val -37239"/>
                <a:gd name="adj2" fmla="val -184565"/>
                <a:gd name="adj3" fmla="val 1666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TW" sz="2400" b="1" dirty="0">
                  <a:latin typeface="Calibri" panose="020F0502020204030204" pitchFamily="34" charset="0"/>
                </a:rPr>
                <a:t>Good: short response time</a:t>
              </a: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6390890" y="2428803"/>
              <a:ext cx="1656482" cy="35877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>
                  <a:latin typeface="Calibri" panose="020F0502020204030204" pitchFamily="34" charset="0"/>
                </a:rPr>
                <a:t>RUN</a:t>
              </a:r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3667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Organization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b="1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Architecture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Operating-System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OS Invocation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Multiprogramming and Multitasking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Timers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Dual-Mode and Multi-mode Operation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endParaRPr lang="en-US" altLang="zh-TW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TW" b="1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111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905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Question: </a:t>
            </a:r>
            <a:r>
              <a:rPr lang="zh-TW" altLang="en-US" dirty="0">
                <a:solidFill>
                  <a:srgbClr val="FF0000"/>
                </a:solidFill>
              </a:rPr>
              <a:t>如何強迫切換應用程式的執行</a:t>
            </a:r>
            <a:br>
              <a:rPr lang="zh-TW" altLang="en-US" dirty="0">
                <a:solidFill>
                  <a:srgbClr val="FF0000"/>
                </a:solidFill>
              </a:rPr>
            </a:b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Hint: </a:t>
            </a:r>
            <a:r>
              <a:rPr lang="zh-TW" altLang="en-US" b="1" dirty="0">
                <a:solidFill>
                  <a:srgbClr val="FF0000"/>
                </a:solidFill>
              </a:rPr>
              <a:t>誰負責切換的決策和動作</a:t>
            </a:r>
            <a:r>
              <a:rPr lang="en-US" altLang="zh-TW" b="1" dirty="0">
                <a:solidFill>
                  <a:srgbClr val="FF0000"/>
                </a:solidFill>
              </a:rPr>
              <a:t>?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83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如何進入</a:t>
            </a:r>
            <a:r>
              <a:rPr lang="en-US" altLang="zh-TW" dirty="0"/>
              <a:t>OS?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如此</a:t>
            </a:r>
            <a:r>
              <a:rPr lang="en-US" altLang="zh-TW" dirty="0" smtClean="0"/>
              <a:t>OS</a:t>
            </a:r>
            <a:r>
              <a:rPr lang="zh-TW" altLang="en-US" dirty="0" smtClean="0"/>
              <a:t>才有機會可以</a:t>
            </a:r>
            <a:r>
              <a:rPr lang="zh-TW" altLang="en-US" dirty="0"/>
              <a:t>執行切換的動作</a:t>
            </a:r>
            <a:r>
              <a:rPr lang="en-US" altLang="zh-TW" dirty="0"/>
              <a:t>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57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</a:rPr>
              <a:t>複習</a:t>
            </a:r>
            <a:r>
              <a:rPr lang="en-US" altLang="zh-TW" dirty="0">
                <a:solidFill>
                  <a:srgbClr val="000000"/>
                </a:solidFill>
              </a:rPr>
              <a:t>:</a:t>
            </a:r>
            <a:r>
              <a:rPr lang="zh-TW" altLang="en-US" dirty="0">
                <a:solidFill>
                  <a:srgbClr val="000000"/>
                </a:solidFill>
              </a:rPr>
              <a:t> 進入</a:t>
            </a:r>
            <a:r>
              <a:rPr lang="en-US" altLang="zh-TW" dirty="0">
                <a:solidFill>
                  <a:srgbClr val="000000"/>
                </a:solidFill>
              </a:rPr>
              <a:t>OS</a:t>
            </a:r>
            <a:r>
              <a:rPr lang="zh-TW" altLang="en-US" dirty="0">
                <a:solidFill>
                  <a:srgbClr val="000000"/>
                </a:solidFill>
              </a:rPr>
              <a:t>的三種方法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114</a:t>
            </a:fld>
            <a:endParaRPr lang="en-US" altLang="zh-TW"/>
          </a:p>
        </p:txBody>
      </p:sp>
      <p:grpSp>
        <p:nvGrpSpPr>
          <p:cNvPr id="5" name="群組 4"/>
          <p:cNvGrpSpPr/>
          <p:nvPr/>
        </p:nvGrpSpPr>
        <p:grpSpPr>
          <a:xfrm>
            <a:off x="1127448" y="1628800"/>
            <a:ext cx="9361040" cy="4616424"/>
            <a:chOff x="1919536" y="1504198"/>
            <a:chExt cx="8147248" cy="4373074"/>
          </a:xfrm>
        </p:grpSpPr>
        <p:cxnSp>
          <p:nvCxnSpPr>
            <p:cNvPr id="6" name="直線接點 5"/>
            <p:cNvCxnSpPr/>
            <p:nvPr/>
          </p:nvCxnSpPr>
          <p:spPr>
            <a:xfrm>
              <a:off x="1919536" y="2357380"/>
              <a:ext cx="7797422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字方塊 6"/>
            <p:cNvSpPr txBox="1"/>
            <p:nvPr/>
          </p:nvSpPr>
          <p:spPr>
            <a:xfrm>
              <a:off x="9002381" y="2080780"/>
              <a:ext cx="891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200" b="1" dirty="0">
                  <a:solidFill>
                    <a:prstClr val="black"/>
                  </a:solidFill>
                  <a:latin typeface="Calibri" panose="020F0502020204030204" pitchFamily="34" charset="0"/>
                </a:rPr>
                <a:t>User Mode</a:t>
              </a:r>
              <a:endParaRPr kumimoji="0" lang="zh-TW" altLang="en-US" sz="1200" b="1" dirty="0">
                <a:solidFill>
                  <a:prstClr val="black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9008844" y="2324526"/>
              <a:ext cx="10106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200" b="1" dirty="0">
                  <a:solidFill>
                    <a:prstClr val="black"/>
                  </a:solidFill>
                  <a:latin typeface="Calibri" panose="020F0502020204030204" pitchFamily="34" charset="0"/>
                </a:rPr>
                <a:t>Kernel Mode</a:t>
              </a:r>
              <a:endParaRPr kumimoji="0" lang="zh-TW" altLang="en-US" sz="1200" b="1" dirty="0">
                <a:solidFill>
                  <a:prstClr val="black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4367809" y="1513789"/>
              <a:ext cx="1463759" cy="42297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Program 1</a:t>
              </a:r>
              <a:endParaRPr kumimoji="0" lang="zh-TW" altLang="en-US" sz="16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微軟正黑體" pitchFamily="34" charset="-120"/>
              </a:endParaRP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6168008" y="1504198"/>
              <a:ext cx="1371018" cy="42297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Program</a:t>
              </a:r>
              <a:r>
                <a:rPr kumimoji="0" lang="zh-TW" altLang="en-US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 </a:t>
              </a: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2</a:t>
              </a:r>
              <a:endParaRPr kumimoji="0" lang="zh-TW" altLang="en-US" sz="16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微軟正黑體" pitchFamily="34" charset="-120"/>
              </a:endParaRPr>
            </a:p>
          </p:txBody>
        </p:sp>
        <p:cxnSp>
          <p:nvCxnSpPr>
            <p:cNvPr id="11" name="直線接點 10"/>
            <p:cNvCxnSpPr/>
            <p:nvPr/>
          </p:nvCxnSpPr>
          <p:spPr>
            <a:xfrm>
              <a:off x="7866424" y="1731432"/>
              <a:ext cx="317809" cy="0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269362" y="4817083"/>
              <a:ext cx="7797422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3423643" y="2335972"/>
              <a:ext cx="1687798" cy="379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2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system call traps</a:t>
              </a:r>
              <a:endParaRPr kumimoji="0" lang="zh-TW" altLang="en-US" sz="20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4674280" y="2914004"/>
              <a:ext cx="2578567" cy="979928"/>
            </a:xfrm>
            <a:prstGeom prst="roundRect">
              <a:avLst/>
            </a:prstGeom>
            <a:solidFill>
              <a:srgbClr val="9FFDF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TW" sz="20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微軟正黑體" pitchFamily="34" charset="-120"/>
                </a:rPr>
                <a:t>OS</a:t>
              </a:r>
            </a:p>
          </p:txBody>
        </p:sp>
        <p:cxnSp>
          <p:nvCxnSpPr>
            <p:cNvPr id="15" name="直線接點 23"/>
            <p:cNvCxnSpPr/>
            <p:nvPr/>
          </p:nvCxnSpPr>
          <p:spPr>
            <a:xfrm flipV="1">
              <a:off x="5152551" y="2046351"/>
              <a:ext cx="83" cy="826517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23"/>
            <p:cNvCxnSpPr/>
            <p:nvPr/>
          </p:nvCxnSpPr>
          <p:spPr>
            <a:xfrm flipV="1">
              <a:off x="5962228" y="4002907"/>
              <a:ext cx="83" cy="742169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字方塊 16"/>
            <p:cNvSpPr txBox="1"/>
            <p:nvPr/>
          </p:nvSpPr>
          <p:spPr>
            <a:xfrm>
              <a:off x="5968288" y="4231727"/>
              <a:ext cx="1084200" cy="379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2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interrupts</a:t>
              </a:r>
              <a:endParaRPr kumimoji="0" lang="zh-TW" altLang="en-US" sz="20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18" name="直線接點 23"/>
            <p:cNvCxnSpPr/>
            <p:nvPr/>
          </p:nvCxnSpPr>
          <p:spPr>
            <a:xfrm flipV="1">
              <a:off x="6672065" y="2046351"/>
              <a:ext cx="83" cy="826517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6736850" y="2324511"/>
              <a:ext cx="1145308" cy="379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2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Error traps</a:t>
              </a:r>
              <a:endParaRPr kumimoji="0" lang="zh-TW" altLang="en-US" sz="20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640506" y="5301208"/>
              <a:ext cx="1512044" cy="5760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latin typeface="Calibri" panose="020F0502020204030204" pitchFamily="34" charset="0"/>
                </a:rPr>
                <a:t>Device 1</a:t>
              </a:r>
              <a:endParaRPr lang="zh-TW" alt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411986" y="5295159"/>
              <a:ext cx="1512044" cy="5760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latin typeface="Calibri" panose="020F0502020204030204" pitchFamily="34" charset="0"/>
                </a:rPr>
                <a:t>Device 2</a:t>
              </a:r>
              <a:endParaRPr lang="zh-TW" alt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240098" y="5295159"/>
              <a:ext cx="1512044" cy="5760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latin typeface="Calibri" panose="020F0502020204030204" pitchFamily="34" charset="0"/>
                </a:rPr>
                <a:t>Device 3</a:t>
              </a:r>
              <a:endParaRPr lang="zh-TW" altLang="en-US" sz="2000" dirty="0">
                <a:latin typeface="Calibri" panose="020F0502020204030204" pitchFamily="34" charset="0"/>
              </a:endParaRPr>
            </a:p>
          </p:txBody>
        </p:sp>
        <p:cxnSp>
          <p:nvCxnSpPr>
            <p:cNvPr id="23" name="直線接點 22"/>
            <p:cNvCxnSpPr/>
            <p:nvPr/>
          </p:nvCxnSpPr>
          <p:spPr>
            <a:xfrm>
              <a:off x="8976321" y="5583191"/>
              <a:ext cx="317809" cy="0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200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你要使用哪一種呢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609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How to Implement Time Sharing Systems?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Question: how to implement </a:t>
            </a:r>
            <a:r>
              <a:rPr lang="en-US" altLang="zh-TW" b="1" dirty="0"/>
              <a:t>time sharing systems</a:t>
            </a:r>
            <a:r>
              <a:rPr lang="en-US" altLang="zh-TW" dirty="0"/>
              <a:t>?</a:t>
            </a:r>
          </a:p>
          <a:p>
            <a:pPr eaLnBrk="1" hangingPunct="1"/>
            <a:r>
              <a:rPr lang="en-US" altLang="zh-TW" dirty="0"/>
              <a:t>We must have a way to enter OS</a:t>
            </a:r>
          </a:p>
          <a:p>
            <a:pPr lvl="1" eaLnBrk="1" hangingPunct="1"/>
            <a:r>
              <a:rPr lang="en-US" altLang="zh-TW" dirty="0"/>
              <a:t>System call traps</a:t>
            </a:r>
          </a:p>
          <a:p>
            <a:pPr lvl="1" eaLnBrk="1" hangingPunct="1"/>
            <a:r>
              <a:rPr lang="en-US" altLang="zh-TW" dirty="0"/>
              <a:t>Error Traps</a:t>
            </a:r>
          </a:p>
          <a:p>
            <a:pPr lvl="1" eaLnBrk="1" hangingPunct="1"/>
            <a:r>
              <a:rPr lang="en-US" altLang="zh-TW" dirty="0"/>
              <a:t>Interrupts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Your choice?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716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TW" dirty="0"/>
              <a:t>We must have a way to enter OS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System call traps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Error Traps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Interrupts</a:t>
            </a:r>
          </a:p>
          <a:p>
            <a:pPr marL="914400" lvl="2" indent="0" eaLnBrk="1" hangingPunct="1">
              <a:lnSpc>
                <a:spcPct val="120000"/>
              </a:lnSpc>
              <a:buNone/>
            </a:pPr>
            <a:endParaRPr lang="en-US" altLang="zh-TW" b="1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6047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Timer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Solution: </a:t>
            </a:r>
            <a:r>
              <a:rPr lang="en-US" altLang="zh-TW" b="1" dirty="0">
                <a:solidFill>
                  <a:srgbClr val="FF3300"/>
                </a:solidFill>
              </a:rPr>
              <a:t>timer  </a:t>
            </a:r>
          </a:p>
          <a:p>
            <a:pPr lvl="1" eaLnBrk="1" hangingPunct="1"/>
            <a:r>
              <a:rPr lang="en-US" altLang="zh-TW" dirty="0"/>
              <a:t>A hardware that triggers </a:t>
            </a:r>
            <a:r>
              <a:rPr lang="en-US" altLang="zh-TW" b="1" dirty="0"/>
              <a:t>interrupt periodically</a:t>
            </a:r>
            <a:endParaRPr lang="en-US" altLang="zh-TW" dirty="0"/>
          </a:p>
          <a:p>
            <a:pPr lvl="1" eaLnBrk="1" hangingPunct="1"/>
            <a:endParaRPr lang="en-US" altLang="zh-TW" b="1" i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Upon interrupt occurring, CPU jumps to OS</a:t>
            </a:r>
          </a:p>
          <a:p>
            <a:pPr lvl="2" eaLnBrk="1" hangingPunct="1"/>
            <a:r>
              <a:rPr lang="en-US" altLang="zh-TW" dirty="0"/>
              <a:t>OS check and then select another program to run if necessary</a:t>
            </a:r>
          </a:p>
          <a:p>
            <a:pPr lvl="2" eaLnBrk="1" hangingPunct="1"/>
            <a:r>
              <a:rPr lang="en-US" altLang="zh-TW" dirty="0"/>
              <a:t>An so on…</a:t>
            </a:r>
            <a:r>
              <a:rPr lang="en-US" altLang="zh-TW" sz="1800" dirty="0"/>
              <a:t>(see the following two slides)</a:t>
            </a:r>
          </a:p>
          <a:p>
            <a:pPr lvl="1" eaLnBrk="1" hangingPunct="1"/>
            <a:endParaRPr lang="en-US" altLang="zh-TW" dirty="0"/>
          </a:p>
          <a:p>
            <a:pPr lvl="1" eaLnBrk="1" hangingPunct="1"/>
            <a:r>
              <a:rPr lang="en-US" altLang="zh-TW" dirty="0"/>
              <a:t>Clearly, instructions that modify the content of the timer are </a:t>
            </a:r>
            <a:r>
              <a:rPr lang="en-US" altLang="zh-TW" b="1" dirty="0"/>
              <a:t>privileged</a:t>
            </a:r>
            <a:r>
              <a:rPr lang="en-US" altLang="zh-TW" sz="2400" dirty="0"/>
              <a:t> (introduced later)</a:t>
            </a:r>
            <a:endParaRPr lang="en-US" altLang="zh-TW" dirty="0"/>
          </a:p>
          <a:p>
            <a:pPr lvl="1" eaLnBrk="1" hangingPunct="1"/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388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>
                <a:effectLst/>
              </a:rPr>
              <a:t>With a Timer </a:t>
            </a:r>
            <a:endParaRPr lang="zh-TW" altLang="en-US" dirty="0">
              <a:effectLst/>
            </a:endParaRPr>
          </a:p>
        </p:txBody>
      </p:sp>
      <p:sp>
        <p:nvSpPr>
          <p:cNvPr id="57347" name="Line 3"/>
          <p:cNvSpPr>
            <a:spLocks noChangeShapeType="1"/>
          </p:cNvSpPr>
          <p:nvPr/>
        </p:nvSpPr>
        <p:spPr bwMode="auto">
          <a:xfrm flipV="1">
            <a:off x="2035176" y="2925764"/>
            <a:ext cx="6799263" cy="39687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24933" name="Rectangle 5"/>
          <p:cNvSpPr>
            <a:spLocks noChangeArrowheads="1"/>
          </p:cNvSpPr>
          <p:nvPr/>
        </p:nvSpPr>
        <p:spPr bwMode="auto">
          <a:xfrm>
            <a:off x="3114676" y="5076826"/>
            <a:ext cx="5648325" cy="873125"/>
          </a:xfrm>
          <a:prstGeom prst="rect">
            <a:avLst/>
          </a:prstGeom>
          <a:gradFill rotWithShape="1">
            <a:gsLst>
              <a:gs pos="0">
                <a:schemeClr val="hlink">
                  <a:gamma/>
                  <a:shade val="46275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kumimoji="0" lang="en-US" altLang="zh-TW" sz="2000" dirty="0">
              <a:latin typeface="Calibri" panose="020F0502020204030204" pitchFamily="34" charset="0"/>
            </a:endParaRPr>
          </a:p>
          <a:p>
            <a:pPr algn="ctr" eaLnBrk="0" hangingPunct="0">
              <a:defRPr/>
            </a:pPr>
            <a:r>
              <a:rPr kumimoji="0" lang="en-US" altLang="zh-TW" sz="2000" dirty="0">
                <a:latin typeface="Calibri" panose="020F0502020204030204" pitchFamily="34" charset="0"/>
              </a:rPr>
              <a:t>Hardware</a:t>
            </a:r>
          </a:p>
        </p:txBody>
      </p:sp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3146426" y="3125788"/>
            <a:ext cx="5616575" cy="1706562"/>
          </a:xfrm>
          <a:prstGeom prst="rect">
            <a:avLst/>
          </a:prstGeom>
          <a:gradFill rotWithShape="1">
            <a:gsLst>
              <a:gs pos="0">
                <a:srgbClr val="66FF33"/>
              </a:gs>
              <a:gs pos="100000">
                <a:srgbClr val="2F7618"/>
              </a:gs>
            </a:gsLst>
            <a:lin ang="54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kumimoji="0" lang="en-US" altLang="zh-TW" sz="2000" b="1" i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1838325" y="2279650"/>
            <a:ext cx="1138238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kumimoji="0" lang="en-US" altLang="zh-TW" sz="1600" b="1">
                <a:latin typeface="Calibri" panose="020F0502020204030204" pitchFamily="34" charset="0"/>
              </a:rPr>
              <a:t>User Mode</a:t>
            </a:r>
          </a:p>
        </p:txBody>
      </p:sp>
      <p:sp>
        <p:nvSpPr>
          <p:cNvPr id="57352" name="Text Box 8"/>
          <p:cNvSpPr txBox="1">
            <a:spLocks noChangeArrowheads="1"/>
          </p:cNvSpPr>
          <p:nvPr/>
        </p:nvSpPr>
        <p:spPr bwMode="auto">
          <a:xfrm>
            <a:off x="1703388" y="3255963"/>
            <a:ext cx="1331912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kumimoji="0" lang="en-US" altLang="zh-TW" sz="1600" b="1">
                <a:latin typeface="Calibri" panose="020F0502020204030204" pitchFamily="34" charset="0"/>
              </a:rPr>
              <a:t>Kernel Mode</a:t>
            </a:r>
          </a:p>
        </p:txBody>
      </p:sp>
      <p:sp>
        <p:nvSpPr>
          <p:cNvPr id="57353" name="Text Box 10"/>
          <p:cNvSpPr txBox="1">
            <a:spLocks noChangeArrowheads="1"/>
          </p:cNvSpPr>
          <p:nvPr/>
        </p:nvSpPr>
        <p:spPr bwMode="auto">
          <a:xfrm>
            <a:off x="8735315" y="4615160"/>
            <a:ext cx="1906587" cy="92333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kumimoji="0" lang="en-US" altLang="zh-TW" sz="1800" b="1" dirty="0">
                <a:latin typeface="Calibri" panose="020F0502020204030204" pitchFamily="34" charset="0"/>
              </a:rPr>
              <a:t>Interrupt</a:t>
            </a:r>
            <a:r>
              <a:rPr kumimoji="0" lang="en-US" altLang="zh-TW" sz="1800" dirty="0">
                <a:latin typeface="Calibri" panose="020F0502020204030204" pitchFamily="34" charset="0"/>
              </a:rPr>
              <a:t> cause</a:t>
            </a:r>
          </a:p>
          <a:p>
            <a:pPr eaLnBrk="0" hangingPunct="0"/>
            <a:r>
              <a:rPr kumimoji="0" lang="en-US" altLang="zh-TW" sz="1800" dirty="0">
                <a:latin typeface="Calibri" panose="020F0502020204030204" pitchFamily="34" charset="0"/>
              </a:rPr>
              <a:t>CPU just to the kernel</a:t>
            </a:r>
          </a:p>
        </p:txBody>
      </p:sp>
      <p:sp>
        <p:nvSpPr>
          <p:cNvPr id="57354" name="Rectangle 14"/>
          <p:cNvSpPr>
            <a:spLocks noChangeArrowheads="1"/>
          </p:cNvSpPr>
          <p:nvPr/>
        </p:nvSpPr>
        <p:spPr bwMode="auto">
          <a:xfrm>
            <a:off x="5232401" y="1268414"/>
            <a:ext cx="1368425" cy="12350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endParaRPr kumimoji="0" lang="en-US" altLang="zh-TW" sz="2000" i="1" dirty="0">
              <a:latin typeface="Calibri" panose="020F0502020204030204" pitchFamily="34" charset="0"/>
            </a:endParaRPr>
          </a:p>
          <a:p>
            <a:pPr algn="ctr"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User </a:t>
            </a:r>
          </a:p>
          <a:p>
            <a:pPr algn="ctr"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Applications</a:t>
            </a:r>
            <a:endParaRPr kumimoji="0" lang="en-US" altLang="zh-TW" sz="2000" i="1" dirty="0">
              <a:latin typeface="Calibri" panose="020F0502020204030204" pitchFamily="34" charset="0"/>
            </a:endParaRPr>
          </a:p>
          <a:p>
            <a:pPr algn="ctr" eaLnBrk="0" hangingPunct="0"/>
            <a:endParaRPr kumimoji="0" lang="en-US" altLang="zh-TW" sz="2000" i="1" dirty="0">
              <a:latin typeface="Calibri" panose="020F0502020204030204" pitchFamily="34" charset="0"/>
            </a:endParaRPr>
          </a:p>
        </p:txBody>
      </p:sp>
      <p:sp>
        <p:nvSpPr>
          <p:cNvPr id="57355" name="Line 15"/>
          <p:cNvSpPr>
            <a:spLocks noChangeShapeType="1"/>
          </p:cNvSpPr>
          <p:nvPr/>
        </p:nvSpPr>
        <p:spPr bwMode="auto">
          <a:xfrm flipV="1">
            <a:off x="5808663" y="4508500"/>
            <a:ext cx="0" cy="57943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57356" name="Rectangle 16"/>
          <p:cNvSpPr>
            <a:spLocks noChangeArrowheads="1"/>
          </p:cNvSpPr>
          <p:nvPr/>
        </p:nvSpPr>
        <p:spPr bwMode="auto">
          <a:xfrm>
            <a:off x="5303838" y="5157789"/>
            <a:ext cx="1008062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Timer</a:t>
            </a:r>
          </a:p>
        </p:txBody>
      </p:sp>
      <p:sp>
        <p:nvSpPr>
          <p:cNvPr id="57357" name="Text Box 18"/>
          <p:cNvSpPr txBox="1">
            <a:spLocks noChangeArrowheads="1"/>
          </p:cNvSpPr>
          <p:nvPr/>
        </p:nvSpPr>
        <p:spPr bwMode="auto">
          <a:xfrm>
            <a:off x="6600825" y="1766888"/>
            <a:ext cx="3995738" cy="366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kumimoji="0" lang="en-US" altLang="zh-TW" sz="1800" b="1" i="1" dirty="0">
                <a:latin typeface="Calibri" panose="020F0502020204030204" pitchFamily="34" charset="0"/>
              </a:rPr>
              <a:t>Change to execute another application</a:t>
            </a:r>
            <a:endParaRPr kumimoji="0" lang="en-US" altLang="zh-TW" sz="1800" i="1" dirty="0">
              <a:latin typeface="Calibri" panose="020F0502020204030204" pitchFamily="34" charset="0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3477039" y="1299302"/>
            <a:ext cx="1368425" cy="1235075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…</a:t>
            </a:r>
          </a:p>
          <a:p>
            <a:pPr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for (;;)</a:t>
            </a:r>
          </a:p>
          <a:p>
            <a:pPr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    a=a+1</a:t>
            </a:r>
            <a:r>
              <a:rPr kumimoji="0" lang="en-US" altLang="zh-TW" sz="2000" i="1" dirty="0">
                <a:latin typeface="Calibri" panose="020F0502020204030204" pitchFamily="34" charset="0"/>
              </a:rPr>
              <a:t>;</a:t>
            </a:r>
          </a:p>
          <a:p>
            <a:pPr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2" name="圓角矩形 1"/>
          <p:cNvSpPr/>
          <p:nvPr/>
        </p:nvSpPr>
        <p:spPr>
          <a:xfrm>
            <a:off x="3346549" y="3246066"/>
            <a:ext cx="5184576" cy="1515219"/>
          </a:xfrm>
          <a:prstGeom prst="roundRect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kumimoji="0" lang="en-US" altLang="zh-TW" sz="1800" b="1" i="1" dirty="0" err="1">
                <a:solidFill>
                  <a:srgbClr val="FF0000"/>
                </a:solidFill>
                <a:latin typeface="Calibri" panose="020F0502020204030204" pitchFamily="34" charset="0"/>
              </a:rPr>
              <a:t>check_and_select</a:t>
            </a:r>
            <a:r>
              <a:rPr kumimoji="0" lang="en-US" altLang="zh-TW" sz="1800" b="1" i="1" dirty="0">
                <a:solidFill>
                  <a:srgbClr val="FF0000"/>
                </a:solidFill>
                <a:latin typeface="Calibri" panose="020F0502020204030204" pitchFamily="34" charset="0"/>
              </a:rPr>
              <a:t>() </a:t>
            </a:r>
          </a:p>
          <a:p>
            <a:pPr eaLnBrk="0" hangingPunct="0"/>
            <a:r>
              <a:rPr kumimoji="0" lang="en-US" altLang="zh-TW" sz="1800" b="1" i="1" dirty="0">
                <a:solidFill>
                  <a:srgbClr val="FF0000"/>
                </a:solidFill>
                <a:latin typeface="Calibri" panose="020F0502020204030204" pitchFamily="34" charset="0"/>
              </a:rPr>
              <a:t>{</a:t>
            </a:r>
          </a:p>
          <a:p>
            <a:pPr lvl="1" eaLnBrk="0" hangingPunct="0"/>
            <a:r>
              <a:rPr kumimoji="0" lang="en-US" altLang="zh-TW" sz="1800" b="1" i="1" dirty="0">
                <a:solidFill>
                  <a:srgbClr val="FF0000"/>
                </a:solidFill>
                <a:latin typeface="Calibri" panose="020F0502020204030204" pitchFamily="34" charset="0"/>
              </a:rPr>
              <a:t>If (current process executes too long)</a:t>
            </a:r>
          </a:p>
          <a:p>
            <a:pPr lvl="1" eaLnBrk="0" hangingPunct="0"/>
            <a:r>
              <a:rPr kumimoji="0" lang="en-US" altLang="zh-TW" sz="1800" b="1" i="1" dirty="0">
                <a:solidFill>
                  <a:srgbClr val="FF0000"/>
                </a:solidFill>
                <a:latin typeface="Calibri" panose="020F0502020204030204" pitchFamily="34" charset="0"/>
              </a:rPr>
              <a:t>     change to execute another application</a:t>
            </a:r>
          </a:p>
          <a:p>
            <a:pPr eaLnBrk="0" hangingPunct="0"/>
            <a:r>
              <a:rPr kumimoji="0" lang="en-US" altLang="zh-TW" sz="1800" b="1" i="1" dirty="0">
                <a:solidFill>
                  <a:srgbClr val="FF0000"/>
                </a:solidFill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3470623" y="1299302"/>
            <a:ext cx="1368425" cy="12350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r>
              <a:rPr kumimoji="0" lang="en-US" altLang="zh-TW" sz="2000">
                <a:latin typeface="Calibri" panose="020F0502020204030204" pitchFamily="34" charset="0"/>
              </a:rPr>
              <a:t>…</a:t>
            </a:r>
          </a:p>
          <a:p>
            <a:pPr eaLnBrk="0" hangingPunct="0"/>
            <a:r>
              <a:rPr kumimoji="0" lang="en-US" altLang="zh-TW" sz="2000">
                <a:latin typeface="Calibri" panose="020F0502020204030204" pitchFamily="34" charset="0"/>
              </a:rPr>
              <a:t>for (;;)</a:t>
            </a:r>
          </a:p>
          <a:p>
            <a:pPr eaLnBrk="0" hangingPunct="0"/>
            <a:r>
              <a:rPr kumimoji="0" lang="en-US" altLang="zh-TW" sz="2000">
                <a:latin typeface="Calibri" panose="020F0502020204030204" pitchFamily="34" charset="0"/>
              </a:rPr>
              <a:t>    a=a+1</a:t>
            </a:r>
            <a:r>
              <a:rPr kumimoji="0" lang="en-US" altLang="zh-TW" sz="2000" i="1">
                <a:latin typeface="Calibri" panose="020F0502020204030204" pitchFamily="34" charset="0"/>
              </a:rPr>
              <a:t>;</a:t>
            </a:r>
          </a:p>
          <a:p>
            <a:pPr eaLnBrk="0" hangingPunct="0"/>
            <a:r>
              <a:rPr kumimoji="0" lang="en-US" altLang="zh-TW" sz="2000">
                <a:latin typeface="Calibri" panose="020F0502020204030204" pitchFamily="34" charset="0"/>
              </a:rPr>
              <a:t>…</a:t>
            </a:r>
            <a:endParaRPr kumimoji="0" lang="en-US" altLang="zh-TW" sz="2000" dirty="0">
              <a:latin typeface="Calibri" panose="020F0502020204030204" pitchFamily="34" charset="0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5232400" y="1284254"/>
            <a:ext cx="1368425" cy="1235075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endParaRPr kumimoji="0" lang="en-US" altLang="zh-TW" sz="2000" i="1" dirty="0">
              <a:latin typeface="Calibri" panose="020F0502020204030204" pitchFamily="34" charset="0"/>
            </a:endParaRPr>
          </a:p>
          <a:p>
            <a:pPr algn="ctr"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User </a:t>
            </a:r>
          </a:p>
          <a:p>
            <a:pPr algn="ctr"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Applications</a:t>
            </a:r>
            <a:endParaRPr kumimoji="0" lang="en-US" altLang="zh-TW" sz="2000" i="1" dirty="0">
              <a:latin typeface="Calibri" panose="020F0502020204030204" pitchFamily="34" charset="0"/>
            </a:endParaRPr>
          </a:p>
          <a:p>
            <a:pPr algn="ctr" eaLnBrk="0" hangingPunct="0"/>
            <a:endParaRPr kumimoji="0" lang="en-US" altLang="zh-TW" sz="2000" i="1" dirty="0">
              <a:latin typeface="Calibri" panose="020F050202020403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4517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3" grpId="0"/>
      <p:bldP spid="57355" grpId="0" animBg="1"/>
      <p:bldP spid="57357" grpId="0"/>
      <p:bldP spid="2" grpId="0" animBg="1"/>
      <p:bldP spid="16" grpId="0" animBg="1"/>
      <p:bldP spid="17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ffectLst/>
              </a:rPr>
              <a:t>With a Timer</a:t>
            </a:r>
            <a:endParaRPr lang="en-US" altLang="zh-TW" dirty="0">
              <a:solidFill>
                <a:srgbClr val="0033CC"/>
              </a:solidFill>
            </a:endParaRP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11900" y="1484314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for (;;)    a=a+1;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</p:txBody>
      </p:sp>
      <p:cxnSp>
        <p:nvCxnSpPr>
          <p:cNvPr id="9" name="直線單箭頭接點 8"/>
          <p:cNvCxnSpPr>
            <a:stCxn id="282627" idx="1"/>
            <a:endCxn id="282630" idx="3"/>
          </p:cNvCxnSpPr>
          <p:nvPr/>
        </p:nvCxnSpPr>
        <p:spPr>
          <a:xfrm flipH="1">
            <a:off x="4437064" y="2101850"/>
            <a:ext cx="1874837" cy="7239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11" idx="1"/>
          </p:cNvCxnSpPr>
          <p:nvPr/>
        </p:nvCxnSpPr>
        <p:spPr>
          <a:xfrm>
            <a:off x="4437062" y="2825751"/>
            <a:ext cx="1874838" cy="326199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311900" y="5735002"/>
            <a:ext cx="2260600" cy="705486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Interrupt Service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Routine (ISR)</a:t>
            </a: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3359697" y="3463927"/>
            <a:ext cx="1" cy="68659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3392611" y="3687247"/>
            <a:ext cx="104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interrupt</a:t>
            </a:r>
            <a:endParaRPr lang="zh-TW" altLang="en-US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307138" y="2710816"/>
            <a:ext cx="2260600" cy="12350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3" name="圓角矩形 2"/>
          <p:cNvSpPr/>
          <p:nvPr/>
        </p:nvSpPr>
        <p:spPr>
          <a:xfrm>
            <a:off x="2783632" y="4150520"/>
            <a:ext cx="1224136" cy="57462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latin typeface="Calibri" panose="020F0502020204030204" pitchFamily="34" charset="0"/>
              </a:rPr>
              <a:t>Timer</a:t>
            </a:r>
            <a:endParaRPr lang="zh-TW" altLang="en-US" sz="2400" b="1" dirty="0">
              <a:latin typeface="Calibri" panose="020F0502020204030204" pitchFamily="34" charset="0"/>
            </a:endParaRPr>
          </a:p>
        </p:txBody>
      </p:sp>
      <p:cxnSp>
        <p:nvCxnSpPr>
          <p:cNvPr id="14" name="直線單箭頭接點 13"/>
          <p:cNvCxnSpPr>
            <a:endCxn id="282630" idx="3"/>
          </p:cNvCxnSpPr>
          <p:nvPr/>
        </p:nvCxnSpPr>
        <p:spPr>
          <a:xfrm flipH="1" flipV="1">
            <a:off x="4437064" y="2826544"/>
            <a:ext cx="1802953" cy="556736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弧形向右箭號 6"/>
          <p:cNvSpPr/>
          <p:nvPr/>
        </p:nvSpPr>
        <p:spPr>
          <a:xfrm flipH="1" flipV="1">
            <a:off x="8638549" y="4653135"/>
            <a:ext cx="576064" cy="136815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120</a:t>
            </a:fld>
            <a:endParaRPr lang="en-US" altLang="zh-TW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6312024" y="4498182"/>
            <a:ext cx="2260600" cy="674212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r>
              <a:rPr kumimoji="0" lang="en-US" altLang="zh-TW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 eaLnBrk="0" hangingPunct="0"/>
            <a:r>
              <a:rPr kumimoji="0" lang="en-US" altLang="zh-TW" sz="20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check_and_select</a:t>
            </a:r>
            <a:r>
              <a:rPr kumimoji="0" lang="en-US" altLang="zh-TW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(){</a:t>
            </a:r>
          </a:p>
          <a:p>
            <a:pPr eaLnBrk="0" hangingPunct="0"/>
            <a:r>
              <a:rPr kumimoji="0" lang="en-US" altLang="zh-TW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pPr algn="ctr" eaLnBrk="0" hangingPunct="0"/>
            <a:r>
              <a:rPr kumimoji="0" lang="en-US" altLang="zh-TW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19" name="弧形向右箭號 18"/>
          <p:cNvSpPr/>
          <p:nvPr/>
        </p:nvSpPr>
        <p:spPr>
          <a:xfrm flipH="1" flipV="1">
            <a:off x="8616280" y="3284984"/>
            <a:ext cx="576064" cy="136815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32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/>
      <p:bldP spid="3" grpId="0" animBg="1"/>
      <p:bldP spid="7" grpId="0" animBg="1"/>
      <p:bldP spid="7" grpId="1" animBg="1"/>
      <p:bldP spid="19" grpId="0" animBg="1"/>
      <p:bldP spid="19" grpId="1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1556792"/>
            <a:ext cx="10363200" cy="1470025"/>
          </a:xfrm>
        </p:spPr>
        <p:txBody>
          <a:bodyPr/>
          <a:lstStyle/>
          <a:p>
            <a:r>
              <a:rPr lang="zh-TW" altLang="en-US" sz="3600" dirty="0"/>
              <a:t>事實上</a:t>
            </a:r>
            <a:r>
              <a:rPr lang="en-US" altLang="zh-TW" sz="3600" dirty="0"/>
              <a:t>, </a:t>
            </a:r>
            <a:r>
              <a:rPr lang="zh-TW" altLang="en-US" sz="3600" dirty="0"/>
              <a:t>只要</a:t>
            </a:r>
            <a:r>
              <a:rPr lang="zh-TW" altLang="en-US" sz="3600" dirty="0">
                <a:solidFill>
                  <a:srgbClr val="FF0000"/>
                </a:solidFill>
              </a:rPr>
              <a:t>進入</a:t>
            </a:r>
            <a:r>
              <a:rPr lang="en-US" altLang="zh-TW" sz="3600" dirty="0">
                <a:solidFill>
                  <a:srgbClr val="FF0000"/>
                </a:solidFill>
              </a:rPr>
              <a:t>OS </a:t>
            </a:r>
            <a:r>
              <a:rPr lang="en-US" altLang="zh-TW" sz="3600" dirty="0">
                <a:solidFill>
                  <a:schemeClr val="tx1"/>
                </a:solidFill>
              </a:rPr>
              <a:t>(</a:t>
            </a:r>
            <a:r>
              <a:rPr lang="zh-TW" altLang="en-US" sz="3600" dirty="0">
                <a:solidFill>
                  <a:schemeClr val="tx1"/>
                </a:solidFill>
              </a:rPr>
              <a:t>例如</a:t>
            </a:r>
            <a:r>
              <a:rPr lang="en-US" altLang="zh-TW" sz="3600" dirty="0">
                <a:solidFill>
                  <a:schemeClr val="tx1"/>
                </a:solidFill>
              </a:rPr>
              <a:t>:</a:t>
            </a:r>
            <a:r>
              <a:rPr lang="en-US" altLang="zh-TW" sz="3600" dirty="0"/>
              <a:t>timer,</a:t>
            </a:r>
            <a:r>
              <a:rPr lang="zh-TW" altLang="en-US" sz="3600" dirty="0"/>
              <a:t>網路卡</a:t>
            </a:r>
            <a:r>
              <a:rPr lang="en-US" altLang="zh-TW" sz="3600" dirty="0"/>
              <a:t>, </a:t>
            </a:r>
            <a:r>
              <a:rPr lang="zh-TW" altLang="en-US" sz="3600" dirty="0"/>
              <a:t>硬碟</a:t>
            </a:r>
            <a:r>
              <a:rPr lang="en-US" altLang="zh-TW" sz="3600" dirty="0"/>
              <a:t>,…</a:t>
            </a:r>
            <a:r>
              <a:rPr lang="zh-TW" altLang="en-US" sz="3600" dirty="0"/>
              <a:t>等周邊的中斷或是程式呼叫</a:t>
            </a:r>
            <a:r>
              <a:rPr lang="en-US" altLang="zh-TW" sz="3600" dirty="0"/>
              <a:t>system calls), OS</a:t>
            </a:r>
            <a:r>
              <a:rPr lang="zh-TW" altLang="en-US" sz="3600" dirty="0">
                <a:solidFill>
                  <a:srgbClr val="FF0000"/>
                </a:solidFill>
              </a:rPr>
              <a:t>可能</a:t>
            </a:r>
            <a:r>
              <a:rPr lang="zh-TW" altLang="en-US" sz="3600" dirty="0"/>
              <a:t>就會切換應用程式的執行</a:t>
            </a:r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第五章會詳細介紹</a:t>
            </a:r>
          </a:p>
        </p:txBody>
      </p:sp>
    </p:spTree>
    <p:extLst>
      <p:ext uri="{BB962C8B-B14F-4D97-AF65-F5344CB8AC3E}">
        <p14:creationId xmlns:p14="http://schemas.microsoft.com/office/powerpoint/2010/main" val="258766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1556792"/>
            <a:ext cx="10363200" cy="1470025"/>
          </a:xfrm>
        </p:spPr>
        <p:txBody>
          <a:bodyPr/>
          <a:lstStyle/>
          <a:p>
            <a:r>
              <a:rPr lang="en-US" altLang="zh-TW" sz="3600" dirty="0"/>
              <a:t>Question: </a:t>
            </a:r>
            <a:r>
              <a:rPr lang="zh-TW" altLang="en-US" sz="3600" dirty="0"/>
              <a:t>既然有網卡</a:t>
            </a:r>
            <a:r>
              <a:rPr lang="en-US" altLang="zh-TW" sz="3600" dirty="0"/>
              <a:t>,</a:t>
            </a:r>
            <a:r>
              <a:rPr lang="zh-TW" altLang="en-US" sz="3600" dirty="0"/>
              <a:t>硬碟等周邊會觸發中斷</a:t>
            </a:r>
            <a:r>
              <a:rPr lang="en-US" altLang="zh-TW" sz="3600" dirty="0"/>
              <a:t>,</a:t>
            </a:r>
            <a:br>
              <a:rPr lang="en-US" altLang="zh-TW" sz="3600" dirty="0"/>
            </a:br>
            <a:r>
              <a:rPr lang="zh-TW" altLang="en-US" sz="3600" dirty="0"/>
              <a:t>那為什麼還需要</a:t>
            </a:r>
            <a:r>
              <a:rPr lang="en-US" altLang="zh-TW" sz="3600" dirty="0"/>
              <a:t>timer?</a:t>
            </a:r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050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What Operating Systems Do?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Organization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b="1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Architecture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Operating-System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OS Invocation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Multiprogramming and Multitasking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Timers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Dual-Mode and Multi-mode Operation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endParaRPr lang="en-US" altLang="zh-TW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TW" b="1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123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5916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Question:</a:t>
            </a:r>
            <a:r>
              <a:rPr lang="zh-TW" altLang="en-US" sz="4000" dirty="0"/>
              <a:t>某些</a:t>
            </a:r>
            <a:r>
              <a:rPr lang="en-US" altLang="zh-TW" sz="4000" dirty="0"/>
              <a:t>CPU instructions(</a:t>
            </a:r>
            <a:r>
              <a:rPr lang="zh-TW" altLang="en-US" sz="4000" dirty="0"/>
              <a:t>例如</a:t>
            </a:r>
            <a:r>
              <a:rPr lang="en-US" altLang="zh-TW" sz="4000" dirty="0"/>
              <a:t>:cli)</a:t>
            </a:r>
            <a:r>
              <a:rPr lang="zh-TW" altLang="en-US" sz="4000" dirty="0"/>
              <a:t>可能很危險</a:t>
            </a:r>
            <a:r>
              <a:rPr lang="en-US" altLang="zh-TW" sz="4000" dirty="0"/>
              <a:t>,</a:t>
            </a:r>
            <a:r>
              <a:rPr lang="zh-TW" altLang="en-US" sz="4000" dirty="0"/>
              <a:t>我們不想讓應用程式執行</a:t>
            </a:r>
            <a:r>
              <a:rPr lang="en-US" altLang="zh-TW" sz="4000" dirty="0"/>
              <a:t>! </a:t>
            </a:r>
            <a:r>
              <a:rPr lang="zh-TW" altLang="en-US" sz="4000" dirty="0"/>
              <a:t>如何辦到呢</a:t>
            </a:r>
            <a:r>
              <a:rPr lang="en-US" altLang="zh-TW" sz="4000" dirty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Possible Solution: </a:t>
            </a:r>
          </a:p>
          <a:p>
            <a:r>
              <a:rPr lang="zh-TW" altLang="en-US" dirty="0"/>
              <a:t>規定應用程式不可以使用這些</a:t>
            </a:r>
            <a:r>
              <a:rPr lang="en-US" altLang="zh-TW" dirty="0"/>
              <a:t>instructions?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090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/>
              <a:t>目標</a:t>
            </a:r>
            <a:r>
              <a:rPr lang="en-US" altLang="zh-TW" sz="4000" dirty="0"/>
              <a:t>:</a:t>
            </a:r>
            <a:r>
              <a:rPr lang="zh-TW" altLang="en-US" sz="4000" dirty="0"/>
              <a:t>某些</a:t>
            </a:r>
            <a:r>
              <a:rPr lang="en-US" altLang="zh-TW" sz="4000" dirty="0"/>
              <a:t>CPU instructions</a:t>
            </a:r>
            <a:r>
              <a:rPr lang="zh-TW" altLang="en-US" sz="4000" dirty="0"/>
              <a:t>只可以讓</a:t>
            </a:r>
            <a:r>
              <a:rPr lang="en-US" altLang="zh-TW" sz="4000" dirty="0"/>
              <a:t>OS</a:t>
            </a:r>
            <a:r>
              <a:rPr lang="zh-TW" altLang="en-US" sz="4000" dirty="0"/>
              <a:t>執行</a:t>
            </a:r>
            <a:r>
              <a:rPr lang="en-US" altLang="zh-TW" sz="4000" dirty="0"/>
              <a:t>, </a:t>
            </a:r>
            <a:r>
              <a:rPr lang="zh-TW" altLang="en-US" sz="4000" dirty="0"/>
              <a:t>不可以讓應用程式執行</a:t>
            </a:r>
            <a:r>
              <a:rPr lang="en-US" altLang="zh-TW" sz="4000" dirty="0"/>
              <a:t>! 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Question: </a:t>
            </a:r>
            <a:r>
              <a:rPr lang="zh-TW" altLang="en-US" dirty="0">
                <a:solidFill>
                  <a:srgbClr val="FF0000"/>
                </a:solidFill>
              </a:rPr>
              <a:t>如何辦到呢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b="1" dirty="0">
                <a:solidFill>
                  <a:srgbClr val="0000CC"/>
                </a:solidFill>
              </a:rPr>
              <a:t>Hint: </a:t>
            </a:r>
            <a:r>
              <a:rPr lang="zh-TW" altLang="en-US" b="1" dirty="0">
                <a:solidFill>
                  <a:srgbClr val="0000CC"/>
                </a:solidFill>
              </a:rPr>
              <a:t>必須仰賴</a:t>
            </a:r>
            <a:r>
              <a:rPr lang="en-US" altLang="zh-TW" b="1" dirty="0">
                <a:solidFill>
                  <a:srgbClr val="0000CC"/>
                </a:solidFill>
              </a:rPr>
              <a:t>CPU</a:t>
            </a:r>
            <a:r>
              <a:rPr lang="zh-TW" altLang="en-US" b="1" dirty="0">
                <a:solidFill>
                  <a:srgbClr val="0000CC"/>
                </a:solidFill>
              </a:rPr>
              <a:t>還是</a:t>
            </a:r>
            <a:r>
              <a:rPr lang="en-US" altLang="zh-TW" b="1" dirty="0">
                <a:solidFill>
                  <a:srgbClr val="0000CC"/>
                </a:solidFill>
              </a:rPr>
              <a:t>OS</a:t>
            </a:r>
            <a:r>
              <a:rPr lang="zh-TW" altLang="en-US" b="1" dirty="0">
                <a:solidFill>
                  <a:srgbClr val="0000CC"/>
                </a:solidFill>
              </a:rPr>
              <a:t>呢</a:t>
            </a:r>
            <a:r>
              <a:rPr lang="en-US" altLang="zh-TW" b="1" dirty="0">
                <a:solidFill>
                  <a:srgbClr val="0000CC"/>
                </a:solidFill>
              </a:rPr>
              <a:t>? </a:t>
            </a:r>
            <a:r>
              <a:rPr lang="en-US" altLang="zh-TW" sz="2400" dirty="0"/>
              <a:t>(see the next slide)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189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solidFill>
                  <a:schemeClr val="tx1"/>
                </a:solidFill>
              </a:rPr>
              <a:t>CPU</a:t>
            </a:r>
            <a:r>
              <a:rPr lang="zh-TW" altLang="en-US" sz="4000" dirty="0">
                <a:solidFill>
                  <a:schemeClr val="tx1"/>
                </a:solidFill>
              </a:rPr>
              <a:t> </a:t>
            </a:r>
            <a:r>
              <a:rPr lang="en-US" altLang="zh-TW" sz="4000" dirty="0">
                <a:solidFill>
                  <a:schemeClr val="tx1"/>
                </a:solidFill>
              </a:rPr>
              <a:t>Fetches Instructions for Executions</a:t>
            </a: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5232399" y="1425154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10;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jmp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target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5232399" y="444934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5232399" y="266022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1487488" y="213000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</p:txBody>
      </p:sp>
      <p:cxnSp>
        <p:nvCxnSpPr>
          <p:cNvPr id="9" name="直線單箭頭接點 8"/>
          <p:cNvCxnSpPr>
            <a:stCxn id="282627" idx="1"/>
            <a:endCxn id="282630" idx="3"/>
          </p:cNvCxnSpPr>
          <p:nvPr/>
        </p:nvCxnSpPr>
        <p:spPr>
          <a:xfrm flipH="1">
            <a:off x="3357563" y="2042690"/>
            <a:ext cx="1874837" cy="7239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5227637" y="2651656"/>
            <a:ext cx="2260600" cy="12350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5;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126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8683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目標</a:t>
            </a:r>
            <a:r>
              <a:rPr lang="en-US" altLang="zh-TW" dirty="0"/>
              <a:t>: </a:t>
            </a:r>
            <a:r>
              <a:rPr lang="zh-TW" altLang="en-US" dirty="0"/>
              <a:t>所以</a:t>
            </a:r>
            <a:r>
              <a:rPr lang="en-US" altLang="zh-TW" dirty="0"/>
              <a:t>CPU</a:t>
            </a:r>
            <a:r>
              <a:rPr lang="zh-TW" altLang="en-US" dirty="0"/>
              <a:t>必須區隔目前是作業系統在執行還是應用程式在執行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只有當作業系統執行時</a:t>
            </a:r>
            <a:r>
              <a:rPr lang="en-US" altLang="zh-TW" dirty="0"/>
              <a:t>, </a:t>
            </a:r>
            <a:r>
              <a:rPr lang="zh-TW" altLang="en-US" dirty="0"/>
              <a:t>才可以執行上述某些危險的</a:t>
            </a:r>
            <a:r>
              <a:rPr lang="en-US" altLang="zh-TW" dirty="0"/>
              <a:t>instructions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436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Privileged Instructions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b="1" dirty="0">
                <a:solidFill>
                  <a:srgbClr val="FF3300"/>
                </a:solidFill>
              </a:rPr>
              <a:t>Privileged instructions</a:t>
            </a:r>
          </a:p>
          <a:p>
            <a:pPr lvl="1" eaLnBrk="1" hangingPunct="1"/>
            <a:r>
              <a:rPr lang="zh-TW" altLang="en-US" sz="3200" dirty="0"/>
              <a:t>上述危險的</a:t>
            </a:r>
            <a:r>
              <a:rPr lang="en-US" altLang="zh-TW" sz="3200" dirty="0"/>
              <a:t>instructions</a:t>
            </a:r>
          </a:p>
          <a:p>
            <a:pPr lvl="1" eaLnBrk="1" hangingPunct="1"/>
            <a:endParaRPr lang="en-US" altLang="zh-TW" sz="3200" dirty="0"/>
          </a:p>
          <a:p>
            <a:pPr lvl="1" eaLnBrk="1" hangingPunct="1"/>
            <a:r>
              <a:rPr lang="en-US" altLang="zh-TW" sz="3200" dirty="0"/>
              <a:t>Instructions that may </a:t>
            </a:r>
            <a:r>
              <a:rPr lang="en-US" altLang="zh-TW" sz="3200" b="1" dirty="0">
                <a:solidFill>
                  <a:srgbClr val="0000CC"/>
                </a:solidFill>
              </a:rPr>
              <a:t>cause harm</a:t>
            </a:r>
          </a:p>
          <a:p>
            <a:pPr lvl="1" eaLnBrk="1" hangingPunct="1"/>
            <a:endParaRPr lang="en-US" altLang="zh-TW" sz="3200" dirty="0"/>
          </a:p>
          <a:p>
            <a:pPr lvl="1" eaLnBrk="1" hangingPunct="1"/>
            <a:r>
              <a:rPr lang="en-US" altLang="zh-TW" sz="3200" dirty="0"/>
              <a:t>Example:</a:t>
            </a:r>
          </a:p>
          <a:p>
            <a:pPr lvl="2" eaLnBrk="1" hangingPunct="1"/>
            <a:r>
              <a:rPr lang="en-US" altLang="zh-TW" sz="2800" dirty="0"/>
              <a:t>I/O control, timer management, interrupt management</a:t>
            </a:r>
            <a:endParaRPr lang="en-US" altLang="zh-TW" sz="2800" b="1" dirty="0"/>
          </a:p>
          <a:p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3287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/>
              <a:t>複習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Timer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Solution: </a:t>
            </a:r>
            <a:r>
              <a:rPr lang="en-US" altLang="zh-TW" b="1" dirty="0">
                <a:solidFill>
                  <a:srgbClr val="FF3300"/>
                </a:solidFill>
              </a:rPr>
              <a:t>timer  </a:t>
            </a:r>
          </a:p>
          <a:p>
            <a:pPr lvl="1" eaLnBrk="1" hangingPunct="1"/>
            <a:r>
              <a:rPr lang="en-US" altLang="zh-TW" dirty="0"/>
              <a:t>A hardware that triggers </a:t>
            </a:r>
            <a:r>
              <a:rPr lang="en-US" altLang="zh-TW" b="1" dirty="0"/>
              <a:t>interrupt periodically</a:t>
            </a:r>
            <a:endParaRPr lang="en-US" altLang="zh-TW" dirty="0"/>
          </a:p>
          <a:p>
            <a:pPr lvl="1" eaLnBrk="1" hangingPunct="1"/>
            <a:endParaRPr lang="en-US" altLang="zh-TW" b="1" i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Upon interrupt occurring, CPU jumps to OS</a:t>
            </a:r>
          </a:p>
          <a:p>
            <a:pPr lvl="2" eaLnBrk="1" hangingPunct="1"/>
            <a:r>
              <a:rPr lang="en-US" altLang="zh-TW" dirty="0"/>
              <a:t>OS then select another program to run (maybe still the same program)</a:t>
            </a:r>
          </a:p>
          <a:p>
            <a:pPr lvl="2" eaLnBrk="1" hangingPunct="1"/>
            <a:r>
              <a:rPr lang="en-US" altLang="zh-TW" dirty="0"/>
              <a:t>An so on…</a:t>
            </a:r>
            <a:r>
              <a:rPr lang="en-US" altLang="zh-TW" sz="1800" dirty="0"/>
              <a:t>(see the following two slides)</a:t>
            </a:r>
          </a:p>
          <a:p>
            <a:pPr lvl="1" eaLnBrk="1" hangingPunct="1"/>
            <a:endParaRPr lang="en-US" altLang="zh-TW" dirty="0"/>
          </a:p>
          <a:p>
            <a:pPr lvl="1" eaLnBrk="1" hangingPunct="1"/>
            <a:r>
              <a:rPr lang="en-US" altLang="zh-TW" dirty="0">
                <a:solidFill>
                  <a:srgbClr val="0033CC"/>
                </a:solidFill>
              </a:rPr>
              <a:t>Clearly, instructions that modify the content of the timer are </a:t>
            </a:r>
            <a:r>
              <a:rPr lang="en-US" altLang="zh-TW" b="1" dirty="0">
                <a:solidFill>
                  <a:srgbClr val="0033CC"/>
                </a:solidFill>
              </a:rPr>
              <a:t>privileged. </a:t>
            </a:r>
            <a:endParaRPr lang="en-US" altLang="zh-TW" dirty="0"/>
          </a:p>
          <a:p>
            <a:pPr lvl="1" eaLnBrk="1" hangingPunct="1"/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476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Why instructions modifying the timer are privileged?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5456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Dual-Mode Operations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如前述</a:t>
            </a:r>
            <a:r>
              <a:rPr lang="en-US" altLang="zh-TW" dirty="0"/>
              <a:t>, CPU must distinguish between the execution of </a:t>
            </a:r>
            <a:r>
              <a:rPr lang="en-US" altLang="zh-TW" b="1" dirty="0"/>
              <a:t>OS code</a:t>
            </a:r>
            <a:r>
              <a:rPr lang="en-US" altLang="zh-TW" dirty="0"/>
              <a:t> and </a:t>
            </a:r>
            <a:r>
              <a:rPr lang="en-US" altLang="zh-TW" b="1" dirty="0"/>
              <a:t>user program code</a:t>
            </a:r>
          </a:p>
          <a:p>
            <a:pPr eaLnBrk="1" hangingPunct="1"/>
            <a:endParaRPr lang="en-US" altLang="zh-TW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Why? </a:t>
            </a:r>
            <a:r>
              <a:rPr lang="en-US" altLang="zh-TW" sz="2200" dirty="0"/>
              <a:t>(see the following slide)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Solution: </a:t>
            </a:r>
            <a:r>
              <a:rPr lang="en-US" altLang="zh-TW" b="1" dirty="0">
                <a:solidFill>
                  <a:srgbClr val="FF3300"/>
                </a:solidFill>
              </a:rPr>
              <a:t>CPU </a:t>
            </a:r>
            <a:r>
              <a:rPr lang="en-US" altLang="zh-TW" dirty="0"/>
              <a:t>supports dual-mode operations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90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Distinguish between Executions Of OS and User Program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312024" y="1484785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cli;  //clear interrupts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12024" y="4509122"/>
            <a:ext cx="2260600" cy="1931595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lvl="0"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 lvl="0"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cli; </a:t>
            </a:r>
          </a:p>
          <a:p>
            <a:pPr lvl="0"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OS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312024" y="2719859"/>
            <a:ext cx="2260600" cy="178926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…..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67609" y="2188803"/>
            <a:ext cx="1869455" cy="1274514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9" name="直線單箭頭接點 8"/>
          <p:cNvCxnSpPr>
            <a:stCxn id="3" idx="1"/>
            <a:endCxn id="7" idx="3"/>
          </p:cNvCxnSpPr>
          <p:nvPr/>
        </p:nvCxnSpPr>
        <p:spPr>
          <a:xfrm flipH="1">
            <a:off x="4437064" y="2102322"/>
            <a:ext cx="1874961" cy="723738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乘號 7"/>
          <p:cNvSpPr/>
          <p:nvPr/>
        </p:nvSpPr>
        <p:spPr>
          <a:xfrm>
            <a:off x="4961138" y="2006991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>
            <a:endCxn id="7" idx="3"/>
          </p:cNvCxnSpPr>
          <p:nvPr/>
        </p:nvCxnSpPr>
        <p:spPr>
          <a:xfrm flipH="1" flipV="1">
            <a:off x="4437064" y="2826060"/>
            <a:ext cx="1869455" cy="2331132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4991086" y="3991626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V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9170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Dual-Mode Operation</a:t>
            </a:r>
            <a:endParaRPr lang="en-US" altLang="zh-TW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Modern </a:t>
            </a:r>
            <a:r>
              <a:rPr lang="en-US" altLang="zh-TW" b="1" dirty="0">
                <a:solidFill>
                  <a:srgbClr val="FF3300"/>
                </a:solidFill>
              </a:rPr>
              <a:t>CPUs</a:t>
            </a:r>
            <a:r>
              <a:rPr lang="en-US" altLang="zh-TW" dirty="0"/>
              <a:t> have </a:t>
            </a:r>
            <a:r>
              <a:rPr lang="en-US" altLang="zh-TW" b="1" dirty="0"/>
              <a:t>at least </a:t>
            </a:r>
            <a:r>
              <a:rPr lang="en-US" altLang="zh-TW" dirty="0"/>
              <a:t>two execution modes:</a:t>
            </a:r>
            <a:endParaRPr lang="en-US" altLang="zh-TW" b="1" i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b="1" i="1" dirty="0">
                <a:solidFill>
                  <a:srgbClr val="FF3300"/>
                </a:solidFill>
              </a:rPr>
              <a:t>User mode</a:t>
            </a:r>
            <a:r>
              <a:rPr lang="en-US" altLang="zh-TW" dirty="0"/>
              <a:t> – execution done on behalf of </a:t>
            </a:r>
            <a:r>
              <a:rPr lang="en-US" altLang="zh-TW" b="1" dirty="0">
                <a:solidFill>
                  <a:srgbClr val="0033CC"/>
                </a:solidFill>
              </a:rPr>
              <a:t>user</a:t>
            </a:r>
            <a:r>
              <a:rPr lang="zh-TW" altLang="en-US" b="1" dirty="0">
                <a:solidFill>
                  <a:srgbClr val="0033CC"/>
                </a:solidFill>
              </a:rPr>
              <a:t> </a:t>
            </a:r>
            <a:r>
              <a:rPr lang="en-US" altLang="zh-TW" b="1" dirty="0">
                <a:solidFill>
                  <a:srgbClr val="0033CC"/>
                </a:solidFill>
              </a:rPr>
              <a:t>programs</a:t>
            </a:r>
          </a:p>
          <a:p>
            <a:pPr lvl="2" eaLnBrk="1" hangingPunct="1"/>
            <a:r>
              <a:rPr lang="en-US" altLang="zh-TW" b="1" dirty="0">
                <a:solidFill>
                  <a:srgbClr val="0033CC"/>
                </a:solidFill>
              </a:rPr>
              <a:t>Cannot</a:t>
            </a:r>
            <a:r>
              <a:rPr lang="en-US" altLang="zh-TW" dirty="0">
                <a:solidFill>
                  <a:srgbClr val="0033CC"/>
                </a:solidFill>
              </a:rPr>
              <a:t> execution privileged instructions</a:t>
            </a:r>
          </a:p>
          <a:p>
            <a:pPr lvl="1" eaLnBrk="1" hangingPunct="1"/>
            <a:endParaRPr lang="en-US" altLang="zh-TW" b="1" i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b="1" i="1" dirty="0">
                <a:solidFill>
                  <a:srgbClr val="FF3300"/>
                </a:solidFill>
              </a:rPr>
              <a:t>Monitor mode</a:t>
            </a:r>
            <a:r>
              <a:rPr lang="en-US" altLang="zh-TW" dirty="0"/>
              <a:t>– execution done on behalf of </a:t>
            </a:r>
            <a:r>
              <a:rPr lang="en-US" altLang="zh-TW" b="1" dirty="0">
                <a:solidFill>
                  <a:srgbClr val="0033CC"/>
                </a:solidFill>
              </a:rPr>
              <a:t>OS</a:t>
            </a:r>
          </a:p>
          <a:p>
            <a:pPr lvl="2" eaLnBrk="1" hangingPunct="1"/>
            <a:r>
              <a:rPr lang="en-US" altLang="zh-TW" dirty="0"/>
              <a:t>Also called </a:t>
            </a:r>
            <a:r>
              <a:rPr lang="en-US" altLang="zh-TW" i="1" dirty="0"/>
              <a:t>supervisor mode, system mode, or privileged mode</a:t>
            </a:r>
          </a:p>
          <a:p>
            <a:pPr lvl="2" eaLnBrk="1" hangingPunct="1"/>
            <a:r>
              <a:rPr lang="en-US" altLang="zh-TW" dirty="0"/>
              <a:t>Can executed all of the instructions, including </a:t>
            </a:r>
            <a:r>
              <a:rPr lang="en-US" altLang="zh-TW" b="1" dirty="0">
                <a:solidFill>
                  <a:srgbClr val="CC3300"/>
                </a:solidFill>
              </a:rPr>
              <a:t>privileged instructions</a:t>
            </a:r>
          </a:p>
          <a:p>
            <a:pPr lvl="1" eaLnBrk="1" hangingPunct="1"/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133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Q: CPU</a:t>
            </a:r>
            <a:r>
              <a:rPr lang="zh-TW" altLang="en-US" sz="4000" dirty="0"/>
              <a:t>如何區分這兩種模式</a:t>
            </a:r>
            <a:r>
              <a:rPr lang="en-US" altLang="zh-TW" sz="4000" dirty="0"/>
              <a:t>? </a:t>
            </a:r>
            <a:br>
              <a:rPr lang="en-US" altLang="zh-TW" sz="4000" dirty="0"/>
            </a:br>
            <a:r>
              <a:rPr lang="zh-TW" altLang="en-US" sz="4000" dirty="0"/>
              <a:t>也就是</a:t>
            </a:r>
            <a:r>
              <a:rPr lang="en-US" altLang="zh-TW" sz="4000" dirty="0"/>
              <a:t>CPU</a:t>
            </a:r>
            <a:r>
              <a:rPr lang="zh-TW" altLang="en-US" sz="4000" dirty="0"/>
              <a:t>如何知道目前是處於哪一種模式</a:t>
            </a:r>
            <a:r>
              <a:rPr lang="en-US" altLang="zh-TW" sz="4000" dirty="0"/>
              <a:t> 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Ans</a:t>
            </a:r>
            <a:r>
              <a:rPr lang="en-US" altLang="zh-TW" dirty="0"/>
              <a:t>: a </a:t>
            </a:r>
            <a:r>
              <a:rPr lang="en-US" altLang="zh-TW" b="1" dirty="0">
                <a:solidFill>
                  <a:srgbClr val="0000CC"/>
                </a:solidFill>
              </a:rPr>
              <a:t>mode bit</a:t>
            </a:r>
            <a:r>
              <a:rPr lang="en-US" altLang="zh-TW" dirty="0"/>
              <a:t>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50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4000" dirty="0"/>
              <a:t>複習</a:t>
            </a:r>
            <a:r>
              <a:rPr lang="en-US" altLang="zh-TW" sz="4000" dirty="0"/>
              <a:t>: 1.3.1 SIC Machine Architecture (Cont.)</a:t>
            </a:r>
          </a:p>
        </p:txBody>
      </p:sp>
      <p:graphicFrame>
        <p:nvGraphicFramePr>
          <p:cNvPr id="370718" name="Group 3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178281"/>
              </p:ext>
            </p:extLst>
          </p:nvPr>
        </p:nvGraphicFramePr>
        <p:xfrm>
          <a:off x="551384" y="3068960"/>
          <a:ext cx="10972801" cy="3200402"/>
        </p:xfrm>
        <a:graphic>
          <a:graphicData uri="http://schemas.openxmlformats.org/drawingml/2006/table">
            <a:tbl>
              <a:tblPr/>
              <a:tblGrid>
                <a:gridCol w="322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2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Mnemonic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Number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Special use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     Accumulator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X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     Index register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     Linkage register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PC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     Program counter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SW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     Status word</a:t>
                      </a:r>
                    </a:p>
                  </a:txBody>
                  <a:tcPr marL="130048" marR="130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15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8637" y="1412776"/>
            <a:ext cx="7859713" cy="1768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Registers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Five registers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Each register is 24 bits in length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135</a:t>
            </a:fld>
            <a:endParaRPr lang="en-US" altLang="zh-TW"/>
          </a:p>
        </p:txBody>
      </p:sp>
      <p:sp>
        <p:nvSpPr>
          <p:cNvPr id="6" name="圓角矩形 5"/>
          <p:cNvSpPr/>
          <p:nvPr/>
        </p:nvSpPr>
        <p:spPr>
          <a:xfrm>
            <a:off x="1140148" y="5733256"/>
            <a:ext cx="8628260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4000" dirty="0"/>
              <a:t>複習</a:t>
            </a:r>
            <a:r>
              <a:rPr lang="en-US" altLang="zh-TW" sz="4000" dirty="0"/>
              <a:t>: 1.3.1 SIC Machine Architecture (Cont.)</a:t>
            </a:r>
          </a:p>
        </p:txBody>
      </p:sp>
      <p:graphicFrame>
        <p:nvGraphicFramePr>
          <p:cNvPr id="307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449564"/>
              </p:ext>
            </p:extLst>
          </p:nvPr>
        </p:nvGraphicFramePr>
        <p:xfrm>
          <a:off x="1847528" y="2443362"/>
          <a:ext cx="8712967" cy="4081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" name="Worksheet" r:id="rId3" imgW="3825360" imgH="1676520" progId="Excel.Sheet.8">
                  <p:embed/>
                </p:oleObj>
              </mc:Choice>
              <mc:Fallback>
                <p:oleObj name="Worksheet" r:id="rId3" imgW="3825360" imgH="1676520" progId="Excel.Sheet.8">
                  <p:embed/>
                  <p:pic>
                    <p:nvPicPr>
                      <p:cNvPr id="0" name="Picture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2443362"/>
                        <a:ext cx="8712967" cy="40819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51384" y="1709937"/>
            <a:ext cx="7643813" cy="733425"/>
          </a:xfrm>
        </p:spPr>
        <p:txBody>
          <a:bodyPr/>
          <a:lstStyle/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Status Word </a:t>
            </a:r>
            <a:r>
              <a:rPr lang="en-US" altLang="zh-TW" dirty="0"/>
              <a:t>register contents</a:t>
            </a:r>
          </a:p>
        </p:txBody>
      </p:sp>
      <p:sp>
        <p:nvSpPr>
          <p:cNvPr id="2" name="圓角矩形 1"/>
          <p:cNvSpPr/>
          <p:nvPr/>
        </p:nvSpPr>
        <p:spPr>
          <a:xfrm>
            <a:off x="1860228" y="2996952"/>
            <a:ext cx="8628260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136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Dual-Mode Operation (Cont.)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527051" y="1412875"/>
            <a:ext cx="10972800" cy="525648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b="1" dirty="0"/>
              <a:t>Privileged instruction</a:t>
            </a:r>
            <a:r>
              <a:rPr lang="en-US" altLang="zh-TW" dirty="0"/>
              <a:t> can only execute in kernel mode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zh-TW" altLang="en-US" b="1" dirty="0"/>
              <a:t>問題</a:t>
            </a:r>
            <a:r>
              <a:rPr lang="en-US" altLang="zh-TW" b="1" dirty="0"/>
              <a:t>:</a:t>
            </a:r>
            <a:r>
              <a:rPr lang="zh-TW" altLang="en-US" b="1" dirty="0"/>
              <a:t>如果應用程式硬要執行</a:t>
            </a:r>
            <a:r>
              <a:rPr lang="en-US" altLang="zh-TW" b="1" dirty="0"/>
              <a:t>privileged instructions</a:t>
            </a:r>
            <a:r>
              <a:rPr lang="zh-TW" altLang="en-US" b="1" dirty="0"/>
              <a:t>呢</a:t>
            </a:r>
            <a:r>
              <a:rPr lang="en-US" altLang="zh-TW" b="1" dirty="0"/>
              <a:t>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If executed in user mode, hardware will cause a </a:t>
            </a:r>
            <a:r>
              <a:rPr lang="en-US" altLang="zh-TW" b="1" dirty="0">
                <a:solidFill>
                  <a:srgbClr val="FF0000"/>
                </a:solidFill>
              </a:rPr>
              <a:t>trap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Trap cause CPU jump to OS, that terminates the application </a:t>
            </a: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See the next slide</a:t>
            </a:r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137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07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Dual-Mode Operation</a:t>
            </a:r>
            <a:endParaRPr lang="zh-TW" altLang="en-US" sz="4000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312024" y="1484785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r>
              <a:rPr kumimoji="0" lang="en-US" altLang="zh-TW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cli; </a:t>
            </a:r>
          </a:p>
          <a:p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12024" y="4509122"/>
            <a:ext cx="2260600" cy="1931595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kumimoji="0" lang="en-US" altLang="zh-TW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OS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312024" y="2719859"/>
            <a:ext cx="2260600" cy="178926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…..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67609" y="2188803"/>
            <a:ext cx="1869455" cy="1274514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kumimoji="0"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CPU</a:t>
            </a:r>
          </a:p>
          <a:p>
            <a:pPr algn="ctr"/>
            <a:endParaRPr kumimoji="0" lang="en-US" altLang="zh-TW" sz="2400" b="1" dirty="0">
              <a:solidFill>
                <a:srgbClr val="FF3300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直線單箭頭接點 8"/>
          <p:cNvCxnSpPr>
            <a:stCxn id="3" idx="1"/>
            <a:endCxn id="7" idx="3"/>
          </p:cNvCxnSpPr>
          <p:nvPr/>
        </p:nvCxnSpPr>
        <p:spPr>
          <a:xfrm flipH="1">
            <a:off x="4437064" y="2102322"/>
            <a:ext cx="1874961" cy="723738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7" idx="3"/>
            <a:endCxn id="5" idx="1"/>
          </p:cNvCxnSpPr>
          <p:nvPr/>
        </p:nvCxnSpPr>
        <p:spPr>
          <a:xfrm>
            <a:off x="4437064" y="2826061"/>
            <a:ext cx="1874961" cy="264885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488788" y="4005065"/>
            <a:ext cx="885756" cy="58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zh-TW" sz="3200" b="1" dirty="0">
                <a:solidFill>
                  <a:srgbClr val="FF0000"/>
                </a:solidFill>
                <a:latin typeface="Calibri" panose="020F0502020204030204" pitchFamily="34" charset="0"/>
              </a:rPr>
              <a:t>trap</a:t>
            </a:r>
          </a:p>
        </p:txBody>
      </p:sp>
      <p:sp>
        <p:nvSpPr>
          <p:cNvPr id="4" name="矩形 3"/>
          <p:cNvSpPr/>
          <p:nvPr/>
        </p:nvSpPr>
        <p:spPr>
          <a:xfrm>
            <a:off x="2927648" y="2924944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latin typeface="Calibri" panose="020F0502020204030204" pitchFamily="34" charset="0"/>
              </a:rPr>
              <a:t>mode = 0;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2" name="乘號 11"/>
          <p:cNvSpPr/>
          <p:nvPr/>
        </p:nvSpPr>
        <p:spPr>
          <a:xfrm>
            <a:off x="4961138" y="2006991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3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CPU</a:t>
            </a:r>
            <a:r>
              <a:rPr lang="zh-TW" altLang="en-US" dirty="0"/>
              <a:t>何時會切換</a:t>
            </a:r>
            <a:r>
              <a:rPr lang="en-US" altLang="zh-TW" dirty="0"/>
              <a:t>mode bit?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/>
              <a:t>Hint: CPU</a:t>
            </a:r>
            <a:r>
              <a:rPr lang="zh-TW" altLang="en-US" b="1" dirty="0"/>
              <a:t>何時會從應用程式進入到</a:t>
            </a:r>
            <a:r>
              <a:rPr lang="en-US" altLang="zh-TW" b="1" dirty="0"/>
              <a:t>OS</a:t>
            </a:r>
            <a:r>
              <a:rPr lang="zh-TW" altLang="en-US" b="1" dirty="0"/>
              <a:t>執行</a:t>
            </a:r>
            <a:r>
              <a:rPr lang="en-US" altLang="zh-TW" b="1" dirty="0"/>
              <a:t>?</a:t>
            </a:r>
            <a:r>
              <a:rPr lang="zh-TW" altLang="en-US" b="1" dirty="0"/>
              <a:t>又何時會回到應用程式執行</a:t>
            </a:r>
            <a:r>
              <a:rPr lang="en-US" altLang="zh-TW" b="1" dirty="0"/>
              <a:t>?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11992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Dual-Mode Operation (Cont.)</a:t>
            </a:r>
          </a:p>
        </p:txBody>
      </p:sp>
      <p:sp>
        <p:nvSpPr>
          <p:cNvPr id="53251" name="Rectangle 6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Entering Monitor Mode (the same as entering OS)</a:t>
            </a:r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Interrupt</a:t>
            </a:r>
          </a:p>
          <a:p>
            <a:pPr lvl="1" eaLnBrk="1" hangingPunct="1"/>
            <a:endParaRPr lang="en-US" altLang="zh-TW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System call trap</a:t>
            </a:r>
          </a:p>
          <a:p>
            <a:pPr lvl="1" eaLnBrk="1" hangingPunct="1"/>
            <a:endParaRPr lang="en-US" altLang="zh-TW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Error trap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0370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Mode Bit Change: </a:t>
            </a:r>
            <a:r>
              <a:rPr lang="en-US" altLang="zh-TW">
                <a:solidFill>
                  <a:srgbClr val="0033CC"/>
                </a:solidFill>
              </a:rPr>
              <a:t>Interrupt</a:t>
            </a:r>
            <a:endParaRPr lang="en-US" altLang="zh-TW" dirty="0">
              <a:solidFill>
                <a:srgbClr val="0033CC"/>
              </a:solidFill>
            </a:endParaRP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11900" y="1484314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>
                <a:solidFill>
                  <a:srgbClr val="FF3300"/>
                </a:solidFill>
                <a:ea typeface="新細明體" panose="02020500000000000000" pitchFamily="18" charset="-120"/>
              </a:rPr>
              <a:t>out eax, 0x60;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9" name="直線單箭頭接點 8"/>
          <p:cNvCxnSpPr>
            <a:stCxn id="282627" idx="1"/>
            <a:endCxn id="282630" idx="3"/>
          </p:cNvCxnSpPr>
          <p:nvPr/>
        </p:nvCxnSpPr>
        <p:spPr>
          <a:xfrm flipH="1">
            <a:off x="4437064" y="2101850"/>
            <a:ext cx="1874837" cy="7239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11" idx="1"/>
          </p:cNvCxnSpPr>
          <p:nvPr/>
        </p:nvCxnSpPr>
        <p:spPr>
          <a:xfrm>
            <a:off x="4437062" y="2825751"/>
            <a:ext cx="1874838" cy="300909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311900" y="5229200"/>
            <a:ext cx="2260600" cy="1211288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Interrupt Service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Routine (ISR)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FF0000"/>
                </a:solidFill>
                <a:ea typeface="新細明體" panose="02020500000000000000" pitchFamily="18" charset="-120"/>
              </a:rPr>
              <a:t>iret</a:t>
            </a:r>
            <a:endParaRPr kumimoji="0" lang="en-US" altLang="zh-TW" sz="2000" b="1" dirty="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3359697" y="3463927"/>
            <a:ext cx="1" cy="68659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3392611" y="3687247"/>
            <a:ext cx="104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interrupt</a:t>
            </a:r>
            <a:endParaRPr lang="zh-TW" altLang="en-US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27648" y="2924944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latin typeface="Calibri" panose="020F0502020204030204" pitchFamily="34" charset="0"/>
              </a:rPr>
              <a:t>mode = 0;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27648" y="2908408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latin typeface="Calibri" panose="020F0502020204030204" pitchFamily="34" charset="0"/>
              </a:rPr>
              <a:t>mode = 1;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5" name="弧形向右箭號 14"/>
          <p:cNvSpPr/>
          <p:nvPr/>
        </p:nvSpPr>
        <p:spPr>
          <a:xfrm flipH="1" flipV="1">
            <a:off x="8572500" y="1909454"/>
            <a:ext cx="576064" cy="447187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0643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3" grpId="1" animBg="1"/>
      <p:bldP spid="15" grpId="1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6306519" y="1472382"/>
            <a:ext cx="2260600" cy="12350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kumimoji="0" lang="en-US" altLang="zh-TW" sz="2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Mode Bit Change : </a:t>
            </a:r>
            <a:r>
              <a:rPr lang="en-US" altLang="zh-TW" sz="4000">
                <a:solidFill>
                  <a:srgbClr val="0033CC"/>
                </a:solidFill>
              </a:rPr>
              <a:t>Trap (Error)</a:t>
            </a:r>
            <a:endParaRPr lang="zh-TW" altLang="en-US" sz="4000" dirty="0">
              <a:solidFill>
                <a:srgbClr val="0033CC"/>
              </a:solidFill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301014" y="1480247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a = b/0; </a:t>
            </a:r>
          </a:p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12024" y="4509122"/>
            <a:ext cx="2260600" cy="1931595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OS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312024" y="2719859"/>
            <a:ext cx="2260600" cy="178926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…..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67609" y="2188803"/>
            <a:ext cx="1869455" cy="1274514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CPU</a:t>
            </a:r>
          </a:p>
          <a:p>
            <a:pPr algn="ctr">
              <a:defRPr/>
            </a:pPr>
            <a:endParaRPr kumimoji="0" lang="en-US" altLang="zh-TW" sz="2400" b="1" dirty="0">
              <a:solidFill>
                <a:srgbClr val="FF3300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直線單箭頭接點 8"/>
          <p:cNvCxnSpPr>
            <a:stCxn id="3" idx="1"/>
            <a:endCxn id="7" idx="3"/>
          </p:cNvCxnSpPr>
          <p:nvPr/>
        </p:nvCxnSpPr>
        <p:spPr>
          <a:xfrm flipH="1">
            <a:off x="4437064" y="2097785"/>
            <a:ext cx="1863950" cy="72827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7" idx="3"/>
            <a:endCxn id="5" idx="1"/>
          </p:cNvCxnSpPr>
          <p:nvPr/>
        </p:nvCxnSpPr>
        <p:spPr>
          <a:xfrm>
            <a:off x="4437064" y="2826061"/>
            <a:ext cx="1874961" cy="264885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483283" y="3858102"/>
            <a:ext cx="885756" cy="58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0" lang="en-US" altLang="zh-TW" sz="3200" b="1" dirty="0">
                <a:solidFill>
                  <a:srgbClr val="FF0000"/>
                </a:solidFill>
                <a:latin typeface="Calibri" panose="020F0502020204030204" pitchFamily="34" charset="0"/>
              </a:rPr>
              <a:t>trap</a:t>
            </a:r>
          </a:p>
        </p:txBody>
      </p:sp>
      <p:sp>
        <p:nvSpPr>
          <p:cNvPr id="11" name="矩形 10"/>
          <p:cNvSpPr/>
          <p:nvPr/>
        </p:nvSpPr>
        <p:spPr>
          <a:xfrm>
            <a:off x="2927648" y="2924944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latin typeface="Calibri" panose="020F0502020204030204" pitchFamily="34" charset="0"/>
              </a:rPr>
              <a:t>mode = 0;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27648" y="2924944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latin typeface="Calibri" panose="020F0502020204030204" pitchFamily="34" charset="0"/>
              </a:rPr>
              <a:t>mode = 1;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6306519" y="2715323"/>
            <a:ext cx="2260600" cy="1235075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x = x + 1; </a:t>
            </a:r>
          </a:p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18" name="矩形 17"/>
          <p:cNvSpPr/>
          <p:nvPr/>
        </p:nvSpPr>
        <p:spPr>
          <a:xfrm>
            <a:off x="7145713" y="6040607"/>
            <a:ext cx="5822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hangingPunct="0">
              <a:defRPr/>
            </a:pPr>
            <a:r>
              <a:rPr kumimoji="0" lang="en-US" altLang="zh-TW" sz="2000" b="1" dirty="0" err="1">
                <a:solidFill>
                  <a:srgbClr val="FF0000"/>
                </a:solidFill>
              </a:rPr>
              <a:t>iret</a:t>
            </a:r>
            <a:endParaRPr kumimoji="0" lang="en-US" altLang="zh-TW" sz="2000" b="1" dirty="0">
              <a:solidFill>
                <a:srgbClr val="FF0000"/>
              </a:solidFill>
            </a:endParaRPr>
          </a:p>
        </p:txBody>
      </p:sp>
      <p:sp>
        <p:nvSpPr>
          <p:cNvPr id="19" name="弧形向右箭號 18"/>
          <p:cNvSpPr/>
          <p:nvPr/>
        </p:nvSpPr>
        <p:spPr>
          <a:xfrm flipH="1" flipV="1">
            <a:off x="8572500" y="3284984"/>
            <a:ext cx="576064" cy="309634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9415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  <p:bldP spid="12" grpId="0" animBg="1"/>
      <p:bldP spid="12" grpId="1" animBg="1"/>
      <p:bldP spid="19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6306519" y="1472382"/>
            <a:ext cx="2260600" cy="12350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Mode Bit Change : </a:t>
            </a:r>
            <a:r>
              <a:rPr lang="en-US" altLang="zh-TW" sz="4000">
                <a:solidFill>
                  <a:srgbClr val="0033CC"/>
                </a:solidFill>
              </a:rPr>
              <a:t>Trap (Error)</a:t>
            </a:r>
            <a:endParaRPr lang="zh-TW" altLang="en-US" sz="4000" dirty="0">
              <a:solidFill>
                <a:srgbClr val="0033CC"/>
              </a:solidFill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301014" y="1480247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cli; </a:t>
            </a:r>
          </a:p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12024" y="4509122"/>
            <a:ext cx="2260600" cy="1931595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OS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312024" y="2719859"/>
            <a:ext cx="2260600" cy="178926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…..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67609" y="2188803"/>
            <a:ext cx="1869455" cy="1274514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9" name="直線單箭頭接點 8"/>
          <p:cNvCxnSpPr>
            <a:stCxn id="3" idx="1"/>
            <a:endCxn id="7" idx="3"/>
          </p:cNvCxnSpPr>
          <p:nvPr/>
        </p:nvCxnSpPr>
        <p:spPr>
          <a:xfrm flipH="1">
            <a:off x="4437064" y="2097785"/>
            <a:ext cx="1863950" cy="72827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7" idx="3"/>
            <a:endCxn id="5" idx="1"/>
          </p:cNvCxnSpPr>
          <p:nvPr/>
        </p:nvCxnSpPr>
        <p:spPr>
          <a:xfrm>
            <a:off x="4437064" y="2826061"/>
            <a:ext cx="1874961" cy="264885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483283" y="3858102"/>
            <a:ext cx="885756" cy="58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trap</a:t>
            </a:r>
          </a:p>
        </p:txBody>
      </p:sp>
      <p:sp>
        <p:nvSpPr>
          <p:cNvPr id="11" name="矩形 10"/>
          <p:cNvSpPr/>
          <p:nvPr/>
        </p:nvSpPr>
        <p:spPr>
          <a:xfrm>
            <a:off x="2927648" y="2924944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mode = 0;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27648" y="2924944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mode = 1;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6306519" y="2715323"/>
            <a:ext cx="2260600" cy="1235075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x = x + 1;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</a:t>
            </a:r>
          </a:p>
        </p:txBody>
      </p:sp>
      <p:sp>
        <p:nvSpPr>
          <p:cNvPr id="18" name="矩形 17"/>
          <p:cNvSpPr/>
          <p:nvPr/>
        </p:nvSpPr>
        <p:spPr>
          <a:xfrm>
            <a:off x="7145713" y="6040607"/>
            <a:ext cx="5822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iret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9" name="弧形向右箭號 18"/>
          <p:cNvSpPr/>
          <p:nvPr/>
        </p:nvSpPr>
        <p:spPr>
          <a:xfrm flipH="1" flipV="1">
            <a:off x="8572500" y="3284984"/>
            <a:ext cx="576064" cy="309634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143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701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  <p:bldP spid="12" grpId="0" animBg="1"/>
      <p:bldP spid="12" grpId="1" animBg="1"/>
      <p:bldP spid="19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Mode Bit Change: </a:t>
            </a:r>
            <a:r>
              <a:rPr lang="en-US" altLang="zh-TW" dirty="0">
                <a:solidFill>
                  <a:srgbClr val="0033CC"/>
                </a:solidFill>
              </a:rPr>
              <a:t>Trap (System Call)</a:t>
            </a: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11900" y="1484314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</a:rPr>
              <a:t>int</a:t>
            </a:r>
            <a:r>
              <a:rPr kumimoji="0" lang="en-US" altLang="zh-TW" sz="2000" b="1" i="1" dirty="0">
                <a:solidFill>
                  <a:srgbClr val="FF3300"/>
                </a:solidFill>
              </a:rPr>
              <a:t> 0x 10;  // read();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smtClean="0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smtClean="0">
                <a:solidFill>
                  <a:srgbClr val="000000"/>
                </a:solidFill>
                <a:ea typeface="新細明體" panose="02020500000000000000" pitchFamily="18" charset="-120"/>
              </a:rPr>
              <a:t>read()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smtClean="0">
                <a:solidFill>
                  <a:srgbClr val="000000"/>
                </a:solidFill>
                <a:ea typeface="新細明體" panose="02020500000000000000" pitchFamily="18" charset="-120"/>
              </a:rPr>
              <a:t>{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 smtClean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dirty="0" smtClean="0">
                <a:solidFill>
                  <a:srgbClr val="000000"/>
                </a:solidFill>
                <a:ea typeface="新細明體" panose="02020500000000000000" pitchFamily="18" charset="-120"/>
              </a:rPr>
              <a:t>      </a:t>
            </a:r>
            <a:r>
              <a:rPr kumimoji="0" lang="en-US" altLang="zh-TW" sz="2000" b="1" dirty="0" err="1" smtClean="0">
                <a:solidFill>
                  <a:srgbClr val="FF0000"/>
                </a:solidFill>
                <a:ea typeface="新細明體" panose="02020500000000000000" pitchFamily="18" charset="-120"/>
              </a:rPr>
              <a:t>iret</a:t>
            </a:r>
            <a:r>
              <a:rPr kumimoji="0" lang="en-US" altLang="zh-TW" sz="2000" b="1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}</a:t>
            </a: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9" name="直線單箭頭接點 8"/>
          <p:cNvCxnSpPr>
            <a:stCxn id="282627" idx="1"/>
            <a:endCxn id="282630" idx="3"/>
          </p:cNvCxnSpPr>
          <p:nvPr/>
        </p:nvCxnSpPr>
        <p:spPr>
          <a:xfrm flipH="1">
            <a:off x="4437064" y="2101850"/>
            <a:ext cx="1874837" cy="7239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11" idx="1"/>
          </p:cNvCxnSpPr>
          <p:nvPr/>
        </p:nvCxnSpPr>
        <p:spPr>
          <a:xfrm>
            <a:off x="4437062" y="2825751"/>
            <a:ext cx="1874838" cy="300909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927648" y="2924944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latin typeface="Calibri" panose="020F0502020204030204" pitchFamily="34" charset="0"/>
              </a:rPr>
              <a:t>mode = 0;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27648" y="2908408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latin typeface="Calibri" panose="020F0502020204030204" pitchFamily="34" charset="0"/>
              </a:rPr>
              <a:t>mode = 1;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5" name="弧形向右箭號 14"/>
          <p:cNvSpPr/>
          <p:nvPr/>
        </p:nvSpPr>
        <p:spPr>
          <a:xfrm flipH="1" flipV="1">
            <a:off x="8572500" y="1909454"/>
            <a:ext cx="576064" cy="411183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144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601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5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4" name="Rectangle 4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sz="4000" dirty="0"/>
              <a:t>Dual-Mode Operation: </a:t>
            </a:r>
            <a:r>
              <a:rPr lang="zh-TW" altLang="en-US" sz="4000" dirty="0"/>
              <a:t>以</a:t>
            </a:r>
            <a:r>
              <a:rPr lang="en-US" altLang="zh-TW" sz="4000" dirty="0">
                <a:solidFill>
                  <a:srgbClr val="0033CC"/>
                </a:solidFill>
              </a:rPr>
              <a:t>System Call Trap</a:t>
            </a:r>
            <a:r>
              <a:rPr lang="zh-TW" altLang="en-US" sz="4000" dirty="0"/>
              <a:t>為例子</a:t>
            </a:r>
            <a:endParaRPr lang="en-US" altLang="zh-TW" sz="4000" dirty="0"/>
          </a:p>
        </p:txBody>
      </p:sp>
      <p:grpSp>
        <p:nvGrpSpPr>
          <p:cNvPr id="3" name="群組 2"/>
          <p:cNvGrpSpPr/>
          <p:nvPr/>
        </p:nvGrpSpPr>
        <p:grpSpPr>
          <a:xfrm>
            <a:off x="1415480" y="1628800"/>
            <a:ext cx="8781604" cy="4752528"/>
            <a:chOff x="2209801" y="1844824"/>
            <a:chExt cx="7915275" cy="4057650"/>
          </a:xfrm>
        </p:grpSpPr>
        <p:pic>
          <p:nvPicPr>
            <p:cNvPr id="5017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 l="417" t="30278" r="417" b="30000"/>
            <a:stretch>
              <a:fillRect/>
            </a:stretch>
          </p:blipFill>
          <p:spPr bwMode="auto">
            <a:xfrm>
              <a:off x="2209801" y="1844824"/>
              <a:ext cx="7915275" cy="4057650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2" name="圓角矩形 1"/>
            <p:cNvSpPr/>
            <p:nvPr/>
          </p:nvSpPr>
          <p:spPr>
            <a:xfrm>
              <a:off x="6033228" y="4383576"/>
              <a:ext cx="144016" cy="288032"/>
            </a:xfrm>
            <a:prstGeom prst="roundRect">
              <a:avLst/>
            </a:prstGeom>
            <a:solidFill>
              <a:srgbClr val="BBE0E3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solidFill>
                    <a:schemeClr val="tx1"/>
                  </a:solidFill>
                </a:rPr>
                <a:t>1</a:t>
              </a:r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" name="圓角矩形 4"/>
            <p:cNvSpPr/>
            <p:nvPr/>
          </p:nvSpPr>
          <p:spPr>
            <a:xfrm>
              <a:off x="7935136" y="4383576"/>
              <a:ext cx="144016" cy="288032"/>
            </a:xfrm>
            <a:prstGeom prst="roundRect">
              <a:avLst/>
            </a:prstGeom>
            <a:solidFill>
              <a:srgbClr val="BBE0E3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solidFill>
                    <a:schemeClr val="tx1"/>
                  </a:solidFill>
                </a:rPr>
                <a:t>0</a:t>
              </a:r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9921660" y="2736628"/>
              <a:ext cx="144016" cy="36004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solidFill>
                    <a:schemeClr val="tx1"/>
                  </a:solidFill>
                </a:rPr>
                <a:t>0</a:t>
              </a:r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9921660" y="4915340"/>
              <a:ext cx="144016" cy="36004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solidFill>
                    <a:schemeClr val="tx1"/>
                  </a:solidFill>
                </a:rPr>
                <a:t>1</a:t>
              </a:r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145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304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>
                <a:effectLst/>
              </a:rPr>
              <a:t>Multi-Mode</a:t>
            </a:r>
            <a:endParaRPr lang="en-US" altLang="zh-TW" dirty="0">
              <a:effectLst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Examples</a:t>
            </a:r>
          </a:p>
          <a:p>
            <a:pPr lvl="1"/>
            <a:r>
              <a:rPr lang="en-US" altLang="zh-TW" sz="3200" dirty="0"/>
              <a:t>x86 CPU has four protection rings (modes)</a:t>
            </a:r>
          </a:p>
          <a:p>
            <a:pPr lvl="2"/>
            <a:r>
              <a:rPr lang="en-US" altLang="zh-TW" sz="2800" dirty="0"/>
              <a:t>Windows runs in the ring 0 (kernel mode)</a:t>
            </a:r>
          </a:p>
          <a:p>
            <a:pPr lvl="2"/>
            <a:r>
              <a:rPr lang="en-US" altLang="zh-TW" sz="2800" dirty="0"/>
              <a:t>User applications runs in the ring 3 (User mode)</a:t>
            </a:r>
          </a:p>
          <a:p>
            <a:pPr lvl="1"/>
            <a:endParaRPr lang="en-US" altLang="zh-TW" sz="3200" dirty="0"/>
          </a:p>
          <a:p>
            <a:pPr lvl="1"/>
            <a:endParaRPr lang="en-US" altLang="zh-TW" sz="3200" dirty="0"/>
          </a:p>
          <a:p>
            <a:pPr lvl="1"/>
            <a:r>
              <a:rPr lang="en-US" altLang="zh-TW" sz="3200" dirty="0"/>
              <a:t>ARM8 has seven modes</a:t>
            </a:r>
          </a:p>
        </p:txBody>
      </p:sp>
      <p:pic>
        <p:nvPicPr>
          <p:cNvPr id="5427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2239" y="2420888"/>
            <a:ext cx="3208337" cy="320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146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結論：作業系統的基本運作方法和</a:t>
            </a:r>
            <a:r>
              <a:rPr lang="en-US" altLang="zh-TW" dirty="0"/>
              <a:t>CPU/</a:t>
            </a:r>
            <a:r>
              <a:rPr lang="zh-TW" altLang="en-US" dirty="0"/>
              <a:t>硬體有密切關係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/>
              <a:t>Timer</a:t>
            </a:r>
            <a:endParaRPr lang="zh-TW" altLang="en-US" b="1" dirty="0"/>
          </a:p>
          <a:p>
            <a:r>
              <a:rPr lang="en-US" altLang="zh-TW" b="1" dirty="0"/>
              <a:t>Dual-Mode Operation</a:t>
            </a:r>
          </a:p>
        </p:txBody>
      </p:sp>
    </p:spTree>
    <p:extLst>
      <p:ext uri="{BB962C8B-B14F-4D97-AF65-F5344CB8AC3E}">
        <p14:creationId xmlns:p14="http://schemas.microsoft.com/office/powerpoint/2010/main" val="269961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 System Structure</a:t>
            </a:r>
          </a:p>
          <a:p>
            <a:pPr lvl="1"/>
            <a:r>
              <a:rPr lang="en-US" altLang="zh-TW" dirty="0"/>
              <a:t>Hardware, operating system, system and application programs, users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Organization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Interrupts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Storage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Computer-System Architecture</a:t>
            </a:r>
          </a:p>
          <a:p>
            <a:pPr lvl="1" eaLnBrk="1" hangingPunct="1"/>
            <a:r>
              <a:rPr lang="en-US" altLang="zh-TW" dirty="0"/>
              <a:t>Single-Processor Systems</a:t>
            </a:r>
          </a:p>
          <a:p>
            <a:pPr lvl="1" eaLnBrk="1" hangingPunct="1"/>
            <a:r>
              <a:rPr lang="en-US" altLang="zh-TW" dirty="0"/>
              <a:t>Multiprocessor Systems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Operating-System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OS Invocations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Multiprogramming and Multitasking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Timers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Dual-Mode and Multi-mode Operation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148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9712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snetppt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8721</TotalTime>
  <Words>3673</Words>
  <Application>Microsoft Office PowerPoint</Application>
  <PresentationFormat>寬螢幕</PresentationFormat>
  <Paragraphs>1130</Paragraphs>
  <Slides>148</Slides>
  <Notes>3</Notes>
  <HiddenSlides>0</HiddenSlides>
  <MMClips>0</MMClips>
  <ScaleCrop>false</ScaleCrop>
  <HeadingPairs>
    <vt:vector size="8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148</vt:i4>
      </vt:variant>
    </vt:vector>
  </HeadingPairs>
  <TitlesOfParts>
    <vt:vector size="162" baseType="lpstr">
      <vt:lpstr>微軟正黑體</vt:lpstr>
      <vt:lpstr>新細明體</vt:lpstr>
      <vt:lpstr>標楷體</vt:lpstr>
      <vt:lpstr>Agency FB</vt:lpstr>
      <vt:lpstr>Arial</vt:lpstr>
      <vt:lpstr>Arial Black</vt:lpstr>
      <vt:lpstr>Calibri</vt:lpstr>
      <vt:lpstr>Courier New</vt:lpstr>
      <vt:lpstr>Times New Roman</vt:lpstr>
      <vt:lpstr>Wingdings</vt:lpstr>
      <vt:lpstr>osnetppt</vt:lpstr>
      <vt:lpstr>1_osnetppt</vt:lpstr>
      <vt:lpstr>Artwork</vt:lpstr>
      <vt:lpstr>Worksheet</vt:lpstr>
      <vt:lpstr>Chapter 1:  Introduction</vt:lpstr>
      <vt:lpstr>Outline</vt:lpstr>
      <vt:lpstr>Outline</vt:lpstr>
      <vt:lpstr>什麼是作業系統？</vt:lpstr>
      <vt:lpstr>Computer System Structure</vt:lpstr>
      <vt:lpstr>Four Components of a Computer System</vt:lpstr>
      <vt:lpstr>Q: 作業系統有什麼功能?</vt:lpstr>
      <vt:lpstr>注意: 使用者是和應用程式互動 (或是透過應用程式和OS互動, 例如: 存取硬碟上的檔案)</vt:lpstr>
      <vt:lpstr>What Operating Systems Do?</vt:lpstr>
      <vt:lpstr>Defining Operating System</vt:lpstr>
      <vt:lpstr>Outline</vt:lpstr>
      <vt:lpstr>學習作業系統為什麼要學習計算機組織與電腦架構？</vt:lpstr>
      <vt:lpstr>Outline</vt:lpstr>
      <vt:lpstr>A Computer System</vt:lpstr>
      <vt:lpstr>A Computer System</vt:lpstr>
      <vt:lpstr>A Device Driver for Each Device Controller</vt:lpstr>
      <vt:lpstr>電腦內部有CPU和許多周邊控制器(Device Controllers), 以讀取硬碟的資料為例子!</vt:lpstr>
      <vt:lpstr>問題 1: CPU如何通知周邊裝置？ 問題 2:周邊裝置如何通知CPU？</vt:lpstr>
      <vt:lpstr>Starting an I/O operation</vt:lpstr>
      <vt:lpstr>A Computer System</vt:lpstr>
      <vt:lpstr>Question: 何謂中斷?中斷的用途?</vt:lpstr>
      <vt:lpstr>Interrupts</vt:lpstr>
      <vt:lpstr>Question : 中斷處理的整個過程?</vt:lpstr>
      <vt:lpstr>Steps in Interrupts</vt:lpstr>
      <vt:lpstr>Steps in Interrupts (Cont.)</vt:lpstr>
      <vt:lpstr>Question: Device Controller如何觸發中斷?</vt:lpstr>
      <vt:lpstr>Interrupt Hardware Concepts</vt:lpstr>
      <vt:lpstr>Steps in Interrupts (Cont.)</vt:lpstr>
      <vt:lpstr>Interrupt Hardware Concepts</vt:lpstr>
      <vt:lpstr>Question : CPU接收到中斷後怎麼辦呢?</vt:lpstr>
      <vt:lpstr>Steps in Interrupts</vt:lpstr>
      <vt:lpstr>Interrupts Dispatches</vt:lpstr>
      <vt:lpstr>CPU Dispatch an Interrupt to ISR</vt:lpstr>
      <vt:lpstr>Steps in Interrupts</vt:lpstr>
      <vt:lpstr>Interrupt Handler (Interrupt Service Routine)</vt:lpstr>
      <vt:lpstr>問題: 為什麼要儲存state?然後復原state?</vt:lpstr>
      <vt:lpstr>Without State Save and Restore</vt:lpstr>
      <vt:lpstr>Question: 怎麼辦呢?</vt:lpstr>
      <vt:lpstr>With State Save and Restore</vt:lpstr>
      <vt:lpstr>所以, 完整Interrupt Handler的處理過程是如何呢?</vt:lpstr>
      <vt:lpstr>State Save and Restore</vt:lpstr>
      <vt:lpstr> Interrupt Processing Flow</vt:lpstr>
      <vt:lpstr>Question: 學習作業系統為什麼要知道Interrupt的機制與處理方式呢?</vt:lpstr>
      <vt:lpstr>Outline</vt:lpstr>
      <vt:lpstr>Storage Structure</vt:lpstr>
      <vt:lpstr>Storage-Device Hierarchy</vt:lpstr>
      <vt:lpstr>Performance of Various Levels of Storage</vt:lpstr>
      <vt:lpstr>Storage Structure (Cont.)</vt:lpstr>
      <vt:lpstr>Question: 學習作業系統為什麼要知道Storage Structures呢?</vt:lpstr>
      <vt:lpstr>接下來介紹計算機架構</vt:lpstr>
      <vt:lpstr>Outline</vt:lpstr>
      <vt:lpstr>Outline</vt:lpstr>
      <vt:lpstr>Single-Processor Systems</vt:lpstr>
      <vt:lpstr>A Computer System</vt:lpstr>
      <vt:lpstr>Outline</vt:lpstr>
      <vt:lpstr>Multi-processor Systems</vt:lpstr>
      <vt:lpstr>Multiprocessor Systems</vt:lpstr>
      <vt:lpstr>Multiprocessor Systems</vt:lpstr>
      <vt:lpstr>Multiprocessors Systems</vt:lpstr>
      <vt:lpstr>Multiprocessor Systems</vt:lpstr>
      <vt:lpstr>PowerPoint 簡報</vt:lpstr>
      <vt:lpstr>Multiprocessor Systems</vt:lpstr>
      <vt:lpstr>理論上, 我們可以透過增加CPU數量 (不管chip是single-core或是multi-cores)的方式來提升效能!</vt:lpstr>
      <vt:lpstr>Question: 但實際上, 一直增加CPU數量卻可能沒有看到效能的提升! Why?</vt:lpstr>
      <vt:lpstr>Problems of Adding Too Many CPUs</vt:lpstr>
      <vt:lpstr>Question: 怎麼辦呢?</vt:lpstr>
      <vt:lpstr>Non-Uniform Memory Access (NUMA)</vt:lpstr>
      <vt:lpstr>Non-Uniform Memory Access (NUMA) (Cont.)</vt:lpstr>
      <vt:lpstr>Question: 可是NUMA會帶來新的問題! 甚麼問題呢?</vt:lpstr>
      <vt:lpstr>Non-Uniform Memory Access (NUMA) (Cont.)</vt:lpstr>
      <vt:lpstr>Question: 學習作業系統為什麼要知道電腦是單核心/多核心或是NUMA呢?</vt:lpstr>
      <vt:lpstr>Outline</vt:lpstr>
      <vt:lpstr>看過電腦組織與架構，接下來介紹作業系統的基本運作方法</vt:lpstr>
      <vt:lpstr>Outline</vt:lpstr>
      <vt:lpstr>基本問題：作業系統何時被執行？</vt:lpstr>
      <vt:lpstr>基本問題：作業系統何時被執行？</vt:lpstr>
      <vt:lpstr>基本問題：作業系統何時被執行？</vt:lpstr>
      <vt:lpstr>Event-Driven OS</vt:lpstr>
      <vt:lpstr>Event-Driven OS</vt:lpstr>
      <vt:lpstr>Event-Driven OS: Interrupt</vt:lpstr>
      <vt:lpstr>Event-Driven OS</vt:lpstr>
      <vt:lpstr>Event-Driven OS: Trap (Error)</vt:lpstr>
      <vt:lpstr>Event-Driven OS</vt:lpstr>
      <vt:lpstr>Event-Driven OS: Trap (System Call)</vt:lpstr>
      <vt:lpstr>Question：何謂System Calls</vt:lpstr>
      <vt:lpstr>Example</vt:lpstr>
      <vt:lpstr>按照程式執行的規則，當呼叫open()時，程式應該會跳到對應的open() function。</vt:lpstr>
      <vt:lpstr>PowerPoint 簡報</vt:lpstr>
      <vt:lpstr>System Call介紹結束</vt:lpstr>
      <vt:lpstr>結論: OS is Event-Driven</vt:lpstr>
      <vt:lpstr>Outline</vt:lpstr>
      <vt:lpstr>作業系統提供應用程式執行的環境!  第一件事: 作業系統如何管理/執行應用程式呢?</vt:lpstr>
      <vt:lpstr>Operating-System Structure</vt:lpstr>
      <vt:lpstr>Operating-System Structure</vt:lpstr>
      <vt:lpstr>Single-Programming Systems</vt:lpstr>
      <vt:lpstr>Single-Programming Systems (Cont.)</vt:lpstr>
      <vt:lpstr>Operating-System Structure</vt:lpstr>
      <vt:lpstr>Multi-Programmed Systems</vt:lpstr>
      <vt:lpstr>Multi-Programmed Systems (Cont.)</vt:lpstr>
      <vt:lpstr>Question: 在multi-programming system中, CPU何時會從應用程式A切換到應用程式B執行?</vt:lpstr>
      <vt:lpstr>Question: 為什麼應用程式做I/O時, 可以執行應用程式的切換呢?</vt:lpstr>
      <vt:lpstr>複習: OS is Event-Driven</vt:lpstr>
      <vt:lpstr>Question: 當應用程式呼叫system call做I/O時才切換應用程式會有甚麼問題呢?</vt:lpstr>
      <vt:lpstr>Problems of Multiprogramming Systems</vt:lpstr>
      <vt:lpstr>Problems of Multiprogramming Systems</vt:lpstr>
      <vt:lpstr>A Special Case: Program A Executes an Infinite Loop</vt:lpstr>
      <vt:lpstr>Question: 怎麼辦呢?</vt:lpstr>
      <vt:lpstr>Operating-System Structure</vt:lpstr>
      <vt:lpstr>Timesharing (Multitasking)</vt:lpstr>
      <vt:lpstr>Timesharing (Multitasking)</vt:lpstr>
      <vt:lpstr>Outline</vt:lpstr>
      <vt:lpstr>Question: 如何強迫切換應用程式的執行 </vt:lpstr>
      <vt:lpstr>Question: 如何進入OS?</vt:lpstr>
      <vt:lpstr>複習: 進入OS的三種方法</vt:lpstr>
      <vt:lpstr>Question: 你要使用哪一種呢?</vt:lpstr>
      <vt:lpstr>How to Implement Time Sharing Systems?</vt:lpstr>
      <vt:lpstr>Solution</vt:lpstr>
      <vt:lpstr>Timer</vt:lpstr>
      <vt:lpstr>With a Timer </vt:lpstr>
      <vt:lpstr>With a Timer</vt:lpstr>
      <vt:lpstr>事實上, 只要進入OS (例如:timer,網路卡, 硬碟,…等周邊的中斷或是程式呼叫system calls), OS可能就會切換應用程式的執行</vt:lpstr>
      <vt:lpstr>Question: 既然有網卡,硬碟等周邊會觸發中斷, 那為什麼還需要timer?</vt:lpstr>
      <vt:lpstr>Outline</vt:lpstr>
      <vt:lpstr>Question:某些CPU instructions(例如:cli)可能很危險,我們不想讓應用程式執行! 如何辦到呢?</vt:lpstr>
      <vt:lpstr>目標:某些CPU instructions只可以讓OS執行, 不可以讓應用程式執行! </vt:lpstr>
      <vt:lpstr>CPU Fetches Instructions for Executions</vt:lpstr>
      <vt:lpstr>目標: 所以CPU必須區隔目前是作業系統在執行還是應用程式在執行</vt:lpstr>
      <vt:lpstr>Privileged Instructions</vt:lpstr>
      <vt:lpstr>複習: Timer</vt:lpstr>
      <vt:lpstr>Question: Why instructions modifying the timer are privileged?</vt:lpstr>
      <vt:lpstr>Dual-Mode Operations</vt:lpstr>
      <vt:lpstr>Distinguish between Executions Of OS and User Program</vt:lpstr>
      <vt:lpstr>Dual-Mode Operation</vt:lpstr>
      <vt:lpstr>Q: CPU如何區分這兩種模式?  也就是CPU如何知道目前是處於哪一種模式 ?</vt:lpstr>
      <vt:lpstr>複習: 1.3.1 SIC Machine Architecture (Cont.)</vt:lpstr>
      <vt:lpstr>複習: 1.3.1 SIC Machine Architecture (Cont.)</vt:lpstr>
      <vt:lpstr>Dual-Mode Operation (Cont.)</vt:lpstr>
      <vt:lpstr>Dual-Mode Operation</vt:lpstr>
      <vt:lpstr>Question: CPU何時會切換mode bit?</vt:lpstr>
      <vt:lpstr>Dual-Mode Operation (Cont.)</vt:lpstr>
      <vt:lpstr>Mode Bit Change: Interrupt</vt:lpstr>
      <vt:lpstr>Mode Bit Change : Trap (Error)</vt:lpstr>
      <vt:lpstr>Mode Bit Change : Trap (Error)</vt:lpstr>
      <vt:lpstr>Mode Bit Change: Trap (System Call)</vt:lpstr>
      <vt:lpstr>Dual-Mode Operation: 以System Call Trap為例子</vt:lpstr>
      <vt:lpstr>Multi-Mode</vt:lpstr>
      <vt:lpstr>結論：作業系統的基本運作方法和CPU/硬體有密切關係</vt:lpstr>
      <vt:lpstr>Summary</vt:lpstr>
    </vt:vector>
  </TitlesOfParts>
  <Company>NCHU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CJSREX</dc:creator>
  <cp:lastModifiedBy>hpchang</cp:lastModifiedBy>
  <cp:revision>2331</cp:revision>
  <dcterms:created xsi:type="dcterms:W3CDTF">2007-09-05T09:28:55Z</dcterms:created>
  <dcterms:modified xsi:type="dcterms:W3CDTF">2025-09-16T06:23:10Z</dcterms:modified>
</cp:coreProperties>
</file>