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712" r:id="rId3"/>
    <p:sldMasterId id="2147483724" r:id="rId4"/>
    <p:sldMasterId id="2147483750" r:id="rId5"/>
    <p:sldMasterId id="2147483762" r:id="rId6"/>
  </p:sldMasterIdLst>
  <p:notesMasterIdLst>
    <p:notesMasterId r:id="rId146"/>
  </p:notesMasterIdLst>
  <p:sldIdLst>
    <p:sldId id="257" r:id="rId7"/>
    <p:sldId id="407" r:id="rId8"/>
    <p:sldId id="260" r:id="rId9"/>
    <p:sldId id="434" r:id="rId10"/>
    <p:sldId id="261" r:id="rId11"/>
    <p:sldId id="262" r:id="rId12"/>
    <p:sldId id="435" r:id="rId13"/>
    <p:sldId id="436" r:id="rId14"/>
    <p:sldId id="408" r:id="rId15"/>
    <p:sldId id="397" r:id="rId16"/>
    <p:sldId id="425" r:id="rId17"/>
    <p:sldId id="437" r:id="rId18"/>
    <p:sldId id="438" r:id="rId19"/>
    <p:sldId id="426" r:id="rId20"/>
    <p:sldId id="409" r:id="rId21"/>
    <p:sldId id="423" r:id="rId22"/>
    <p:sldId id="424" r:id="rId23"/>
    <p:sldId id="439" r:id="rId24"/>
    <p:sldId id="265" r:id="rId25"/>
    <p:sldId id="344" r:id="rId26"/>
    <p:sldId id="440" r:id="rId27"/>
    <p:sldId id="267" r:id="rId28"/>
    <p:sldId id="410" r:id="rId29"/>
    <p:sldId id="268" r:id="rId30"/>
    <p:sldId id="350" r:id="rId31"/>
    <p:sldId id="411" r:id="rId32"/>
    <p:sldId id="270" r:id="rId33"/>
    <p:sldId id="441" r:id="rId34"/>
    <p:sldId id="271" r:id="rId35"/>
    <p:sldId id="272" r:id="rId36"/>
    <p:sldId id="273" r:id="rId37"/>
    <p:sldId id="443" r:id="rId38"/>
    <p:sldId id="442" r:id="rId39"/>
    <p:sldId id="274" r:id="rId40"/>
    <p:sldId id="275" r:id="rId41"/>
    <p:sldId id="449" r:id="rId42"/>
    <p:sldId id="450" r:id="rId43"/>
    <p:sldId id="276" r:id="rId44"/>
    <p:sldId id="444" r:id="rId45"/>
    <p:sldId id="451" r:id="rId46"/>
    <p:sldId id="277" r:id="rId47"/>
    <p:sldId id="412" r:id="rId48"/>
    <p:sldId id="278" r:id="rId49"/>
    <p:sldId id="279" r:id="rId50"/>
    <p:sldId id="280" r:id="rId51"/>
    <p:sldId id="453" r:id="rId52"/>
    <p:sldId id="281" r:id="rId53"/>
    <p:sldId id="455" r:id="rId54"/>
    <p:sldId id="456" r:id="rId55"/>
    <p:sldId id="457" r:id="rId56"/>
    <p:sldId id="458" r:id="rId57"/>
    <p:sldId id="454" r:id="rId58"/>
    <p:sldId id="399" r:id="rId59"/>
    <p:sldId id="400" r:id="rId60"/>
    <p:sldId id="282" r:id="rId61"/>
    <p:sldId id="356" r:id="rId62"/>
    <p:sldId id="445" r:id="rId63"/>
    <p:sldId id="358" r:id="rId64"/>
    <p:sldId id="459" r:id="rId65"/>
    <p:sldId id="359" r:id="rId66"/>
    <p:sldId id="360" r:id="rId67"/>
    <p:sldId id="461" r:id="rId68"/>
    <p:sldId id="460" r:id="rId69"/>
    <p:sldId id="361" r:id="rId70"/>
    <p:sldId id="413" r:id="rId71"/>
    <p:sldId id="362" r:id="rId72"/>
    <p:sldId id="446" r:id="rId73"/>
    <p:sldId id="284" r:id="rId74"/>
    <p:sldId id="462" r:id="rId75"/>
    <p:sldId id="285" r:id="rId76"/>
    <p:sldId id="447" r:id="rId77"/>
    <p:sldId id="363" r:id="rId78"/>
    <p:sldId id="364" r:id="rId79"/>
    <p:sldId id="490" r:id="rId80"/>
    <p:sldId id="365" r:id="rId81"/>
    <p:sldId id="291" r:id="rId82"/>
    <p:sldId id="417" r:id="rId83"/>
    <p:sldId id="366" r:id="rId84"/>
    <p:sldId id="294" r:id="rId85"/>
    <p:sldId id="448" r:id="rId86"/>
    <p:sldId id="295" r:id="rId87"/>
    <p:sldId id="296" r:id="rId88"/>
    <p:sldId id="297" r:id="rId89"/>
    <p:sldId id="415" r:id="rId90"/>
    <p:sldId id="491" r:id="rId91"/>
    <p:sldId id="299" r:id="rId92"/>
    <p:sldId id="302" r:id="rId93"/>
    <p:sldId id="418" r:id="rId94"/>
    <p:sldId id="463" r:id="rId95"/>
    <p:sldId id="303" r:id="rId96"/>
    <p:sldId id="304" r:id="rId97"/>
    <p:sldId id="464" r:id="rId98"/>
    <p:sldId id="465" r:id="rId99"/>
    <p:sldId id="467" r:id="rId100"/>
    <p:sldId id="480" r:id="rId101"/>
    <p:sldId id="478" r:id="rId102"/>
    <p:sldId id="481" r:id="rId103"/>
    <p:sldId id="466" r:id="rId104"/>
    <p:sldId id="479" r:id="rId105"/>
    <p:sldId id="482" r:id="rId106"/>
    <p:sldId id="483" r:id="rId107"/>
    <p:sldId id="484" r:id="rId108"/>
    <p:sldId id="485" r:id="rId109"/>
    <p:sldId id="488" r:id="rId110"/>
    <p:sldId id="489" r:id="rId111"/>
    <p:sldId id="487" r:id="rId112"/>
    <p:sldId id="492" r:id="rId113"/>
    <p:sldId id="493" r:id="rId114"/>
    <p:sldId id="477" r:id="rId115"/>
    <p:sldId id="486" r:id="rId116"/>
    <p:sldId id="471" r:id="rId117"/>
    <p:sldId id="474" r:id="rId118"/>
    <p:sldId id="475" r:id="rId119"/>
    <p:sldId id="476" r:id="rId120"/>
    <p:sldId id="494" r:id="rId121"/>
    <p:sldId id="305" r:id="rId122"/>
    <p:sldId id="495" r:id="rId123"/>
    <p:sldId id="496" r:id="rId124"/>
    <p:sldId id="497" r:id="rId125"/>
    <p:sldId id="498" r:id="rId126"/>
    <p:sldId id="369" r:id="rId127"/>
    <p:sldId id="368" r:id="rId128"/>
    <p:sldId id="372" r:id="rId129"/>
    <p:sldId id="499" r:id="rId130"/>
    <p:sldId id="414" r:id="rId131"/>
    <p:sldId id="406" r:id="rId132"/>
    <p:sldId id="507" r:id="rId133"/>
    <p:sldId id="501" r:id="rId134"/>
    <p:sldId id="382" r:id="rId135"/>
    <p:sldId id="502" r:id="rId136"/>
    <p:sldId id="383" r:id="rId137"/>
    <p:sldId id="421" r:id="rId138"/>
    <p:sldId id="503" r:id="rId139"/>
    <p:sldId id="504" r:id="rId140"/>
    <p:sldId id="386" r:id="rId141"/>
    <p:sldId id="373" r:id="rId142"/>
    <p:sldId id="384" r:id="rId143"/>
    <p:sldId id="505" r:id="rId144"/>
    <p:sldId id="506" r:id="rId14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18" Type="http://schemas.openxmlformats.org/officeDocument/2006/relationships/slide" Target="slides/slide112.xml"/><Relationship Id="rId134" Type="http://schemas.openxmlformats.org/officeDocument/2006/relationships/slide" Target="slides/slide128.xml"/><Relationship Id="rId139" Type="http://schemas.openxmlformats.org/officeDocument/2006/relationships/slide" Target="slides/slide13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50" Type="http://schemas.openxmlformats.org/officeDocument/2006/relationships/tableStyles" Target="tableStyle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24" Type="http://schemas.openxmlformats.org/officeDocument/2006/relationships/slide" Target="slides/slide118.xml"/><Relationship Id="rId129" Type="http://schemas.openxmlformats.org/officeDocument/2006/relationships/slide" Target="slides/slide123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45" Type="http://schemas.openxmlformats.org/officeDocument/2006/relationships/slide" Target="slides/slide13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119" Type="http://schemas.openxmlformats.org/officeDocument/2006/relationships/slide" Target="slides/slide113.xml"/><Relationship Id="rId44" Type="http://schemas.openxmlformats.org/officeDocument/2006/relationships/slide" Target="slides/slide38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35" Type="http://schemas.openxmlformats.org/officeDocument/2006/relationships/slide" Target="slides/slide129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41" Type="http://schemas.openxmlformats.org/officeDocument/2006/relationships/slide" Target="slides/slide135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6" Type="http://schemas.openxmlformats.org/officeDocument/2006/relationships/slide" Target="slides/slide10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330F9-F6E0-425C-B31B-D70786F5DC7B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375CC-F6AE-4F5B-BBA6-7635ABFC26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41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D0C1F8-483D-41BC-929E-A052F6F230B5}" type="slidenum">
              <a:rPr lang="en-US" altLang="zh-TW" smtClean="0">
                <a:solidFill>
                  <a:srgbClr val="000000"/>
                </a:solidFill>
              </a:rPr>
              <a:pPr/>
              <a:t>1</a:t>
            </a:fld>
            <a:endParaRPr lang="en-US" altLang="zh-TW" smtClean="0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9160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E387DD-1C73-400F-A371-B30CF2A3630D}" type="slidenum">
              <a:rPr lang="en-US" altLang="zh-TW" smtClean="0"/>
              <a:pPr/>
              <a:t>6</a:t>
            </a:fld>
            <a:endParaRPr lang="en-US" altLang="zh-TW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9117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96200D-C580-4272-A35E-60917CBD1536}" type="slidenum">
              <a:rPr kumimoji="1" lang="en-US" altLang="zh-TW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TW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979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E387DD-1C73-400F-A371-B30CF2A3630D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83556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我們將每</a:t>
            </a:r>
            <a:r>
              <a:rPr lang="en-US" altLang="zh-TW" dirty="0"/>
              <a:t>100</a:t>
            </a:r>
            <a:r>
              <a:rPr lang="zh-TW" altLang="en-US" dirty="0"/>
              <a:t>個</a:t>
            </a:r>
            <a:r>
              <a:rPr lang="en-US" altLang="zh-TW" dirty="0"/>
              <a:t>c to dirty</a:t>
            </a:r>
            <a:r>
              <a:rPr lang="en-US" altLang="zh-TW" baseline="0" dirty="0"/>
              <a:t> page</a:t>
            </a:r>
            <a:r>
              <a:rPr lang="zh-TW" altLang="en-US" baseline="0" dirty="0"/>
              <a:t>做為一個區間</a:t>
            </a:r>
            <a:endParaRPr lang="en-US" altLang="zh-TW" baseline="0" dirty="0"/>
          </a:p>
          <a:p>
            <a:r>
              <a:rPr lang="zh-TW" altLang="en-US" baseline="0" dirty="0"/>
              <a:t>使用</a:t>
            </a:r>
            <a:r>
              <a:rPr lang="en-US" altLang="zh-TW" baseline="0" dirty="0" err="1"/>
              <a:t>exponatio</a:t>
            </a:r>
            <a:r>
              <a:rPr lang="en-US" altLang="zh-TW" baseline="0" dirty="0"/>
              <a:t> </a:t>
            </a:r>
            <a:r>
              <a:rPr lang="en-US" altLang="zh-TW" baseline="0" dirty="0" err="1"/>
              <a:t>avg</a:t>
            </a:r>
            <a:r>
              <a:rPr lang="zh-TW" altLang="en-US" baseline="0" dirty="0"/>
              <a:t>指數移動平均來預測下一區間的</a:t>
            </a:r>
            <a:r>
              <a:rPr lang="en-US" altLang="zh-TW" baseline="0" dirty="0"/>
              <a:t>clean to dirty</a:t>
            </a:r>
            <a:r>
              <a:rPr lang="zh-TW" altLang="en-US" baseline="0" dirty="0"/>
              <a:t> 的平均發生時間</a:t>
            </a:r>
            <a:endParaRPr lang="en-US" altLang="zh-TW" baseline="0" dirty="0"/>
          </a:p>
          <a:p>
            <a:r>
              <a:rPr lang="zh-TW" altLang="en-US" dirty="0"/>
              <a:t>那這個方法就是對於月靠近現在的值加權較多</a:t>
            </a:r>
            <a:endParaRPr lang="en-US" altLang="zh-TW" dirty="0"/>
          </a:p>
          <a:p>
            <a:r>
              <a:rPr lang="zh-TW" altLang="en-US" dirty="0"/>
              <a:t>舉例來說就是第一個區間的</a:t>
            </a:r>
            <a:r>
              <a:rPr lang="en-US" altLang="zh-TW" dirty="0"/>
              <a:t>c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dirty</a:t>
            </a:r>
            <a:r>
              <a:rPr lang="zh-TW" altLang="en-US" dirty="0"/>
              <a:t>平均發生間隔為</a:t>
            </a:r>
            <a:r>
              <a:rPr lang="en-US" altLang="zh-TW" dirty="0"/>
              <a:t>t1</a:t>
            </a:r>
          </a:p>
          <a:p>
            <a:r>
              <a:rPr lang="zh-TW" altLang="en-US" dirty="0"/>
              <a:t>第二個是</a:t>
            </a:r>
            <a:r>
              <a:rPr lang="en-US" altLang="zh-TW" dirty="0"/>
              <a:t>t2</a:t>
            </a:r>
            <a:r>
              <a:rPr lang="zh-TW" altLang="en-US" dirty="0"/>
              <a:t>第三個是</a:t>
            </a:r>
            <a:r>
              <a:rPr lang="en-US" altLang="zh-TW" dirty="0"/>
              <a:t>t3</a:t>
            </a:r>
          </a:p>
          <a:p>
            <a:r>
              <a:rPr lang="zh-TW" altLang="en-US" dirty="0"/>
              <a:t>而那麼我們預測第四個區間的</a:t>
            </a:r>
            <a:r>
              <a:rPr lang="en-US" altLang="zh-TW" dirty="0"/>
              <a:t>c-&gt;d</a:t>
            </a:r>
            <a:r>
              <a:rPr lang="zh-TW" altLang="en-US" dirty="0"/>
              <a:t>間隔是</a:t>
            </a:r>
            <a:r>
              <a:rPr lang="en-US" altLang="zh-TW" dirty="0"/>
              <a:t>t3</a:t>
            </a:r>
            <a:r>
              <a:rPr lang="zh-TW" altLang="en-US" dirty="0"/>
              <a:t>加權</a:t>
            </a:r>
            <a:r>
              <a:rPr lang="en-US" altLang="zh-TW" dirty="0"/>
              <a:t>0.8</a:t>
            </a:r>
            <a:r>
              <a:rPr lang="zh-TW" altLang="en-US" dirty="0"/>
              <a:t>，</a:t>
            </a:r>
            <a:r>
              <a:rPr lang="en-US" altLang="zh-TW" dirty="0"/>
              <a:t>t2</a:t>
            </a:r>
            <a:r>
              <a:rPr lang="zh-TW" altLang="en-US" dirty="0"/>
              <a:t>加權</a:t>
            </a:r>
            <a:r>
              <a:rPr lang="en-US" altLang="zh-TW" dirty="0"/>
              <a:t>0.16</a:t>
            </a:r>
            <a:r>
              <a:rPr lang="zh-TW" altLang="en-US" dirty="0"/>
              <a:t>，</a:t>
            </a:r>
            <a:r>
              <a:rPr lang="en-US" altLang="zh-TW" dirty="0"/>
              <a:t>t1</a:t>
            </a:r>
            <a:r>
              <a:rPr lang="zh-TW" altLang="en-US" dirty="0"/>
              <a:t>加權</a:t>
            </a:r>
            <a:r>
              <a:rPr lang="en-US" altLang="zh-TW" dirty="0"/>
              <a:t>0.032,</a:t>
            </a:r>
          </a:p>
          <a:p>
            <a:r>
              <a:rPr lang="zh-TW" altLang="en-US" dirty="0"/>
              <a:t>離現在時間越遠的加權越少，這樣來平均，結果就會作為我們預測的</a:t>
            </a:r>
            <a:r>
              <a:rPr lang="en-US" altLang="zh-TW" dirty="0"/>
              <a:t>t4</a:t>
            </a:r>
          </a:p>
          <a:p>
            <a:r>
              <a:rPr lang="zh-TW" altLang="en-US" dirty="0"/>
              <a:t>假設在這個時間點發生了定量</a:t>
            </a:r>
            <a:r>
              <a:rPr lang="en-US" altLang="zh-TW" dirty="0"/>
              <a:t>flush,</a:t>
            </a:r>
          </a:p>
          <a:p>
            <a:r>
              <a:rPr lang="zh-TW" altLang="en-US" dirty="0"/>
              <a:t>我們預測下次定量</a:t>
            </a:r>
            <a:r>
              <a:rPr lang="en-US" altLang="zh-TW" dirty="0"/>
              <a:t>flush</a:t>
            </a:r>
            <a:r>
              <a:rPr lang="zh-TW" altLang="en-US" dirty="0"/>
              <a:t>的時間點為現在加上</a:t>
            </a:r>
            <a:r>
              <a:rPr lang="en-US" altLang="zh-TW" dirty="0"/>
              <a:t>1024</a:t>
            </a:r>
            <a:r>
              <a:rPr lang="zh-TW" altLang="en-US" dirty="0"/>
              <a:t>乘上</a:t>
            </a:r>
            <a:r>
              <a:rPr lang="en-US" altLang="zh-TW" dirty="0"/>
              <a:t>t4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37560-2C02-4D00-AFA2-6D1790D5FABE}" type="slidenum">
              <a:rPr lang="zh-TW" altLang="en-US" smtClean="0">
                <a:solidFill>
                  <a:prstClr val="black"/>
                </a:solidFill>
              </a:rPr>
              <a:pPr/>
              <a:t>53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10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我們將每</a:t>
            </a:r>
            <a:r>
              <a:rPr lang="en-US" altLang="zh-TW" dirty="0"/>
              <a:t>100</a:t>
            </a:r>
            <a:r>
              <a:rPr lang="zh-TW" altLang="en-US" dirty="0"/>
              <a:t>個</a:t>
            </a:r>
            <a:r>
              <a:rPr lang="en-US" altLang="zh-TW" dirty="0"/>
              <a:t>c to dirty</a:t>
            </a:r>
            <a:r>
              <a:rPr lang="en-US" altLang="zh-TW" baseline="0" dirty="0"/>
              <a:t> page</a:t>
            </a:r>
            <a:r>
              <a:rPr lang="zh-TW" altLang="en-US" baseline="0" dirty="0"/>
              <a:t>做為一個區間</a:t>
            </a:r>
            <a:endParaRPr lang="en-US" altLang="zh-TW" baseline="0" dirty="0"/>
          </a:p>
          <a:p>
            <a:r>
              <a:rPr lang="zh-TW" altLang="en-US" baseline="0" dirty="0"/>
              <a:t>使用</a:t>
            </a:r>
            <a:r>
              <a:rPr lang="en-US" altLang="zh-TW" baseline="0" dirty="0" err="1"/>
              <a:t>exponatio</a:t>
            </a:r>
            <a:r>
              <a:rPr lang="en-US" altLang="zh-TW" baseline="0" dirty="0"/>
              <a:t> </a:t>
            </a:r>
            <a:r>
              <a:rPr lang="en-US" altLang="zh-TW" baseline="0" dirty="0" err="1"/>
              <a:t>avg</a:t>
            </a:r>
            <a:r>
              <a:rPr lang="zh-TW" altLang="en-US" baseline="0" dirty="0"/>
              <a:t>指數移動平均來預測下一區間的</a:t>
            </a:r>
            <a:r>
              <a:rPr lang="en-US" altLang="zh-TW" baseline="0" dirty="0"/>
              <a:t>clean to dirty</a:t>
            </a:r>
            <a:r>
              <a:rPr lang="zh-TW" altLang="en-US" baseline="0" dirty="0"/>
              <a:t> 的平均發生時間</a:t>
            </a:r>
            <a:endParaRPr lang="en-US" altLang="zh-TW" baseline="0" dirty="0"/>
          </a:p>
          <a:p>
            <a:r>
              <a:rPr lang="zh-TW" altLang="en-US" dirty="0"/>
              <a:t>那這個方法就是對於月靠近現在的值加權較多</a:t>
            </a:r>
            <a:endParaRPr lang="en-US" altLang="zh-TW" dirty="0"/>
          </a:p>
          <a:p>
            <a:r>
              <a:rPr lang="zh-TW" altLang="en-US" dirty="0"/>
              <a:t>舉例來說就是第一個區間的</a:t>
            </a:r>
            <a:r>
              <a:rPr lang="en-US" altLang="zh-TW" dirty="0"/>
              <a:t>c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dirty</a:t>
            </a:r>
            <a:r>
              <a:rPr lang="zh-TW" altLang="en-US" dirty="0"/>
              <a:t>平均發生間隔為</a:t>
            </a:r>
            <a:r>
              <a:rPr lang="en-US" altLang="zh-TW" dirty="0"/>
              <a:t>t1</a:t>
            </a:r>
          </a:p>
          <a:p>
            <a:r>
              <a:rPr lang="zh-TW" altLang="en-US" dirty="0"/>
              <a:t>第二個是</a:t>
            </a:r>
            <a:r>
              <a:rPr lang="en-US" altLang="zh-TW" dirty="0"/>
              <a:t>t2</a:t>
            </a:r>
            <a:r>
              <a:rPr lang="zh-TW" altLang="en-US" dirty="0"/>
              <a:t>第三個是</a:t>
            </a:r>
            <a:r>
              <a:rPr lang="en-US" altLang="zh-TW" dirty="0"/>
              <a:t>t3</a:t>
            </a:r>
          </a:p>
          <a:p>
            <a:r>
              <a:rPr lang="zh-TW" altLang="en-US" dirty="0"/>
              <a:t>而那麼我們預測第四個區間的</a:t>
            </a:r>
            <a:r>
              <a:rPr lang="en-US" altLang="zh-TW" dirty="0"/>
              <a:t>c-&gt;d</a:t>
            </a:r>
            <a:r>
              <a:rPr lang="zh-TW" altLang="en-US" dirty="0"/>
              <a:t>間隔是</a:t>
            </a:r>
            <a:r>
              <a:rPr lang="en-US" altLang="zh-TW" dirty="0"/>
              <a:t>t3</a:t>
            </a:r>
            <a:r>
              <a:rPr lang="zh-TW" altLang="en-US" dirty="0"/>
              <a:t>加權</a:t>
            </a:r>
            <a:r>
              <a:rPr lang="en-US" altLang="zh-TW" dirty="0"/>
              <a:t>0.8</a:t>
            </a:r>
            <a:r>
              <a:rPr lang="zh-TW" altLang="en-US" dirty="0"/>
              <a:t>，</a:t>
            </a:r>
            <a:r>
              <a:rPr lang="en-US" altLang="zh-TW" dirty="0"/>
              <a:t>t2</a:t>
            </a:r>
            <a:r>
              <a:rPr lang="zh-TW" altLang="en-US" dirty="0"/>
              <a:t>加權</a:t>
            </a:r>
            <a:r>
              <a:rPr lang="en-US" altLang="zh-TW" dirty="0"/>
              <a:t>0.16</a:t>
            </a:r>
            <a:r>
              <a:rPr lang="zh-TW" altLang="en-US" dirty="0"/>
              <a:t>，</a:t>
            </a:r>
            <a:r>
              <a:rPr lang="en-US" altLang="zh-TW" dirty="0"/>
              <a:t>t1</a:t>
            </a:r>
            <a:r>
              <a:rPr lang="zh-TW" altLang="en-US" dirty="0"/>
              <a:t>加權</a:t>
            </a:r>
            <a:r>
              <a:rPr lang="en-US" altLang="zh-TW" dirty="0"/>
              <a:t>0.032,</a:t>
            </a:r>
          </a:p>
          <a:p>
            <a:r>
              <a:rPr lang="zh-TW" altLang="en-US" dirty="0"/>
              <a:t>離現在時間越遠的加權越少，這樣來平均，結果就會作為我們預測的</a:t>
            </a:r>
            <a:r>
              <a:rPr lang="en-US" altLang="zh-TW" dirty="0"/>
              <a:t>t4</a:t>
            </a:r>
          </a:p>
          <a:p>
            <a:r>
              <a:rPr lang="zh-TW" altLang="en-US" dirty="0"/>
              <a:t>假設在這個時間點發生了定量</a:t>
            </a:r>
            <a:r>
              <a:rPr lang="en-US" altLang="zh-TW" dirty="0"/>
              <a:t>flush,</a:t>
            </a:r>
          </a:p>
          <a:p>
            <a:r>
              <a:rPr lang="zh-TW" altLang="en-US" dirty="0"/>
              <a:t>我們預測下次定量</a:t>
            </a:r>
            <a:r>
              <a:rPr lang="en-US" altLang="zh-TW" dirty="0"/>
              <a:t>flush</a:t>
            </a:r>
            <a:r>
              <a:rPr lang="zh-TW" altLang="en-US" dirty="0"/>
              <a:t>的時間點為現在加上</a:t>
            </a:r>
            <a:r>
              <a:rPr lang="en-US" altLang="zh-TW" dirty="0"/>
              <a:t>1024</a:t>
            </a:r>
            <a:r>
              <a:rPr lang="zh-TW" altLang="en-US" dirty="0"/>
              <a:t>乘上</a:t>
            </a:r>
            <a:r>
              <a:rPr lang="en-US" altLang="zh-TW" dirty="0"/>
              <a:t>t4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37560-2C02-4D00-AFA2-6D1790D5FABE}" type="slidenum">
              <a:rPr lang="zh-TW" altLang="en-US" smtClean="0">
                <a:solidFill>
                  <a:prstClr val="black"/>
                </a:solidFill>
              </a:rPr>
              <a:pPr/>
              <a:t>54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44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9F1485-DB36-4C90-9D4F-E5A19985EEC0}" type="slidenum">
              <a:rPr lang="en-US" altLang="zh-TW" smtClean="0"/>
              <a:pPr/>
              <a:t>83</a:t>
            </a:fld>
            <a:endParaRPr lang="en-US" altLang="zh-TW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9639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osnet.cs.nchu.edu.tw/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84642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9654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spcBef>
                <a:spcPts val="600"/>
              </a:spcBef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spcBef>
                <a:spcPts val="600"/>
              </a:spcBef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spcBef>
                <a:spcPts val="600"/>
              </a:spcBef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spcBef>
                <a:spcPts val="600"/>
              </a:spcBef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74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71616-5CE1-4CD6-99A4-255B05D6DD2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2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FC878-1DB1-4E53-9AD6-3F1E4FB0A21C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13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68F56-A343-4D5F-9FD9-6802FE1498C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3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63D32-CE21-464B-BFC2-C4BA02DDA9A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90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30489-8351-415E-BBA5-EBEF91B8620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15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21FB8-2D90-49F9-87FC-21AB513A4F7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86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CB604-60EA-48EE-8A4A-54AF8492E39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47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B0D04-44D7-41EE-A986-3FFBE4E194F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68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"/>
            <a:ext cx="2745317" cy="61261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039100" cy="61261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C9F32-B1F4-46F7-B384-4B170D34C6FB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953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9ADF5-E78A-4C68-81EB-61A9EF49D9C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63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9DD50-014C-4D16-9EE9-232BB439DA0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07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26988"/>
            <a:ext cx="12192000" cy="962026"/>
            <a:chOff x="0" y="-17"/>
            <a:chExt cx="5760" cy="606"/>
          </a:xfrm>
        </p:grpSpPr>
        <p:pic>
          <p:nvPicPr>
            <p:cNvPr id="5" name="Picture 7" descr="oslab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-17"/>
              <a:ext cx="4830" cy="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15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94" y="-17"/>
              <a:ext cx="1066" cy="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913525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96544"/>
          </a:xfrm>
        </p:spPr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218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71616-5CE1-4CD6-99A4-255B05D6DD2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966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FC878-1DB1-4E53-9AD6-3F1E4FB0A21C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827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68F56-A343-4D5F-9FD9-6802FE1498C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004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63D32-CE21-464B-BFC2-C4BA02DDA9A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7445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30489-8351-415E-BBA5-EBEF91B8620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741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21FB8-2D90-49F9-87FC-21AB513A4F7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545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CB604-60EA-48EE-8A4A-54AF8492E39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136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B0D04-44D7-41EE-A986-3FFBE4E194F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323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"/>
            <a:ext cx="2745317" cy="61261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039100" cy="61261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C9F32-B1F4-46F7-B384-4B170D34C6FB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663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9ADF5-E78A-4C68-81EB-61A9EF49D9C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84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9DD50-014C-4D16-9EE9-232BB439DA0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102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124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073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912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0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393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72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2205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10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575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6034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6413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2998039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015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6244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2787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0920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797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02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2715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1802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7422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2128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69359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2369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9421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474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2318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3784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0556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7839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505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3871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2129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337834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5186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86991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6987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1583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895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0075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9698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0066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6002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282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>
              <a:solidFill>
                <a:srgbClr val="000000"/>
              </a:solidFill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2BC430-323F-4AE1-8CF8-6950D834C643}" type="slidenum">
              <a:rPr kumimoji="1" lang="en-U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38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/>
          </p:nvPr>
        </p:nvGraphicFramePr>
        <p:xfrm>
          <a:off x="0" y="0"/>
          <a:ext cx="1583267" cy="616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8" name="點陣圖影像" r:id="rId16" imgW="2381582" imgH="2857899" progId="PBrush">
                  <p:embed/>
                </p:oleObj>
              </mc:Choice>
              <mc:Fallback>
                <p:oleObj name="點陣圖影像" r:id="rId16" imgW="2381582" imgH="2857899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lum bright="30000" contrast="-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3267" cy="616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>
              <a:solidFill>
                <a:srgbClr val="000000"/>
              </a:solidFill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2BC430-323F-4AE1-8CF8-6950D834C643}" type="slidenum">
              <a:rPr kumimoji="1" lang="en-U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2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2BC430-323F-4AE1-8CF8-6950D834C643}" type="slidenum">
              <a:rPr kumimoji="1" lang="en-U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4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4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87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81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3.png"/><Relationship Id="rId4" Type="http://schemas.openxmlformats.org/officeDocument/2006/relationships/image" Target="../media/image18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50.png"/><Relationship Id="rId7" Type="http://schemas.openxmlformats.org/officeDocument/2006/relationships/image" Target="../media/image180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1.png"/><Relationship Id="rId11" Type="http://schemas.openxmlformats.org/officeDocument/2006/relationships/image" Target="../media/image22.png"/><Relationship Id="rId5" Type="http://schemas.openxmlformats.org/officeDocument/2006/relationships/image" Target="../media/image170.png"/><Relationship Id="rId10" Type="http://schemas.openxmlformats.org/officeDocument/2006/relationships/image" Target="../media/image210.png"/><Relationship Id="rId4" Type="http://schemas.openxmlformats.org/officeDocument/2006/relationships/image" Target="../media/image160.png"/><Relationship Id="rId9" Type="http://schemas.openxmlformats.org/officeDocument/2006/relationships/image" Target="../media/image20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150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2.jpeg"/><Relationship Id="rId5" Type="http://schemas.openxmlformats.org/officeDocument/2006/relationships/image" Target="../media/image51.png"/><Relationship Id="rId4" Type="http://schemas.openxmlformats.org/officeDocument/2006/relationships/oleObject" Target="../embeddings/oleObject4.bin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Chapter 5:  CPU Scheduling</a:t>
            </a:r>
          </a:p>
        </p:txBody>
      </p:sp>
    </p:spTree>
    <p:extLst>
      <p:ext uri="{BB962C8B-B14F-4D97-AF65-F5344CB8AC3E}">
        <p14:creationId xmlns:p14="http://schemas.microsoft.com/office/powerpoint/2010/main" val="182371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Basic Concepts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/>
              <a:t>Contention Scope in Thread </a:t>
            </a:r>
            <a:r>
              <a:rPr lang="en-US" altLang="zh-TW" dirty="0" smtClean="0"/>
              <a:t>Scheduling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36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Basic Concepts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CPU-I/O Burst Cycle</a:t>
            </a:r>
          </a:p>
          <a:p>
            <a:pPr lvl="1"/>
            <a:r>
              <a:rPr lang="en-US" altLang="zh-TW" dirty="0" smtClean="0"/>
              <a:t>CPU </a:t>
            </a:r>
            <a:r>
              <a:rPr lang="en-US" altLang="zh-TW" dirty="0"/>
              <a:t>Scheduler</a:t>
            </a:r>
          </a:p>
          <a:p>
            <a:pPr lvl="1"/>
            <a:r>
              <a:rPr lang="en-US" altLang="zh-TW" dirty="0" smtClean="0"/>
              <a:t>Preemptive </a:t>
            </a:r>
            <a:r>
              <a:rPr lang="en-US" altLang="zh-TW" dirty="0"/>
              <a:t>and Nonpreemptive Scheduling</a:t>
            </a:r>
          </a:p>
          <a:p>
            <a:pPr lvl="1"/>
            <a:r>
              <a:rPr lang="en-US" altLang="zh-TW" dirty="0" smtClean="0"/>
              <a:t>Dispatcher</a:t>
            </a:r>
            <a:endParaRPr lang="zh-TW" altLang="en-US" dirty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/>
              <a:t>Contention Scope in Thread Scheduling 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8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應用程式的</a:t>
            </a:r>
            <a:r>
              <a:rPr lang="zh-TW" altLang="en-US" sz="4000" dirty="0" smtClean="0"/>
              <a:t>執行具備某些特性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什麼特性呢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19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CPU-I/O Burst Cycle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CPU</a:t>
            </a:r>
            <a:r>
              <a:rPr lang="en-US" altLang="zh-TW" b="1" dirty="0" smtClean="0">
                <a:solidFill>
                  <a:srgbClr val="FF3300"/>
                </a:solidFill>
                <a:latin typeface="Helvetica" pitchFamily="34" charset="0"/>
              </a:rPr>
              <a:t>–</a:t>
            </a:r>
            <a:r>
              <a:rPr lang="en-US" altLang="zh-TW" b="1" dirty="0" smtClean="0">
                <a:solidFill>
                  <a:srgbClr val="FF3300"/>
                </a:solidFill>
              </a:rPr>
              <a:t>I/O Burst Cycle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process execution consists of a </a:t>
            </a:r>
            <a:r>
              <a:rPr lang="en-US" altLang="zh-TW" i="1" dirty="0" smtClean="0"/>
              <a:t>cycle</a:t>
            </a:r>
            <a:r>
              <a:rPr lang="en-US" altLang="zh-TW" dirty="0" smtClean="0"/>
              <a:t> of CPU execution and I/O wait</a:t>
            </a:r>
          </a:p>
          <a:p>
            <a:pPr lvl="1" eaLnBrk="1" hangingPunct="1"/>
            <a:r>
              <a:rPr lang="en-US" altLang="zh-TW" dirty="0" smtClean="0"/>
              <a:t>CPU burst, I/O burst, CPU burst, I/O burst</a:t>
            </a:r>
            <a:r>
              <a:rPr lang="en-US" altLang="zh-TW" dirty="0" smtClean="0">
                <a:latin typeface="Helvetica" pitchFamily="34" charset="0"/>
              </a:rPr>
              <a:t>……</a:t>
            </a:r>
            <a:endParaRPr lang="en-US" altLang="zh-TW" dirty="0" smtClean="0"/>
          </a:p>
          <a:p>
            <a:pPr lvl="1" eaLnBrk="1" hangingPunct="1"/>
            <a:endParaRPr lang="en-US" altLang="zh-TW" b="1" dirty="0" smtClean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0000FF"/>
                </a:solidFill>
              </a:rPr>
              <a:t>I/O bound: many short CPU bursts, few long I/O bursts</a:t>
            </a:r>
          </a:p>
          <a:p>
            <a:pPr lvl="1" eaLnBrk="1" hangingPunct="1"/>
            <a:r>
              <a:rPr lang="en-US" altLang="zh-TW" dirty="0" smtClean="0"/>
              <a:t>Spend </a:t>
            </a:r>
            <a:r>
              <a:rPr lang="en-US" altLang="zh-TW" dirty="0"/>
              <a:t>more time doing I/O than computations</a:t>
            </a:r>
            <a:endParaRPr lang="en-US" altLang="zh-TW" b="1" dirty="0" smtClean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0000FF"/>
                </a:solidFill>
              </a:rPr>
              <a:t>CPU-bound: have a few long CPU burst</a:t>
            </a:r>
          </a:p>
          <a:p>
            <a:pPr lvl="1" eaLnBrk="1" hangingPunct="1"/>
            <a:r>
              <a:rPr lang="en-US" altLang="zh-TW" dirty="0" smtClean="0"/>
              <a:t>Spend </a:t>
            </a:r>
            <a:r>
              <a:rPr lang="en-US" altLang="zh-TW" dirty="0"/>
              <a:t>more time doing computations</a:t>
            </a:r>
          </a:p>
          <a:p>
            <a:pPr lvl="2" eaLnBrk="1" hangingPunct="1"/>
            <a:endParaRPr lang="en-US" altLang="zh-TW" b="1" dirty="0" smtClean="0">
              <a:solidFill>
                <a:srgbClr val="0000FF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02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Alternating Sequence of CPU And I/O Bursts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 l="30032" t="789" r="30032" b="1576"/>
          <a:stretch>
            <a:fillRect/>
          </a:stretch>
        </p:blipFill>
        <p:spPr bwMode="auto">
          <a:xfrm>
            <a:off x="2855914" y="969818"/>
            <a:ext cx="5184775" cy="510554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8286751" y="1487781"/>
            <a:ext cx="9048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latin typeface="Calibri" panose="020F0502020204030204" pitchFamily="34" charset="0"/>
              </a:rPr>
              <a:t>a=a+1;</a:t>
            </a:r>
          </a:p>
          <a:p>
            <a:r>
              <a:rPr lang="en-US" altLang="zh-TW" sz="2000" dirty="0">
                <a:solidFill>
                  <a:srgbClr val="0000FF"/>
                </a:solidFill>
                <a:latin typeface="Calibri" panose="020F0502020204030204" pitchFamily="34" charset="0"/>
              </a:rPr>
              <a:t>b=b-1;</a:t>
            </a:r>
          </a:p>
          <a:p>
            <a:r>
              <a:rPr lang="en-US" altLang="zh-TW" sz="2000" dirty="0">
                <a:solidFill>
                  <a:srgbClr val="0000FF"/>
                </a:solidFill>
                <a:latin typeface="Calibri" panose="020F0502020204030204" pitchFamily="34" charset="0"/>
              </a:rPr>
              <a:t>c=cx5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8291514" y="2424406"/>
            <a:ext cx="1031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>
                <a:solidFill>
                  <a:srgbClr val="FF3300"/>
                </a:solidFill>
                <a:latin typeface="Calibri" panose="020F0502020204030204" pitchFamily="34" charset="0"/>
              </a:rPr>
              <a:t>fread()</a:t>
            </a:r>
          </a:p>
        </p:txBody>
      </p:sp>
      <p:sp>
        <p:nvSpPr>
          <p:cNvPr id="9222" name="Text Box 8"/>
          <p:cNvSpPr txBox="1">
            <a:spLocks noChangeArrowheads="1"/>
          </p:cNvSpPr>
          <p:nvPr/>
        </p:nvSpPr>
        <p:spPr bwMode="auto">
          <a:xfrm>
            <a:off x="8328026" y="2856205"/>
            <a:ext cx="8672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solidFill>
                  <a:srgbClr val="0000FF"/>
                </a:solidFill>
                <a:latin typeface="Calibri" panose="020F0502020204030204" pitchFamily="34" charset="0"/>
              </a:rPr>
              <a:t>x=x+1;</a:t>
            </a:r>
          </a:p>
          <a:p>
            <a:r>
              <a:rPr lang="en-US" altLang="zh-TW" sz="2000">
                <a:solidFill>
                  <a:srgbClr val="0000FF"/>
                </a:solidFill>
                <a:latin typeface="Calibri" panose="020F0502020204030204" pitchFamily="34" charset="0"/>
              </a:rPr>
              <a:t>y=bx3;</a:t>
            </a:r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8328026" y="3503906"/>
            <a:ext cx="11167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>
                <a:solidFill>
                  <a:srgbClr val="FF3300"/>
                </a:solidFill>
                <a:latin typeface="Calibri" panose="020F0502020204030204" pitchFamily="34" charset="0"/>
              </a:rPr>
              <a:t>fwrite()</a:t>
            </a:r>
          </a:p>
        </p:txBody>
      </p:sp>
      <p:sp>
        <p:nvSpPr>
          <p:cNvPr id="9224" name="Text Box 10"/>
          <p:cNvSpPr txBox="1">
            <a:spLocks noChangeArrowheads="1"/>
          </p:cNvSpPr>
          <p:nvPr/>
        </p:nvSpPr>
        <p:spPr bwMode="auto">
          <a:xfrm>
            <a:off x="8328025" y="3937293"/>
            <a:ext cx="8778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solidFill>
                  <a:srgbClr val="0000FF"/>
                </a:solidFill>
                <a:latin typeface="Calibri" panose="020F0502020204030204" pitchFamily="34" charset="0"/>
              </a:rPr>
              <a:t>b=ax1;</a:t>
            </a:r>
          </a:p>
          <a:p>
            <a:r>
              <a:rPr lang="en-US" altLang="zh-TW" sz="2000">
                <a:solidFill>
                  <a:srgbClr val="0000FF"/>
                </a:solidFill>
                <a:latin typeface="Calibri" panose="020F0502020204030204" pitchFamily="34" charset="0"/>
              </a:rPr>
              <a:t>b=a-1;</a:t>
            </a:r>
          </a:p>
          <a:p>
            <a:r>
              <a:rPr lang="en-US" altLang="zh-TW" sz="2000">
                <a:solidFill>
                  <a:srgbClr val="0000FF"/>
                </a:solidFill>
                <a:latin typeface="Calibri" panose="020F0502020204030204" pitchFamily="34" charset="0"/>
              </a:rPr>
              <a:t>c=dxa</a:t>
            </a:r>
          </a:p>
        </p:txBody>
      </p:sp>
      <p:sp>
        <p:nvSpPr>
          <p:cNvPr id="9225" name="Text Box 11"/>
          <p:cNvSpPr txBox="1">
            <a:spLocks noChangeArrowheads="1"/>
          </p:cNvSpPr>
          <p:nvPr/>
        </p:nvSpPr>
        <p:spPr bwMode="auto">
          <a:xfrm>
            <a:off x="8328026" y="4945356"/>
            <a:ext cx="1031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>
                <a:solidFill>
                  <a:srgbClr val="FF3300"/>
                </a:solidFill>
                <a:latin typeface="Calibri" panose="020F0502020204030204" pitchFamily="34" charset="0"/>
              </a:rPr>
              <a:t>fread()</a:t>
            </a:r>
          </a:p>
        </p:txBody>
      </p:sp>
      <p:sp>
        <p:nvSpPr>
          <p:cNvPr id="9226" name="Text Box 15"/>
          <p:cNvSpPr txBox="1">
            <a:spLocks noChangeArrowheads="1"/>
          </p:cNvSpPr>
          <p:nvPr/>
        </p:nvSpPr>
        <p:spPr bwMode="auto">
          <a:xfrm>
            <a:off x="8252223" y="1200443"/>
            <a:ext cx="615553" cy="34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r>
              <a:rPr lang="en-US" altLang="zh-TW" sz="2800" b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9227" name="Text Box 16"/>
          <p:cNvSpPr txBox="1">
            <a:spLocks noChangeArrowheads="1"/>
          </p:cNvSpPr>
          <p:nvPr/>
        </p:nvSpPr>
        <p:spPr bwMode="auto">
          <a:xfrm>
            <a:off x="8323661" y="5448593"/>
            <a:ext cx="615553" cy="34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r>
              <a:rPr lang="en-US" altLang="zh-TW" sz="2800" b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91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/>
              <a:t>如何利用這個特性提升效能呢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55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Multi-Programmed Systems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8E01AA-4B65-4798-BFD9-8B545C976B75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/>
          </p:nvPr>
        </p:nvGraphicFramePr>
        <p:xfrm>
          <a:off x="1271464" y="1556792"/>
          <a:ext cx="8712968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Artwork" r:id="rId3" imgW="6249272" imgH="3315163" progId="">
                  <p:embed/>
                </p:oleObj>
              </mc:Choice>
              <mc:Fallback>
                <p:oleObj name="Artwork" r:id="rId3" imgW="6249272" imgH="3315163" progId="">
                  <p:embed/>
                  <p:pic>
                    <p:nvPicPr>
                      <p:cNvPr id="4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556792"/>
                        <a:ext cx="8712968" cy="4464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949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Basic Concepts</a:t>
            </a:r>
          </a:p>
          <a:p>
            <a:pPr lvl="1"/>
            <a:r>
              <a:rPr lang="en-US" altLang="zh-TW" dirty="0"/>
              <a:t>CPU-I/O Burst Cycle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CPU </a:t>
            </a:r>
            <a:r>
              <a:rPr lang="en-US" altLang="zh-TW" b="1" dirty="0">
                <a:solidFill>
                  <a:srgbClr val="FF0000"/>
                </a:solidFill>
              </a:rPr>
              <a:t>Scheduler</a:t>
            </a:r>
          </a:p>
          <a:p>
            <a:pPr lvl="1"/>
            <a:r>
              <a:rPr lang="en-US" altLang="zh-TW" dirty="0" smtClean="0"/>
              <a:t>Preemptive </a:t>
            </a:r>
            <a:r>
              <a:rPr lang="en-US" altLang="zh-TW" dirty="0"/>
              <a:t>and Nonpreemptive Scheduling</a:t>
            </a:r>
          </a:p>
          <a:p>
            <a:pPr lvl="1"/>
            <a:r>
              <a:rPr lang="en-US" altLang="zh-TW" dirty="0" smtClean="0"/>
              <a:t>Dispatcher</a:t>
            </a:r>
            <a:endParaRPr lang="zh-TW" altLang="en-US" dirty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3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b="1" dirty="0" smtClean="0">
                <a:solidFill>
                  <a:srgbClr val="3366FF"/>
                </a:solidFill>
              </a:rPr>
              <a:t>Process </a:t>
            </a:r>
            <a:r>
              <a:rPr lang="en-US" altLang="en-US" b="1" dirty="0">
                <a:solidFill>
                  <a:srgbClr val="3366FF"/>
                </a:solidFill>
              </a:rPr>
              <a:t>scheduler (or CUP scheduler)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Selects </a:t>
            </a:r>
            <a:r>
              <a:rPr lang="en-US" altLang="zh-TW" dirty="0"/>
              <a:t>from among the processes that are </a:t>
            </a:r>
            <a:r>
              <a:rPr lang="en-US" altLang="zh-TW" b="1" dirty="0">
                <a:solidFill>
                  <a:srgbClr val="FF3300"/>
                </a:solidFill>
              </a:rPr>
              <a:t>ready</a:t>
            </a:r>
            <a:r>
              <a:rPr lang="en-US" altLang="zh-TW" dirty="0"/>
              <a:t> to execute, i.e., </a:t>
            </a:r>
            <a:r>
              <a:rPr lang="en-US" altLang="zh-TW" dirty="0">
                <a:ea typeface="ＭＳ Ｐゴシック" charset="-128"/>
                <a:cs typeface="ＭＳ Ｐゴシック" charset="-128"/>
              </a:rPr>
              <a:t>in the </a:t>
            </a:r>
            <a:r>
              <a:rPr lang="en-US" altLang="zh-TW" b="1" dirty="0">
                <a:ea typeface="ＭＳ Ｐゴシック" charset="-128"/>
                <a:cs typeface="ＭＳ Ｐゴシック" charset="-128"/>
              </a:rPr>
              <a:t>ready queue</a:t>
            </a:r>
            <a:endParaRPr lang="en-US" altLang="zh-TW" b="1" dirty="0"/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77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 smtClean="0"/>
              <a:t>複習：</a:t>
            </a:r>
            <a:r>
              <a:rPr lang="en-US" altLang="en-US" sz="4000" dirty="0" smtClean="0"/>
              <a:t>The </a:t>
            </a:r>
            <a:r>
              <a:rPr lang="en-US" altLang="en-US" sz="4000" dirty="0"/>
              <a:t>Ready Queue and Wait Queues</a:t>
            </a:r>
            <a:endParaRPr lang="zh-TW" altLang="en-US" sz="4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916832"/>
            <a:ext cx="7704856" cy="3585558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88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 smtClean="0"/>
              <a:t>複習</a:t>
            </a:r>
            <a:r>
              <a:rPr lang="en-US" altLang="zh-TW" sz="3200" dirty="0" smtClean="0"/>
              <a:t>:</a:t>
            </a:r>
            <a:r>
              <a:rPr lang="zh-TW" altLang="en-US" sz="3200" dirty="0"/>
              <a:t>第三章看到的</a:t>
            </a:r>
            <a:r>
              <a:rPr lang="zh-TW" altLang="en-US" sz="3200" dirty="0" smtClean="0"/>
              <a:t>圖</a:t>
            </a:r>
            <a:r>
              <a:rPr lang="en-US" altLang="zh-TW" sz="3200" dirty="0" smtClean="0"/>
              <a:t/>
            </a:r>
            <a:br>
              <a:rPr lang="en-US" altLang="zh-TW" sz="3200" dirty="0" smtClean="0"/>
            </a:br>
            <a:r>
              <a:rPr lang="en-US" altLang="en-US" sz="3200" dirty="0" smtClean="0"/>
              <a:t>A Simple Queuing-Diagram Representation of Processes</a:t>
            </a:r>
            <a:endParaRPr lang="en-US" altLang="zh-TW" sz="32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016" y="1556792"/>
            <a:ext cx="8934822" cy="3888432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612620" y="5603948"/>
            <a:ext cx="8308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Calibri" panose="020F0502020204030204" pitchFamily="34" charset="0"/>
              </a:rPr>
              <a:t>In real system, the diagram is much more complicated.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649611" y="1946365"/>
            <a:ext cx="2951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CPU Scheduler</a:t>
            </a:r>
          </a:p>
        </p:txBody>
      </p:sp>
    </p:spTree>
    <p:extLst>
      <p:ext uri="{BB962C8B-B14F-4D97-AF65-F5344CB8AC3E}">
        <p14:creationId xmlns:p14="http://schemas.microsoft.com/office/powerpoint/2010/main" val="147338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下一頁我們看新的較為複雜的圖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16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sz="3600" dirty="0"/>
              <a:t>複習： </a:t>
            </a:r>
            <a:r>
              <a:rPr lang="en-US" altLang="zh-TW" sz="3600" dirty="0" smtClean="0"/>
              <a:t>Representation </a:t>
            </a:r>
            <a:r>
              <a:rPr lang="en-US" altLang="zh-TW" sz="3600" dirty="0"/>
              <a:t>of Process Scheduling</a:t>
            </a:r>
            <a:endParaRPr lang="en-US" altLang="zh-TW" sz="4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222662" y="1414370"/>
            <a:ext cx="8271672" cy="4197097"/>
            <a:chOff x="863254" y="1443489"/>
            <a:chExt cx="8271672" cy="4353808"/>
          </a:xfrm>
        </p:grpSpPr>
        <p:sp>
          <p:nvSpPr>
            <p:cNvPr id="18436" name="Text Box 9"/>
            <p:cNvSpPr txBox="1">
              <a:spLocks noChangeArrowheads="1"/>
            </p:cNvSpPr>
            <p:nvPr/>
          </p:nvSpPr>
          <p:spPr bwMode="auto">
            <a:xfrm>
              <a:off x="7910964" y="1443489"/>
              <a:ext cx="1223962" cy="957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TW" dirty="0">
                  <a:solidFill>
                    <a:srgbClr val="FF3300"/>
                  </a:solidFill>
                  <a:latin typeface="Calibri" panose="020F0502020204030204" pitchFamily="34" charset="0"/>
                </a:rPr>
                <a:t>Free PCB </a:t>
              </a:r>
            </a:p>
            <a:p>
              <a:r>
                <a:rPr lang="en-US" altLang="zh-TW" dirty="0">
                  <a:solidFill>
                    <a:srgbClr val="FF3300"/>
                  </a:solidFill>
                  <a:latin typeface="Calibri" panose="020F0502020204030204" pitchFamily="34" charset="0"/>
                </a:rPr>
                <a:t>and</a:t>
              </a:r>
            </a:p>
            <a:p>
              <a:r>
                <a:rPr lang="en-US" altLang="zh-TW" dirty="0">
                  <a:solidFill>
                    <a:srgbClr val="FF3300"/>
                  </a:solidFill>
                  <a:latin typeface="Calibri" panose="020F0502020204030204" pitchFamily="34" charset="0"/>
                </a:rPr>
                <a:t>resources</a:t>
              </a:r>
            </a:p>
          </p:txBody>
        </p:sp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254" y="1628801"/>
              <a:ext cx="7056784" cy="4168496"/>
            </a:xfrm>
            <a:prstGeom prst="rect">
              <a:avLst/>
            </a:prstGeom>
          </p:spPr>
        </p:pic>
        <p:sp>
          <p:nvSpPr>
            <p:cNvPr id="3" name="文字方塊 2"/>
            <p:cNvSpPr txBox="1"/>
            <p:nvPr/>
          </p:nvSpPr>
          <p:spPr>
            <a:xfrm>
              <a:off x="6804248" y="1464870"/>
              <a:ext cx="1218732" cy="415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</a:rPr>
                <a:t>terminate</a:t>
              </a:r>
              <a:endParaRPr lang="zh-TW" altLang="en-US" sz="20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49611" y="1470115"/>
            <a:ext cx="2951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CPU Scheduler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670513" y="5881041"/>
            <a:ext cx="8836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Calibri" panose="020F0502020204030204" pitchFamily="34" charset="0"/>
              </a:rPr>
              <a:t>In real system, the diagram is still much more complicated.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Basic Concepts</a:t>
            </a:r>
          </a:p>
          <a:p>
            <a:pPr lvl="1"/>
            <a:r>
              <a:rPr lang="en-US" altLang="zh-TW" dirty="0"/>
              <a:t>CPU-I/O Burst Cycle</a:t>
            </a:r>
          </a:p>
          <a:p>
            <a:pPr lvl="1"/>
            <a:r>
              <a:rPr lang="en-US" altLang="zh-TW" dirty="0" smtClean="0"/>
              <a:t>CPU </a:t>
            </a:r>
            <a:r>
              <a:rPr lang="en-US" altLang="zh-TW" dirty="0"/>
              <a:t>Scheduler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Preemptive </a:t>
            </a:r>
            <a:r>
              <a:rPr lang="en-US" altLang="zh-TW" b="1" dirty="0">
                <a:solidFill>
                  <a:srgbClr val="FF0000"/>
                </a:solidFill>
              </a:rPr>
              <a:t>and Nonpreemptive Scheduling</a:t>
            </a:r>
          </a:p>
          <a:p>
            <a:pPr lvl="1"/>
            <a:r>
              <a:rPr lang="en-US" altLang="zh-TW" dirty="0" smtClean="0"/>
              <a:t>Dispatcher</a:t>
            </a:r>
            <a:endParaRPr lang="zh-TW" altLang="en-US" dirty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69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03041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zh-TW" altLang="en-US" sz="2800" dirty="0" smtClean="0">
                <a:effectLst/>
              </a:rPr>
              <a:t>複習：在第一章</a:t>
            </a:r>
            <a:r>
              <a:rPr lang="zh-TW" altLang="en-US" sz="2800" dirty="0">
                <a:effectLst/>
              </a:rPr>
              <a:t>和第三</a:t>
            </a:r>
            <a:r>
              <a:rPr lang="zh-TW" altLang="en-US" sz="2800" dirty="0" smtClean="0">
                <a:effectLst/>
              </a:rPr>
              <a:t>章我們提到</a:t>
            </a:r>
            <a:r>
              <a:rPr lang="en-US" altLang="zh-TW" sz="2800" dirty="0" smtClean="0">
                <a:effectLst/>
              </a:rPr>
              <a:t/>
            </a:r>
            <a:br>
              <a:rPr lang="en-US" altLang="zh-TW" sz="2800" dirty="0" smtClean="0">
                <a:effectLst/>
              </a:rPr>
            </a:br>
            <a:r>
              <a:rPr lang="en-US" altLang="zh-TW" sz="2800" dirty="0" smtClean="0">
                <a:effectLst/>
              </a:rPr>
              <a:t>Example: CPU Scheduler is Invoked when a Timer Interrupt Occurs</a:t>
            </a:r>
            <a:endParaRPr lang="en-US" altLang="zh-TW" sz="2800" dirty="0">
              <a:solidFill>
                <a:srgbClr val="0033CC"/>
              </a:solidFill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for (;;) 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Interrupt Service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interrupt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307138" y="2710816"/>
            <a:ext cx="2260600" cy="123507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2783632" y="4150520"/>
            <a:ext cx="1224136" cy="57462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Timer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cxnSp>
        <p:nvCxnSpPr>
          <p:cNvPr id="14" name="直線單箭頭接點 13"/>
          <p:cNvCxnSpPr>
            <a:endCxn id="282630" idx="3"/>
          </p:cNvCxnSpPr>
          <p:nvPr/>
        </p:nvCxnSpPr>
        <p:spPr>
          <a:xfrm flipH="1" flipV="1">
            <a:off x="4437064" y="2826544"/>
            <a:ext cx="1802953" cy="556736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向右箭號 6"/>
          <p:cNvSpPr/>
          <p:nvPr/>
        </p:nvSpPr>
        <p:spPr>
          <a:xfrm flipH="1" flipV="1">
            <a:off x="8638549" y="4869159"/>
            <a:ext cx="576064" cy="115212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07138" y="4508500"/>
            <a:ext cx="2260600" cy="705486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 Scheduler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弧形向右箭號 16"/>
          <p:cNvSpPr/>
          <p:nvPr/>
        </p:nvSpPr>
        <p:spPr>
          <a:xfrm flipH="1" flipV="1">
            <a:off x="8638549" y="3212976"/>
            <a:ext cx="576064" cy="150163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616280" y="5229200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OS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87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3" grpId="0" animBg="1"/>
      <p:bldP spid="7" grpId="0" animBg="1"/>
      <p:bldP spid="7" grpId="1" animBg="1"/>
      <p:bldP spid="16" grpId="0" animBg="1"/>
      <p:bldP spid="17" grpId="0" animBg="1"/>
      <p:bldP spid="1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In fact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CPU scheduler is not only invoked when timer interrupts occurs.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603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那</a:t>
            </a:r>
            <a:r>
              <a:rPr lang="en-US" altLang="zh-TW" dirty="0" smtClean="0"/>
              <a:t>CPU Scheduler</a:t>
            </a:r>
            <a:r>
              <a:rPr lang="zh-TW" altLang="en-US" dirty="0" smtClean="0"/>
              <a:t>何時會被執行呢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Hint: see the following slide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79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複習：</a:t>
            </a:r>
            <a:r>
              <a:rPr lang="en-US" altLang="zh-TW" dirty="0" smtClean="0"/>
              <a:t>Diagram of Process State</a:t>
            </a:r>
          </a:p>
        </p:txBody>
      </p:sp>
      <p:sp>
        <p:nvSpPr>
          <p:cNvPr id="819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0040938" y="6296026"/>
            <a:ext cx="379412" cy="352425"/>
          </a:xfrm>
          <a:prstGeom prst="actionButtonForwardNex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 sz="360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55" y="1426464"/>
            <a:ext cx="8730095" cy="4623354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17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Preemptive and Nonpreemptive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CPU scheduling decisions may take place </a:t>
            </a:r>
            <a:r>
              <a:rPr lang="en-US" altLang="zh-TW" b="1" dirty="0"/>
              <a:t>when a process</a:t>
            </a:r>
            <a:r>
              <a:rPr lang="en-US" altLang="zh-TW" dirty="0"/>
              <a:t>:</a:t>
            </a:r>
          </a:p>
          <a:p>
            <a:pPr lvl="1" eaLnBrk="1" hangingPunct="1"/>
            <a:r>
              <a:rPr lang="en-US" altLang="zh-TW" dirty="0"/>
              <a:t>1. Switches from running to waiting </a:t>
            </a:r>
            <a:r>
              <a:rPr lang="en-US" altLang="zh-TW" dirty="0" smtClean="0"/>
              <a:t>state</a:t>
            </a:r>
          </a:p>
          <a:p>
            <a:pPr lvl="2" eaLnBrk="1" hangingPunct="1"/>
            <a:r>
              <a:rPr lang="en-US" altLang="zh-TW" dirty="0" smtClean="0"/>
              <a:t>e.g. perform I/O or invoke wait()</a:t>
            </a:r>
            <a:endParaRPr lang="en-US" altLang="zh-TW" dirty="0"/>
          </a:p>
          <a:p>
            <a:pPr lvl="1" eaLnBrk="1" hangingPunct="1"/>
            <a:r>
              <a:rPr lang="en-US" altLang="zh-TW" dirty="0"/>
              <a:t>2. Switches from running to ready </a:t>
            </a:r>
            <a:r>
              <a:rPr lang="en-US" altLang="zh-TW" dirty="0" smtClean="0"/>
              <a:t>state</a:t>
            </a:r>
          </a:p>
          <a:p>
            <a:pPr lvl="2" eaLnBrk="1" hangingPunct="1"/>
            <a:r>
              <a:rPr lang="en-US" altLang="zh-TW" dirty="0" smtClean="0"/>
              <a:t>e.g</a:t>
            </a:r>
            <a:r>
              <a:rPr lang="en-US" altLang="zh-TW" dirty="0"/>
              <a:t>., when </a:t>
            </a:r>
            <a:r>
              <a:rPr lang="en-US" altLang="zh-TW" dirty="0" smtClean="0"/>
              <a:t>quantum expires</a:t>
            </a:r>
            <a:endParaRPr lang="en-US" altLang="zh-TW" dirty="0"/>
          </a:p>
          <a:p>
            <a:pPr lvl="1" eaLnBrk="1" hangingPunct="1"/>
            <a:r>
              <a:rPr lang="en-US" altLang="zh-TW" dirty="0"/>
              <a:t>3. Switches from waiting to ready </a:t>
            </a:r>
            <a:r>
              <a:rPr lang="en-US" altLang="zh-TW" dirty="0" smtClean="0"/>
              <a:t>state</a:t>
            </a:r>
          </a:p>
          <a:p>
            <a:pPr lvl="2" eaLnBrk="1" hangingPunct="1"/>
            <a:r>
              <a:rPr lang="en-US" altLang="zh-TW" dirty="0" smtClean="0"/>
              <a:t>e.g., </a:t>
            </a:r>
            <a:r>
              <a:rPr lang="en-US" altLang="zh-TW" dirty="0"/>
              <a:t>at completion </a:t>
            </a:r>
            <a:r>
              <a:rPr lang="en-US" altLang="zh-TW" dirty="0" smtClean="0"/>
              <a:t>of I/O</a:t>
            </a:r>
          </a:p>
          <a:p>
            <a:pPr lvl="1" eaLnBrk="1" hangingPunct="1"/>
            <a:r>
              <a:rPr lang="en-US" altLang="zh-TW" dirty="0" smtClean="0"/>
              <a:t>4</a:t>
            </a:r>
            <a:r>
              <a:rPr lang="en-US" altLang="zh-TW" dirty="0"/>
              <a:t>. Terminates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85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觀察</a:t>
            </a:r>
            <a:r>
              <a:rPr lang="en-US" altLang="zh-TW" dirty="0" smtClean="0"/>
              <a:t>:</a:t>
            </a:r>
            <a:r>
              <a:rPr lang="zh-TW" altLang="en-US" dirty="0" smtClean="0"/>
              <a:t> 上述四個時間點的意義不同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1 </a:t>
            </a:r>
            <a:r>
              <a:rPr lang="zh-TW" altLang="en-US" dirty="0" smtClean="0"/>
              <a:t>和</a:t>
            </a:r>
            <a:r>
              <a:rPr lang="en-US" altLang="zh-TW" dirty="0" smtClean="0"/>
              <a:t> 4</a:t>
            </a:r>
            <a:r>
              <a:rPr lang="zh-TW" altLang="en-US" dirty="0" smtClean="0"/>
              <a:t>是</a:t>
            </a:r>
            <a:r>
              <a:rPr lang="en-US" altLang="zh-TW" dirty="0" smtClean="0"/>
              <a:t>process</a:t>
            </a:r>
            <a:r>
              <a:rPr lang="zh-TW" altLang="en-US" b="1" dirty="0" smtClean="0">
                <a:solidFill>
                  <a:srgbClr val="FF0000"/>
                </a:solidFill>
              </a:rPr>
              <a:t>自動放棄</a:t>
            </a:r>
            <a:r>
              <a:rPr lang="en-US" altLang="zh-TW" dirty="0" smtClean="0"/>
              <a:t>CPU</a:t>
            </a:r>
          </a:p>
          <a:p>
            <a:r>
              <a:rPr lang="en-US" altLang="zh-TW" dirty="0" smtClean="0"/>
              <a:t>2</a:t>
            </a:r>
            <a:r>
              <a:rPr lang="zh-TW" altLang="en-US" dirty="0" smtClean="0"/>
              <a:t>和</a:t>
            </a:r>
            <a:r>
              <a:rPr lang="en-US" altLang="zh-TW" dirty="0" smtClean="0"/>
              <a:t>3</a:t>
            </a:r>
            <a:r>
              <a:rPr lang="en-US" altLang="zh-TW" dirty="0"/>
              <a:t> </a:t>
            </a:r>
            <a:r>
              <a:rPr lang="en-US" altLang="zh-TW" dirty="0" smtClean="0"/>
              <a:t>process</a:t>
            </a:r>
            <a:r>
              <a:rPr lang="zh-TW" altLang="en-US" b="1" dirty="0" smtClean="0">
                <a:solidFill>
                  <a:srgbClr val="FF0000"/>
                </a:solidFill>
              </a:rPr>
              <a:t>被動放棄</a:t>
            </a:r>
            <a:r>
              <a:rPr lang="en-US" altLang="zh-TW" dirty="0"/>
              <a:t>CPU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247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Nonpreemptive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 Preemptive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Nonpreemptive</a:t>
            </a:r>
            <a:r>
              <a:rPr lang="en-US" altLang="zh-TW" sz="2800" dirty="0"/>
              <a:t> or </a:t>
            </a:r>
            <a:r>
              <a:rPr lang="en-US" altLang="zh-TW" sz="2800" b="1" dirty="0"/>
              <a:t>cooperative </a:t>
            </a:r>
            <a:r>
              <a:rPr lang="en-US" altLang="zh-TW" sz="2800" dirty="0"/>
              <a:t>scheduling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When scheduling takes place only under 1 and 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Process keeps the CPU until it </a:t>
            </a:r>
            <a:r>
              <a:rPr lang="en-US" altLang="zh-TW" sz="2400" b="1" dirty="0">
                <a:solidFill>
                  <a:srgbClr val="FF0000"/>
                </a:solidFill>
              </a:rPr>
              <a:t>releases</a:t>
            </a:r>
            <a:r>
              <a:rPr lang="en-US" altLang="zh-TW" sz="2400" dirty="0"/>
              <a:t> the CPU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/>
              <a:t>Bad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for time-sharing </a:t>
            </a:r>
            <a:r>
              <a:rPr lang="en-US" altLang="zh-TW" sz="2400" dirty="0" smtClean="0"/>
              <a:t>system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endParaRPr lang="en-US" altLang="zh-TW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Preemptive </a:t>
            </a:r>
            <a:r>
              <a:rPr lang="en-US" altLang="zh-TW" sz="2800" dirty="0"/>
              <a:t>scheduling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Scheduling takes place under all the circumstances (1 to 4)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process having obtained CPU may </a:t>
            </a:r>
            <a:r>
              <a:rPr lang="en-US" altLang="zh-TW" sz="2400" b="1" dirty="0">
                <a:solidFill>
                  <a:srgbClr val="FF3300"/>
                </a:solidFill>
              </a:rPr>
              <a:t>be forced to</a:t>
            </a:r>
            <a:r>
              <a:rPr lang="en-US" altLang="zh-TW" sz="2400" b="1" dirty="0"/>
              <a:t> </a:t>
            </a:r>
            <a:r>
              <a:rPr lang="en-US" altLang="zh-TW" sz="2400" dirty="0"/>
              <a:t>release CPU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cost associated with </a:t>
            </a:r>
            <a:r>
              <a:rPr lang="en-US" altLang="zh-TW" sz="2400" b="1" dirty="0"/>
              <a:t>shared data </a:t>
            </a:r>
            <a:r>
              <a:rPr lang="en-US" altLang="zh-TW" sz="2400" dirty="0"/>
              <a:t>access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 smtClean="0"/>
              <a:t>Addressed </a:t>
            </a:r>
            <a:r>
              <a:rPr lang="en-US" altLang="zh-TW" sz="2000" dirty="0"/>
              <a:t>in Chapter 6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24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Basic Concepts</a:t>
            </a:r>
          </a:p>
          <a:p>
            <a:pPr lvl="1"/>
            <a:r>
              <a:rPr lang="en-US" altLang="zh-TW" dirty="0"/>
              <a:t>CPU-I/O Burst Cycle</a:t>
            </a:r>
          </a:p>
          <a:p>
            <a:pPr lvl="1"/>
            <a:r>
              <a:rPr lang="en-US" altLang="zh-TW" dirty="0" smtClean="0"/>
              <a:t>CPU </a:t>
            </a:r>
            <a:r>
              <a:rPr lang="en-US" altLang="zh-TW" dirty="0"/>
              <a:t>Scheduler</a:t>
            </a:r>
          </a:p>
          <a:p>
            <a:pPr lvl="1"/>
            <a:r>
              <a:rPr lang="en-US" altLang="zh-TW" dirty="0" smtClean="0"/>
              <a:t>Preemptive </a:t>
            </a:r>
            <a:r>
              <a:rPr lang="en-US" altLang="zh-TW" dirty="0"/>
              <a:t>and Nonpreemptive Scheduling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Dispatcher</a:t>
            </a:r>
            <a:endParaRPr lang="zh-TW" altLang="en-US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38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Dispatcher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 b="1" dirty="0"/>
              <a:t>Dispatcher</a:t>
            </a:r>
            <a:r>
              <a:rPr lang="en-US" altLang="zh-TW" sz="2800" dirty="0"/>
              <a:t>: gives a CPU core to the process selected by the </a:t>
            </a:r>
            <a:r>
              <a:rPr lang="en-US" altLang="zh-TW" sz="2800" b="1" dirty="0">
                <a:solidFill>
                  <a:srgbClr val="FF0000"/>
                </a:solidFill>
              </a:rPr>
              <a:t>CPU scheduler </a:t>
            </a:r>
          </a:p>
          <a:p>
            <a:pPr eaLnBrk="1" hangingPunct="1"/>
            <a:r>
              <a:rPr lang="en-US" altLang="zh-TW" sz="2800" dirty="0"/>
              <a:t>This involves</a:t>
            </a:r>
            <a:r>
              <a:rPr lang="en-US" altLang="zh-TW" sz="2800" dirty="0" smtClean="0"/>
              <a:t>: </a:t>
            </a:r>
            <a:r>
              <a:rPr lang="en-US" altLang="zh-TW" sz="2400" dirty="0" smtClean="0"/>
              <a:t>(see the following two slides)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/>
              <a:t>Switching context from one process to another process</a:t>
            </a:r>
          </a:p>
          <a:p>
            <a:pPr lvl="1" eaLnBrk="1" hangingPunct="1"/>
            <a:r>
              <a:rPr lang="en-US" altLang="zh-TW" sz="2400" dirty="0"/>
              <a:t>Switching to user mode</a:t>
            </a:r>
          </a:p>
          <a:p>
            <a:pPr lvl="1" eaLnBrk="1" hangingPunct="1"/>
            <a:r>
              <a:rPr lang="en-US" altLang="zh-TW" sz="2400" dirty="0"/>
              <a:t>Jumping to the proper location </a:t>
            </a:r>
            <a:r>
              <a:rPr lang="en-US" altLang="zh-TW" sz="2400" dirty="0" smtClean="0"/>
              <a:t>to </a:t>
            </a:r>
            <a:r>
              <a:rPr lang="en-US" altLang="zh-TW" sz="2400" dirty="0"/>
              <a:t>resume </a:t>
            </a:r>
            <a:r>
              <a:rPr lang="en-US" altLang="zh-TW" sz="2400" dirty="0" smtClean="0"/>
              <a:t>selected </a:t>
            </a:r>
            <a:r>
              <a:rPr lang="en-US" altLang="zh-TW" sz="2400" dirty="0"/>
              <a:t>program</a:t>
            </a:r>
          </a:p>
          <a:p>
            <a:pPr eaLnBrk="1" hangingPunct="1"/>
            <a:r>
              <a:rPr lang="en-US" altLang="zh-TW" sz="2800" b="1" dirty="0"/>
              <a:t>Dispatch latency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Helvetica" pitchFamily="34" charset="0"/>
              </a:rPr>
              <a:t>–</a:t>
            </a:r>
            <a:r>
              <a:rPr lang="en-US" altLang="zh-TW" sz="2800" dirty="0"/>
              <a:t> time it takes for the dispatcher to </a:t>
            </a:r>
            <a:r>
              <a:rPr lang="en-US" altLang="zh-TW" sz="2800" dirty="0">
                <a:solidFill>
                  <a:srgbClr val="FF3300"/>
                </a:solidFill>
              </a:rPr>
              <a:t>stop one process</a:t>
            </a:r>
            <a:r>
              <a:rPr lang="en-US" altLang="zh-TW" sz="2800" dirty="0"/>
              <a:t> and </a:t>
            </a:r>
            <a:r>
              <a:rPr lang="en-US" altLang="zh-TW" sz="2800" dirty="0">
                <a:solidFill>
                  <a:srgbClr val="FF3300"/>
                </a:solidFill>
              </a:rPr>
              <a:t>start another running</a:t>
            </a:r>
          </a:p>
          <a:p>
            <a:pPr lvl="1" eaLnBrk="1" hangingPunct="1"/>
            <a:r>
              <a:rPr lang="en-US" altLang="zh-TW" sz="2400" dirty="0"/>
              <a:t>Should be as fast as possible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43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Role of the Dispatcher</a:t>
            </a:r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4957762" y="990600"/>
            <a:ext cx="2009775" cy="5638800"/>
            <a:chOff x="4262437" y="395287"/>
            <a:chExt cx="2009775" cy="7138988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2437" y="395287"/>
              <a:ext cx="1971675" cy="357187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4381500" y="4357687"/>
              <a:ext cx="1743075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CPU changes from kernel mode to user mode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381500" y="5705475"/>
              <a:ext cx="1743075" cy="5429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Jump to the selected process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4925" y="3914775"/>
              <a:ext cx="228600" cy="361950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5875" y="5295900"/>
              <a:ext cx="228600" cy="361950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2437" y="6296025"/>
              <a:ext cx="2009775" cy="1238250"/>
            </a:xfrm>
            <a:prstGeom prst="rect">
              <a:avLst/>
            </a:prstGeom>
          </p:spPr>
        </p:pic>
      </p:grpSp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462" y="1651714"/>
            <a:ext cx="1438275" cy="4549061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4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Dispatch Latency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Scheduler</a:t>
            </a: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211498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smtClean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smtClean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smtClean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smtClean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smtClean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4" cy="125781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2807494" y="261837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 flipV="1">
            <a:off x="4475712" y="3173909"/>
            <a:ext cx="1768389" cy="290016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=x;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=y;……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4208080" y="3022324"/>
            <a:ext cx="2099059" cy="1774829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4207718" y="3280272"/>
            <a:ext cx="2009451" cy="2350040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14280" y="2708921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0x30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 smtClean="0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19042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P2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=59;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=25;……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9127698" y="5817643"/>
            <a:ext cx="2311827" cy="748989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Scheduler</a:t>
            </a:r>
          </a:p>
          <a:p>
            <a:pPr algn="ctr">
              <a:defRPr/>
            </a:pP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選擇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P2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執行</a:t>
            </a:r>
            <a:endParaRPr lang="zh-TW" altLang="en-US" sz="2400" b="1" dirty="0"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318300" y="4495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=10; </a:t>
            </a: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=5;……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OS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sp>
        <p:nvSpPr>
          <p:cNvPr id="25" name="弧形箭號 (左彎) 24"/>
          <p:cNvSpPr/>
          <p:nvPr/>
        </p:nvSpPr>
        <p:spPr>
          <a:xfrm flipV="1">
            <a:off x="8667230" y="3349895"/>
            <a:ext cx="588805" cy="279228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64592" y="3636146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</a:t>
            </a:r>
            <a:r>
              <a:rPr kumimoji="1" lang="en-US" altLang="zh-TW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0;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002692" y="3617096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</a:t>
            </a:r>
            <a:r>
              <a:rPr kumimoji="1" lang="en-US" altLang="zh-TW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1;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30" name="弧形箭號 (左彎) 29"/>
          <p:cNvSpPr/>
          <p:nvPr/>
        </p:nvSpPr>
        <p:spPr>
          <a:xfrm flipH="1">
            <a:off x="5770989" y="2322513"/>
            <a:ext cx="428769" cy="381966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222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9" grpId="0" animBg="1"/>
      <p:bldP spid="30" grpId="0" animBg="1"/>
      <p:bldP spid="3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Scheduling Criteria</a:t>
            </a:r>
            <a:r>
              <a:rPr lang="en-US" altLang="zh-TW" dirty="0" smtClean="0"/>
              <a:t>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Contention </a:t>
            </a:r>
            <a:r>
              <a:rPr lang="en-US" altLang="zh-TW" dirty="0"/>
              <a:t>Scope in Thread Scheduling</a:t>
            </a:r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06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如何判斷一個</a:t>
            </a:r>
            <a:r>
              <a:rPr lang="en-US" altLang="zh-TW" dirty="0" smtClean="0"/>
              <a:t>CPU Scheduling Algorithm</a:t>
            </a:r>
            <a:r>
              <a:rPr lang="zh-TW" altLang="en-US" dirty="0" smtClean="0"/>
              <a:t>的好壞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要先決定衡量好壞的準則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369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Scheduling Criteria (</a:t>
            </a:r>
            <a:r>
              <a:rPr lang="zh-TW" altLang="en-US" dirty="0" smtClean="0"/>
              <a:t>準則</a:t>
            </a:r>
            <a:r>
              <a:rPr lang="en-US" altLang="zh-TW" dirty="0" smtClean="0"/>
              <a:t>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i="1" dirty="0">
                <a:solidFill>
                  <a:srgbClr val="FF3300"/>
                </a:solidFill>
              </a:rPr>
              <a:t>Used to judge the performance of a scheduling 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b="1" dirty="0"/>
              <a:t>CPU utilization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Keep the CPU as busy as possible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b="1" dirty="0"/>
              <a:t>Throughput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Number of processes that are completed per time unit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b="1" dirty="0"/>
              <a:t>Turnaround time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Amount of time to execute a particular process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From process submission to process termination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b="1" dirty="0"/>
              <a:t>Waiting time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Amount of time a process has been </a:t>
            </a:r>
            <a:r>
              <a:rPr lang="en-US" altLang="zh-TW" sz="2000" dirty="0">
                <a:solidFill>
                  <a:srgbClr val="FF3300"/>
                </a:solidFill>
              </a:rPr>
              <a:t>waiting in the ready queue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b="1" dirty="0"/>
              <a:t>Response time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Amount of time it takes from when a request was submitted until the </a:t>
            </a:r>
            <a:r>
              <a:rPr lang="en-US" altLang="zh-TW" sz="2000" b="1" dirty="0">
                <a:solidFill>
                  <a:srgbClr val="FF3300"/>
                </a:solidFill>
              </a:rPr>
              <a:t>response</a:t>
            </a:r>
            <a:r>
              <a:rPr lang="en-US" altLang="zh-TW" sz="2000" dirty="0"/>
              <a:t> is </a:t>
            </a:r>
            <a:r>
              <a:rPr lang="en-US" altLang="zh-TW" sz="2000" b="1" dirty="0"/>
              <a:t>produced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For </a:t>
            </a:r>
            <a:r>
              <a:rPr lang="en-US" altLang="zh-TW" sz="2000" b="1" dirty="0">
                <a:solidFill>
                  <a:srgbClr val="FF3300"/>
                </a:solidFill>
              </a:rPr>
              <a:t>interactive</a:t>
            </a:r>
            <a:r>
              <a:rPr lang="en-US" altLang="zh-TW" sz="2000" dirty="0"/>
              <a:t> processes, we may not care the turnaround time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79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Scheduling Criteria 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/>
              <a:t>Optimization Criteria -- may be conflict</a:t>
            </a:r>
          </a:p>
          <a:p>
            <a:pPr lvl="1" eaLnBrk="1" hangingPunct="1"/>
            <a:r>
              <a:rPr lang="en-US" altLang="zh-TW" sz="3200" dirty="0"/>
              <a:t>Max CPU utilization</a:t>
            </a:r>
          </a:p>
          <a:p>
            <a:pPr lvl="1" eaLnBrk="1" hangingPunct="1"/>
            <a:r>
              <a:rPr lang="en-US" altLang="zh-TW" sz="3200" dirty="0"/>
              <a:t>Max throughput</a:t>
            </a:r>
          </a:p>
          <a:p>
            <a:pPr lvl="1" eaLnBrk="1" hangingPunct="1"/>
            <a:r>
              <a:rPr lang="en-US" altLang="zh-TW" sz="3200" dirty="0"/>
              <a:t>Min turnaround time </a:t>
            </a:r>
          </a:p>
          <a:p>
            <a:pPr lvl="1" eaLnBrk="1" hangingPunct="1"/>
            <a:r>
              <a:rPr lang="en-US" altLang="zh-TW" sz="3200" dirty="0"/>
              <a:t>Min waiting time </a:t>
            </a:r>
          </a:p>
          <a:p>
            <a:pPr lvl="1" eaLnBrk="1" hangingPunct="1"/>
            <a:r>
              <a:rPr lang="en-US" altLang="zh-TW" sz="3200" dirty="0"/>
              <a:t>Min response time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44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dirty="0"/>
              <a:t>Basic Concepts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zh-TW" dirty="0" smtClean="0"/>
              <a:t>Scheduling </a:t>
            </a:r>
            <a:r>
              <a:rPr lang="en-US" altLang="zh-TW" dirty="0"/>
              <a:t>Criteria 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Scheduling </a:t>
            </a:r>
            <a:r>
              <a:rPr lang="en-US" altLang="zh-TW" b="1" dirty="0">
                <a:solidFill>
                  <a:srgbClr val="FF3300"/>
                </a:solidFill>
              </a:rPr>
              <a:t>Algorithms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Contention Scope in Thread Scheduling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zh-TW" dirty="0" smtClean="0"/>
              <a:t>Multiple-Processor 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5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接下來介紹一些</a:t>
            </a:r>
            <a:r>
              <a:rPr lang="en-US" altLang="zh-TW" dirty="0" smtClean="0"/>
              <a:t>CPU Scheduling Algorithm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你有自己的想法或是方法</a:t>
            </a:r>
            <a:r>
              <a:rPr lang="zh-TW" altLang="en-US" dirty="0" smtClean="0"/>
              <a:t>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93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First-Come, First-Served Scheduling</a:t>
            </a:r>
          </a:p>
          <a:p>
            <a:pPr lvl="1" eaLnBrk="1" hangingPunct="1"/>
            <a:r>
              <a:rPr lang="en-US" altLang="zh-TW" dirty="0"/>
              <a:t>Shortest-Job-First Scheduling</a:t>
            </a:r>
          </a:p>
          <a:p>
            <a:pPr lvl="1" eaLnBrk="1" hangingPunct="1"/>
            <a:r>
              <a:rPr lang="en-US" altLang="zh-TW" dirty="0"/>
              <a:t>Round-Robin Scheduling</a:t>
            </a:r>
          </a:p>
          <a:p>
            <a:pPr lvl="1" eaLnBrk="1" hangingPunct="1"/>
            <a:r>
              <a:rPr lang="en-US" altLang="zh-TW" dirty="0" smtClean="0"/>
              <a:t>Priority </a:t>
            </a:r>
            <a:r>
              <a:rPr lang="en-US" altLang="zh-TW" dirty="0"/>
              <a:t>Scheduling</a:t>
            </a:r>
          </a:p>
          <a:p>
            <a:pPr lvl="1" eaLnBrk="1" hangingPunct="1"/>
            <a:r>
              <a:rPr lang="en-US" altLang="zh-TW" dirty="0" smtClean="0"/>
              <a:t>Multilevel </a:t>
            </a:r>
            <a:r>
              <a:rPr lang="en-US" altLang="zh-TW" dirty="0"/>
              <a:t>Queue Scheduling</a:t>
            </a:r>
          </a:p>
          <a:p>
            <a:pPr lvl="1" eaLnBrk="1" hangingPunct="1"/>
            <a:r>
              <a:rPr lang="en-US" altLang="zh-TW" dirty="0"/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4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First-Come, First-Served (FCFS)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Ready queue is a </a:t>
            </a:r>
            <a:r>
              <a:rPr lang="en-US" altLang="zh-TW" sz="2400" b="1" dirty="0"/>
              <a:t>FIFO</a:t>
            </a:r>
            <a:r>
              <a:rPr lang="en-US" altLang="zh-TW" sz="2400" dirty="0"/>
              <a:t> queue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Example: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000" u="sng" dirty="0"/>
              <a:t>Process</a:t>
            </a:r>
            <a:r>
              <a:rPr lang="en-US" altLang="zh-TW" sz="2000" dirty="0"/>
              <a:t>   </a:t>
            </a:r>
            <a:r>
              <a:rPr lang="en-US" altLang="zh-TW" sz="2000" u="sng" dirty="0"/>
              <a:t>CPU Burst Time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		   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1</a:t>
            </a:r>
            <a:r>
              <a:rPr lang="en-US" altLang="zh-TW" sz="2000" dirty="0"/>
              <a:t>	               24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		   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2</a:t>
            </a:r>
            <a:r>
              <a:rPr lang="en-US" altLang="zh-TW" sz="2000" dirty="0"/>
              <a:t> 	               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		   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3	                        </a:t>
            </a:r>
            <a:r>
              <a:rPr lang="en-US" altLang="zh-TW" sz="2000" dirty="0"/>
              <a:t>3</a:t>
            </a:r>
            <a:r>
              <a:rPr lang="en-US" altLang="zh-TW" sz="2000" i="1" baseline="-25000" dirty="0"/>
              <a:t> </a:t>
            </a:r>
            <a:endParaRPr lang="en-US" altLang="zh-TW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Suppose that the processes arrive in the order: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1</a:t>
            </a:r>
            <a:r>
              <a:rPr lang="en-US" altLang="zh-TW" sz="2400" dirty="0"/>
              <a:t> ,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2</a:t>
            </a:r>
            <a:r>
              <a:rPr lang="en-US" altLang="zh-TW" sz="2400" dirty="0"/>
              <a:t> ,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3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The </a:t>
            </a:r>
            <a:r>
              <a:rPr lang="en-US" altLang="zh-TW" sz="2400" b="1" dirty="0">
                <a:solidFill>
                  <a:srgbClr val="FF3300"/>
                </a:solidFill>
              </a:rPr>
              <a:t>Gantt Chart</a:t>
            </a:r>
            <a:r>
              <a:rPr lang="en-US" altLang="zh-TW" sz="2400" dirty="0"/>
              <a:t> for the schedule is: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Waiting time for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1</a:t>
            </a:r>
            <a:r>
              <a:rPr lang="en-US" altLang="zh-TW" sz="2000" dirty="0"/>
              <a:t>  = 0;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2</a:t>
            </a:r>
            <a:r>
              <a:rPr lang="en-US" altLang="zh-TW" sz="2000" dirty="0"/>
              <a:t>  = 24;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3 </a:t>
            </a:r>
            <a:r>
              <a:rPr lang="en-US" altLang="zh-TW" sz="2000" dirty="0"/>
              <a:t>= 27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Average waiting time:  (0 + 24 + 27)/3 = 17</a:t>
            </a:r>
          </a:p>
        </p:txBody>
      </p:sp>
      <p:grpSp>
        <p:nvGrpSpPr>
          <p:cNvPr id="20484" name="Group 4"/>
          <p:cNvGrpSpPr>
            <a:grpSpLocks/>
          </p:cNvGrpSpPr>
          <p:nvPr/>
        </p:nvGrpSpPr>
        <p:grpSpPr bwMode="auto">
          <a:xfrm>
            <a:off x="3071813" y="5229226"/>
            <a:ext cx="5556250" cy="1128713"/>
            <a:chOff x="856" y="2688"/>
            <a:chExt cx="3500" cy="711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86" name="Text Box 6"/>
            <p:cNvSpPr txBox="1">
              <a:spLocks noChangeArrowheads="1"/>
            </p:cNvSpPr>
            <p:nvPr/>
          </p:nvSpPr>
          <p:spPr bwMode="auto">
            <a:xfrm>
              <a:off x="1776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1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0487" name="Text Box 7"/>
            <p:cNvSpPr txBox="1">
              <a:spLocks noChangeArrowheads="1"/>
            </p:cNvSpPr>
            <p:nvPr/>
          </p:nvSpPr>
          <p:spPr bwMode="auto">
            <a:xfrm>
              <a:off x="3264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2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0488" name="Text Box 8"/>
            <p:cNvSpPr txBox="1">
              <a:spLocks noChangeArrowheads="1"/>
            </p:cNvSpPr>
            <p:nvPr/>
          </p:nvSpPr>
          <p:spPr bwMode="auto">
            <a:xfrm>
              <a:off x="3840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3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1" name="Line 11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2" name="Line 12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3" name="Line 13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4" name="Line 14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495" name="Text Box 15"/>
            <p:cNvSpPr txBox="1">
              <a:spLocks noChangeArrowheads="1"/>
            </p:cNvSpPr>
            <p:nvPr/>
          </p:nvSpPr>
          <p:spPr bwMode="auto">
            <a:xfrm>
              <a:off x="2928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24</a:t>
              </a:r>
            </a:p>
          </p:txBody>
        </p:sp>
        <p:sp>
          <p:nvSpPr>
            <p:cNvPr id="20496" name="Text Box 16"/>
            <p:cNvSpPr txBox="1">
              <a:spLocks noChangeArrowheads="1"/>
            </p:cNvSpPr>
            <p:nvPr/>
          </p:nvSpPr>
          <p:spPr bwMode="auto">
            <a:xfrm>
              <a:off x="3504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27</a:t>
              </a:r>
            </a:p>
          </p:txBody>
        </p:sp>
        <p:sp>
          <p:nvSpPr>
            <p:cNvPr id="20497" name="Text Box 17"/>
            <p:cNvSpPr txBox="1">
              <a:spLocks noChangeArrowheads="1"/>
            </p:cNvSpPr>
            <p:nvPr/>
          </p:nvSpPr>
          <p:spPr bwMode="auto">
            <a:xfrm>
              <a:off x="4080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30</a:t>
              </a:r>
            </a:p>
          </p:txBody>
        </p:sp>
        <p:sp>
          <p:nvSpPr>
            <p:cNvPr id="20498" name="Text Box 18"/>
            <p:cNvSpPr txBox="1">
              <a:spLocks noChangeArrowheads="1"/>
            </p:cNvSpPr>
            <p:nvPr/>
          </p:nvSpPr>
          <p:spPr bwMode="auto">
            <a:xfrm>
              <a:off x="856" y="316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0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82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First-Come, First-Served (FCFS) Scheduling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Suppose that processes arrive in the order: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2</a:t>
            </a:r>
            <a:r>
              <a:rPr lang="en-US" altLang="zh-TW" sz="2800" dirty="0"/>
              <a:t> ,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3</a:t>
            </a:r>
            <a:r>
              <a:rPr lang="en-US" altLang="zh-TW" sz="2800" dirty="0"/>
              <a:t> ,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1</a:t>
            </a:r>
          </a:p>
          <a:p>
            <a:pPr eaLnBrk="1" hangingPunct="1"/>
            <a:r>
              <a:rPr lang="en-US" altLang="zh-TW" sz="2800" dirty="0"/>
              <a:t>The </a:t>
            </a:r>
            <a:r>
              <a:rPr lang="en-US" altLang="zh-TW" sz="2800" b="1" dirty="0">
                <a:solidFill>
                  <a:srgbClr val="FF3300"/>
                </a:solidFill>
              </a:rPr>
              <a:t>Gantt chart</a:t>
            </a:r>
            <a:r>
              <a:rPr lang="en-US" altLang="zh-TW" sz="2800" dirty="0"/>
              <a:t> for the schedule is:</a:t>
            </a:r>
          </a:p>
          <a:p>
            <a:pPr lvl="1" eaLnBrk="1" hangingPunct="1"/>
            <a:r>
              <a:rPr lang="en-US" altLang="zh-TW" sz="2400" dirty="0"/>
              <a:t>Waiting time for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1 </a:t>
            </a:r>
            <a:r>
              <a:rPr lang="en-US" altLang="zh-TW" sz="2400" i="1" dirty="0"/>
              <a:t>=</a:t>
            </a:r>
            <a:r>
              <a:rPr lang="en-US" altLang="zh-TW" sz="2400" dirty="0"/>
              <a:t> 6</a:t>
            </a:r>
            <a:r>
              <a:rPr lang="en-US" altLang="zh-TW" sz="2400" i="1" dirty="0"/>
              <a:t>;</a:t>
            </a:r>
            <a:r>
              <a:rPr lang="en-US" altLang="zh-TW" sz="2400" i="1" baseline="-25000" dirty="0"/>
              <a:t>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2</a:t>
            </a:r>
            <a:r>
              <a:rPr lang="en-US" altLang="zh-TW" sz="2400" dirty="0"/>
              <a:t> = 0</a:t>
            </a:r>
            <a:r>
              <a:rPr lang="en-US" altLang="zh-TW" sz="2400" i="1" baseline="-25000" dirty="0"/>
              <a:t>; </a:t>
            </a:r>
            <a:r>
              <a:rPr lang="en-US" altLang="zh-TW" sz="2400" i="1" dirty="0"/>
              <a:t>P</a:t>
            </a:r>
            <a:r>
              <a:rPr lang="en-US" altLang="zh-TW" sz="2400" i="1" baseline="-25000" dirty="0"/>
              <a:t>3 </a:t>
            </a:r>
            <a:r>
              <a:rPr lang="en-US" altLang="zh-TW" sz="2400" i="1" dirty="0"/>
              <a:t>= </a:t>
            </a:r>
            <a:r>
              <a:rPr lang="en-US" altLang="zh-TW" sz="2400" dirty="0"/>
              <a:t>3</a:t>
            </a:r>
            <a:endParaRPr lang="en-US" altLang="zh-TW" sz="2400" i="1" dirty="0"/>
          </a:p>
          <a:p>
            <a:pPr lvl="1" eaLnBrk="1" hangingPunct="1"/>
            <a:r>
              <a:rPr lang="en-US" altLang="zh-TW" sz="2400" dirty="0"/>
              <a:t>Average waiting time: (6 + 0 + 3)/3 = 3</a:t>
            </a:r>
          </a:p>
          <a:p>
            <a:pPr lvl="1" eaLnBrk="1" hangingPunct="1"/>
            <a:r>
              <a:rPr lang="en-US" altLang="zh-TW" sz="2400" dirty="0"/>
              <a:t>Much better than previous case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b="1" dirty="0">
                <a:solidFill>
                  <a:srgbClr val="FF3300"/>
                </a:solidFill>
              </a:rPr>
              <a:t>FCFS scheduling is </a:t>
            </a:r>
            <a:r>
              <a:rPr lang="en-US" altLang="zh-TW" sz="2800" b="1" dirty="0" err="1">
                <a:solidFill>
                  <a:srgbClr val="FF3300"/>
                </a:solidFill>
              </a:rPr>
              <a:t>nonpreemptive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/>
              <a:t>Unsuitable for time-sharing systems</a:t>
            </a: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3216275" y="4005264"/>
            <a:ext cx="5575300" cy="947737"/>
            <a:chOff x="852" y="1650"/>
            <a:chExt cx="3512" cy="738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 flipH="1">
              <a:off x="3180" y="1671"/>
              <a:ext cx="265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1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 flipH="1">
              <a:off x="1692" y="1671"/>
              <a:ext cx="265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3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 flipH="1">
              <a:off x="1116" y="1671"/>
              <a:ext cx="265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P</a:t>
              </a:r>
              <a:r>
                <a:rPr lang="en-US" altLang="zh-TW" baseline="-25000">
                  <a:latin typeface="Helvetica" pitchFamily="34" charset="0"/>
                </a:rPr>
                <a:t>2</a:t>
              </a:r>
              <a:endParaRPr lang="en-US" altLang="zh-TW">
                <a:latin typeface="Helvetica" pitchFamily="34" charset="0"/>
              </a:endParaRPr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 flipH="1">
              <a:off x="2056" y="2102"/>
              <a:ext cx="19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6</a:t>
              </a:r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 flipH="1">
              <a:off x="1480" y="2102"/>
              <a:ext cx="19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3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 flipH="1">
              <a:off x="4088" y="2102"/>
              <a:ext cx="27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30</a:t>
              </a:r>
            </a:p>
          </p:txBody>
        </p:sp>
        <p:sp>
          <p:nvSpPr>
            <p:cNvPr id="21522" name="Text Box 18"/>
            <p:cNvSpPr txBox="1">
              <a:spLocks noChangeArrowheads="1"/>
            </p:cNvSpPr>
            <p:nvPr/>
          </p:nvSpPr>
          <p:spPr bwMode="auto">
            <a:xfrm flipH="1">
              <a:off x="852" y="2103"/>
              <a:ext cx="196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Helvetica" pitchFamily="34" charset="0"/>
                </a:rPr>
                <a:t>0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63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從前面兩個例子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你有觀察到什麼現象嗎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我們喜歡</a:t>
            </a:r>
            <a:r>
              <a:rPr lang="en-US" altLang="zh-TW" dirty="0" smtClean="0"/>
              <a:t>CPU burst time</a:t>
            </a:r>
            <a:r>
              <a:rPr lang="zh-TW" altLang="en-US" dirty="0" smtClean="0"/>
              <a:t>短的</a:t>
            </a:r>
            <a:r>
              <a:rPr lang="en-US" altLang="zh-TW" dirty="0" smtClean="0"/>
              <a:t>process/thread</a:t>
            </a:r>
            <a:r>
              <a:rPr lang="zh-TW" altLang="en-US" dirty="0" smtClean="0"/>
              <a:t>先執行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201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那如果相反呢</a:t>
            </a:r>
            <a:r>
              <a:rPr lang="en-US" altLang="zh-TW" dirty="0"/>
              <a:t>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see the following slide</a:t>
            </a:r>
          </a:p>
        </p:txBody>
      </p:sp>
    </p:spTree>
    <p:extLst>
      <p:ext uri="{BB962C8B-B14F-4D97-AF65-F5344CB8AC3E}">
        <p14:creationId xmlns:p14="http://schemas.microsoft.com/office/powerpoint/2010/main" val="122569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First-Come, First-Served (FCFS) Scheduling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Convoy effect</a:t>
            </a:r>
            <a:r>
              <a:rPr lang="en-US" altLang="zh-TW" dirty="0"/>
              <a:t> (</a:t>
            </a:r>
            <a:r>
              <a:rPr lang="zh-TW" altLang="en-US" b="1" dirty="0" smtClean="0">
                <a:solidFill>
                  <a:srgbClr val="FF3300"/>
                </a:solidFill>
                <a:latin typeface="標楷體" pitchFamily="65" charset="-120"/>
              </a:rPr>
              <a:t>護衛效應</a:t>
            </a:r>
            <a:r>
              <a:rPr lang="en-US" altLang="zh-TW" dirty="0" smtClean="0"/>
              <a:t>): </a:t>
            </a:r>
          </a:p>
          <a:p>
            <a:pPr lvl="1" eaLnBrk="1" hangingPunct="1"/>
            <a:r>
              <a:rPr lang="en-US" altLang="zh-TW" dirty="0" smtClean="0"/>
              <a:t>Many </a:t>
            </a:r>
            <a:r>
              <a:rPr lang="en-US" altLang="zh-TW" b="1" dirty="0" smtClean="0">
                <a:solidFill>
                  <a:srgbClr val="0000FF"/>
                </a:solidFill>
              </a:rPr>
              <a:t>short</a:t>
            </a:r>
            <a:r>
              <a:rPr lang="en-US" altLang="zh-TW" dirty="0" smtClean="0"/>
              <a:t> processes wait for the one </a:t>
            </a:r>
            <a:r>
              <a:rPr lang="en-US" altLang="zh-TW" b="1" dirty="0" smtClean="0">
                <a:solidFill>
                  <a:srgbClr val="0000FF"/>
                </a:solidFill>
              </a:rPr>
              <a:t>big</a:t>
            </a:r>
            <a:r>
              <a:rPr lang="en-US" altLang="zh-TW" dirty="0" smtClean="0"/>
              <a:t> process to get off the CPU</a:t>
            </a:r>
          </a:p>
          <a:p>
            <a:pPr lvl="1" eaLnBrk="1" hangingPunct="1"/>
            <a:r>
              <a:rPr lang="en-US" altLang="zh-TW" dirty="0"/>
              <a:t>Result in bad response time</a:t>
            </a:r>
          </a:p>
          <a:p>
            <a:pPr lvl="1"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Example: consider </a:t>
            </a:r>
            <a:r>
              <a:rPr lang="en-US" altLang="en-US" dirty="0"/>
              <a:t>one CPU-bound and many I/O-bound processes</a:t>
            </a:r>
          </a:p>
          <a:p>
            <a:pPr lvl="1" eaLnBrk="1" hangingPunct="1"/>
            <a:r>
              <a:rPr lang="en-US" altLang="zh-TW" b="1" dirty="0" smtClean="0">
                <a:solidFill>
                  <a:srgbClr val="0000FF"/>
                </a:solidFill>
              </a:rPr>
              <a:t>Q1: CPU-bound</a:t>
            </a:r>
            <a:r>
              <a:rPr lang="zh-TW" altLang="en-US" b="1" dirty="0">
                <a:solidFill>
                  <a:srgbClr val="0000FF"/>
                </a:solidFill>
              </a:rPr>
              <a:t>為什麼是</a:t>
            </a:r>
            <a:r>
              <a:rPr lang="en-US" altLang="zh-TW" b="1" dirty="0">
                <a:solidFill>
                  <a:srgbClr val="0000FF"/>
                </a:solidFill>
              </a:rPr>
              <a:t>big process?</a:t>
            </a:r>
          </a:p>
          <a:p>
            <a:pPr lvl="1" eaLnBrk="1" hangingPunct="1"/>
            <a:r>
              <a:rPr lang="en-US" altLang="zh-TW" b="1" dirty="0" smtClean="0">
                <a:solidFill>
                  <a:srgbClr val="0000FF"/>
                </a:solidFill>
              </a:rPr>
              <a:t>Q2</a:t>
            </a:r>
            <a:r>
              <a:rPr lang="en-US" altLang="zh-TW" b="1" dirty="0">
                <a:solidFill>
                  <a:srgbClr val="0000FF"/>
                </a:solidFill>
              </a:rPr>
              <a:t>:  I/O-bound</a:t>
            </a:r>
            <a:r>
              <a:rPr lang="zh-TW" altLang="en-US" b="1" dirty="0">
                <a:solidFill>
                  <a:srgbClr val="0000FF"/>
                </a:solidFill>
              </a:rPr>
              <a:t>為什麼是</a:t>
            </a:r>
            <a:r>
              <a:rPr lang="en-US" altLang="zh-TW" b="1" dirty="0">
                <a:solidFill>
                  <a:srgbClr val="0000FF"/>
                </a:solidFill>
              </a:rPr>
              <a:t>short process?</a:t>
            </a:r>
            <a:endParaRPr lang="en-US" altLang="zh-TW" b="1" dirty="0" smtClean="0">
              <a:solidFill>
                <a:srgbClr val="0000FF"/>
              </a:solidFill>
            </a:endParaRPr>
          </a:p>
          <a:p>
            <a:pPr lvl="2" eaLnBrk="1" hangingPunct="1"/>
            <a:endParaRPr lang="en-US" altLang="zh-TW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93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dirty="0"/>
              <a:t>First-Come, First-Served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Shortest-Job-First Scheduling</a:t>
            </a:r>
          </a:p>
          <a:p>
            <a:pPr lvl="1" eaLnBrk="1" hangingPunct="1"/>
            <a:r>
              <a:rPr lang="en-US" altLang="zh-TW" dirty="0"/>
              <a:t>Round-Robin Scheduling</a:t>
            </a:r>
          </a:p>
          <a:p>
            <a:pPr lvl="1" eaLnBrk="1" hangingPunct="1"/>
            <a:r>
              <a:rPr lang="en-US" altLang="zh-TW" dirty="0" smtClean="0"/>
              <a:t>Priority </a:t>
            </a:r>
            <a:r>
              <a:rPr lang="en-US" altLang="zh-TW" dirty="0"/>
              <a:t>Scheduling</a:t>
            </a:r>
          </a:p>
          <a:p>
            <a:pPr lvl="1" eaLnBrk="1" hangingPunct="1"/>
            <a:r>
              <a:rPr lang="en-US" altLang="zh-TW" dirty="0" smtClean="0"/>
              <a:t>Multilevel </a:t>
            </a:r>
            <a:r>
              <a:rPr lang="en-US" altLang="zh-TW" dirty="0"/>
              <a:t>Queue Scheduling</a:t>
            </a:r>
          </a:p>
          <a:p>
            <a:pPr lvl="1" eaLnBrk="1" hangingPunct="1"/>
            <a:r>
              <a:rPr lang="en-US" altLang="zh-TW" dirty="0"/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80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如前述</a:t>
            </a:r>
            <a:r>
              <a:rPr lang="en-US" altLang="zh-TW" dirty="0" smtClean="0"/>
              <a:t>, </a:t>
            </a:r>
            <a:r>
              <a:rPr lang="zh-TW" altLang="en-US" dirty="0" smtClean="0"/>
              <a:t>先執行</a:t>
            </a:r>
            <a:r>
              <a:rPr lang="en-US" altLang="zh-TW" dirty="0" smtClean="0"/>
              <a:t>CPU </a:t>
            </a:r>
            <a:r>
              <a:rPr lang="en-US" altLang="zh-TW" dirty="0"/>
              <a:t>burst time</a:t>
            </a:r>
            <a:r>
              <a:rPr lang="zh-TW" altLang="en-US" dirty="0"/>
              <a:t>短的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應該是最好的方法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這就是</a:t>
            </a:r>
            <a:r>
              <a:rPr lang="en-US" altLang="zh-TW" dirty="0" smtClean="0"/>
              <a:t>Shortest-Job-First </a:t>
            </a:r>
            <a:r>
              <a:rPr lang="en-US" altLang="zh-TW" dirty="0"/>
              <a:t>(SJF) </a:t>
            </a:r>
            <a:r>
              <a:rPr lang="en-US" altLang="zh-TW" dirty="0" smtClean="0"/>
              <a:t>Scheduling</a:t>
            </a:r>
            <a:r>
              <a:rPr lang="zh-TW" altLang="en-US" dirty="0" smtClean="0"/>
              <a:t>的作法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22120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 smtClean="0"/>
              <a:t>Shortest-Job-First (SJF) Scheduling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The </a:t>
            </a:r>
            <a:r>
              <a:rPr lang="en-US" altLang="zh-TW" b="1" dirty="0"/>
              <a:t>smallest </a:t>
            </a:r>
            <a:r>
              <a:rPr lang="en-US" altLang="zh-TW" b="1" dirty="0">
                <a:solidFill>
                  <a:srgbClr val="FF3300"/>
                </a:solidFill>
              </a:rPr>
              <a:t>next CPU burst length</a:t>
            </a:r>
            <a:r>
              <a:rPr lang="en-US" altLang="zh-TW" b="1" dirty="0"/>
              <a:t> </a:t>
            </a:r>
            <a:r>
              <a:rPr lang="en-US" altLang="zh-TW" dirty="0"/>
              <a:t>is selected</a:t>
            </a:r>
          </a:p>
          <a:p>
            <a:pPr lvl="1" eaLnBrk="1" hangingPunct="1"/>
            <a:r>
              <a:rPr lang="en-US" altLang="zh-TW" dirty="0"/>
              <a:t>FCFS breaks a tie if the next CPU burst lengths are the same</a:t>
            </a:r>
          </a:p>
          <a:p>
            <a:pPr lvl="1" eaLnBrk="1" hangingPunct="1"/>
            <a:r>
              <a:rPr lang="en-US" altLang="zh-TW" dirty="0"/>
              <a:t>Should be named as:</a:t>
            </a:r>
            <a:r>
              <a:rPr lang="en-US" altLang="zh-TW" b="1" dirty="0"/>
              <a:t> </a:t>
            </a:r>
            <a:r>
              <a:rPr lang="en-US" altLang="zh-TW" b="1" dirty="0" smtClean="0"/>
              <a:t>shortest-</a:t>
            </a:r>
            <a:r>
              <a:rPr lang="en-US" altLang="zh-TW" b="1" dirty="0" smtClean="0">
                <a:solidFill>
                  <a:srgbClr val="FF0000"/>
                </a:solidFill>
              </a:rPr>
              <a:t>next-CPU-burst</a:t>
            </a:r>
            <a:r>
              <a:rPr lang="en-US" altLang="zh-TW" b="1" dirty="0" smtClean="0"/>
              <a:t> first </a:t>
            </a:r>
            <a:r>
              <a:rPr lang="en-US" altLang="zh-TW" b="1" dirty="0"/>
              <a:t>algorithm</a:t>
            </a:r>
          </a:p>
          <a:p>
            <a:pPr lvl="1" eaLnBrk="1" hangingPunct="1"/>
            <a:endParaRPr lang="en-US" altLang="zh-TW" dirty="0"/>
          </a:p>
          <a:p>
            <a:pPr eaLnBrk="1" hangingPunct="1"/>
            <a:r>
              <a:rPr lang="en-US" altLang="zh-TW" dirty="0" smtClean="0"/>
              <a:t>Two </a:t>
            </a:r>
            <a:r>
              <a:rPr lang="en-US" altLang="zh-TW" dirty="0"/>
              <a:t>schemes: </a:t>
            </a:r>
          </a:p>
          <a:p>
            <a:pPr lvl="1" eaLnBrk="1" hangingPunct="1"/>
            <a:r>
              <a:rPr lang="en-US" altLang="zh-TW" b="1" dirty="0" err="1">
                <a:solidFill>
                  <a:srgbClr val="FF3300"/>
                </a:solidFill>
              </a:rPr>
              <a:t>nonpreemptive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</a:t>
            </a:r>
            <a:endParaRPr lang="en-US" altLang="zh-TW" b="1" dirty="0"/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preemptive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if a new process arrives with CPU burst length less than </a:t>
            </a:r>
            <a:r>
              <a:rPr lang="en-US" altLang="zh-TW" b="1" dirty="0"/>
              <a:t>remaining time</a:t>
            </a:r>
            <a:r>
              <a:rPr lang="en-US" altLang="zh-TW" dirty="0"/>
              <a:t> of current executing process, preempt the current process. 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64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TW" altLang="en-US" sz="4000" dirty="0" smtClean="0"/>
              <a:t>複習：</a:t>
            </a:r>
            <a:r>
              <a:rPr lang="en-US" altLang="zh-TW" sz="4000" dirty="0" smtClean="0"/>
              <a:t>Alternating </a:t>
            </a:r>
            <a:r>
              <a:rPr lang="en-US" altLang="zh-TW" sz="4000" dirty="0"/>
              <a:t>Sequence of CPU And I/O Bursts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 l="30032" t="789" r="30032" b="1576"/>
          <a:stretch>
            <a:fillRect/>
          </a:stretch>
        </p:blipFill>
        <p:spPr bwMode="auto">
          <a:xfrm>
            <a:off x="2855914" y="1412875"/>
            <a:ext cx="5184775" cy="466248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8286751" y="1700214"/>
            <a:ext cx="9048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a=a+1;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b=b-1;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c=cx5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8291514" y="2636839"/>
            <a:ext cx="1031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fread()</a:t>
            </a:r>
          </a:p>
        </p:txBody>
      </p:sp>
      <p:sp>
        <p:nvSpPr>
          <p:cNvPr id="9222" name="Text Box 8"/>
          <p:cNvSpPr txBox="1">
            <a:spLocks noChangeArrowheads="1"/>
          </p:cNvSpPr>
          <p:nvPr/>
        </p:nvSpPr>
        <p:spPr bwMode="auto">
          <a:xfrm>
            <a:off x="8328026" y="3068638"/>
            <a:ext cx="8672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x=x+1;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y=bx3;</a:t>
            </a:r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8328026" y="3716339"/>
            <a:ext cx="11167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fwrite()</a:t>
            </a:r>
          </a:p>
        </p:txBody>
      </p:sp>
      <p:sp>
        <p:nvSpPr>
          <p:cNvPr id="9224" name="Text Box 10"/>
          <p:cNvSpPr txBox="1">
            <a:spLocks noChangeArrowheads="1"/>
          </p:cNvSpPr>
          <p:nvPr/>
        </p:nvSpPr>
        <p:spPr bwMode="auto">
          <a:xfrm>
            <a:off x="8328025" y="4149726"/>
            <a:ext cx="8778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b=ax1;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b=a-1;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c=dxa</a:t>
            </a:r>
          </a:p>
        </p:txBody>
      </p:sp>
      <p:sp>
        <p:nvSpPr>
          <p:cNvPr id="9225" name="Text Box 11"/>
          <p:cNvSpPr txBox="1">
            <a:spLocks noChangeArrowheads="1"/>
          </p:cNvSpPr>
          <p:nvPr/>
        </p:nvSpPr>
        <p:spPr bwMode="auto">
          <a:xfrm>
            <a:off x="8328026" y="5157789"/>
            <a:ext cx="1031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fread()</a:t>
            </a:r>
          </a:p>
        </p:txBody>
      </p:sp>
      <p:sp>
        <p:nvSpPr>
          <p:cNvPr id="9226" name="Text Box 15"/>
          <p:cNvSpPr txBox="1">
            <a:spLocks noChangeArrowheads="1"/>
          </p:cNvSpPr>
          <p:nvPr/>
        </p:nvSpPr>
        <p:spPr bwMode="auto">
          <a:xfrm>
            <a:off x="8252223" y="1412876"/>
            <a:ext cx="615553" cy="34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…</a:t>
            </a:r>
          </a:p>
        </p:txBody>
      </p:sp>
      <p:sp>
        <p:nvSpPr>
          <p:cNvPr id="9227" name="Text Box 16"/>
          <p:cNvSpPr txBox="1">
            <a:spLocks noChangeArrowheads="1"/>
          </p:cNvSpPr>
          <p:nvPr/>
        </p:nvSpPr>
        <p:spPr bwMode="auto">
          <a:xfrm>
            <a:off x="8323661" y="5661026"/>
            <a:ext cx="615553" cy="34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…</a:t>
            </a:r>
          </a:p>
        </p:txBody>
      </p:sp>
      <p:cxnSp>
        <p:nvCxnSpPr>
          <p:cNvPr id="13" name="直線單箭頭接點 12"/>
          <p:cNvCxnSpPr/>
          <p:nvPr/>
        </p:nvCxnSpPr>
        <p:spPr>
          <a:xfrm flipH="1">
            <a:off x="9323335" y="304853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10010373" y="280926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t</a:t>
            </a:r>
            <a:endParaRPr lang="zh-TW" altLang="en-US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右大括弧 1"/>
          <p:cNvSpPr/>
          <p:nvPr/>
        </p:nvSpPr>
        <p:spPr>
          <a:xfrm>
            <a:off x="9239154" y="3210719"/>
            <a:ext cx="424872" cy="423724"/>
          </a:xfrm>
          <a:prstGeom prst="rightBrace">
            <a:avLst/>
          </a:prstGeom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9933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664026" y="3219242"/>
            <a:ext cx="23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1" dirty="0">
                <a:solidFill>
                  <a:srgbClr val="FF9933"/>
                </a:solidFill>
                <a:latin typeface="Calibri" panose="020F0502020204030204" pitchFamily="34" charset="0"/>
              </a:rPr>
              <a:t>next CPU burst length </a:t>
            </a:r>
            <a:endParaRPr lang="zh-TW" altLang="en-US" b="1" i="1" dirty="0">
              <a:solidFill>
                <a:srgbClr val="FF9933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03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Example of Non-Preemptive SJF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0539" y="1143000"/>
            <a:ext cx="8774111" cy="5353049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8724900" y="5753100"/>
            <a:ext cx="139700" cy="38100"/>
            <a:chOff x="4536" y="3624"/>
            <a:chExt cx="88" cy="24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4536" y="3624"/>
              <a:ext cx="88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4536" y="3648"/>
              <a:ext cx="88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33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Example of Preemptive SJF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8114" y="1219200"/>
            <a:ext cx="9412286" cy="490855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7937500" y="5664200"/>
            <a:ext cx="139700" cy="38100"/>
            <a:chOff x="4536" y="3624"/>
            <a:chExt cx="88" cy="24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4536" y="3624"/>
              <a:ext cx="88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4536" y="3648"/>
              <a:ext cx="88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1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Shortest-Job-First (SJF) Scheduling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SJF is optimal </a:t>
            </a:r>
            <a:r>
              <a:rPr lang="en-US" altLang="zh-TW" sz="3600" dirty="0" smtClean="0">
                <a:latin typeface="Helvetica" pitchFamily="34" charset="0"/>
              </a:rPr>
              <a:t>–</a:t>
            </a:r>
            <a:r>
              <a:rPr lang="en-US" altLang="zh-TW" sz="3600" dirty="0" smtClean="0"/>
              <a:t> derives </a:t>
            </a:r>
            <a:r>
              <a:rPr lang="en-US" altLang="zh-TW" sz="3600" i="1" dirty="0" smtClean="0">
                <a:solidFill>
                  <a:srgbClr val="FF3300"/>
                </a:solidFill>
              </a:rPr>
              <a:t>minimum average waiting time</a:t>
            </a:r>
            <a:r>
              <a:rPr lang="en-US" altLang="zh-TW" sz="3600" dirty="0" smtClean="0"/>
              <a:t> for a given set of processes</a:t>
            </a:r>
          </a:p>
          <a:p>
            <a:pPr eaLnBrk="1" hangingPunct="1"/>
            <a:endParaRPr lang="en-US" altLang="zh-TW" sz="3600" dirty="0" smtClean="0"/>
          </a:p>
          <a:p>
            <a:pPr eaLnBrk="1" hangingPunct="1"/>
            <a:r>
              <a:rPr lang="en-US" altLang="zh-TW" sz="3600" dirty="0" smtClean="0"/>
              <a:t>Q: </a:t>
            </a:r>
            <a:r>
              <a:rPr lang="zh-TW" altLang="en-US" sz="3600" dirty="0" smtClean="0"/>
              <a:t>然而</a:t>
            </a:r>
            <a:r>
              <a:rPr lang="en-US" altLang="zh-TW" sz="3600" dirty="0" smtClean="0"/>
              <a:t>SJF</a:t>
            </a:r>
            <a:r>
              <a:rPr lang="zh-TW" altLang="en-US" sz="3600" dirty="0" smtClean="0"/>
              <a:t>很難實現</a:t>
            </a:r>
            <a:r>
              <a:rPr lang="en-US" altLang="zh-TW" sz="3600" dirty="0" smtClean="0"/>
              <a:t>, Why?</a:t>
            </a:r>
          </a:p>
          <a:p>
            <a:pPr lvl="1" eaLnBrk="1" hangingPunct="1"/>
            <a:r>
              <a:rPr lang="en-US" altLang="zh-TW" sz="3200" dirty="0" smtClean="0"/>
              <a:t>Not </a:t>
            </a:r>
            <a:r>
              <a:rPr lang="en-US" altLang="zh-TW" sz="3200" dirty="0"/>
              <a:t>easy to know the length of the next CPU burst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zh-TW" altLang="en-US" sz="3200" dirty="0"/>
              <a:t>怎麼辦</a:t>
            </a:r>
            <a:r>
              <a:rPr lang="zh-TW" altLang="en-US" sz="3200" dirty="0" smtClean="0"/>
              <a:t>呢</a:t>
            </a:r>
            <a:r>
              <a:rPr lang="en-US" altLang="zh-TW" sz="3200" dirty="0" smtClean="0"/>
              <a:t>?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Sol.: Predict(</a:t>
            </a:r>
            <a:r>
              <a:rPr lang="zh-TW" altLang="en-US" dirty="0" smtClean="0"/>
              <a:t>猜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b="1" dirty="0">
                <a:solidFill>
                  <a:srgbClr val="FF0000"/>
                </a:solidFill>
              </a:rPr>
              <a:t>怎麼猜</a:t>
            </a:r>
            <a:r>
              <a:rPr lang="zh-TW" altLang="en-US" b="1" dirty="0" smtClean="0">
                <a:solidFill>
                  <a:srgbClr val="FF0000"/>
                </a:solidFill>
              </a:rPr>
              <a:t>呢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5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TW" altLang="en-US" b="1" dirty="0" smtClean="0"/>
                  <a:t>基本方法</a:t>
                </a:r>
                <a:r>
                  <a:rPr lang="en-US" altLang="zh-TW" b="1" dirty="0" smtClean="0"/>
                  <a:t>:</a:t>
                </a:r>
                <a:r>
                  <a:rPr lang="zh-TW" altLang="en-US" b="1" dirty="0" smtClean="0"/>
                  <a:t> </a:t>
                </a:r>
                <a:r>
                  <a:rPr lang="zh-TW" altLang="en-US" b="1" dirty="0"/>
                  <a:t>由</a:t>
                </a:r>
                <a:r>
                  <a:rPr lang="zh-TW" altLang="en-US" b="1" dirty="0" smtClean="0"/>
                  <a:t>過去推未來</a:t>
                </a:r>
                <a:endParaRPr lang="en-US" altLang="zh-TW" b="1" dirty="0" smtClean="0"/>
              </a:p>
              <a:p>
                <a:pPr eaLnBrk="1" hangingPunct="1"/>
                <a:endParaRPr lang="en-US" altLang="zh-TW" dirty="0" smtClean="0"/>
              </a:p>
              <a:p>
                <a:pPr eaLnBrk="1" hangingPunct="1"/>
                <a:r>
                  <a:rPr lang="zh-TW" altLang="en-US" dirty="0" smtClean="0"/>
                  <a:t>假設前</a:t>
                </a:r>
                <a:r>
                  <a:rPr lang="zh-TW" altLang="en-US" dirty="0"/>
                  <a:t>四</a:t>
                </a:r>
                <a:r>
                  <a:rPr lang="zh-TW" altLang="en-US" dirty="0" smtClean="0"/>
                  <a:t>個</a:t>
                </a:r>
                <a:r>
                  <a:rPr lang="en-US" altLang="zh-TW" dirty="0" smtClean="0"/>
                  <a:t>CPU burst </a:t>
                </a:r>
                <a:r>
                  <a:rPr lang="zh-TW" altLang="en-US" dirty="0" smtClean="0"/>
                  <a:t>長度是</a:t>
                </a:r>
                <a:r>
                  <a:rPr lang="en-US" altLang="zh-TW" dirty="0" smtClean="0"/>
                  <a:t>: 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=1, 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=2, t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=1, t</a:t>
                </a:r>
                <a:r>
                  <a:rPr lang="en-US" altLang="zh-TW" baseline="-25000" dirty="0" smtClean="0"/>
                  <a:t>4</a:t>
                </a:r>
                <a:r>
                  <a:rPr lang="en-US" altLang="zh-TW" dirty="0" smtClean="0"/>
                  <a:t>=9, </a:t>
                </a:r>
              </a:p>
              <a:p>
                <a:pPr eaLnBrk="1" hangingPunct="1"/>
                <a:endParaRPr lang="en-US" altLang="zh-TW" dirty="0" smtClean="0"/>
              </a:p>
              <a:p>
                <a:pPr eaLnBrk="1" hangingPunct="1"/>
                <a:r>
                  <a:rPr lang="zh-TW" altLang="en-US" dirty="0" smtClean="0"/>
                  <a:t>我們要</a:t>
                </a:r>
                <a:r>
                  <a:rPr lang="zh-TW" altLang="en-US" dirty="0"/>
                  <a:t>猜</a:t>
                </a:r>
                <a:r>
                  <a:rPr lang="zh-TW" altLang="en-US" dirty="0" smtClean="0"/>
                  <a:t>第五</a:t>
                </a:r>
                <a:r>
                  <a:rPr lang="zh-TW" altLang="en-US" dirty="0"/>
                  <a:t>個</a:t>
                </a:r>
                <a:r>
                  <a:rPr lang="en-US" altLang="zh-TW" dirty="0" smtClean="0"/>
                  <a:t>CPU burst</a:t>
                </a:r>
                <a:r>
                  <a:rPr lang="zh-TW" altLang="en-US" dirty="0" smtClean="0"/>
                  <a:t>長度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b="0" i="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dirty="0" smtClean="0"/>
                  <a:t>=?</a:t>
                </a:r>
              </a:p>
              <a:p>
                <a:pPr marL="457200" lvl="1" indent="0" eaLnBrk="1" hangingPunct="1">
                  <a:buNone/>
                </a:pPr>
                <a:endParaRPr lang="en-US" altLang="zh-TW" dirty="0" smtClean="0"/>
              </a:p>
              <a:p>
                <a:pPr marL="457200" lvl="1" indent="0" eaLnBrk="1" hangingPunct="1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1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zh-TW" altLang="en-US" sz="3600" dirty="0" smtClean="0"/>
                  <a:t>第一個猜法</a:t>
                </a:r>
                <a:r>
                  <a:rPr lang="en-US" altLang="zh-TW" sz="3600" dirty="0" smtClean="0"/>
                  <a:t>:</a:t>
                </a:r>
                <a14:m>
                  <m:oMath xmlns:m="http://schemas.openxmlformats.org/officeDocument/2006/math">
                    <m:r>
                      <a:rPr lang="zh-TW" altLang="en-US" sz="3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36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sz="3600" dirty="0" smtClean="0"/>
                  <a:t>=</a:t>
                </a:r>
                <a:r>
                  <a:rPr lang="zh-TW" altLang="en-US" sz="3600" dirty="0" smtClean="0"/>
                  <a:t> </a:t>
                </a:r>
                <a:r>
                  <a:rPr lang="en-US" altLang="zh-TW" sz="3600" dirty="0" smtClean="0"/>
                  <a:t>t</a:t>
                </a:r>
                <a:r>
                  <a:rPr lang="en-US" altLang="zh-TW" sz="3600" baseline="-25000" dirty="0" smtClean="0"/>
                  <a:t>4</a:t>
                </a:r>
              </a:p>
              <a:p>
                <a:pPr lvl="1" eaLnBrk="1" hangingPunct="1"/>
                <a:r>
                  <a:rPr lang="zh-TW" altLang="en-US" sz="3200" dirty="0" smtClean="0"/>
                  <a:t>只看前一個</a:t>
                </a:r>
                <a:r>
                  <a:rPr lang="zh-TW" altLang="en-US" sz="3200" dirty="0"/>
                  <a:t>的</a:t>
                </a:r>
                <a:r>
                  <a:rPr lang="zh-TW" altLang="en-US" sz="3200" dirty="0" smtClean="0"/>
                  <a:t>長度</a:t>
                </a:r>
                <a:endParaRPr lang="en-US" altLang="zh-TW" sz="3200" dirty="0" smtClean="0"/>
              </a:p>
              <a:p>
                <a:pPr lvl="1" eaLnBrk="1" hangingPunct="1"/>
                <a:endParaRPr lang="en-US" altLang="zh-TW" sz="3200" dirty="0" smtClean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endParaRPr>
              </a:p>
              <a:p>
                <a:pPr lvl="1" eaLnBrk="1" hangingPunct="1"/>
                <a:r>
                  <a:rPr lang="zh-TW" altLang="en-US" sz="3200" dirty="0" smtClean="0"/>
                  <a:t>有什麼缺點</a:t>
                </a:r>
                <a:r>
                  <a:rPr lang="en-US" altLang="zh-TW" sz="3200" dirty="0" smtClean="0"/>
                  <a:t>?</a:t>
                </a:r>
                <a:endParaRPr lang="en-US" altLang="zh-TW" sz="3200" dirty="0"/>
              </a:p>
              <a:p>
                <a:pPr lvl="1" eaLnBrk="1" hangingPunct="1"/>
                <a:endParaRPr lang="en-US" altLang="zh-TW" sz="3200" dirty="0"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endParaRPr>
              </a:p>
              <a:p>
                <a:pPr lvl="1" eaLnBrk="1" hangingPunct="1"/>
                <a:r>
                  <a:rPr lang="zh-TW" altLang="en-US" sz="3200" dirty="0" smtClean="0"/>
                  <a:t>缺點</a:t>
                </a:r>
                <a:r>
                  <a:rPr lang="en-US" altLang="zh-TW" sz="3200" dirty="0" smtClean="0"/>
                  <a:t>: </a:t>
                </a:r>
                <a:r>
                  <a:rPr lang="zh-TW" altLang="en-US" sz="3200" dirty="0" smtClean="0"/>
                  <a:t>這個猜法不好</a:t>
                </a:r>
                <a:r>
                  <a:rPr lang="en-US" altLang="zh-TW" sz="3200" dirty="0" smtClean="0"/>
                  <a:t>, </a:t>
                </a:r>
                <a:r>
                  <a:rPr lang="zh-TW" altLang="en-US" sz="3200" dirty="0" smtClean="0"/>
                  <a:t>只看前一個容易偏頗</a:t>
                </a:r>
                <a:r>
                  <a:rPr lang="en-US" altLang="zh-TW" sz="3200" dirty="0" smtClean="0"/>
                  <a:t>(</a:t>
                </a:r>
                <a:r>
                  <a:rPr lang="zh-TW" altLang="en-US" sz="3200" dirty="0" smtClean="0"/>
                  <a:t>例如</a:t>
                </a:r>
                <a:r>
                  <a:rPr lang="en-US" altLang="zh-TW" sz="3200" dirty="0" smtClean="0"/>
                  <a:t>t</a:t>
                </a:r>
                <a:r>
                  <a:rPr lang="en-US" altLang="zh-TW" sz="3200" baseline="-25000" dirty="0" smtClean="0"/>
                  <a:t>4</a:t>
                </a:r>
                <a:r>
                  <a:rPr lang="zh-TW" altLang="en-US" sz="3200" dirty="0" smtClean="0"/>
                  <a:t>是特殊情形</a:t>
                </a:r>
                <a:r>
                  <a:rPr lang="en-US" altLang="zh-TW" sz="3200" dirty="0" smtClean="0"/>
                  <a:t>)</a:t>
                </a:r>
              </a:p>
              <a:p>
                <a:pPr marL="457200" lvl="1" indent="0" eaLnBrk="1" hangingPunct="1">
                  <a:buNone/>
                </a:pPr>
                <a:endParaRPr lang="en-US" altLang="zh-TW" sz="3200" baseline="-25000" dirty="0" smtClean="0"/>
              </a:p>
              <a:p>
                <a:pPr marL="457200" lvl="1" indent="0" eaLnBrk="1" hangingPunct="1">
                  <a:buNone/>
                </a:pPr>
                <a:endParaRPr lang="zh-TW" altLang="en-US" sz="3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22" t="-21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44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zh-TW" altLang="en-US" dirty="0" smtClean="0"/>
                  <a:t>第二個</a:t>
                </a:r>
                <a:r>
                  <a:rPr lang="zh-TW" altLang="en-US" dirty="0"/>
                  <a:t>猜法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取平均</m:t>
                    </m:r>
                    <m:d>
                      <m:dPr>
                        <m:ctrlPr>
                          <a:rPr lang="en-US" altLang="zh-TW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𝑎𝑣𝑒𝑟𝑎𝑔𝑒</m:t>
                        </m:r>
                      </m:e>
                    </m:d>
                  </m:oMath>
                </a14:m>
                <a:endParaRPr lang="en-US" altLang="zh-TW" b="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 smtClean="0"/>
                  <a:t>(t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+ t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+ t</a:t>
                </a:r>
                <a:r>
                  <a:rPr lang="en-US" altLang="zh-TW" baseline="-25000" dirty="0" smtClean="0"/>
                  <a:t>4</a:t>
                </a:r>
                <a:r>
                  <a:rPr lang="en-US" altLang="zh-TW" dirty="0" smtClean="0"/>
                  <a:t>)/4=1/4xt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+1/4xt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+1/4xt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+1/4xt</a:t>
                </a:r>
                <a:r>
                  <a:rPr lang="en-US" altLang="zh-TW" baseline="-25000" dirty="0" smtClean="0"/>
                  <a:t>4</a:t>
                </a:r>
                <a:endParaRPr lang="en-US" altLang="zh-TW" baseline="-25000" dirty="0"/>
              </a:p>
              <a:p>
                <a:pPr lvl="1" eaLnBrk="1" hangingPunct="1"/>
                <a:endParaRPr lang="en-US" altLang="zh-TW" dirty="0" smtClean="0"/>
              </a:p>
              <a:p>
                <a:pPr lvl="1" eaLnBrk="1" hangingPunct="1"/>
                <a:r>
                  <a:rPr lang="zh-TW" altLang="en-US" dirty="0" smtClean="0"/>
                  <a:t>看之前所有的</a:t>
                </a:r>
                <a:r>
                  <a:rPr lang="zh-TW" altLang="en-US" dirty="0"/>
                  <a:t>長度</a:t>
                </a:r>
                <a:r>
                  <a:rPr lang="zh-TW" altLang="en-US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⇨</a:t>
                </a:r>
                <a:r>
                  <a:rPr lang="zh-TW" altLang="en-US" dirty="0" smtClean="0"/>
                  <a:t>比前一個好</a:t>
                </a:r>
                <a:endParaRPr lang="en-US" altLang="zh-TW" dirty="0" smtClean="0"/>
              </a:p>
              <a:p>
                <a:pPr lvl="1" eaLnBrk="1" hangingPunct="1"/>
                <a:endParaRPr lang="en-US" altLang="zh-TW" dirty="0" smtClean="0"/>
              </a:p>
              <a:p>
                <a:pPr lvl="1" eaLnBrk="1" hangingPunct="1"/>
                <a:r>
                  <a:rPr lang="zh-TW" altLang="en-US" dirty="0"/>
                  <a:t>有什麼缺點</a:t>
                </a:r>
                <a:r>
                  <a:rPr lang="en-US" altLang="zh-TW" dirty="0"/>
                  <a:t>?</a:t>
                </a:r>
              </a:p>
              <a:p>
                <a:pPr lvl="1" eaLnBrk="1" hangingPunct="1"/>
                <a:endParaRPr lang="en-US" altLang="zh-TW" dirty="0" smtClean="0"/>
              </a:p>
              <a:p>
                <a:pPr lvl="1" eaLnBrk="1" hangingPunct="1"/>
                <a:r>
                  <a:rPr lang="zh-TW" altLang="en-US" dirty="0" smtClean="0"/>
                  <a:t>缺點</a:t>
                </a:r>
                <a:r>
                  <a:rPr lang="en-US" altLang="zh-TW" dirty="0" smtClean="0"/>
                  <a:t>:</a:t>
                </a:r>
                <a:r>
                  <a:rPr lang="zh-TW" altLang="en-US" dirty="0"/>
                  <a:t>之前</a:t>
                </a:r>
                <a:r>
                  <a:rPr lang="zh-TW" altLang="en-US" dirty="0" smtClean="0"/>
                  <a:t>每一個長度的權重都相同</a:t>
                </a:r>
                <a:r>
                  <a:rPr lang="zh-TW" altLang="en-US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⇨</a:t>
                </a:r>
                <a:r>
                  <a:rPr lang="zh-TW" altLang="en-US" dirty="0">
                    <a:cs typeface="Arial Unicode MS" panose="020B0604020202020204" pitchFamily="34" charset="-120"/>
                  </a:rPr>
                  <a:t>不合理</a:t>
                </a:r>
                <a:endParaRPr lang="en-US" altLang="zh-TW" dirty="0"/>
              </a:p>
              <a:p>
                <a:pPr marL="457200" lvl="1" indent="0" eaLnBrk="1" hangingPunct="1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1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49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20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zh-TW" altLang="en-US" dirty="0" smtClean="0"/>
                  <a:t>第三個</a:t>
                </a:r>
                <a:r>
                  <a:rPr lang="zh-TW" altLang="en-US" dirty="0"/>
                  <a:t>猜法</a:t>
                </a:r>
                <a:r>
                  <a:rPr lang="en-US" altLang="zh-TW" dirty="0"/>
                  <a:t>:</a:t>
                </a:r>
                <a:endParaRPr lang="en-US" altLang="zh-TW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0.8x0.2x0.2x0.2xt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+0.8x0.2x0.2xt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+0.8x0.2xt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+0.8xt</a:t>
                </a:r>
                <a:r>
                  <a:rPr lang="en-US" altLang="zh-TW" baseline="-25000" dirty="0" smtClean="0"/>
                  <a:t>4</a:t>
                </a:r>
              </a:p>
              <a:p>
                <a:pPr marL="0" indent="0" eaLnBrk="1" hangingPunct="1">
                  <a:buNone/>
                </a:pPr>
                <a:r>
                  <a:rPr lang="en-US" altLang="zh-TW" dirty="0" smtClean="0"/>
                  <a:t>	  = 0.8x0.2^3xt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+0.8x0.2^2xt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+0.8x0.2^1xt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+0.8xt</a:t>
                </a:r>
                <a:r>
                  <a:rPr lang="en-US" altLang="zh-TW" baseline="-25000" dirty="0" smtClean="0"/>
                  <a:t>4</a:t>
                </a:r>
                <a:endParaRPr lang="en-US" altLang="zh-TW" baseline="-25000" dirty="0"/>
              </a:p>
              <a:p>
                <a:pPr eaLnBrk="1" hangingPunct="1"/>
                <a:endParaRPr lang="en-US" altLang="zh-TW" baseline="-25000" dirty="0" smtClean="0"/>
              </a:p>
              <a:p>
                <a:pPr lvl="1" eaLnBrk="1" hangingPunct="1"/>
                <a:r>
                  <a:rPr lang="zh-TW" altLang="en-US" dirty="0" smtClean="0"/>
                  <a:t>看之前所有的</a:t>
                </a:r>
                <a:r>
                  <a:rPr lang="zh-TW" altLang="en-US" dirty="0"/>
                  <a:t>長度</a:t>
                </a:r>
                <a:r>
                  <a:rPr lang="zh-TW" altLang="en-US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⇨</a:t>
                </a:r>
                <a:r>
                  <a:rPr lang="en-US" altLang="zh-TW" dirty="0" smtClean="0"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GOOD</a:t>
                </a:r>
                <a:r>
                  <a:rPr lang="en-US" altLang="zh-TW" dirty="0" smtClean="0"/>
                  <a:t>!</a:t>
                </a:r>
              </a:p>
              <a:p>
                <a:pPr lvl="1" eaLnBrk="1" hangingPunct="1"/>
                <a:endParaRPr lang="en-US" altLang="zh-TW" dirty="0" smtClean="0"/>
              </a:p>
              <a:p>
                <a:pPr lvl="1" eaLnBrk="1" hangingPunct="1"/>
                <a:r>
                  <a:rPr lang="zh-TW" altLang="en-US" dirty="0" smtClean="0"/>
                  <a:t>每一個之前的長度的權重不同</a:t>
                </a:r>
                <a:endParaRPr lang="en-US" altLang="zh-TW" dirty="0" smtClean="0"/>
              </a:p>
              <a:p>
                <a:pPr lvl="2" eaLnBrk="1" hangingPunct="1"/>
                <a:r>
                  <a:rPr lang="zh-TW" altLang="en-US" dirty="0"/>
                  <a:t>越</a:t>
                </a:r>
                <a:r>
                  <a:rPr lang="zh-TW" altLang="en-US" dirty="0" smtClean="0"/>
                  <a:t>靠近當下</a:t>
                </a:r>
                <a:r>
                  <a:rPr lang="en-US" altLang="zh-TW" dirty="0" smtClean="0"/>
                  <a:t>(t</a:t>
                </a:r>
                <a:r>
                  <a:rPr lang="en-US" altLang="zh-TW" baseline="-25000" dirty="0" smtClean="0"/>
                  <a:t>5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的權重愈高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例如</a:t>
                </a:r>
                <a:r>
                  <a:rPr lang="en-US" altLang="zh-TW" dirty="0" smtClean="0"/>
                  <a:t>t</a:t>
                </a:r>
                <a:r>
                  <a:rPr lang="en-US" altLang="zh-TW" baseline="-25000" dirty="0" smtClean="0"/>
                  <a:t>4</a:t>
                </a:r>
                <a:r>
                  <a:rPr lang="zh-TW" altLang="en-US" dirty="0" smtClean="0"/>
                  <a:t>的</a:t>
                </a:r>
                <a:r>
                  <a:rPr lang="zh-TW" altLang="en-US" dirty="0"/>
                  <a:t>權</a:t>
                </a:r>
                <a:r>
                  <a:rPr lang="zh-TW" altLang="en-US" dirty="0" smtClean="0"/>
                  <a:t>重是</a:t>
                </a:r>
                <a:r>
                  <a:rPr lang="en-US" altLang="zh-TW" dirty="0" smtClean="0"/>
                  <a:t>0.8</a:t>
                </a:r>
              </a:p>
              <a:p>
                <a:pPr lvl="2" eaLnBrk="1" hangingPunct="1"/>
                <a:r>
                  <a:rPr lang="zh-TW" altLang="en-US" dirty="0" smtClean="0"/>
                  <a:t>越遠離當下</a:t>
                </a:r>
                <a:r>
                  <a:rPr lang="en-US" altLang="zh-TW" dirty="0"/>
                  <a:t>(t</a:t>
                </a:r>
                <a:r>
                  <a:rPr lang="en-US" altLang="zh-TW" baseline="-25000" dirty="0"/>
                  <a:t>5</a:t>
                </a:r>
                <a:r>
                  <a:rPr lang="en-US" altLang="zh-TW" dirty="0"/>
                  <a:t>)</a:t>
                </a:r>
                <a:r>
                  <a:rPr lang="zh-TW" altLang="en-US" dirty="0" smtClean="0"/>
                  <a:t>的</a:t>
                </a:r>
                <a:r>
                  <a:rPr lang="zh-TW" altLang="en-US" dirty="0"/>
                  <a:t>權重</a:t>
                </a:r>
                <a:r>
                  <a:rPr lang="zh-TW" altLang="en-US" dirty="0" smtClean="0"/>
                  <a:t>愈低</a:t>
                </a:r>
                <a:r>
                  <a:rPr lang="en-US" altLang="zh-TW" dirty="0" smtClean="0"/>
                  <a:t>, </a:t>
                </a:r>
                <a:r>
                  <a:rPr lang="zh-TW" altLang="en-US" dirty="0"/>
                  <a:t>例如</a:t>
                </a:r>
                <a:r>
                  <a:rPr lang="en-US" altLang="zh-TW" dirty="0" smtClean="0"/>
                  <a:t>t</a:t>
                </a:r>
                <a:r>
                  <a:rPr lang="en-US" altLang="zh-TW" baseline="-25000" dirty="0" smtClean="0"/>
                  <a:t>1</a:t>
                </a:r>
                <a:r>
                  <a:rPr lang="zh-TW" altLang="en-US" dirty="0" smtClean="0"/>
                  <a:t>的</a:t>
                </a:r>
                <a:r>
                  <a:rPr lang="zh-TW" altLang="en-US" dirty="0"/>
                  <a:t>權重是</a:t>
                </a:r>
                <a:r>
                  <a:rPr lang="en-US" altLang="zh-TW" dirty="0" smtClean="0"/>
                  <a:t>0.8x0.2^3</a:t>
                </a:r>
                <a:endParaRPr lang="en-US" altLang="zh-TW" dirty="0"/>
              </a:p>
              <a:p>
                <a:pPr lvl="2" eaLnBrk="1" hangingPunct="1"/>
                <a:endParaRPr lang="en-US" altLang="zh-TW" dirty="0"/>
              </a:p>
              <a:p>
                <a:pPr lvl="2" eaLnBrk="1" hangingPunct="1"/>
                <a:endParaRPr lang="en-US" altLang="zh-TW" baseline="-25000" dirty="0"/>
              </a:p>
              <a:p>
                <a:pPr lvl="2" eaLnBrk="1" hangingPunct="1"/>
                <a:endParaRPr lang="en-US" altLang="zh-TW" dirty="0"/>
              </a:p>
              <a:p>
                <a:pPr marL="457200" lvl="1" indent="0" eaLnBrk="1" hangingPunct="1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1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52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dirty="0" smtClean="0"/>
              <a:t>第三個</a:t>
            </a:r>
            <a:r>
              <a:rPr lang="zh-TW" altLang="en-US" dirty="0"/>
              <a:t>方法</a:t>
            </a:r>
            <a:r>
              <a:rPr lang="zh-TW" altLang="en-US" dirty="0" smtClean="0"/>
              <a:t>稱為</a:t>
            </a:r>
            <a:r>
              <a:rPr lang="en-US" altLang="zh-TW" b="1" dirty="0" smtClean="0">
                <a:solidFill>
                  <a:srgbClr val="FF0000"/>
                </a:solidFill>
              </a:rPr>
              <a:t>exponential(</a:t>
            </a:r>
            <a:r>
              <a:rPr lang="zh-TW" altLang="en-US" b="1" dirty="0" smtClean="0">
                <a:solidFill>
                  <a:srgbClr val="FF0000"/>
                </a:solidFill>
              </a:rPr>
              <a:t>指數</a:t>
            </a:r>
            <a:r>
              <a:rPr lang="en-US" altLang="zh-TW" b="1" dirty="0" smtClean="0">
                <a:solidFill>
                  <a:srgbClr val="FF0000"/>
                </a:solidFill>
              </a:rPr>
              <a:t>) average</a:t>
            </a:r>
          </a:p>
          <a:p>
            <a:pPr eaLnBrk="1" hangingPunct="1"/>
            <a:endParaRPr lang="en-US" altLang="zh-TW" baseline="-25000" dirty="0" smtClean="0"/>
          </a:p>
          <a:p>
            <a:pPr lvl="1" eaLnBrk="1" hangingPunct="1"/>
            <a:r>
              <a:rPr lang="zh-TW" altLang="en-US" dirty="0" smtClean="0"/>
              <a:t>也是取平均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但每一個的權重不同</a:t>
            </a:r>
            <a:r>
              <a:rPr lang="en-US" altLang="zh-TW" dirty="0" smtClean="0"/>
              <a:t>, </a:t>
            </a:r>
            <a:r>
              <a:rPr lang="zh-TW" altLang="en-US" dirty="0" smtClean="0"/>
              <a:t>按照</a:t>
            </a:r>
            <a:r>
              <a:rPr lang="en-US" altLang="zh-TW" dirty="0" smtClean="0"/>
              <a:t>exponential</a:t>
            </a:r>
            <a:r>
              <a:rPr lang="zh-TW" altLang="en-US" dirty="0" smtClean="0"/>
              <a:t>遞減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zh-TW" altLang="en-US" b="1" dirty="0" smtClean="0"/>
              <a:t>這是很</a:t>
            </a:r>
            <a:r>
              <a:rPr lang="zh-TW" altLang="en-US" b="1" dirty="0"/>
              <a:t>常見的</a:t>
            </a:r>
            <a:r>
              <a:rPr lang="zh-TW" altLang="en-US" b="1" dirty="0" smtClean="0"/>
              <a:t>方法</a:t>
            </a:r>
            <a:r>
              <a:rPr lang="en-US" altLang="zh-TW" b="1" dirty="0" smtClean="0"/>
              <a:t>~</a:t>
            </a:r>
            <a:endParaRPr lang="en-US" altLang="zh-TW" b="1" dirty="0"/>
          </a:p>
          <a:p>
            <a:pPr lvl="2" eaLnBrk="1" hangingPunct="1"/>
            <a:endParaRPr lang="en-US" altLang="zh-TW" baseline="-25000" dirty="0"/>
          </a:p>
          <a:p>
            <a:pPr lvl="2" eaLnBrk="1" hangingPunct="1"/>
            <a:endParaRPr lang="en-US" altLang="zh-TW" dirty="0"/>
          </a:p>
          <a:p>
            <a:pPr marL="457200" lvl="1" indent="0" eaLnBrk="1" hangingPunct="1">
              <a:buNone/>
            </a:pP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08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Predicting Length of Next CPU Burst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/>
              <a:t>Predict </a:t>
            </a:r>
            <a:r>
              <a:rPr lang="en-US" altLang="zh-TW" b="1" dirty="0" smtClean="0"/>
              <a:t>method by </a:t>
            </a:r>
            <a:r>
              <a:rPr lang="en-US" altLang="zh-TW" b="1" dirty="0" smtClean="0">
                <a:solidFill>
                  <a:srgbClr val="FF0000"/>
                </a:solidFill>
              </a:rPr>
              <a:t>exponential averaging</a:t>
            </a:r>
            <a:endParaRPr lang="en-US" altLang="zh-TW" b="1" dirty="0">
              <a:solidFill>
                <a:srgbClr val="FF0000"/>
              </a:solidFill>
            </a:endParaRPr>
          </a:p>
          <a:p>
            <a:pPr eaLnBrk="1" hangingPunct="1"/>
            <a:r>
              <a:rPr lang="zh-TW" altLang="en-US" dirty="0"/>
              <a:t>正式</a:t>
            </a:r>
            <a:r>
              <a:rPr lang="zh-TW" altLang="en-US" dirty="0" smtClean="0"/>
              <a:t>定義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561522"/>
              </p:ext>
            </p:extLst>
          </p:nvPr>
        </p:nvGraphicFramePr>
        <p:xfrm>
          <a:off x="914399" y="2714625"/>
          <a:ext cx="10296525" cy="2678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3" imgW="6400800" imgH="1778000" progId="Equation.3">
                  <p:embed/>
                </p:oleObj>
              </mc:Choice>
              <mc:Fallback>
                <p:oleObj name="Equation" r:id="rId3" imgW="6400800" imgH="1778000" progId="Equation.3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9" y="2714625"/>
                        <a:ext cx="10296525" cy="2678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423286" y="4930949"/>
                <a:ext cx="481208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286" y="4930949"/>
                <a:ext cx="481208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82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03594" y="2571816"/>
            <a:ext cx="6885595" cy="500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4331960" y="2425805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5800572" y="2432247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7193733" y="2425804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8554678" y="2425803"/>
            <a:ext cx="9625" cy="77964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/>
          <p:cNvSpPr/>
          <p:nvPr/>
        </p:nvSpPr>
        <p:spPr>
          <a:xfrm>
            <a:off x="3826326" y="2328141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5" name="弧形 54"/>
          <p:cNvSpPr/>
          <p:nvPr/>
        </p:nvSpPr>
        <p:spPr>
          <a:xfrm flipH="1">
            <a:off x="2803593" y="2344302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92788" y="2107830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0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2264182" y="2809553"/>
            <a:ext cx="7964020" cy="12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10249338" y="263740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T</a:t>
            </a:r>
            <a:endParaRPr lang="zh-TW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/>
              <p:cNvSpPr/>
              <p:nvPr/>
            </p:nvSpPr>
            <p:spPr>
              <a:xfrm>
                <a:off x="1957326" y="1508765"/>
                <a:ext cx="81692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Assume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400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0" name="矩形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326" y="1508765"/>
                <a:ext cx="8169277" cy="461665"/>
              </a:xfrm>
              <a:prstGeom prst="rect">
                <a:avLst/>
              </a:prstGeom>
              <a:blipFill>
                <a:blip r:embed="rId3"/>
                <a:stretch>
                  <a:fillRect l="-1119" t="-10667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弧形 35"/>
          <p:cNvSpPr/>
          <p:nvPr/>
        </p:nvSpPr>
        <p:spPr>
          <a:xfrm>
            <a:off x="5306942" y="2334181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7" name="弧形 36"/>
          <p:cNvSpPr/>
          <p:nvPr/>
        </p:nvSpPr>
        <p:spPr>
          <a:xfrm flipH="1">
            <a:off x="4347288" y="2331058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579804" y="2094586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1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1" name="弧形 40"/>
          <p:cNvSpPr/>
          <p:nvPr/>
        </p:nvSpPr>
        <p:spPr>
          <a:xfrm>
            <a:off x="6703735" y="2344301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2" name="弧形 41"/>
          <p:cNvSpPr/>
          <p:nvPr/>
        </p:nvSpPr>
        <p:spPr>
          <a:xfrm flipH="1">
            <a:off x="5800814" y="2316267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015931" y="2082104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2</a:t>
            </a:r>
            <a:endParaRPr lang="zh-TW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155952" y="3578068"/>
                <a:ext cx="6703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952" y="3578068"/>
                <a:ext cx="6703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682254" y="4146689"/>
                <a:ext cx="51685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prstClr val="black"/>
                    </a:solidFill>
                  </a:rPr>
                  <a:t>If actual CPU burst length in </a:t>
                </a:r>
                <a:r>
                  <a:rPr lang="en-US" altLang="zh-TW" sz="2000" u="sng" dirty="0">
                    <a:solidFill>
                      <a:prstClr val="black"/>
                    </a:solidFill>
                  </a:rPr>
                  <a:t>Period 0</a:t>
                </a:r>
                <a:r>
                  <a:rPr lang="en-US" altLang="zh-TW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prstClr val="black"/>
                    </a:solidFill>
                  </a:rPr>
                  <a:t> = 0.05 </a:t>
                </a:r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54" y="4146689"/>
                <a:ext cx="5168594" cy="400110"/>
              </a:xfrm>
              <a:prstGeom prst="rect">
                <a:avLst/>
              </a:prstGeom>
              <a:blipFill>
                <a:blip r:embed="rId5"/>
                <a:stretch>
                  <a:fillRect l="-1179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2682254" y="4794641"/>
                <a:ext cx="4755982" cy="8224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prstClr val="black"/>
                    </a:solidFill>
                  </a:rPr>
                  <a:t>Predict the CPU burst length in </a:t>
                </a:r>
                <a:r>
                  <a:rPr lang="en-US" altLang="zh-TW" sz="2000" u="sng" dirty="0">
                    <a:solidFill>
                      <a:prstClr val="black"/>
                    </a:solidFill>
                  </a:rPr>
                  <a:t>Period 1: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4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solidFill>
                      <a:prstClr val="black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4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TW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zh-TW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4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54" y="4794641"/>
                <a:ext cx="4755982" cy="822469"/>
              </a:xfrm>
              <a:prstGeom prst="rect">
                <a:avLst/>
              </a:prstGeom>
              <a:blipFill>
                <a:blip r:embed="rId6"/>
                <a:stretch>
                  <a:fillRect l="-1282" b="-2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/>
          <p:cNvGrpSpPr/>
          <p:nvPr/>
        </p:nvGrpSpPr>
        <p:grpSpPr>
          <a:xfrm>
            <a:off x="7892920" y="5104658"/>
            <a:ext cx="2212816" cy="918846"/>
            <a:chOff x="6403276" y="3671627"/>
            <a:chExt cx="2212816" cy="9188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/>
                <p:cNvSpPr txBox="1"/>
                <p:nvPr/>
              </p:nvSpPr>
              <p:spPr>
                <a:xfrm>
                  <a:off x="6519590" y="3793578"/>
                  <a:ext cx="8036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altLang="zh-TW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字方塊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590" y="3793578"/>
                  <a:ext cx="803682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788" r="-6818" b="-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/>
                <p:cNvSpPr/>
                <p:nvPr/>
              </p:nvSpPr>
              <p:spPr>
                <a:xfrm>
                  <a:off x="6403276" y="4090740"/>
                  <a:ext cx="120577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TW" i="1" baseline="-25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=0.01</m:t>
                        </m:r>
                      </m:oMath>
                    </m:oMathPara>
                  </a14:m>
                  <a:endParaRPr lang="zh-TW" altLang="en-US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3276" y="4090740"/>
                  <a:ext cx="1205778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圓角矩形 19"/>
            <p:cNvSpPr/>
            <p:nvPr/>
          </p:nvSpPr>
          <p:spPr>
            <a:xfrm>
              <a:off x="6403276" y="3671627"/>
              <a:ext cx="2212816" cy="91884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2137392" y="5722666"/>
                <a:ext cx="686193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0.01=0.042</m:t>
                      </m:r>
                    </m:oMath>
                  </m:oMathPara>
                </a14:m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392" y="5722666"/>
                <a:ext cx="686193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1587479" y="3112897"/>
            <a:ext cx="1733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Predictive :</a:t>
            </a:r>
          </a:p>
        </p:txBody>
      </p:sp>
      <p:sp>
        <p:nvSpPr>
          <p:cNvPr id="27" name="矩形 26"/>
          <p:cNvSpPr/>
          <p:nvPr/>
        </p:nvSpPr>
        <p:spPr>
          <a:xfrm>
            <a:off x="1910401" y="3565290"/>
            <a:ext cx="893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Actual :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1915069" y="3556229"/>
            <a:ext cx="779025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/>
              <p:cNvSpPr/>
              <p:nvPr/>
            </p:nvSpPr>
            <p:spPr>
              <a:xfrm>
                <a:off x="3155944" y="3167685"/>
                <a:ext cx="7377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矩形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944" y="3167685"/>
                <a:ext cx="7377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738159" y="3172131"/>
                <a:ext cx="7986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0.042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159" y="3172131"/>
                <a:ext cx="79861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弧形 75"/>
          <p:cNvSpPr/>
          <p:nvPr/>
        </p:nvSpPr>
        <p:spPr>
          <a:xfrm>
            <a:off x="8054075" y="2344955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7" name="弧形 76"/>
          <p:cNvSpPr/>
          <p:nvPr/>
        </p:nvSpPr>
        <p:spPr>
          <a:xfrm flipH="1">
            <a:off x="7197447" y="2337253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412564" y="2103090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3</a:t>
            </a:r>
            <a:endParaRPr lang="zh-TW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9161902" y="3129974"/>
                <a:ext cx="439736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TW" sz="2400" baseline="-25000" dirty="0"/>
                  <a:t>n</a:t>
                </a:r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902" y="3129974"/>
                <a:ext cx="439736" cy="453137"/>
              </a:xfrm>
              <a:prstGeom prst="rect">
                <a:avLst/>
              </a:prstGeom>
              <a:blipFill>
                <a:blip r:embed="rId12"/>
                <a:stretch>
                  <a:fillRect r="-5556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/>
          <p:cNvSpPr/>
          <p:nvPr/>
        </p:nvSpPr>
        <p:spPr>
          <a:xfrm>
            <a:off x="9184440" y="3537018"/>
            <a:ext cx="394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i="1" dirty="0" err="1">
                <a:solidFill>
                  <a:srgbClr val="0070C0"/>
                </a:solidFill>
              </a:rPr>
              <a:t>t</a:t>
            </a:r>
            <a:r>
              <a:rPr lang="en-US" altLang="zh-TW" sz="2400" baseline="-25000" dirty="0" err="1">
                <a:solidFill>
                  <a:srgbClr val="0070C0"/>
                </a:solidFill>
              </a:rPr>
              <a:t>n</a:t>
            </a:r>
            <a:endParaRPr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54" name="標題 1"/>
          <p:cNvSpPr txBox="1">
            <a:spLocks/>
          </p:cNvSpPr>
          <p:nvPr/>
        </p:nvSpPr>
        <p:spPr bwMode="auto">
          <a:xfrm>
            <a:off x="1992313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lang="en-US" altLang="zh-TW" kern="0" dirty="0">
                <a:solidFill>
                  <a:srgbClr val="000000"/>
                </a:solidFill>
                <a:effectLst/>
              </a:rPr>
              <a:t>Example</a:t>
            </a:r>
            <a:endParaRPr lang="zh-TW" altLang="en-US" kern="0" dirty="0">
              <a:solidFill>
                <a:srgbClr val="00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91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5" grpId="0"/>
      <p:bldP spid="6" grpId="0"/>
      <p:bldP spid="46" grpId="0"/>
      <p:bldP spid="23" grpId="0"/>
      <p:bldP spid="59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25765" y="2423949"/>
            <a:ext cx="6885595" cy="5005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4354131" y="2277938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5822743" y="2284380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7215904" y="2277937"/>
            <a:ext cx="9625" cy="7796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8576849" y="2277936"/>
            <a:ext cx="9625" cy="77964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/>
          <p:cNvSpPr/>
          <p:nvPr/>
        </p:nvSpPr>
        <p:spPr>
          <a:xfrm>
            <a:off x="3848497" y="2180274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5" name="弧形 54"/>
          <p:cNvSpPr/>
          <p:nvPr/>
        </p:nvSpPr>
        <p:spPr>
          <a:xfrm flipH="1">
            <a:off x="2825764" y="2196435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114959" y="1959963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0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2286353" y="2661686"/>
            <a:ext cx="7964020" cy="12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10271509" y="248953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T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5329113" y="2186314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7" name="弧形 36"/>
          <p:cNvSpPr/>
          <p:nvPr/>
        </p:nvSpPr>
        <p:spPr>
          <a:xfrm flipH="1">
            <a:off x="4369459" y="2183191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601975" y="1946719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1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1" name="弧形 40"/>
          <p:cNvSpPr/>
          <p:nvPr/>
        </p:nvSpPr>
        <p:spPr>
          <a:xfrm>
            <a:off x="6725906" y="2196434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2" name="弧形 41"/>
          <p:cNvSpPr/>
          <p:nvPr/>
        </p:nvSpPr>
        <p:spPr>
          <a:xfrm flipH="1">
            <a:off x="5822985" y="2168400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038102" y="1934237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2</a:t>
            </a:r>
            <a:endParaRPr lang="zh-TW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178123" y="3430201"/>
                <a:ext cx="6703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123" y="3430201"/>
                <a:ext cx="67037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705825" y="4016709"/>
                <a:ext cx="502317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prstClr val="black"/>
                    </a:solidFill>
                  </a:rPr>
                  <a:t>If actual CPU burst length in </a:t>
                </a:r>
                <a:r>
                  <a:rPr lang="en-US" altLang="zh-TW" sz="2000" u="sng" dirty="0">
                    <a:solidFill>
                      <a:prstClr val="black"/>
                    </a:solidFill>
                  </a:rPr>
                  <a:t>Period 1</a:t>
                </a:r>
                <a:r>
                  <a:rPr lang="en-US" altLang="zh-TW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prstClr val="black"/>
                    </a:solidFill>
                  </a:rPr>
                  <a:t> = 0.06 </a:t>
                </a:r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25" y="4016709"/>
                <a:ext cx="5023170" cy="400110"/>
              </a:xfrm>
              <a:prstGeom prst="rect">
                <a:avLst/>
              </a:prstGeom>
              <a:blipFill>
                <a:blip r:embed="rId4"/>
                <a:stretch>
                  <a:fillRect l="-1335" t="-9091" r="-243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2705825" y="4384217"/>
                <a:ext cx="4813690" cy="7609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prstClr val="black"/>
                    </a:solidFill>
                  </a:rPr>
                  <a:t>Predict the CPU burst length in </a:t>
                </a:r>
                <a:r>
                  <a:rPr lang="en-US" altLang="zh-TW" sz="2000" u="sng" dirty="0">
                    <a:solidFill>
                      <a:prstClr val="black"/>
                    </a:solidFill>
                  </a:rPr>
                  <a:t>Period 2 :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4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>
                    <a:solidFill>
                      <a:prstClr val="black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TW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25" y="4384217"/>
                <a:ext cx="4813690" cy="760914"/>
              </a:xfrm>
              <a:prstGeom prst="rect">
                <a:avLst/>
              </a:prstGeom>
              <a:blipFill>
                <a:blip r:embed="rId5"/>
                <a:stretch>
                  <a:fillRect l="-13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2486872" y="4943616"/>
                <a:ext cx="334831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000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000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0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TW" sz="2000" dirty="0">
                          <a:solidFill>
                            <a:prstClr val="black"/>
                          </a:solidFill>
                        </a:rPr>
                        <m:t> </m:t>
                      </m:r>
                    </m:oMath>
                  </m:oMathPara>
                </a14:m>
                <a:endParaRPr lang="en-US" altLang="zh-TW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872" y="4943616"/>
                <a:ext cx="334831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1609650" y="2965030"/>
            <a:ext cx="1733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Predictive :</a:t>
            </a:r>
          </a:p>
        </p:txBody>
      </p:sp>
      <p:sp>
        <p:nvSpPr>
          <p:cNvPr id="27" name="矩形 26"/>
          <p:cNvSpPr/>
          <p:nvPr/>
        </p:nvSpPr>
        <p:spPr>
          <a:xfrm>
            <a:off x="1932572" y="3417423"/>
            <a:ext cx="893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Actual :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1937240" y="3408362"/>
            <a:ext cx="779025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/>
              <p:cNvSpPr/>
              <p:nvPr/>
            </p:nvSpPr>
            <p:spPr>
              <a:xfrm>
                <a:off x="3178115" y="3019818"/>
                <a:ext cx="6703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9" name="矩形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115" y="3019818"/>
                <a:ext cx="67037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760330" y="3024264"/>
                <a:ext cx="7986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0.042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330" y="3024264"/>
                <a:ext cx="79861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4824450" y="3435942"/>
                <a:ext cx="6703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450" y="3435942"/>
                <a:ext cx="67037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/>
              <p:cNvSpPr/>
              <p:nvPr/>
            </p:nvSpPr>
            <p:spPr>
              <a:xfrm>
                <a:off x="6114708" y="3027725"/>
                <a:ext cx="926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0.0564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708" y="3027725"/>
                <a:ext cx="92685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6242947" y="3467141"/>
                <a:ext cx="6703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947" y="3467141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/>
              <p:cNvSpPr/>
              <p:nvPr/>
            </p:nvSpPr>
            <p:spPr>
              <a:xfrm>
                <a:off x="4864152" y="4953241"/>
                <a:ext cx="573086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=0.8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0.06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0.042=0.0564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4" name="矩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52" y="4953241"/>
                <a:ext cx="5730866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7466028" y="3051491"/>
                <a:ext cx="926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0.0273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028" y="3051491"/>
                <a:ext cx="92685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弧形 63"/>
          <p:cNvSpPr/>
          <p:nvPr/>
        </p:nvSpPr>
        <p:spPr>
          <a:xfrm>
            <a:off x="8093473" y="2186036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5" name="弧形 64"/>
          <p:cNvSpPr/>
          <p:nvPr/>
        </p:nvSpPr>
        <p:spPr>
          <a:xfrm flipH="1">
            <a:off x="7236845" y="2178334"/>
            <a:ext cx="481570" cy="48141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451962" y="1944171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prstClr val="black"/>
                </a:solidFill>
              </a:rPr>
              <a:t>Period 3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9" name="標題 1"/>
          <p:cNvSpPr txBox="1">
            <a:spLocks/>
          </p:cNvSpPr>
          <p:nvPr/>
        </p:nvSpPr>
        <p:spPr bwMode="auto">
          <a:xfrm>
            <a:off x="1992313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lang="en-US" altLang="zh-TW" kern="0" dirty="0">
                <a:solidFill>
                  <a:srgbClr val="000000"/>
                </a:solidFill>
                <a:effectLst/>
              </a:rPr>
              <a:t>Example (Cont.)</a:t>
            </a:r>
            <a:endParaRPr lang="zh-TW" altLang="en-US" kern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9314302" y="2968049"/>
                <a:ext cx="439736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TW" sz="2400" baseline="-25000" dirty="0"/>
                  <a:t>n</a:t>
                </a:r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302" y="2968049"/>
                <a:ext cx="439736" cy="453137"/>
              </a:xfrm>
              <a:prstGeom prst="rect">
                <a:avLst/>
              </a:prstGeom>
              <a:blipFill>
                <a:blip r:embed="rId14"/>
                <a:stretch>
                  <a:fillRect r="-5556" b="-31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 61"/>
          <p:cNvSpPr/>
          <p:nvPr/>
        </p:nvSpPr>
        <p:spPr>
          <a:xfrm>
            <a:off x="9346365" y="3317943"/>
            <a:ext cx="394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i="1" dirty="0" err="1">
                <a:solidFill>
                  <a:srgbClr val="0070C0"/>
                </a:solidFill>
              </a:rPr>
              <a:t>t</a:t>
            </a:r>
            <a:r>
              <a:rPr lang="en-US" altLang="zh-TW" sz="2400" baseline="-25000" dirty="0" err="1">
                <a:solidFill>
                  <a:srgbClr val="0070C0"/>
                </a:solidFill>
              </a:rPr>
              <a:t>n</a:t>
            </a:r>
            <a:endParaRPr lang="zh-TW" altLang="en-US" sz="2400" baseline="-25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/>
              <p:cNvSpPr/>
              <p:nvPr/>
            </p:nvSpPr>
            <p:spPr>
              <a:xfrm>
                <a:off x="1957326" y="1508765"/>
                <a:ext cx="81692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Assume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400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9" name="矩形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326" y="1508765"/>
                <a:ext cx="8169277" cy="461665"/>
              </a:xfrm>
              <a:prstGeom prst="rect">
                <a:avLst/>
              </a:prstGeom>
              <a:blipFill>
                <a:blip r:embed="rId15"/>
                <a:stretch>
                  <a:fillRect l="-1119" t="-10667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/>
              <p:cNvSpPr/>
              <p:nvPr/>
            </p:nvSpPr>
            <p:spPr>
              <a:xfrm>
                <a:off x="2486872" y="5908775"/>
                <a:ext cx="6861936" cy="700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000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0.02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zh-TW" altLang="en-U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0.564=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0.02+0.8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0.06+0.8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0.2)</m:t>
                          </m:r>
                        </m:e>
                        <m:sup>
                          <m:r>
                            <a:rPr lang="en-US" altLang="zh-TW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0.05=0.0273</m:t>
                      </m:r>
                    </m:oMath>
                  </m:oMathPara>
                </a14:m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1" name="矩形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872" y="5908775"/>
                <a:ext cx="6861936" cy="700769"/>
              </a:xfrm>
              <a:prstGeom prst="rect">
                <a:avLst/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/>
              <p:cNvSpPr/>
              <p:nvPr/>
            </p:nvSpPr>
            <p:spPr>
              <a:xfrm>
                <a:off x="2648053" y="5500093"/>
                <a:ext cx="502317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prstClr val="black"/>
                    </a:solidFill>
                  </a:rPr>
                  <a:t>If actual CPU burst length in </a:t>
                </a:r>
                <a:r>
                  <a:rPr lang="en-US" altLang="zh-TW" sz="2000" u="sng" dirty="0">
                    <a:solidFill>
                      <a:prstClr val="black"/>
                    </a:solidFill>
                  </a:rPr>
                  <a:t>Period 1</a:t>
                </a:r>
                <a:r>
                  <a:rPr lang="en-US" altLang="zh-TW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prstClr val="black"/>
                    </a:solidFill>
                  </a:rPr>
                  <a:t> = 0.02 </a:t>
                </a:r>
                <a:endParaRPr lang="zh-TW" altLang="en-US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2" name="矩形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053" y="5500093"/>
                <a:ext cx="5023170" cy="400110"/>
              </a:xfrm>
              <a:prstGeom prst="rect">
                <a:avLst/>
              </a:prstGeom>
              <a:blipFill>
                <a:blip r:embed="rId17"/>
                <a:stretch>
                  <a:fillRect l="-1214" t="-7576" r="-364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48E00-4EEC-41A3-8E58-1210C9CEEC6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25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  <p:bldP spid="23" grpId="0"/>
      <p:bldP spid="47" grpId="0"/>
      <p:bldP spid="51" grpId="0"/>
      <p:bldP spid="53" grpId="0"/>
      <p:bldP spid="54" grpId="0"/>
      <p:bldP spid="56" grpId="0"/>
      <p:bldP spid="71" grpId="0"/>
      <p:bldP spid="7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Prediction of the Length of the Next CPU Burst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73224" y="4933188"/>
            <a:ext cx="8229600" cy="129844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zh-TW" dirty="0">
                <a:latin typeface="Times New Roman" pitchFamily="18" charset="0"/>
                <a:sym typeface="Symbol" pitchFamily="18" charset="2"/>
              </a:rPr>
              <a:t></a:t>
            </a:r>
            <a:r>
              <a:rPr lang="en-US" altLang="zh-TW" baseline="-25000" dirty="0" smtClean="0">
                <a:latin typeface="Times New Roman" pitchFamily="18" charset="0"/>
                <a:sym typeface="Symbol" pitchFamily="18" charset="2"/>
              </a:rPr>
              <a:t>0 </a:t>
            </a:r>
            <a:r>
              <a:rPr lang="en-US" altLang="zh-TW" dirty="0" smtClean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TW" b="1" dirty="0" smtClean="0">
                <a:latin typeface="Times New Roman" pitchFamily="18" charset="0"/>
                <a:sym typeface="Symbol" pitchFamily="18" charset="2"/>
              </a:rPr>
              <a:t>10</a:t>
            </a:r>
            <a:endParaRPr lang="en-US" altLang="zh-TW" b="1" dirty="0">
              <a:latin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Times New Roman" pitchFamily="18" charset="0"/>
                <a:sym typeface="Symbol" pitchFamily="18" charset="2"/>
              </a:rPr>
              <a:t></a:t>
            </a:r>
            <a:r>
              <a:rPr lang="en-US" altLang="zh-TW" baseline="-25000" dirty="0">
                <a:latin typeface="Times New Roman" pitchFamily="18" charset="0"/>
                <a:sym typeface="Symbol" pitchFamily="18" charset="2"/>
              </a:rPr>
              <a:t>1= </a:t>
            </a:r>
            <a:r>
              <a:rPr lang="en-US" altLang="zh-TW" dirty="0">
                <a:latin typeface="Times New Roman" pitchFamily="18" charset="0"/>
                <a:sym typeface="Symbol" pitchFamily="18" charset="2"/>
              </a:rPr>
              <a:t> x 6 + (1- ) x 10 = 3 + 5 = </a:t>
            </a:r>
            <a:r>
              <a:rPr lang="en-US" altLang="zh-TW" b="1" dirty="0">
                <a:latin typeface="Times New Roman" pitchFamily="18" charset="0"/>
                <a:sym typeface="Symbol" pitchFamily="18" charset="2"/>
              </a:rPr>
              <a:t>8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Times New Roman" pitchFamily="18" charset="0"/>
                <a:sym typeface="Symbol" pitchFamily="18" charset="2"/>
              </a:rPr>
              <a:t></a:t>
            </a:r>
            <a:r>
              <a:rPr lang="en-US" altLang="zh-TW" baseline="-25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altLang="zh-TW" dirty="0">
                <a:latin typeface="Times New Roman" pitchFamily="18" charset="0"/>
                <a:sym typeface="Symbol" pitchFamily="18" charset="2"/>
              </a:rPr>
              <a:t>=  x 4+ (1- ) x 8 = 2 + 4 = </a:t>
            </a:r>
            <a:r>
              <a:rPr lang="en-US" altLang="zh-TW" b="1" dirty="0">
                <a:latin typeface="Times New Roman" pitchFamily="18" charset="0"/>
                <a:sym typeface="Symbol" pitchFamily="18" charset="2"/>
              </a:rPr>
              <a:t>6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Times New Roman" pitchFamily="18" charset="0"/>
                <a:sym typeface="Symbol" pitchFamily="18" charset="2"/>
              </a:rPr>
              <a:t>……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579" y="1611630"/>
            <a:ext cx="8145335" cy="282321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97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Examples of Exponential Averaging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 =0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</a:t>
            </a:r>
            <a:r>
              <a:rPr lang="en-US" altLang="en-US" baseline="-25000" dirty="0">
                <a:sym typeface="Symbol" panose="05050102010706020507" pitchFamily="18" charset="2"/>
              </a:rPr>
              <a:t>n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Recent history does not count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 =1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 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endParaRPr lang="en-US" altLang="en-US" baseline="-25000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Only the actual last CPU burst counts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If we expand the formula, we get</a:t>
            </a:r>
            <a:r>
              <a:rPr lang="en-US" altLang="en-US" dirty="0" smtClean="0">
                <a:sym typeface="Symbol" panose="05050102010706020507" pitchFamily="18" charset="2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altLang="en-US" sz="2700" dirty="0">
                <a:sym typeface="Symbol" panose="05050102010706020507" pitchFamily="18" charset="2"/>
              </a:rPr>
              <a:t></a:t>
            </a:r>
            <a:r>
              <a:rPr lang="en-US" altLang="en-US" sz="2700" i="1" baseline="-25000" dirty="0">
                <a:sym typeface="Symbol" panose="05050102010706020507" pitchFamily="18" charset="2"/>
              </a:rPr>
              <a:t>n</a:t>
            </a:r>
            <a:r>
              <a:rPr lang="en-US" altLang="en-US" sz="2700" baseline="-25000" dirty="0">
                <a:sym typeface="Symbol" panose="05050102010706020507" pitchFamily="18" charset="2"/>
              </a:rPr>
              <a:t>+1</a:t>
            </a:r>
            <a:r>
              <a:rPr lang="en-US" altLang="en-US" sz="2700" dirty="0">
                <a:sym typeface="Symbol" panose="05050102010706020507" pitchFamily="18" charset="2"/>
              </a:rPr>
              <a:t> =  </a:t>
            </a:r>
            <a:r>
              <a:rPr lang="en-US" altLang="en-US" sz="2700" dirty="0" err="1">
                <a:sym typeface="Symbol" panose="05050102010706020507" pitchFamily="18" charset="2"/>
              </a:rPr>
              <a:t>t</a:t>
            </a:r>
            <a:r>
              <a:rPr lang="en-US" altLang="en-US" sz="2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700" dirty="0">
                <a:sym typeface="Symbol" panose="05050102010706020507" pitchFamily="18" charset="2"/>
              </a:rPr>
              <a:t>+(1</a:t>
            </a:r>
            <a:r>
              <a:rPr lang="en-US" altLang="en-US" sz="2700" i="1" dirty="0">
                <a:sym typeface="Symbol" panose="05050102010706020507" pitchFamily="18" charset="2"/>
              </a:rPr>
              <a:t> - </a:t>
            </a:r>
            <a:r>
              <a:rPr lang="en-US" altLang="en-US" sz="2700" dirty="0">
                <a:sym typeface="Symbol" panose="05050102010706020507" pitchFamily="18" charset="2"/>
              </a:rPr>
              <a:t></a:t>
            </a:r>
            <a:r>
              <a:rPr lang="en-US" altLang="en-US" sz="2700" i="1" dirty="0">
                <a:sym typeface="Symbol" panose="05050102010706020507" pitchFamily="18" charset="2"/>
              </a:rPr>
              <a:t>)</a:t>
            </a:r>
            <a:r>
              <a:rPr lang="en-US" altLang="en-US" sz="2700" dirty="0">
                <a:sym typeface="Symbol" panose="05050102010706020507" pitchFamily="18" charset="2"/>
              </a:rPr>
              <a:t> </a:t>
            </a:r>
            <a:r>
              <a:rPr lang="en-US" altLang="en-US" sz="2700" i="1" dirty="0" err="1">
                <a:sym typeface="Symbol" panose="05050102010706020507" pitchFamily="18" charset="2"/>
              </a:rPr>
              <a:t>t</a:t>
            </a:r>
            <a:r>
              <a:rPr lang="en-US" altLang="en-US" sz="2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700" i="1" dirty="0">
                <a:sym typeface="Symbol" panose="05050102010706020507" pitchFamily="18" charset="2"/>
              </a:rPr>
              <a:t> </a:t>
            </a:r>
            <a:r>
              <a:rPr lang="en-US" altLang="en-US" sz="2700" baseline="-25000" dirty="0">
                <a:sym typeface="Symbol" panose="05050102010706020507" pitchFamily="18" charset="2"/>
              </a:rPr>
              <a:t>-1</a:t>
            </a:r>
            <a:r>
              <a:rPr lang="en-US" altLang="en-US" sz="27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2700" dirty="0">
                <a:sym typeface="Symbol" panose="05050102010706020507" pitchFamily="18" charset="2"/>
              </a:rPr>
              <a:t>+ … </a:t>
            </a:r>
            <a:r>
              <a:rPr lang="en-US" altLang="en-US" sz="2700" i="1" dirty="0">
                <a:sym typeface="Symbol" panose="05050102010706020507" pitchFamily="18" charset="2"/>
              </a:rPr>
              <a:t>+(</a:t>
            </a:r>
            <a:r>
              <a:rPr lang="en-US" altLang="en-US" sz="2700" dirty="0">
                <a:sym typeface="Symbol" panose="05050102010706020507" pitchFamily="18" charset="2"/>
              </a:rPr>
              <a:t>1 -  </a:t>
            </a:r>
            <a:r>
              <a:rPr lang="en-US" altLang="en-US" sz="2700" i="1" dirty="0">
                <a:sym typeface="Symbol" panose="05050102010706020507" pitchFamily="18" charset="2"/>
              </a:rPr>
              <a:t>)</a:t>
            </a:r>
            <a:r>
              <a:rPr lang="en-US" altLang="en-US" sz="2700" i="1" baseline="30000" dirty="0">
                <a:sym typeface="Symbol" panose="05050102010706020507" pitchFamily="18" charset="2"/>
              </a:rPr>
              <a:t>j</a:t>
            </a:r>
            <a:r>
              <a:rPr lang="en-US" altLang="en-US" sz="2700" baseline="30000" dirty="0">
                <a:sym typeface="Symbol" panose="05050102010706020507" pitchFamily="18" charset="2"/>
              </a:rPr>
              <a:t> </a:t>
            </a:r>
            <a:r>
              <a:rPr lang="en-US" altLang="en-US" sz="2700" dirty="0">
                <a:sym typeface="Symbol" panose="05050102010706020507" pitchFamily="18" charset="2"/>
              </a:rPr>
              <a:t> </a:t>
            </a:r>
            <a:r>
              <a:rPr lang="en-US" altLang="en-US" sz="2700" i="1" dirty="0" err="1">
                <a:sym typeface="Symbol" panose="05050102010706020507" pitchFamily="18" charset="2"/>
              </a:rPr>
              <a:t>t</a:t>
            </a:r>
            <a:r>
              <a:rPr lang="en-US" altLang="en-US" sz="2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700" dirty="0">
                <a:sym typeface="Symbol" panose="05050102010706020507" pitchFamily="18" charset="2"/>
              </a:rPr>
              <a:t> </a:t>
            </a:r>
            <a:r>
              <a:rPr lang="en-US" altLang="en-US" sz="2700" baseline="-25000" dirty="0">
                <a:sym typeface="Symbol" panose="05050102010706020507" pitchFamily="18" charset="2"/>
              </a:rPr>
              <a:t>-</a:t>
            </a:r>
            <a:r>
              <a:rPr lang="en-US" altLang="en-US" sz="2700" i="1" baseline="-25000" dirty="0">
                <a:sym typeface="Symbol" panose="05050102010706020507" pitchFamily="18" charset="2"/>
              </a:rPr>
              <a:t>j</a:t>
            </a:r>
            <a:r>
              <a:rPr lang="en-US" altLang="en-US" sz="2700" i="1" dirty="0">
                <a:sym typeface="Symbol" panose="05050102010706020507" pitchFamily="18" charset="2"/>
              </a:rPr>
              <a:t> </a:t>
            </a:r>
            <a:r>
              <a:rPr lang="en-US" altLang="en-US" sz="2700" dirty="0">
                <a:sym typeface="Symbol" panose="05050102010706020507" pitchFamily="18" charset="2"/>
              </a:rPr>
              <a:t>+ …</a:t>
            </a:r>
            <a:r>
              <a:rPr lang="en-US" altLang="en-US" sz="2700" i="1" dirty="0">
                <a:sym typeface="Symbol" panose="05050102010706020507" pitchFamily="18" charset="2"/>
              </a:rPr>
              <a:t>+(</a:t>
            </a:r>
            <a:r>
              <a:rPr lang="en-US" altLang="en-US" sz="2700" dirty="0">
                <a:sym typeface="Symbol" panose="05050102010706020507" pitchFamily="18" charset="2"/>
              </a:rPr>
              <a:t>1 -  </a:t>
            </a:r>
            <a:r>
              <a:rPr lang="en-US" altLang="en-US" sz="2700" i="1" dirty="0">
                <a:sym typeface="Symbol" panose="05050102010706020507" pitchFamily="18" charset="2"/>
              </a:rPr>
              <a:t>)</a:t>
            </a:r>
            <a:r>
              <a:rPr lang="en-US" altLang="en-US" sz="2700" i="1" baseline="30000" dirty="0">
                <a:sym typeface="Symbol" panose="05050102010706020507" pitchFamily="18" charset="2"/>
              </a:rPr>
              <a:t>n</a:t>
            </a:r>
            <a:r>
              <a:rPr lang="en-US" altLang="en-US" sz="2700" baseline="30000" dirty="0">
                <a:sym typeface="Symbol" panose="05050102010706020507" pitchFamily="18" charset="2"/>
              </a:rPr>
              <a:t> +1 </a:t>
            </a:r>
            <a:r>
              <a:rPr lang="en-US" altLang="en-US" sz="2700" dirty="0">
                <a:sym typeface="Symbol" panose="05050102010706020507" pitchFamily="18" charset="2"/>
              </a:rPr>
              <a:t></a:t>
            </a:r>
            <a:r>
              <a:rPr lang="en-US" altLang="en-US" sz="2700" baseline="-25000" dirty="0">
                <a:sym typeface="Symbol" panose="05050102010706020507" pitchFamily="18" charset="2"/>
              </a:rPr>
              <a:t>0</a:t>
            </a:r>
            <a:br>
              <a:rPr lang="en-US" altLang="en-US" sz="2700" baseline="-25000" dirty="0">
                <a:sym typeface="Symbol" panose="05050102010706020507" pitchFamily="18" charset="2"/>
              </a:rPr>
            </a:br>
            <a:endParaRPr lang="en-US" altLang="en-US" sz="2700" baseline="-250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Since both  and (1 - ) are less than or equal to 1, 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Each </a:t>
            </a:r>
            <a:r>
              <a:rPr lang="en-US" altLang="en-US" dirty="0">
                <a:sym typeface="Symbol" panose="05050102010706020507" pitchFamily="18" charset="2"/>
              </a:rPr>
              <a:t>successive term has less weight than its </a:t>
            </a:r>
            <a:r>
              <a:rPr lang="en-US" altLang="en-US" dirty="0" smtClean="0">
                <a:sym typeface="Symbol" panose="05050102010706020507" pitchFamily="18" charset="2"/>
              </a:rPr>
              <a:t>predecessor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4886037" y="5126183"/>
            <a:ext cx="1431636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3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dirty="0"/>
              <a:t>First-Come, First-Served Scheduling</a:t>
            </a:r>
          </a:p>
          <a:p>
            <a:pPr lvl="1" eaLnBrk="1" hangingPunct="1"/>
            <a:r>
              <a:rPr lang="en-US" altLang="zh-TW" dirty="0"/>
              <a:t>Shortest-Job-First </a:t>
            </a:r>
            <a:r>
              <a:rPr lang="en-US" altLang="zh-TW" dirty="0" smtClean="0"/>
              <a:t>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Round-Robin Scheduling</a:t>
            </a:r>
          </a:p>
          <a:p>
            <a:pPr lvl="1" eaLnBrk="1" hangingPunct="1"/>
            <a:r>
              <a:rPr lang="en-US" altLang="zh-TW" dirty="0"/>
              <a:t>Priority Scheduling</a:t>
            </a:r>
          </a:p>
          <a:p>
            <a:pPr lvl="1" eaLnBrk="1" hangingPunct="1"/>
            <a:r>
              <a:rPr lang="en-US" altLang="zh-TW" dirty="0" smtClean="0"/>
              <a:t>Multilevel </a:t>
            </a:r>
            <a:r>
              <a:rPr lang="en-US" altLang="zh-TW" dirty="0"/>
              <a:t>Queue Scheduling</a:t>
            </a:r>
          </a:p>
          <a:p>
            <a:pPr lvl="1" eaLnBrk="1" hangingPunct="1"/>
            <a:r>
              <a:rPr lang="en-US" altLang="zh-TW" dirty="0"/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5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Round Robin (RR)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Each process gets a small unit of CPU time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Called </a:t>
            </a:r>
            <a:r>
              <a:rPr lang="en-US" altLang="zh-TW" b="1" dirty="0">
                <a:solidFill>
                  <a:srgbClr val="FF3300"/>
                </a:solidFill>
              </a:rPr>
              <a:t>time quantum </a:t>
            </a:r>
            <a:r>
              <a:rPr lang="en-US" altLang="zh-TW" dirty="0"/>
              <a:t>or</a:t>
            </a:r>
            <a:r>
              <a:rPr lang="en-US" altLang="zh-TW" b="1" dirty="0">
                <a:solidFill>
                  <a:srgbClr val="FF3300"/>
                </a:solidFill>
              </a:rPr>
              <a:t> time slice</a:t>
            </a: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Usually 10-100 milliseconds.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After this time has elapsed, the process is </a:t>
            </a:r>
            <a:r>
              <a:rPr lang="en-US" altLang="zh-TW" b="1" dirty="0"/>
              <a:t>preempted </a:t>
            </a:r>
            <a:r>
              <a:rPr lang="en-US" altLang="zh-TW" dirty="0"/>
              <a:t>and added to the </a:t>
            </a:r>
            <a:r>
              <a:rPr lang="en-US" altLang="zh-TW" b="1" dirty="0"/>
              <a:t>tail</a:t>
            </a:r>
            <a:r>
              <a:rPr lang="en-US" altLang="zh-TW" dirty="0"/>
              <a:t> of the ready queue</a:t>
            </a:r>
          </a:p>
          <a:p>
            <a:pPr eaLnBrk="1" hangingPunct="1">
              <a:spcBef>
                <a:spcPts val="600"/>
              </a:spcBef>
            </a:pPr>
            <a:endParaRPr lang="en-US" altLang="zh-TW" b="1" dirty="0" smtClean="0">
              <a:solidFill>
                <a:srgbClr val="FF33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TW" b="1" dirty="0" smtClean="0">
                <a:solidFill>
                  <a:srgbClr val="FF3300"/>
                </a:solidFill>
              </a:rPr>
              <a:t>RR </a:t>
            </a:r>
            <a:r>
              <a:rPr lang="zh-TW" altLang="en-US" b="1" dirty="0" smtClean="0">
                <a:solidFill>
                  <a:srgbClr val="FF3300"/>
                </a:solidFill>
              </a:rPr>
              <a:t>只能是</a:t>
            </a:r>
            <a:r>
              <a:rPr lang="en-US" altLang="zh-TW" b="1" dirty="0" smtClean="0">
                <a:solidFill>
                  <a:srgbClr val="FF3300"/>
                </a:solidFill>
              </a:rPr>
              <a:t>preemptive. Why?</a:t>
            </a:r>
            <a:endParaRPr lang="en-US" altLang="zh-TW" b="1" dirty="0">
              <a:solidFill>
                <a:srgbClr val="FF3300"/>
              </a:solidFill>
            </a:endParaRPr>
          </a:p>
          <a:p>
            <a:pPr eaLnBrk="1" hangingPunct="1">
              <a:spcBef>
                <a:spcPts val="600"/>
              </a:spcBef>
            </a:pPr>
            <a:endParaRPr lang="en-US" altLang="zh-TW" b="1" dirty="0" smtClean="0"/>
          </a:p>
          <a:p>
            <a:pPr eaLnBrk="1" hangingPunct="1">
              <a:spcBef>
                <a:spcPts val="600"/>
              </a:spcBef>
            </a:pPr>
            <a:r>
              <a:rPr lang="zh-TW" altLang="en-US" b="1" dirty="0" smtClean="0"/>
              <a:t>比較</a:t>
            </a:r>
            <a:r>
              <a:rPr lang="en-US" altLang="zh-TW" b="1" dirty="0" smtClean="0"/>
              <a:t>: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FCFS </a:t>
            </a:r>
            <a:r>
              <a:rPr lang="zh-TW" altLang="en-US" b="1" dirty="0" smtClean="0"/>
              <a:t>只能是</a:t>
            </a:r>
            <a:r>
              <a:rPr lang="en-US" altLang="zh-TW" b="1" dirty="0" smtClean="0"/>
              <a:t>non-preemptive. Why?</a:t>
            </a:r>
          </a:p>
          <a:p>
            <a:pPr eaLnBrk="1" hangingPunct="1">
              <a:spcBef>
                <a:spcPts val="600"/>
              </a:spcBef>
            </a:pPr>
            <a:endParaRPr lang="en-US" altLang="zh-TW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5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Round Robin (RR)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3600" dirty="0" smtClean="0"/>
              <a:t>Question: </a:t>
            </a:r>
            <a:endParaRPr lang="en-US" altLang="zh-TW" sz="3600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/>
              <a:t>How the OS knows a time quantum is expired?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sz="3200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sz="3600" dirty="0" smtClean="0"/>
              <a:t>Sol.: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 smtClean="0"/>
              <a:t>Timer </a:t>
            </a:r>
            <a:r>
              <a:rPr lang="en-US" altLang="zh-TW" sz="3200" dirty="0"/>
              <a:t>is set to the time slice value</a:t>
            </a:r>
          </a:p>
          <a:p>
            <a:pPr>
              <a:spcBef>
                <a:spcPts val="600"/>
              </a:spcBef>
            </a:pP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59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33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 smtClean="0"/>
              <a:t>Example:  RR with Time Quantum = 20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04" y="1142999"/>
            <a:ext cx="9648825" cy="4888345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16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Round Robin (RR)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3000" dirty="0"/>
              <a:t>If there are </a:t>
            </a:r>
            <a:r>
              <a:rPr lang="en-US" altLang="zh-TW" sz="3000" i="1" dirty="0">
                <a:solidFill>
                  <a:srgbClr val="FF3300"/>
                </a:solidFill>
              </a:rPr>
              <a:t>n</a:t>
            </a:r>
            <a:r>
              <a:rPr lang="en-US" altLang="zh-TW" sz="3000" dirty="0">
                <a:solidFill>
                  <a:srgbClr val="FF3300"/>
                </a:solidFill>
              </a:rPr>
              <a:t> </a:t>
            </a:r>
            <a:r>
              <a:rPr lang="en-US" altLang="zh-TW" sz="3000" dirty="0"/>
              <a:t>processes and the time quantum is </a:t>
            </a:r>
            <a:r>
              <a:rPr lang="en-US" altLang="zh-TW" sz="3000" i="1" dirty="0">
                <a:solidFill>
                  <a:srgbClr val="FF3300"/>
                </a:solidFill>
              </a:rPr>
              <a:t>q</a:t>
            </a:r>
            <a:r>
              <a:rPr lang="en-US" altLang="zh-TW" sz="3000" dirty="0"/>
              <a:t>,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600" dirty="0"/>
              <a:t>Each process gets </a:t>
            </a:r>
            <a:r>
              <a:rPr lang="en-US" altLang="zh-TW" sz="2600" b="1" dirty="0">
                <a:solidFill>
                  <a:srgbClr val="FF3300"/>
                </a:solidFill>
              </a:rPr>
              <a:t>1/</a:t>
            </a:r>
            <a:r>
              <a:rPr lang="en-US" altLang="zh-TW" sz="2600" b="1" i="1" dirty="0">
                <a:solidFill>
                  <a:srgbClr val="FF3300"/>
                </a:solidFill>
              </a:rPr>
              <a:t>n</a:t>
            </a:r>
            <a:r>
              <a:rPr lang="en-US" altLang="zh-TW" sz="2600" b="1" dirty="0">
                <a:solidFill>
                  <a:srgbClr val="FF3300"/>
                </a:solidFill>
              </a:rPr>
              <a:t> </a:t>
            </a:r>
            <a:r>
              <a:rPr lang="en-US" altLang="zh-TW" sz="2600" dirty="0"/>
              <a:t>of the CPU time in chunks of </a:t>
            </a:r>
            <a:r>
              <a:rPr lang="en-US" altLang="zh-TW" sz="2600" b="1" dirty="0">
                <a:solidFill>
                  <a:srgbClr val="FF0000"/>
                </a:solidFill>
              </a:rPr>
              <a:t>at most </a:t>
            </a:r>
            <a:r>
              <a:rPr lang="en-US" altLang="zh-TW" sz="2600" b="1" i="1" dirty="0">
                <a:solidFill>
                  <a:srgbClr val="FF0000"/>
                </a:solidFill>
              </a:rPr>
              <a:t>q</a:t>
            </a:r>
            <a:r>
              <a:rPr lang="en-US" altLang="zh-TW" sz="2600" b="1" dirty="0">
                <a:solidFill>
                  <a:srgbClr val="FF0000"/>
                </a:solidFill>
              </a:rPr>
              <a:t> time units at once</a:t>
            </a:r>
            <a:r>
              <a:rPr lang="en-US" altLang="zh-TW" sz="2600" dirty="0"/>
              <a:t>. 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600" dirty="0"/>
              <a:t>No process waits more than (</a:t>
            </a:r>
            <a:r>
              <a:rPr lang="en-US" altLang="zh-TW" sz="2600" i="1" dirty="0"/>
              <a:t>n</a:t>
            </a:r>
            <a:r>
              <a:rPr lang="en-US" altLang="zh-TW" sz="2600" dirty="0"/>
              <a:t>-1)</a:t>
            </a:r>
            <a:r>
              <a:rPr lang="en-US" altLang="zh-TW" sz="2600" i="1" dirty="0"/>
              <a:t>q </a:t>
            </a:r>
            <a:r>
              <a:rPr lang="en-US" altLang="zh-TW" sz="2600" dirty="0"/>
              <a:t>time units</a:t>
            </a:r>
            <a:r>
              <a:rPr lang="en-US" altLang="zh-TW" sz="2600" dirty="0" smtClean="0"/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altLang="zh-TW" sz="30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3000" dirty="0" smtClean="0"/>
              <a:t>Q:</a:t>
            </a:r>
            <a:r>
              <a:rPr lang="zh-TW" altLang="en-US" sz="3000" dirty="0" smtClean="0"/>
              <a:t> </a:t>
            </a:r>
            <a:r>
              <a:rPr lang="zh-TW" altLang="en-US" sz="3000" dirty="0"/>
              <a:t>為什麼</a:t>
            </a:r>
            <a:r>
              <a:rPr lang="zh-TW" altLang="en-US" sz="3000" dirty="0" smtClean="0"/>
              <a:t>是</a:t>
            </a:r>
            <a:r>
              <a:rPr lang="en-US" altLang="zh-TW" sz="3000" dirty="0" smtClean="0"/>
              <a:t>”</a:t>
            </a:r>
            <a:r>
              <a:rPr lang="en-US" altLang="zh-TW" sz="3000" b="1" dirty="0" smtClean="0">
                <a:solidFill>
                  <a:srgbClr val="FF0000"/>
                </a:solidFill>
              </a:rPr>
              <a:t>at most</a:t>
            </a:r>
            <a:r>
              <a:rPr lang="en-US" altLang="zh-TW" sz="3000" dirty="0" smtClean="0"/>
              <a:t> </a:t>
            </a:r>
            <a:r>
              <a:rPr lang="en-US" altLang="zh-TW" sz="3000" i="1" dirty="0" smtClean="0"/>
              <a:t>q</a:t>
            </a:r>
            <a:r>
              <a:rPr lang="en-US" altLang="zh-TW" sz="3000" dirty="0" smtClean="0"/>
              <a:t> time unit at once</a:t>
            </a:r>
            <a:r>
              <a:rPr lang="en-US" altLang="zh-TW" sz="3000" dirty="0"/>
              <a:t>”</a:t>
            </a:r>
            <a:r>
              <a:rPr lang="en-US" altLang="zh-TW" sz="3000" dirty="0" smtClean="0"/>
              <a:t>?</a:t>
            </a:r>
            <a:endParaRPr lang="en-US" altLang="zh-TW" sz="30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3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Round Robin (RR)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3000" dirty="0"/>
              <a:t>Typically, </a:t>
            </a:r>
            <a:r>
              <a:rPr lang="en-US" altLang="zh-TW" sz="3000" dirty="0" smtClean="0"/>
              <a:t>RR has </a:t>
            </a:r>
            <a:r>
              <a:rPr lang="en-US" altLang="zh-TW" sz="3000" b="1" dirty="0" smtClean="0">
                <a:solidFill>
                  <a:srgbClr val="FF3300"/>
                </a:solidFill>
              </a:rPr>
              <a:t>higher </a:t>
            </a:r>
            <a:r>
              <a:rPr lang="en-US" altLang="zh-TW" sz="3000" b="1" dirty="0">
                <a:solidFill>
                  <a:srgbClr val="FF3300"/>
                </a:solidFill>
              </a:rPr>
              <a:t>average turnaround time</a:t>
            </a:r>
            <a:r>
              <a:rPr lang="en-US" altLang="zh-TW" sz="3000" dirty="0"/>
              <a:t> than SJF, </a:t>
            </a:r>
            <a:r>
              <a:rPr lang="en-US" altLang="zh-TW" sz="3000" dirty="0" smtClean="0"/>
              <a:t>but </a:t>
            </a:r>
            <a:r>
              <a:rPr lang="en-US" altLang="zh-TW" sz="3000" b="1" dirty="0" smtClean="0">
                <a:solidFill>
                  <a:srgbClr val="FF3300"/>
                </a:solidFill>
              </a:rPr>
              <a:t>better response time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Q1: why RR has </a:t>
            </a:r>
            <a:r>
              <a:rPr lang="en-US" altLang="zh-TW" b="1" dirty="0" smtClean="0"/>
              <a:t>higher average turnaround time</a:t>
            </a:r>
            <a:r>
              <a:rPr lang="en-US" altLang="zh-TW" dirty="0" smtClean="0"/>
              <a:t> than SJF?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 smtClean="0"/>
              <a:t>Ans</a:t>
            </a:r>
            <a:r>
              <a:rPr lang="en-US" altLang="zh-TW" dirty="0" smtClean="0"/>
              <a:t>: RR</a:t>
            </a:r>
            <a:r>
              <a:rPr lang="zh-TW" altLang="en-US" dirty="0" smtClean="0"/>
              <a:t>會增加</a:t>
            </a:r>
            <a:r>
              <a:rPr lang="en-US" altLang="zh-TW" dirty="0" smtClean="0"/>
              <a:t>context switch</a:t>
            </a:r>
            <a:r>
              <a:rPr lang="zh-TW" altLang="en-US" dirty="0" smtClean="0"/>
              <a:t>次數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而</a:t>
            </a:r>
            <a:r>
              <a:rPr lang="en-US" altLang="zh-TW" dirty="0" smtClean="0"/>
              <a:t>context switch</a:t>
            </a:r>
            <a:r>
              <a:rPr lang="zh-TW" altLang="en-US" dirty="0" smtClean="0"/>
              <a:t>需要時間</a:t>
            </a: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Q2: </a:t>
            </a:r>
            <a:r>
              <a:rPr lang="en-US" altLang="zh-TW" dirty="0"/>
              <a:t>why RR has </a:t>
            </a:r>
            <a:r>
              <a:rPr lang="en-US" altLang="zh-TW" dirty="0" smtClean="0"/>
              <a:t>better response time </a:t>
            </a:r>
            <a:r>
              <a:rPr lang="en-US" altLang="zh-TW" dirty="0"/>
              <a:t>than SJF</a:t>
            </a:r>
            <a:r>
              <a:rPr lang="en-US" altLang="zh-TW" dirty="0" smtClean="0"/>
              <a:t>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 smtClean="0"/>
              <a:t>Ans</a:t>
            </a:r>
            <a:r>
              <a:rPr lang="en-US" altLang="zh-TW" dirty="0" smtClean="0"/>
              <a:t>:</a:t>
            </a:r>
            <a:r>
              <a:rPr lang="zh-TW" altLang="en-US" dirty="0" smtClean="0"/>
              <a:t> 等一下就會輪到執行了</a:t>
            </a:r>
            <a:r>
              <a:rPr lang="en-US" altLang="zh-TW" dirty="0" smtClean="0">
                <a:sym typeface="Wingdings" panose="05000000000000000000" pitchFamily="2" charset="2"/>
              </a:rPr>
              <a:t>, </a:t>
            </a:r>
            <a:r>
              <a:rPr lang="zh-TW" altLang="en-US" dirty="0" smtClean="0">
                <a:sym typeface="Wingdings" panose="05000000000000000000" pitchFamily="2" charset="2"/>
              </a:rPr>
              <a:t>而</a:t>
            </a:r>
            <a:r>
              <a:rPr lang="en-US" altLang="zh-TW" dirty="0" smtClean="0">
                <a:sym typeface="Wingdings" panose="05000000000000000000" pitchFamily="2" charset="2"/>
              </a:rPr>
              <a:t>SJF</a:t>
            </a:r>
            <a:r>
              <a:rPr lang="zh-TW" altLang="en-US" dirty="0" smtClean="0">
                <a:sym typeface="Wingdings" panose="05000000000000000000" pitchFamily="2" charset="2"/>
              </a:rPr>
              <a:t>方法</a:t>
            </a:r>
            <a:r>
              <a:rPr lang="en-US" altLang="zh-TW" dirty="0" smtClean="0">
                <a:sym typeface="Wingdings" panose="05000000000000000000" pitchFamily="2" charset="2"/>
              </a:rPr>
              <a:t>, </a:t>
            </a:r>
            <a:r>
              <a:rPr lang="zh-TW" altLang="en-US" dirty="0" smtClean="0">
                <a:sym typeface="Wingdings" panose="05000000000000000000" pitchFamily="2" charset="2"/>
              </a:rPr>
              <a:t>如果是</a:t>
            </a:r>
            <a:r>
              <a:rPr lang="en-US" altLang="zh-TW" dirty="0" smtClean="0">
                <a:sym typeface="Wingdings" panose="05000000000000000000" pitchFamily="2" charset="2"/>
              </a:rPr>
              <a:t>big task, </a:t>
            </a:r>
            <a:r>
              <a:rPr lang="zh-TW" altLang="en-US" dirty="0" smtClean="0">
                <a:sym typeface="Wingdings" panose="05000000000000000000" pitchFamily="2" charset="2"/>
              </a:rPr>
              <a:t>可能需要等很久很久</a:t>
            </a:r>
            <a:endParaRPr lang="en-US" altLang="zh-TW" dirty="0"/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76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Round Robin (RR)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3600" dirty="0"/>
              <a:t>Performance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i="1" dirty="0"/>
              <a:t>q</a:t>
            </a:r>
            <a:r>
              <a:rPr lang="en-US" altLang="zh-TW" dirty="0"/>
              <a:t> large </a:t>
            </a:r>
            <a:r>
              <a:rPr lang="en-US" altLang="zh-TW" dirty="0">
                <a:sym typeface="Symbol" pitchFamily="18" charset="2"/>
              </a:rPr>
              <a:t> FCFS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i="1" dirty="0">
                <a:sym typeface="Symbol" pitchFamily="18" charset="2"/>
              </a:rPr>
              <a:t>q </a:t>
            </a:r>
            <a:r>
              <a:rPr lang="en-US" altLang="zh-TW" dirty="0">
                <a:sym typeface="Symbol" pitchFamily="18" charset="2"/>
              </a:rPr>
              <a:t>small  </a:t>
            </a:r>
            <a:r>
              <a:rPr lang="en-US" altLang="zh-TW" b="1" i="1" dirty="0">
                <a:sym typeface="Symbol" pitchFamily="18" charset="2"/>
              </a:rPr>
              <a:t>q </a:t>
            </a:r>
            <a:r>
              <a:rPr lang="en-US" altLang="zh-TW" b="1" dirty="0">
                <a:sym typeface="Symbol" pitchFamily="18" charset="2"/>
              </a:rPr>
              <a:t>must be </a:t>
            </a:r>
            <a:r>
              <a:rPr lang="en-US" altLang="zh-TW" b="1" dirty="0">
                <a:solidFill>
                  <a:srgbClr val="FF3300"/>
                </a:solidFill>
                <a:sym typeface="Symbol" pitchFamily="18" charset="2"/>
              </a:rPr>
              <a:t>large</a:t>
            </a:r>
            <a:r>
              <a:rPr lang="en-US" altLang="zh-TW" b="1" dirty="0">
                <a:sym typeface="Symbol" pitchFamily="18" charset="2"/>
              </a:rPr>
              <a:t> enough so as to reduce the context switch overhead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(see the following slide)</a:t>
            </a:r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Rule </a:t>
            </a:r>
            <a:r>
              <a:rPr lang="en-US" altLang="zh-TW" sz="3600" dirty="0"/>
              <a:t>of thumb: </a:t>
            </a:r>
            <a:r>
              <a:rPr lang="en-US" altLang="zh-TW" sz="3600" i="1" dirty="0">
                <a:solidFill>
                  <a:srgbClr val="FF3300"/>
                </a:solidFill>
              </a:rPr>
              <a:t>80% of CPU bursts should be shorter than the time quantum </a:t>
            </a:r>
            <a:r>
              <a:rPr lang="en-US" altLang="zh-TW" sz="2800" dirty="0">
                <a:solidFill>
                  <a:srgbClr val="000000"/>
                </a:solidFill>
                <a:sym typeface="Symbol" pitchFamily="18" charset="2"/>
              </a:rPr>
              <a:t>(see the following slide)</a:t>
            </a:r>
            <a:endParaRPr lang="en-US" altLang="zh-TW" sz="3600" dirty="0"/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52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6" name="Rectangle 4"/>
          <p:cNvSpPr>
            <a:spLocks noGrp="1" noChangeArrowheads="1"/>
          </p:cNvSpPr>
          <p:nvPr>
            <p:ph type="title"/>
          </p:nvPr>
        </p:nvSpPr>
        <p:spPr>
          <a:xfrm>
            <a:off x="624417" y="166248"/>
            <a:ext cx="109728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/>
              <a:t>How a Smaller Time Quantum Increases Context Switches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3406776" y="5961641"/>
            <a:ext cx="57336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And context switches are not free!!!</a:t>
            </a:r>
          </a:p>
        </p:txBody>
      </p:sp>
      <p:sp>
        <p:nvSpPr>
          <p:cNvPr id="34821" name="Text Box 10"/>
          <p:cNvSpPr txBox="1">
            <a:spLocks noChangeArrowheads="1"/>
          </p:cNvSpPr>
          <p:nvPr/>
        </p:nvSpPr>
        <p:spPr bwMode="auto">
          <a:xfrm>
            <a:off x="1724488" y="5524684"/>
            <a:ext cx="87726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2800" b="1" dirty="0">
                <a:latin typeface="Calibri" panose="020F0502020204030204" pitchFamily="34" charset="0"/>
                <a:ea typeface="MS PGothic" pitchFamily="34" charset="-128"/>
              </a:rPr>
              <a:t>Smaller time quantum, larger number of context switches</a:t>
            </a:r>
            <a:endParaRPr lang="zh-TW" altLang="en-US" sz="2800" b="1" dirty="0">
              <a:latin typeface="Calibri" panose="020F0502020204030204" pitchFamily="34" charset="0"/>
              <a:ea typeface="MS PGothic" pitchFamily="34" charset="-128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64</a:t>
            </a:fld>
            <a:endParaRPr lang="en-US" altLang="zh-TW">
              <a:solidFill>
                <a:srgbClr val="000000"/>
              </a:solidFill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1708726" y="1637871"/>
            <a:ext cx="9088581" cy="3645332"/>
            <a:chOff x="2351088" y="1757941"/>
            <a:chExt cx="7346950" cy="3168650"/>
          </a:xfrm>
        </p:grpSpPr>
        <p:pic>
          <p:nvPicPr>
            <p:cNvPr id="3481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380" t="22278" r="569" b="22531"/>
            <a:stretch>
              <a:fillRect/>
            </a:stretch>
          </p:blipFill>
          <p:spPr bwMode="auto">
            <a:xfrm>
              <a:off x="2351088" y="1757941"/>
              <a:ext cx="7346950" cy="3168650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3" name="矩形 2"/>
            <p:cNvSpPr/>
            <p:nvPr/>
          </p:nvSpPr>
          <p:spPr>
            <a:xfrm>
              <a:off x="5089236" y="3103419"/>
              <a:ext cx="129309" cy="53570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1193" y="3083360"/>
              <a:ext cx="1809750" cy="561975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809753" y="3966010"/>
              <a:ext cx="4311189" cy="932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" name="群組 10"/>
            <p:cNvGrpSpPr/>
            <p:nvPr/>
          </p:nvGrpSpPr>
          <p:grpSpPr>
            <a:xfrm>
              <a:off x="2403184" y="4114367"/>
              <a:ext cx="603240" cy="554144"/>
              <a:chOff x="380416" y="3144551"/>
              <a:chExt cx="603240" cy="55414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9" name="圖片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22" name="群組 21"/>
            <p:cNvGrpSpPr/>
            <p:nvPr/>
          </p:nvGrpSpPr>
          <p:grpSpPr>
            <a:xfrm>
              <a:off x="2998929" y="4109753"/>
              <a:ext cx="603240" cy="554144"/>
              <a:chOff x="380416" y="3144551"/>
              <a:chExt cx="603240" cy="55414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24" name="圖片 2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25" name="群組 24"/>
            <p:cNvGrpSpPr/>
            <p:nvPr/>
          </p:nvGrpSpPr>
          <p:grpSpPr>
            <a:xfrm>
              <a:off x="3603912" y="4105139"/>
              <a:ext cx="603240" cy="554144"/>
              <a:chOff x="380416" y="3144551"/>
              <a:chExt cx="603240" cy="554144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27" name="圖片 2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28" name="群組 27"/>
            <p:cNvGrpSpPr/>
            <p:nvPr/>
          </p:nvGrpSpPr>
          <p:grpSpPr>
            <a:xfrm>
              <a:off x="4190419" y="4100522"/>
              <a:ext cx="603240" cy="554144"/>
              <a:chOff x="380416" y="3144551"/>
              <a:chExt cx="603240" cy="554144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30" name="圖片 2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31" name="群組 30"/>
            <p:cNvGrpSpPr/>
            <p:nvPr/>
          </p:nvGrpSpPr>
          <p:grpSpPr>
            <a:xfrm>
              <a:off x="4790788" y="4100520"/>
              <a:ext cx="603240" cy="554144"/>
              <a:chOff x="380416" y="3144551"/>
              <a:chExt cx="603240" cy="55414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33" name="圖片 3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34" name="群組 33"/>
            <p:cNvGrpSpPr/>
            <p:nvPr/>
          </p:nvGrpSpPr>
          <p:grpSpPr>
            <a:xfrm>
              <a:off x="5395765" y="4095900"/>
              <a:ext cx="603240" cy="554144"/>
              <a:chOff x="380416" y="3144551"/>
              <a:chExt cx="603240" cy="554144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36" name="圖片 3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37" name="群組 36"/>
            <p:cNvGrpSpPr/>
            <p:nvPr/>
          </p:nvGrpSpPr>
          <p:grpSpPr>
            <a:xfrm>
              <a:off x="5973036" y="4100522"/>
              <a:ext cx="603240" cy="554144"/>
              <a:chOff x="380416" y="3144551"/>
              <a:chExt cx="603240" cy="554144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39" name="圖片 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40" name="群組 39"/>
            <p:cNvGrpSpPr/>
            <p:nvPr/>
          </p:nvGrpSpPr>
          <p:grpSpPr>
            <a:xfrm>
              <a:off x="6582638" y="4100521"/>
              <a:ext cx="603240" cy="554144"/>
              <a:chOff x="380416" y="3144551"/>
              <a:chExt cx="603240" cy="554144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42" name="圖片 4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43" name="群組 42"/>
            <p:cNvGrpSpPr/>
            <p:nvPr/>
          </p:nvGrpSpPr>
          <p:grpSpPr>
            <a:xfrm>
              <a:off x="7169147" y="4095907"/>
              <a:ext cx="603240" cy="554144"/>
              <a:chOff x="380416" y="3144551"/>
              <a:chExt cx="603240" cy="55414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45" name="圖片 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grpSp>
          <p:nvGrpSpPr>
            <p:cNvPr id="46" name="群組 45"/>
            <p:cNvGrpSpPr/>
            <p:nvPr/>
          </p:nvGrpSpPr>
          <p:grpSpPr>
            <a:xfrm>
              <a:off x="7760278" y="4086663"/>
              <a:ext cx="603240" cy="554144"/>
              <a:chOff x="380416" y="3144551"/>
              <a:chExt cx="603240" cy="554144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854347" y="3144551"/>
                <a:ext cx="129309" cy="53570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48" name="圖片 4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16" y="3146245"/>
                <a:ext cx="476250" cy="552450"/>
              </a:xfrm>
              <a:prstGeom prst="rect">
                <a:avLst/>
              </a:prstGeom>
            </p:spPr>
          </p:pic>
        </p:grpSp>
        <p:sp>
          <p:nvSpPr>
            <p:cNvPr id="12" name="文字方塊 11"/>
            <p:cNvSpPr txBox="1"/>
            <p:nvPr/>
          </p:nvSpPr>
          <p:spPr>
            <a:xfrm>
              <a:off x="8442038" y="41798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/>
                <a:t>1</a:t>
              </a:r>
              <a:endParaRPr lang="zh-TW" altLang="en-US" b="1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6582638" y="3683560"/>
              <a:ext cx="603240" cy="254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050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複習：</a:t>
            </a:r>
            <a:r>
              <a:rPr lang="en-US" altLang="zh-TW" dirty="0" smtClean="0"/>
              <a:t>Context Switch</a:t>
            </a:r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3" y="1341439"/>
            <a:ext cx="7848872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Text Box 8"/>
          <p:cNvSpPr txBox="1">
            <a:spLocks noChangeArrowheads="1"/>
          </p:cNvSpPr>
          <p:nvPr/>
        </p:nvSpPr>
        <p:spPr bwMode="auto">
          <a:xfrm>
            <a:off x="4223793" y="5703880"/>
            <a:ext cx="11981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process P0</a:t>
            </a:r>
          </a:p>
        </p:txBody>
      </p:sp>
      <p:sp>
        <p:nvSpPr>
          <p:cNvPr id="12293" name="Text Box 9"/>
          <p:cNvSpPr txBox="1">
            <a:spLocks noChangeArrowheads="1"/>
          </p:cNvSpPr>
          <p:nvPr/>
        </p:nvSpPr>
        <p:spPr bwMode="auto">
          <a:xfrm>
            <a:off x="7968209" y="5725081"/>
            <a:ext cx="11981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process P1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4727849" y="1484784"/>
            <a:ext cx="99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P0’s PCB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752185" y="1484784"/>
            <a:ext cx="99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P1’s PCB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55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zh-TW" sz="4000">
                <a:effectLst/>
              </a:rPr>
              <a:t>Turnaround Time Varies With The Time Quantum</a:t>
            </a:r>
            <a:endParaRPr lang="zh-TW" altLang="en-US" sz="4000">
              <a:effectLst/>
            </a:endParaRPr>
          </a:p>
        </p:txBody>
      </p:sp>
      <p:pic>
        <p:nvPicPr>
          <p:cNvPr id="3584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9637" y="1268414"/>
            <a:ext cx="7036090" cy="412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 Box 6"/>
          <p:cNvSpPr txBox="1">
            <a:spLocks noChangeArrowheads="1"/>
          </p:cNvSpPr>
          <p:nvPr/>
        </p:nvSpPr>
        <p:spPr bwMode="auto">
          <a:xfrm>
            <a:off x="1738821" y="5391150"/>
            <a:ext cx="902798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Given four processes: </a:t>
            </a:r>
            <a:r>
              <a:rPr lang="en-US" altLang="zh-TW" sz="2400" i="1" dirty="0">
                <a:latin typeface="Calibri" panose="020F0502020204030204" pitchFamily="34" charset="0"/>
                <a:ea typeface="MS PGothic" pitchFamily="34" charset="-128"/>
              </a:rPr>
              <a:t>p</a:t>
            </a:r>
            <a:r>
              <a:rPr lang="en-US" altLang="zh-TW" sz="2400" i="1" baseline="-25000" dirty="0">
                <a:latin typeface="Calibri" panose="020F0502020204030204" pitchFamily="34" charset="0"/>
                <a:ea typeface="MS PGothic" pitchFamily="34" charset="-128"/>
              </a:rPr>
              <a:t>1</a:t>
            </a: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=6, </a:t>
            </a:r>
            <a:r>
              <a:rPr lang="en-US" altLang="zh-TW" sz="2400" i="1" dirty="0">
                <a:latin typeface="Calibri" panose="020F0502020204030204" pitchFamily="34" charset="0"/>
                <a:ea typeface="MS PGothic" pitchFamily="34" charset="-128"/>
              </a:rPr>
              <a:t>p</a:t>
            </a:r>
            <a:r>
              <a:rPr lang="en-US" altLang="zh-TW" sz="2400" i="1" baseline="-25000" dirty="0">
                <a:latin typeface="Calibri" panose="020F0502020204030204" pitchFamily="34" charset="0"/>
                <a:ea typeface="MS PGothic" pitchFamily="34" charset="-128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=3, </a:t>
            </a:r>
            <a:r>
              <a:rPr lang="en-US" altLang="zh-TW" sz="2400" i="1" dirty="0">
                <a:latin typeface="Calibri" panose="020F0502020204030204" pitchFamily="34" charset="0"/>
                <a:ea typeface="MS PGothic" pitchFamily="34" charset="-128"/>
              </a:rPr>
              <a:t>p</a:t>
            </a:r>
            <a:r>
              <a:rPr lang="en-US" altLang="zh-TW" sz="2400" i="1" baseline="-25000" dirty="0">
                <a:latin typeface="Calibri" panose="020F0502020204030204" pitchFamily="34" charset="0"/>
                <a:ea typeface="MS PGothic" pitchFamily="34" charset="-128"/>
              </a:rPr>
              <a:t>3</a:t>
            </a: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=1, </a:t>
            </a:r>
            <a:r>
              <a:rPr lang="en-US" altLang="zh-TW" sz="2400" i="1" dirty="0">
                <a:latin typeface="Calibri" panose="020F0502020204030204" pitchFamily="34" charset="0"/>
                <a:ea typeface="MS PGothic" pitchFamily="34" charset="-128"/>
              </a:rPr>
              <a:t>p</a:t>
            </a:r>
            <a:r>
              <a:rPr lang="en-US" altLang="zh-TW" sz="2400" i="1" baseline="-25000" dirty="0">
                <a:latin typeface="Calibri" panose="020F0502020204030204" pitchFamily="34" charset="0"/>
                <a:ea typeface="MS PGothic" pitchFamily="34" charset="-128"/>
              </a:rPr>
              <a:t>4</a:t>
            </a: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=7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TW" sz="2400" dirty="0">
                <a:latin typeface="Calibri" panose="020F0502020204030204" pitchFamily="34" charset="0"/>
                <a:ea typeface="MS PGothic" pitchFamily="34" charset="-128"/>
              </a:rPr>
              <a:t>=&gt;The average turnaround time under different value of time quantum</a:t>
            </a:r>
          </a:p>
          <a:p>
            <a:pPr eaLnBrk="0" hangingPunct="0">
              <a:lnSpc>
                <a:spcPct val="150000"/>
              </a:lnSpc>
            </a:pPr>
            <a:endParaRPr lang="zh-TW" altLang="en-US" sz="2400" dirty="0">
              <a:latin typeface="Calibri" panose="020F0502020204030204" pitchFamily="34" charset="0"/>
              <a:ea typeface="MS PGothic" pitchFamily="34" charset="-128"/>
            </a:endParaRP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312153" y="2794319"/>
            <a:ext cx="2909761" cy="2554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80% of CPU bursts should be shorter than </a:t>
            </a:r>
            <a:r>
              <a:rPr kumimoji="0" lang="en-US" altLang="en-US" sz="2000" b="1" i="1" dirty="0">
                <a:solidFill>
                  <a:srgbClr val="FF0000"/>
                </a:solidFill>
                <a:latin typeface="Calibri" panose="020F0502020204030204" pitchFamily="34" charset="0"/>
              </a:rPr>
              <a:t>q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kumimoji="0" lang="en-US" altLang="en-US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q = 0.5 </a:t>
            </a:r>
            <a:r>
              <a:rPr kumimoji="0" lang="en-US" altLang="en-US" sz="2000" b="1" i="1" dirty="0">
                <a:solidFill>
                  <a:srgbClr val="0000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0%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kumimoji="0" lang="en-US" altLang="en-US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q = 2 </a:t>
            </a:r>
            <a:r>
              <a:rPr kumimoji="0" lang="en-US" altLang="en-US" sz="2000" b="1" i="1" dirty="0">
                <a:solidFill>
                  <a:srgbClr val="0000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1/4=25%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kumimoji="0" lang="en-US" altLang="en-US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q = 4 </a:t>
            </a:r>
            <a:r>
              <a:rPr kumimoji="0" lang="en-US" altLang="en-US" sz="2000" b="1" i="1" dirty="0">
                <a:solidFill>
                  <a:srgbClr val="0000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2/4=50%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kumimoji="0" lang="en-US" altLang="en-US" sz="2000" b="1" i="1" dirty="0">
                <a:solidFill>
                  <a:srgbClr val="0000FF"/>
                </a:solidFill>
                <a:latin typeface="Calibri" panose="020F0502020204030204" pitchFamily="34" charset="0"/>
              </a:rPr>
              <a:t>q = 6 </a:t>
            </a:r>
            <a:r>
              <a:rPr kumimoji="0" lang="en-US" altLang="en-US" sz="2000" b="1" i="1" dirty="0">
                <a:solidFill>
                  <a:srgbClr val="0000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3/4=75%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kumimoji="0" lang="en-US" altLang="en-US" sz="2000" b="1" i="1" dirty="0">
                <a:solidFill>
                  <a:srgbClr val="0000FF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…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endParaRPr kumimoji="0" lang="en-US" altLang="en-US" sz="2000" b="1" i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圓角矩形圖說文字 1"/>
          <p:cNvSpPr/>
          <p:nvPr/>
        </p:nvSpPr>
        <p:spPr>
          <a:xfrm>
            <a:off x="8505825" y="828675"/>
            <a:ext cx="1716089" cy="355473"/>
          </a:xfrm>
          <a:prstGeom prst="wedgeRoundRectCallout">
            <a:avLst>
              <a:gd name="adj1" fmla="val -34871"/>
              <a:gd name="adj2" fmla="val 121185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  <a:latin typeface="Calibri" panose="020F0502020204030204" pitchFamily="34" charset="0"/>
              </a:rPr>
              <a:t>CPU Burst Time</a:t>
            </a:r>
            <a:endParaRPr lang="zh-TW" altLang="en-US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35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dirty="0"/>
              <a:t>First-Come, First-Served Scheduling</a:t>
            </a:r>
          </a:p>
          <a:p>
            <a:pPr lvl="1" eaLnBrk="1" hangingPunct="1"/>
            <a:r>
              <a:rPr lang="en-US" altLang="zh-TW" dirty="0"/>
              <a:t>Shortest-Job-First </a:t>
            </a:r>
            <a:r>
              <a:rPr lang="en-US" altLang="zh-TW" dirty="0" smtClean="0"/>
              <a:t>Scheduling</a:t>
            </a:r>
          </a:p>
          <a:p>
            <a:pPr lvl="1" eaLnBrk="1" hangingPunct="1"/>
            <a:r>
              <a:rPr lang="en-US" altLang="zh-TW" dirty="0"/>
              <a:t>Round-Robin Scheduling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Priority </a:t>
            </a:r>
            <a:r>
              <a:rPr lang="en-US" altLang="zh-TW" b="1" dirty="0">
                <a:solidFill>
                  <a:srgbClr val="FF0000"/>
                </a:solidFill>
              </a:rPr>
              <a:t>Scheduling</a:t>
            </a:r>
          </a:p>
          <a:p>
            <a:pPr lvl="1" eaLnBrk="1" hangingPunct="1"/>
            <a:r>
              <a:rPr lang="en-US" altLang="zh-TW" dirty="0" smtClean="0"/>
              <a:t>Multilevel </a:t>
            </a:r>
            <a:r>
              <a:rPr lang="en-US" altLang="zh-TW" dirty="0"/>
              <a:t>Queue Scheduling</a:t>
            </a:r>
          </a:p>
          <a:p>
            <a:pPr lvl="1" eaLnBrk="1" hangingPunct="1"/>
            <a:r>
              <a:rPr lang="en-US" altLang="zh-TW" dirty="0"/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42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Priority Scheduling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 priority number (</a:t>
            </a:r>
            <a:r>
              <a:rPr lang="en-US" altLang="zh-TW" sz="2800" dirty="0" smtClean="0"/>
              <a:t>integer, say 5, ) </a:t>
            </a:r>
            <a:r>
              <a:rPr lang="en-US" altLang="zh-TW" sz="2800" dirty="0"/>
              <a:t>is associated with each process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CPU is allocated to the process with the highest priority</a:t>
            </a:r>
            <a:endParaRPr lang="en-US" altLang="zh-TW" sz="2800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Preemptive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Non-preemptive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Q: </a:t>
            </a:r>
            <a:r>
              <a:rPr lang="zh-TW" altLang="en-US" sz="2800" dirty="0" smtClean="0"/>
              <a:t>只看</a:t>
            </a:r>
            <a:r>
              <a:rPr lang="en-US" altLang="zh-TW" sz="2800" dirty="0" smtClean="0"/>
              <a:t>priority</a:t>
            </a:r>
            <a:r>
              <a:rPr lang="zh-TW" altLang="en-US" sz="2800" dirty="0" smtClean="0"/>
              <a:t>做為排程的依據會有什麼問題呢</a:t>
            </a:r>
            <a:r>
              <a:rPr lang="en-US" altLang="zh-TW" sz="2800" dirty="0" smtClean="0"/>
              <a:t>?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05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Priority </a:t>
            </a:r>
            <a:r>
              <a:rPr lang="en-US" altLang="zh-TW" dirty="0" smtClean="0"/>
              <a:t>Scheduling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starvation</a:t>
            </a:r>
            <a:r>
              <a:rPr lang="en-US" altLang="zh-TW" b="1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or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indefinite blocking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ym typeface="Symbol" pitchFamily="18" charset="2"/>
              </a:rPr>
              <a:t>Low priority processes may never execute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ym typeface="Symbol" pitchFamily="18" charset="2"/>
              </a:rPr>
              <a:t>At MIT, there was a job submitted in 1967 that had not been run when the system IBM 7094 was shutdown in 1973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dirty="0">
                <a:sym typeface="Symbol" pitchFamily="18" charset="2"/>
              </a:rPr>
              <a:t>怎麼辦</a:t>
            </a:r>
            <a:r>
              <a:rPr lang="zh-TW" altLang="en-US" dirty="0" smtClean="0">
                <a:sym typeface="Symbol" pitchFamily="18" charset="2"/>
              </a:rPr>
              <a:t>呢</a:t>
            </a:r>
            <a:r>
              <a:rPr lang="en-US" altLang="zh-TW" dirty="0" smtClean="0"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sym typeface="Symbol" pitchFamily="18" charset="2"/>
              </a:rPr>
              <a:t>Solution </a:t>
            </a:r>
            <a:r>
              <a:rPr lang="en-US" altLang="zh-TW" dirty="0">
                <a:sym typeface="Symbol" pitchFamily="18" charset="2"/>
              </a:rPr>
              <a:t>: </a:t>
            </a:r>
            <a:r>
              <a:rPr lang="en-US" altLang="zh-TW" b="1" dirty="0">
                <a:sym typeface="Symbol" pitchFamily="18" charset="2"/>
              </a:rPr>
              <a:t>aging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sym typeface="Symbol" pitchFamily="18" charset="2"/>
              </a:rPr>
              <a:t>As time progresses increase the priority of the process</a:t>
            </a:r>
          </a:p>
          <a:p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69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3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Example of Priority Scheduling</a:t>
            </a:r>
          </a:p>
        </p:txBody>
      </p:sp>
      <p:grpSp>
        <p:nvGrpSpPr>
          <p:cNvPr id="30723" name="Group 30"/>
          <p:cNvGrpSpPr>
            <a:grpSpLocks/>
          </p:cNvGrpSpPr>
          <p:nvPr/>
        </p:nvGrpSpPr>
        <p:grpSpPr bwMode="auto">
          <a:xfrm>
            <a:off x="3057526" y="4400553"/>
            <a:ext cx="5565775" cy="1130301"/>
            <a:chOff x="832" y="2477"/>
            <a:chExt cx="3506" cy="712"/>
          </a:xfrm>
        </p:grpSpPr>
        <p:sp>
          <p:nvSpPr>
            <p:cNvPr id="30755" name="Rectangle 4"/>
            <p:cNvSpPr>
              <a:spLocks noChangeArrowheads="1"/>
            </p:cNvSpPr>
            <p:nvPr/>
          </p:nvSpPr>
          <p:spPr bwMode="auto">
            <a:xfrm flipH="1">
              <a:off x="928" y="2477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0756" name="Text Box 5"/>
            <p:cNvSpPr txBox="1">
              <a:spLocks noChangeArrowheads="1"/>
            </p:cNvSpPr>
            <p:nvPr/>
          </p:nvSpPr>
          <p:spPr bwMode="auto">
            <a:xfrm flipH="1">
              <a:off x="1556" y="2564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P</a:t>
              </a:r>
              <a:r>
                <a:rPr lang="en-US" altLang="zh-TW" baseline="-25000">
                  <a:latin typeface="Calibri" panose="020F0502020204030204" pitchFamily="34" charset="0"/>
                </a:rPr>
                <a:t>5</a:t>
              </a:r>
              <a:endParaRPr lang="en-US" altLang="zh-TW">
                <a:latin typeface="Calibri" panose="020F0502020204030204" pitchFamily="34" charset="0"/>
              </a:endParaRPr>
            </a:p>
          </p:txBody>
        </p:sp>
        <p:sp>
          <p:nvSpPr>
            <p:cNvPr id="30757" name="Text Box 6"/>
            <p:cNvSpPr txBox="1">
              <a:spLocks noChangeArrowheads="1"/>
            </p:cNvSpPr>
            <p:nvPr/>
          </p:nvSpPr>
          <p:spPr bwMode="auto">
            <a:xfrm flipH="1">
              <a:off x="3540" y="2564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P</a:t>
              </a:r>
              <a:r>
                <a:rPr lang="en-US" altLang="zh-TW" baseline="-25000">
                  <a:latin typeface="Calibri" panose="020F0502020204030204" pitchFamily="34" charset="0"/>
                </a:rPr>
                <a:t>3</a:t>
              </a:r>
              <a:endParaRPr lang="en-US" altLang="zh-TW">
                <a:latin typeface="Calibri" panose="020F0502020204030204" pitchFamily="34" charset="0"/>
              </a:endParaRPr>
            </a:p>
          </p:txBody>
        </p:sp>
        <p:sp>
          <p:nvSpPr>
            <p:cNvPr id="30758" name="Text Box 7"/>
            <p:cNvSpPr txBox="1">
              <a:spLocks noChangeArrowheads="1"/>
            </p:cNvSpPr>
            <p:nvPr/>
          </p:nvSpPr>
          <p:spPr bwMode="auto">
            <a:xfrm flipH="1">
              <a:off x="972" y="2564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P</a:t>
              </a:r>
              <a:r>
                <a:rPr lang="en-US" altLang="zh-TW" baseline="-25000">
                  <a:latin typeface="Calibri" panose="020F0502020204030204" pitchFamily="34" charset="0"/>
                </a:rPr>
                <a:t>2</a:t>
              </a:r>
              <a:endParaRPr lang="en-US" altLang="zh-TW">
                <a:latin typeface="Calibri" panose="020F0502020204030204" pitchFamily="34" charset="0"/>
              </a:endParaRPr>
            </a:p>
          </p:txBody>
        </p:sp>
        <p:sp>
          <p:nvSpPr>
            <p:cNvPr id="30759" name="Line 8"/>
            <p:cNvSpPr>
              <a:spLocks noChangeShapeType="1"/>
            </p:cNvSpPr>
            <p:nvPr/>
          </p:nvSpPr>
          <p:spPr bwMode="auto">
            <a:xfrm flipH="1">
              <a:off x="4240" y="286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0760" name="Line 9"/>
            <p:cNvSpPr>
              <a:spLocks noChangeShapeType="1"/>
            </p:cNvSpPr>
            <p:nvPr/>
          </p:nvSpPr>
          <p:spPr bwMode="auto">
            <a:xfrm flipH="1">
              <a:off x="928" y="286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grpSp>
          <p:nvGrpSpPr>
            <p:cNvPr id="30761" name="Group 10"/>
            <p:cNvGrpSpPr>
              <a:grpSpLocks/>
            </p:cNvGrpSpPr>
            <p:nvPr/>
          </p:nvGrpSpPr>
          <p:grpSpPr bwMode="auto">
            <a:xfrm>
              <a:off x="2072" y="2477"/>
              <a:ext cx="0" cy="528"/>
              <a:chOff x="2072" y="2897"/>
              <a:chExt cx="0" cy="528"/>
            </a:xfrm>
          </p:grpSpPr>
          <p:sp>
            <p:nvSpPr>
              <p:cNvPr id="30778" name="Line 11"/>
              <p:cNvSpPr>
                <a:spLocks noChangeShapeType="1"/>
              </p:cNvSpPr>
              <p:nvPr/>
            </p:nvSpPr>
            <p:spPr bwMode="auto">
              <a:xfrm flipH="1">
                <a:off x="2072" y="289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30779" name="Line 12"/>
              <p:cNvSpPr>
                <a:spLocks noChangeShapeType="1"/>
              </p:cNvSpPr>
              <p:nvPr/>
            </p:nvSpPr>
            <p:spPr bwMode="auto">
              <a:xfrm flipH="1">
                <a:off x="2072" y="3281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0762" name="Text Box 13"/>
            <p:cNvSpPr txBox="1">
              <a:spLocks noChangeArrowheads="1"/>
            </p:cNvSpPr>
            <p:nvPr/>
          </p:nvSpPr>
          <p:spPr bwMode="auto">
            <a:xfrm flipH="1">
              <a:off x="1972" y="295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30763" name="Text Box 14"/>
            <p:cNvSpPr txBox="1">
              <a:spLocks noChangeArrowheads="1"/>
            </p:cNvSpPr>
            <p:nvPr/>
          </p:nvSpPr>
          <p:spPr bwMode="auto">
            <a:xfrm flipH="1">
              <a:off x="4074" y="2956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19</a:t>
              </a:r>
            </a:p>
          </p:txBody>
        </p:sp>
        <p:sp>
          <p:nvSpPr>
            <p:cNvPr id="30764" name="Text Box 15"/>
            <p:cNvSpPr txBox="1">
              <a:spLocks noChangeArrowheads="1"/>
            </p:cNvSpPr>
            <p:nvPr/>
          </p:nvSpPr>
          <p:spPr bwMode="auto">
            <a:xfrm flipH="1">
              <a:off x="832" y="295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30765" name="Text Box 16"/>
            <p:cNvSpPr txBox="1">
              <a:spLocks noChangeArrowheads="1"/>
            </p:cNvSpPr>
            <p:nvPr/>
          </p:nvSpPr>
          <p:spPr bwMode="auto">
            <a:xfrm flipH="1">
              <a:off x="3948" y="2564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P</a:t>
              </a:r>
              <a:r>
                <a:rPr lang="en-US" altLang="zh-TW" baseline="-25000">
                  <a:latin typeface="Calibri" panose="020F0502020204030204" pitchFamily="34" charset="0"/>
                </a:rPr>
                <a:t>4</a:t>
              </a:r>
              <a:endParaRPr lang="en-US" altLang="zh-TW">
                <a:latin typeface="Calibri" panose="020F0502020204030204" pitchFamily="34" charset="0"/>
              </a:endParaRPr>
            </a:p>
          </p:txBody>
        </p:sp>
        <p:sp>
          <p:nvSpPr>
            <p:cNvPr id="30766" name="Line 17"/>
            <p:cNvSpPr>
              <a:spLocks noChangeShapeType="1"/>
            </p:cNvSpPr>
            <p:nvPr/>
          </p:nvSpPr>
          <p:spPr bwMode="auto">
            <a:xfrm flipH="1">
              <a:off x="3424" y="2477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0767" name="Line 18"/>
            <p:cNvSpPr>
              <a:spLocks noChangeShapeType="1"/>
            </p:cNvSpPr>
            <p:nvPr/>
          </p:nvSpPr>
          <p:spPr bwMode="auto">
            <a:xfrm flipH="1">
              <a:off x="3424" y="286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0768" name="Text Box 19"/>
            <p:cNvSpPr txBox="1">
              <a:spLocks noChangeArrowheads="1"/>
            </p:cNvSpPr>
            <p:nvPr/>
          </p:nvSpPr>
          <p:spPr bwMode="auto">
            <a:xfrm flipH="1">
              <a:off x="3286" y="2956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16</a:t>
              </a:r>
            </a:p>
          </p:txBody>
        </p:sp>
        <p:sp>
          <p:nvSpPr>
            <p:cNvPr id="30769" name="Text Box 20"/>
            <p:cNvSpPr txBox="1">
              <a:spLocks noChangeArrowheads="1"/>
            </p:cNvSpPr>
            <p:nvPr/>
          </p:nvSpPr>
          <p:spPr bwMode="auto">
            <a:xfrm flipH="1">
              <a:off x="1136" y="295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30770" name="Text Box 21"/>
            <p:cNvSpPr txBox="1">
              <a:spLocks noChangeArrowheads="1"/>
            </p:cNvSpPr>
            <p:nvPr/>
          </p:nvSpPr>
          <p:spPr bwMode="auto">
            <a:xfrm flipH="1">
              <a:off x="2500" y="2564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P</a:t>
              </a:r>
              <a:r>
                <a:rPr lang="en-US" altLang="zh-TW" baseline="-25000">
                  <a:latin typeface="Calibri" panose="020F0502020204030204" pitchFamily="34" charset="0"/>
                </a:rPr>
                <a:t>1</a:t>
              </a:r>
              <a:endParaRPr lang="en-US" altLang="zh-TW">
                <a:latin typeface="Calibri" panose="020F0502020204030204" pitchFamily="34" charset="0"/>
              </a:endParaRPr>
            </a:p>
          </p:txBody>
        </p:sp>
        <p:grpSp>
          <p:nvGrpSpPr>
            <p:cNvPr id="30771" name="Group 22"/>
            <p:cNvGrpSpPr>
              <a:grpSpLocks/>
            </p:cNvGrpSpPr>
            <p:nvPr/>
          </p:nvGrpSpPr>
          <p:grpSpPr bwMode="auto">
            <a:xfrm>
              <a:off x="1240" y="2477"/>
              <a:ext cx="0" cy="528"/>
              <a:chOff x="2072" y="2897"/>
              <a:chExt cx="0" cy="528"/>
            </a:xfrm>
          </p:grpSpPr>
          <p:sp>
            <p:nvSpPr>
              <p:cNvPr id="30776" name="Line 23"/>
              <p:cNvSpPr>
                <a:spLocks noChangeShapeType="1"/>
              </p:cNvSpPr>
              <p:nvPr/>
            </p:nvSpPr>
            <p:spPr bwMode="auto">
              <a:xfrm flipH="1">
                <a:off x="2072" y="289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30777" name="Line 24"/>
              <p:cNvSpPr>
                <a:spLocks noChangeShapeType="1"/>
              </p:cNvSpPr>
              <p:nvPr/>
            </p:nvSpPr>
            <p:spPr bwMode="auto">
              <a:xfrm flipH="1">
                <a:off x="2072" y="3281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30772" name="Group 25"/>
            <p:cNvGrpSpPr>
              <a:grpSpLocks/>
            </p:cNvGrpSpPr>
            <p:nvPr/>
          </p:nvGrpSpPr>
          <p:grpSpPr bwMode="auto">
            <a:xfrm>
              <a:off x="3944" y="2477"/>
              <a:ext cx="0" cy="528"/>
              <a:chOff x="2072" y="2897"/>
              <a:chExt cx="0" cy="528"/>
            </a:xfrm>
          </p:grpSpPr>
          <p:sp>
            <p:nvSpPr>
              <p:cNvPr id="30774" name="Line 26"/>
              <p:cNvSpPr>
                <a:spLocks noChangeShapeType="1"/>
              </p:cNvSpPr>
              <p:nvPr/>
            </p:nvSpPr>
            <p:spPr bwMode="auto">
              <a:xfrm flipH="1">
                <a:off x="2072" y="289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30775" name="Line 27"/>
              <p:cNvSpPr>
                <a:spLocks noChangeShapeType="1"/>
              </p:cNvSpPr>
              <p:nvPr/>
            </p:nvSpPr>
            <p:spPr bwMode="auto">
              <a:xfrm flipH="1">
                <a:off x="2072" y="3281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0773" name="Text Box 28"/>
            <p:cNvSpPr txBox="1">
              <a:spLocks noChangeArrowheads="1"/>
            </p:cNvSpPr>
            <p:nvPr/>
          </p:nvSpPr>
          <p:spPr bwMode="auto">
            <a:xfrm flipH="1">
              <a:off x="3790" y="2956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TW">
                  <a:latin typeface="Calibri" panose="020F0502020204030204" pitchFamily="34" charset="0"/>
                </a:rPr>
                <a:t>18</a:t>
              </a:r>
            </a:p>
          </p:txBody>
        </p:sp>
      </p:grpSp>
      <p:sp>
        <p:nvSpPr>
          <p:cNvPr id="30724" name="Text Box 29"/>
          <p:cNvSpPr txBox="1">
            <a:spLocks noChangeArrowheads="1"/>
          </p:cNvSpPr>
          <p:nvPr/>
        </p:nvSpPr>
        <p:spPr bwMode="auto">
          <a:xfrm>
            <a:off x="3071813" y="5703893"/>
            <a:ext cx="6110287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TW" sz="2400" kern="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Assume smallest integer </a:t>
            </a:r>
            <a:r>
              <a:rPr kumimoji="1" lang="en-US" altLang="zh-TW" sz="2400" kern="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sym typeface="Symbol" pitchFamily="18" charset="2"/>
              </a:rPr>
              <a:t> highest priority </a:t>
            </a: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Average Waiting Time = 8.2</a:t>
            </a:r>
          </a:p>
        </p:txBody>
      </p:sp>
      <p:graphicFrame>
        <p:nvGraphicFramePr>
          <p:cNvPr id="348225" name="Group 6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9544618"/>
              </p:ext>
            </p:extLst>
          </p:nvPr>
        </p:nvGraphicFramePr>
        <p:xfrm>
          <a:off x="2913064" y="1281113"/>
          <a:ext cx="6130925" cy="2743200"/>
        </p:xfrm>
        <a:graphic>
          <a:graphicData uri="http://schemas.openxmlformats.org/drawingml/2006/table">
            <a:tbl>
              <a:tblPr/>
              <a:tblGrid>
                <a:gridCol w="204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Burst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Priority</a:t>
                      </a:r>
                      <a:endParaRPr kumimoji="1" lang="en-US" altLang="zh-TW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A9DD50-014C-4D16-9EE9-232BB439DA08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0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dirty="0"/>
              <a:t>First-Come, First-Served Scheduling</a:t>
            </a:r>
          </a:p>
          <a:p>
            <a:pPr lvl="1" eaLnBrk="1" hangingPunct="1"/>
            <a:r>
              <a:rPr lang="en-US" altLang="zh-TW" dirty="0"/>
              <a:t>Shortest-Job-First Scheduling</a:t>
            </a:r>
          </a:p>
          <a:p>
            <a:pPr lvl="1" eaLnBrk="1" hangingPunct="1"/>
            <a:r>
              <a:rPr lang="en-US" altLang="zh-TW" dirty="0"/>
              <a:t>Priority Scheduling</a:t>
            </a:r>
          </a:p>
          <a:p>
            <a:pPr lvl="1" eaLnBrk="1" hangingPunct="1"/>
            <a:r>
              <a:rPr lang="en-US" altLang="zh-TW" dirty="0"/>
              <a:t>Round-Robin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Multilevel Queue Scheduling</a:t>
            </a:r>
          </a:p>
          <a:p>
            <a:pPr lvl="1" eaLnBrk="1" hangingPunct="1"/>
            <a:r>
              <a:rPr lang="en-US" altLang="zh-TW" dirty="0"/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79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Multilevel Queue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Question: if two or more processes have the same priority?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Sol.: combine </a:t>
            </a:r>
            <a:r>
              <a:rPr lang="en-US" altLang="en-US" b="1" dirty="0" smtClean="0">
                <a:solidFill>
                  <a:srgbClr val="FF0000"/>
                </a:solidFill>
              </a:rPr>
              <a:t>RR</a:t>
            </a:r>
            <a:r>
              <a:rPr lang="en-US" altLang="en-US" dirty="0" smtClean="0"/>
              <a:t> with </a:t>
            </a:r>
            <a:r>
              <a:rPr lang="en-US" altLang="en-US" b="1" dirty="0" smtClean="0">
                <a:solidFill>
                  <a:srgbClr val="FF0000"/>
                </a:solidFill>
              </a:rPr>
              <a:t>priority</a:t>
            </a:r>
            <a:r>
              <a:rPr lang="en-US" altLang="en-US" dirty="0" smtClean="0"/>
              <a:t> scheduling</a:t>
            </a:r>
          </a:p>
          <a:p>
            <a:pPr lvl="1"/>
            <a:r>
              <a:rPr lang="en-US" altLang="en-US" dirty="0" smtClean="0"/>
              <a:t>Run </a:t>
            </a:r>
            <a:r>
              <a:rPr lang="en-US" altLang="en-US" dirty="0"/>
              <a:t>the process with the highest </a:t>
            </a:r>
            <a:r>
              <a:rPr lang="en-US" altLang="en-US" dirty="0" smtClean="0"/>
              <a:t>priority.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Processes </a:t>
            </a:r>
            <a:r>
              <a:rPr lang="en-US" altLang="en-US" dirty="0"/>
              <a:t>with the same priority </a:t>
            </a:r>
            <a:r>
              <a:rPr lang="en-US" altLang="en-US" dirty="0" smtClean="0"/>
              <a:t>use round-robin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See the following slide</a:t>
            </a:r>
            <a:endParaRPr lang="en-US" altLang="en-US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86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Priority Scheduling </a:t>
            </a:r>
            <a:r>
              <a:rPr lang="en-US" altLang="en-US" dirty="0" smtClean="0"/>
              <a:t>with </a:t>
            </a:r>
            <a:r>
              <a:rPr lang="en-US" altLang="en-US" dirty="0"/>
              <a:t>Round-Robin</a:t>
            </a:r>
            <a:endParaRPr lang="zh-TW" altLang="en-US" dirty="0"/>
          </a:p>
        </p:txBody>
      </p:sp>
      <p:sp>
        <p:nvSpPr>
          <p:cNvPr id="5" name="Rectangle 36"/>
          <p:cNvSpPr txBox="1">
            <a:spLocks noChangeArrowheads="1"/>
          </p:cNvSpPr>
          <p:nvPr/>
        </p:nvSpPr>
        <p:spPr bwMode="auto">
          <a:xfrm>
            <a:off x="2139506" y="1235360"/>
            <a:ext cx="8337550" cy="488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         </a:t>
            </a:r>
            <a:r>
              <a:rPr lang="en-US" altLang="en-US" sz="2400" b="1" u="sng" kern="0" dirty="0" err="1">
                <a:solidFill>
                  <a:srgbClr val="000000"/>
                </a:solidFill>
                <a:latin typeface="Calibri" panose="020F0502020204030204" pitchFamily="34" charset="0"/>
              </a:rPr>
              <a:t>Process</a:t>
            </a:r>
            <a:r>
              <a:rPr lang="en-US" altLang="en-US" sz="2400" b="1" u="sng" kern="0" dirty="0" err="1">
                <a:solidFill>
                  <a:srgbClr val="FFFFFF"/>
                </a:solidFill>
                <a:latin typeface="Calibri" panose="020F0502020204030204" pitchFamily="34" charset="0"/>
              </a:rPr>
              <a:t>A</a:t>
            </a:r>
            <a:r>
              <a:rPr lang="en-US" altLang="en-US" sz="2400" b="1" u="sng" kern="0" dirty="0">
                <a:solidFill>
                  <a:srgbClr val="FFFFFF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2400" b="1" u="sng" kern="0" dirty="0" err="1">
                <a:solidFill>
                  <a:srgbClr val="FFFFFF"/>
                </a:solidFill>
                <a:latin typeface="Calibri" panose="020F0502020204030204" pitchFamily="34" charset="0"/>
              </a:rPr>
              <a:t>arri</a:t>
            </a:r>
            <a:r>
              <a:rPr lang="en-US" altLang="en-US" sz="2400" b="1" u="sng" kern="0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400" b="1" u="sng" kern="0" dirty="0">
                <a:solidFill>
                  <a:srgbClr val="000000"/>
                </a:solidFill>
                <a:latin typeface="Calibri" panose="020F0502020204030204" pitchFamily="34" charset="0"/>
              </a:rPr>
              <a:t>Burst </a:t>
            </a:r>
            <a:r>
              <a:rPr lang="en-US" altLang="en-US" sz="2400" b="1" u="sng" kern="0" dirty="0" err="1">
                <a:solidFill>
                  <a:srgbClr val="000000"/>
                </a:solidFill>
                <a:latin typeface="Calibri" panose="020F0502020204030204" pitchFamily="34" charset="0"/>
              </a:rPr>
              <a:t>Time</a:t>
            </a:r>
            <a:r>
              <a:rPr lang="en-US" altLang="en-US" sz="2400" b="1" u="sng" kern="0" dirty="0" err="1">
                <a:solidFill>
                  <a:srgbClr val="FFFFFF"/>
                </a:solidFill>
                <a:latin typeface="Calibri" panose="020F0502020204030204" pitchFamily="34" charset="0"/>
              </a:rPr>
              <a:t>T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2400" b="1" u="sng" kern="0" dirty="0">
                <a:solidFill>
                  <a:srgbClr val="000000"/>
                </a:solidFill>
                <a:latin typeface="Calibri" panose="020F0502020204030204" pitchFamily="34" charset="0"/>
              </a:rPr>
              <a:t>Priority</a:t>
            </a:r>
            <a:endParaRPr lang="en-US" altLang="en-US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 </a:t>
            </a:r>
            <a:r>
              <a:rPr lang="en-US" altLang="en-US" sz="2400" b="1" i="1" kern="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US" altLang="en-US" sz="2400" b="1" i="1" kern="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4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 </a:t>
            </a:r>
            <a:r>
              <a:rPr lang="en-US" altLang="en-US" sz="2400" b="1" i="1" kern="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US" altLang="en-US" sz="2400" b="1" i="1" kern="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2 	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5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 </a:t>
            </a:r>
            <a:r>
              <a:rPr lang="en-US" altLang="en-US" sz="2400" b="1" i="1" kern="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US" altLang="en-US" sz="2400" b="1" i="1" kern="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8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 </a:t>
            </a:r>
            <a:r>
              <a:rPr lang="en-US" altLang="en-US" sz="2400" b="1" i="1" kern="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US" altLang="en-US" sz="2400" b="1" i="1" kern="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7	1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		</a:t>
            </a:r>
            <a:r>
              <a:rPr lang="en-US" altLang="en-US" sz="2400" b="1" i="1" kern="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en-US" altLang="en-US" sz="2400" b="1" i="1" kern="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5	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3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endParaRPr lang="en-US" altLang="en-US" sz="2400" b="1" kern="0" baseline="-25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1600200" algn="ctr"/>
                <a:tab pos="3251200" algn="ctr"/>
                <a:tab pos="5140325" algn="ctr"/>
              </a:tabLst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Gantt Chart wit 2 </a:t>
            </a:r>
            <a:r>
              <a:rPr lang="en-US" altLang="en-US" sz="2400" b="1" i="1" kern="0" dirty="0" err="1">
                <a:solidFill>
                  <a:srgbClr val="000000"/>
                </a:solidFill>
                <a:latin typeface="Calibri" panose="020F0502020204030204" pitchFamily="34" charset="0"/>
              </a:rPr>
              <a:t>ms</a:t>
            </a:r>
            <a:r>
              <a:rPr lang="en-US" altLang="en-US" sz="2400" b="1" kern="0" dirty="0">
                <a:solidFill>
                  <a:srgbClr val="000000"/>
                </a:solidFill>
                <a:latin typeface="Calibri" panose="020F0502020204030204" pitchFamily="34" charset="0"/>
              </a:rPr>
              <a:t> time quantum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  <a:defRPr/>
            </a:pPr>
            <a:endParaRPr lang="en-US" altLang="en-US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1600200" algn="ctr"/>
                <a:tab pos="3251200" algn="ctr"/>
                <a:tab pos="5140325" algn="ctr"/>
              </a:tabLst>
              <a:defRPr/>
            </a:pPr>
            <a:endParaRPr lang="en-US" altLang="en-US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1600200" algn="ctr"/>
                <a:tab pos="3251200" algn="ctr"/>
                <a:tab pos="5140325" algn="ctr"/>
              </a:tabLst>
              <a:defRPr/>
            </a:pPr>
            <a:endParaRPr lang="en-US" altLang="en-US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  <a:defRPr/>
            </a:pPr>
            <a:endParaRPr lang="en-US" altLang="en-US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221" y="5169592"/>
            <a:ext cx="7810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0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4800" dirty="0"/>
              <a:t>Question: </a:t>
            </a:r>
            <a:r>
              <a:rPr lang="zh-TW" altLang="en-US" sz="4800" dirty="0" smtClean="0"/>
              <a:t>該使用什麼資料結構</a:t>
            </a:r>
            <a:r>
              <a:rPr lang="en-US" altLang="zh-TW" sz="4800" dirty="0" smtClean="0"/>
              <a:t>(How about the data structure)?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en-US" altLang="zh-TW" dirty="0"/>
              <a:t>If a single </a:t>
            </a:r>
            <a:r>
              <a:rPr lang="en-US" altLang="zh-TW" dirty="0" smtClean="0"/>
              <a:t>queue is used, </a:t>
            </a:r>
            <a:r>
              <a:rPr lang="en-US" altLang="zh-TW" dirty="0"/>
              <a:t>O(n) search is necessary each time</a:t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228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Multilevel Queue </a:t>
            </a:r>
            <a:r>
              <a:rPr lang="en-US" altLang="zh-TW" dirty="0" smtClean="0"/>
              <a:t>Scheduling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b="1" dirty="0" smtClean="0">
                <a:solidFill>
                  <a:srgbClr val="FF0000"/>
                </a:solidFill>
              </a:rPr>
              <a:t>Sol</a:t>
            </a:r>
            <a:r>
              <a:rPr lang="en-US" altLang="zh-TW" sz="2800" b="1" dirty="0">
                <a:solidFill>
                  <a:srgbClr val="FF0000"/>
                </a:solidFill>
              </a:rPr>
              <a:t>.: Multilevel queue </a:t>
            </a:r>
            <a:r>
              <a:rPr lang="en-US" altLang="zh-TW" sz="2800" dirty="0"/>
              <a:t>is used instead</a:t>
            </a:r>
            <a:endParaRPr lang="zh-TW" altLang="en-US" sz="2800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36" y="2206383"/>
            <a:ext cx="7324437" cy="389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89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Multilevel Queue Scheduling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/>
              <a:t>Multilevel queue scheduling </a:t>
            </a:r>
            <a:r>
              <a:rPr lang="en-US" altLang="zh-TW" sz="2800" dirty="0"/>
              <a:t>can also be used when processes are </a:t>
            </a:r>
            <a:r>
              <a:rPr lang="en-US" altLang="zh-TW" sz="2800" dirty="0" smtClean="0"/>
              <a:t>classified </a:t>
            </a:r>
            <a:r>
              <a:rPr lang="en-US" altLang="zh-TW" sz="2800" dirty="0"/>
              <a:t>into </a:t>
            </a:r>
            <a:r>
              <a:rPr lang="en-US" altLang="zh-TW" sz="2800" b="1" dirty="0">
                <a:solidFill>
                  <a:srgbClr val="FF0000"/>
                </a:solidFill>
              </a:rPr>
              <a:t>different types</a:t>
            </a:r>
          </a:p>
          <a:p>
            <a:pPr lvl="1" eaLnBrk="1" hangingPunct="1"/>
            <a:r>
              <a:rPr lang="en-US" altLang="zh-TW" sz="2400" dirty="0"/>
              <a:t>E.g., foreground (interactive) and background (batch)</a:t>
            </a:r>
          </a:p>
          <a:p>
            <a:pPr lvl="1" eaLnBrk="1" hangingPunct="1"/>
            <a:endParaRPr lang="en-US" altLang="zh-TW" sz="24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262643" y="3296702"/>
            <a:ext cx="7728627" cy="2486256"/>
            <a:chOff x="827088" y="1773238"/>
            <a:chExt cx="7728627" cy="3457575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51050" y="2420938"/>
              <a:ext cx="5545138" cy="792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foreground (interactive): RR</a:t>
              </a: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051050" y="4076700"/>
              <a:ext cx="5329238" cy="792163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background (batch): FCFS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7740650" y="2205038"/>
              <a:ext cx="0" cy="302577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6877050" y="1773238"/>
              <a:ext cx="1678665" cy="556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</a:rPr>
                <a:t>higher priority</a:t>
              </a: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827088" y="2852738"/>
              <a:ext cx="1223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827088" y="4508500"/>
              <a:ext cx="1223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3493385" y="5782959"/>
            <a:ext cx="522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Calibri" panose="020F0502020204030204" pitchFamily="34" charset="0"/>
              </a:rPr>
              <a:t>Example: A Two-Level Queue Scheduling</a:t>
            </a:r>
            <a:endParaRPr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8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/>
          <p:cNvSpPr/>
          <p:nvPr/>
        </p:nvSpPr>
        <p:spPr>
          <a:xfrm>
            <a:off x="1535437" y="2210558"/>
            <a:ext cx="9183037" cy="166319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ysClr val="windowText" lastClr="00000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In this example, why RR is used for foreground processes and FCFS is used for background processes?</a:t>
            </a:r>
            <a:endParaRPr lang="zh-TW" altLang="en-US" sz="3200" dirty="0">
              <a:solidFill>
                <a:sysClr val="windowText" lastClr="000000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76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Multilevel Queue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Ready queue is partitioned into </a:t>
            </a:r>
            <a:r>
              <a:rPr lang="en-US" altLang="zh-TW" dirty="0">
                <a:solidFill>
                  <a:srgbClr val="FF3300"/>
                </a:solidFill>
              </a:rPr>
              <a:t>separate queues</a:t>
            </a:r>
            <a:r>
              <a:rPr lang="en-US" altLang="zh-TW" dirty="0"/>
              <a:t>:</a:t>
            </a:r>
          </a:p>
          <a:p>
            <a:pPr lvl="1" eaLnBrk="1" hangingPunct="1"/>
            <a:r>
              <a:rPr lang="en-US" altLang="zh-TW" dirty="0" smtClean="0"/>
              <a:t>According to </a:t>
            </a:r>
            <a:r>
              <a:rPr lang="en-US" altLang="zh-TW" b="1" dirty="0" smtClean="0"/>
              <a:t>process properties </a:t>
            </a:r>
            <a:r>
              <a:rPr lang="en-US" altLang="zh-TW" dirty="0" smtClean="0"/>
              <a:t>and </a:t>
            </a:r>
            <a:r>
              <a:rPr lang="en-US" altLang="zh-TW" b="1" dirty="0" smtClean="0"/>
              <a:t>scheduling needs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 smtClean="0"/>
              <a:t>Each </a:t>
            </a:r>
            <a:r>
              <a:rPr lang="en-US" altLang="zh-TW" dirty="0"/>
              <a:t>queue has its </a:t>
            </a:r>
            <a:r>
              <a:rPr lang="en-US" altLang="zh-TW" b="1" dirty="0">
                <a:solidFill>
                  <a:srgbClr val="FF3300"/>
                </a:solidFill>
              </a:rPr>
              <a:t>own</a:t>
            </a:r>
            <a:r>
              <a:rPr lang="en-US" altLang="zh-TW" dirty="0"/>
              <a:t> scheduling </a:t>
            </a:r>
            <a:r>
              <a:rPr lang="en-US" altLang="zh-TW" dirty="0" smtClean="0"/>
              <a:t>algorithm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 smtClean="0"/>
              <a:t>Question: scheduling </a:t>
            </a:r>
            <a:r>
              <a:rPr lang="en-US" altLang="zh-TW" dirty="0"/>
              <a:t>must be done </a:t>
            </a:r>
            <a:r>
              <a:rPr lang="en-US" altLang="zh-TW" b="1" dirty="0">
                <a:solidFill>
                  <a:srgbClr val="FF3300"/>
                </a:solidFill>
              </a:rPr>
              <a:t>between</a:t>
            </a:r>
            <a:r>
              <a:rPr lang="en-US" altLang="zh-TW" dirty="0"/>
              <a:t> the </a:t>
            </a:r>
            <a:r>
              <a:rPr lang="en-US" altLang="zh-TW" dirty="0" smtClean="0"/>
              <a:t>queues.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38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dirty="0"/>
              <a:t>Multilevel Queue Scheduling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b="1" dirty="0" smtClean="0"/>
              <a:t>Sol. 1: fixed </a:t>
            </a:r>
            <a:r>
              <a:rPr lang="en-US" altLang="zh-TW" b="1" dirty="0"/>
              <a:t>priority preemptive scheduling: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dirty="0"/>
              <a:t>Foreground queue have </a:t>
            </a:r>
            <a:r>
              <a:rPr lang="en-US" altLang="zh-TW" b="1" dirty="0"/>
              <a:t>absolute</a:t>
            </a:r>
            <a:r>
              <a:rPr lang="en-US" altLang="zh-TW" dirty="0"/>
              <a:t> priority over background queue</a:t>
            </a:r>
          </a:p>
          <a:p>
            <a:pPr lvl="2" eaLnBrk="1" hangingPunct="1"/>
            <a:r>
              <a:rPr lang="en-US" altLang="zh-TW" dirty="0"/>
              <a:t>Only when foreground queue is empty, then background queue is executed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Starvation</a:t>
            </a:r>
            <a:r>
              <a:rPr lang="en-US" altLang="zh-TW" dirty="0" smtClean="0"/>
              <a:t> problem</a:t>
            </a:r>
            <a:endParaRPr lang="en-US" altLang="zh-TW" dirty="0"/>
          </a:p>
          <a:p>
            <a:pPr eaLnBrk="1" hangingPunct="1"/>
            <a:endParaRPr lang="en-US" altLang="zh-TW" b="1" dirty="0" smtClean="0"/>
          </a:p>
          <a:p>
            <a:pPr eaLnBrk="1" hangingPunct="1"/>
            <a:r>
              <a:rPr lang="en-US" altLang="zh-TW" b="1" dirty="0" smtClean="0"/>
              <a:t>Sol. 2: time-slice </a:t>
            </a:r>
            <a:r>
              <a:rPr lang="en-US" altLang="zh-TW" b="1" dirty="0"/>
              <a:t>based</a:t>
            </a:r>
          </a:p>
          <a:p>
            <a:pPr lvl="1" eaLnBrk="1" hangingPunct="1"/>
            <a:r>
              <a:rPr lang="en-US" altLang="zh-TW" dirty="0"/>
              <a:t>Each queue gets a certain amount of CPU time </a:t>
            </a:r>
          </a:p>
          <a:p>
            <a:pPr lvl="1" eaLnBrk="1" hangingPunct="1"/>
            <a:r>
              <a:rPr lang="en-US" altLang="zh-TW" dirty="0"/>
              <a:t>Example: </a:t>
            </a:r>
          </a:p>
          <a:p>
            <a:pPr lvl="2" eaLnBrk="1" hangingPunct="1"/>
            <a:r>
              <a:rPr lang="en-US" altLang="zh-TW" dirty="0"/>
              <a:t>80% to foreground for </a:t>
            </a:r>
            <a:r>
              <a:rPr lang="en-US" altLang="zh-TW" dirty="0" smtClean="0"/>
              <a:t>RR;  20</a:t>
            </a:r>
            <a:r>
              <a:rPr lang="en-US" altLang="zh-TW" dirty="0"/>
              <a:t>% to background for FCFS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62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Basic Concepts</a:t>
            </a:r>
          </a:p>
          <a:p>
            <a:pPr eaLnBrk="1" hangingPunct="1"/>
            <a:r>
              <a:rPr lang="en-US" altLang="zh-TW" dirty="0"/>
              <a:t>Scheduling Criteria 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Scheduling Algorithms</a:t>
            </a:r>
          </a:p>
          <a:p>
            <a:pPr lvl="1" eaLnBrk="1" hangingPunct="1"/>
            <a:r>
              <a:rPr lang="en-US" altLang="zh-TW" dirty="0"/>
              <a:t>First-Come, First-Served Scheduling</a:t>
            </a:r>
          </a:p>
          <a:p>
            <a:pPr lvl="1" eaLnBrk="1" hangingPunct="1"/>
            <a:r>
              <a:rPr lang="en-US" altLang="zh-TW" dirty="0"/>
              <a:t>Shortest-Job-First Scheduling</a:t>
            </a:r>
          </a:p>
          <a:p>
            <a:pPr lvl="1" eaLnBrk="1" hangingPunct="1"/>
            <a:r>
              <a:rPr lang="en-US" altLang="zh-TW" dirty="0"/>
              <a:t>Priority Scheduling</a:t>
            </a:r>
          </a:p>
          <a:p>
            <a:pPr lvl="1" eaLnBrk="1" hangingPunct="1"/>
            <a:r>
              <a:rPr lang="en-US" altLang="zh-TW" dirty="0"/>
              <a:t>Round-Robin Scheduling</a:t>
            </a:r>
          </a:p>
          <a:p>
            <a:pPr lvl="1" eaLnBrk="1" hangingPunct="1"/>
            <a:r>
              <a:rPr lang="en-US" altLang="zh-TW" dirty="0"/>
              <a:t>Multilevel Queue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Multilevel Feedback-Queue Scheduling</a:t>
            </a:r>
          </a:p>
          <a:p>
            <a:pPr eaLnBrk="1" hangingPunct="1"/>
            <a:r>
              <a:rPr lang="en-US" altLang="zh-TW" dirty="0"/>
              <a:t>Contention Scope in Thread Scheduling</a:t>
            </a:r>
          </a:p>
          <a:p>
            <a:pPr eaLnBrk="1" hangingPunct="1"/>
            <a:r>
              <a:rPr lang="en-US" altLang="zh-TW" dirty="0"/>
              <a:t>Multiple-Processor </a:t>
            </a:r>
            <a:r>
              <a:rPr lang="en-US" altLang="zh-TW" dirty="0" smtClean="0"/>
              <a:t>Scheduling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4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Multilevel Feedback Queue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A process can </a:t>
            </a:r>
            <a:r>
              <a:rPr lang="en-US" altLang="zh-TW" b="1" dirty="0">
                <a:solidFill>
                  <a:srgbClr val="FF3300"/>
                </a:solidFill>
              </a:rPr>
              <a:t>move</a:t>
            </a:r>
            <a:r>
              <a:rPr lang="en-US" altLang="zh-TW" dirty="0"/>
              <a:t> between the various queues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Example: </a:t>
            </a:r>
            <a:r>
              <a:rPr lang="en-US" altLang="zh-TW" dirty="0"/>
              <a:t>separate processes according to the characteristics of </a:t>
            </a:r>
            <a:r>
              <a:rPr lang="en-US" altLang="zh-TW" b="1" dirty="0">
                <a:solidFill>
                  <a:srgbClr val="0000FF"/>
                </a:solidFill>
              </a:rPr>
              <a:t>CPU </a:t>
            </a:r>
            <a:r>
              <a:rPr lang="en-US" altLang="zh-TW" b="1" dirty="0" smtClean="0">
                <a:solidFill>
                  <a:srgbClr val="0000FF"/>
                </a:solidFill>
              </a:rPr>
              <a:t>bursts</a:t>
            </a:r>
          </a:p>
          <a:p>
            <a:pPr lvl="1" eaLnBrk="1" hangingPunct="1"/>
            <a:r>
              <a:rPr lang="en-US" altLang="zh-TW" dirty="0" smtClean="0"/>
              <a:t>See the following slide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81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4000"/>
              <a:t>Example of Multilevel Feedback Queue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Three queues: </a:t>
            </a:r>
          </a:p>
          <a:p>
            <a:pPr lvl="1" eaLnBrk="1" hangingPunct="1"/>
            <a:r>
              <a:rPr lang="en-US" altLang="zh-TW" sz="2400" i="1" dirty="0"/>
              <a:t>Q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RR with time quantum 8 milliseconds</a:t>
            </a:r>
          </a:p>
          <a:p>
            <a:pPr lvl="1" eaLnBrk="1" hangingPunct="1"/>
            <a:r>
              <a:rPr lang="en-US" altLang="zh-TW" sz="2400" i="1" dirty="0"/>
              <a:t>Q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RR time quantum 16 milliseconds</a:t>
            </a:r>
          </a:p>
          <a:p>
            <a:pPr lvl="1" eaLnBrk="1" hangingPunct="1"/>
            <a:r>
              <a:rPr lang="en-US" altLang="zh-TW" sz="2400" i="1" dirty="0"/>
              <a:t>Q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FCFS</a:t>
            </a:r>
          </a:p>
          <a:p>
            <a:pPr eaLnBrk="1" hangingPunct="1"/>
            <a:r>
              <a:rPr lang="en-US" altLang="zh-TW" sz="2800" dirty="0"/>
              <a:t>Scheduling</a:t>
            </a:r>
          </a:p>
          <a:p>
            <a:pPr lvl="1" eaLnBrk="1" hangingPunct="1"/>
            <a:r>
              <a:rPr lang="en-US" altLang="zh-TW" sz="2400" dirty="0"/>
              <a:t>A </a:t>
            </a:r>
            <a:r>
              <a:rPr lang="en-US" altLang="zh-TW" sz="2400" b="1" dirty="0">
                <a:solidFill>
                  <a:srgbClr val="FF3300"/>
                </a:solidFill>
              </a:rPr>
              <a:t>new</a:t>
            </a:r>
            <a:r>
              <a:rPr lang="en-US" altLang="zh-TW" sz="2400" dirty="0"/>
              <a:t> job enters queue </a:t>
            </a:r>
            <a:r>
              <a:rPr lang="en-US" altLang="zh-TW" sz="2400" i="1" dirty="0"/>
              <a:t>Q</a:t>
            </a:r>
            <a:r>
              <a:rPr lang="en-US" altLang="zh-TW" sz="2400" i="1" baseline="-25000" dirty="0"/>
              <a:t>0</a:t>
            </a:r>
            <a:r>
              <a:rPr lang="en-US" altLang="zh-TW" sz="2400" i="1" dirty="0"/>
              <a:t> </a:t>
            </a:r>
            <a:r>
              <a:rPr lang="en-US" altLang="zh-TW" sz="2400" dirty="0"/>
              <a:t>which is served</a:t>
            </a:r>
            <a:r>
              <a:rPr lang="en-US" altLang="zh-TW" sz="2400" i="1" dirty="0"/>
              <a:t> </a:t>
            </a:r>
            <a:r>
              <a:rPr lang="en-US" altLang="zh-TW" sz="2400" dirty="0"/>
              <a:t>RR. </a:t>
            </a:r>
          </a:p>
          <a:p>
            <a:pPr lvl="2" eaLnBrk="1" hangingPunct="1"/>
            <a:r>
              <a:rPr lang="en-US" altLang="zh-TW" sz="2000" dirty="0"/>
              <a:t>When it gains CPU, job receives 8 milliseconds.  </a:t>
            </a:r>
          </a:p>
          <a:p>
            <a:pPr lvl="2" eaLnBrk="1" hangingPunct="1"/>
            <a:r>
              <a:rPr lang="en-US" altLang="zh-TW" sz="2000" dirty="0"/>
              <a:t>If it does not finish in 8 milliseconds, job is moved to tail of queue </a:t>
            </a:r>
            <a:r>
              <a:rPr lang="en-US" altLang="zh-TW" sz="2000" i="1" dirty="0"/>
              <a:t>Q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.</a:t>
            </a:r>
          </a:p>
          <a:p>
            <a:pPr lvl="1" eaLnBrk="1" hangingPunct="1"/>
            <a:r>
              <a:rPr lang="en-US" altLang="zh-TW" sz="2400" dirty="0"/>
              <a:t>If </a:t>
            </a:r>
            <a:r>
              <a:rPr lang="en-US" altLang="zh-TW" sz="2400" i="1" dirty="0"/>
              <a:t>Q</a:t>
            </a:r>
            <a:r>
              <a:rPr lang="en-US" altLang="zh-TW" sz="2400" i="1" baseline="-25000" dirty="0"/>
              <a:t>0</a:t>
            </a:r>
            <a:r>
              <a:rPr lang="en-US" altLang="zh-TW" sz="2400" dirty="0"/>
              <a:t> is empty, </a:t>
            </a:r>
            <a:r>
              <a:rPr lang="en-US" altLang="zh-TW" sz="2400" i="1" dirty="0"/>
              <a:t>Q</a:t>
            </a:r>
            <a:r>
              <a:rPr lang="en-US" altLang="zh-TW" sz="2400" i="1" baseline="-25000" dirty="0"/>
              <a:t>1</a:t>
            </a:r>
            <a:r>
              <a:rPr lang="en-US" altLang="zh-TW" sz="2400" dirty="0"/>
              <a:t> is served by RR and receives 16 additional milliseconds.  </a:t>
            </a:r>
          </a:p>
          <a:p>
            <a:pPr lvl="2" eaLnBrk="1" hangingPunct="1"/>
            <a:r>
              <a:rPr lang="en-US" altLang="zh-TW" sz="2000" dirty="0"/>
              <a:t>If it still does not complete, it is preempted and moved to queue </a:t>
            </a:r>
            <a:r>
              <a:rPr lang="en-US" altLang="zh-TW" sz="2000" i="1" dirty="0"/>
              <a:t>Q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.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7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Multilevel Feedback Queues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/>
          <a:srcRect l="610" t="10027" r="1016" b="9756"/>
          <a:stretch>
            <a:fillRect/>
          </a:stretch>
        </p:blipFill>
        <p:spPr bwMode="auto">
          <a:xfrm>
            <a:off x="2170544" y="1501921"/>
            <a:ext cx="7943273" cy="41778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351089" y="5761613"/>
            <a:ext cx="7667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Give highest priority to processes with CPU burst &lt;= 8ms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24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Multilevel Feedback Queue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sz="3600" dirty="0" smtClean="0"/>
              <a:t>From above example:</a:t>
            </a:r>
            <a:endParaRPr lang="en-US" altLang="zh-TW" sz="3600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TW" sz="3200" dirty="0" smtClean="0"/>
              <a:t>A process uses too much CPU time </a:t>
            </a:r>
            <a:r>
              <a:rPr lang="en-US" altLang="zh-TW" sz="32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3200" dirty="0" smtClean="0"/>
              <a:t> move to a lower priority queue. 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Leave </a:t>
            </a:r>
            <a:r>
              <a:rPr lang="en-US" altLang="zh-TW" sz="3200" b="1" dirty="0" smtClean="0"/>
              <a:t>I/O-bound </a:t>
            </a:r>
            <a:r>
              <a:rPr lang="en-US" altLang="zh-TW" sz="3200" dirty="0" smtClean="0"/>
              <a:t>and </a:t>
            </a:r>
            <a:r>
              <a:rPr lang="en-US" altLang="zh-TW" sz="3200" b="1" dirty="0" smtClean="0"/>
              <a:t>interactive</a:t>
            </a:r>
            <a:r>
              <a:rPr lang="en-US" altLang="zh-TW" sz="3200" dirty="0" smtClean="0"/>
              <a:t> processes in the higher priority queues. </a:t>
            </a:r>
          </a:p>
          <a:p>
            <a:pPr lvl="2" eaLnBrk="1" hangingPunct="1"/>
            <a:r>
              <a:rPr lang="en-US" altLang="zh-TW" sz="2800" b="1" dirty="0" smtClean="0"/>
              <a:t>I/O-bound </a:t>
            </a:r>
            <a:r>
              <a:rPr lang="en-US" altLang="zh-TW" sz="2800" dirty="0"/>
              <a:t>and </a:t>
            </a:r>
            <a:r>
              <a:rPr lang="en-US" altLang="zh-TW" sz="2800" b="1" dirty="0"/>
              <a:t>interactive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processes has short CPU burst times</a:t>
            </a:r>
            <a:endParaRPr lang="en-US" altLang="zh-TW" sz="2800" dirty="0"/>
          </a:p>
          <a:p>
            <a:pPr lvl="2" eaLnBrk="1" hangingPunct="1"/>
            <a:endParaRPr lang="en-US" altLang="zh-TW" dirty="0"/>
          </a:p>
          <a:p>
            <a:pPr lvl="1" eaLnBrk="1" hangingPunct="1"/>
            <a:r>
              <a:rPr lang="en-US" altLang="zh-TW" sz="3200" dirty="0"/>
              <a:t>Wait too long in a low priority Q </a:t>
            </a:r>
            <a:r>
              <a:rPr lang="en-US" altLang="zh-TW" sz="32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3200" dirty="0" smtClean="0"/>
              <a:t> </a:t>
            </a:r>
            <a:r>
              <a:rPr lang="en-US" altLang="zh-TW" sz="3200" dirty="0"/>
              <a:t>move to a higher priority queue</a:t>
            </a:r>
          </a:p>
          <a:p>
            <a:pPr lvl="2" eaLnBrk="1" hangingPunct="1"/>
            <a:r>
              <a:rPr lang="en-US" altLang="zh-TW" sz="2800" b="1" dirty="0"/>
              <a:t>Aging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29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 smtClean="0"/>
              <a:t>Q1: </a:t>
            </a:r>
            <a:r>
              <a:rPr lang="zh-TW" altLang="en-US" sz="2800" dirty="0" smtClean="0"/>
              <a:t>為什麼</a:t>
            </a:r>
            <a:r>
              <a:rPr lang="en-US" altLang="zh-TW" sz="2800" dirty="0" smtClean="0"/>
              <a:t>CPU burst time</a:t>
            </a:r>
            <a:r>
              <a:rPr lang="zh-TW" altLang="en-US" sz="2800" dirty="0" smtClean="0"/>
              <a:t>長的</a:t>
            </a:r>
            <a:r>
              <a:rPr lang="en-US" altLang="zh-TW" sz="2800" dirty="0" smtClean="0"/>
              <a:t>process</a:t>
            </a:r>
            <a:r>
              <a:rPr lang="zh-TW" altLang="en-US" sz="2800" dirty="0" smtClean="0"/>
              <a:t>要放在</a:t>
            </a:r>
            <a:r>
              <a:rPr lang="en-US" altLang="zh-TW" sz="2800" dirty="0"/>
              <a:t>lower priority </a:t>
            </a:r>
            <a:r>
              <a:rPr lang="en-US" altLang="zh-TW" sz="2800" dirty="0" smtClean="0"/>
              <a:t>queue? </a:t>
            </a:r>
            <a:br>
              <a:rPr lang="en-US" altLang="zh-TW" sz="2800" dirty="0" smtClean="0"/>
            </a:b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Q2:</a:t>
            </a:r>
            <a:r>
              <a:rPr lang="zh-TW" altLang="en-US" sz="2800" dirty="0"/>
              <a:t>為什麼</a:t>
            </a:r>
            <a:r>
              <a:rPr lang="en-US" altLang="zh-TW" sz="2800" dirty="0" smtClean="0"/>
              <a:t>I/O-bound</a:t>
            </a:r>
            <a:r>
              <a:rPr lang="zh-TW" altLang="en-US" sz="2800" dirty="0" smtClean="0"/>
              <a:t>和</a:t>
            </a:r>
            <a:r>
              <a:rPr lang="en-US" altLang="zh-TW" sz="2800" dirty="0" smtClean="0"/>
              <a:t>interactive processes</a:t>
            </a:r>
            <a:r>
              <a:rPr lang="zh-TW" altLang="en-US" sz="2800" dirty="0"/>
              <a:t>要</a:t>
            </a:r>
            <a:r>
              <a:rPr lang="zh-TW" altLang="en-US" sz="2800" dirty="0" smtClean="0"/>
              <a:t>放在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higher priority queues</a:t>
            </a:r>
            <a:r>
              <a:rPr lang="en-US" altLang="zh-TW" sz="2800" dirty="0" smtClean="0"/>
              <a:t>. 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 </a:t>
            </a:r>
            <a:endParaRPr lang="zh-TW" altLang="en-US" sz="2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700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Contention Scope in Thread Scheduling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5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Contention Scope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2800" dirty="0"/>
              <a:t>User threads are managed and scheduled by </a:t>
            </a:r>
            <a:r>
              <a:rPr lang="en-US" altLang="zh-TW" sz="2800" b="1" dirty="0">
                <a:solidFill>
                  <a:srgbClr val="FF3300"/>
                </a:solidFill>
              </a:rPr>
              <a:t>thread library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800" dirty="0" smtClean="0"/>
              <a:t>Kernel </a:t>
            </a:r>
            <a:r>
              <a:rPr lang="en-US" altLang="zh-TW" sz="2800" dirty="0"/>
              <a:t>threads are managed and scheduled by </a:t>
            </a:r>
            <a:r>
              <a:rPr lang="en-US" altLang="zh-TW" sz="2800" b="1" dirty="0">
                <a:solidFill>
                  <a:srgbClr val="FF3300"/>
                </a:solidFill>
              </a:rPr>
              <a:t>OS</a:t>
            </a:r>
            <a:endParaRPr lang="en-US" altLang="zh-TW" sz="2800" dirty="0" smtClean="0"/>
          </a:p>
          <a:p>
            <a:pPr eaLnBrk="1" hangingPunct="1">
              <a:lnSpc>
                <a:spcPct val="12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120000"/>
              </a:lnSpc>
            </a:pPr>
            <a:r>
              <a:rPr lang="zh-TW" altLang="en-US" sz="2800" dirty="0" smtClean="0"/>
              <a:t>所以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一個</a:t>
            </a:r>
            <a:r>
              <a:rPr lang="en-US" altLang="zh-TW" sz="2800" dirty="0" smtClean="0"/>
              <a:t>user thread</a:t>
            </a:r>
            <a:r>
              <a:rPr lang="zh-TW" altLang="en-US" sz="2800" dirty="0" smtClean="0"/>
              <a:t>要被</a:t>
            </a:r>
            <a:r>
              <a:rPr lang="en-US" altLang="zh-TW" sz="2800" dirty="0" smtClean="0"/>
              <a:t>CPU</a:t>
            </a:r>
            <a:r>
              <a:rPr lang="zh-TW" altLang="en-US" sz="2800" dirty="0" smtClean="0"/>
              <a:t>執行可能需要經過兩層的競爭</a:t>
            </a:r>
            <a:endParaRPr lang="en-US" altLang="zh-TW" sz="2800" dirty="0" smtClean="0"/>
          </a:p>
          <a:p>
            <a:pPr eaLnBrk="1" hangingPunct="1">
              <a:lnSpc>
                <a:spcPct val="120000"/>
              </a:lnSpc>
            </a:pPr>
            <a:r>
              <a:rPr lang="zh-TW" altLang="en-US" sz="2800" dirty="0" smtClean="0"/>
              <a:t>第一層</a:t>
            </a:r>
            <a:r>
              <a:rPr lang="en-US" altLang="zh-TW" sz="2800" dirty="0" smtClean="0"/>
              <a:t>: </a:t>
            </a:r>
            <a:r>
              <a:rPr lang="zh-TW" altLang="en-US" sz="2800" dirty="0" smtClean="0"/>
              <a:t>可能必須跟同一個</a:t>
            </a:r>
            <a:r>
              <a:rPr lang="en-US" altLang="zh-TW" sz="2800" dirty="0" smtClean="0"/>
              <a:t>process</a:t>
            </a:r>
            <a:r>
              <a:rPr lang="zh-TW" altLang="en-US" sz="2800" dirty="0" smtClean="0"/>
              <a:t>內部的其他</a:t>
            </a:r>
            <a:r>
              <a:rPr lang="en-US" altLang="zh-TW" sz="2800" dirty="0" smtClean="0"/>
              <a:t>thread</a:t>
            </a:r>
            <a:r>
              <a:rPr lang="zh-TW" altLang="en-US" sz="2800" dirty="0" smtClean="0"/>
              <a:t>競爭</a:t>
            </a:r>
            <a:endParaRPr lang="en-US" altLang="zh-TW" sz="2800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dirty="0"/>
              <a:t>For M:1 or M:M models</a:t>
            </a:r>
            <a:endParaRPr lang="en-US" altLang="zh-TW" sz="2400" dirty="0" smtClean="0"/>
          </a:p>
          <a:p>
            <a:pPr eaLnBrk="1" hangingPunct="1">
              <a:lnSpc>
                <a:spcPct val="120000"/>
              </a:lnSpc>
            </a:pPr>
            <a:r>
              <a:rPr lang="zh-TW" altLang="en-US" sz="2800" dirty="0" smtClean="0"/>
              <a:t>第二層</a:t>
            </a:r>
            <a:r>
              <a:rPr lang="en-US" altLang="zh-TW" sz="2800" dirty="0"/>
              <a:t>: </a:t>
            </a:r>
            <a:r>
              <a:rPr lang="zh-TW" altLang="en-US" sz="2800" dirty="0"/>
              <a:t>可能必須</a:t>
            </a:r>
            <a:r>
              <a:rPr lang="zh-TW" altLang="en-US" sz="2800" dirty="0" smtClean="0"/>
              <a:t>跟系統所有的</a:t>
            </a:r>
            <a:r>
              <a:rPr lang="en-US" altLang="zh-TW" sz="2800" dirty="0" smtClean="0"/>
              <a:t>kernel thread</a:t>
            </a:r>
            <a:r>
              <a:rPr lang="zh-TW" altLang="en-US" sz="2800" dirty="0" smtClean="0"/>
              <a:t>競爭</a:t>
            </a:r>
            <a:endParaRPr lang="en-US" altLang="zh-TW" sz="2800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dirty="0"/>
              <a:t>For </a:t>
            </a:r>
            <a:r>
              <a:rPr lang="en-US" altLang="zh-TW" sz="2400" dirty="0" smtClean="0"/>
              <a:t>all models (1:1, M:1 </a:t>
            </a:r>
            <a:r>
              <a:rPr lang="en-US" altLang="zh-TW" sz="2400" dirty="0"/>
              <a:t>or </a:t>
            </a:r>
            <a:r>
              <a:rPr lang="en-US" altLang="zh-TW" sz="2400" dirty="0" smtClean="0"/>
              <a:t>M:M)</a:t>
            </a:r>
            <a:endParaRPr lang="en-US" altLang="zh-TW" sz="2400" dirty="0"/>
          </a:p>
          <a:p>
            <a:pPr lvl="1" eaLnBrk="1" hangingPunct="1">
              <a:lnSpc>
                <a:spcPct val="120000"/>
              </a:lnSpc>
            </a:pPr>
            <a:endParaRPr lang="zh-TW" altLang="en-US" sz="1600" dirty="0" smtClean="0"/>
          </a:p>
          <a:p>
            <a:pPr eaLnBrk="1" hangingPunct="1">
              <a:lnSpc>
                <a:spcPct val="12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120000"/>
              </a:lnSpc>
            </a:pPr>
            <a:endParaRPr lang="zh-TW" altLang="en-US" sz="2000" dirty="0" smtClean="0"/>
          </a:p>
          <a:p>
            <a:pPr lvl="1" eaLnBrk="1" hangingPunct="1">
              <a:lnSpc>
                <a:spcPct val="120000"/>
              </a:lnSpc>
            </a:pPr>
            <a:endParaRPr lang="en-US" altLang="zh-TW" sz="24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10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624417" y="110832"/>
            <a:ext cx="109728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kern="0" dirty="0" smtClean="0"/>
              <a:t>複習：</a:t>
            </a:r>
            <a:r>
              <a:rPr lang="en-US" altLang="zh-TW" kern="0" dirty="0" smtClean="0"/>
              <a:t>Thread Models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12682" t="1207" r="12682" b="1208"/>
          <a:stretch>
            <a:fillRect/>
          </a:stretch>
        </p:blipFill>
        <p:spPr bwMode="auto">
          <a:xfrm>
            <a:off x="2135188" y="1070837"/>
            <a:ext cx="3816350" cy="26654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 l="360" t="25420" r="540" b="25180"/>
          <a:stretch>
            <a:fillRect/>
          </a:stretch>
        </p:blipFill>
        <p:spPr bwMode="auto">
          <a:xfrm>
            <a:off x="3792538" y="4239486"/>
            <a:ext cx="4337050" cy="23050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 l="6703" t="838" r="6912" b="838"/>
          <a:stretch>
            <a:fillRect/>
          </a:stretch>
        </p:blipFill>
        <p:spPr bwMode="auto">
          <a:xfrm>
            <a:off x="6527800" y="1070837"/>
            <a:ext cx="3455988" cy="26654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40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Contention Scope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 smtClean="0"/>
              <a:t>Process-contention scope (PCS)</a:t>
            </a:r>
          </a:p>
          <a:p>
            <a:pPr lvl="1" eaLnBrk="1" hangingPunct="1"/>
            <a:r>
              <a:rPr lang="en-US" altLang="zh-TW" sz="2400" dirty="0" smtClean="0"/>
              <a:t>For M:1 or M:M models</a:t>
            </a:r>
          </a:p>
          <a:p>
            <a:pPr lvl="1" eaLnBrk="1" hangingPunct="1"/>
            <a:r>
              <a:rPr lang="en-US" altLang="zh-TW" sz="2400" b="1" dirty="0" smtClean="0"/>
              <a:t>Threads library </a:t>
            </a:r>
            <a:r>
              <a:rPr lang="en-US" altLang="zh-TW" sz="2400" dirty="0" smtClean="0"/>
              <a:t>schedules user thread to put onto an available kernel thread</a:t>
            </a:r>
          </a:p>
          <a:p>
            <a:pPr lvl="1" eaLnBrk="1" hangingPunct="1"/>
            <a:r>
              <a:rPr lang="en-US" altLang="zh-TW" sz="2400" dirty="0" smtClean="0"/>
              <a:t>Competitions among threads of </a:t>
            </a:r>
            <a:r>
              <a:rPr lang="en-US" altLang="zh-TW" sz="2400" b="1" dirty="0" smtClean="0">
                <a:solidFill>
                  <a:srgbClr val="FF3300"/>
                </a:solidFill>
              </a:rPr>
              <a:t>the same process</a:t>
            </a:r>
            <a:endParaRPr lang="en-US" altLang="zh-TW" sz="2400" b="1" dirty="0" smtClean="0"/>
          </a:p>
          <a:p>
            <a:pPr lvl="1" eaLnBrk="1" hangingPunct="1"/>
            <a:r>
              <a:rPr lang="en-US" altLang="zh-TW" sz="2400" dirty="0" smtClean="0"/>
              <a:t>Systems with 1:1 model don not have</a:t>
            </a:r>
            <a:r>
              <a:rPr lang="en-US" altLang="zh-TW" sz="2400" b="1" dirty="0" smtClean="0"/>
              <a:t> </a:t>
            </a:r>
            <a:r>
              <a:rPr lang="en-US" altLang="zh-TW" sz="2400" dirty="0" smtClean="0"/>
              <a:t>PCS</a:t>
            </a:r>
          </a:p>
          <a:p>
            <a:pPr eaLnBrk="1" hangingPunct="1"/>
            <a:endParaRPr lang="en-US" altLang="zh-TW" sz="2800" b="1" dirty="0" smtClean="0"/>
          </a:p>
          <a:p>
            <a:pPr eaLnBrk="1" hangingPunct="1"/>
            <a:r>
              <a:rPr lang="en-US" altLang="zh-TW" sz="2800" b="1" dirty="0" smtClean="0"/>
              <a:t>System-contention scope (SCS)</a:t>
            </a:r>
          </a:p>
          <a:p>
            <a:pPr lvl="1" eaLnBrk="1" hangingPunct="1"/>
            <a:r>
              <a:rPr lang="en-US" altLang="zh-TW" sz="2400" dirty="0" smtClean="0"/>
              <a:t>Kernel decides which kernel thread to run on a CPU core</a:t>
            </a:r>
          </a:p>
          <a:p>
            <a:pPr lvl="1" eaLnBrk="1" hangingPunct="1"/>
            <a:r>
              <a:rPr lang="en-US" altLang="zh-TW" sz="2400" dirty="0" smtClean="0"/>
              <a:t>Competitions among </a:t>
            </a:r>
            <a:r>
              <a:rPr lang="en-US" altLang="zh-TW" sz="2400" dirty="0" smtClean="0">
                <a:solidFill>
                  <a:srgbClr val="FF3300"/>
                </a:solidFill>
              </a:rPr>
              <a:t>all kernel threads</a:t>
            </a:r>
            <a:r>
              <a:rPr lang="en-US" altLang="zh-TW" sz="2400" dirty="0" smtClean="0"/>
              <a:t> in the system</a:t>
            </a:r>
          </a:p>
          <a:p>
            <a:pPr lvl="1" eaLnBrk="1" hangingPunct="1"/>
            <a:endParaRPr lang="zh-TW" altLang="en-US" sz="1600" dirty="0"/>
          </a:p>
          <a:p>
            <a:pPr lvl="1" eaLnBrk="1" hangingPunct="1"/>
            <a:endParaRPr lang="en-US" altLang="zh-TW" sz="24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37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25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Multiple-Processor Scheduling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CPU scheduling more complex when multiple CPUs are available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Multi-processor </a:t>
            </a:r>
            <a:r>
              <a:rPr lang="en-US" altLang="en-US" dirty="0"/>
              <a:t>may be any one of the following architectures:</a:t>
            </a:r>
            <a:endParaRPr lang="en-US" altLang="en-US" sz="800" dirty="0"/>
          </a:p>
          <a:p>
            <a:pPr lvl="1"/>
            <a:r>
              <a:rPr lang="en-US" altLang="en-US" dirty="0"/>
              <a:t>Multicore CPUs</a:t>
            </a:r>
          </a:p>
          <a:p>
            <a:pPr lvl="1"/>
            <a:r>
              <a:rPr lang="en-US" altLang="en-US" dirty="0"/>
              <a:t>Multithreaded cores</a:t>
            </a:r>
          </a:p>
          <a:p>
            <a:pPr lvl="1"/>
            <a:r>
              <a:rPr lang="en-US" altLang="en-US" dirty="0"/>
              <a:t>NUMA systems</a:t>
            </a:r>
          </a:p>
          <a:p>
            <a:pPr lvl="1"/>
            <a:r>
              <a:rPr lang="en-US" altLang="en-US" dirty="0"/>
              <a:t>Heterogeneous </a:t>
            </a:r>
            <a:r>
              <a:rPr lang="en-US" altLang="en-US" dirty="0" smtClean="0"/>
              <a:t>multiprocessing</a:t>
            </a:r>
          </a:p>
        </p:txBody>
      </p:sp>
      <p:sp>
        <p:nvSpPr>
          <p:cNvPr id="3" name="右大括弧 2"/>
          <p:cNvSpPr/>
          <p:nvPr/>
        </p:nvSpPr>
        <p:spPr>
          <a:xfrm>
            <a:off x="6800851" y="3786909"/>
            <a:ext cx="219073" cy="1200728"/>
          </a:xfrm>
          <a:prstGeom prst="rightBrac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7019924" y="4156440"/>
            <a:ext cx="2001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Calibri" panose="020F0502020204030204" pitchFamily="34" charset="0"/>
              </a:rPr>
              <a:t>homogeneous</a:t>
            </a:r>
            <a:endParaRPr lang="zh-TW" altLang="en-US" sz="2400" dirty="0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05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Multicore Processors</a:t>
            </a:r>
          </a:p>
          <a:p>
            <a:pPr lvl="1" eaLnBrk="1" hangingPunct="1"/>
            <a:r>
              <a:rPr lang="en-US" altLang="zh-TW" dirty="0" smtClean="0"/>
              <a:t>Approaches to Multiple-Processor Scheduling</a:t>
            </a:r>
          </a:p>
          <a:p>
            <a:pPr lvl="1" eaLnBrk="1" hangingPunct="1"/>
            <a:r>
              <a:rPr lang="en-US" altLang="zh-TW" dirty="0" smtClean="0"/>
              <a:t>Load Balancing</a:t>
            </a:r>
          </a:p>
          <a:p>
            <a:pPr lvl="1" eaLnBrk="1" hangingPunct="1"/>
            <a:r>
              <a:rPr lang="en-US" altLang="zh-TW" dirty="0" smtClean="0"/>
              <a:t>Processor Affinity</a:t>
            </a:r>
          </a:p>
          <a:p>
            <a:pPr lvl="1" eaLnBrk="1" hangingPunct="1"/>
            <a:r>
              <a:rPr lang="en-US" altLang="zh-TW" dirty="0" smtClean="0"/>
              <a:t>Heterogeneous Multiprocessing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3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Multicore Processors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b="1" dirty="0" smtClean="0">
                <a:solidFill>
                  <a:srgbClr val="0000FF"/>
                </a:solidFill>
              </a:rPr>
              <a:t>Multicore processor</a:t>
            </a:r>
            <a:r>
              <a:rPr lang="en-US" altLang="zh-TW" sz="2800" b="1" dirty="0" smtClean="0"/>
              <a:t>: </a:t>
            </a:r>
            <a:r>
              <a:rPr lang="en-US" altLang="zh-TW" sz="2800" dirty="0" smtClean="0"/>
              <a:t>multiple processor cores on the same chip</a:t>
            </a:r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Problem</a:t>
            </a:r>
            <a:r>
              <a:rPr lang="en-US" altLang="zh-TW" sz="2800" b="1" dirty="0"/>
              <a:t>: </a:t>
            </a:r>
            <a:r>
              <a:rPr lang="en-US" altLang="zh-TW" sz="2800" b="1" dirty="0">
                <a:solidFill>
                  <a:srgbClr val="0000FF"/>
                </a:solidFill>
              </a:rPr>
              <a:t>memory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stall</a:t>
            </a:r>
            <a:r>
              <a:rPr lang="en-US" altLang="zh-TW" sz="2800" dirty="0" smtClean="0"/>
              <a:t> (</a:t>
            </a:r>
            <a:r>
              <a:rPr lang="zh-TW" altLang="en-US" sz="2800" dirty="0"/>
              <a:t>使動彈</a:t>
            </a:r>
            <a:r>
              <a:rPr lang="zh-TW" altLang="en-US" sz="2800" dirty="0" smtClean="0"/>
              <a:t>不得</a:t>
            </a:r>
            <a:r>
              <a:rPr lang="en-US" altLang="zh-TW" sz="2800" dirty="0" smtClean="0"/>
              <a:t>)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 smtClean="0"/>
              <a:t>CPU cores waits </a:t>
            </a:r>
            <a:r>
              <a:rPr lang="en-US" altLang="zh-TW" sz="2400" dirty="0"/>
              <a:t>for data to become available (see the </a:t>
            </a:r>
            <a:r>
              <a:rPr lang="en-US" altLang="zh-TW" sz="2400" dirty="0" smtClean="0"/>
              <a:t>following slide)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zh-TW" altLang="en-US" sz="2800" dirty="0"/>
              <a:t>怎麼辦</a:t>
            </a:r>
            <a:r>
              <a:rPr lang="zh-TW" altLang="en-US" sz="2800" dirty="0" smtClean="0"/>
              <a:t>呢</a:t>
            </a:r>
            <a:r>
              <a:rPr lang="en-US" altLang="zh-TW" sz="2800" dirty="0" smtClean="0"/>
              <a:t>?</a:t>
            </a:r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Sol. 1: </a:t>
            </a:r>
            <a:r>
              <a:rPr lang="zh-TW" altLang="en-US" sz="2800" dirty="0" smtClean="0"/>
              <a:t>就等吧</a:t>
            </a:r>
            <a:r>
              <a:rPr lang="en-US" altLang="zh-TW" sz="2800" dirty="0" smtClean="0"/>
              <a:t>~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很久以前的做法</a:t>
            </a:r>
            <a:r>
              <a:rPr lang="en-US" altLang="zh-TW" sz="2800" dirty="0" smtClean="0"/>
              <a:t>)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zh-TW" altLang="en-US" sz="2800" b="1" dirty="0" smtClean="0"/>
              <a:t>有其他的方法嗎</a:t>
            </a:r>
            <a:r>
              <a:rPr lang="en-US" altLang="zh-TW" sz="2800" b="1" dirty="0" smtClean="0"/>
              <a:t>?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95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smtClean="0"/>
              <a:t>A Computer System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089891" y="1488373"/>
            <a:ext cx="9873672" cy="4903191"/>
            <a:chOff x="684213" y="2852738"/>
            <a:chExt cx="7343775" cy="3671887"/>
          </a:xfrm>
        </p:grpSpPr>
        <p:pic>
          <p:nvPicPr>
            <p:cNvPr id="2253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27" t="17949" r="427" b="17664"/>
            <a:stretch>
              <a:fillRect/>
            </a:stretch>
          </p:blipFill>
          <p:spPr bwMode="auto">
            <a:xfrm>
              <a:off x="755650" y="2852738"/>
              <a:ext cx="7272338" cy="3671887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2537" name="Text Box 10"/>
            <p:cNvSpPr txBox="1">
              <a:spLocks noChangeArrowheads="1"/>
            </p:cNvSpPr>
            <p:nvPr/>
          </p:nvSpPr>
          <p:spPr bwMode="auto">
            <a:xfrm>
              <a:off x="684213" y="3860800"/>
              <a:ext cx="1452555" cy="351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CPU registers</a:t>
              </a:r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900113" y="4149725"/>
              <a:ext cx="431800" cy="2159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4000" dirty="0" smtClean="0">
                <a:effectLst/>
              </a:rPr>
              <a:t>Memory Stall when Accessing </a:t>
            </a:r>
            <a:r>
              <a:rPr lang="en-US" altLang="zh-TW" sz="4000" dirty="0" smtClean="0">
                <a:solidFill>
                  <a:srgbClr val="FF0000"/>
                </a:solidFill>
                <a:effectLst/>
              </a:rPr>
              <a:t>Temp</a:t>
            </a:r>
            <a:r>
              <a:rPr lang="en-US" altLang="zh-TW" sz="4000" dirty="0" smtClean="0">
                <a:effectLst/>
              </a:rPr>
              <a:t> Variable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38717" y="2719387"/>
            <a:ext cx="2233783" cy="25884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8587099" y="2626489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temp</a:t>
            </a:r>
            <a:endParaRPr lang="zh-TW" altLang="en-US" sz="20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cxnSp>
        <p:nvCxnSpPr>
          <p:cNvPr id="12" name="直線單箭頭接點 11"/>
          <p:cNvCxnSpPr>
            <a:endCxn id="3" idx="1"/>
          </p:cNvCxnSpPr>
          <p:nvPr/>
        </p:nvCxnSpPr>
        <p:spPr>
          <a:xfrm flipV="1">
            <a:off x="4451663" y="2848809"/>
            <a:ext cx="1887054" cy="3123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00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Multicore Processors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2800" dirty="0" smtClean="0"/>
              <a:t>複習</a:t>
            </a:r>
            <a:r>
              <a:rPr lang="en-US" altLang="zh-TW" sz="2800" dirty="0" smtClean="0"/>
              <a:t>:</a:t>
            </a:r>
            <a:r>
              <a:rPr lang="zh-TW" altLang="en-US" sz="2800" dirty="0" smtClean="0"/>
              <a:t> 事實上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我們</a:t>
            </a:r>
            <a:r>
              <a:rPr lang="zh-TW" altLang="en-US" sz="2800" dirty="0"/>
              <a:t>在</a:t>
            </a:r>
            <a:r>
              <a:rPr lang="zh-TW" altLang="en-US" sz="2800" dirty="0" smtClean="0"/>
              <a:t>第一章學過類似的問題</a:t>
            </a:r>
            <a:r>
              <a:rPr lang="en-US" altLang="zh-TW" sz="2800" dirty="0" smtClean="0"/>
              <a:t>~</a:t>
            </a:r>
          </a:p>
          <a:p>
            <a:pPr eaLnBrk="1" hangingPunct="1"/>
            <a:r>
              <a:rPr lang="en-US" altLang="zh-TW" sz="2800" b="1" dirty="0" err="1" smtClean="0"/>
              <a:t>Uni</a:t>
            </a:r>
            <a:r>
              <a:rPr lang="en-US" altLang="zh-TW" sz="2800" b="1" dirty="0" smtClean="0"/>
              <a:t>-programming</a:t>
            </a:r>
            <a:r>
              <a:rPr lang="en-US" altLang="zh-TW" sz="2800" dirty="0" smtClean="0"/>
              <a:t>: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OS</a:t>
            </a:r>
            <a:r>
              <a:rPr lang="zh-TW" altLang="en-US" sz="2800" dirty="0" smtClean="0"/>
              <a:t>等待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I/O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存取</a:t>
            </a:r>
            <a:r>
              <a:rPr lang="zh-TW" altLang="en-US" sz="2800" dirty="0" smtClean="0"/>
              <a:t>的完成 </a:t>
            </a:r>
            <a:r>
              <a:rPr lang="en-US" altLang="zh-TW" sz="2800" dirty="0" smtClean="0"/>
              <a:t>(I/O stall)</a:t>
            </a:r>
            <a:endParaRPr lang="en-US" altLang="zh-TW" sz="2800" dirty="0"/>
          </a:p>
          <a:p>
            <a:pPr eaLnBrk="1" hangingPunct="1"/>
            <a:endParaRPr lang="en-US" altLang="zh-TW" sz="2800" dirty="0" smtClean="0"/>
          </a:p>
          <a:p>
            <a:pPr eaLnBrk="1" hangingPunct="1"/>
            <a:endParaRPr lang="en-US" altLang="zh-TW" sz="2800" dirty="0"/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en-US" altLang="zh-TW" sz="2800" b="1" dirty="0" smtClean="0"/>
              <a:t>Memory stall</a:t>
            </a:r>
            <a:r>
              <a:rPr lang="en-US" altLang="zh-TW" sz="2800" dirty="0" smtClean="0"/>
              <a:t>: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CPU</a:t>
            </a:r>
            <a:r>
              <a:rPr lang="zh-TW" altLang="en-US" sz="2800" dirty="0"/>
              <a:t>等待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記憶體</a:t>
            </a:r>
            <a:r>
              <a:rPr lang="zh-TW" altLang="en-US" sz="2800" b="1" dirty="0">
                <a:solidFill>
                  <a:srgbClr val="FF0000"/>
                </a:solidFill>
              </a:rPr>
              <a:t>存取</a:t>
            </a:r>
            <a:r>
              <a:rPr lang="zh-TW" altLang="en-US" sz="2800" dirty="0" smtClean="0"/>
              <a:t>的完成</a:t>
            </a:r>
            <a:endParaRPr lang="en-US" altLang="zh-TW" sz="2800" dirty="0"/>
          </a:p>
          <a:p>
            <a:pPr eaLnBrk="1" hangingPunct="1"/>
            <a:endParaRPr lang="en-US" altLang="zh-TW" sz="28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96</a:t>
            </a:fld>
            <a:endParaRPr lang="en-US" altLang="zh-TW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700735"/>
              </p:ext>
            </p:extLst>
          </p:nvPr>
        </p:nvGraphicFramePr>
        <p:xfrm>
          <a:off x="2098674" y="2514450"/>
          <a:ext cx="8162925" cy="1549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Artwork" r:id="rId4" imgW="5038095" imgH="1257476" progId="">
                  <p:embed/>
                </p:oleObj>
              </mc:Choice>
              <mc:Fallback>
                <p:oleObj name="Artwork" r:id="rId4" imgW="5038095" imgH="1257476" progId="">
                  <p:embed/>
                  <p:pic>
                    <p:nvPicPr>
                      <p:cNvPr id="205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4" y="2514450"/>
                        <a:ext cx="8162925" cy="1549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 descr="fg5_10"/>
          <p:cNvPicPr preferRelativeResize="0"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86530" y="4662794"/>
            <a:ext cx="8090920" cy="201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842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之前怎麼解的呢</a:t>
            </a:r>
            <a:r>
              <a:rPr lang="en-US" altLang="zh-TW" dirty="0"/>
              <a:t>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44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7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Multi-Programming</a:t>
            </a:r>
          </a:p>
        </p:txBody>
      </p:sp>
      <p:graphicFrame>
        <p:nvGraphicFramePr>
          <p:cNvPr id="2051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66197701"/>
              </p:ext>
            </p:extLst>
          </p:nvPr>
        </p:nvGraphicFramePr>
        <p:xfrm>
          <a:off x="1976580" y="2391057"/>
          <a:ext cx="8347795" cy="395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Artwork" r:id="rId3" imgW="6249272" imgH="3315163" progId="">
                  <p:embed/>
                </p:oleObj>
              </mc:Choice>
              <mc:Fallback>
                <p:oleObj name="Artwork" r:id="rId3" imgW="6249272" imgH="3315163" progId="">
                  <p:embed/>
                  <p:pic>
                    <p:nvPicPr>
                      <p:cNvPr id="2051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580" y="2391057"/>
                        <a:ext cx="8347795" cy="395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圓角矩形 4"/>
          <p:cNvSpPr/>
          <p:nvPr/>
        </p:nvSpPr>
        <p:spPr>
          <a:xfrm>
            <a:off x="1519298" y="1337414"/>
            <a:ext cx="9183037" cy="8743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 smtClean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OS performs context Switch</a:t>
            </a:r>
            <a:endParaRPr lang="zh-TW" altLang="en-US" sz="3200" b="1" dirty="0">
              <a:solidFill>
                <a:sysClr val="windowText" lastClr="0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88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Multicore Processors (Cont.)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2800" dirty="0" smtClean="0"/>
              <a:t>之前的做法是</a:t>
            </a:r>
            <a:r>
              <a:rPr lang="en-US" altLang="zh-TW" sz="2800" dirty="0" smtClean="0"/>
              <a:t>OS</a:t>
            </a:r>
            <a:r>
              <a:rPr lang="zh-TW" altLang="en-US" sz="2800" dirty="0" smtClean="0"/>
              <a:t>切換</a:t>
            </a:r>
            <a:r>
              <a:rPr lang="en-US" altLang="zh-TW" sz="2800" dirty="0" smtClean="0"/>
              <a:t>process</a:t>
            </a:r>
            <a:r>
              <a:rPr lang="zh-TW" altLang="en-US" sz="2800" dirty="0" smtClean="0"/>
              <a:t>執行</a:t>
            </a:r>
            <a:r>
              <a:rPr lang="en-US" altLang="zh-TW" sz="2800" dirty="0" smtClean="0"/>
              <a:t>(context switch)</a:t>
            </a:r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zh-TW" altLang="en-US" sz="2800" dirty="0" smtClean="0"/>
              <a:t>是不是可以使用類似的作法呢</a:t>
            </a:r>
            <a:r>
              <a:rPr lang="en-US" altLang="zh-TW" sz="2800" dirty="0" smtClean="0"/>
              <a:t>?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 smtClean="0"/>
              <a:t>Q1:</a:t>
            </a:r>
            <a:r>
              <a:rPr lang="zh-TW" altLang="en-US" sz="2800" dirty="0" smtClean="0"/>
              <a:t> </a:t>
            </a:r>
            <a:r>
              <a:rPr lang="zh-TW" altLang="en-US" sz="2800" dirty="0"/>
              <a:t>誰</a:t>
            </a:r>
            <a:r>
              <a:rPr lang="zh-TW" altLang="en-US" sz="2800" dirty="0" smtClean="0"/>
              <a:t>負責</a:t>
            </a:r>
            <a:r>
              <a:rPr lang="en-US" altLang="zh-TW" sz="2800" dirty="0" smtClean="0"/>
              <a:t>context switch? </a:t>
            </a:r>
            <a:r>
              <a:rPr lang="en-US" altLang="zh-TW" sz="2800" dirty="0"/>
              <a:t>CPU</a:t>
            </a:r>
            <a:r>
              <a:rPr lang="zh-TW" altLang="en-US" sz="2800" dirty="0"/>
              <a:t> </a:t>
            </a:r>
            <a:r>
              <a:rPr lang="en-US" altLang="zh-TW" sz="2800" dirty="0"/>
              <a:t>or OS?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 smtClean="0"/>
              <a:t>Q2: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context switch</a:t>
            </a:r>
            <a:r>
              <a:rPr lang="zh-TW" altLang="en-US" sz="2800" dirty="0" smtClean="0"/>
              <a:t>必須觸發</a:t>
            </a:r>
            <a:r>
              <a:rPr lang="en-US" altLang="zh-TW" sz="2800" dirty="0" smtClean="0"/>
              <a:t>state save/state restore, </a:t>
            </a:r>
            <a:r>
              <a:rPr lang="zh-TW" altLang="en-US" sz="2800" dirty="0" smtClean="0"/>
              <a:t>如何處理呢</a:t>
            </a:r>
            <a:r>
              <a:rPr lang="en-US" altLang="zh-TW" sz="2800" dirty="0" smtClean="0"/>
              <a:t>?</a:t>
            </a:r>
            <a:endParaRPr lang="en-US" altLang="zh-TW" sz="2800" dirty="0"/>
          </a:p>
          <a:p>
            <a:pPr eaLnBrk="1" hangingPunct="1"/>
            <a:endParaRPr lang="en-US" altLang="zh-TW" sz="28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99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75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Multicore Processors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Q1</a:t>
            </a:r>
            <a:r>
              <a:rPr lang="en-US" altLang="zh-TW" dirty="0"/>
              <a:t>:</a:t>
            </a:r>
            <a:r>
              <a:rPr lang="zh-TW" altLang="en-US" dirty="0"/>
              <a:t> 誰負責</a:t>
            </a:r>
            <a:r>
              <a:rPr lang="en-US" altLang="zh-TW" dirty="0"/>
              <a:t>context switch</a:t>
            </a:r>
            <a:r>
              <a:rPr lang="en-US" altLang="zh-TW" dirty="0" smtClean="0"/>
              <a:t>?</a:t>
            </a:r>
            <a:r>
              <a:rPr lang="zh-TW" altLang="en-US" dirty="0" smtClean="0"/>
              <a:t> </a:t>
            </a:r>
            <a:r>
              <a:rPr lang="en-US" altLang="zh-TW" dirty="0" smtClean="0"/>
              <a:t>CPU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Why not OS?</a:t>
            </a:r>
          </a:p>
          <a:p>
            <a:pPr lvl="1"/>
            <a:r>
              <a:rPr lang="zh-TW" altLang="en-US" dirty="0" smtClean="0"/>
              <a:t>是</a:t>
            </a:r>
            <a:r>
              <a:rPr lang="en-US" altLang="zh-TW" b="1" dirty="0" smtClean="0">
                <a:solidFill>
                  <a:srgbClr val="FF0000"/>
                </a:solidFill>
              </a:rPr>
              <a:t>CPU</a:t>
            </a:r>
            <a:r>
              <a:rPr lang="zh-TW" altLang="en-US" dirty="0"/>
              <a:t>等待</a:t>
            </a:r>
            <a:r>
              <a:rPr lang="zh-TW" altLang="en-US" b="1" dirty="0">
                <a:solidFill>
                  <a:srgbClr val="FF0000"/>
                </a:solidFill>
              </a:rPr>
              <a:t>記憶體存取</a:t>
            </a:r>
            <a:r>
              <a:rPr lang="zh-TW" altLang="en-US" dirty="0"/>
              <a:t>的</a:t>
            </a:r>
            <a:r>
              <a:rPr lang="zh-TW" altLang="en-US" dirty="0" smtClean="0"/>
              <a:t>完成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只有</a:t>
            </a:r>
            <a:r>
              <a:rPr lang="en-US" altLang="zh-TW" dirty="0" smtClean="0"/>
              <a:t>CPU</a:t>
            </a:r>
            <a:r>
              <a:rPr lang="zh-TW" altLang="en-US" dirty="0" smtClean="0"/>
              <a:t>知道發生</a:t>
            </a:r>
            <a:r>
              <a:rPr lang="en-US" altLang="zh-TW" dirty="0" smtClean="0"/>
              <a:t>memory stall, OS</a:t>
            </a:r>
            <a:r>
              <a:rPr lang="zh-TW" altLang="en-US" dirty="0" smtClean="0"/>
              <a:t>不知道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(see the following slide)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92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en-US" altLang="zh-TW" sz="4000" dirty="0" smtClean="0">
                <a:effectLst/>
              </a:rPr>
              <a:t>Memory Stall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38717" y="2719387"/>
            <a:ext cx="2233783" cy="25884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8587099" y="2626489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temp</a:t>
            </a:r>
            <a:endParaRPr lang="zh-TW" altLang="en-US" sz="20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4451663" y="2757508"/>
            <a:ext cx="2009484" cy="4036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flipH="1">
            <a:off x="4372777" y="2983674"/>
            <a:ext cx="1912150" cy="3588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2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Multicore Processors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Q2:</a:t>
            </a:r>
            <a:r>
              <a:rPr lang="zh-TW" altLang="en-US" dirty="0"/>
              <a:t> </a:t>
            </a:r>
            <a:r>
              <a:rPr lang="en-US" altLang="zh-TW" dirty="0"/>
              <a:t>context switch</a:t>
            </a:r>
            <a:r>
              <a:rPr lang="zh-TW" altLang="en-US" dirty="0"/>
              <a:t>必須觸發</a:t>
            </a:r>
            <a:r>
              <a:rPr lang="en-US" altLang="zh-TW" dirty="0"/>
              <a:t>state save/state restore, </a:t>
            </a:r>
            <a:r>
              <a:rPr lang="zh-TW" altLang="en-US" dirty="0"/>
              <a:t>如何處理呢</a:t>
            </a:r>
            <a:r>
              <a:rPr lang="en-US" altLang="zh-TW" dirty="0"/>
              <a:t>?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之前</a:t>
            </a:r>
            <a:r>
              <a:rPr lang="zh-TW" altLang="en-US" dirty="0"/>
              <a:t>如何處理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</a:p>
          <a:p>
            <a:pPr lvl="1"/>
            <a:r>
              <a:rPr lang="zh-TW" altLang="en-US" dirty="0" smtClean="0"/>
              <a:t>將暫存器的值儲存到記憶體</a:t>
            </a:r>
            <a:r>
              <a:rPr lang="en-US" altLang="zh-TW" dirty="0" smtClean="0"/>
              <a:t>(PCB</a:t>
            </a:r>
            <a:r>
              <a:rPr lang="zh-TW" altLang="en-US" dirty="0" smtClean="0"/>
              <a:t>或是</a:t>
            </a:r>
            <a:r>
              <a:rPr lang="en-US" altLang="zh-TW" dirty="0" smtClean="0"/>
              <a:t>TCB)</a:t>
            </a:r>
          </a:p>
          <a:p>
            <a:pPr lvl="1"/>
            <a:endParaRPr lang="en-US" altLang="zh-TW" sz="2400" dirty="0" smtClean="0"/>
          </a:p>
          <a:p>
            <a:pPr lvl="1"/>
            <a:r>
              <a:rPr lang="en-US" altLang="zh-TW" sz="2400" dirty="0" smtClean="0"/>
              <a:t>See the following slide</a:t>
            </a:r>
          </a:p>
          <a:p>
            <a:endParaRPr lang="en-US" altLang="zh-TW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8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</a:rPr>
              <a:t>Context </a:t>
            </a:r>
            <a:r>
              <a:rPr lang="en-US" altLang="zh-TW" dirty="0" smtClean="0">
                <a:effectLst/>
              </a:rPr>
              <a:t>Switch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07494" y="261837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 flipV="1">
            <a:off x="4475712" y="3173909"/>
            <a:ext cx="1741456" cy="106362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>
            <a:off x="8694162" y="2189164"/>
            <a:ext cx="426175" cy="13012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P1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=x;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=y;……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4208080" y="3022324"/>
            <a:ext cx="2099059" cy="1774829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4207718" y="3280272"/>
            <a:ext cx="2009451" cy="2350040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14280" y="2708921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19042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P2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=59;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=25;……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9241998" y="2407693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context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switch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318300" y="4495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P1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=10;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=5;……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OS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78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Multicore Processors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Q: </a:t>
            </a:r>
            <a:r>
              <a:rPr lang="zh-TW" altLang="en-US" dirty="0"/>
              <a:t>可以使用相同的做法嗎</a:t>
            </a:r>
            <a:r>
              <a:rPr lang="en-US" altLang="zh-TW" dirty="0" smtClean="0"/>
              <a:t>?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</a:t>
            </a:r>
            <a:r>
              <a:rPr lang="zh-TW" altLang="en-US" dirty="0" smtClean="0"/>
              <a:t> 不行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Why?</a:t>
            </a:r>
          </a:p>
          <a:p>
            <a:pPr lvl="1"/>
            <a:r>
              <a:rPr lang="zh-TW" altLang="en-US" dirty="0" smtClean="0"/>
              <a:t>已經</a:t>
            </a:r>
            <a:r>
              <a:rPr lang="en-US" altLang="zh-TW" dirty="0" smtClean="0"/>
              <a:t>memory stall</a:t>
            </a:r>
            <a:r>
              <a:rPr lang="zh-TW" altLang="en-US" dirty="0" smtClean="0"/>
              <a:t>了</a:t>
            </a:r>
            <a:r>
              <a:rPr lang="en-US" altLang="zh-TW" dirty="0" smtClean="0"/>
              <a:t>, </a:t>
            </a:r>
            <a:r>
              <a:rPr lang="zh-TW" altLang="en-US" dirty="0" smtClean="0"/>
              <a:t>存取</a:t>
            </a:r>
            <a:r>
              <a:rPr lang="en-US" altLang="zh-TW" dirty="0" smtClean="0"/>
              <a:t>PCB/TCB</a:t>
            </a:r>
            <a:r>
              <a:rPr lang="zh-TW" altLang="en-US" dirty="0" smtClean="0"/>
              <a:t>又必須存取記憶體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08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你學過的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667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 dirty="0" smtClean="0">
                <a:effectLst/>
              </a:rPr>
              <a:t>複習：</a:t>
            </a:r>
            <a:r>
              <a:rPr lang="en-US" altLang="zh-TW" dirty="0" smtClean="0">
                <a:effectLst/>
              </a:rPr>
              <a:t>Multiple Sets of Registers</a:t>
            </a:r>
            <a:endParaRPr lang="zh-TW" altLang="en-US" dirty="0" smtClean="0">
              <a:effectLst/>
            </a:endParaRP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8886" y="1788245"/>
            <a:ext cx="7056438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4160550" y="2364508"/>
            <a:ext cx="1150937" cy="1871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=1;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=5;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=6;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4160549" y="5747470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P1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7545099" y="5747470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P2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5853616" y="2364508"/>
            <a:ext cx="1150938" cy="18716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=4;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=3;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=7;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3801774" y="1427883"/>
            <a:ext cx="5111750" cy="309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5725825" y="1513608"/>
            <a:ext cx="96693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CPU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7185357" y="2867820"/>
            <a:ext cx="12241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93" name="Line 17"/>
          <p:cNvSpPr>
            <a:spLocks noChangeShapeType="1"/>
          </p:cNvSpPr>
          <p:nvPr/>
        </p:nvSpPr>
        <p:spPr bwMode="auto">
          <a:xfrm>
            <a:off x="6069518" y="2036526"/>
            <a:ext cx="323751" cy="3279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 flipH="1">
            <a:off x="5294024" y="2047504"/>
            <a:ext cx="757633" cy="3170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5" name="Rectangle 19"/>
          <p:cNvSpPr>
            <a:spLocks noChangeArrowheads="1"/>
          </p:cNvSpPr>
          <p:nvPr/>
        </p:nvSpPr>
        <p:spPr bwMode="auto">
          <a:xfrm>
            <a:off x="5817899" y="4667971"/>
            <a:ext cx="1223962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2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ffectLst/>
              </a:rPr>
              <a:t>CPU Core Performs Context Switch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1625601" y="2189162"/>
            <a:ext cx="2811464" cy="1671637"/>
          </a:xfrm>
          <a:prstGeom prst="rect">
            <a:avLst/>
          </a:prstGeom>
          <a:solidFill>
            <a:srgbClr val="5B9BD5"/>
          </a:solidFill>
          <a:ln w="12700" cap="sq">
            <a:solidFill>
              <a:srgbClr val="FFFF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 Core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437066" y="2266950"/>
            <a:ext cx="1877214" cy="75961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831659"/>
              </p:ext>
            </p:extLst>
          </p:nvPr>
        </p:nvGraphicFramePr>
        <p:xfrm>
          <a:off x="3158836" y="2888596"/>
          <a:ext cx="103771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859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518859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 flipV="1">
            <a:off x="4475712" y="3173909"/>
            <a:ext cx="1741456" cy="106362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>
            <a:off x="8694162" y="2189164"/>
            <a:ext cx="426175" cy="13012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P1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=x;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=y;……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14280" y="2708921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19042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P2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=59;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=25;……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2268972" y="4000113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context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switch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OS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89045"/>
              </p:ext>
            </p:extLst>
          </p:nvPr>
        </p:nvGraphicFramePr>
        <p:xfrm>
          <a:off x="1824186" y="2911686"/>
          <a:ext cx="103771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859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518859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45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sp>
        <p:nvSpPr>
          <p:cNvPr id="26" name="Line 18"/>
          <p:cNvSpPr>
            <a:spLocks noChangeShapeType="1"/>
          </p:cNvSpPr>
          <p:nvPr/>
        </p:nvSpPr>
        <p:spPr bwMode="auto">
          <a:xfrm flipH="1">
            <a:off x="2347620" y="2613890"/>
            <a:ext cx="514284" cy="221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>
            <a:off x="3330447" y="2597552"/>
            <a:ext cx="504753" cy="1895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5" name="乘號 4"/>
          <p:cNvSpPr/>
          <p:nvPr/>
        </p:nvSpPr>
        <p:spPr>
          <a:xfrm>
            <a:off x="4972050" y="2121943"/>
            <a:ext cx="914400" cy="9144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257675" y="1781175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stall</a:t>
            </a:r>
            <a:endParaRPr lang="zh-TW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 flipH="1">
            <a:off x="4437066" y="2266950"/>
            <a:ext cx="1877214" cy="7596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26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8" grpId="0" animBg="1"/>
      <p:bldP spid="5" grpId="0" animBg="1"/>
      <p:bldP spid="1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上面提到的技術稱為</a:t>
            </a:r>
            <a:r>
              <a:rPr lang="en-US" altLang="zh-TW" dirty="0">
                <a:solidFill>
                  <a:srgbClr val="FF0000"/>
                </a:solidFill>
              </a:rPr>
              <a:t>Chip-multithreading (CMT</a:t>
            </a:r>
            <a:r>
              <a:rPr lang="en-US" altLang="zh-TW" dirty="0" smtClean="0">
                <a:solidFill>
                  <a:srgbClr val="FF0000"/>
                </a:solidFill>
              </a:rPr>
              <a:t>).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95300" y="3886199"/>
            <a:ext cx="11144250" cy="2047875"/>
          </a:xfrm>
        </p:spPr>
        <p:txBody>
          <a:bodyPr/>
          <a:lstStyle/>
          <a:p>
            <a:pPr marL="457200" lvl="1" indent="0" algn="ctr" eaLnBrk="1" hangingPunct="1">
              <a:buNone/>
            </a:pPr>
            <a:r>
              <a:rPr lang="zh-TW" altLang="en-US" dirty="0" smtClean="0"/>
              <a:t>以上圖為例</a:t>
            </a:r>
            <a:r>
              <a:rPr lang="en-US" altLang="zh-TW" dirty="0" smtClean="0"/>
              <a:t>, CPU core</a:t>
            </a:r>
            <a:r>
              <a:rPr lang="zh-TW" altLang="en-US" dirty="0" smtClean="0"/>
              <a:t>內部有兩個</a:t>
            </a:r>
            <a:r>
              <a:rPr lang="en-US" altLang="zh-TW" b="1" dirty="0" smtClean="0"/>
              <a:t>threads </a:t>
            </a:r>
            <a:r>
              <a:rPr lang="en-US" altLang="zh-TW" dirty="0"/>
              <a:t>(called </a:t>
            </a:r>
            <a:r>
              <a:rPr lang="en-US" altLang="zh-TW" b="1" dirty="0">
                <a:solidFill>
                  <a:srgbClr val="FF0000"/>
                </a:solidFill>
              </a:rPr>
              <a:t>hardware threads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</a:p>
          <a:p>
            <a:pPr marL="457200" lvl="1" indent="0" algn="ctr" eaLnBrk="1" hangingPunct="1">
              <a:buNone/>
            </a:pP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Thread</a:t>
            </a:r>
            <a:r>
              <a:rPr lang="en-US" altLang="zh-TW" dirty="0"/>
              <a:t>: </a:t>
            </a:r>
            <a:r>
              <a:rPr lang="zh-TW" altLang="en-US" dirty="0"/>
              <a:t>一段程式碼</a:t>
            </a:r>
            <a:endParaRPr lang="en-US" altLang="zh-TW" dirty="0"/>
          </a:p>
          <a:p>
            <a:pPr marL="457200" lvl="1" indent="0" algn="ctr" eaLnBrk="1" hangingPunct="1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Hardware thread</a:t>
            </a:r>
            <a:r>
              <a:rPr lang="en-US" altLang="zh-TW" dirty="0"/>
              <a:t>: </a:t>
            </a:r>
            <a:r>
              <a:rPr lang="zh-TW" altLang="en-US" dirty="0" smtClean="0"/>
              <a:t>硬體可以認知</a:t>
            </a:r>
            <a:r>
              <a:rPr lang="zh-TW" altLang="en-US" dirty="0"/>
              <a:t>到</a:t>
            </a:r>
            <a:r>
              <a:rPr lang="zh-TW" altLang="en-US" dirty="0" smtClean="0"/>
              <a:t>此一程式碼的存在並</a:t>
            </a:r>
            <a:r>
              <a:rPr lang="zh-TW" altLang="en-US" dirty="0"/>
              <a:t>管理</a:t>
            </a:r>
            <a:r>
              <a:rPr lang="en-US" altLang="zh-TW" dirty="0"/>
              <a:t>(context switch)</a:t>
            </a:r>
            <a:r>
              <a:rPr lang="zh-TW" altLang="en-US" dirty="0" smtClean="0"/>
              <a:t>執行此一段程式碼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4084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TW" altLang="en-US" dirty="0" smtClean="0"/>
              <a:t>整理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>
                <a:solidFill>
                  <a:srgbClr val="FF0000"/>
                </a:solidFill>
              </a:rPr>
              <a:t>Chip-multithreading (CMT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Problem</a:t>
            </a:r>
            <a:r>
              <a:rPr lang="en-US" altLang="zh-TW" b="1" dirty="0"/>
              <a:t>: </a:t>
            </a:r>
            <a:r>
              <a:rPr lang="en-US" altLang="zh-TW" b="1" dirty="0">
                <a:solidFill>
                  <a:srgbClr val="0000FF"/>
                </a:solidFill>
              </a:rPr>
              <a:t>memory </a:t>
            </a:r>
            <a:r>
              <a:rPr lang="en-US" altLang="zh-TW" b="1" dirty="0" smtClean="0">
                <a:solidFill>
                  <a:srgbClr val="0000FF"/>
                </a:solidFill>
              </a:rPr>
              <a:t>stall</a:t>
            </a:r>
            <a:r>
              <a:rPr lang="en-US" altLang="zh-TW" dirty="0" smtClean="0"/>
              <a:t> (</a:t>
            </a:r>
            <a:r>
              <a:rPr lang="zh-TW" altLang="en-US" dirty="0"/>
              <a:t>使動彈</a:t>
            </a:r>
            <a:r>
              <a:rPr lang="zh-TW" altLang="en-US" dirty="0" smtClean="0"/>
              <a:t>不得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Solution: </a:t>
            </a:r>
            <a:r>
              <a:rPr lang="en-US" altLang="zh-TW" b="1" dirty="0" smtClean="0">
                <a:solidFill>
                  <a:srgbClr val="FF0000"/>
                </a:solidFill>
              </a:rPr>
              <a:t>Chip-multithreading (CMT)</a:t>
            </a:r>
          </a:p>
          <a:p>
            <a:pPr lvl="1" eaLnBrk="1" hangingPunct="1"/>
            <a:r>
              <a:rPr lang="en-US" altLang="zh-TW" dirty="0" smtClean="0"/>
              <a:t>Two or more </a:t>
            </a:r>
            <a:r>
              <a:rPr lang="en-US" altLang="zh-TW" b="1" dirty="0" smtClean="0"/>
              <a:t>threads </a:t>
            </a:r>
            <a:r>
              <a:rPr lang="en-US" altLang="zh-TW" dirty="0" smtClean="0"/>
              <a:t>(called </a:t>
            </a:r>
            <a:r>
              <a:rPr lang="en-US" altLang="zh-TW" b="1" dirty="0" smtClean="0">
                <a:solidFill>
                  <a:srgbClr val="FF0000"/>
                </a:solidFill>
              </a:rPr>
              <a:t>hardware threads) </a:t>
            </a:r>
            <a:r>
              <a:rPr lang="en-US" altLang="zh-TW" dirty="0" smtClean="0"/>
              <a:t>in a core</a:t>
            </a:r>
          </a:p>
          <a:p>
            <a:pPr lvl="1" eaLnBrk="1" hangingPunct="1"/>
            <a:r>
              <a:rPr lang="en-US" altLang="zh-TW" dirty="0" smtClean="0"/>
              <a:t>If one </a:t>
            </a:r>
            <a:r>
              <a:rPr lang="en-US" altLang="zh-TW" b="1" dirty="0" smtClean="0"/>
              <a:t>hardware thread</a:t>
            </a:r>
            <a:r>
              <a:rPr lang="en-US" altLang="zh-TW" dirty="0" smtClean="0"/>
              <a:t> stalls, the core switches to another hardware thread</a:t>
            </a:r>
          </a:p>
          <a:p>
            <a:pPr lvl="1" eaLnBrk="1" hangingPunct="1"/>
            <a:r>
              <a:rPr lang="en-US" altLang="zh-TW" dirty="0" smtClean="0"/>
              <a:t>Each hardware thread appear as a </a:t>
            </a:r>
            <a:r>
              <a:rPr lang="en-US" altLang="zh-TW" b="1" dirty="0" smtClean="0"/>
              <a:t>logical</a:t>
            </a:r>
            <a:r>
              <a:rPr lang="en-US" altLang="zh-TW" dirty="0" smtClean="0"/>
              <a:t> </a:t>
            </a:r>
            <a:r>
              <a:rPr lang="en-US" altLang="zh-TW" b="1" dirty="0" smtClean="0"/>
              <a:t>processor</a:t>
            </a:r>
            <a:r>
              <a:rPr lang="en-US" altLang="zh-TW" dirty="0" smtClean="0"/>
              <a:t> to OS</a:t>
            </a:r>
          </a:p>
          <a:p>
            <a:pPr lvl="2" eaLnBrk="1" hangingPunct="1"/>
            <a:r>
              <a:rPr lang="en-US" altLang="zh-TW" dirty="0" smtClean="0"/>
              <a:t>Each hardware thread has its own </a:t>
            </a:r>
            <a:r>
              <a:rPr lang="en-US" altLang="zh-TW" b="1" dirty="0" smtClean="0"/>
              <a:t>program counter </a:t>
            </a:r>
            <a:r>
              <a:rPr lang="en-US" altLang="zh-TW" dirty="0" smtClean="0"/>
              <a:t>and </a:t>
            </a:r>
            <a:r>
              <a:rPr lang="en-US" altLang="zh-TW" b="1" dirty="0" smtClean="0"/>
              <a:t>register set</a:t>
            </a:r>
          </a:p>
          <a:p>
            <a:pPr lvl="1" eaLnBrk="1" hangingPunct="1"/>
            <a:r>
              <a:rPr lang="en-US" altLang="zh-TW" b="1" dirty="0" smtClean="0"/>
              <a:t>Hyper-threading </a:t>
            </a:r>
            <a:r>
              <a:rPr lang="en-US" altLang="zh-TW" dirty="0" smtClean="0"/>
              <a:t>(also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known as </a:t>
            </a:r>
            <a:r>
              <a:rPr lang="en-US" altLang="zh-TW" b="1" dirty="0" smtClean="0"/>
              <a:t>simultaneously multithreading</a:t>
            </a:r>
            <a:r>
              <a:rPr lang="en-US" altLang="zh-TW" dirty="0" smtClean="0"/>
              <a:t> or </a:t>
            </a:r>
            <a:r>
              <a:rPr lang="en-US" altLang="zh-TW" b="1" dirty="0" smtClean="0"/>
              <a:t>SMT</a:t>
            </a:r>
            <a:r>
              <a:rPr lang="en-US" altLang="zh-TW" dirty="0" smtClean="0"/>
              <a:t>) technology on Intel processor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109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8" name="Picture 6" descr="fg5_11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4425" y="981075"/>
            <a:ext cx="10258425" cy="383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9" name="Text Box 7"/>
          <p:cNvSpPr txBox="1">
            <a:spLocks noChangeArrowheads="1"/>
          </p:cNvSpPr>
          <p:nvPr/>
        </p:nvSpPr>
        <p:spPr bwMode="auto">
          <a:xfrm>
            <a:off x="438150" y="5023790"/>
            <a:ext cx="1133706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latin typeface="Calibri" panose="020F0502020204030204" pitchFamily="34" charset="0"/>
              </a:rPr>
              <a:t>Multithreaded system: the two </a:t>
            </a:r>
            <a:r>
              <a:rPr lang="en-US" altLang="zh-TW" sz="28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hardware threads </a:t>
            </a:r>
            <a:r>
              <a:rPr lang="en-US" altLang="zh-TW" sz="2800" b="1" dirty="0">
                <a:latin typeface="Calibri" panose="020F0502020204030204" pitchFamily="34" charset="0"/>
              </a:rPr>
              <a:t>share the same CPU core</a:t>
            </a:r>
          </a:p>
          <a:p>
            <a:pPr algn="ctr"/>
            <a:r>
              <a:rPr lang="en-US" altLang="zh-TW" sz="2800" dirty="0">
                <a:latin typeface="Calibri" panose="020F0502020204030204" pitchFamily="34" charset="0"/>
              </a:rPr>
              <a:t>-in fact, only one hardware thread is running at a time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2170763" y="2349179"/>
            <a:ext cx="9183037" cy="8743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 smtClean="0">
                <a:solidFill>
                  <a:sysClr val="windowText" lastClr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Context Switch is performed by CPU</a:t>
            </a:r>
            <a:endParaRPr lang="zh-TW" altLang="en-US" sz="3200" b="1" dirty="0">
              <a:solidFill>
                <a:sysClr val="windowText" lastClr="0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3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000" dirty="0">
                <a:effectLst/>
              </a:rPr>
              <a:t>A Dual-Threaded, Quad-Core System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510022" y="5918094"/>
            <a:ext cx="11669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Calibri" panose="020F0502020204030204" pitchFamily="34" charset="0"/>
              </a:rPr>
              <a:t>Thus, a dual-threaded, quad-core system </a:t>
            </a:r>
            <a:r>
              <a:rPr lang="en-US" altLang="zh-TW" sz="28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800" dirty="0" smtClean="0">
                <a:latin typeface="Calibri" panose="020F0502020204030204" pitchFamily="34" charset="0"/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eight</a:t>
            </a:r>
            <a:r>
              <a:rPr lang="en-US" altLang="zh-TW" sz="2800" dirty="0">
                <a:latin typeface="Calibri" panose="020F0502020204030204" pitchFamily="34" charset="0"/>
              </a:rPr>
              <a:t> logical processor to the OS</a:t>
            </a:r>
            <a:endParaRPr lang="zh-TW" altLang="en-US" sz="2800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310" y="967509"/>
            <a:ext cx="6567054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88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If M-to-M or M-to-1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Three </a:t>
            </a:r>
            <a:r>
              <a:rPr lang="en-US" altLang="zh-TW" sz="3600" dirty="0" smtClean="0"/>
              <a:t>levels </a:t>
            </a:r>
            <a:r>
              <a:rPr lang="en-US" altLang="zh-TW" sz="3600" dirty="0"/>
              <a:t>of </a:t>
            </a:r>
            <a:r>
              <a:rPr lang="en-US" altLang="zh-TW" sz="3600" dirty="0" smtClean="0"/>
              <a:t>scheduling</a:t>
            </a:r>
          </a:p>
          <a:p>
            <a:pPr lvl="1"/>
            <a:r>
              <a:rPr lang="en-US" altLang="zh-TW" dirty="0" smtClean="0"/>
              <a:t>Level 1: choose which user thread to run on each </a:t>
            </a:r>
            <a:r>
              <a:rPr lang="en-US" altLang="zh-TW" b="1" dirty="0" smtClean="0"/>
              <a:t>kernel thread</a:t>
            </a:r>
          </a:p>
          <a:p>
            <a:pPr lvl="2"/>
            <a:r>
              <a:rPr lang="en-US" altLang="zh-TW" dirty="0" smtClean="0"/>
              <a:t>Done </a:t>
            </a:r>
            <a:r>
              <a:rPr lang="en-US" altLang="zh-TW" dirty="0"/>
              <a:t>by </a:t>
            </a:r>
            <a:r>
              <a:rPr lang="en-US" altLang="zh-TW" b="1" dirty="0">
                <a:solidFill>
                  <a:srgbClr val="FF0000"/>
                </a:solidFill>
              </a:rPr>
              <a:t>thread library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Level </a:t>
            </a:r>
            <a:r>
              <a:rPr lang="en-US" altLang="zh-TW" dirty="0"/>
              <a:t>2: choose which kernel thread to run on each </a:t>
            </a:r>
            <a:r>
              <a:rPr lang="en-US" altLang="zh-TW" b="1" dirty="0"/>
              <a:t>logical processor</a:t>
            </a:r>
          </a:p>
          <a:p>
            <a:pPr lvl="2"/>
            <a:r>
              <a:rPr lang="en-US" altLang="zh-TW" dirty="0"/>
              <a:t>Done by the </a:t>
            </a:r>
            <a:r>
              <a:rPr lang="en-US" altLang="zh-TW" b="1" dirty="0">
                <a:solidFill>
                  <a:srgbClr val="FF0000"/>
                </a:solidFill>
              </a:rPr>
              <a:t>OS</a:t>
            </a:r>
            <a:r>
              <a:rPr lang="en-US" altLang="zh-TW" dirty="0"/>
              <a:t> </a:t>
            </a:r>
          </a:p>
          <a:p>
            <a:pPr lvl="2"/>
            <a:endParaRPr lang="en-US" altLang="zh-TW" dirty="0" smtClean="0"/>
          </a:p>
          <a:p>
            <a:pPr lvl="1"/>
            <a:r>
              <a:rPr lang="en-US" altLang="zh-TW" dirty="0" smtClean="0"/>
              <a:t>Level </a:t>
            </a:r>
            <a:r>
              <a:rPr lang="en-US" altLang="zh-TW" dirty="0"/>
              <a:t>3: </a:t>
            </a:r>
            <a:r>
              <a:rPr lang="en-US" altLang="zh-TW" dirty="0" smtClean="0"/>
              <a:t>choose which hardware thread to run on a CPU core</a:t>
            </a:r>
            <a:endParaRPr lang="en-US" altLang="zh-TW" dirty="0"/>
          </a:p>
          <a:p>
            <a:pPr lvl="2"/>
            <a:r>
              <a:rPr lang="en-US" altLang="zh-TW" dirty="0"/>
              <a:t>Done by the </a:t>
            </a:r>
            <a:r>
              <a:rPr lang="en-US" altLang="zh-TW" b="1" dirty="0"/>
              <a:t>hardware</a:t>
            </a:r>
          </a:p>
          <a:p>
            <a:pPr lvl="2"/>
            <a:endParaRPr lang="en-US" altLang="zh-TW" sz="2800" dirty="0"/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92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If </a:t>
            </a:r>
            <a:r>
              <a:rPr lang="en-US" altLang="zh-TW" dirty="0" smtClean="0"/>
              <a:t>One-to-One </a:t>
            </a:r>
            <a:r>
              <a:rPr lang="en-US" altLang="zh-TW" dirty="0"/>
              <a:t>Model</a:t>
            </a:r>
            <a:endParaRPr lang="zh-TW" altLang="en-US" dirty="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Two levels of </a:t>
            </a:r>
            <a:r>
              <a:rPr lang="en-US" altLang="zh-TW" sz="3600" dirty="0" smtClean="0"/>
              <a:t>scheduling</a:t>
            </a:r>
            <a:endParaRPr lang="en-US" altLang="zh-TW" sz="3600" dirty="0"/>
          </a:p>
          <a:p>
            <a:pPr lvl="1"/>
            <a:r>
              <a:rPr lang="en-US" altLang="zh-TW" sz="3200" dirty="0"/>
              <a:t>Level 1: choose which </a:t>
            </a:r>
            <a:r>
              <a:rPr lang="en-US" altLang="zh-TW" sz="3200" dirty="0" smtClean="0"/>
              <a:t>kernel thread </a:t>
            </a:r>
            <a:r>
              <a:rPr lang="en-US" altLang="zh-TW" sz="3200" dirty="0"/>
              <a:t>to run on each </a:t>
            </a:r>
            <a:r>
              <a:rPr lang="en-US" altLang="zh-TW" sz="3200" b="1" dirty="0"/>
              <a:t>logical processor</a:t>
            </a:r>
          </a:p>
          <a:p>
            <a:pPr lvl="2"/>
            <a:r>
              <a:rPr lang="en-US" altLang="zh-TW" sz="2800" dirty="0"/>
              <a:t>Done by the </a:t>
            </a:r>
            <a:r>
              <a:rPr lang="en-US" altLang="zh-TW" sz="2800" b="1" dirty="0">
                <a:solidFill>
                  <a:srgbClr val="FF0000"/>
                </a:solidFill>
              </a:rPr>
              <a:t>OS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Level 2: choose which hardware thread to run on a CPU core</a:t>
            </a:r>
          </a:p>
          <a:p>
            <a:pPr lvl="2"/>
            <a:r>
              <a:rPr lang="en-US" altLang="zh-TW" sz="2800" dirty="0"/>
              <a:t>Done by the </a:t>
            </a:r>
            <a:r>
              <a:rPr lang="en-US" altLang="zh-TW" sz="2800" b="1" dirty="0" smtClean="0"/>
              <a:t>hardware</a:t>
            </a:r>
            <a:endParaRPr lang="en-US" altLang="zh-TW" sz="2800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17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  <a:p>
            <a:pPr lvl="1" eaLnBrk="1" hangingPunct="1"/>
            <a:r>
              <a:rPr lang="en-US" altLang="zh-TW" dirty="0" smtClean="0"/>
              <a:t>Multicore Processors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Approaches to Multiple-Processor Scheduling</a:t>
            </a:r>
          </a:p>
          <a:p>
            <a:pPr lvl="1" eaLnBrk="1" hangingPunct="1"/>
            <a:r>
              <a:rPr lang="en-US" altLang="zh-TW" dirty="0" smtClean="0"/>
              <a:t>Load Balancing</a:t>
            </a:r>
          </a:p>
          <a:p>
            <a:pPr lvl="1" eaLnBrk="1" hangingPunct="1"/>
            <a:r>
              <a:rPr lang="en-US" altLang="zh-TW" dirty="0" smtClean="0"/>
              <a:t>Processor Affinity</a:t>
            </a:r>
          </a:p>
          <a:p>
            <a:pPr lvl="1" eaLnBrk="1" hangingPunct="1"/>
            <a:r>
              <a:rPr lang="en-US" altLang="zh-TW" dirty="0" smtClean="0"/>
              <a:t>Heterogeneous Multiprocessing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38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Q:</a:t>
            </a:r>
            <a:r>
              <a:rPr lang="zh-TW" altLang="en-US" sz="3600" dirty="0" smtClean="0"/>
              <a:t> </a:t>
            </a:r>
            <a:r>
              <a:rPr lang="zh-TW" altLang="en-US" sz="3600" dirty="0"/>
              <a:t>假設</a:t>
            </a:r>
            <a:r>
              <a:rPr lang="zh-TW" altLang="en-US" sz="3600" dirty="0" smtClean="0"/>
              <a:t>有</a:t>
            </a:r>
            <a:r>
              <a:rPr lang="en-US" altLang="zh-TW" sz="3600" dirty="0" smtClean="0"/>
              <a:t>4</a:t>
            </a:r>
            <a:r>
              <a:rPr lang="zh-TW" altLang="en-US" sz="3600" dirty="0" smtClean="0"/>
              <a:t>顆</a:t>
            </a:r>
            <a:r>
              <a:rPr lang="en-US" altLang="zh-TW" sz="3600" dirty="0" smtClean="0"/>
              <a:t>CPU cores, </a:t>
            </a:r>
            <a:r>
              <a:rPr lang="zh-TW" altLang="en-US" sz="3600" dirty="0" smtClean="0"/>
              <a:t>現在有一個</a:t>
            </a:r>
            <a:r>
              <a:rPr lang="en-US" altLang="zh-TW" sz="3600" dirty="0" smtClean="0"/>
              <a:t>process P1</a:t>
            </a:r>
            <a:r>
              <a:rPr lang="zh-TW" altLang="en-US" sz="3600" dirty="0" smtClean="0"/>
              <a:t>要被執行</a:t>
            </a:r>
            <a:r>
              <a:rPr lang="en-US" altLang="zh-TW" sz="3600" dirty="0" smtClean="0"/>
              <a:t>, P1</a:t>
            </a:r>
            <a:r>
              <a:rPr lang="zh-TW" altLang="en-US" sz="3600" dirty="0" smtClean="0"/>
              <a:t>要被執行在哪一個核心呢</a:t>
            </a:r>
            <a:r>
              <a:rPr lang="en-US" altLang="zh-TW" sz="3600" dirty="0" smtClean="0"/>
              <a:t>?</a:t>
            </a:r>
            <a:r>
              <a:rPr lang="zh-TW" altLang="en-US" sz="3600" dirty="0" smtClean="0"/>
              <a:t>誰來決定呢</a:t>
            </a:r>
            <a:r>
              <a:rPr lang="en-US" altLang="zh-TW" sz="3600" dirty="0" smtClean="0"/>
              <a:t>?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45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zh-TW" sz="4000" dirty="0">
                <a:effectLst/>
              </a:rPr>
              <a:t>Approaches to Multiple-Processor Scheduling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1" dirty="0"/>
              <a:t>Asymmetric multiprocessing</a:t>
            </a:r>
            <a:r>
              <a:rPr lang="en-US" altLang="zh-TW" sz="2800" dirty="0"/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Only the </a:t>
            </a:r>
            <a:r>
              <a:rPr lang="en-US" altLang="zh-TW" sz="2400" b="1" dirty="0"/>
              <a:t>master</a:t>
            </a:r>
            <a:r>
              <a:rPr lang="en-US" altLang="zh-TW" sz="2400" dirty="0"/>
              <a:t> processor handle the scheduling </a:t>
            </a:r>
            <a:r>
              <a:rPr lang="en-US" altLang="zh-TW" sz="2400" dirty="0" smtClean="0"/>
              <a:t>algorithm (see the next slide)</a:t>
            </a:r>
            <a:endParaRPr lang="en-US" altLang="zh-TW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Advantage: simple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Disadvantage: master becomes the bottleneck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1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b="1" dirty="0"/>
              <a:t>Symmetric Multiprocessing (SMP)</a:t>
            </a:r>
            <a:r>
              <a:rPr lang="en-US" altLang="zh-TW" sz="2800" dirty="0"/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Each processor makes its own scheduling decisions </a:t>
            </a:r>
            <a:r>
              <a:rPr lang="en-US" altLang="zh-TW" sz="2400" dirty="0" smtClean="0"/>
              <a:t>(see the following slide)</a:t>
            </a:r>
            <a:endParaRPr lang="en-US" altLang="zh-TW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Standard approach, adopted by Windows, Linux, Mac OS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We focus on SMP </a:t>
            </a:r>
            <a:r>
              <a:rPr lang="en-US" altLang="zh-TW" sz="2800" dirty="0" smtClean="0"/>
              <a:t>systems</a:t>
            </a:r>
            <a:endParaRPr lang="zh-TW" altLang="en-US" sz="2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07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Asymmetric </a:t>
            </a:r>
            <a:r>
              <a:rPr lang="en-US" altLang="zh-TW" dirty="0" smtClean="0"/>
              <a:t>Multiprocessing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117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2128837"/>
            <a:ext cx="8134349" cy="1747838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2143125" y="3486150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75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Asymmetric </a:t>
            </a:r>
            <a:r>
              <a:rPr lang="en-US" altLang="zh-TW" dirty="0" smtClean="0"/>
              <a:t>Multiprocessing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118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2128837"/>
            <a:ext cx="8134349" cy="1747838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2143125" y="3486150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6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Symmetric Multiprocessing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763D32-CE21-464B-BFC2-C4BA02DDA9AE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119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2128837"/>
            <a:ext cx="8134349" cy="1747838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2143125" y="3486150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4191000" y="3495675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6334125" y="3505200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8420100" y="3505200"/>
            <a:ext cx="19431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Scheduling algorithm</a:t>
            </a:r>
            <a:endParaRPr lang="zh-TW" altLang="en-US" sz="24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93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那</a:t>
            </a:r>
            <a:r>
              <a:rPr lang="en-US" altLang="zh-TW" dirty="0" smtClean="0"/>
              <a:t>ready queue</a:t>
            </a:r>
            <a:r>
              <a:rPr lang="zh-TW" altLang="en-US" dirty="0" smtClean="0"/>
              <a:t>的架構呢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3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>
                <a:effectLst/>
              </a:rPr>
              <a:t>Approaches to Multiple-Processor Scheduling</a:t>
            </a:r>
            <a:r>
              <a:rPr lang="zh-TW" altLang="en-US" sz="3600" dirty="0">
                <a:effectLst/>
              </a:rPr>
              <a:t> </a:t>
            </a:r>
            <a:r>
              <a:rPr lang="en-US" altLang="zh-TW" sz="3600" dirty="0">
                <a:effectLst/>
              </a:rPr>
              <a:t>(Cont.)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/>
              <a:t>Organizations of the ready </a:t>
            </a:r>
            <a:r>
              <a:rPr lang="en-US" altLang="zh-TW" dirty="0" smtClean="0"/>
              <a:t>queue in SMP</a:t>
            </a:r>
            <a:endParaRPr lang="en-US" altLang="zh-TW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A common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3300"/>
                </a:solidFill>
              </a:rPr>
              <a:t>ready </a:t>
            </a:r>
            <a:r>
              <a:rPr lang="en-US" altLang="zh-TW" dirty="0" smtClean="0">
                <a:solidFill>
                  <a:srgbClr val="FF3300"/>
                </a:solidFill>
              </a:rPr>
              <a:t>queue,  </a:t>
            </a:r>
            <a:r>
              <a:rPr lang="en-US" altLang="zh-TW" dirty="0"/>
              <a:t>or</a:t>
            </a:r>
            <a:r>
              <a:rPr lang="en-US" altLang="zh-TW" dirty="0">
                <a:solidFill>
                  <a:srgbClr val="FF3300"/>
                </a:solidFill>
              </a:rPr>
              <a:t> </a:t>
            </a:r>
            <a:endParaRPr lang="en-US" altLang="zh-TW" dirty="0" smtClean="0">
              <a:solidFill>
                <a:srgbClr val="FF3300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 smtClean="0"/>
              <a:t>Need to </a:t>
            </a:r>
            <a:r>
              <a:rPr lang="en-US" altLang="zh-TW" b="1" dirty="0" smtClean="0"/>
              <a:t>protect the queue </a:t>
            </a:r>
            <a:r>
              <a:rPr lang="en-US" altLang="zh-TW" sz="1600" dirty="0"/>
              <a:t>(addressed later)</a:t>
            </a:r>
            <a:endParaRPr lang="en-US" altLang="zh-TW" sz="3300" dirty="0"/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 smtClean="0"/>
              <a:t>Accessing the queue is a </a:t>
            </a:r>
            <a:r>
              <a:rPr lang="en-US" altLang="zh-TW" b="1" dirty="0" smtClean="0"/>
              <a:t>performance bottleneck</a:t>
            </a:r>
            <a:endParaRPr lang="en-US" altLang="zh-TW" b="1" dirty="0"/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>
                <a:solidFill>
                  <a:srgbClr val="FF3300"/>
                </a:solidFill>
              </a:rPr>
              <a:t>Each </a:t>
            </a:r>
            <a:r>
              <a:rPr lang="en-US" altLang="zh-TW" dirty="0">
                <a:solidFill>
                  <a:srgbClr val="FF3300"/>
                </a:solidFill>
              </a:rPr>
              <a:t>processor has its private ready </a:t>
            </a:r>
            <a:r>
              <a:rPr lang="en-US" altLang="zh-TW" dirty="0" smtClean="0">
                <a:solidFill>
                  <a:srgbClr val="FF3300"/>
                </a:solidFill>
              </a:rPr>
              <a:t>queue</a:t>
            </a:r>
            <a:endParaRPr lang="en-US" altLang="zh-TW" sz="2000" dirty="0"/>
          </a:p>
          <a:p>
            <a:pPr lvl="2"/>
            <a:r>
              <a:rPr lang="en-US" altLang="zh-TW" dirty="0" smtClean="0"/>
              <a:t>Good</a:t>
            </a:r>
          </a:p>
          <a:p>
            <a:pPr lvl="3"/>
            <a:r>
              <a:rPr lang="en-US" altLang="zh-TW" dirty="0" smtClean="0"/>
              <a:t>Does not have the protection problem</a:t>
            </a:r>
          </a:p>
          <a:p>
            <a:pPr lvl="3"/>
            <a:r>
              <a:rPr lang="en-US" altLang="zh-TW" dirty="0" smtClean="0"/>
              <a:t>Allow more efficient use of </a:t>
            </a:r>
            <a:r>
              <a:rPr lang="en-US" altLang="zh-TW" b="1" dirty="0" smtClean="0"/>
              <a:t>cache memory </a:t>
            </a:r>
            <a:r>
              <a:rPr lang="en-US" altLang="zh-TW" sz="1300" dirty="0"/>
              <a:t>(addressed later)</a:t>
            </a:r>
          </a:p>
          <a:p>
            <a:pPr lvl="2"/>
            <a:r>
              <a:rPr lang="en-US" altLang="zh-TW" dirty="0" smtClean="0"/>
              <a:t>Bad</a:t>
            </a:r>
          </a:p>
          <a:p>
            <a:pPr lvl="3"/>
            <a:r>
              <a:rPr lang="en-US" altLang="zh-TW" dirty="0" smtClean="0"/>
              <a:t>Workload of varying size 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dirty="0" smtClean="0"/>
              <a:t> solved by </a:t>
            </a:r>
            <a:r>
              <a:rPr lang="en-US" altLang="zh-TW" b="1" dirty="0" smtClean="0"/>
              <a:t>load balance </a:t>
            </a:r>
            <a:r>
              <a:rPr lang="en-US" altLang="zh-TW" sz="1700" dirty="0"/>
              <a:t>(addressed later)</a:t>
            </a:r>
            <a:endParaRPr lang="en-US" altLang="zh-TW" sz="1900" dirty="0"/>
          </a:p>
          <a:p>
            <a:pPr lvl="2"/>
            <a:r>
              <a:rPr lang="en-US" altLang="zh-TW" b="1" dirty="0"/>
              <a:t>Most commonly </a:t>
            </a:r>
            <a:r>
              <a:rPr lang="en-US" altLang="zh-TW" b="1" dirty="0" smtClean="0"/>
              <a:t>used</a:t>
            </a:r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70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Organizations of </a:t>
            </a:r>
            <a:r>
              <a:rPr lang="en-US" altLang="zh-TW" dirty="0" smtClean="0"/>
              <a:t>Ready Queue in SMP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82" y="1362075"/>
            <a:ext cx="9393381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7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  <a:p>
            <a:pPr lvl="1" eaLnBrk="1" hangingPunct="1"/>
            <a:r>
              <a:rPr lang="en-US" altLang="zh-TW" dirty="0"/>
              <a:t>Multicore </a:t>
            </a:r>
            <a:r>
              <a:rPr lang="en-US" altLang="zh-TW" dirty="0" smtClean="0"/>
              <a:t>Processors</a:t>
            </a:r>
          </a:p>
          <a:p>
            <a:pPr lvl="1" eaLnBrk="1" hangingPunct="1"/>
            <a:r>
              <a:rPr lang="en-US" altLang="zh-TW" dirty="0" smtClean="0"/>
              <a:t>Approaches to Multiple-Processor Scheduling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Load Balancing</a:t>
            </a:r>
          </a:p>
          <a:p>
            <a:pPr lvl="1" eaLnBrk="1" hangingPunct="1"/>
            <a:r>
              <a:rPr lang="en-US" altLang="zh-TW" dirty="0" smtClean="0"/>
              <a:t>Processor Affinity</a:t>
            </a:r>
          </a:p>
          <a:p>
            <a:pPr lvl="1" eaLnBrk="1" hangingPunct="1"/>
            <a:r>
              <a:rPr lang="en-US" altLang="zh-TW" dirty="0" smtClean="0"/>
              <a:t>Heterogeneous Multiprocessing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58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如果每一個核心有自己的</a:t>
            </a:r>
            <a:r>
              <a:rPr lang="en-US" altLang="zh-TW" dirty="0" smtClean="0">
                <a:solidFill>
                  <a:srgbClr val="FF3300"/>
                </a:solidFill>
              </a:rPr>
              <a:t>ready queue, </a:t>
            </a:r>
            <a:r>
              <a:rPr lang="zh-TW" altLang="en-US" dirty="0" smtClean="0">
                <a:solidFill>
                  <a:schemeClr val="tx1"/>
                </a:solidFill>
              </a:rPr>
              <a:t>會有</a:t>
            </a:r>
            <a:r>
              <a:rPr lang="zh-TW" altLang="en-US" dirty="0" smtClean="0">
                <a:solidFill>
                  <a:srgbClr val="FF3300"/>
                </a:solidFill>
              </a:rPr>
              <a:t>負荷不平均</a:t>
            </a:r>
            <a:r>
              <a:rPr lang="zh-TW" altLang="en-US" dirty="0" smtClean="0">
                <a:solidFill>
                  <a:schemeClr val="tx1"/>
                </a:solidFill>
              </a:rPr>
              <a:t>的問題</a:t>
            </a:r>
            <a:r>
              <a:rPr lang="en-US" altLang="zh-TW" dirty="0" smtClean="0">
                <a:solidFill>
                  <a:schemeClr val="tx1"/>
                </a:solidFill>
              </a:rPr>
              <a:t>.</a:t>
            </a:r>
            <a:r>
              <a:rPr lang="en-US" altLang="zh-TW" dirty="0" smtClean="0">
                <a:solidFill>
                  <a:srgbClr val="FF3300"/>
                </a:solidFill>
              </a:rPr>
              <a:t>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258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複習：</a:t>
            </a:r>
            <a:r>
              <a:rPr lang="en-US" altLang="zh-TW" dirty="0" smtClean="0"/>
              <a:t>Organizations </a:t>
            </a:r>
            <a:r>
              <a:rPr lang="en-US" altLang="zh-TW" dirty="0"/>
              <a:t>of </a:t>
            </a:r>
            <a:r>
              <a:rPr lang="en-US" altLang="zh-TW" dirty="0" smtClean="0"/>
              <a:t>Ready Queue in SMP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402461"/>
            <a:ext cx="10515600" cy="468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69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Load Balancing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FF3300"/>
                </a:solidFill>
              </a:rPr>
              <a:t>If each </a:t>
            </a:r>
            <a:r>
              <a:rPr lang="en-US" altLang="zh-TW" dirty="0">
                <a:solidFill>
                  <a:srgbClr val="FF3300"/>
                </a:solidFill>
              </a:rPr>
              <a:t>processor has its private ready queue </a:t>
            </a:r>
            <a:endParaRPr lang="en-US" altLang="zh-TW" dirty="0" smtClean="0">
              <a:solidFill>
                <a:srgbClr val="FF3300"/>
              </a:solidFill>
            </a:endParaRPr>
          </a:p>
          <a:p>
            <a:pPr lvl="1"/>
            <a:r>
              <a:rPr lang="en-US" altLang="zh-TW" dirty="0" smtClean="0"/>
              <a:t>Must keep </a:t>
            </a:r>
            <a:r>
              <a:rPr lang="en-US" altLang="zh-TW" dirty="0"/>
              <a:t>the workload </a:t>
            </a:r>
            <a:r>
              <a:rPr lang="en-US" altLang="zh-TW" b="1" dirty="0">
                <a:solidFill>
                  <a:srgbClr val="0000FF"/>
                </a:solidFill>
              </a:rPr>
              <a:t>evenly distributed </a:t>
            </a:r>
            <a:r>
              <a:rPr lang="en-US" altLang="zh-TW" dirty="0"/>
              <a:t>across all </a:t>
            </a:r>
            <a:r>
              <a:rPr lang="en-US" altLang="zh-TW" dirty="0" smtClean="0"/>
              <a:t>processors</a:t>
            </a:r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也就是</a:t>
            </a:r>
            <a:r>
              <a:rPr lang="zh-TW" altLang="en-US" dirty="0" smtClean="0"/>
              <a:t>必須實現</a:t>
            </a:r>
            <a:r>
              <a:rPr lang="en-US" altLang="zh-TW" b="1" dirty="0" smtClean="0">
                <a:solidFill>
                  <a:srgbClr val="FF0000"/>
                </a:solidFill>
              </a:rPr>
              <a:t>load balance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9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Q:</a:t>
            </a:r>
            <a:r>
              <a:rPr lang="zh-TW" altLang="en-US" dirty="0"/>
              <a:t> 如何實現</a:t>
            </a:r>
            <a:r>
              <a:rPr lang="en-US" altLang="zh-TW" dirty="0"/>
              <a:t>Load balancing?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TW" sz="2800" dirty="0" smtClean="0"/>
              <a:t>Hint:</a:t>
            </a:r>
            <a:r>
              <a:rPr lang="zh-TW" altLang="en-US" sz="2800" dirty="0"/>
              <a:t>成長是一次又一次</a:t>
            </a:r>
            <a:r>
              <a:rPr lang="zh-TW" altLang="en-US" sz="2800" dirty="0" smtClean="0"/>
              <a:t>離開</a:t>
            </a:r>
            <a:r>
              <a:rPr lang="en-US" altLang="zh-TW" sz="2800" dirty="0" smtClean="0"/>
              <a:t>,</a:t>
            </a:r>
          </a:p>
          <a:p>
            <a:pPr>
              <a:lnSpc>
                <a:spcPct val="120000"/>
              </a:lnSpc>
            </a:pPr>
            <a:r>
              <a:rPr lang="zh-TW" altLang="en-US" sz="2800" dirty="0" smtClean="0"/>
              <a:t>離開</a:t>
            </a:r>
            <a:r>
              <a:rPr lang="zh-TW" altLang="en-US" sz="2800" dirty="0"/>
              <a:t>熟悉的街巷，去尋找更大的</a:t>
            </a:r>
            <a:r>
              <a:rPr lang="zh-TW" altLang="en-US" sz="2800" dirty="0" smtClean="0"/>
              <a:t>天空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余光中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鄉愁</a:t>
            </a:r>
            <a:r>
              <a:rPr lang="en-US" altLang="zh-TW" sz="2800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en-US" altLang="zh-TW" sz="2800" dirty="0" err="1" smtClean="0"/>
              <a:t>Ans</a:t>
            </a:r>
            <a:r>
              <a:rPr lang="en-US" altLang="zh-TW" sz="2800" dirty="0"/>
              <a:t>: by </a:t>
            </a:r>
            <a:r>
              <a:rPr lang="en-US" altLang="zh-TW" sz="2800" b="1" dirty="0">
                <a:solidFill>
                  <a:srgbClr val="FF0000"/>
                </a:solidFill>
              </a:rPr>
              <a:t>process migration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6947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如果是</a:t>
            </a:r>
            <a:r>
              <a:rPr lang="en-US" altLang="zh-TW" dirty="0" smtClean="0"/>
              <a:t>common ready queue, </a:t>
            </a:r>
            <a:r>
              <a:rPr lang="zh-TW" altLang="en-US" dirty="0" smtClean="0"/>
              <a:t>也會有</a:t>
            </a:r>
            <a:r>
              <a:rPr lang="zh-TW" altLang="en-US" dirty="0">
                <a:solidFill>
                  <a:srgbClr val="FF3300"/>
                </a:solidFill>
              </a:rPr>
              <a:t>負荷不</a:t>
            </a:r>
            <a:r>
              <a:rPr lang="zh-TW" altLang="en-US" dirty="0" smtClean="0">
                <a:solidFill>
                  <a:srgbClr val="FF3300"/>
                </a:solidFill>
              </a:rPr>
              <a:t>平均</a:t>
            </a:r>
            <a:r>
              <a:rPr lang="zh-TW" altLang="en-US" dirty="0" smtClean="0"/>
              <a:t>的問題嗎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不會</a:t>
            </a:r>
            <a:r>
              <a:rPr lang="en-US" altLang="zh-TW" dirty="0" smtClean="0"/>
              <a:t>, in </a:t>
            </a:r>
            <a:r>
              <a:rPr lang="en-US" altLang="zh-TW" dirty="0"/>
              <a:t>common-ready-Q systems, the load is already balanced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329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  <a:p>
            <a:pPr lvl="1" eaLnBrk="1" hangingPunct="1"/>
            <a:r>
              <a:rPr lang="en-US" altLang="zh-TW" dirty="0"/>
              <a:t>Multicore Processors</a:t>
            </a:r>
          </a:p>
          <a:p>
            <a:pPr lvl="1" eaLnBrk="1" hangingPunct="1"/>
            <a:r>
              <a:rPr lang="en-US" altLang="zh-TW" dirty="0" smtClean="0"/>
              <a:t>Approaches to Multiple-Processor Scheduling</a:t>
            </a:r>
          </a:p>
          <a:p>
            <a:pPr lvl="1" eaLnBrk="1" hangingPunct="1"/>
            <a:r>
              <a:rPr lang="en-US" altLang="zh-TW" dirty="0" smtClean="0"/>
              <a:t>Load Balancing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Processor Affinity</a:t>
            </a:r>
          </a:p>
          <a:p>
            <a:pPr lvl="1" eaLnBrk="1" hangingPunct="1"/>
            <a:r>
              <a:rPr lang="en-US" altLang="zh-TW" dirty="0" smtClean="0"/>
              <a:t>Heterogeneous Multiprocessing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129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31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/>
              <a:t>可是</a:t>
            </a:r>
            <a:r>
              <a:rPr lang="en-US" altLang="zh-TW" sz="4000" dirty="0" smtClean="0"/>
              <a:t>, </a:t>
            </a:r>
            <a:r>
              <a:rPr lang="zh-TW" altLang="en-US" sz="4000" smtClean="0"/>
              <a:t>有時候</a:t>
            </a:r>
            <a:r>
              <a:rPr lang="zh-TW" altLang="en-US" sz="4000" smtClean="0"/>
              <a:t>我們</a:t>
            </a:r>
            <a:r>
              <a:rPr lang="zh-TW" altLang="en-US" sz="4000" dirty="0"/>
              <a:t>喜歡待在</a:t>
            </a:r>
            <a:r>
              <a:rPr lang="zh-TW" altLang="en-US" sz="4000" dirty="0" smtClean="0"/>
              <a:t>故土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4000" dirty="0" smtClean="0"/>
              <a:t>(</a:t>
            </a:r>
            <a:r>
              <a:rPr lang="zh-TW" altLang="en-US" sz="4000" dirty="0" smtClean="0"/>
              <a:t>李白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低頭思故鄉</a:t>
            </a:r>
            <a:r>
              <a:rPr lang="en-US" altLang="zh-TW" sz="4000" dirty="0" smtClean="0"/>
              <a:t>; </a:t>
            </a:r>
            <a:r>
              <a:rPr lang="zh-TW" altLang="en-US" sz="4000" dirty="0" smtClean="0"/>
              <a:t>杜甫</a:t>
            </a:r>
            <a:r>
              <a:rPr lang="en-US" altLang="zh-TW" sz="4000" dirty="0" smtClean="0"/>
              <a:t>: </a:t>
            </a:r>
            <a:r>
              <a:rPr lang="zh-TW" altLang="en-US" sz="4000" dirty="0" smtClean="0"/>
              <a:t>月是故鄉明</a:t>
            </a:r>
            <a:r>
              <a:rPr lang="en-US" altLang="zh-TW" sz="4000" dirty="0" smtClean="0"/>
              <a:t>)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Process</a:t>
            </a:r>
            <a:r>
              <a:rPr lang="zh-TW" altLang="en-US" dirty="0" smtClean="0"/>
              <a:t>亦是如此</a:t>
            </a:r>
            <a:r>
              <a:rPr lang="en-US" altLang="zh-TW" dirty="0" smtClean="0"/>
              <a:t>, Why?</a:t>
            </a:r>
          </a:p>
          <a:p>
            <a:r>
              <a:rPr lang="en-US" altLang="zh-TW" dirty="0" smtClean="0"/>
              <a:t>Hint</a:t>
            </a:r>
            <a:r>
              <a:rPr lang="en-US" altLang="zh-TW" dirty="0" smtClean="0"/>
              <a:t>: process</a:t>
            </a:r>
            <a:r>
              <a:rPr lang="zh-TW" altLang="en-US" dirty="0" smtClean="0"/>
              <a:t>的故土是什麼呢</a:t>
            </a:r>
            <a:r>
              <a:rPr lang="en-US" altLang="zh-TW" dirty="0" smtClean="0"/>
              <a:t>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235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Processor Affinity (</a:t>
            </a:r>
            <a:r>
              <a:rPr lang="zh-TW" altLang="en-US" dirty="0" smtClean="0">
                <a:ea typeface="標楷體" pitchFamily="65" charset="-120"/>
              </a:rPr>
              <a:t>喜好</a:t>
            </a:r>
            <a:r>
              <a:rPr lang="zh-TW" altLang="en-US" dirty="0" smtClean="0"/>
              <a:t>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Most multi-processor systems </a:t>
            </a:r>
            <a:r>
              <a:rPr lang="en-US" altLang="zh-TW" b="1" dirty="0">
                <a:solidFill>
                  <a:srgbClr val="FF3300"/>
                </a:solidFill>
              </a:rPr>
              <a:t>avoid</a:t>
            </a:r>
            <a:r>
              <a:rPr lang="en-US" altLang="zh-TW" dirty="0"/>
              <a:t> process </a:t>
            </a:r>
            <a:r>
              <a:rPr lang="en-US" altLang="zh-TW" dirty="0" smtClean="0"/>
              <a:t>migration. Why?</a:t>
            </a:r>
            <a:endParaRPr lang="en-US" altLang="zh-TW" dirty="0"/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Ans.: when </a:t>
            </a:r>
            <a:r>
              <a:rPr lang="en-US" altLang="zh-TW" dirty="0"/>
              <a:t>a process migrates to another processor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Old cache memory must be </a:t>
            </a:r>
            <a:r>
              <a:rPr lang="en-US" altLang="zh-TW" b="1" dirty="0">
                <a:solidFill>
                  <a:srgbClr val="FF0000"/>
                </a:solidFill>
              </a:rPr>
              <a:t>invalidated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New </a:t>
            </a:r>
            <a:r>
              <a:rPr lang="en-US" altLang="zh-TW" dirty="0"/>
              <a:t>cache memory must be </a:t>
            </a:r>
            <a:r>
              <a:rPr lang="en-US" altLang="zh-TW" b="1" dirty="0" smtClean="0">
                <a:solidFill>
                  <a:srgbClr val="FF3300"/>
                </a:solidFill>
              </a:rPr>
              <a:t>re-populated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See the following slide</a:t>
            </a:r>
            <a:endParaRPr lang="en-US" altLang="zh-TW" dirty="0"/>
          </a:p>
          <a:p>
            <a:pPr eaLnBrk="1" hangingPunct="1">
              <a:lnSpc>
                <a:spcPct val="110000"/>
              </a:lnSpc>
            </a:pPr>
            <a:endParaRPr lang="en-US" altLang="zh-TW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5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77309" y="6581001"/>
            <a:ext cx="9122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libri" panose="020F0502020204030204" pitchFamily="34" charset="0"/>
              </a:rPr>
              <a:t>https://www.researchgate.net/figure/Cache-hierarchy-of-an-Intel-processor-the-L3-cache-is-shared-among-available-cores_fig3_321241798</a:t>
            </a:r>
            <a:endParaRPr lang="zh-TW" altLang="en-US" sz="1200" b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062182" y="886114"/>
            <a:ext cx="9841345" cy="5359111"/>
            <a:chOff x="1062182" y="886114"/>
            <a:chExt cx="9841345" cy="4803485"/>
          </a:xfrm>
        </p:grpSpPr>
        <p:pic>
          <p:nvPicPr>
            <p:cNvPr id="8194" name="Picture 2" descr="Two-level Cache Hierarchy in MPSoC Architectu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273" y="1080797"/>
              <a:ext cx="9180945" cy="4608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273" y="886114"/>
              <a:ext cx="9180945" cy="328872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62182" y="4174836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63673" y="4186427"/>
              <a:ext cx="4839854" cy="434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36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Processor Affinity (</a:t>
            </a:r>
            <a:r>
              <a:rPr lang="zh-TW" altLang="en-US" dirty="0" smtClean="0">
                <a:ea typeface="標楷體" pitchFamily="65" charset="-120"/>
              </a:rPr>
              <a:t>喜好</a:t>
            </a:r>
            <a:r>
              <a:rPr lang="zh-TW" altLang="en-US" dirty="0" smtClean="0"/>
              <a:t>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b="1" dirty="0" smtClean="0"/>
              <a:t>Processor affinity</a:t>
            </a:r>
            <a:r>
              <a:rPr lang="en-US" altLang="zh-TW" dirty="0" smtClean="0"/>
              <a:t>: </a:t>
            </a:r>
            <a:r>
              <a:rPr lang="en-US" altLang="zh-TW" dirty="0" smtClean="0">
                <a:solidFill>
                  <a:srgbClr val="FF3300"/>
                </a:solidFill>
              </a:rPr>
              <a:t>keep a process/thread running on the same processor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Q1</a:t>
            </a:r>
            <a:r>
              <a:rPr lang="en-US" altLang="zh-TW" dirty="0"/>
              <a:t>:</a:t>
            </a:r>
            <a:r>
              <a:rPr lang="zh-TW" altLang="en-US" dirty="0" smtClean="0"/>
              <a:t>如果</a:t>
            </a:r>
            <a:r>
              <a:rPr lang="zh-TW" altLang="en-US" dirty="0"/>
              <a:t>是</a:t>
            </a:r>
            <a:r>
              <a:rPr lang="en-US" altLang="zh-TW" dirty="0"/>
              <a:t>per-processor ready </a:t>
            </a:r>
            <a:r>
              <a:rPr lang="en-US" altLang="zh-TW" dirty="0" smtClean="0"/>
              <a:t>queues, </a:t>
            </a:r>
            <a:r>
              <a:rPr lang="zh-TW" altLang="en-US" dirty="0" smtClean="0"/>
              <a:t>如何提供</a:t>
            </a:r>
            <a:r>
              <a:rPr lang="en-US" altLang="zh-TW" dirty="0" smtClean="0"/>
              <a:t>processor affinity </a:t>
            </a:r>
          </a:p>
          <a:p>
            <a:pPr lvl="1" eaLnBrk="1" hangingPunct="1"/>
            <a:r>
              <a:rPr lang="en-US" altLang="zh-TW" dirty="0" smtClean="0"/>
              <a:t>Ans.: </a:t>
            </a:r>
            <a:r>
              <a:rPr lang="en-US" altLang="zh-TW" dirty="0"/>
              <a:t>processor affinity </a:t>
            </a:r>
            <a:r>
              <a:rPr lang="en-US" altLang="zh-TW" dirty="0" smtClean="0"/>
              <a:t>is provided for free (see the next slide)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Q2:</a:t>
            </a:r>
            <a:r>
              <a:rPr lang="zh-TW" altLang="en-US" dirty="0" smtClean="0"/>
              <a:t>如果是採用</a:t>
            </a:r>
            <a:r>
              <a:rPr lang="en-US" altLang="zh-TW" dirty="0" smtClean="0"/>
              <a:t>a </a:t>
            </a:r>
            <a:r>
              <a:rPr lang="en-US" altLang="zh-TW" dirty="0"/>
              <a:t>common ready </a:t>
            </a:r>
            <a:r>
              <a:rPr lang="en-US" altLang="zh-TW" dirty="0" smtClean="0"/>
              <a:t>queue</a:t>
            </a:r>
            <a:r>
              <a:rPr lang="en-US" altLang="zh-TW" dirty="0"/>
              <a:t>, </a:t>
            </a:r>
            <a:r>
              <a:rPr lang="zh-TW" altLang="en-US" dirty="0"/>
              <a:t>如何提供</a:t>
            </a:r>
            <a:r>
              <a:rPr lang="en-US" altLang="zh-TW" dirty="0"/>
              <a:t>processor affinity </a:t>
            </a:r>
          </a:p>
          <a:p>
            <a:pPr lvl="1" eaLnBrk="1" hangingPunct="1"/>
            <a:r>
              <a:rPr lang="en-US" altLang="zh-TW" dirty="0" smtClean="0"/>
              <a:t>Ans.:  need special </a:t>
            </a:r>
            <a:r>
              <a:rPr lang="en-US" altLang="zh-TW" dirty="0"/>
              <a:t>handling. (see the next slide)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5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複習：</a:t>
            </a:r>
            <a:r>
              <a:rPr lang="en-US" altLang="zh-TW" dirty="0" smtClean="0"/>
              <a:t>Organizations </a:t>
            </a:r>
            <a:r>
              <a:rPr lang="en-US" altLang="zh-TW" dirty="0"/>
              <a:t>of </a:t>
            </a:r>
            <a:r>
              <a:rPr lang="en-US" altLang="zh-TW" dirty="0" smtClean="0"/>
              <a:t>Ready Queue in SMP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402461"/>
            <a:ext cx="10515600" cy="468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92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Processor Affinity (</a:t>
            </a:r>
            <a:r>
              <a:rPr lang="zh-TW" altLang="en-US" dirty="0"/>
              <a:t>喜好）</a:t>
            </a:r>
            <a:r>
              <a:rPr lang="en-US" altLang="zh-TW" dirty="0" smtClean="0"/>
              <a:t>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But, </a:t>
            </a:r>
            <a:r>
              <a:rPr lang="en-US" altLang="zh-TW" sz="3600" b="1" dirty="0" smtClean="0"/>
              <a:t>loading balancing</a:t>
            </a:r>
            <a:r>
              <a:rPr lang="en-US" altLang="zh-TW" sz="3600" dirty="0" smtClean="0"/>
              <a:t> counteracts </a:t>
            </a:r>
            <a:r>
              <a:rPr lang="en-US" altLang="zh-TW" sz="3600" b="1" dirty="0" smtClean="0"/>
              <a:t>processor affinity</a:t>
            </a:r>
          </a:p>
          <a:p>
            <a:pPr lvl="1" eaLnBrk="1" hangingPunct="1"/>
            <a:r>
              <a:rPr lang="en-US" altLang="zh-TW" sz="3200" dirty="0" smtClean="0"/>
              <a:t>Load balancing is done by process migration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Processor affinity try </a:t>
            </a:r>
            <a:r>
              <a:rPr lang="en-US" altLang="zh-TW" sz="3200" b="1" dirty="0" smtClean="0"/>
              <a:t>not</a:t>
            </a:r>
            <a:r>
              <a:rPr lang="en-US" altLang="zh-TW" sz="3200" dirty="0" smtClean="0"/>
              <a:t> to migrate processes</a:t>
            </a: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zh-TW" altLang="en-US" sz="3200" dirty="0"/>
              <a:t>需要</a:t>
            </a:r>
            <a:r>
              <a:rPr lang="zh-TW" altLang="en-US" sz="3200" dirty="0" smtClean="0"/>
              <a:t>衡量</a:t>
            </a:r>
            <a:endParaRPr lang="en-US" altLang="zh-TW" sz="3200" dirty="0" smtClean="0"/>
          </a:p>
          <a:p>
            <a:pPr eaLnBrk="1" hangingPunct="1"/>
            <a:endParaRPr lang="en-US" altLang="zh-TW" sz="36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30489-8351-415E-BBA5-EBEF91B8620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4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Basic Concepts</a:t>
            </a:r>
          </a:p>
          <a:p>
            <a:pPr eaLnBrk="1" hangingPunct="1"/>
            <a:r>
              <a:rPr lang="en-US" altLang="zh-TW" dirty="0" smtClean="0"/>
              <a:t>Scheduling Criteria </a:t>
            </a:r>
          </a:p>
          <a:p>
            <a:pPr eaLnBrk="1" hangingPunct="1"/>
            <a:r>
              <a:rPr lang="en-US" altLang="zh-TW" dirty="0" smtClean="0"/>
              <a:t>Scheduling Algorithms</a:t>
            </a:r>
          </a:p>
          <a:p>
            <a:pPr eaLnBrk="1" hangingPunct="1"/>
            <a:r>
              <a:rPr lang="en-US" altLang="zh-TW" dirty="0" smtClean="0"/>
              <a:t>Thread Scheduling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Multiple-Processor Scheduling</a:t>
            </a:r>
          </a:p>
          <a:p>
            <a:pPr lvl="1" eaLnBrk="1" hangingPunct="1"/>
            <a:r>
              <a:rPr lang="en-US" altLang="zh-TW" dirty="0"/>
              <a:t>Multicore Processors</a:t>
            </a:r>
          </a:p>
          <a:p>
            <a:pPr lvl="1" eaLnBrk="1" hangingPunct="1"/>
            <a:r>
              <a:rPr lang="en-US" altLang="zh-TW" dirty="0" smtClean="0"/>
              <a:t>Approaches to Multiple-Processor Scheduling</a:t>
            </a:r>
          </a:p>
          <a:p>
            <a:pPr lvl="1" eaLnBrk="1" hangingPunct="1"/>
            <a:r>
              <a:rPr lang="en-US" altLang="zh-TW" dirty="0" smtClean="0"/>
              <a:t>Load Balancing</a:t>
            </a:r>
          </a:p>
          <a:p>
            <a:pPr lvl="1" eaLnBrk="1" hangingPunct="1"/>
            <a:r>
              <a:rPr lang="en-US" altLang="zh-TW" dirty="0" smtClean="0"/>
              <a:t>Processor Affinity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Heterogeneous Multiprocessing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37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Heterogeneous </a:t>
            </a:r>
            <a:r>
              <a:rPr lang="en-US" altLang="zh-TW" dirty="0" smtClean="0"/>
              <a:t>Multiprocessing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above four issues </a:t>
            </a:r>
            <a:r>
              <a:rPr lang="en-US" altLang="zh-TW" dirty="0"/>
              <a:t>assume </a:t>
            </a:r>
            <a:r>
              <a:rPr lang="en-US" altLang="zh-TW" b="1" dirty="0">
                <a:solidFill>
                  <a:srgbClr val="FF3300"/>
                </a:solidFill>
              </a:rPr>
              <a:t>homogeneous</a:t>
            </a:r>
            <a:r>
              <a:rPr lang="en-US" altLang="zh-TW" dirty="0"/>
              <a:t> </a:t>
            </a:r>
            <a:r>
              <a:rPr lang="en-US" altLang="zh-TW" dirty="0" smtClean="0"/>
              <a:t>multi-processors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Heterogeneous </a:t>
            </a:r>
            <a:r>
              <a:rPr lang="en-US" altLang="zh-TW" b="1" dirty="0" smtClean="0">
                <a:solidFill>
                  <a:srgbClr val="FF0000"/>
                </a:solidFill>
              </a:rPr>
              <a:t>Multiprocessing (HMP)</a:t>
            </a:r>
          </a:p>
          <a:p>
            <a:pPr lvl="1"/>
            <a:r>
              <a:rPr lang="en-US" altLang="zh-TW" dirty="0" smtClean="0"/>
              <a:t>Cores that run </a:t>
            </a:r>
            <a:r>
              <a:rPr lang="en-US" altLang="zh-TW" b="1" dirty="0" smtClean="0"/>
              <a:t>the same instruction set</a:t>
            </a:r>
            <a:r>
              <a:rPr lang="en-US" altLang="zh-TW" dirty="0" smtClean="0"/>
              <a:t>, yet vary their </a:t>
            </a:r>
            <a:r>
              <a:rPr lang="en-US" altLang="zh-TW" b="1" dirty="0" smtClean="0">
                <a:solidFill>
                  <a:srgbClr val="FF0000"/>
                </a:solidFill>
              </a:rPr>
              <a:t>clock speed </a:t>
            </a:r>
            <a:r>
              <a:rPr lang="en-US" altLang="zh-TW" dirty="0" smtClean="0"/>
              <a:t>and </a:t>
            </a:r>
            <a:r>
              <a:rPr lang="en-US" altLang="zh-TW" b="1" dirty="0" smtClean="0">
                <a:solidFill>
                  <a:srgbClr val="FF0000"/>
                </a:solidFill>
              </a:rPr>
              <a:t>power management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Example: ARM </a:t>
            </a:r>
            <a:r>
              <a:rPr lang="en-US" altLang="zh-TW" dirty="0" err="1" smtClean="0"/>
              <a:t>big.L</a:t>
            </a:r>
            <a:r>
              <a:rPr lang="en-US" altLang="zh-TW" dirty="0" smtClean="0"/>
              <a:t>	ITTLE architecture</a:t>
            </a:r>
          </a:p>
          <a:p>
            <a:pPr lvl="1"/>
            <a:r>
              <a:rPr lang="en-US" altLang="zh-TW" dirty="0" smtClean="0"/>
              <a:t>High performance </a:t>
            </a:r>
            <a:r>
              <a:rPr lang="en-US" altLang="zh-TW" b="1" dirty="0" smtClean="0"/>
              <a:t>big cores </a:t>
            </a:r>
            <a:r>
              <a:rPr lang="en-US" altLang="zh-TW" dirty="0" smtClean="0"/>
              <a:t>and energy efficient </a:t>
            </a:r>
            <a:r>
              <a:rPr lang="en-US" altLang="zh-TW" b="1" dirty="0" smtClean="0"/>
              <a:t>LITTLE cores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80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Q: CPU Scheduler</a:t>
            </a:r>
            <a:r>
              <a:rPr lang="zh-TW" altLang="en-US" sz="4000" dirty="0" smtClean="0"/>
              <a:t>如何利用</a:t>
            </a:r>
            <a:r>
              <a:rPr lang="en-US" altLang="zh-TW" sz="4000" dirty="0"/>
              <a:t>ARM </a:t>
            </a:r>
            <a:r>
              <a:rPr lang="en-US" altLang="zh-TW" sz="4000" dirty="0" err="1" smtClean="0"/>
              <a:t>big.LITTLE</a:t>
            </a:r>
            <a:r>
              <a:rPr lang="en-US" altLang="zh-TW" sz="4000" dirty="0" smtClean="0"/>
              <a:t> architecture?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9700" y="3781425"/>
            <a:ext cx="9667875" cy="1752600"/>
          </a:xfrm>
        </p:spPr>
        <p:txBody>
          <a:bodyPr>
            <a:norm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318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Heterogeneous </a:t>
            </a:r>
            <a:r>
              <a:rPr lang="en-US" altLang="zh-TW" dirty="0" smtClean="0"/>
              <a:t>Multiprocessing </a:t>
            </a:r>
            <a:r>
              <a:rPr lang="en-US" altLang="zh-TW" smtClean="0"/>
              <a:t>(Cont.)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Tx/>
              <a:buChar char="•"/>
            </a:pPr>
            <a:r>
              <a:rPr lang="en-US" altLang="zh-TW" sz="3600" dirty="0"/>
              <a:t>Ans.: </a:t>
            </a:r>
            <a:endParaRPr lang="en-US" altLang="zh-TW" sz="3600" dirty="0" smtClean="0"/>
          </a:p>
          <a:p>
            <a:pPr marL="742950" lvl="2" indent="-342900"/>
            <a:endParaRPr lang="en-US" altLang="zh-TW" sz="3200" dirty="0" smtClean="0"/>
          </a:p>
          <a:p>
            <a:pPr marL="742950" lvl="2" indent="-342900"/>
            <a:r>
              <a:rPr lang="en-US" altLang="zh-TW" sz="3200" dirty="0" smtClean="0"/>
              <a:t>Assign </a:t>
            </a:r>
            <a:r>
              <a:rPr lang="en-US" altLang="zh-TW" sz="3200" b="1" dirty="0"/>
              <a:t>background tasks (</a:t>
            </a:r>
            <a:r>
              <a:rPr lang="zh-TW" altLang="en-US" sz="3200" b="1" dirty="0"/>
              <a:t>例如</a:t>
            </a:r>
            <a:r>
              <a:rPr lang="en-US" altLang="zh-TW" sz="3200" b="1" dirty="0"/>
              <a:t>:</a:t>
            </a:r>
            <a:r>
              <a:rPr lang="zh-TW" altLang="en-US" sz="3200" b="1" dirty="0"/>
              <a:t> 定位服務</a:t>
            </a:r>
            <a:r>
              <a:rPr lang="en-US" altLang="zh-TW" sz="3200" b="1" dirty="0"/>
              <a:t>,</a:t>
            </a:r>
            <a:r>
              <a:rPr lang="zh-TW" altLang="en-US" sz="3200" b="1" dirty="0"/>
              <a:t>資料同步</a:t>
            </a:r>
            <a:r>
              <a:rPr lang="en-US" altLang="zh-TW" sz="3200" b="1" dirty="0"/>
              <a:t>)</a:t>
            </a:r>
            <a:r>
              <a:rPr lang="en-US" altLang="zh-TW" sz="3200" dirty="0"/>
              <a:t> to </a:t>
            </a:r>
            <a:r>
              <a:rPr lang="en-US" altLang="zh-TW" sz="3200" b="1" dirty="0"/>
              <a:t>little </a:t>
            </a:r>
            <a:r>
              <a:rPr lang="en-US" altLang="zh-TW" sz="3200" b="1" dirty="0" smtClean="0"/>
              <a:t>cores</a:t>
            </a:r>
            <a:r>
              <a:rPr lang="en-US" altLang="zh-TW" sz="3200" dirty="0" smtClean="0"/>
              <a:t>,</a:t>
            </a:r>
          </a:p>
          <a:p>
            <a:pPr marL="742950" lvl="2" indent="-342900"/>
            <a:endParaRPr lang="en-US" altLang="zh-TW" sz="3200" dirty="0"/>
          </a:p>
          <a:p>
            <a:pPr marL="742950" lvl="2" indent="-342900"/>
            <a:r>
              <a:rPr lang="en-US" altLang="zh-TW" sz="3200" dirty="0" smtClean="0"/>
              <a:t>Assign </a:t>
            </a:r>
            <a:r>
              <a:rPr lang="en-US" altLang="zh-TW" sz="3200" b="1" dirty="0" smtClean="0"/>
              <a:t>interactive </a:t>
            </a:r>
            <a:r>
              <a:rPr lang="en-US" altLang="zh-TW" sz="3200" b="1" dirty="0"/>
              <a:t>tasks</a:t>
            </a:r>
            <a:r>
              <a:rPr lang="en-US" altLang="zh-TW" sz="3200" dirty="0"/>
              <a:t> to </a:t>
            </a:r>
            <a:r>
              <a:rPr lang="en-US" altLang="zh-TW" sz="3200" b="1" dirty="0"/>
              <a:t>big cores</a:t>
            </a:r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F1A0BA-69B7-430A-A9CF-952315C1A922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1134</TotalTime>
  <Words>4985</Words>
  <Application>Microsoft Office PowerPoint</Application>
  <PresentationFormat>寬螢幕</PresentationFormat>
  <Paragraphs>1214</Paragraphs>
  <Slides>139</Slides>
  <Notes>7</Notes>
  <HiddenSlides>0</HiddenSlides>
  <MMClips>0</MMClips>
  <ScaleCrop>false</ScaleCrop>
  <HeadingPairs>
    <vt:vector size="8" baseType="variant">
      <vt:variant>
        <vt:lpstr>使用字型</vt:lpstr>
      </vt:variant>
      <vt:variant>
        <vt:i4>17</vt:i4>
      </vt:variant>
      <vt:variant>
        <vt:lpstr>佈景主題</vt:lpstr>
      </vt:variant>
      <vt:variant>
        <vt:i4>6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139</vt:i4>
      </vt:variant>
    </vt:vector>
  </HeadingPairs>
  <TitlesOfParts>
    <vt:vector size="165" baseType="lpstr">
      <vt:lpstr>Aharoni</vt:lpstr>
      <vt:lpstr>Andalus</vt:lpstr>
      <vt:lpstr>Arial Unicode MS</vt:lpstr>
      <vt:lpstr>Monotype Sorts</vt:lpstr>
      <vt:lpstr>MS PGothic</vt:lpstr>
      <vt:lpstr>MS PGothic</vt:lpstr>
      <vt:lpstr>新細明體</vt:lpstr>
      <vt:lpstr>標楷體</vt:lpstr>
      <vt:lpstr>Agency FB</vt:lpstr>
      <vt:lpstr>Arial</vt:lpstr>
      <vt:lpstr>Calibri</vt:lpstr>
      <vt:lpstr>Calibri Light</vt:lpstr>
      <vt:lpstr>Cambria Math</vt:lpstr>
      <vt:lpstr>Helvetica</vt:lpstr>
      <vt:lpstr>Symbol</vt:lpstr>
      <vt:lpstr>Times New Roman</vt:lpstr>
      <vt:lpstr>Wingdings</vt:lpstr>
      <vt:lpstr>osnetppt</vt:lpstr>
      <vt:lpstr>1_osnetppt</vt:lpstr>
      <vt:lpstr>Office 佈景主題</vt:lpstr>
      <vt:lpstr>2_osnetppt</vt:lpstr>
      <vt:lpstr>4_osnetppt</vt:lpstr>
      <vt:lpstr>3_osnetppt</vt:lpstr>
      <vt:lpstr>點陣圖影像</vt:lpstr>
      <vt:lpstr>Artwork</vt:lpstr>
      <vt:lpstr>Equation</vt:lpstr>
      <vt:lpstr>Chapter 5:  CPU Scheduling</vt:lpstr>
      <vt:lpstr>Outline</vt:lpstr>
      <vt:lpstr>Outline</vt:lpstr>
      <vt:lpstr>應用程式的執行具備某些特性, 什麼特性呢?</vt:lpstr>
      <vt:lpstr>CPU-I/O Burst Cycle</vt:lpstr>
      <vt:lpstr>Alternating Sequence of CPU And I/O Bursts</vt:lpstr>
      <vt:lpstr>如何利用這個特性提升效能呢?</vt:lpstr>
      <vt:lpstr>複習: Multi-Programmed Systems</vt:lpstr>
      <vt:lpstr>Outline</vt:lpstr>
      <vt:lpstr>Process Scheduling</vt:lpstr>
      <vt:lpstr>複習：The Ready Queue and Wait Queues</vt:lpstr>
      <vt:lpstr>複習:第三章看到的圖 A Simple Queuing-Diagram Representation of Processes</vt:lpstr>
      <vt:lpstr>下一頁我們看新的較為複雜的圖</vt:lpstr>
      <vt:lpstr>複習： Representation of Process Scheduling</vt:lpstr>
      <vt:lpstr>Outline</vt:lpstr>
      <vt:lpstr>複習：在第一章和第三章我們提到 Example: CPU Scheduler is Invoked when a Timer Interrupt Occurs</vt:lpstr>
      <vt:lpstr>In fact，CPU scheduler is not only invoked when timer interrupts occurs.</vt:lpstr>
      <vt:lpstr>那CPU Scheduler何時會被執行呢?</vt:lpstr>
      <vt:lpstr>複習：Diagram of Process State</vt:lpstr>
      <vt:lpstr>Preemptive and Nonpreemptive Scheduling</vt:lpstr>
      <vt:lpstr>觀察: 上述四個時間點的意義不同</vt:lpstr>
      <vt:lpstr>Nonpreemptive v.s Preemptive</vt:lpstr>
      <vt:lpstr>Outline</vt:lpstr>
      <vt:lpstr>Dispatcher</vt:lpstr>
      <vt:lpstr>The Role of the Dispatcher</vt:lpstr>
      <vt:lpstr>Dispatch Latency</vt:lpstr>
      <vt:lpstr>Outline</vt:lpstr>
      <vt:lpstr>如何判斷一個CPU Scheduling Algorithm的好壞?</vt:lpstr>
      <vt:lpstr>Scheduling Criteria (準則)</vt:lpstr>
      <vt:lpstr>Scheduling Criteria (Cont.)</vt:lpstr>
      <vt:lpstr>Outline</vt:lpstr>
      <vt:lpstr>接下來介紹一些CPU Scheduling Algorithm</vt:lpstr>
      <vt:lpstr>Outline</vt:lpstr>
      <vt:lpstr>First-Come, First-Served (FCFS) Scheduling</vt:lpstr>
      <vt:lpstr>First-Come, First-Served (FCFS) Scheduling (Cont.)</vt:lpstr>
      <vt:lpstr>從前面兩個例子, 你有觀察到什麼現象嗎?</vt:lpstr>
      <vt:lpstr>那如果相反呢? </vt:lpstr>
      <vt:lpstr>First-Come, First-Served (FCFS) Scheduling (Cont.)</vt:lpstr>
      <vt:lpstr>Outline</vt:lpstr>
      <vt:lpstr>如前述, 先執行CPU burst time短的process應該是最好的方法</vt:lpstr>
      <vt:lpstr>Shortest-Job-First (SJF) Scheduling</vt:lpstr>
      <vt:lpstr>複習：Alternating Sequence of CPU And I/O Bursts</vt:lpstr>
      <vt:lpstr>Example of Non-Preemptive SJF</vt:lpstr>
      <vt:lpstr>Example of Preemptive SJF</vt:lpstr>
      <vt:lpstr>Shortest-Job-First (SJF) Scheduling (Cont.)</vt:lpstr>
      <vt:lpstr>Sol.: Predict(猜)</vt:lpstr>
      <vt:lpstr>Predicting Length of Next CPU Burst</vt:lpstr>
      <vt:lpstr>Predicting Length of Next CPU Burst</vt:lpstr>
      <vt:lpstr>Predicting Length of Next CPU Burst</vt:lpstr>
      <vt:lpstr>Predicting Length of Next CPU Burst</vt:lpstr>
      <vt:lpstr>Predicting Length of Next CPU Burst</vt:lpstr>
      <vt:lpstr>Predicting Length of Next CPU Burst</vt:lpstr>
      <vt:lpstr>PowerPoint 簡報</vt:lpstr>
      <vt:lpstr>PowerPoint 簡報</vt:lpstr>
      <vt:lpstr>Prediction of the Length of the Next CPU Burst</vt:lpstr>
      <vt:lpstr>Examples of Exponential Averaging</vt:lpstr>
      <vt:lpstr>Outline</vt:lpstr>
      <vt:lpstr>Round Robin (RR)</vt:lpstr>
      <vt:lpstr>Round Robin (RR)</vt:lpstr>
      <vt:lpstr>Example:  RR with Time Quantum = 20</vt:lpstr>
      <vt:lpstr>Round Robin (RR) (Cont.)</vt:lpstr>
      <vt:lpstr>Round Robin (RR) (Cont.)</vt:lpstr>
      <vt:lpstr>Round Robin (RR) (Cont.)</vt:lpstr>
      <vt:lpstr>How a Smaller Time Quantum Increases Context Switches</vt:lpstr>
      <vt:lpstr>複習：Context Switch</vt:lpstr>
      <vt:lpstr>Turnaround Time Varies With The Time Quantum</vt:lpstr>
      <vt:lpstr>Outline</vt:lpstr>
      <vt:lpstr>Priority Scheduling</vt:lpstr>
      <vt:lpstr>Priority Scheduling (Cont.)</vt:lpstr>
      <vt:lpstr>Example of Priority Scheduling</vt:lpstr>
      <vt:lpstr>Outline</vt:lpstr>
      <vt:lpstr>Multilevel Queue Scheduling</vt:lpstr>
      <vt:lpstr>Priority Scheduling with Round-Robin</vt:lpstr>
      <vt:lpstr>Question: 該使用什麼資料結構(How about the data structure)?</vt:lpstr>
      <vt:lpstr>Multilevel Queue Scheduling (Cont.)</vt:lpstr>
      <vt:lpstr>Multilevel Queue Scheduling</vt:lpstr>
      <vt:lpstr>PowerPoint 簡報</vt:lpstr>
      <vt:lpstr>Multilevel Queue Scheduling</vt:lpstr>
      <vt:lpstr>Multilevel Queue Scheduling (Cont.)</vt:lpstr>
      <vt:lpstr>Outline</vt:lpstr>
      <vt:lpstr>Multilevel Feedback Queue</vt:lpstr>
      <vt:lpstr>Example of Multilevel Feedback Queue</vt:lpstr>
      <vt:lpstr>Multilevel Feedback Queues</vt:lpstr>
      <vt:lpstr>Multilevel Feedback Queue</vt:lpstr>
      <vt:lpstr>Q1: 為什麼CPU burst time長的process要放在lower priority queue?   Q2:為什麼I/O-bound和interactive processes要放在 higher priority queues.   </vt:lpstr>
      <vt:lpstr>Outline</vt:lpstr>
      <vt:lpstr>Contention Scope</vt:lpstr>
      <vt:lpstr>PowerPoint 簡報</vt:lpstr>
      <vt:lpstr>Contention Scope</vt:lpstr>
      <vt:lpstr>Outline</vt:lpstr>
      <vt:lpstr>Multiple-Processor Scheduling</vt:lpstr>
      <vt:lpstr>Outline</vt:lpstr>
      <vt:lpstr>Multicore Processors</vt:lpstr>
      <vt:lpstr>A Computer System</vt:lpstr>
      <vt:lpstr>Memory Stall when Accessing Temp Variable</vt:lpstr>
      <vt:lpstr>Multicore Processors</vt:lpstr>
      <vt:lpstr>之前怎麼解的呢? </vt:lpstr>
      <vt:lpstr>複習: Multi-Programming</vt:lpstr>
      <vt:lpstr>Multicore Processors (Cont.)</vt:lpstr>
      <vt:lpstr>Multicore Processors (Cont.)</vt:lpstr>
      <vt:lpstr>OS不知道發生Memory Stall</vt:lpstr>
      <vt:lpstr>Multicore Processors (Cont.)</vt:lpstr>
      <vt:lpstr>Context Switch</vt:lpstr>
      <vt:lpstr>Multicore Processors (Cont.)</vt:lpstr>
      <vt:lpstr>Q: 怎麼辦呢?</vt:lpstr>
      <vt:lpstr>複習：Multiple Sets of Registers</vt:lpstr>
      <vt:lpstr>CPU Core Performs Context Switch</vt:lpstr>
      <vt:lpstr>上面提到的技術稱為Chip-multithreading (CMT). </vt:lpstr>
      <vt:lpstr>整理: Chip-multithreading (CMT)</vt:lpstr>
      <vt:lpstr>PowerPoint 簡報</vt:lpstr>
      <vt:lpstr>A Dual-Threaded, Quad-Core System</vt:lpstr>
      <vt:lpstr>If M-to-M or M-to-1 Model</vt:lpstr>
      <vt:lpstr>If One-to-One Model</vt:lpstr>
      <vt:lpstr>Outline</vt:lpstr>
      <vt:lpstr>Q: 假設有4顆CPU cores, 現在有一個process P1要被執行, P1要被執行在哪一個核心呢?誰來決定呢?</vt:lpstr>
      <vt:lpstr>Approaches to Multiple-Processor Scheduling</vt:lpstr>
      <vt:lpstr>Asymmetric Multiprocessing </vt:lpstr>
      <vt:lpstr>Asymmetric Multiprocessing </vt:lpstr>
      <vt:lpstr>Symmetric Multiprocessing </vt:lpstr>
      <vt:lpstr>Q: 那ready queue的架構呢?</vt:lpstr>
      <vt:lpstr>Approaches to Multiple-Processor Scheduling (Cont.)</vt:lpstr>
      <vt:lpstr>Organizations of Ready Queue in SMP</vt:lpstr>
      <vt:lpstr>Outline</vt:lpstr>
      <vt:lpstr>Q: 如果每一個核心有自己的ready queue, 會有負荷不平均的問題. Why?</vt:lpstr>
      <vt:lpstr>複習：Organizations of Ready Queue in SMP</vt:lpstr>
      <vt:lpstr>Load Balancing</vt:lpstr>
      <vt:lpstr>Q: 如何實現Load balancing?  </vt:lpstr>
      <vt:lpstr>Q: 如果是common ready queue, 也會有負荷不平均的問題嗎?</vt:lpstr>
      <vt:lpstr>Outline</vt:lpstr>
      <vt:lpstr>可是, 有時候我們喜歡待在故土 (李白:低頭思故鄉; 杜甫: 月是故鄉明)</vt:lpstr>
      <vt:lpstr>Processor Affinity (喜好）</vt:lpstr>
      <vt:lpstr>PowerPoint 簡報</vt:lpstr>
      <vt:lpstr>Processor Affinity (喜好）</vt:lpstr>
      <vt:lpstr>複習：Organizations of Ready Queue in SMP</vt:lpstr>
      <vt:lpstr>Processor Affinity (喜好）(Cont.)</vt:lpstr>
      <vt:lpstr>Outline</vt:lpstr>
      <vt:lpstr>Heterogeneous Multiprocessing</vt:lpstr>
      <vt:lpstr>Q: CPU Scheduler如何利用ARM big.LITTLE architecture?</vt:lpstr>
      <vt:lpstr>Heterogeneous Multiprocessing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CPU Scheduling</dc:title>
  <dc:creator>hpchang</dc:creator>
  <cp:lastModifiedBy>hpchang</cp:lastModifiedBy>
  <cp:revision>603</cp:revision>
  <dcterms:created xsi:type="dcterms:W3CDTF">2019-08-28T05:09:59Z</dcterms:created>
  <dcterms:modified xsi:type="dcterms:W3CDTF">2025-10-17T06:18:14Z</dcterms:modified>
</cp:coreProperties>
</file>