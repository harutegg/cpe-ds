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356" r:id="rId3"/>
    <p:sldId id="342" r:id="rId4"/>
    <p:sldId id="323" r:id="rId5"/>
    <p:sldId id="324" r:id="rId6"/>
    <p:sldId id="325" r:id="rId7"/>
    <p:sldId id="326" r:id="rId8"/>
    <p:sldId id="327" r:id="rId9"/>
    <p:sldId id="328" r:id="rId10"/>
    <p:sldId id="336" r:id="rId11"/>
    <p:sldId id="329" r:id="rId12"/>
    <p:sldId id="330" r:id="rId13"/>
    <p:sldId id="331" r:id="rId14"/>
    <p:sldId id="332" r:id="rId15"/>
    <p:sldId id="351" r:id="rId16"/>
    <p:sldId id="355" r:id="rId17"/>
    <p:sldId id="347" r:id="rId18"/>
    <p:sldId id="348" r:id="rId19"/>
    <p:sldId id="349" r:id="rId20"/>
    <p:sldId id="350" r:id="rId21"/>
    <p:sldId id="344" r:id="rId22"/>
    <p:sldId id="338" r:id="rId23"/>
    <p:sldId id="352" r:id="rId24"/>
    <p:sldId id="353" r:id="rId25"/>
    <p:sldId id="354" r:id="rId26"/>
    <p:sldId id="339" r:id="rId27"/>
    <p:sldId id="316" r:id="rId28"/>
    <p:sldId id="315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FC8F8-760D-4FC5-9FA7-268376FFC27A}" v="4" dt="2024-07-01T05:26:30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 子閎" userId="d496ebd3736cf63e" providerId="Windows Live" clId="Web-{111FC8F8-760D-4FC5-9FA7-268376FFC27A}"/>
    <pc:docChg chg="modSld">
      <pc:chgData name="林 子閎" userId="d496ebd3736cf63e" providerId="Windows Live" clId="Web-{111FC8F8-760D-4FC5-9FA7-268376FFC27A}" dt="2024-07-01T05:26:30.834" v="3" actId="20577"/>
      <pc:docMkLst>
        <pc:docMk/>
      </pc:docMkLst>
      <pc:sldChg chg="modSp">
        <pc:chgData name="林 子閎" userId="d496ebd3736cf63e" providerId="Windows Live" clId="Web-{111FC8F8-760D-4FC5-9FA7-268376FFC27A}" dt="2024-07-01T05:26:30.834" v="3" actId="20577"/>
        <pc:sldMkLst>
          <pc:docMk/>
          <pc:sldMk cId="0" sldId="256"/>
        </pc:sldMkLst>
        <pc:spChg chg="mod">
          <ac:chgData name="林 子閎" userId="d496ebd3736cf63e" providerId="Windows Live" clId="Web-{111FC8F8-760D-4FC5-9FA7-268376FFC27A}" dt="2024-07-01T05:26:30.834" v="3" actId="20577"/>
          <ac:spMkLst>
            <pc:docMk/>
            <pc:sldMk cId="0" sldId="256"/>
            <ac:spMk id="6" creationId="{53F30B10-7371-462A-941D-E22251EB48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1B2E4-05DD-445E-A14F-64E07442F76D}" type="datetimeFigureOut">
              <a:rPr lang="zh-TW" altLang="en-US" smtClean="0"/>
              <a:t>2025/11/10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1F8BF-CF56-4E9A-94F1-D50C8F37DE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40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783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3913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991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2204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489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標題投影片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6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7" name="Google Shape;27;p62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62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" name="Google Shape;29;p62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30" name="Google Shape;30;p62"/>
              <p:cNvSpPr/>
              <p:nvPr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62"/>
              <p:cNvSpPr/>
              <p:nvPr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2;p62"/>
              <p:cNvSpPr/>
              <p:nvPr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62"/>
              <p:cNvSpPr/>
              <p:nvPr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62"/>
              <p:cNvSpPr/>
              <p:nvPr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5;p62"/>
              <p:cNvSpPr/>
              <p:nvPr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6;p62"/>
              <p:cNvSpPr/>
              <p:nvPr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7;p62"/>
              <p:cNvSpPr/>
              <p:nvPr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8;p62"/>
              <p:cNvSpPr/>
              <p:nvPr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9;p62"/>
              <p:cNvSpPr/>
              <p:nvPr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40" name="Google Shape;40;p62"/>
          <p:cNvSpPr txBox="1">
            <a:spLocks noGrp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75"/>
              </a:spcBef>
              <a:spcAft>
                <a:spcPts val="0"/>
              </a:spcAft>
              <a:buSzPts val="1875"/>
              <a:buFont typeface="Noto Sans Symbols"/>
              <a:buNone/>
              <a:defRPr sz="1875"/>
            </a:lvl1pPr>
            <a:lvl2pPr lvl="1" algn="l">
              <a:spcBef>
                <a:spcPts val="270"/>
              </a:spcBef>
              <a:spcAft>
                <a:spcPts val="0"/>
              </a:spcAft>
              <a:buSzPts val="1440"/>
              <a:buChar char="◻"/>
              <a:defRPr/>
            </a:lvl2pPr>
            <a:lvl3pPr lvl="2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/>
            </a:lvl4pPr>
            <a:lvl5pPr lvl="4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3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章節標題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marL="685800" lvl="1" indent="-171450" algn="l">
              <a:spcBef>
                <a:spcPts val="270"/>
              </a:spcBef>
              <a:spcAft>
                <a:spcPts val="0"/>
              </a:spcAft>
              <a:buSzPts val="1440"/>
              <a:buNone/>
              <a:defRPr sz="1350"/>
            </a:lvl2pPr>
            <a:lvl3pPr marL="1028700" lvl="2" indent="-171450" algn="l">
              <a:spcBef>
                <a:spcPts val="240"/>
              </a:spcBef>
              <a:spcAft>
                <a:spcPts val="0"/>
              </a:spcAft>
              <a:buSzPts val="1040"/>
              <a:buNone/>
              <a:defRPr sz="1200"/>
            </a:lvl3pPr>
            <a:lvl4pPr marL="1371600" lvl="3" indent="-171450" algn="l">
              <a:spcBef>
                <a:spcPts val="210"/>
              </a:spcBef>
              <a:spcAft>
                <a:spcPts val="0"/>
              </a:spcAft>
              <a:buSzPts val="980"/>
              <a:buNone/>
              <a:defRPr sz="1050"/>
            </a:lvl4pPr>
            <a:lvl5pPr marL="1714500" lvl="4" indent="-171450" algn="l">
              <a:spcBef>
                <a:spcPts val="210"/>
              </a:spcBef>
              <a:spcAft>
                <a:spcPts val="0"/>
              </a:spcAft>
              <a:buSzPts val="1400"/>
              <a:buNone/>
              <a:defRPr sz="1050"/>
            </a:lvl5pPr>
            <a:lvl6pPr marL="2057400" lvl="5" indent="-171450" algn="l">
              <a:spcBef>
                <a:spcPts val="210"/>
              </a:spcBef>
              <a:spcAft>
                <a:spcPts val="0"/>
              </a:spcAft>
              <a:buSzPts val="1400"/>
              <a:buNone/>
              <a:defRPr sz="1050"/>
            </a:lvl6pPr>
            <a:lvl7pPr marL="2400300" lvl="6" indent="-171450" algn="l">
              <a:spcBef>
                <a:spcPts val="210"/>
              </a:spcBef>
              <a:spcAft>
                <a:spcPts val="0"/>
              </a:spcAft>
              <a:buSzPts val="1400"/>
              <a:buNone/>
              <a:defRPr sz="1050"/>
            </a:lvl7pPr>
            <a:lvl8pPr marL="2743200" lvl="7" indent="-171450" algn="l">
              <a:spcBef>
                <a:spcPts val="210"/>
              </a:spcBef>
              <a:spcAft>
                <a:spcPts val="0"/>
              </a:spcAft>
              <a:buSzPts val="1400"/>
              <a:buNone/>
              <a:defRPr sz="1050"/>
            </a:lvl8pPr>
            <a:lvl9pPr marL="3086100" lvl="8" indent="-171450" algn="l">
              <a:spcBef>
                <a:spcPts val="210"/>
              </a:spcBef>
              <a:spcAft>
                <a:spcPts val="0"/>
              </a:spcAft>
              <a:buSzPts val="1400"/>
              <a:buNone/>
              <a:defRPr sz="1050"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6" name="Google Shape;56;p6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33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兩項物件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>
            <a:spLocks noGrp="1"/>
          </p:cNvSpPr>
          <p:nvPr>
            <p:ph type="title"/>
          </p:nvPr>
        </p:nvSpPr>
        <p:spPr>
          <a:xfrm>
            <a:off x="457200" y="457202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71463" algn="l">
              <a:spcBef>
                <a:spcPts val="420"/>
              </a:spcBef>
              <a:spcAft>
                <a:spcPts val="0"/>
              </a:spcAft>
              <a:buSzPts val="2100"/>
              <a:buChar char="■"/>
              <a:defRPr sz="2100"/>
            </a:lvl1pPr>
            <a:lvl2pPr marL="685800" lvl="1" indent="-262889" algn="l">
              <a:spcBef>
                <a:spcPts val="360"/>
              </a:spcBef>
              <a:spcAft>
                <a:spcPts val="0"/>
              </a:spcAft>
              <a:buSzPts val="1920"/>
              <a:buChar char="◻"/>
              <a:defRPr sz="1800"/>
            </a:lvl2pPr>
            <a:lvl3pPr marL="1028700" lvl="2" indent="-233363" algn="l"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500"/>
            </a:lvl3pPr>
            <a:lvl4pPr marL="1371600" lvl="3" indent="-231458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body" idx="2"/>
          </p:nvPr>
        </p:nvSpPr>
        <p:spPr>
          <a:xfrm>
            <a:off x="4648200" y="1268413"/>
            <a:ext cx="4038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71463" algn="l">
              <a:spcBef>
                <a:spcPts val="420"/>
              </a:spcBef>
              <a:spcAft>
                <a:spcPts val="0"/>
              </a:spcAft>
              <a:buSzPts val="2100"/>
              <a:buChar char="■"/>
              <a:defRPr sz="2100"/>
            </a:lvl1pPr>
            <a:lvl2pPr marL="685800" lvl="1" indent="-262889" algn="l">
              <a:spcBef>
                <a:spcPts val="360"/>
              </a:spcBef>
              <a:spcAft>
                <a:spcPts val="0"/>
              </a:spcAft>
              <a:buSzPts val="1920"/>
              <a:buChar char="◻"/>
              <a:defRPr sz="1800"/>
            </a:lvl2pPr>
            <a:lvl3pPr marL="1028700" lvl="2" indent="-233363" algn="l"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500"/>
            </a:lvl3pPr>
            <a:lvl4pPr marL="1371600" lvl="3" indent="-231458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 sz="1350"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 sz="1350"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3" name="Google Shape;63;p6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735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比對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SzPts val="117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SzPts val="112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1pPr>
            <a:lvl2pPr marL="685800" lvl="1" indent="-247650" algn="l">
              <a:spcBef>
                <a:spcPts val="300"/>
              </a:spcBef>
              <a:spcAft>
                <a:spcPts val="0"/>
              </a:spcAft>
              <a:buSzPts val="1600"/>
              <a:buChar char="◻"/>
              <a:defRPr sz="1500"/>
            </a:lvl2pPr>
            <a:lvl3pPr marL="1028700" lvl="2" indent="-227171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 sz="1350"/>
            </a:lvl3pPr>
            <a:lvl4pPr marL="1371600" lvl="3" indent="-224789" algn="l">
              <a:spcBef>
                <a:spcPts val="240"/>
              </a:spcBef>
              <a:spcAft>
                <a:spcPts val="0"/>
              </a:spcAft>
              <a:buSzPts val="1120"/>
              <a:buChar char="◻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9pPr>
          </a:lstStyle>
          <a:p>
            <a:endParaRPr/>
          </a:p>
        </p:txBody>
      </p:sp>
      <p:sp>
        <p:nvSpPr>
          <p:cNvPr id="68" name="Google Shape;68;p66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SzPts val="117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SzPts val="112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9" name="Google Shape;69;p66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1pPr>
            <a:lvl2pPr marL="685800" lvl="1" indent="-247650" algn="l">
              <a:spcBef>
                <a:spcPts val="300"/>
              </a:spcBef>
              <a:spcAft>
                <a:spcPts val="0"/>
              </a:spcAft>
              <a:buSzPts val="1600"/>
              <a:buChar char="◻"/>
              <a:defRPr sz="1500"/>
            </a:lvl2pPr>
            <a:lvl3pPr marL="1028700" lvl="2" indent="-227171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 sz="1350"/>
            </a:lvl3pPr>
            <a:lvl4pPr marL="1371600" lvl="3" indent="-224789" algn="l">
              <a:spcBef>
                <a:spcPts val="240"/>
              </a:spcBef>
              <a:spcAft>
                <a:spcPts val="0"/>
              </a:spcAft>
              <a:buSzPts val="1120"/>
              <a:buChar char="◻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SzPts val="1600"/>
              <a:buChar char="▪"/>
              <a:defRPr sz="1200"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Google Shape;72;p6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8940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只有標題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7"/>
          <p:cNvSpPr txBox="1">
            <a:spLocks noGrp="1"/>
          </p:cNvSpPr>
          <p:nvPr>
            <p:ph type="title"/>
          </p:nvPr>
        </p:nvSpPr>
        <p:spPr>
          <a:xfrm>
            <a:off x="457200" y="457202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7" name="Google Shape;77;p6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394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空白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1" name="Google Shape;81;p6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94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8575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1pPr>
            <a:lvl2pPr marL="685800" lvl="1" indent="-278130" algn="l">
              <a:spcBef>
                <a:spcPts val="420"/>
              </a:spcBef>
              <a:spcAft>
                <a:spcPts val="0"/>
              </a:spcAft>
              <a:buSzPts val="2240"/>
              <a:buChar char="◻"/>
              <a:defRPr sz="2100"/>
            </a:lvl2pPr>
            <a:lvl3pPr marL="1028700" lvl="2" indent="-245745" algn="l">
              <a:spcBef>
                <a:spcPts val="360"/>
              </a:spcBef>
              <a:spcAft>
                <a:spcPts val="0"/>
              </a:spcAft>
              <a:buSzPts val="1560"/>
              <a:buChar char="■"/>
              <a:defRPr sz="1800"/>
            </a:lvl3pPr>
            <a:lvl4pPr marL="1371600" lvl="3" indent="-238125" algn="l">
              <a:spcBef>
                <a:spcPts val="300"/>
              </a:spcBef>
              <a:spcAft>
                <a:spcPts val="0"/>
              </a:spcAft>
              <a:buSzPts val="1400"/>
              <a:buChar char="◻"/>
              <a:defRPr sz="1500"/>
            </a:lvl4pPr>
            <a:lvl5pPr marL="1714500" lvl="4" indent="-266700" algn="l">
              <a:spcBef>
                <a:spcPts val="300"/>
              </a:spcBef>
              <a:spcAft>
                <a:spcPts val="0"/>
              </a:spcAft>
              <a:buSzPts val="2000"/>
              <a:buChar char="▪"/>
              <a:defRPr sz="1500"/>
            </a:lvl5pPr>
            <a:lvl6pPr marL="2057400" lvl="5" indent="-266700" algn="l">
              <a:spcBef>
                <a:spcPts val="300"/>
              </a:spcBef>
              <a:spcAft>
                <a:spcPts val="0"/>
              </a:spcAft>
              <a:buSzPts val="2000"/>
              <a:buChar char="▪"/>
              <a:defRPr sz="1500"/>
            </a:lvl6pPr>
            <a:lvl7pPr marL="2400300" lvl="6" indent="-266700" algn="l">
              <a:spcBef>
                <a:spcPts val="300"/>
              </a:spcBef>
              <a:spcAft>
                <a:spcPts val="0"/>
              </a:spcAft>
              <a:buSzPts val="2000"/>
              <a:buChar char="▪"/>
              <a:defRPr sz="1500"/>
            </a:lvl7pPr>
            <a:lvl8pPr marL="2743200" lvl="7" indent="-266700" algn="l">
              <a:spcBef>
                <a:spcPts val="300"/>
              </a:spcBef>
              <a:spcAft>
                <a:spcPts val="0"/>
              </a:spcAft>
              <a:buSzPts val="2000"/>
              <a:buChar char="▪"/>
              <a:defRPr sz="1500"/>
            </a:lvl8pPr>
            <a:lvl9pPr marL="3086100" lvl="8" indent="-266700" algn="l">
              <a:spcBef>
                <a:spcPts val="300"/>
              </a:spcBef>
              <a:spcAft>
                <a:spcPts val="0"/>
              </a:spcAft>
              <a:buSzPts val="2000"/>
              <a:buChar char="▪"/>
              <a:defRPr sz="1500"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SzPts val="96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SzPts val="65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SzPts val="63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86" name="Google Shape;86;p6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8" name="Google Shape;88;p6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505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含標題的圖片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7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171450" algn="l">
              <a:spcBef>
                <a:spcPts val="210"/>
              </a:spcBef>
              <a:spcAft>
                <a:spcPts val="0"/>
              </a:spcAft>
              <a:buSzPts val="1050"/>
              <a:buNone/>
              <a:defRPr sz="1050"/>
            </a:lvl1pPr>
            <a:lvl2pPr marL="685800" lvl="1" indent="-171450" algn="l">
              <a:spcBef>
                <a:spcPts val="180"/>
              </a:spcBef>
              <a:spcAft>
                <a:spcPts val="0"/>
              </a:spcAft>
              <a:buSzPts val="960"/>
              <a:buNone/>
              <a:defRPr sz="900"/>
            </a:lvl2pPr>
            <a:lvl3pPr marL="1028700" lvl="2" indent="-171450" algn="l">
              <a:spcBef>
                <a:spcPts val="150"/>
              </a:spcBef>
              <a:spcAft>
                <a:spcPts val="0"/>
              </a:spcAft>
              <a:buSzPts val="650"/>
              <a:buNone/>
              <a:defRPr sz="750"/>
            </a:lvl3pPr>
            <a:lvl4pPr marL="1371600" lvl="3" indent="-171450" algn="l">
              <a:spcBef>
                <a:spcPts val="135"/>
              </a:spcBef>
              <a:spcAft>
                <a:spcPts val="0"/>
              </a:spcAft>
              <a:buSzPts val="630"/>
              <a:buNone/>
              <a:defRPr sz="675"/>
            </a:lvl4pPr>
            <a:lvl5pPr marL="1714500" lvl="4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5pPr>
            <a:lvl6pPr marL="2057400" lvl="5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6pPr>
            <a:lvl7pPr marL="2400300" lvl="6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7pPr>
            <a:lvl8pPr marL="2743200" lvl="7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8pPr>
            <a:lvl9pPr marL="3086100" lvl="8" indent="-171450" algn="l">
              <a:spcBef>
                <a:spcPts val="135"/>
              </a:spcBef>
              <a:spcAft>
                <a:spcPts val="0"/>
              </a:spcAft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93" name="Google Shape;93;p7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5" name="Google Shape;95;p7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975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標題及直排文字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1"/>
          <p:cNvSpPr txBox="1">
            <a:spLocks noGrp="1"/>
          </p:cNvSpPr>
          <p:nvPr>
            <p:ph type="title"/>
          </p:nvPr>
        </p:nvSpPr>
        <p:spPr>
          <a:xfrm>
            <a:off x="457200" y="457202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1"/>
          <p:cNvSpPr txBox="1">
            <a:spLocks noGrp="1"/>
          </p:cNvSpPr>
          <p:nvPr>
            <p:ph type="body" idx="1"/>
          </p:nvPr>
        </p:nvSpPr>
        <p:spPr>
          <a:xfrm rot="5400000">
            <a:off x="2272508" y="-546893"/>
            <a:ext cx="459898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35744" algn="l">
              <a:spcBef>
                <a:spcPts val="270"/>
              </a:spcBef>
              <a:spcAft>
                <a:spcPts val="0"/>
              </a:spcAft>
              <a:buSzPts val="1350"/>
              <a:buChar char="■"/>
              <a:defRPr/>
            </a:lvl1pPr>
            <a:lvl2pPr marL="685800" lvl="1" indent="-240030" algn="l">
              <a:spcBef>
                <a:spcPts val="270"/>
              </a:spcBef>
              <a:spcAft>
                <a:spcPts val="0"/>
              </a:spcAft>
              <a:buSzPts val="1440"/>
              <a:buChar char="◻"/>
              <a:defRPr/>
            </a:lvl2pPr>
            <a:lvl3pPr marL="1028700" lvl="2" indent="-227171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/>
            </a:lvl3pPr>
            <a:lvl4pPr marL="1371600" lvl="3" indent="-231458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9" name="Google Shape;99;p7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1" name="Google Shape;101;p7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285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直排標題及文字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2"/>
          <p:cNvSpPr txBox="1">
            <a:spLocks noGrp="1"/>
          </p:cNvSpPr>
          <p:nvPr>
            <p:ph type="title"/>
          </p:nvPr>
        </p:nvSpPr>
        <p:spPr>
          <a:xfrm rot="5400000">
            <a:off x="4953000" y="2133600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body" idx="1"/>
          </p:nvPr>
        </p:nvSpPr>
        <p:spPr>
          <a:xfrm rot="5400000">
            <a:off x="762000" y="152400"/>
            <a:ext cx="5410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35744" algn="l">
              <a:spcBef>
                <a:spcPts val="270"/>
              </a:spcBef>
              <a:spcAft>
                <a:spcPts val="0"/>
              </a:spcAft>
              <a:buSzPts val="1350"/>
              <a:buChar char="■"/>
              <a:defRPr/>
            </a:lvl1pPr>
            <a:lvl2pPr marL="685800" lvl="1" indent="-240030" algn="l">
              <a:spcBef>
                <a:spcPts val="270"/>
              </a:spcBef>
              <a:spcAft>
                <a:spcPts val="0"/>
              </a:spcAft>
              <a:buSzPts val="1440"/>
              <a:buChar char="◻"/>
              <a:defRPr/>
            </a:lvl2pPr>
            <a:lvl3pPr marL="1028700" lvl="2" indent="-227171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/>
            </a:lvl3pPr>
            <a:lvl4pPr marL="1371600" lvl="3" indent="-231458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7" name="Google Shape;107;p7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802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標題及物件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>
            <a:spLocks noGrp="1"/>
          </p:cNvSpPr>
          <p:nvPr>
            <p:ph type="title"/>
          </p:nvPr>
        </p:nvSpPr>
        <p:spPr>
          <a:xfrm>
            <a:off x="457200" y="457202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35744" algn="l">
              <a:spcBef>
                <a:spcPts val="270"/>
              </a:spcBef>
              <a:spcAft>
                <a:spcPts val="0"/>
              </a:spcAft>
              <a:buSzPts val="1350"/>
              <a:buChar char="■"/>
              <a:defRPr/>
            </a:lvl1pPr>
            <a:lvl2pPr marL="685800" lvl="1" indent="-240030" algn="l">
              <a:spcBef>
                <a:spcPts val="270"/>
              </a:spcBef>
              <a:spcAft>
                <a:spcPts val="0"/>
              </a:spcAft>
              <a:buSzPts val="1440"/>
              <a:buChar char="◻"/>
              <a:defRPr/>
            </a:lvl2pPr>
            <a:lvl3pPr marL="1028700" lvl="2" indent="-227171" algn="l">
              <a:spcBef>
                <a:spcPts val="270"/>
              </a:spcBef>
              <a:spcAft>
                <a:spcPts val="0"/>
              </a:spcAft>
              <a:buSzPts val="1170"/>
              <a:buChar char="■"/>
              <a:defRPr/>
            </a:lvl3pPr>
            <a:lvl4pPr marL="1371600" lvl="3" indent="-231458" algn="l">
              <a:spcBef>
                <a:spcPts val="270"/>
              </a:spcBef>
              <a:spcAft>
                <a:spcPts val="0"/>
              </a:spcAft>
              <a:buSzPts val="1260"/>
              <a:buChar char="◻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0" name="Google Shape;50;p6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33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oogle Shape;12;p61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3" name="Google Shape;13;p61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61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61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61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61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61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6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61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61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457202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268413"/>
            <a:ext cx="8229600" cy="459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4639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2380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14;p1">
            <a:extLst>
              <a:ext uri="{FF2B5EF4-FFF2-40B4-BE49-F238E27FC236}">
                <a16:creationId xmlns:a16="http://schemas.microsoft.com/office/drawing/2014/main" id="{DA6EABDF-37F7-4E2F-A330-623EA30CB6DA}"/>
              </a:ext>
            </a:extLst>
          </p:cNvPr>
          <p:cNvSpPr txBox="1">
            <a:spLocks noGrp="1"/>
          </p:cNvSpPr>
          <p:nvPr/>
        </p:nvSpPr>
        <p:spPr>
          <a:xfrm>
            <a:off x="2195736" y="4695264"/>
            <a:ext cx="47525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75"/>
              <a:buFont typeface="Noto Sans Symbols"/>
              <a:buNone/>
              <a:defRPr sz="2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46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>
                <a:solidFill>
                  <a:srgbClr val="000000"/>
                </a:solidFill>
              </a:rPr>
              <a:t>Professor</a:t>
            </a:r>
            <a:r>
              <a:rPr lang="en-US" sz="2400" b="1" dirty="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：</a:t>
            </a:r>
            <a:r>
              <a:rPr lang="en-US" sz="2400" b="1" dirty="0">
                <a:solidFill>
                  <a:srgbClr val="000000"/>
                </a:solidFill>
              </a:rPr>
              <a:t> </a:t>
            </a:r>
            <a:r>
              <a:rPr lang="en-US" sz="2400" b="1" dirty="0" err="1"/>
              <a:t>Hsung</a:t>
            </a:r>
            <a:r>
              <a:rPr lang="en-US" sz="2400" b="1" dirty="0"/>
              <a:t>-Pin Chang</a:t>
            </a:r>
            <a:endParaRPr sz="2400" b="1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solidFill>
                  <a:srgbClr val="000000"/>
                </a:solidFill>
              </a:rPr>
              <a:t>TA </a:t>
            </a:r>
            <a:r>
              <a:rPr lang="en-US" sz="24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：</a:t>
            </a:r>
            <a:r>
              <a:rPr lang="en-US" sz="2400">
                <a:solidFill>
                  <a:srgbClr val="000000"/>
                </a:solidFill>
                <a:latin typeface="+mj-ea"/>
                <a:ea typeface="+mj-ea"/>
                <a:cs typeface="DFKai-SB"/>
                <a:sym typeface="DFKai-SB"/>
              </a:rPr>
              <a:t>Wei-Xuan Nee</a:t>
            </a:r>
            <a:endParaRPr sz="2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Google Shape;113;p1">
            <a:extLst>
              <a:ext uri="{FF2B5EF4-FFF2-40B4-BE49-F238E27FC236}">
                <a16:creationId xmlns:a16="http://schemas.microsoft.com/office/drawing/2014/main" id="{53F30B10-7371-462A-941D-E22251EB48FD}"/>
              </a:ext>
            </a:extLst>
          </p:cNvPr>
          <p:cNvSpPr txBox="1">
            <a:spLocks/>
          </p:cNvSpPr>
          <p:nvPr/>
        </p:nvSpPr>
        <p:spPr>
          <a:xfrm>
            <a:off x="2348136" y="2164978"/>
            <a:ext cx="7089604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100" b="1"/>
              <a:t>Homework Assignment #3</a:t>
            </a:r>
            <a:br>
              <a:rPr lang="en-US" sz="3100" b="1" dirty="0"/>
            </a:br>
            <a:r>
              <a:rPr lang="en-US" sz="3100" b="1" dirty="0"/>
              <a:t>     Matrix Multiplication in Multi-Thread</a:t>
            </a:r>
            <a:br>
              <a:rPr lang="en-US" sz="3100" b="1" dirty="0"/>
            </a:br>
            <a:endParaRPr lang="en-US" sz="3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57200" y="1423195"/>
            <a:ext cx="8229600" cy="13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</a:rPr>
              <a:t>Thread Overview     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n"/>
            </a:pPr>
            <a:endParaRPr lang="en-US" sz="24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chemeClr val="tx1"/>
                </a:solidFill>
              </a:rPr>
              <a:t>      </a:t>
            </a:r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DB2283-F749-44B7-B8F8-4C16BD781969}"/>
              </a:ext>
            </a:extLst>
          </p:cNvPr>
          <p:cNvSpPr txBox="1"/>
          <p:nvPr/>
        </p:nvSpPr>
        <p:spPr>
          <a:xfrm>
            <a:off x="0" y="444955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   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EA7F18-6A9E-442F-8C7B-9D7029733B20}"/>
              </a:ext>
            </a:extLst>
          </p:cNvPr>
          <p:cNvSpPr txBox="1"/>
          <p:nvPr/>
        </p:nvSpPr>
        <p:spPr>
          <a:xfrm>
            <a:off x="959224" y="385022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/>
                </a:solidFill>
              </a:rPr>
              <a:t>- Join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52E92B4-D642-45C4-A6A5-371AD9758DC8}"/>
              </a:ext>
            </a:extLst>
          </p:cNvPr>
          <p:cNvSpPr txBox="1"/>
          <p:nvPr/>
        </p:nvSpPr>
        <p:spPr>
          <a:xfrm>
            <a:off x="869577" y="33636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tx1"/>
                </a:solidFill>
              </a:rPr>
              <a:t> - </a:t>
            </a:r>
            <a:r>
              <a:rPr lang="en-US" altLang="zh-TW" sz="2200" dirty="0">
                <a:solidFill>
                  <a:schemeClr val="tx1"/>
                </a:solidFill>
              </a:rPr>
              <a:t>Exit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A3D628-41A5-459C-A68E-BDDA4E2D673E}"/>
              </a:ext>
            </a:extLst>
          </p:cNvPr>
          <p:cNvSpPr txBox="1"/>
          <p:nvPr/>
        </p:nvSpPr>
        <p:spPr>
          <a:xfrm>
            <a:off x="959224" y="295850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/>
                </a:solidFill>
              </a:rPr>
              <a:t>- Creating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1" name="Google Shape;119;p2">
            <a:extLst>
              <a:ext uri="{FF2B5EF4-FFF2-40B4-BE49-F238E27FC236}">
                <a16:creationId xmlns:a16="http://schemas.microsoft.com/office/drawing/2014/main" id="{5563724A-D4A4-46D0-AADD-EAE2E10F0D5C}"/>
              </a:ext>
            </a:extLst>
          </p:cNvPr>
          <p:cNvSpPr txBox="1">
            <a:spLocks/>
          </p:cNvSpPr>
          <p:nvPr/>
        </p:nvSpPr>
        <p:spPr>
          <a:xfrm>
            <a:off x="457200" y="2341874"/>
            <a:ext cx="8229600" cy="64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</a:rPr>
              <a:t>POSIX Thread</a:t>
            </a: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</a:rPr>
              <a:t>      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ts val="1800"/>
              <a:buFont typeface="Noto Sans Symbols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2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07487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57200" y="1423195"/>
            <a:ext cx="8229600" cy="13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</a:rPr>
              <a:t>Thread Overview     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n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200" dirty="0"/>
              <a:t>     </a:t>
            </a:r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DB2283-F749-44B7-B8F8-4C16BD781969}"/>
              </a:ext>
            </a:extLst>
          </p:cNvPr>
          <p:cNvSpPr txBox="1"/>
          <p:nvPr/>
        </p:nvSpPr>
        <p:spPr>
          <a:xfrm>
            <a:off x="0" y="444955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   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EA7F18-6A9E-442F-8C7B-9D7029733B20}"/>
              </a:ext>
            </a:extLst>
          </p:cNvPr>
          <p:cNvSpPr txBox="1"/>
          <p:nvPr/>
        </p:nvSpPr>
        <p:spPr>
          <a:xfrm>
            <a:off x="959224" y="385022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bg1">
                    <a:lumMod val="65000"/>
                  </a:schemeClr>
                </a:solidFill>
              </a:rPr>
              <a:t>- Join threads</a:t>
            </a:r>
            <a:endParaRPr lang="zh-TW" alt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52E92B4-D642-45C4-A6A5-371AD9758DC8}"/>
              </a:ext>
            </a:extLst>
          </p:cNvPr>
          <p:cNvSpPr txBox="1"/>
          <p:nvPr/>
        </p:nvSpPr>
        <p:spPr>
          <a:xfrm>
            <a:off x="869577" y="33636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</a:rPr>
              <a:t> - </a:t>
            </a:r>
            <a:r>
              <a:rPr lang="en-US" altLang="zh-TW" sz="2200" dirty="0">
                <a:solidFill>
                  <a:schemeClr val="bg1">
                    <a:lumMod val="65000"/>
                  </a:schemeClr>
                </a:solidFill>
              </a:rPr>
              <a:t>Exit threads</a:t>
            </a:r>
            <a:endParaRPr lang="zh-TW" alt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A3D628-41A5-459C-A68E-BDDA4E2D673E}"/>
              </a:ext>
            </a:extLst>
          </p:cNvPr>
          <p:cNvSpPr txBox="1"/>
          <p:nvPr/>
        </p:nvSpPr>
        <p:spPr>
          <a:xfrm>
            <a:off x="959224" y="295850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bg1">
                    <a:lumMod val="65000"/>
                  </a:schemeClr>
                </a:solidFill>
              </a:rPr>
              <a:t>- Creating Threads</a:t>
            </a:r>
            <a:endParaRPr lang="zh-TW" altLang="en-US" sz="2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" name="Google Shape;119;p2">
            <a:extLst>
              <a:ext uri="{FF2B5EF4-FFF2-40B4-BE49-F238E27FC236}">
                <a16:creationId xmlns:a16="http://schemas.microsoft.com/office/drawing/2014/main" id="{5563724A-D4A4-46D0-AADD-EAE2E10F0D5C}"/>
              </a:ext>
            </a:extLst>
          </p:cNvPr>
          <p:cNvSpPr txBox="1">
            <a:spLocks/>
          </p:cNvSpPr>
          <p:nvPr/>
        </p:nvSpPr>
        <p:spPr>
          <a:xfrm>
            <a:off x="457200" y="2341874"/>
            <a:ext cx="8229600" cy="64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65000"/>
                  </a:schemeClr>
                </a:solidFill>
              </a:rPr>
              <a:t>POSIX Thread      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1800"/>
              <a:buFont typeface="Noto Sans Symbols"/>
              <a:buNone/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3387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738EE6-987E-415D-A058-805AB5243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E26A5B-531C-43AC-8AED-14E55846ACB4}"/>
              </a:ext>
            </a:extLst>
          </p:cNvPr>
          <p:cNvSpPr txBox="1"/>
          <p:nvPr/>
        </p:nvSpPr>
        <p:spPr>
          <a:xfrm>
            <a:off x="336176" y="634707"/>
            <a:ext cx="847164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Why We Need Threads?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altLang="zh-TW" b="0" dirty="0">
              <a:effectLst/>
            </a:endParaRPr>
          </a:p>
          <a:p>
            <a:br>
              <a:rPr lang="en-US" altLang="zh-TW" b="0" dirty="0">
                <a:effectLst/>
              </a:rPr>
            </a:br>
            <a:br>
              <a:rPr lang="en-US" altLang="zh-TW" b="0" dirty="0">
                <a:effectLst/>
              </a:rPr>
            </a:br>
            <a:br>
              <a:rPr lang="en-US" altLang="zh-TW" b="0" dirty="0">
                <a:effectLst/>
              </a:rPr>
            </a:br>
            <a:endParaRPr lang="zh-TW" altLang="en-US" dirty="0"/>
          </a:p>
        </p:txBody>
      </p:sp>
      <p:sp>
        <p:nvSpPr>
          <p:cNvPr id="7" name="Google Shape;117;p4">
            <a:extLst>
              <a:ext uri="{FF2B5EF4-FFF2-40B4-BE49-F238E27FC236}">
                <a16:creationId xmlns:a16="http://schemas.microsoft.com/office/drawing/2014/main" id="{084EDEE8-17D9-4CFF-9A16-C9AB3AD5B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1" dirty="0"/>
              <a:t>A traditional process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dirty="0"/>
              <a:t>Needs a fair amount of "overhead“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dirty="0"/>
              <a:t>Has a single thread of control</a:t>
            </a:r>
            <a:endParaRPr sz="2400" b="1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1" dirty="0"/>
              <a:t>If the process has multiple threads of control, it can do </a:t>
            </a:r>
            <a:r>
              <a:rPr lang="en-US" sz="2800" b="1" dirty="0">
                <a:solidFill>
                  <a:srgbClr val="FF0000"/>
                </a:solidFill>
              </a:rPr>
              <a:t>more than one task at a time</a:t>
            </a:r>
            <a:r>
              <a:rPr lang="en-US" sz="2800" b="1" dirty="0"/>
              <a:t>.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1" dirty="0"/>
              <a:t>Threads</a:t>
            </a:r>
            <a:endParaRPr dirty="0"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dirty="0"/>
              <a:t>Run as independent entities because they duplicate </a:t>
            </a:r>
            <a:r>
              <a:rPr lang="en-US" sz="2400" dirty="0">
                <a:solidFill>
                  <a:srgbClr val="3333CC"/>
                </a:solidFill>
              </a:rPr>
              <a:t>only the bare essential resources</a:t>
            </a:r>
            <a:r>
              <a:rPr lang="en-US" sz="2400" dirty="0"/>
              <a:t> that enable them to run code</a:t>
            </a:r>
            <a:endParaRPr dirty="0"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1"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62131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CFBE06-CE7B-413F-A003-884A3E728E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85D72D-19F7-46B7-ADF9-063E7F6B36F3}"/>
              </a:ext>
            </a:extLst>
          </p:cNvPr>
          <p:cNvSpPr txBox="1"/>
          <p:nvPr/>
        </p:nvSpPr>
        <p:spPr>
          <a:xfrm>
            <a:off x="2285999" y="609937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What Is a Thread?</a:t>
            </a:r>
            <a:endParaRPr lang="zh-TW" altLang="en-US" sz="4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65CBC21-C900-44FE-80DD-177F0ECC3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32" y="1615786"/>
            <a:ext cx="6977736" cy="463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47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00EA17-9741-44FC-8A43-8708E32E2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0391C7E-1305-46FB-8F80-F8C0E9F1CA45}"/>
              </a:ext>
            </a:extLst>
          </p:cNvPr>
          <p:cNvSpPr txBox="1"/>
          <p:nvPr/>
        </p:nvSpPr>
        <p:spPr>
          <a:xfrm>
            <a:off x="1411940" y="605704"/>
            <a:ext cx="63201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What Is a Thread?(cont.)</a:t>
            </a:r>
            <a:endParaRPr lang="zh-TW" altLang="en-US" sz="4400" dirty="0"/>
          </a:p>
        </p:txBody>
      </p:sp>
      <p:sp>
        <p:nvSpPr>
          <p:cNvPr id="8" name="Google Shape;132;p6">
            <a:extLst>
              <a:ext uri="{FF2B5EF4-FFF2-40B4-BE49-F238E27FC236}">
                <a16:creationId xmlns:a16="http://schemas.microsoft.com/office/drawing/2014/main" id="{ABE3F1AE-1374-4695-BCB3-B69A9DB45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dirty="0"/>
              <a:t>A thread is a flow of control within a process.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dirty="0"/>
              <a:t>A multithreaded process contains </a:t>
            </a:r>
            <a:r>
              <a:rPr lang="en-US" sz="2800" dirty="0">
                <a:solidFill>
                  <a:srgbClr val="3333CC"/>
                </a:solidFill>
              </a:rPr>
              <a:t>several different flows of control</a:t>
            </a:r>
            <a:r>
              <a:rPr lang="en-US" sz="2800" dirty="0"/>
              <a:t> within the same address space.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dirty="0"/>
              <a:t>A thread has a </a:t>
            </a:r>
            <a:r>
              <a:rPr lang="en-US" sz="2800" dirty="0">
                <a:solidFill>
                  <a:srgbClr val="3333CC"/>
                </a:solidFill>
              </a:rPr>
              <a:t>thread ID</a:t>
            </a:r>
            <a:r>
              <a:rPr lang="en-US" sz="2800" dirty="0"/>
              <a:t>, a </a:t>
            </a:r>
            <a:r>
              <a:rPr lang="en-US" sz="2800" dirty="0">
                <a:solidFill>
                  <a:srgbClr val="3333CC"/>
                </a:solidFill>
              </a:rPr>
              <a:t>program counter</a:t>
            </a:r>
            <a:r>
              <a:rPr lang="en-US" sz="2800" dirty="0"/>
              <a:t>, a </a:t>
            </a:r>
            <a:r>
              <a:rPr lang="en-US" sz="2800" dirty="0">
                <a:solidFill>
                  <a:srgbClr val="3333CC"/>
                </a:solidFill>
              </a:rPr>
              <a:t>register set</a:t>
            </a:r>
            <a:r>
              <a:rPr lang="en-US" sz="2800" dirty="0"/>
              <a:t>,  and a </a:t>
            </a:r>
            <a:r>
              <a:rPr lang="en-US" sz="2800" dirty="0">
                <a:solidFill>
                  <a:srgbClr val="3333CC"/>
                </a:solidFill>
              </a:rPr>
              <a:t>stack</a:t>
            </a:r>
            <a:r>
              <a:rPr lang="en-US" sz="2800" dirty="0"/>
              <a:t>, and is similar to a process has.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dirty="0"/>
              <a:t>However, a thread </a:t>
            </a:r>
            <a:r>
              <a:rPr lang="en-US" sz="2800" i="1" dirty="0">
                <a:solidFill>
                  <a:srgbClr val="FF0000"/>
                </a:solidFill>
              </a:rPr>
              <a:t>shares</a:t>
            </a:r>
            <a:r>
              <a:rPr lang="en-US" sz="2800" i="1" dirty="0">
                <a:solidFill>
                  <a:srgbClr val="3333CC"/>
                </a:solidFill>
              </a:rPr>
              <a:t> </a:t>
            </a:r>
            <a:r>
              <a:rPr lang="en-US" sz="2800" dirty="0"/>
              <a:t>with other threads in the same process its </a:t>
            </a:r>
            <a:r>
              <a:rPr lang="en-US" sz="2800" i="1" dirty="0">
                <a:solidFill>
                  <a:srgbClr val="3333CC"/>
                </a:solidFill>
              </a:rPr>
              <a:t>code section</a:t>
            </a:r>
            <a:r>
              <a:rPr lang="en-US" sz="2800" dirty="0"/>
              <a:t>,</a:t>
            </a:r>
            <a:r>
              <a:rPr lang="en-US" sz="2800" i="1" dirty="0">
                <a:solidFill>
                  <a:srgbClr val="3333CC"/>
                </a:solidFill>
              </a:rPr>
              <a:t> data section</a:t>
            </a:r>
            <a:r>
              <a:rPr lang="en-US" sz="2800" dirty="0"/>
              <a:t>, and other OS resources.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400" dirty="0"/>
              <a:t>Thus, thread is </a:t>
            </a:r>
            <a:r>
              <a:rPr lang="en-US" sz="2400" i="1" dirty="0">
                <a:solidFill>
                  <a:srgbClr val="FF0000"/>
                </a:solidFill>
              </a:rPr>
              <a:t>lightweight</a:t>
            </a:r>
            <a:endParaRPr dirty="0"/>
          </a:p>
          <a:p>
            <a:pPr marL="742950" lvl="1" indent="-1333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1"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  <a:p>
            <a:pPr marL="34290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30533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BE9F6-4406-4DE9-99F7-7359BF874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89F003-E6FE-47C4-916B-D8EA2D169BE4}"/>
              </a:ext>
            </a:extLst>
          </p:cNvPr>
          <p:cNvSpPr txBox="1"/>
          <p:nvPr/>
        </p:nvSpPr>
        <p:spPr>
          <a:xfrm>
            <a:off x="134470" y="594098"/>
            <a:ext cx="855233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Benefits of Multithreaded Programming</a:t>
            </a:r>
            <a:endParaRPr lang="zh-TW" altLang="en-US" sz="4400" dirty="0"/>
          </a:p>
        </p:txBody>
      </p:sp>
      <p:sp>
        <p:nvSpPr>
          <p:cNvPr id="9" name="Google Shape;140;p7">
            <a:extLst>
              <a:ext uri="{FF2B5EF4-FFF2-40B4-BE49-F238E27FC236}">
                <a16:creationId xmlns:a16="http://schemas.microsoft.com/office/drawing/2014/main" id="{72C8A3FB-537D-4272-A6DA-883AB1677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951037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2400" b="1" dirty="0"/>
              <a:t>Responsiveness</a:t>
            </a:r>
            <a:endParaRPr sz="1800" dirty="0"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US" sz="2000" dirty="0"/>
              <a:t>A process can execute even if some part of process is paused or taking a long time.</a:t>
            </a:r>
            <a:endParaRPr sz="1600" dirty="0"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2400" b="1" dirty="0"/>
              <a:t>Resource sharing</a:t>
            </a:r>
            <a:endParaRPr sz="1800" dirty="0"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US" sz="2000" dirty="0"/>
              <a:t>Share resources of the process to which they belong.</a:t>
            </a:r>
            <a:endParaRPr sz="2000" b="1" dirty="0"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2400" b="1" dirty="0"/>
              <a:t>Economy</a:t>
            </a:r>
            <a:endParaRPr sz="1800" dirty="0"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US" sz="2000" dirty="0"/>
              <a:t>Allocating memory and resources for process creation is costly.</a:t>
            </a:r>
            <a:endParaRPr sz="1600" dirty="0"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US" sz="2000" dirty="0"/>
              <a:t>Threads that share resources of the process to which they belong is more economical to </a:t>
            </a:r>
            <a:r>
              <a:rPr lang="en-US" sz="2000" i="1" dirty="0"/>
              <a:t>create</a:t>
            </a:r>
            <a:r>
              <a:rPr lang="en-US" sz="2000" dirty="0"/>
              <a:t> and </a:t>
            </a:r>
            <a:r>
              <a:rPr lang="en-US" sz="2000" i="1" dirty="0"/>
              <a:t>context switch</a:t>
            </a:r>
            <a:r>
              <a:rPr lang="en-US" sz="2000" dirty="0"/>
              <a:t> threads.</a:t>
            </a:r>
            <a:endParaRPr sz="2000" b="1" dirty="0"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-US" sz="2400" b="1" dirty="0"/>
              <a:t>Great on multiprocessor architectures</a:t>
            </a:r>
            <a:endParaRPr sz="1800" dirty="0"/>
          </a:p>
          <a:p>
            <a:pPr marL="74295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–"/>
            </a:pPr>
            <a:r>
              <a:rPr lang="en-US" sz="2000" dirty="0"/>
              <a:t>Be greatly increased in a multiprocessor architecture.</a:t>
            </a:r>
            <a:endParaRPr sz="2000" b="1" dirty="0"/>
          </a:p>
          <a:p>
            <a:pPr marL="342900" lvl="0" indent="-2019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5728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E26459-4C29-46D3-8388-46B19E82F4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Google Shape;147;p8">
            <a:extLst>
              <a:ext uri="{FF2B5EF4-FFF2-40B4-BE49-F238E27FC236}">
                <a16:creationId xmlns:a16="http://schemas.microsoft.com/office/drawing/2014/main" id="{6F8EA594-D8D6-41C9-9D90-3F34153AB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963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/>
              <a:t>Challenges</a:t>
            </a:r>
            <a:r>
              <a:rPr lang="en-US" sz="4800" b="1" dirty="0"/>
              <a:t> When Using Thread</a:t>
            </a:r>
            <a:endParaRPr sz="4800" dirty="0"/>
          </a:p>
        </p:txBody>
      </p:sp>
      <p:sp>
        <p:nvSpPr>
          <p:cNvPr id="6" name="Google Shape;148;p8">
            <a:extLst>
              <a:ext uri="{FF2B5EF4-FFF2-40B4-BE49-F238E27FC236}">
                <a16:creationId xmlns:a16="http://schemas.microsoft.com/office/drawing/2014/main" id="{2D1DE06E-AD0B-492A-ACA9-715AF55C3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8600" y="1722437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-US" sz="2800" b="1" dirty="0"/>
              <a:t>Because threads within the same process </a:t>
            </a:r>
            <a:r>
              <a:rPr lang="en-US" sz="2800" b="1" i="1" dirty="0">
                <a:solidFill>
                  <a:srgbClr val="3333CC"/>
                </a:solidFill>
              </a:rPr>
              <a:t>share resources</a:t>
            </a:r>
            <a:r>
              <a:rPr lang="en-US" sz="2800" b="1" dirty="0"/>
              <a:t>:</a:t>
            </a:r>
            <a:endParaRPr sz="2400" dirty="0"/>
          </a:p>
          <a:p>
            <a:pPr marL="742950" lvl="1" indent="-28575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800" dirty="0"/>
              <a:t>Changes mode by one thread to shared system resources will be seen by all other threads. </a:t>
            </a:r>
            <a:endParaRPr sz="2000" dirty="0"/>
          </a:p>
          <a:p>
            <a:pPr marL="742950" lvl="1" indent="-28575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lang="en-US" sz="2800" dirty="0"/>
              <a:t>Reading and writing to </a:t>
            </a:r>
            <a:r>
              <a:rPr lang="en-US" sz="2800" i="1" dirty="0"/>
              <a:t>the same memory locations</a:t>
            </a:r>
            <a:r>
              <a:rPr lang="en-US" sz="2800" dirty="0"/>
              <a:t> at </a:t>
            </a:r>
            <a:r>
              <a:rPr lang="en-US" sz="2800" i="1" dirty="0"/>
              <a:t>the same time</a:t>
            </a:r>
            <a:r>
              <a:rPr lang="en-US" sz="2800" dirty="0"/>
              <a:t> by two different thread is possible</a:t>
            </a:r>
            <a:endParaRPr sz="2000" dirty="0"/>
          </a:p>
          <a:p>
            <a:pPr marL="1143000" lvl="2" indent="-228600" rtl="0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Char char="•"/>
            </a:pPr>
            <a:r>
              <a:rPr lang="en-US" sz="2400" i="1" dirty="0">
                <a:solidFill>
                  <a:srgbClr val="FF0000"/>
                </a:solidFill>
              </a:rPr>
              <a:t>Race condition</a:t>
            </a:r>
            <a:endParaRPr sz="1800" dirty="0"/>
          </a:p>
          <a:p>
            <a:pPr marL="1143000" lvl="2" indent="-228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400" dirty="0"/>
              <a:t>Therefore, thread needs explicit </a:t>
            </a:r>
            <a:r>
              <a:rPr lang="en-US" sz="2400" b="1" i="1" dirty="0">
                <a:solidFill>
                  <a:srgbClr val="FF0000"/>
                </a:solidFill>
              </a:rPr>
              <a:t>synchronization</a:t>
            </a:r>
            <a:r>
              <a:rPr lang="en-US" sz="2400" dirty="0"/>
              <a:t> by the programmer</a:t>
            </a:r>
            <a:r>
              <a:rPr lang="en-US" sz="2000" dirty="0"/>
              <a:t>.</a:t>
            </a:r>
            <a:endParaRPr dirty="0"/>
          </a:p>
          <a:p>
            <a:pPr marL="742950" lvl="1" indent="-1587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endParaRPr sz="2400" dirty="0"/>
          </a:p>
          <a:p>
            <a:pPr marL="742950" lvl="1" indent="-13335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2293108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7DF725-C784-4BF0-A08C-357763C99B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Google Shape;169;p11">
            <a:extLst>
              <a:ext uri="{FF2B5EF4-FFF2-40B4-BE49-F238E27FC236}">
                <a16:creationId xmlns:a16="http://schemas.microsoft.com/office/drawing/2014/main" id="{C26FB4A4-00ED-43B0-8278-818FEBFD2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The </a:t>
            </a:r>
            <a:r>
              <a:rPr lang="en-US" sz="4800" b="1" dirty="0" err="1"/>
              <a:t>Pthreads</a:t>
            </a:r>
            <a:r>
              <a:rPr lang="en-US" sz="4800" b="1" dirty="0"/>
              <a:t> API</a:t>
            </a:r>
            <a:endParaRPr sz="4800" dirty="0"/>
          </a:p>
        </p:txBody>
      </p:sp>
      <p:sp>
        <p:nvSpPr>
          <p:cNvPr id="6" name="Google Shape;170;p11">
            <a:extLst>
              <a:ext uri="{FF2B5EF4-FFF2-40B4-BE49-F238E27FC236}">
                <a16:creationId xmlns:a16="http://schemas.microsoft.com/office/drawing/2014/main" id="{FF698E6E-75BB-47A5-846D-AD3AA0A23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417638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/>
              <a:t>There is a whole set of library calls associated with threads, most of whose names start with </a:t>
            </a:r>
            <a:r>
              <a:rPr lang="en-US" sz="240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pthread</a:t>
            </a:r>
            <a:r>
              <a:rPr lang="en-US" sz="24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_</a:t>
            </a:r>
            <a:r>
              <a:rPr lang="en-US" sz="2400" dirty="0"/>
              <a:t>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/>
              <a:t>To use these library calls, we must include the file </a:t>
            </a:r>
            <a:r>
              <a:rPr lang="en-US" sz="240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pthread.h</a:t>
            </a:r>
            <a:r>
              <a:rPr lang="en-US" sz="2400" dirty="0"/>
              <a:t>, and link with the </a:t>
            </a:r>
            <a:r>
              <a:rPr lang="en-US" sz="2400" dirty="0" err="1"/>
              <a:t>pthread</a:t>
            </a:r>
            <a:r>
              <a:rPr lang="en-US" sz="2400" dirty="0"/>
              <a:t> library using </a:t>
            </a:r>
            <a:r>
              <a:rPr lang="en-US" sz="2400" dirty="0">
                <a:solidFill>
                  <a:srgbClr val="FF0000"/>
                </a:solidFill>
              </a:rPr>
              <a:t>-</a:t>
            </a:r>
            <a:r>
              <a:rPr lang="en-US" sz="240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pthread</a:t>
            </a:r>
            <a:r>
              <a:rPr lang="en-US" sz="2400" dirty="0"/>
              <a:t>.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b="1" dirty="0"/>
          </a:p>
        </p:txBody>
      </p:sp>
      <p:pic>
        <p:nvPicPr>
          <p:cNvPr id="7" name="Google Shape;171;p11">
            <a:extLst>
              <a:ext uri="{FF2B5EF4-FFF2-40B4-BE49-F238E27FC236}">
                <a16:creationId xmlns:a16="http://schemas.microsoft.com/office/drawing/2014/main" id="{3CC91253-0E82-4B83-8D68-FC9694C2E7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947" y="3305175"/>
            <a:ext cx="7134105" cy="3171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876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57200" y="1423195"/>
            <a:ext cx="8229600" cy="13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</a:rPr>
              <a:t>Thread Overview     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n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200" dirty="0"/>
              <a:t>     </a:t>
            </a:r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DB2283-F749-44B7-B8F8-4C16BD781969}"/>
              </a:ext>
            </a:extLst>
          </p:cNvPr>
          <p:cNvSpPr txBox="1"/>
          <p:nvPr/>
        </p:nvSpPr>
        <p:spPr>
          <a:xfrm>
            <a:off x="0" y="444955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   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EA7F18-6A9E-442F-8C7B-9D7029733B20}"/>
              </a:ext>
            </a:extLst>
          </p:cNvPr>
          <p:cNvSpPr txBox="1"/>
          <p:nvPr/>
        </p:nvSpPr>
        <p:spPr>
          <a:xfrm>
            <a:off x="959224" y="385022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/>
                </a:solidFill>
              </a:rPr>
              <a:t>- Join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52E92B4-D642-45C4-A6A5-371AD9758DC8}"/>
              </a:ext>
            </a:extLst>
          </p:cNvPr>
          <p:cNvSpPr txBox="1"/>
          <p:nvPr/>
        </p:nvSpPr>
        <p:spPr>
          <a:xfrm>
            <a:off x="869577" y="33636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tx1"/>
                </a:solidFill>
              </a:rPr>
              <a:t> - </a:t>
            </a:r>
            <a:r>
              <a:rPr lang="en-US" altLang="zh-TW" sz="2200" dirty="0">
                <a:solidFill>
                  <a:schemeClr val="tx1"/>
                </a:solidFill>
              </a:rPr>
              <a:t>Exit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A3D628-41A5-459C-A68E-BDDA4E2D673E}"/>
              </a:ext>
            </a:extLst>
          </p:cNvPr>
          <p:cNvSpPr txBox="1"/>
          <p:nvPr/>
        </p:nvSpPr>
        <p:spPr>
          <a:xfrm>
            <a:off x="959224" y="295850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/>
                </a:solidFill>
              </a:rPr>
              <a:t>- Creating Threads</a:t>
            </a:r>
            <a:endParaRPr lang="zh-TW" altLang="en-US" sz="2200" dirty="0">
              <a:solidFill>
                <a:schemeClr val="tx1"/>
              </a:solidFill>
            </a:endParaRPr>
          </a:p>
        </p:txBody>
      </p:sp>
      <p:sp>
        <p:nvSpPr>
          <p:cNvPr id="11" name="Google Shape;119;p2">
            <a:extLst>
              <a:ext uri="{FF2B5EF4-FFF2-40B4-BE49-F238E27FC236}">
                <a16:creationId xmlns:a16="http://schemas.microsoft.com/office/drawing/2014/main" id="{5563724A-D4A4-46D0-AADD-EAE2E10F0D5C}"/>
              </a:ext>
            </a:extLst>
          </p:cNvPr>
          <p:cNvSpPr txBox="1">
            <a:spLocks/>
          </p:cNvSpPr>
          <p:nvPr/>
        </p:nvSpPr>
        <p:spPr>
          <a:xfrm>
            <a:off x="457200" y="2341874"/>
            <a:ext cx="8229600" cy="64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</a:rPr>
              <a:t>POSIX Thread</a:t>
            </a: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</a:rPr>
              <a:t>      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ts val="1800"/>
              <a:buFont typeface="Noto Sans Symbols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2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714524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74F045-85A5-49C4-8955-CAEEAB2CE8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Google Shape;178;p12">
            <a:extLst>
              <a:ext uri="{FF2B5EF4-FFF2-40B4-BE49-F238E27FC236}">
                <a16:creationId xmlns:a16="http://schemas.microsoft.com/office/drawing/2014/main" id="{3066E539-943A-4017-98B9-3A899EB7A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9117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Referencing Threads by ID</a:t>
            </a:r>
            <a:endParaRPr sz="4800" dirty="0"/>
          </a:p>
        </p:txBody>
      </p:sp>
      <p:sp>
        <p:nvSpPr>
          <p:cNvPr id="6" name="Google Shape;179;p12">
            <a:extLst>
              <a:ext uri="{FF2B5EF4-FFF2-40B4-BE49-F238E27FC236}">
                <a16:creationId xmlns:a16="http://schemas.microsoft.com/office/drawing/2014/main" id="{506FC956-639E-4829-8BCF-38F53FD42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 dirty="0" err="1">
                <a:latin typeface="Courier New"/>
                <a:ea typeface="Courier New"/>
                <a:cs typeface="Courier New"/>
                <a:sym typeface="Courier New"/>
              </a:rPr>
              <a:t>pthread_self</a:t>
            </a:r>
            <a:r>
              <a:rPr lang="en-US" sz="2800" dirty="0"/>
              <a:t>: A thread can find out its ID.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 dirty="0" err="1">
                <a:latin typeface="Courier New"/>
                <a:ea typeface="Courier New"/>
                <a:cs typeface="Courier New"/>
                <a:sym typeface="Courier New"/>
              </a:rPr>
              <a:t>pthread_equal</a:t>
            </a:r>
            <a:r>
              <a:rPr lang="en-US" sz="2800" dirty="0"/>
              <a:t>: To compare thread IDs for equality.</a:t>
            </a:r>
            <a:endParaRPr dirty="0"/>
          </a:p>
        </p:txBody>
      </p:sp>
      <p:sp>
        <p:nvSpPr>
          <p:cNvPr id="7" name="Google Shape;180;p12">
            <a:extLst>
              <a:ext uri="{FF2B5EF4-FFF2-40B4-BE49-F238E27FC236}">
                <a16:creationId xmlns:a16="http://schemas.microsoft.com/office/drawing/2014/main" id="{1566C415-FD46-4458-BAD5-58FF2FBB780C}"/>
              </a:ext>
            </a:extLst>
          </p:cNvPr>
          <p:cNvSpPr/>
          <p:nvPr/>
        </p:nvSpPr>
        <p:spPr>
          <a:xfrm>
            <a:off x="1295400" y="2209800"/>
            <a:ext cx="6858000" cy="1295400"/>
          </a:xfrm>
          <a:prstGeom prst="roundRect">
            <a:avLst>
              <a:gd name="adj" fmla="val 16667"/>
            </a:avLst>
          </a:prstGeom>
          <a:solidFill>
            <a:srgbClr val="FF0000">
              <a:alpha val="14901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#include&lt;pthread.h&gt;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pthread_self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1;p12">
            <a:extLst>
              <a:ext uri="{FF2B5EF4-FFF2-40B4-BE49-F238E27FC236}">
                <a16:creationId xmlns:a16="http://schemas.microsoft.com/office/drawing/2014/main" id="{30EDEDCB-9206-42D8-BD15-DFE1F70C3894}"/>
              </a:ext>
            </a:extLst>
          </p:cNvPr>
          <p:cNvSpPr/>
          <p:nvPr/>
        </p:nvSpPr>
        <p:spPr>
          <a:xfrm>
            <a:off x="1295400" y="4267200"/>
            <a:ext cx="6858000" cy="2286000"/>
          </a:xfrm>
          <a:prstGeom prst="roundRect">
            <a:avLst>
              <a:gd name="adj" fmla="val 16667"/>
            </a:avLst>
          </a:prstGeom>
          <a:solidFill>
            <a:srgbClr val="FF0000">
              <a:alpha val="14901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#include&lt;pthread.h&gt;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pthread_equal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,pthread_t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/*Return a nonzero value if t1 equals t2,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0 if the thread IDs are not equal*/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8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5976C5-2C39-4A5A-A194-D3AC800CA3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Google Shape;188;p13">
            <a:extLst>
              <a:ext uri="{FF2B5EF4-FFF2-40B4-BE49-F238E27FC236}">
                <a16:creationId xmlns:a16="http://schemas.microsoft.com/office/drawing/2014/main" id="{6E80C515-1700-4C81-B123-74FD9C6CC8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Creating a Thread</a:t>
            </a:r>
            <a:endParaRPr sz="4800" dirty="0"/>
          </a:p>
        </p:txBody>
      </p:sp>
      <p:sp>
        <p:nvSpPr>
          <p:cNvPr id="6" name="Google Shape;190;p13">
            <a:extLst>
              <a:ext uri="{FF2B5EF4-FFF2-40B4-BE49-F238E27FC236}">
                <a16:creationId xmlns:a16="http://schemas.microsoft.com/office/drawing/2014/main" id="{23E3255B-7B09-4643-8CE0-4D0FAE218F73}"/>
              </a:ext>
            </a:extLst>
          </p:cNvPr>
          <p:cNvSpPr/>
          <p:nvPr/>
        </p:nvSpPr>
        <p:spPr>
          <a:xfrm>
            <a:off x="990600" y="1905000"/>
            <a:ext cx="7315200" cy="2286000"/>
          </a:xfrm>
          <a:prstGeom prst="roundRect">
            <a:avLst>
              <a:gd name="adj" fmla="val 16667"/>
            </a:avLst>
          </a:prstGeom>
          <a:solidFill>
            <a:srgbClr val="FF0000">
              <a:alpha val="14901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#include&lt;pthread.h&gt;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pthread_create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*thread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const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pthread_att_t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*(*</a:t>
            </a:r>
            <a:r>
              <a:rPr lang="en-US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start_routine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)(void *)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void </a:t>
            </a:r>
            <a:r>
              <a:rPr lang="en-US" sz="2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/*Return 0 if successful*/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89;p13">
            <a:extLst>
              <a:ext uri="{FF2B5EF4-FFF2-40B4-BE49-F238E27FC236}">
                <a16:creationId xmlns:a16="http://schemas.microsoft.com/office/drawing/2014/main" id="{0BE274BB-87F3-4B00-B6FB-F0A68351A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 dirty="0" err="1"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lang="en-US" sz="2800" dirty="0"/>
              <a:t>: creates a thread.</a:t>
            </a:r>
            <a:endParaRPr dirty="0"/>
          </a:p>
        </p:txBody>
      </p:sp>
      <p:sp>
        <p:nvSpPr>
          <p:cNvPr id="8" name="Google Shape;191;p13">
            <a:extLst>
              <a:ext uri="{FF2B5EF4-FFF2-40B4-BE49-F238E27FC236}">
                <a16:creationId xmlns:a16="http://schemas.microsoft.com/office/drawing/2014/main" id="{97A9E412-3AF1-4B05-9551-61F73944107F}"/>
              </a:ext>
            </a:extLst>
          </p:cNvPr>
          <p:cNvSpPr txBox="1"/>
          <p:nvPr/>
        </p:nvSpPr>
        <p:spPr>
          <a:xfrm>
            <a:off x="838200" y="4286250"/>
            <a:ext cx="762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thread: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 to the ID of the newly created thread.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attribute object that encapsulates the attributes of a thread.</a:t>
            </a:r>
            <a:b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for the default values.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start_routine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 routine that the thread calls when it begins execution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argument that is to be passed to </a:t>
            </a:r>
            <a:r>
              <a:rPr lang="en-US" sz="18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start_routine</a:t>
            </a:r>
            <a:r>
              <a:rPr lang="en-US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NULL may be used if no argument is to be passed.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66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9F97CF-9CE0-4712-8288-5D71E92119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5" name="Google Shape;198;p14">
            <a:extLst>
              <a:ext uri="{FF2B5EF4-FFF2-40B4-BE49-F238E27FC236}">
                <a16:creationId xmlns:a16="http://schemas.microsoft.com/office/drawing/2014/main" id="{E7C78454-C54B-411A-B9CC-AB9AC6A53A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6567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Exiting</a:t>
            </a:r>
            <a:endParaRPr sz="4800" dirty="0"/>
          </a:p>
        </p:txBody>
      </p:sp>
      <p:sp>
        <p:nvSpPr>
          <p:cNvPr id="6" name="Google Shape;199;p14">
            <a:extLst>
              <a:ext uri="{FF2B5EF4-FFF2-40B4-BE49-F238E27FC236}">
                <a16:creationId xmlns:a16="http://schemas.microsoft.com/office/drawing/2014/main" id="{03A4D188-E90E-4990-9979-1FF3721E2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dirty="0"/>
              <a:t>If the main thread has no work to do after creating other threads, it should either block until all threads have completed or call </a:t>
            </a:r>
            <a:r>
              <a:rPr lang="en-US" sz="2400" dirty="0" err="1">
                <a:latin typeface="Courier New"/>
                <a:ea typeface="Courier New"/>
                <a:cs typeface="Courier New"/>
                <a:sym typeface="Courier New"/>
              </a:rPr>
              <a:t>pthread_exit</a:t>
            </a:r>
            <a:r>
              <a:rPr lang="en-US" sz="2400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400" dirty="0"/>
              <a:t>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 b="1" dirty="0"/>
          </a:p>
        </p:txBody>
      </p:sp>
      <p:sp>
        <p:nvSpPr>
          <p:cNvPr id="7" name="Google Shape;200;p14">
            <a:extLst>
              <a:ext uri="{FF2B5EF4-FFF2-40B4-BE49-F238E27FC236}">
                <a16:creationId xmlns:a16="http://schemas.microsoft.com/office/drawing/2014/main" id="{F0420F01-1471-4BF1-BCA3-044F41CCFB1C}"/>
              </a:ext>
            </a:extLst>
          </p:cNvPr>
          <p:cNvSpPr/>
          <p:nvPr/>
        </p:nvSpPr>
        <p:spPr>
          <a:xfrm>
            <a:off x="1143000" y="3215481"/>
            <a:ext cx="6858000" cy="1295400"/>
          </a:xfrm>
          <a:prstGeom prst="roundRect">
            <a:avLst>
              <a:gd name="adj" fmla="val 16667"/>
            </a:avLst>
          </a:prstGeom>
          <a:solidFill>
            <a:srgbClr val="FF0000">
              <a:alpha val="14901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#include&lt;pthread.h&gt;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pthread_exit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(void 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value_ptr</a:t>
            </a: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301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AEE6F0-4A97-414A-A25C-FCFDC6FC92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Google Shape;207;p15">
            <a:extLst>
              <a:ext uri="{FF2B5EF4-FFF2-40B4-BE49-F238E27FC236}">
                <a16:creationId xmlns:a16="http://schemas.microsoft.com/office/drawing/2014/main" id="{9009716E-9199-499E-8F1D-461123DED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/>
              <a:t>Joining</a:t>
            </a:r>
            <a:endParaRPr sz="4800" dirty="0"/>
          </a:p>
        </p:txBody>
      </p:sp>
      <p:sp>
        <p:nvSpPr>
          <p:cNvPr id="6" name="Google Shape;208;p15">
            <a:extLst>
              <a:ext uri="{FF2B5EF4-FFF2-40B4-BE49-F238E27FC236}">
                <a16:creationId xmlns:a16="http://schemas.microsoft.com/office/drawing/2014/main" id="{E2D63D4C-A001-42E0-AB00-BC172CF6F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urier New"/>
              <a:buChar char="•"/>
            </a:pPr>
            <a:r>
              <a:rPr lang="en-US" sz="2800" b="1"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lang="en-US" sz="2800"/>
              <a:t>: </a:t>
            </a:r>
            <a:r>
              <a:rPr lang="en-US" sz="2400"/>
              <a:t>causes the caller to wait for the specified thread to exit.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endParaRPr sz="24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endParaRPr sz="2800"/>
          </a:p>
        </p:txBody>
      </p:sp>
      <p:sp>
        <p:nvSpPr>
          <p:cNvPr id="7" name="Google Shape;209;p15">
            <a:extLst>
              <a:ext uri="{FF2B5EF4-FFF2-40B4-BE49-F238E27FC236}">
                <a16:creationId xmlns:a16="http://schemas.microsoft.com/office/drawing/2014/main" id="{DFF2D6D0-E4B3-47ED-A0E6-B88EDE35CC22}"/>
              </a:ext>
            </a:extLst>
          </p:cNvPr>
          <p:cNvSpPr/>
          <p:nvPr/>
        </p:nvSpPr>
        <p:spPr>
          <a:xfrm>
            <a:off x="1295400" y="2438400"/>
            <a:ext cx="6781800" cy="1905000"/>
          </a:xfrm>
          <a:prstGeom prst="roundRect">
            <a:avLst>
              <a:gd name="adj" fmla="val 16667"/>
            </a:avLst>
          </a:prstGeom>
          <a:solidFill>
            <a:srgbClr val="FF0000">
              <a:alpha val="14901"/>
            </a:srgbClr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#include&lt;pthread.h&gt;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pthread_t pthread_join(pthread_t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void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**value_ptr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/*Return 0 if successful*/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210;p15">
            <a:extLst>
              <a:ext uri="{FF2B5EF4-FFF2-40B4-BE49-F238E27FC236}">
                <a16:creationId xmlns:a16="http://schemas.microsoft.com/office/drawing/2014/main" id="{B7F22E85-A50E-4AA1-9513-D374484B6930}"/>
              </a:ext>
            </a:extLst>
          </p:cNvPr>
          <p:cNvSpPr txBox="1"/>
          <p:nvPr/>
        </p:nvSpPr>
        <p:spPr>
          <a:xfrm>
            <a:off x="914400" y="4481513"/>
            <a:ext cx="7620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 of the terminating thread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value_ptr: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Provides a location for a pointer to the return status that the target thread passes to pthread_exit. The caller does not retrieve the target thread return status if NULL.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592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200" b="1" dirty="0"/>
              <a:t>Example: Creating Thread with NULL Parameters</a:t>
            </a:r>
            <a:endParaRPr kumimoji="1" lang="zh-TW" altLang="en-US" sz="32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5D4651-1F4E-C747-8E3C-DDC84376E7F4}"/>
              </a:ext>
            </a:extLst>
          </p:cNvPr>
          <p:cNvSpPr txBox="1"/>
          <p:nvPr/>
        </p:nvSpPr>
        <p:spPr>
          <a:xfrm>
            <a:off x="457200" y="1682146"/>
            <a:ext cx="8507288" cy="8771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550" dirty="0"/>
              <a:t>int </a:t>
            </a:r>
            <a:r>
              <a:rPr lang="en-US" altLang="zh-TW" sz="2550" dirty="0" err="1"/>
              <a:t>pthread_create</a:t>
            </a:r>
            <a:r>
              <a:rPr lang="en-US" altLang="zh-TW" sz="2550" dirty="0"/>
              <a:t>(</a:t>
            </a:r>
            <a:r>
              <a:rPr lang="en-US" altLang="zh-TW" sz="2550" dirty="0" err="1"/>
              <a:t>pthread_t</a:t>
            </a:r>
            <a:r>
              <a:rPr lang="en-US" altLang="zh-TW" sz="2550" dirty="0"/>
              <a:t> *</a:t>
            </a:r>
            <a:r>
              <a:rPr lang="en-US" altLang="zh-TW" sz="2550" i="1" dirty="0"/>
              <a:t>thread</a:t>
            </a:r>
            <a:r>
              <a:rPr lang="en-US" altLang="zh-TW" sz="2550" dirty="0"/>
              <a:t>, const </a:t>
            </a:r>
            <a:r>
              <a:rPr lang="en-US" altLang="zh-TW" sz="2550" dirty="0" err="1"/>
              <a:t>pthread_attr_t</a:t>
            </a:r>
            <a:r>
              <a:rPr lang="en-US" altLang="zh-TW" sz="2550" dirty="0"/>
              <a:t> *</a:t>
            </a:r>
            <a:r>
              <a:rPr lang="en-US" altLang="zh-TW" sz="2550" i="1" dirty="0" err="1"/>
              <a:t>attr</a:t>
            </a:r>
            <a:r>
              <a:rPr lang="en-US" altLang="zh-TW" sz="2550" dirty="0"/>
              <a:t>, void *(*</a:t>
            </a:r>
            <a:r>
              <a:rPr lang="en-US" altLang="zh-TW" sz="2550" i="1" dirty="0" err="1"/>
              <a:t>start_routine</a:t>
            </a:r>
            <a:r>
              <a:rPr lang="en-US" altLang="zh-TW" sz="2550" dirty="0"/>
              <a:t>) (void *), void *</a:t>
            </a:r>
            <a:r>
              <a:rPr lang="en-US" altLang="zh-TW" sz="2550" i="1" dirty="0" err="1"/>
              <a:t>arg</a:t>
            </a:r>
            <a:r>
              <a:rPr lang="en-US" altLang="zh-TW" sz="2550" dirty="0"/>
              <a:t>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7EC79C-E2EE-D848-B74A-47D9549EB470}"/>
              </a:ext>
            </a:extLst>
          </p:cNvPr>
          <p:cNvSpPr txBox="1"/>
          <p:nvPr/>
        </p:nvSpPr>
        <p:spPr>
          <a:xfrm>
            <a:off x="457200" y="2694285"/>
            <a:ext cx="85072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 err="1"/>
              <a:t>pthread_create</a:t>
            </a:r>
            <a:r>
              <a:rPr lang="en-US" altLang="zh-TW" sz="2800" dirty="0"/>
              <a:t>(&amp;thread, NULL, &amp;run,(void*)&amp;</a:t>
            </a:r>
            <a:r>
              <a:rPr lang="en-US" altLang="zh-TW" sz="2800" dirty="0" err="1"/>
              <a:t>tmp</a:t>
            </a:r>
            <a:r>
              <a:rPr lang="en-US" altLang="zh-TW" sz="2800" dirty="0"/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2B5146-B952-834D-B526-01CAE747AEC9}"/>
              </a:ext>
            </a:extLst>
          </p:cNvPr>
          <p:cNvSpPr txBox="1"/>
          <p:nvPr/>
        </p:nvSpPr>
        <p:spPr>
          <a:xfrm>
            <a:off x="457200" y="3391408"/>
            <a:ext cx="8507288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void* run(void *</a:t>
            </a:r>
            <a:r>
              <a:rPr lang="en-US" altLang="zh-TW" sz="2800" dirty="0" err="1"/>
              <a:t>argu</a:t>
            </a:r>
            <a:r>
              <a:rPr lang="en-US" altLang="zh-TW" sz="2800" dirty="0"/>
              <a:t>){</a:t>
            </a:r>
          </a:p>
          <a:p>
            <a:r>
              <a:rPr lang="en-US" altLang="zh-TW" sz="2800" dirty="0"/>
              <a:t>	int n=*(int*)(</a:t>
            </a:r>
            <a:r>
              <a:rPr lang="en-US" altLang="zh-TW" sz="2800" dirty="0" err="1"/>
              <a:t>argu</a:t>
            </a:r>
            <a:r>
              <a:rPr lang="en-US" altLang="zh-TW" sz="2800" dirty="0"/>
              <a:t>);</a:t>
            </a:r>
          </a:p>
          <a:p>
            <a:r>
              <a:rPr lang="en-US" altLang="zh-TW" sz="2800" dirty="0"/>
              <a:t>	print(”%</a:t>
            </a:r>
            <a:r>
              <a:rPr lang="en-US" altLang="zh-TW" sz="2800" dirty="0" err="1"/>
              <a:t>d”,n</a:t>
            </a:r>
            <a:r>
              <a:rPr lang="en-US" altLang="zh-TW" sz="2800" dirty="0"/>
              <a:t>);</a:t>
            </a:r>
          </a:p>
          <a:p>
            <a:r>
              <a:rPr lang="en-US" altLang="zh-TW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31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896526-F522-45A4-BEB5-158E5993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47" y="1317523"/>
            <a:ext cx="6903872" cy="515947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/>
              <a:t>Example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2814F6-1E16-4B4E-A424-B3A458DFC447}"/>
              </a:ext>
            </a:extLst>
          </p:cNvPr>
          <p:cNvSpPr txBox="1"/>
          <p:nvPr/>
        </p:nvSpPr>
        <p:spPr>
          <a:xfrm>
            <a:off x="1460182" y="5249124"/>
            <a:ext cx="5075089" cy="291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0139532-B9F9-3B4E-A5DB-967D4E51D74E}"/>
              </a:ext>
            </a:extLst>
          </p:cNvPr>
          <p:cNvSpPr txBox="1"/>
          <p:nvPr/>
        </p:nvSpPr>
        <p:spPr>
          <a:xfrm>
            <a:off x="1460182" y="5728447"/>
            <a:ext cx="5075089" cy="291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D0AB993-8BB5-B240-BCBF-B66F36E75C5C}"/>
              </a:ext>
            </a:extLst>
          </p:cNvPr>
          <p:cNvSpPr txBox="1"/>
          <p:nvPr/>
        </p:nvSpPr>
        <p:spPr>
          <a:xfrm>
            <a:off x="1460182" y="3823504"/>
            <a:ext cx="507508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867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/>
              <a:t>Example(</a:t>
            </a:r>
            <a:r>
              <a:rPr lang="en-US" altLang="zh-TW" sz="4400" dirty="0"/>
              <a:t>cont.</a:t>
            </a:r>
            <a:r>
              <a:rPr kumimoji="1" lang="en-US" altLang="zh-TW" sz="4400" dirty="0"/>
              <a:t>)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33BF4A4-D32D-406B-9A52-A9EF08303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51" y="3023147"/>
            <a:ext cx="6039098" cy="81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03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3200" b="1" dirty="0"/>
              <a:t>Example: Pass Argument During Thread Creation</a:t>
            </a:r>
            <a:endParaRPr kumimoji="1" lang="zh-TW" altLang="en-US" sz="32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45D4651-1F4E-C747-8E3C-DDC84376E7F4}"/>
              </a:ext>
            </a:extLst>
          </p:cNvPr>
          <p:cNvSpPr txBox="1"/>
          <p:nvPr/>
        </p:nvSpPr>
        <p:spPr>
          <a:xfrm>
            <a:off x="457200" y="1682146"/>
            <a:ext cx="8507288" cy="8771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550" dirty="0"/>
              <a:t>int </a:t>
            </a:r>
            <a:r>
              <a:rPr lang="en-US" altLang="zh-TW" sz="2550" dirty="0" err="1"/>
              <a:t>pthread_create</a:t>
            </a:r>
            <a:r>
              <a:rPr lang="en-US" altLang="zh-TW" sz="2550" dirty="0"/>
              <a:t>(</a:t>
            </a:r>
            <a:r>
              <a:rPr lang="en-US" altLang="zh-TW" sz="2550" dirty="0" err="1"/>
              <a:t>pthread_t</a:t>
            </a:r>
            <a:r>
              <a:rPr lang="en-US" altLang="zh-TW" sz="2550" dirty="0"/>
              <a:t> *</a:t>
            </a:r>
            <a:r>
              <a:rPr lang="en-US" altLang="zh-TW" sz="2550" i="1" dirty="0"/>
              <a:t>thread</a:t>
            </a:r>
            <a:r>
              <a:rPr lang="en-US" altLang="zh-TW" sz="2550" dirty="0"/>
              <a:t>, const </a:t>
            </a:r>
            <a:r>
              <a:rPr lang="en-US" altLang="zh-TW" sz="2550" dirty="0" err="1"/>
              <a:t>pthread_attr_t</a:t>
            </a:r>
            <a:r>
              <a:rPr lang="en-US" altLang="zh-TW" sz="2550" dirty="0"/>
              <a:t> *</a:t>
            </a:r>
            <a:r>
              <a:rPr lang="en-US" altLang="zh-TW" sz="2550" i="1" dirty="0" err="1"/>
              <a:t>attr</a:t>
            </a:r>
            <a:r>
              <a:rPr lang="en-US" altLang="zh-TW" sz="2550" dirty="0"/>
              <a:t>, void *(*</a:t>
            </a:r>
            <a:r>
              <a:rPr lang="en-US" altLang="zh-TW" sz="2550" i="1" dirty="0" err="1"/>
              <a:t>start_routine</a:t>
            </a:r>
            <a:r>
              <a:rPr lang="en-US" altLang="zh-TW" sz="2550" dirty="0"/>
              <a:t>) (void *), void *</a:t>
            </a:r>
            <a:r>
              <a:rPr lang="en-US" altLang="zh-TW" sz="2550" i="1" dirty="0" err="1"/>
              <a:t>arg</a:t>
            </a:r>
            <a:r>
              <a:rPr lang="en-US" altLang="zh-TW" sz="2550" dirty="0"/>
              <a:t>);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7EC79C-E2EE-D848-B74A-47D9549EB470}"/>
              </a:ext>
            </a:extLst>
          </p:cNvPr>
          <p:cNvSpPr txBox="1"/>
          <p:nvPr/>
        </p:nvSpPr>
        <p:spPr>
          <a:xfrm>
            <a:off x="457200" y="2694285"/>
            <a:ext cx="850728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 err="1"/>
              <a:t>pthread_create</a:t>
            </a:r>
            <a:r>
              <a:rPr lang="en-US" altLang="zh-TW" sz="2800" dirty="0"/>
              <a:t>(&amp;thread, NULL, &amp;run,(void*)&amp;</a:t>
            </a:r>
            <a:r>
              <a:rPr lang="en-US" altLang="zh-TW" sz="2800" dirty="0" err="1"/>
              <a:t>tmp</a:t>
            </a:r>
            <a:r>
              <a:rPr lang="en-US" altLang="zh-TW" sz="2800" dirty="0"/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B2B5146-B952-834D-B526-01CAE747AEC9}"/>
              </a:ext>
            </a:extLst>
          </p:cNvPr>
          <p:cNvSpPr txBox="1"/>
          <p:nvPr/>
        </p:nvSpPr>
        <p:spPr>
          <a:xfrm>
            <a:off x="457200" y="3391408"/>
            <a:ext cx="8507288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/>
              <a:t>void* run(void *</a:t>
            </a:r>
            <a:r>
              <a:rPr lang="en-US" altLang="zh-TW" sz="2800" dirty="0" err="1"/>
              <a:t>argu</a:t>
            </a:r>
            <a:r>
              <a:rPr lang="en-US" altLang="zh-TW" sz="2800" dirty="0"/>
              <a:t>){</a:t>
            </a:r>
          </a:p>
          <a:p>
            <a:r>
              <a:rPr lang="en-US" altLang="zh-TW" sz="2800" dirty="0"/>
              <a:t>	int n=*(int*)(</a:t>
            </a:r>
            <a:r>
              <a:rPr lang="en-US" altLang="zh-TW" sz="2800" dirty="0" err="1"/>
              <a:t>argu</a:t>
            </a:r>
            <a:r>
              <a:rPr lang="en-US" altLang="zh-TW" sz="2800" dirty="0"/>
              <a:t>);</a:t>
            </a:r>
          </a:p>
          <a:p>
            <a:r>
              <a:rPr lang="en-US" altLang="zh-TW" sz="2800" dirty="0"/>
              <a:t>	print(”%</a:t>
            </a:r>
            <a:r>
              <a:rPr lang="en-US" altLang="zh-TW" sz="2800" dirty="0" err="1"/>
              <a:t>d”,n</a:t>
            </a:r>
            <a:r>
              <a:rPr lang="en-US" altLang="zh-TW" sz="2800" dirty="0"/>
              <a:t>);</a:t>
            </a:r>
          </a:p>
          <a:p>
            <a:r>
              <a:rPr lang="en-US" altLang="zh-TW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79424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/>
              <a:t>Example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725FE7-17B4-4A8A-AE06-FB5A8AB3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25" y="1507323"/>
            <a:ext cx="6114749" cy="416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09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400" dirty="0"/>
              <a:t>Example(cont.)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F1C5D02-D7EE-4DB9-8566-89D37CC5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69" y="3088154"/>
            <a:ext cx="6639662" cy="55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66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Outline</a:t>
            </a:r>
            <a:endParaRPr sz="4400" dirty="0"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457200" y="1423195"/>
            <a:ext cx="8229600" cy="133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</a:rPr>
              <a:t>Thread Overview     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n"/>
            </a:pPr>
            <a:endParaRPr 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200" dirty="0"/>
              <a:t>     </a:t>
            </a:r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DB2283-F749-44B7-B8F8-4C16BD781969}"/>
              </a:ext>
            </a:extLst>
          </p:cNvPr>
          <p:cNvSpPr txBox="1"/>
          <p:nvPr/>
        </p:nvSpPr>
        <p:spPr>
          <a:xfrm>
            <a:off x="0" y="444955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    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AEA7F18-6A9E-442F-8C7B-9D7029733B20}"/>
              </a:ext>
            </a:extLst>
          </p:cNvPr>
          <p:cNvSpPr txBox="1"/>
          <p:nvPr/>
        </p:nvSpPr>
        <p:spPr>
          <a:xfrm>
            <a:off x="959224" y="3850222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bg1">
                    <a:lumMod val="75000"/>
                  </a:schemeClr>
                </a:solidFill>
              </a:rPr>
              <a:t>- Join threads</a:t>
            </a:r>
            <a:endParaRPr lang="zh-TW" altLang="en-US" sz="2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52E92B4-D642-45C4-A6A5-371AD9758DC8}"/>
              </a:ext>
            </a:extLst>
          </p:cNvPr>
          <p:cNvSpPr txBox="1"/>
          <p:nvPr/>
        </p:nvSpPr>
        <p:spPr>
          <a:xfrm>
            <a:off x="869577" y="336366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</a:rPr>
              <a:t> - </a:t>
            </a:r>
            <a:r>
              <a:rPr lang="en-US" altLang="zh-TW" sz="2200" dirty="0">
                <a:solidFill>
                  <a:schemeClr val="bg1">
                    <a:lumMod val="75000"/>
                  </a:schemeClr>
                </a:solidFill>
              </a:rPr>
              <a:t>Exit threads</a:t>
            </a:r>
            <a:endParaRPr lang="zh-TW" altLang="en-US" sz="2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5A3D628-41A5-459C-A68E-BDDA4E2D673E}"/>
              </a:ext>
            </a:extLst>
          </p:cNvPr>
          <p:cNvSpPr txBox="1"/>
          <p:nvPr/>
        </p:nvSpPr>
        <p:spPr>
          <a:xfrm>
            <a:off x="959224" y="295850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bg1">
                    <a:lumMod val="75000"/>
                  </a:schemeClr>
                </a:solidFill>
              </a:rPr>
              <a:t>- Creating Threads</a:t>
            </a:r>
            <a:endParaRPr lang="zh-TW" altLang="en-US" sz="2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Google Shape;119;p2">
            <a:extLst>
              <a:ext uri="{FF2B5EF4-FFF2-40B4-BE49-F238E27FC236}">
                <a16:creationId xmlns:a16="http://schemas.microsoft.com/office/drawing/2014/main" id="{5563724A-D4A4-46D0-AADD-EAE2E10F0D5C}"/>
              </a:ext>
            </a:extLst>
          </p:cNvPr>
          <p:cNvSpPr txBox="1">
            <a:spLocks/>
          </p:cNvSpPr>
          <p:nvPr/>
        </p:nvSpPr>
        <p:spPr>
          <a:xfrm>
            <a:off x="457200" y="2341874"/>
            <a:ext cx="8229600" cy="64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432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2894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17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Bef>
                <a:spcPts val="0"/>
              </a:spcBef>
              <a:buSzPts val="1800"/>
              <a:buFont typeface="Wingdings" panose="05000000000000000000" pitchFamily="2" charset="2"/>
              <a:buChar char="l"/>
            </a:pPr>
            <a:r>
              <a:rPr lang="en-US" altLang="zh-TW" sz="3200" b="1" dirty="0">
                <a:solidFill>
                  <a:schemeClr val="bg1">
                    <a:lumMod val="75000"/>
                  </a:schemeClr>
                </a:solidFill>
              </a:rPr>
              <a:t>POSIX Thread      </a:t>
            </a:r>
          </a:p>
          <a:p>
            <a:pPr marL="0" indent="0">
              <a:spcBef>
                <a:spcPts val="0"/>
              </a:spcBef>
              <a:buSzPts val="1800"/>
              <a:buNone/>
            </a:pP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1800"/>
              <a:buFont typeface="Noto Sans Symbols"/>
              <a:buNone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357354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8D8AC7-6EAE-4C4F-9588-9F21085DAD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Google Shape;526;p24">
            <a:extLst>
              <a:ext uri="{FF2B5EF4-FFF2-40B4-BE49-F238E27FC236}">
                <a16:creationId xmlns:a16="http://schemas.microsoft.com/office/drawing/2014/main" id="{8E852E45-ABEC-4F25-B06E-1D7125990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0293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/>
              <a:t>Homework Assignment #2</a:t>
            </a:r>
            <a:endParaRPr sz="36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F570B6C-DC6D-4FDB-AD38-144ADFD3D004}"/>
              </a:ext>
            </a:extLst>
          </p:cNvPr>
          <p:cNvSpPr txBox="1"/>
          <p:nvPr/>
        </p:nvSpPr>
        <p:spPr>
          <a:xfrm>
            <a:off x="-116541" y="1406319"/>
            <a:ext cx="812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p"/>
            </a:pPr>
            <a:r>
              <a:rPr lang="en-US" altLang="zh-TW" sz="2400" dirty="0"/>
              <a:t> Exercise – Matrix multiplication by multi-thread </a:t>
            </a:r>
            <a:endParaRPr lang="zh-TW" altLang="en-US" sz="24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1B44AAA-88EB-45E8-877C-16685B841691}"/>
              </a:ext>
            </a:extLst>
          </p:cNvPr>
          <p:cNvSpPr txBox="1"/>
          <p:nvPr/>
        </p:nvSpPr>
        <p:spPr>
          <a:xfrm>
            <a:off x="753030" y="2152099"/>
            <a:ext cx="822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Using the API we learned above mentioned.</a:t>
            </a:r>
            <a:endParaRPr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03554BC-7CC8-4FDD-A404-7890D193B6DC}"/>
              </a:ext>
            </a:extLst>
          </p:cNvPr>
          <p:cNvSpPr txBox="1"/>
          <p:nvPr/>
        </p:nvSpPr>
        <p:spPr>
          <a:xfrm>
            <a:off x="753029" y="3090296"/>
            <a:ext cx="8229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Create two </a:t>
            </a:r>
            <a:r>
              <a:rPr lang="en-US" altLang="zh-TW" sz="2400" dirty="0" err="1"/>
              <a:t>Matrices,and</a:t>
            </a:r>
            <a:r>
              <a:rPr lang="en-US" altLang="zh-TW" sz="2400" dirty="0"/>
              <a:t> the size of Matrix should be dynamic.</a:t>
            </a:r>
            <a:endParaRPr lang="zh-TW" altLang="en-US" sz="2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B9414D1-BB75-4079-A6A9-11310FC8978B}"/>
              </a:ext>
            </a:extLst>
          </p:cNvPr>
          <p:cNvSpPr txBox="1"/>
          <p:nvPr/>
        </p:nvSpPr>
        <p:spPr>
          <a:xfrm>
            <a:off x="753028" y="4302513"/>
            <a:ext cx="82296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every row </a:t>
            </a:r>
            <a:r>
              <a:rPr lang="en-US" altLang="zh-TW" sz="2400" dirty="0" err="1"/>
              <a:t>multiplication,we</a:t>
            </a:r>
            <a:r>
              <a:rPr lang="en-US" altLang="zh-TW" sz="2400" dirty="0"/>
              <a:t> need a single thread to calculate sum.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56056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52C4B6-4CC3-6D49-B82B-3664EA38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71" y="473428"/>
            <a:ext cx="8229600" cy="1211258"/>
          </a:xfrm>
        </p:spPr>
        <p:txBody>
          <a:bodyPr/>
          <a:lstStyle/>
          <a:p>
            <a:r>
              <a:rPr lang="en-US" altLang="zh-TW" sz="4000" dirty="0"/>
              <a:t>Homework2: Create Threads for Matrix Multiplication</a:t>
            </a:r>
            <a:endParaRPr kumimoji="1"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9789BF-3E09-8441-9DF2-394A2E7D4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42619"/>
            <a:ext cx="8229600" cy="2313477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TW" sz="3200" dirty="0"/>
              <a:t>Creating a number of threads to perform matrix multiplication</a:t>
            </a:r>
            <a:endParaRPr kumimoji="1" lang="zh-TW" altLang="en-US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834362-C5F9-8A42-A731-F1FBF3D89F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3860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4C1889-6CD6-3942-841B-35EE388C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639688"/>
          </a:xfrm>
        </p:spPr>
        <p:txBody>
          <a:bodyPr>
            <a:normAutofit fontScale="90000"/>
          </a:bodyPr>
          <a:lstStyle/>
          <a:p>
            <a:r>
              <a:rPr kumimoji="1" lang="en-US" altLang="zh-TW" sz="4400" dirty="0"/>
              <a:t>Requirements</a:t>
            </a:r>
            <a:endParaRPr kumimoji="1"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F679C6-36F0-B84F-89E3-FBEDA84750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C9E4E1-53EC-0044-A9D1-8F9B74074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044352"/>
            <a:ext cx="8229600" cy="581364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2400" dirty="0"/>
              <a:t>Input in the size of matrix A where matrix A’s size is </a:t>
            </a:r>
            <a:r>
              <a:rPr lang="en-US" altLang="zh-TW" sz="2400" dirty="0" err="1"/>
              <a:t>mxn</a:t>
            </a:r>
            <a:r>
              <a:rPr lang="en-US" altLang="zh-TW" sz="2400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4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sz="2400" dirty="0"/>
              <a:t>Input in the size of matrix B where matrix B’s size is </a:t>
            </a:r>
            <a:r>
              <a:rPr lang="en-US" altLang="zh-TW" sz="2400" dirty="0" err="1"/>
              <a:t>nxp</a:t>
            </a:r>
            <a:endParaRPr lang="en-US" altLang="zh-TW" sz="2400" dirty="0"/>
          </a:p>
          <a:p>
            <a:pPr marL="514350" indent="-514350">
              <a:buFont typeface="+mj-lt"/>
              <a:buAutoNum type="arabicPeriod"/>
            </a:pPr>
            <a:endParaRPr lang="en-US" altLang="zh-TW" sz="24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sz="2400" dirty="0"/>
              <a:t>Input </a:t>
            </a:r>
            <a:r>
              <a:rPr lang="en-US" altLang="zh-TW" sz="2400" dirty="0">
                <a:solidFill>
                  <a:srgbClr val="FF0000"/>
                </a:solidFill>
              </a:rPr>
              <a:t>the two matrices</a:t>
            </a:r>
            <a:r>
              <a:rPr lang="en-US" altLang="zh-TW" sz="2400" dirty="0"/>
              <a:t> A and B </a:t>
            </a:r>
          </a:p>
          <a:p>
            <a:pPr marL="514350" indent="-514350">
              <a:buFont typeface="+mj-lt"/>
              <a:buAutoNum type="arabicPeriod"/>
            </a:pPr>
            <a:endParaRPr lang="en-US" altLang="zh-TW" sz="24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sz="2400" dirty="0"/>
              <a:t>Perform matrix computation : A*B = C (</a:t>
            </a:r>
            <a:r>
              <a:rPr lang="en-US" altLang="zh-TW" sz="2400" dirty="0">
                <a:solidFill>
                  <a:srgbClr val="FF0000"/>
                </a:solidFill>
              </a:rPr>
              <a:t>output</a:t>
            </a:r>
            <a:r>
              <a:rPr lang="en-US" altLang="zh-TW" sz="2400" dirty="0"/>
              <a:t>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sz="2400" dirty="0"/>
              <a:t>Main thread creates </a:t>
            </a:r>
            <a:r>
              <a:rPr lang="en-US" altLang="zh-TW" sz="2400" b="1" i="1" dirty="0">
                <a:solidFill>
                  <a:srgbClr val="FF0000"/>
                </a:solidFill>
              </a:rPr>
              <a:t>m</a:t>
            </a:r>
            <a:r>
              <a:rPr lang="en-US" altLang="zh-TW" sz="2400" dirty="0">
                <a:solidFill>
                  <a:srgbClr val="FF0000"/>
                </a:solidFill>
              </a:rPr>
              <a:t> thread</a:t>
            </a:r>
            <a:endParaRPr lang="en-US" altLang="zh-TW" sz="2400" dirty="0"/>
          </a:p>
          <a:p>
            <a:pPr marL="914400" lvl="1" indent="-514350">
              <a:buFont typeface="+mj-lt"/>
              <a:buAutoNum type="arabicPeriod"/>
            </a:pPr>
            <a:r>
              <a:rPr lang="en-US" altLang="zh-TW" sz="2400" dirty="0"/>
              <a:t>Each child thread derives one row of </a:t>
            </a:r>
            <a:r>
              <a:rPr lang="en-US" altLang="zh-TW" sz="2400" i="1" dirty="0"/>
              <a:t>C</a:t>
            </a:r>
            <a:r>
              <a:rPr lang="en-US" altLang="zh-TW" sz="2400" dirty="0"/>
              <a:t>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altLang="zh-TW" sz="2400" dirty="0"/>
              <a:t>After all children threads complete, main thread print the output matrix </a:t>
            </a:r>
            <a:r>
              <a:rPr lang="en-US" altLang="zh-TW" sz="2400" b="1" i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891968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732BB1-690C-0A44-BD38-C464166A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73" y="391312"/>
            <a:ext cx="8229600" cy="739775"/>
          </a:xfrm>
        </p:spPr>
        <p:txBody>
          <a:bodyPr/>
          <a:lstStyle/>
          <a:p>
            <a:r>
              <a:rPr kumimoji="1" lang="en-US" altLang="zh-TW" sz="4000" dirty="0"/>
              <a:t>Example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152FE9-0A4A-4B4C-A4D7-C0C37A05E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4D36A3-9097-49D0-9C2A-A52E015F3FB0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770A44-4342-624A-AAED-2068C7C7BB49}"/>
              </a:ext>
            </a:extLst>
          </p:cNvPr>
          <p:cNvSpPr/>
          <p:nvPr/>
        </p:nvSpPr>
        <p:spPr>
          <a:xfrm>
            <a:off x="313073" y="2204864"/>
            <a:ext cx="8712968" cy="26642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左中括弧 5">
            <a:extLst>
              <a:ext uri="{FF2B5EF4-FFF2-40B4-BE49-F238E27FC236}">
                <a16:creationId xmlns:a16="http://schemas.microsoft.com/office/drawing/2014/main" id="{B3C6A3C6-72D7-674D-AD52-36E84ECA7508}"/>
              </a:ext>
            </a:extLst>
          </p:cNvPr>
          <p:cNvSpPr/>
          <p:nvPr/>
        </p:nvSpPr>
        <p:spPr>
          <a:xfrm>
            <a:off x="529097" y="2600908"/>
            <a:ext cx="216024" cy="1395735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F5233A-A5E6-814D-AD81-AD8A40538B53}"/>
              </a:ext>
            </a:extLst>
          </p:cNvPr>
          <p:cNvSpPr txBox="1"/>
          <p:nvPr/>
        </p:nvSpPr>
        <p:spPr>
          <a:xfrm>
            <a:off x="817129" y="260090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1</a:t>
            </a:r>
            <a:endParaRPr kumimoji="1" lang="zh-TW" altLang="en-US" sz="28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338AC20-66F3-CF4E-AEB4-264C31E55813}"/>
              </a:ext>
            </a:extLst>
          </p:cNvPr>
          <p:cNvSpPr txBox="1"/>
          <p:nvPr/>
        </p:nvSpPr>
        <p:spPr>
          <a:xfrm>
            <a:off x="1282626" y="260090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2</a:t>
            </a:r>
            <a:endParaRPr kumimoji="1" lang="zh-TW" altLang="en-US" sz="28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40A138-281C-074C-BFCE-2D85189BAAC9}"/>
              </a:ext>
            </a:extLst>
          </p:cNvPr>
          <p:cNvSpPr txBox="1"/>
          <p:nvPr/>
        </p:nvSpPr>
        <p:spPr>
          <a:xfrm>
            <a:off x="1814891" y="260090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3</a:t>
            </a:r>
            <a:endParaRPr kumimoji="1" lang="zh-TW" altLang="en-US" sz="28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4307EA-E221-E543-8443-A8C98747F78F}"/>
              </a:ext>
            </a:extLst>
          </p:cNvPr>
          <p:cNvSpPr txBox="1"/>
          <p:nvPr/>
        </p:nvSpPr>
        <p:spPr>
          <a:xfrm>
            <a:off x="817129" y="3042536"/>
            <a:ext cx="1440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lain" startAt="4"/>
            </a:pPr>
            <a:r>
              <a:rPr kumimoji="1" lang="en-US" altLang="zh-TW" sz="2800" dirty="0"/>
              <a:t>5   6</a:t>
            </a:r>
          </a:p>
          <a:p>
            <a:r>
              <a:rPr lang="en-US" altLang="zh-TW" sz="2800" dirty="0"/>
              <a:t>7   8   9</a:t>
            </a:r>
            <a:endParaRPr kumimoji="1" lang="zh-TW" altLang="en-US" sz="2800" dirty="0"/>
          </a:p>
        </p:txBody>
      </p:sp>
      <p:sp>
        <p:nvSpPr>
          <p:cNvPr id="12" name="右中括弧 11">
            <a:extLst>
              <a:ext uri="{FF2B5EF4-FFF2-40B4-BE49-F238E27FC236}">
                <a16:creationId xmlns:a16="http://schemas.microsoft.com/office/drawing/2014/main" id="{29BA0F45-D8BA-6743-840A-20E7F7DD413A}"/>
              </a:ext>
            </a:extLst>
          </p:cNvPr>
          <p:cNvSpPr/>
          <p:nvPr/>
        </p:nvSpPr>
        <p:spPr>
          <a:xfrm>
            <a:off x="2257289" y="2600908"/>
            <a:ext cx="288032" cy="1395735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DDAF54DF-F3E7-9946-B097-B82E205AC678}"/>
              </a:ext>
            </a:extLst>
          </p:cNvPr>
          <p:cNvSpPr/>
          <p:nvPr/>
        </p:nvSpPr>
        <p:spPr>
          <a:xfrm>
            <a:off x="2905361" y="3124128"/>
            <a:ext cx="304496" cy="30487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左中括弧 13">
            <a:extLst>
              <a:ext uri="{FF2B5EF4-FFF2-40B4-BE49-F238E27FC236}">
                <a16:creationId xmlns:a16="http://schemas.microsoft.com/office/drawing/2014/main" id="{E86DF455-1A47-9E4A-9939-B12A3824DF27}"/>
              </a:ext>
            </a:extLst>
          </p:cNvPr>
          <p:cNvSpPr/>
          <p:nvPr/>
        </p:nvSpPr>
        <p:spPr>
          <a:xfrm>
            <a:off x="3461885" y="2600908"/>
            <a:ext cx="216024" cy="1395735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31A17CC-2DF1-B042-94D7-FE414E089B56}"/>
              </a:ext>
            </a:extLst>
          </p:cNvPr>
          <p:cNvSpPr txBox="1"/>
          <p:nvPr/>
        </p:nvSpPr>
        <p:spPr>
          <a:xfrm>
            <a:off x="3749917" y="260090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1</a:t>
            </a:r>
            <a:endParaRPr kumimoji="1" lang="zh-TW" altLang="en-US" sz="28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30EB0C8-EFFD-3D4D-80AA-91DBB041AEAE}"/>
              </a:ext>
            </a:extLst>
          </p:cNvPr>
          <p:cNvSpPr txBox="1"/>
          <p:nvPr/>
        </p:nvSpPr>
        <p:spPr>
          <a:xfrm>
            <a:off x="4215414" y="2600908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2</a:t>
            </a:r>
            <a:endParaRPr kumimoji="1" lang="zh-TW" altLang="en-US" sz="28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6D4EDD-6A35-AA4F-8CA2-F04AF4A6A0AF}"/>
              </a:ext>
            </a:extLst>
          </p:cNvPr>
          <p:cNvSpPr txBox="1"/>
          <p:nvPr/>
        </p:nvSpPr>
        <p:spPr>
          <a:xfrm>
            <a:off x="4759268" y="2619997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3</a:t>
            </a:r>
            <a:endParaRPr kumimoji="1" lang="zh-TW" altLang="en-US" sz="28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B72BC8C-4E6F-824D-BA54-FE05BEF84F2E}"/>
              </a:ext>
            </a:extLst>
          </p:cNvPr>
          <p:cNvSpPr txBox="1"/>
          <p:nvPr/>
        </p:nvSpPr>
        <p:spPr>
          <a:xfrm>
            <a:off x="3749917" y="3042536"/>
            <a:ext cx="1440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lain" startAt="4"/>
            </a:pPr>
            <a:r>
              <a:rPr kumimoji="1" lang="en-US" altLang="zh-TW" sz="2800" dirty="0"/>
              <a:t>5   6</a:t>
            </a:r>
          </a:p>
          <a:p>
            <a:r>
              <a:rPr lang="en-US" altLang="zh-TW" sz="2800" dirty="0"/>
              <a:t>7   8   9</a:t>
            </a:r>
            <a:endParaRPr kumimoji="1" lang="zh-TW" altLang="en-US" sz="2800" dirty="0"/>
          </a:p>
        </p:txBody>
      </p:sp>
      <p:sp>
        <p:nvSpPr>
          <p:cNvPr id="19" name="右中括弧 18">
            <a:extLst>
              <a:ext uri="{FF2B5EF4-FFF2-40B4-BE49-F238E27FC236}">
                <a16:creationId xmlns:a16="http://schemas.microsoft.com/office/drawing/2014/main" id="{D11F6BEB-4808-5345-8996-8198F2072A9D}"/>
              </a:ext>
            </a:extLst>
          </p:cNvPr>
          <p:cNvSpPr/>
          <p:nvPr/>
        </p:nvSpPr>
        <p:spPr>
          <a:xfrm>
            <a:off x="5190077" y="2600908"/>
            <a:ext cx="288032" cy="1395735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17706F1-CF52-754A-BFF3-A8B5A2981FA5}"/>
              </a:ext>
            </a:extLst>
          </p:cNvPr>
          <p:cNvSpPr txBox="1"/>
          <p:nvPr/>
        </p:nvSpPr>
        <p:spPr>
          <a:xfrm>
            <a:off x="5622646" y="2938010"/>
            <a:ext cx="4845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800" dirty="0"/>
              <a:t>=</a:t>
            </a:r>
            <a:endParaRPr kumimoji="1" lang="zh-TW" altLang="en-US" sz="3800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052884B5-69CD-5D4B-B820-31C78621F72C}"/>
              </a:ext>
            </a:extLst>
          </p:cNvPr>
          <p:cNvSpPr/>
          <p:nvPr/>
        </p:nvSpPr>
        <p:spPr>
          <a:xfrm>
            <a:off x="6291393" y="2576131"/>
            <a:ext cx="216024" cy="1395735"/>
          </a:xfrm>
          <a:prstGeom prst="lef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右中括弧 25">
            <a:extLst>
              <a:ext uri="{FF2B5EF4-FFF2-40B4-BE49-F238E27FC236}">
                <a16:creationId xmlns:a16="http://schemas.microsoft.com/office/drawing/2014/main" id="{4DBAF370-FD36-B544-B432-A382DB2DA6A3}"/>
              </a:ext>
            </a:extLst>
          </p:cNvPr>
          <p:cNvSpPr/>
          <p:nvPr/>
        </p:nvSpPr>
        <p:spPr>
          <a:xfrm>
            <a:off x="8601658" y="2620640"/>
            <a:ext cx="288032" cy="1395735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ABFF996-19BD-C44A-B01A-F7111A33E622}"/>
              </a:ext>
            </a:extLst>
          </p:cNvPr>
          <p:cNvSpPr txBox="1"/>
          <p:nvPr/>
        </p:nvSpPr>
        <p:spPr>
          <a:xfrm>
            <a:off x="6542745" y="2576131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30</a:t>
            </a:r>
            <a:endParaRPr kumimoji="1" lang="zh-TW" altLang="en-US" sz="28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6614541-A674-2549-A7BD-B2E84B40B539}"/>
              </a:ext>
            </a:extLst>
          </p:cNvPr>
          <p:cNvSpPr txBox="1"/>
          <p:nvPr/>
        </p:nvSpPr>
        <p:spPr>
          <a:xfrm>
            <a:off x="7226821" y="2576131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36</a:t>
            </a:r>
            <a:endParaRPr kumimoji="1" lang="zh-TW" altLang="en-US" sz="28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CF633D9-8A60-AD49-9EAE-DF944DB9CE24}"/>
              </a:ext>
            </a:extLst>
          </p:cNvPr>
          <p:cNvSpPr txBox="1"/>
          <p:nvPr/>
        </p:nvSpPr>
        <p:spPr>
          <a:xfrm>
            <a:off x="7941595" y="2576131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42</a:t>
            </a:r>
            <a:endParaRPr kumimoji="1" lang="zh-TW" altLang="en-US" sz="28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12759C3D-9C33-4F4A-B66A-FB9F6FB51384}"/>
              </a:ext>
            </a:extLst>
          </p:cNvPr>
          <p:cNvSpPr txBox="1"/>
          <p:nvPr/>
        </p:nvSpPr>
        <p:spPr>
          <a:xfrm>
            <a:off x="6553733" y="3055135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66</a:t>
            </a:r>
            <a:endParaRPr kumimoji="1" lang="zh-TW" altLang="en-US" sz="28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57B7BD24-226C-5A45-9461-C679A08C4A45}"/>
              </a:ext>
            </a:extLst>
          </p:cNvPr>
          <p:cNvSpPr txBox="1"/>
          <p:nvPr/>
        </p:nvSpPr>
        <p:spPr>
          <a:xfrm>
            <a:off x="7237809" y="3055135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81</a:t>
            </a:r>
            <a:endParaRPr kumimoji="1" lang="zh-TW" altLang="en-US" sz="28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9B41DE0B-9245-2447-8EBF-A38F7F966CF9}"/>
              </a:ext>
            </a:extLst>
          </p:cNvPr>
          <p:cNvSpPr txBox="1"/>
          <p:nvPr/>
        </p:nvSpPr>
        <p:spPr>
          <a:xfrm>
            <a:off x="7952583" y="3055135"/>
            <a:ext cx="612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96</a:t>
            </a:r>
            <a:endParaRPr kumimoji="1" lang="zh-TW" altLang="en-US" sz="28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7AD7970-516F-C541-967A-AC5C35245450}"/>
              </a:ext>
            </a:extLst>
          </p:cNvPr>
          <p:cNvSpPr txBox="1"/>
          <p:nvPr/>
        </p:nvSpPr>
        <p:spPr>
          <a:xfrm>
            <a:off x="6526767" y="3534139"/>
            <a:ext cx="783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102</a:t>
            </a:r>
            <a:endParaRPr kumimoji="1" lang="zh-TW" altLang="en-US" sz="28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77177D6-F614-3848-AF31-29EAC46C786C}"/>
              </a:ext>
            </a:extLst>
          </p:cNvPr>
          <p:cNvSpPr txBox="1"/>
          <p:nvPr/>
        </p:nvSpPr>
        <p:spPr>
          <a:xfrm>
            <a:off x="7212241" y="3534139"/>
            <a:ext cx="783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126</a:t>
            </a:r>
            <a:endParaRPr kumimoji="1" lang="zh-TW" altLang="en-US" sz="28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873B4ED-D68A-8946-95A8-1555404F6A70}"/>
              </a:ext>
            </a:extLst>
          </p:cNvPr>
          <p:cNvSpPr txBox="1"/>
          <p:nvPr/>
        </p:nvSpPr>
        <p:spPr>
          <a:xfrm>
            <a:off x="7952583" y="3515127"/>
            <a:ext cx="783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150</a:t>
            </a:r>
            <a:endParaRPr kumimoji="1" lang="zh-TW" altLang="en-US" sz="28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A4D8B8E-793C-524C-85B9-527AB46B8801}"/>
              </a:ext>
            </a:extLst>
          </p:cNvPr>
          <p:cNvSpPr txBox="1"/>
          <p:nvPr/>
        </p:nvSpPr>
        <p:spPr>
          <a:xfrm>
            <a:off x="590755" y="1572715"/>
            <a:ext cx="1796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Thread 1</a:t>
            </a:r>
            <a:endParaRPr kumimoji="1" lang="zh-TW" altLang="en-US" sz="28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C9FE132-D41C-C844-BD7F-6B9967F2D7E1}"/>
              </a:ext>
            </a:extLst>
          </p:cNvPr>
          <p:cNvSpPr/>
          <p:nvPr/>
        </p:nvSpPr>
        <p:spPr>
          <a:xfrm>
            <a:off x="817129" y="2619997"/>
            <a:ext cx="1440160" cy="4793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8220227-DFAB-204A-967B-B26F9762F154}"/>
              </a:ext>
            </a:extLst>
          </p:cNvPr>
          <p:cNvSpPr/>
          <p:nvPr/>
        </p:nvSpPr>
        <p:spPr>
          <a:xfrm>
            <a:off x="3710610" y="2384023"/>
            <a:ext cx="501377" cy="16733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A89A0E6-7FEC-7F4B-8E9C-270B1D99FDA1}"/>
              </a:ext>
            </a:extLst>
          </p:cNvPr>
          <p:cNvSpPr/>
          <p:nvPr/>
        </p:nvSpPr>
        <p:spPr>
          <a:xfrm>
            <a:off x="4207163" y="2384023"/>
            <a:ext cx="501377" cy="16733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9D20BAD-AECF-934F-BF53-5B34749F60A8}"/>
              </a:ext>
            </a:extLst>
          </p:cNvPr>
          <p:cNvSpPr/>
          <p:nvPr/>
        </p:nvSpPr>
        <p:spPr>
          <a:xfrm>
            <a:off x="4718375" y="2384023"/>
            <a:ext cx="501377" cy="16733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240961C-432D-5545-B10B-88DEFEA3793D}"/>
              </a:ext>
            </a:extLst>
          </p:cNvPr>
          <p:cNvSpPr txBox="1"/>
          <p:nvPr/>
        </p:nvSpPr>
        <p:spPr>
          <a:xfrm>
            <a:off x="581312" y="1594081"/>
            <a:ext cx="1855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Thread 2</a:t>
            </a:r>
            <a:endParaRPr kumimoji="1" lang="zh-TW" altLang="en-US" sz="28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8B7D686-9837-B446-BF7E-C80208D2EA07}"/>
              </a:ext>
            </a:extLst>
          </p:cNvPr>
          <p:cNvSpPr/>
          <p:nvPr/>
        </p:nvSpPr>
        <p:spPr>
          <a:xfrm>
            <a:off x="836163" y="3124128"/>
            <a:ext cx="1427707" cy="3909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508D839-D8A9-9447-A6DA-8CDC0D549DC6}"/>
              </a:ext>
            </a:extLst>
          </p:cNvPr>
          <p:cNvSpPr/>
          <p:nvPr/>
        </p:nvSpPr>
        <p:spPr>
          <a:xfrm>
            <a:off x="832873" y="3538258"/>
            <a:ext cx="1427707" cy="39099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5379150-25B6-1144-AE56-9FED6AA82D56}"/>
              </a:ext>
            </a:extLst>
          </p:cNvPr>
          <p:cNvSpPr txBox="1"/>
          <p:nvPr/>
        </p:nvSpPr>
        <p:spPr>
          <a:xfrm>
            <a:off x="577457" y="1577308"/>
            <a:ext cx="168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Thread 3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536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4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xit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15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4" presetClass="entr" presetSubtype="1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1" presetClass="exit" presetSubtype="1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7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0" grpId="1"/>
      <p:bldP spid="41" grpId="0" animBg="1"/>
      <p:bldP spid="41" grpId="1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5" grpId="0" animBg="1"/>
      <p:bldP spid="45" grpId="1" animBg="1"/>
      <p:bldP spid="45" grpId="2" animBg="1"/>
      <p:bldP spid="45" grpId="3" animBg="1"/>
      <p:bldP spid="45" grpId="4" animBg="1"/>
      <p:bldP spid="47" grpId="0"/>
      <p:bldP spid="47" grpId="1"/>
      <p:bldP spid="48" grpId="0" animBg="1"/>
      <p:bldP spid="48" grpId="1" animBg="1"/>
      <p:bldP spid="49" grpId="0" animBg="1"/>
      <p:bldP spid="5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A73176-E5FE-4F1A-9E60-4D7FFC6579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7" name="Google Shape;526;p24">
            <a:extLst>
              <a:ext uri="{FF2B5EF4-FFF2-40B4-BE49-F238E27FC236}">
                <a16:creationId xmlns:a16="http://schemas.microsoft.com/office/drawing/2014/main" id="{D526A48F-72DA-45EB-9631-BBD6D9FEC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0293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/>
              <a:t>Homework Assignment #2</a:t>
            </a:r>
            <a:endParaRPr sz="36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B577568-31C7-4325-AFB3-8B7120FD6519}"/>
              </a:ext>
            </a:extLst>
          </p:cNvPr>
          <p:cNvSpPr txBox="1"/>
          <p:nvPr/>
        </p:nvSpPr>
        <p:spPr>
          <a:xfrm>
            <a:off x="564776" y="1320419"/>
            <a:ext cx="812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p"/>
            </a:pPr>
            <a:r>
              <a:rPr lang="en-US" altLang="zh-TW" sz="2400" b="1" dirty="0"/>
              <a:t> Example</a:t>
            </a:r>
            <a:endParaRPr lang="zh-TW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AC0E360-4B27-4525-9955-13CC49000943}"/>
              </a:ext>
            </a:extLst>
          </p:cNvPr>
          <p:cNvSpPr txBox="1"/>
          <p:nvPr/>
        </p:nvSpPr>
        <p:spPr>
          <a:xfrm>
            <a:off x="820570" y="1906657"/>
            <a:ext cx="322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1" dirty="0"/>
              <a:t>A = 2 x 3  ,  B = 3 x 2</a:t>
            </a:r>
            <a:endParaRPr lang="zh-TW" altLang="en-US" sz="1800" b="1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E270023-EF0A-4D74-A016-ECFA992FBF49}"/>
              </a:ext>
            </a:extLst>
          </p:cNvPr>
          <p:cNvSpPr txBox="1"/>
          <p:nvPr/>
        </p:nvSpPr>
        <p:spPr>
          <a:xfrm>
            <a:off x="1672711" y="4613943"/>
            <a:ext cx="18975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800" dirty="0"/>
              <a:t>[    ]</a:t>
            </a:r>
            <a:endParaRPr lang="zh-TW" altLang="en-US" sz="8800" dirty="0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64A14C0D-4AC1-45CC-B3D1-73265A815330}"/>
              </a:ext>
            </a:extLst>
          </p:cNvPr>
          <p:cNvCxnSpPr>
            <a:cxnSpLocks/>
          </p:cNvCxnSpPr>
          <p:nvPr/>
        </p:nvCxnSpPr>
        <p:spPr>
          <a:xfrm flipV="1">
            <a:off x="510836" y="5142771"/>
            <a:ext cx="1107505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8FD3F260-F5AF-48AD-AC49-506184B9C1E9}"/>
              </a:ext>
            </a:extLst>
          </p:cNvPr>
          <p:cNvCxnSpPr>
            <a:cxnSpLocks/>
          </p:cNvCxnSpPr>
          <p:nvPr/>
        </p:nvCxnSpPr>
        <p:spPr>
          <a:xfrm>
            <a:off x="2129782" y="4864227"/>
            <a:ext cx="0" cy="1188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6779A5FA-C4DD-465B-B1AC-70D561020AB6}"/>
              </a:ext>
            </a:extLst>
          </p:cNvPr>
          <p:cNvCxnSpPr/>
          <p:nvPr/>
        </p:nvCxnSpPr>
        <p:spPr>
          <a:xfrm>
            <a:off x="2350885" y="4864227"/>
            <a:ext cx="9263" cy="1188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89A350F-A8E5-4220-A027-EE35830CDEAC}"/>
              </a:ext>
            </a:extLst>
          </p:cNvPr>
          <p:cNvSpPr txBox="1"/>
          <p:nvPr/>
        </p:nvSpPr>
        <p:spPr>
          <a:xfrm>
            <a:off x="1218367" y="2871462"/>
            <a:ext cx="2985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1</a:t>
            </a:r>
            <a:r>
              <a:rPr lang="zh-TW" altLang="en-US" sz="2000" dirty="0"/>
              <a:t> </a:t>
            </a:r>
            <a:r>
              <a:rPr lang="en-US" altLang="zh-TW" sz="2000" dirty="0"/>
              <a:t>2</a:t>
            </a:r>
            <a:r>
              <a:rPr lang="zh-TW" altLang="en-US" sz="2000" dirty="0"/>
              <a:t> </a:t>
            </a:r>
            <a:r>
              <a:rPr lang="en-US" altLang="zh-TW" sz="2000" dirty="0"/>
              <a:t>3</a:t>
            </a:r>
            <a:r>
              <a:rPr lang="zh-TW" altLang="en-US" sz="2000" dirty="0"/>
              <a:t> </a:t>
            </a:r>
            <a:r>
              <a:rPr lang="en-US" altLang="zh-TW" sz="2000" dirty="0"/>
              <a:t>4</a:t>
            </a:r>
          </a:p>
          <a:p>
            <a:r>
              <a:rPr lang="en-US" altLang="zh-TW" sz="2000" dirty="0"/>
              <a:t>5</a:t>
            </a:r>
            <a:r>
              <a:rPr lang="zh-TW" altLang="en-US" sz="2000" dirty="0"/>
              <a:t> </a:t>
            </a:r>
            <a:r>
              <a:rPr lang="en-US" altLang="zh-TW" sz="2000" dirty="0"/>
              <a:t>6</a:t>
            </a:r>
            <a:r>
              <a:rPr lang="zh-TW" altLang="en-US" sz="2000" dirty="0"/>
              <a:t> </a:t>
            </a:r>
            <a:r>
              <a:rPr lang="en-US" altLang="zh-TW" sz="2000" dirty="0"/>
              <a:t>7</a:t>
            </a:r>
            <a:r>
              <a:rPr lang="zh-TW" altLang="en-US" sz="2000" dirty="0"/>
              <a:t> </a:t>
            </a:r>
            <a:r>
              <a:rPr lang="en-US" altLang="zh-TW" sz="2000" dirty="0"/>
              <a:t>8</a:t>
            </a:r>
          </a:p>
          <a:p>
            <a:r>
              <a:rPr lang="en-US" altLang="zh-TW" sz="2000" dirty="0"/>
              <a:t>9</a:t>
            </a:r>
            <a:r>
              <a:rPr lang="zh-TW" altLang="en-US" sz="2000" dirty="0"/>
              <a:t> </a:t>
            </a:r>
            <a:r>
              <a:rPr lang="en-US" altLang="zh-TW" sz="2000" dirty="0"/>
              <a:t>8</a:t>
            </a:r>
            <a:r>
              <a:rPr lang="zh-TW" altLang="en-US" sz="2000" dirty="0"/>
              <a:t> </a:t>
            </a:r>
            <a:r>
              <a:rPr lang="en-US" altLang="zh-TW" sz="2000" dirty="0"/>
              <a:t>7</a:t>
            </a:r>
            <a:r>
              <a:rPr lang="zh-TW" altLang="en-US" sz="2000" dirty="0"/>
              <a:t> </a:t>
            </a:r>
            <a:r>
              <a:rPr lang="en-US" altLang="zh-TW" sz="2000" dirty="0"/>
              <a:t>6</a:t>
            </a:r>
          </a:p>
          <a:p>
            <a:r>
              <a:rPr lang="en-US" altLang="zh-TW" sz="2000" dirty="0"/>
              <a:t>5</a:t>
            </a:r>
            <a:r>
              <a:rPr lang="zh-TW" altLang="en-US" sz="2000" dirty="0"/>
              <a:t> </a:t>
            </a:r>
            <a:r>
              <a:rPr lang="en-US" altLang="zh-TW" sz="2000" dirty="0"/>
              <a:t>4</a:t>
            </a:r>
            <a:r>
              <a:rPr lang="zh-TW" altLang="en-US" sz="2000" dirty="0"/>
              <a:t> </a:t>
            </a:r>
            <a:r>
              <a:rPr lang="en-US" altLang="zh-TW" sz="2000" dirty="0"/>
              <a:t>3</a:t>
            </a:r>
            <a:r>
              <a:rPr lang="zh-TW" altLang="en-US" sz="2000" dirty="0"/>
              <a:t> </a:t>
            </a:r>
            <a:r>
              <a:rPr lang="en-US" altLang="zh-TW" sz="2000" dirty="0"/>
              <a:t>2</a:t>
            </a:r>
            <a:endParaRPr lang="zh-TW" altLang="en-US" sz="20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9EF15FA-D1BC-4C99-B562-0ADA884B0C11}"/>
              </a:ext>
            </a:extLst>
          </p:cNvPr>
          <p:cNvSpPr txBox="1"/>
          <p:nvPr/>
        </p:nvSpPr>
        <p:spPr>
          <a:xfrm>
            <a:off x="820570" y="2697921"/>
            <a:ext cx="32452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800" dirty="0"/>
              <a:t>[   ]</a:t>
            </a:r>
            <a:endParaRPr lang="zh-TW" altLang="en-US" sz="88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A256E98-87E4-40AD-A176-2E1A71AE205C}"/>
              </a:ext>
            </a:extLst>
          </p:cNvPr>
          <p:cNvSpPr txBox="1"/>
          <p:nvPr/>
        </p:nvSpPr>
        <p:spPr>
          <a:xfrm>
            <a:off x="387917" y="33274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/>
              <a:t>A =</a:t>
            </a:r>
            <a:endParaRPr lang="zh-TW" altLang="en-US" sz="18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87868DE1-EB23-45CD-A047-CAD3193BA79D}"/>
              </a:ext>
            </a:extLst>
          </p:cNvPr>
          <p:cNvSpPr txBox="1"/>
          <p:nvPr/>
        </p:nvSpPr>
        <p:spPr>
          <a:xfrm>
            <a:off x="2552390" y="33274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/>
              <a:t>B =</a:t>
            </a:r>
            <a:endParaRPr lang="zh-TW" altLang="en-US" sz="18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3A12CC6-1B6B-4D42-AA67-C55A357D9023}"/>
              </a:ext>
            </a:extLst>
          </p:cNvPr>
          <p:cNvSpPr txBox="1"/>
          <p:nvPr/>
        </p:nvSpPr>
        <p:spPr>
          <a:xfrm>
            <a:off x="3580505" y="5258394"/>
            <a:ext cx="440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/>
              <a:t> =</a:t>
            </a:r>
            <a:endParaRPr lang="zh-TW" altLang="en-US" sz="2000" b="1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3FB43029-15A4-4833-86A4-2B48A6618BA0}"/>
              </a:ext>
            </a:extLst>
          </p:cNvPr>
          <p:cNvSpPr txBox="1"/>
          <p:nvPr/>
        </p:nvSpPr>
        <p:spPr>
          <a:xfrm>
            <a:off x="3740176" y="4546172"/>
            <a:ext cx="700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600" dirty="0"/>
              <a:t>[      </a:t>
            </a:r>
            <a:endParaRPr lang="zh-TW" altLang="en-US" sz="9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58B2173-5327-41BF-9826-809A37F6D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15" y="1475744"/>
            <a:ext cx="3773656" cy="3070428"/>
          </a:xfrm>
          <a:prstGeom prst="rect">
            <a:avLst/>
          </a:prstGeom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61533353-3CE6-45A4-9411-BFBECCE9B113}"/>
              </a:ext>
            </a:extLst>
          </p:cNvPr>
          <p:cNvSpPr txBox="1"/>
          <p:nvPr/>
        </p:nvSpPr>
        <p:spPr>
          <a:xfrm>
            <a:off x="2925640" y="2680132"/>
            <a:ext cx="32452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800" dirty="0"/>
              <a:t>[   </a:t>
            </a:r>
            <a:r>
              <a:rPr lang="zh-TW" altLang="en-US" sz="8800" dirty="0"/>
              <a:t> </a:t>
            </a:r>
            <a:r>
              <a:rPr lang="en-US" altLang="zh-TW" sz="8800" dirty="0"/>
              <a:t>]</a:t>
            </a:r>
            <a:endParaRPr lang="zh-TW" altLang="en-US" sz="88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3B0F5515-3758-4075-ADA6-DF38750ED858}"/>
              </a:ext>
            </a:extLst>
          </p:cNvPr>
          <p:cNvSpPr txBox="1"/>
          <p:nvPr/>
        </p:nvSpPr>
        <p:spPr>
          <a:xfrm>
            <a:off x="2069154" y="4833203"/>
            <a:ext cx="13823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00" dirty="0"/>
              <a:t>1</a:t>
            </a:r>
            <a:r>
              <a:rPr lang="zh-TW" altLang="en-US" sz="1900" dirty="0"/>
              <a:t>  </a:t>
            </a:r>
            <a:r>
              <a:rPr lang="en-US" altLang="zh-TW" sz="1900" dirty="0"/>
              <a:t>2</a:t>
            </a:r>
            <a:r>
              <a:rPr lang="zh-TW" altLang="en-US" sz="1900" dirty="0"/>
              <a:t>  </a:t>
            </a:r>
            <a:r>
              <a:rPr lang="en-US" altLang="zh-TW" sz="1900" dirty="0"/>
              <a:t>3</a:t>
            </a:r>
            <a:r>
              <a:rPr lang="zh-TW" altLang="en-US" sz="1900" dirty="0"/>
              <a:t>  </a:t>
            </a:r>
            <a:r>
              <a:rPr lang="en-US" altLang="zh-TW" sz="1900" dirty="0"/>
              <a:t>44</a:t>
            </a:r>
          </a:p>
          <a:p>
            <a:r>
              <a:rPr lang="en-US" altLang="zh-TW" sz="1900" dirty="0"/>
              <a:t>5</a:t>
            </a:r>
            <a:r>
              <a:rPr lang="zh-TW" altLang="en-US" sz="1900" dirty="0"/>
              <a:t>  </a:t>
            </a:r>
            <a:r>
              <a:rPr lang="en-US" altLang="zh-TW" sz="1900" dirty="0"/>
              <a:t>6</a:t>
            </a:r>
            <a:r>
              <a:rPr lang="zh-TW" altLang="en-US" sz="1900" dirty="0"/>
              <a:t>  </a:t>
            </a:r>
            <a:r>
              <a:rPr lang="en-US" altLang="zh-TW" sz="1900" dirty="0"/>
              <a:t>7</a:t>
            </a:r>
            <a:r>
              <a:rPr lang="zh-TW" altLang="en-US" sz="1900" dirty="0"/>
              <a:t>  </a:t>
            </a:r>
            <a:r>
              <a:rPr lang="en-US" altLang="zh-TW" sz="1900" dirty="0"/>
              <a:t>8</a:t>
            </a:r>
          </a:p>
          <a:p>
            <a:r>
              <a:rPr lang="en-US" altLang="zh-TW" sz="1900" dirty="0"/>
              <a:t>4</a:t>
            </a:r>
            <a:r>
              <a:rPr lang="zh-TW" altLang="en-US" sz="1900" dirty="0"/>
              <a:t>  </a:t>
            </a:r>
            <a:r>
              <a:rPr lang="en-US" altLang="zh-TW" sz="1900" dirty="0"/>
              <a:t>5</a:t>
            </a:r>
            <a:r>
              <a:rPr lang="zh-TW" altLang="en-US" sz="1900" dirty="0"/>
              <a:t>  </a:t>
            </a:r>
            <a:r>
              <a:rPr lang="en-US" altLang="zh-TW" sz="1900" dirty="0"/>
              <a:t>3</a:t>
            </a:r>
            <a:r>
              <a:rPr lang="zh-TW" altLang="en-US" sz="1900" dirty="0"/>
              <a:t>  </a:t>
            </a:r>
            <a:r>
              <a:rPr lang="en-US" altLang="zh-TW" sz="1900" dirty="0"/>
              <a:t>22</a:t>
            </a:r>
          </a:p>
          <a:p>
            <a:r>
              <a:rPr lang="en-US" altLang="zh-TW" sz="1900" dirty="0"/>
              <a:t>3</a:t>
            </a:r>
            <a:r>
              <a:rPr lang="zh-TW" altLang="en-US" sz="1900" dirty="0"/>
              <a:t>  </a:t>
            </a:r>
            <a:r>
              <a:rPr lang="en-US" altLang="zh-TW" sz="1900" dirty="0"/>
              <a:t>4</a:t>
            </a:r>
            <a:r>
              <a:rPr lang="zh-TW" altLang="en-US" sz="1900" dirty="0"/>
              <a:t>  </a:t>
            </a:r>
            <a:r>
              <a:rPr lang="en-US" altLang="zh-TW" sz="1900" dirty="0"/>
              <a:t>5</a:t>
            </a:r>
            <a:r>
              <a:rPr lang="zh-TW" altLang="en-US" sz="1900" dirty="0"/>
              <a:t>  </a:t>
            </a:r>
            <a:r>
              <a:rPr lang="en-US" altLang="zh-TW" sz="1900" dirty="0"/>
              <a:t>6</a:t>
            </a:r>
            <a:endParaRPr lang="zh-TW" altLang="en-US" sz="19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A277C27-D310-49DF-9505-E423FEEBACF3}"/>
              </a:ext>
            </a:extLst>
          </p:cNvPr>
          <p:cNvSpPr txBox="1"/>
          <p:nvPr/>
        </p:nvSpPr>
        <p:spPr>
          <a:xfrm>
            <a:off x="178763" y="4615482"/>
            <a:ext cx="1850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800" dirty="0"/>
              <a:t>[   ]</a:t>
            </a:r>
            <a:endParaRPr lang="zh-TW" altLang="en-US" sz="88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E8CA54F-C9B7-4B42-AB8A-7FB6E2C4B70D}"/>
              </a:ext>
            </a:extLst>
          </p:cNvPr>
          <p:cNvSpPr txBox="1"/>
          <p:nvPr/>
        </p:nvSpPr>
        <p:spPr>
          <a:xfrm>
            <a:off x="547871" y="4796731"/>
            <a:ext cx="105186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900" dirty="0"/>
              <a:t>1</a:t>
            </a:r>
            <a:r>
              <a:rPr lang="zh-TW" altLang="en-US" sz="1900" dirty="0"/>
              <a:t> </a:t>
            </a:r>
            <a:r>
              <a:rPr lang="en-US" altLang="zh-TW" sz="1900" dirty="0"/>
              <a:t>2</a:t>
            </a:r>
            <a:r>
              <a:rPr lang="zh-TW" altLang="en-US" sz="1900" dirty="0"/>
              <a:t> </a:t>
            </a:r>
            <a:r>
              <a:rPr lang="en-US" altLang="zh-TW" sz="1900" dirty="0"/>
              <a:t>3</a:t>
            </a:r>
            <a:r>
              <a:rPr lang="zh-TW" altLang="en-US" sz="1900" dirty="0"/>
              <a:t> </a:t>
            </a:r>
            <a:r>
              <a:rPr lang="en-US" altLang="zh-TW" sz="1900" dirty="0"/>
              <a:t>4</a:t>
            </a:r>
          </a:p>
          <a:p>
            <a:r>
              <a:rPr lang="en-US" altLang="zh-TW" sz="1900" dirty="0"/>
              <a:t>5</a:t>
            </a:r>
            <a:r>
              <a:rPr lang="zh-TW" altLang="en-US" sz="1900" dirty="0"/>
              <a:t> </a:t>
            </a:r>
            <a:r>
              <a:rPr lang="en-US" altLang="zh-TW" sz="1900" dirty="0"/>
              <a:t>6</a:t>
            </a:r>
            <a:r>
              <a:rPr lang="zh-TW" altLang="en-US" sz="1900" dirty="0"/>
              <a:t> </a:t>
            </a:r>
            <a:r>
              <a:rPr lang="en-US" altLang="zh-TW" sz="1900" dirty="0"/>
              <a:t>7</a:t>
            </a:r>
            <a:r>
              <a:rPr lang="zh-TW" altLang="en-US" sz="1900" dirty="0"/>
              <a:t> </a:t>
            </a:r>
            <a:r>
              <a:rPr lang="en-US" altLang="zh-TW" sz="1900" dirty="0"/>
              <a:t>8</a:t>
            </a:r>
          </a:p>
          <a:p>
            <a:r>
              <a:rPr lang="en-US" altLang="zh-TW" sz="1900" dirty="0"/>
              <a:t>9</a:t>
            </a:r>
            <a:r>
              <a:rPr lang="zh-TW" altLang="en-US" sz="1900" dirty="0"/>
              <a:t> </a:t>
            </a:r>
            <a:r>
              <a:rPr lang="en-US" altLang="zh-TW" sz="1900" dirty="0"/>
              <a:t>8</a:t>
            </a:r>
            <a:r>
              <a:rPr lang="zh-TW" altLang="en-US" sz="1900" dirty="0"/>
              <a:t> </a:t>
            </a:r>
            <a:r>
              <a:rPr lang="en-US" altLang="zh-TW" sz="1900" dirty="0"/>
              <a:t>7</a:t>
            </a:r>
            <a:r>
              <a:rPr lang="zh-TW" altLang="en-US" sz="1900" dirty="0"/>
              <a:t> </a:t>
            </a:r>
            <a:r>
              <a:rPr lang="en-US" altLang="zh-TW" sz="1900" dirty="0"/>
              <a:t>6</a:t>
            </a:r>
          </a:p>
          <a:p>
            <a:r>
              <a:rPr lang="en-US" altLang="zh-TW" sz="1900" dirty="0"/>
              <a:t>5</a:t>
            </a:r>
            <a:r>
              <a:rPr lang="zh-TW" altLang="en-US" sz="1900" dirty="0"/>
              <a:t> </a:t>
            </a:r>
            <a:r>
              <a:rPr lang="en-US" altLang="zh-TW" sz="1900" dirty="0"/>
              <a:t>4</a:t>
            </a:r>
            <a:r>
              <a:rPr lang="zh-TW" altLang="en-US" sz="1900" dirty="0"/>
              <a:t> </a:t>
            </a:r>
            <a:r>
              <a:rPr lang="en-US" altLang="zh-TW" sz="1900" dirty="0"/>
              <a:t>3</a:t>
            </a:r>
            <a:r>
              <a:rPr lang="zh-TW" altLang="en-US" sz="1900" dirty="0"/>
              <a:t> </a:t>
            </a:r>
            <a:r>
              <a:rPr lang="en-US" altLang="zh-TW" sz="1900" dirty="0"/>
              <a:t>2</a:t>
            </a:r>
            <a:endParaRPr lang="zh-TW" altLang="en-US" sz="1900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D3282EA0-98F6-4193-9EC2-00E1512CA1F3}"/>
              </a:ext>
            </a:extLst>
          </p:cNvPr>
          <p:cNvSpPr txBox="1"/>
          <p:nvPr/>
        </p:nvSpPr>
        <p:spPr>
          <a:xfrm>
            <a:off x="3309198" y="2855651"/>
            <a:ext cx="1382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1</a:t>
            </a:r>
            <a:r>
              <a:rPr lang="zh-TW" altLang="en-US" sz="2000" dirty="0"/>
              <a:t>  </a:t>
            </a:r>
            <a:r>
              <a:rPr lang="en-US" altLang="zh-TW" sz="2000" dirty="0"/>
              <a:t>2</a:t>
            </a:r>
            <a:r>
              <a:rPr lang="zh-TW" altLang="en-US" sz="2000" dirty="0"/>
              <a:t>  </a:t>
            </a:r>
            <a:r>
              <a:rPr lang="en-US" altLang="zh-TW" sz="2000" dirty="0"/>
              <a:t>3</a:t>
            </a:r>
            <a:r>
              <a:rPr lang="zh-TW" altLang="en-US" sz="2000" dirty="0"/>
              <a:t>  </a:t>
            </a:r>
            <a:r>
              <a:rPr lang="en-US" altLang="zh-TW" sz="2000" dirty="0"/>
              <a:t>44</a:t>
            </a:r>
          </a:p>
          <a:p>
            <a:r>
              <a:rPr lang="en-US" altLang="zh-TW" sz="2000" dirty="0"/>
              <a:t>5</a:t>
            </a:r>
            <a:r>
              <a:rPr lang="zh-TW" altLang="en-US" sz="2000" dirty="0"/>
              <a:t>  </a:t>
            </a:r>
            <a:r>
              <a:rPr lang="en-US" altLang="zh-TW" sz="2000" dirty="0"/>
              <a:t>6</a:t>
            </a:r>
            <a:r>
              <a:rPr lang="zh-TW" altLang="en-US" sz="2000" dirty="0"/>
              <a:t>  </a:t>
            </a:r>
            <a:r>
              <a:rPr lang="en-US" altLang="zh-TW" sz="2000" dirty="0"/>
              <a:t>7</a:t>
            </a:r>
            <a:r>
              <a:rPr lang="zh-TW" altLang="en-US" sz="2000" dirty="0"/>
              <a:t>  </a:t>
            </a:r>
            <a:r>
              <a:rPr lang="en-US" altLang="zh-TW" sz="2000" dirty="0"/>
              <a:t>8</a:t>
            </a:r>
          </a:p>
          <a:p>
            <a:r>
              <a:rPr lang="en-US" altLang="zh-TW" sz="2000" dirty="0"/>
              <a:t>4</a:t>
            </a:r>
            <a:r>
              <a:rPr lang="zh-TW" altLang="en-US" sz="2000" dirty="0"/>
              <a:t>  </a:t>
            </a:r>
            <a:r>
              <a:rPr lang="en-US" altLang="zh-TW" sz="2000" dirty="0"/>
              <a:t>5</a:t>
            </a:r>
            <a:r>
              <a:rPr lang="zh-TW" altLang="en-US" sz="2000" dirty="0"/>
              <a:t>  </a:t>
            </a:r>
            <a:r>
              <a:rPr lang="en-US" altLang="zh-TW" sz="2000" dirty="0"/>
              <a:t>3</a:t>
            </a:r>
            <a:r>
              <a:rPr lang="zh-TW" altLang="en-US" sz="2000" dirty="0"/>
              <a:t>  </a:t>
            </a:r>
            <a:r>
              <a:rPr lang="en-US" altLang="zh-TW" sz="2000" dirty="0"/>
              <a:t>22</a:t>
            </a:r>
          </a:p>
          <a:p>
            <a:r>
              <a:rPr lang="en-US" altLang="zh-TW" sz="2000" dirty="0"/>
              <a:t>3</a:t>
            </a:r>
            <a:r>
              <a:rPr lang="zh-TW" altLang="en-US" sz="2000" dirty="0"/>
              <a:t>  </a:t>
            </a:r>
            <a:r>
              <a:rPr lang="en-US" altLang="zh-TW" sz="2000" dirty="0"/>
              <a:t>4</a:t>
            </a:r>
            <a:r>
              <a:rPr lang="zh-TW" altLang="en-US" sz="2000" dirty="0"/>
              <a:t>  </a:t>
            </a:r>
            <a:r>
              <a:rPr lang="en-US" altLang="zh-TW" sz="2000" dirty="0"/>
              <a:t>5</a:t>
            </a:r>
            <a:r>
              <a:rPr lang="zh-TW" altLang="en-US" sz="2000" dirty="0"/>
              <a:t>  </a:t>
            </a:r>
            <a:r>
              <a:rPr lang="en-US" altLang="zh-TW" sz="2000" dirty="0"/>
              <a:t>6</a:t>
            </a:r>
            <a:endParaRPr lang="zh-TW" altLang="en-US" sz="2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05595751-C3F8-4A12-8F36-FF21FE10BBE5}"/>
              </a:ext>
            </a:extLst>
          </p:cNvPr>
          <p:cNvSpPr txBox="1"/>
          <p:nvPr/>
        </p:nvSpPr>
        <p:spPr>
          <a:xfrm>
            <a:off x="4180733" y="4797342"/>
            <a:ext cx="2255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35</a:t>
            </a:r>
            <a:r>
              <a:rPr lang="zh-TW" altLang="en-US" sz="2000" dirty="0"/>
              <a:t>   </a:t>
            </a:r>
            <a:r>
              <a:rPr lang="en-US" altLang="zh-TW" sz="2000" dirty="0"/>
              <a:t>45</a:t>
            </a:r>
            <a:r>
              <a:rPr lang="zh-TW" altLang="en-US" sz="2000" dirty="0"/>
              <a:t>    </a:t>
            </a:r>
            <a:r>
              <a:rPr lang="en-US" altLang="zh-TW" sz="2000" dirty="0"/>
              <a:t>45</a:t>
            </a:r>
            <a:r>
              <a:rPr lang="zh-TW" altLang="en-US" sz="2000" dirty="0"/>
              <a:t>   </a:t>
            </a:r>
            <a:r>
              <a:rPr lang="en-US" altLang="zh-TW" sz="2000" dirty="0"/>
              <a:t>150</a:t>
            </a:r>
          </a:p>
          <a:p>
            <a:r>
              <a:rPr lang="en-US" altLang="zh-TW" sz="2000" dirty="0"/>
              <a:t>87</a:t>
            </a:r>
            <a:r>
              <a:rPr lang="zh-TW" altLang="en-US" sz="2000" dirty="0"/>
              <a:t> </a:t>
            </a:r>
            <a:r>
              <a:rPr lang="en-US" altLang="zh-TW" sz="2000" dirty="0"/>
              <a:t> 113</a:t>
            </a:r>
            <a:r>
              <a:rPr lang="zh-TW" altLang="en-US" sz="2000" dirty="0"/>
              <a:t>  </a:t>
            </a:r>
            <a:r>
              <a:rPr lang="en-US" altLang="zh-TW" sz="2000" dirty="0"/>
              <a:t>118</a:t>
            </a:r>
            <a:r>
              <a:rPr lang="zh-TW" altLang="en-US" sz="2000" dirty="0"/>
              <a:t>  </a:t>
            </a:r>
            <a:r>
              <a:rPr lang="en-US" altLang="zh-TW" sz="2000" dirty="0"/>
              <a:t>470</a:t>
            </a:r>
          </a:p>
          <a:p>
            <a:r>
              <a:rPr lang="en-US" altLang="zh-TW" sz="2000" dirty="0"/>
              <a:t>95</a:t>
            </a:r>
            <a:r>
              <a:rPr lang="zh-TW" altLang="en-US" sz="2000" dirty="0"/>
              <a:t>  </a:t>
            </a:r>
            <a:r>
              <a:rPr lang="en-US" altLang="zh-TW" sz="2000" dirty="0"/>
              <a:t>125</a:t>
            </a:r>
            <a:r>
              <a:rPr lang="zh-TW" altLang="en-US" sz="2000" dirty="0"/>
              <a:t> </a:t>
            </a:r>
            <a:r>
              <a:rPr lang="en-US" altLang="zh-TW" sz="2000" dirty="0"/>
              <a:t> 134</a:t>
            </a:r>
            <a:r>
              <a:rPr lang="zh-TW" altLang="en-US" sz="2000" dirty="0"/>
              <a:t>  </a:t>
            </a:r>
            <a:r>
              <a:rPr lang="en-US" altLang="zh-TW" sz="2000" dirty="0"/>
              <a:t>650</a:t>
            </a:r>
          </a:p>
          <a:p>
            <a:r>
              <a:rPr lang="en-US" altLang="zh-TW" sz="2000" dirty="0"/>
              <a:t>43</a:t>
            </a:r>
            <a:r>
              <a:rPr lang="zh-TW" altLang="en-US" sz="2000" dirty="0"/>
              <a:t>   </a:t>
            </a:r>
            <a:r>
              <a:rPr lang="en-US" altLang="zh-TW" sz="2000" dirty="0"/>
              <a:t>57</a:t>
            </a:r>
            <a:r>
              <a:rPr lang="zh-TW" altLang="en-US" sz="2000" dirty="0"/>
              <a:t>    </a:t>
            </a:r>
            <a:r>
              <a:rPr lang="en-US" altLang="zh-TW" sz="2000" dirty="0"/>
              <a:t>62</a:t>
            </a:r>
            <a:r>
              <a:rPr lang="zh-TW" altLang="en-US" sz="2000" dirty="0"/>
              <a:t>   </a:t>
            </a:r>
            <a:r>
              <a:rPr lang="en-US" altLang="zh-TW" sz="2000" dirty="0"/>
              <a:t>330</a:t>
            </a:r>
            <a:endParaRPr lang="zh-TW" altLang="en-US" sz="2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8FD3C4BB-BBE8-4C3F-BACA-B5255AB93C8E}"/>
              </a:ext>
            </a:extLst>
          </p:cNvPr>
          <p:cNvSpPr txBox="1"/>
          <p:nvPr/>
        </p:nvSpPr>
        <p:spPr>
          <a:xfrm>
            <a:off x="6279666" y="4546172"/>
            <a:ext cx="5397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600" dirty="0"/>
              <a:t>]</a:t>
            </a:r>
            <a:endParaRPr lang="zh-TW" altLang="en-US" sz="9600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4096D15-D91C-4118-9F01-FCA6E0BAC3B1}"/>
              </a:ext>
            </a:extLst>
          </p:cNvPr>
          <p:cNvCxnSpPr/>
          <p:nvPr/>
        </p:nvCxnSpPr>
        <p:spPr>
          <a:xfrm>
            <a:off x="2621508" y="4864227"/>
            <a:ext cx="0" cy="1188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77348C1-00C0-4899-98F2-B388E90DC386}"/>
              </a:ext>
            </a:extLst>
          </p:cNvPr>
          <p:cNvCxnSpPr/>
          <p:nvPr/>
        </p:nvCxnSpPr>
        <p:spPr>
          <a:xfrm>
            <a:off x="2925640" y="4864227"/>
            <a:ext cx="0" cy="11884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46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Turn in</a:t>
            </a:r>
            <a:endParaRPr/>
          </a:p>
        </p:txBody>
      </p:sp>
      <p:sp>
        <p:nvSpPr>
          <p:cNvPr id="635" name="Google Shape;635;p58"/>
          <p:cNvSpPr txBox="1">
            <a:spLocks noGrp="1"/>
          </p:cNvSpPr>
          <p:nvPr>
            <p:ph type="body" idx="1"/>
          </p:nvPr>
        </p:nvSpPr>
        <p:spPr>
          <a:xfrm>
            <a:off x="457200" y="1265238"/>
            <a:ext cx="8229600" cy="475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n-US" sz="2800"/>
              <a:t>Deadline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SzPct val="75000"/>
              <a:buFont typeface="Noto Sans Symbols"/>
              <a:buNone/>
            </a:pPr>
            <a:r>
              <a:rPr lang="en-US" sz="2800"/>
              <a:t>	2025/11/25     PM.11:55:00</a:t>
            </a:r>
            <a:endParaRPr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n-US" sz="2800"/>
              <a:t>Upload to iLearning</a:t>
            </a:r>
            <a:endParaRPr sz="2800"/>
          </a:p>
          <a:p>
            <a:pPr marL="342900" lvl="0" indent="-342900" algn="l" rtl="0">
              <a:spcBef>
                <a:spcPts val="518"/>
              </a:spcBef>
              <a:spcAft>
                <a:spcPts val="0"/>
              </a:spcAft>
              <a:buSzPct val="75000"/>
              <a:buFont typeface="Noto Sans Symbols"/>
              <a:buChar char="■"/>
            </a:pPr>
            <a:r>
              <a:rPr lang="en-US" sz="2800"/>
              <a:t>File name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SzPct val="80000"/>
              <a:buFont typeface="Noto Sans Symbols"/>
              <a:buChar char="◻"/>
            </a:pPr>
            <a:r>
              <a:rPr lang="en-US" sz="2800"/>
              <a:t>HW3_ID.zip (e.g. HW3_4106056000.zip)</a:t>
            </a:r>
            <a:endParaRPr/>
          </a:p>
          <a:p>
            <a:pPr marL="1143000" lvl="2" indent="-228600" algn="l" rtl="0">
              <a:spcBef>
                <a:spcPts val="518"/>
              </a:spcBef>
              <a:spcAft>
                <a:spcPts val="0"/>
              </a:spcAft>
              <a:buSzPct val="65000"/>
              <a:buFont typeface="Noto Sans Symbols"/>
              <a:buChar char="■"/>
            </a:pPr>
            <a:r>
              <a:rPr lang="en-US" sz="2800"/>
              <a:t>Source code</a:t>
            </a:r>
            <a:endParaRPr/>
          </a:p>
          <a:p>
            <a:pPr marL="1600200" lvl="3" indent="-228600" algn="l" rtl="0">
              <a:spcBef>
                <a:spcPts val="518"/>
              </a:spcBef>
              <a:spcAft>
                <a:spcPts val="0"/>
              </a:spcAft>
              <a:buSzPct val="70000"/>
              <a:buFont typeface="Noto Sans Symbols"/>
              <a:buChar char="◻"/>
            </a:pPr>
            <a:r>
              <a:rPr lang="en-US" sz="2800"/>
              <a:t>.c file</a:t>
            </a:r>
            <a:endParaRPr sz="2800"/>
          </a:p>
          <a:p>
            <a:pPr marL="1143000" lvl="2" indent="-228600" algn="l" rtl="0">
              <a:spcBef>
                <a:spcPts val="518"/>
              </a:spcBef>
              <a:spcAft>
                <a:spcPts val="0"/>
              </a:spcAft>
              <a:buSzPct val="65000"/>
              <a:buFont typeface="Noto Sans Symbols"/>
              <a:buChar char="■"/>
            </a:pPr>
            <a:r>
              <a:rPr lang="en-US" sz="2800"/>
              <a:t>screenshot of the result</a:t>
            </a:r>
          </a:p>
          <a:p>
            <a:pPr marL="1143000" lvl="2" indent="-228600" algn="l" rtl="0">
              <a:spcBef>
                <a:spcPts val="518"/>
              </a:spcBef>
              <a:spcAft>
                <a:spcPts val="0"/>
              </a:spcAft>
              <a:buSzPct val="65000"/>
              <a:buFont typeface="Noto Sans Symbols"/>
              <a:buChar char="■"/>
            </a:pPr>
            <a:r>
              <a:rPr lang="en-US" sz="2800">
                <a:solidFill>
                  <a:srgbClr val="FF0000"/>
                </a:solidFill>
              </a:rPr>
              <a:t>(A : 3*4</a:t>
            </a:r>
            <a:r>
              <a:rPr lang="zh-TW" altLang="en-US" sz="2800">
                <a:solidFill>
                  <a:srgbClr val="FF0000"/>
                </a:solidFill>
              </a:rPr>
              <a:t>、</a:t>
            </a:r>
            <a:r>
              <a:rPr lang="en-US" altLang="zh-TW" sz="2800">
                <a:solidFill>
                  <a:srgbClr val="FF0000"/>
                </a:solidFill>
              </a:rPr>
              <a:t>B : 4*5)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36" name="Google Shape;636;p5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27</a:t>
            </a:fld>
            <a:endParaRPr sz="1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1131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+mn-lt"/>
              </a:rPr>
              <a:t>TA</a:t>
            </a:r>
            <a:endParaRPr dirty="0">
              <a:latin typeface="+mn-lt"/>
            </a:endParaRPr>
          </a:p>
        </p:txBody>
      </p:sp>
      <p:sp>
        <p:nvSpPr>
          <p:cNvPr id="649" name="Google Shape;649;p60"/>
          <p:cNvSpPr txBox="1">
            <a:spLocks noGrp="1"/>
          </p:cNvSpPr>
          <p:nvPr>
            <p:ph type="body" idx="1"/>
          </p:nvPr>
        </p:nvSpPr>
        <p:spPr>
          <a:xfrm>
            <a:off x="457200" y="1265238"/>
            <a:ext cx="8229600" cy="51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47650" algn="l" rtl="0"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dirty="0"/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>
              <a:latin typeface="+mn-lt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 err="1">
                <a:latin typeface="+mn-lt"/>
              </a:rPr>
              <a:t>Name</a:t>
            </a:r>
            <a:r>
              <a:rPr lang="en-US" sz="2400">
                <a:latin typeface="+mn-lt"/>
              </a:rPr>
              <a:t>：Wei-Xuan Nee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latin typeface="+mn-lt"/>
              </a:rPr>
              <a:t>Email：niweixuan0418@gmail.com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■"/>
            </a:pPr>
            <a:r>
              <a:rPr lang="en-US" sz="2400">
                <a:latin typeface="+mn-lt"/>
              </a:rPr>
              <a:t>Lab</a:t>
            </a:r>
            <a:r>
              <a:rPr lang="en-US" sz="2400" dirty="0" err="1">
                <a:latin typeface="+mn-lt"/>
              </a:rPr>
              <a:t>：OSLab</a:t>
            </a:r>
            <a:r>
              <a:rPr lang="en-US" sz="2400" dirty="0">
                <a:latin typeface="+mn-lt"/>
              </a:rPr>
              <a:t> (1001)</a:t>
            </a:r>
            <a:endParaRPr dirty="0">
              <a:latin typeface="+mn-lt"/>
            </a:endParaRPr>
          </a:p>
          <a:p>
            <a:pPr marL="342900" lvl="0" indent="-247650" algn="l" rtl="0">
              <a:spcBef>
                <a:spcPts val="400"/>
              </a:spcBef>
              <a:spcAft>
                <a:spcPts val="0"/>
              </a:spcAft>
              <a:buSzPts val="1500"/>
              <a:buNone/>
            </a:pPr>
            <a:endParaRPr dirty="0"/>
          </a:p>
        </p:txBody>
      </p:sp>
      <p:sp>
        <p:nvSpPr>
          <p:cNvPr id="650" name="Google Shape;650;p6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28</a:t>
            </a:fld>
            <a:endParaRPr sz="1200" dirty="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1340</Words>
  <Application>Microsoft Office PowerPoint</Application>
  <PresentationFormat>如螢幕大小 (4:3)</PresentationFormat>
  <Paragraphs>264</Paragraphs>
  <Slides>28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7" baseType="lpstr">
      <vt:lpstr>Noto Sans Symbols</vt:lpstr>
      <vt:lpstr>DFKai-SB</vt:lpstr>
      <vt:lpstr>Arial</vt:lpstr>
      <vt:lpstr>Arial Black</vt:lpstr>
      <vt:lpstr>Calibri</vt:lpstr>
      <vt:lpstr>Courier New</vt:lpstr>
      <vt:lpstr>Times New Roman</vt:lpstr>
      <vt:lpstr>Wingdings</vt:lpstr>
      <vt:lpstr>Pixel</vt:lpstr>
      <vt:lpstr>PowerPoint 簡報</vt:lpstr>
      <vt:lpstr>Outline</vt:lpstr>
      <vt:lpstr>Outline</vt:lpstr>
      <vt:lpstr>PowerPoint 簡報</vt:lpstr>
      <vt:lpstr>PowerPoint 簡報</vt:lpstr>
      <vt:lpstr>PowerPoint 簡報</vt:lpstr>
      <vt:lpstr>PowerPoint 簡報</vt:lpstr>
      <vt:lpstr>Challenges When Using Thread</vt:lpstr>
      <vt:lpstr>The Pthreads API</vt:lpstr>
      <vt:lpstr>Outline</vt:lpstr>
      <vt:lpstr>Referencing Threads by ID</vt:lpstr>
      <vt:lpstr>Creating a Thread</vt:lpstr>
      <vt:lpstr>Exiting</vt:lpstr>
      <vt:lpstr>Joining</vt:lpstr>
      <vt:lpstr>Example: Creating Thread with NULL Parameters</vt:lpstr>
      <vt:lpstr>Example</vt:lpstr>
      <vt:lpstr>Example(cont.)</vt:lpstr>
      <vt:lpstr>Example: Pass Argument During Thread Creation</vt:lpstr>
      <vt:lpstr>Example</vt:lpstr>
      <vt:lpstr>Example(cont.)</vt:lpstr>
      <vt:lpstr>Outline</vt:lpstr>
      <vt:lpstr>Homework Assignment #2</vt:lpstr>
      <vt:lpstr>Homework2: Create Threads for Matrix Multiplication</vt:lpstr>
      <vt:lpstr>Requirements</vt:lpstr>
      <vt:lpstr>Example</vt:lpstr>
      <vt:lpstr>Homework Assignment #2</vt:lpstr>
      <vt:lpstr>Turn in</vt:lpstr>
      <vt:lpstr>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oslab253</dc:creator>
  <cp:lastModifiedBy>weixuan Nee</cp:lastModifiedBy>
  <cp:revision>12</cp:revision>
  <dcterms:created xsi:type="dcterms:W3CDTF">2024-03-19T04:57:47Z</dcterms:created>
  <dcterms:modified xsi:type="dcterms:W3CDTF">2025-11-10T16:06:41Z</dcterms:modified>
</cp:coreProperties>
</file>